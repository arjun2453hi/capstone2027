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  <p:sldId id="402" r:id="rId152"/>
    <p:sldId id="403" r:id="rId153"/>
    <p:sldId id="404" r:id="rId154"/>
    <p:sldId id="405" r:id="rId155"/>
    <p:sldId id="406" r:id="rId156"/>
    <p:sldId id="407" r:id="rId157"/>
    <p:sldId id="408" r:id="rId158"/>
    <p:sldId id="409" r:id="rId159"/>
    <p:sldId id="410" r:id="rId160"/>
    <p:sldId id="411" r:id="rId161"/>
    <p:sldId id="412" r:id="rId162"/>
    <p:sldId id="413" r:id="rId163"/>
    <p:sldId id="414" r:id="rId164"/>
    <p:sldId id="415" r:id="rId165"/>
    <p:sldId id="416" r:id="rId166"/>
    <p:sldId id="417" r:id="rId167"/>
    <p:sldId id="418" r:id="rId168"/>
    <p:sldId id="419" r:id="rId169"/>
    <p:sldId id="420" r:id="rId170"/>
    <p:sldId id="421" r:id="rId171"/>
    <p:sldId id="422" r:id="rId172"/>
    <p:sldId id="423" r:id="rId173"/>
    <p:sldId id="424" r:id="rId174"/>
    <p:sldId id="425" r:id="rId175"/>
    <p:sldId id="426" r:id="rId176"/>
    <p:sldId id="427" r:id="rId177"/>
    <p:sldId id="428" r:id="rId178"/>
    <p:sldId id="429" r:id="rId179"/>
    <p:sldId id="430" r:id="rId180"/>
    <p:sldId id="431" r:id="rId181"/>
    <p:sldId id="432" r:id="rId182"/>
    <p:sldId id="433" r:id="rId183"/>
    <p:sldId id="434" r:id="rId184"/>
    <p:sldId id="435" r:id="rId185"/>
    <p:sldId id="436" r:id="rId186"/>
    <p:sldId id="437" r:id="rId187"/>
    <p:sldId id="438" r:id="rId188"/>
    <p:sldId id="439" r:id="rId189"/>
    <p:sldId id="440" r:id="rId190"/>
    <p:sldId id="441" r:id="rId191"/>
    <p:sldId id="442" r:id="rId192"/>
    <p:sldId id="443" r:id="rId193"/>
    <p:sldId id="444" r:id="rId194"/>
    <p:sldId id="445" r:id="rId195"/>
    <p:sldId id="446" r:id="rId196"/>
    <p:sldId id="447" r:id="rId197"/>
    <p:sldId id="448" r:id="rId198"/>
    <p:sldId id="449" r:id="rId199"/>
    <p:sldId id="450" r:id="rId200"/>
    <p:sldId id="451" r:id="rId201"/>
    <p:sldId id="452" r:id="rId202"/>
    <p:sldId id="453" r:id="rId203"/>
    <p:sldId id="454" r:id="rId204"/>
    <p:sldId id="455" r:id="rId205"/>
    <p:sldId id="456" r:id="rId206"/>
    <p:sldId id="457" r:id="rId207"/>
    <p:sldId id="458" r:id="rId208"/>
    <p:sldId id="459" r:id="rId209"/>
    <p:sldId id="460" r:id="rId210"/>
    <p:sldId id="461" r:id="rId211"/>
    <p:sldId id="462" r:id="rId212"/>
    <p:sldId id="463" r:id="rId213"/>
    <p:sldId id="464" r:id="rId214"/>
    <p:sldId id="465" r:id="rId215"/>
    <p:sldId id="466" r:id="rId216"/>
    <p:sldId id="467" r:id="rId217"/>
    <p:sldId id="468" r:id="rId218"/>
    <p:sldId id="469" r:id="rId219"/>
    <p:sldId id="470" r:id="rId220"/>
    <p:sldId id="471" r:id="rId221"/>
    <p:sldId id="472" r:id="rId222"/>
    <p:sldId id="473" r:id="rId223"/>
    <p:sldId id="474" r:id="rId224"/>
    <p:sldId id="475" r:id="rId225"/>
    <p:sldId id="476" r:id="rId226"/>
    <p:sldId id="477" r:id="rId227"/>
    <p:sldId id="478" r:id="rId228"/>
    <p:sldId id="479" r:id="rId229"/>
    <p:sldId id="480" r:id="rId230"/>
    <p:sldId id="481" r:id="rId231"/>
    <p:sldId id="482" r:id="rId232"/>
    <p:sldId id="483" r:id="rId233"/>
    <p:sldId id="484" r:id="rId234"/>
    <p:sldId id="485" r:id="rId235"/>
    <p:sldId id="486" r:id="rId236"/>
    <p:sldId id="487" r:id="rId237"/>
    <p:sldId id="488" r:id="rId238"/>
    <p:sldId id="489" r:id="rId239"/>
    <p:sldId id="490" r:id="rId240"/>
    <p:sldId id="491" r:id="rId241"/>
    <p:sldId id="492" r:id="rId242"/>
    <p:sldId id="493" r:id="rId243"/>
    <p:sldId id="494" r:id="rId244"/>
    <p:sldId id="495" r:id="rId245"/>
    <p:sldId id="496" r:id="rId246"/>
    <p:sldId id="497" r:id="rId247"/>
    <p:sldId id="498" r:id="rId248"/>
    <p:sldId id="499" r:id="rId249"/>
    <p:sldId id="500" r:id="rId250"/>
    <p:sldId id="501" r:id="rId251"/>
    <p:sldId id="502" r:id="rId252"/>
    <p:sldId id="503" r:id="rId253"/>
    <p:sldId id="504" r:id="rId254"/>
    <p:sldId id="505" r:id="rId255"/>
    <p:sldId id="506" r:id="rId256"/>
    <p:sldId id="507" r:id="rId257"/>
    <p:sldId id="508" r:id="rId258"/>
    <p:sldId id="509" r:id="rId259"/>
    <p:sldId id="510" r:id="rId260"/>
    <p:sldId id="511" r:id="rId261"/>
    <p:sldId id="512" r:id="rId262"/>
    <p:sldId id="513" r:id="rId263"/>
    <p:sldId id="514" r:id="rId264"/>
    <p:sldId id="515" r:id="rId265"/>
    <p:sldId id="516" r:id="rId266"/>
    <p:sldId id="517" r:id="rId267"/>
    <p:sldId id="518" r:id="rId268"/>
    <p:sldId id="519" r:id="rId269"/>
    <p:sldId id="520" r:id="rId270"/>
    <p:sldId id="521" r:id="rId271"/>
    <p:sldId id="522" r:id="rId272"/>
    <p:sldId id="523" r:id="rId273"/>
    <p:sldId id="524" r:id="rId274"/>
    <p:sldId id="525" r:id="rId275"/>
    <p:sldId id="526" r:id="rId276"/>
    <p:sldId id="527" r:id="rId277"/>
    <p:sldId id="528" r:id="rId278"/>
    <p:sldId id="529" r:id="rId279"/>
    <p:sldId id="530" r:id="rId280"/>
    <p:sldId id="531" r:id="rId281"/>
    <p:sldId id="532" r:id="rId282"/>
    <p:sldId id="533" r:id="rId283"/>
    <p:sldId id="534" r:id="rId284"/>
    <p:sldId id="535" r:id="rId285"/>
    <p:sldId id="536" r:id="rId286"/>
    <p:sldId id="537" r:id="rId287"/>
    <p:sldId id="538" r:id="rId288"/>
    <p:sldId id="539" r:id="rId289"/>
    <p:sldId id="540" r:id="rId290"/>
    <p:sldId id="541" r:id="rId291"/>
    <p:sldId id="542" r:id="rId292"/>
    <p:sldId id="543" r:id="rId293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Relationship Id="rId100" Type="http://schemas.openxmlformats.org/officeDocument/2006/relationships/slide" Target="slides/slide95.xml"/><Relationship Id="rId101" Type="http://schemas.openxmlformats.org/officeDocument/2006/relationships/slide" Target="slides/slide96.xml"/><Relationship Id="rId102" Type="http://schemas.openxmlformats.org/officeDocument/2006/relationships/slide" Target="slides/slide97.xml"/><Relationship Id="rId103" Type="http://schemas.openxmlformats.org/officeDocument/2006/relationships/slide" Target="slides/slide98.xml"/><Relationship Id="rId104" Type="http://schemas.openxmlformats.org/officeDocument/2006/relationships/slide" Target="slides/slide99.xml"/><Relationship Id="rId105" Type="http://schemas.openxmlformats.org/officeDocument/2006/relationships/slide" Target="slides/slide100.xml"/><Relationship Id="rId106" Type="http://schemas.openxmlformats.org/officeDocument/2006/relationships/slide" Target="slides/slide101.xml"/><Relationship Id="rId107" Type="http://schemas.openxmlformats.org/officeDocument/2006/relationships/slide" Target="slides/slide102.xml"/><Relationship Id="rId108" Type="http://schemas.openxmlformats.org/officeDocument/2006/relationships/slide" Target="slides/slide103.xml"/><Relationship Id="rId109" Type="http://schemas.openxmlformats.org/officeDocument/2006/relationships/slide" Target="slides/slide104.xml"/><Relationship Id="rId110" Type="http://schemas.openxmlformats.org/officeDocument/2006/relationships/slide" Target="slides/slide105.xml"/><Relationship Id="rId111" Type="http://schemas.openxmlformats.org/officeDocument/2006/relationships/slide" Target="slides/slide106.xml"/><Relationship Id="rId112" Type="http://schemas.openxmlformats.org/officeDocument/2006/relationships/slide" Target="slides/slide107.xml"/><Relationship Id="rId113" Type="http://schemas.openxmlformats.org/officeDocument/2006/relationships/slide" Target="slides/slide108.xml"/><Relationship Id="rId114" Type="http://schemas.openxmlformats.org/officeDocument/2006/relationships/slide" Target="slides/slide109.xml"/><Relationship Id="rId115" Type="http://schemas.openxmlformats.org/officeDocument/2006/relationships/slide" Target="slides/slide110.xml"/><Relationship Id="rId116" Type="http://schemas.openxmlformats.org/officeDocument/2006/relationships/slide" Target="slides/slide111.xml"/><Relationship Id="rId117" Type="http://schemas.openxmlformats.org/officeDocument/2006/relationships/slide" Target="slides/slide112.xml"/><Relationship Id="rId118" Type="http://schemas.openxmlformats.org/officeDocument/2006/relationships/slide" Target="slides/slide113.xml"/><Relationship Id="rId119" Type="http://schemas.openxmlformats.org/officeDocument/2006/relationships/slide" Target="slides/slide114.xml"/><Relationship Id="rId120" Type="http://schemas.openxmlformats.org/officeDocument/2006/relationships/slide" Target="slides/slide115.xml"/><Relationship Id="rId121" Type="http://schemas.openxmlformats.org/officeDocument/2006/relationships/slide" Target="slides/slide116.xml"/><Relationship Id="rId122" Type="http://schemas.openxmlformats.org/officeDocument/2006/relationships/slide" Target="slides/slide117.xml"/><Relationship Id="rId123" Type="http://schemas.openxmlformats.org/officeDocument/2006/relationships/slide" Target="slides/slide118.xml"/><Relationship Id="rId124" Type="http://schemas.openxmlformats.org/officeDocument/2006/relationships/slide" Target="slides/slide119.xml"/><Relationship Id="rId125" Type="http://schemas.openxmlformats.org/officeDocument/2006/relationships/slide" Target="slides/slide120.xml"/><Relationship Id="rId126" Type="http://schemas.openxmlformats.org/officeDocument/2006/relationships/slide" Target="slides/slide121.xml"/><Relationship Id="rId127" Type="http://schemas.openxmlformats.org/officeDocument/2006/relationships/slide" Target="slides/slide122.xml"/><Relationship Id="rId128" Type="http://schemas.openxmlformats.org/officeDocument/2006/relationships/slide" Target="slides/slide123.xml"/><Relationship Id="rId129" Type="http://schemas.openxmlformats.org/officeDocument/2006/relationships/slide" Target="slides/slide124.xml"/><Relationship Id="rId130" Type="http://schemas.openxmlformats.org/officeDocument/2006/relationships/slide" Target="slides/slide125.xml"/><Relationship Id="rId131" Type="http://schemas.openxmlformats.org/officeDocument/2006/relationships/slide" Target="slides/slide126.xml"/><Relationship Id="rId132" Type="http://schemas.openxmlformats.org/officeDocument/2006/relationships/slide" Target="slides/slide127.xml"/><Relationship Id="rId133" Type="http://schemas.openxmlformats.org/officeDocument/2006/relationships/slide" Target="slides/slide128.xml"/><Relationship Id="rId134" Type="http://schemas.openxmlformats.org/officeDocument/2006/relationships/slide" Target="slides/slide129.xml"/><Relationship Id="rId135" Type="http://schemas.openxmlformats.org/officeDocument/2006/relationships/slide" Target="slides/slide130.xml"/><Relationship Id="rId136" Type="http://schemas.openxmlformats.org/officeDocument/2006/relationships/slide" Target="slides/slide131.xml"/><Relationship Id="rId137" Type="http://schemas.openxmlformats.org/officeDocument/2006/relationships/slide" Target="slides/slide132.xml"/><Relationship Id="rId138" Type="http://schemas.openxmlformats.org/officeDocument/2006/relationships/slide" Target="slides/slide133.xml"/><Relationship Id="rId139" Type="http://schemas.openxmlformats.org/officeDocument/2006/relationships/slide" Target="slides/slide134.xml"/><Relationship Id="rId140" Type="http://schemas.openxmlformats.org/officeDocument/2006/relationships/slide" Target="slides/slide135.xml"/><Relationship Id="rId141" Type="http://schemas.openxmlformats.org/officeDocument/2006/relationships/slide" Target="slides/slide136.xml"/><Relationship Id="rId142" Type="http://schemas.openxmlformats.org/officeDocument/2006/relationships/slide" Target="slides/slide137.xml"/><Relationship Id="rId143" Type="http://schemas.openxmlformats.org/officeDocument/2006/relationships/slide" Target="slides/slide138.xml"/><Relationship Id="rId144" Type="http://schemas.openxmlformats.org/officeDocument/2006/relationships/slide" Target="slides/slide139.xml"/><Relationship Id="rId145" Type="http://schemas.openxmlformats.org/officeDocument/2006/relationships/slide" Target="slides/slide140.xml"/><Relationship Id="rId146" Type="http://schemas.openxmlformats.org/officeDocument/2006/relationships/slide" Target="slides/slide141.xml"/><Relationship Id="rId147" Type="http://schemas.openxmlformats.org/officeDocument/2006/relationships/slide" Target="slides/slide142.xml"/><Relationship Id="rId148" Type="http://schemas.openxmlformats.org/officeDocument/2006/relationships/slide" Target="slides/slide143.xml"/><Relationship Id="rId149" Type="http://schemas.openxmlformats.org/officeDocument/2006/relationships/slide" Target="slides/slide144.xml"/><Relationship Id="rId150" Type="http://schemas.openxmlformats.org/officeDocument/2006/relationships/slide" Target="slides/slide145.xml"/><Relationship Id="rId151" Type="http://schemas.openxmlformats.org/officeDocument/2006/relationships/slide" Target="slides/slide146.xml"/><Relationship Id="rId152" Type="http://schemas.openxmlformats.org/officeDocument/2006/relationships/slide" Target="slides/slide147.xml"/><Relationship Id="rId153" Type="http://schemas.openxmlformats.org/officeDocument/2006/relationships/slide" Target="slides/slide148.xml"/><Relationship Id="rId154" Type="http://schemas.openxmlformats.org/officeDocument/2006/relationships/slide" Target="slides/slide149.xml"/><Relationship Id="rId155" Type="http://schemas.openxmlformats.org/officeDocument/2006/relationships/slide" Target="slides/slide150.xml"/><Relationship Id="rId156" Type="http://schemas.openxmlformats.org/officeDocument/2006/relationships/slide" Target="slides/slide151.xml"/><Relationship Id="rId157" Type="http://schemas.openxmlformats.org/officeDocument/2006/relationships/slide" Target="slides/slide152.xml"/><Relationship Id="rId158" Type="http://schemas.openxmlformats.org/officeDocument/2006/relationships/slide" Target="slides/slide153.xml"/><Relationship Id="rId159" Type="http://schemas.openxmlformats.org/officeDocument/2006/relationships/slide" Target="slides/slide154.xml"/><Relationship Id="rId160" Type="http://schemas.openxmlformats.org/officeDocument/2006/relationships/slide" Target="slides/slide155.xml"/><Relationship Id="rId161" Type="http://schemas.openxmlformats.org/officeDocument/2006/relationships/slide" Target="slides/slide156.xml"/><Relationship Id="rId162" Type="http://schemas.openxmlformats.org/officeDocument/2006/relationships/slide" Target="slides/slide157.xml"/><Relationship Id="rId163" Type="http://schemas.openxmlformats.org/officeDocument/2006/relationships/slide" Target="slides/slide158.xml"/><Relationship Id="rId164" Type="http://schemas.openxmlformats.org/officeDocument/2006/relationships/slide" Target="slides/slide159.xml"/><Relationship Id="rId165" Type="http://schemas.openxmlformats.org/officeDocument/2006/relationships/slide" Target="slides/slide160.xml"/><Relationship Id="rId166" Type="http://schemas.openxmlformats.org/officeDocument/2006/relationships/slide" Target="slides/slide161.xml"/><Relationship Id="rId167" Type="http://schemas.openxmlformats.org/officeDocument/2006/relationships/slide" Target="slides/slide162.xml"/><Relationship Id="rId168" Type="http://schemas.openxmlformats.org/officeDocument/2006/relationships/slide" Target="slides/slide163.xml"/><Relationship Id="rId169" Type="http://schemas.openxmlformats.org/officeDocument/2006/relationships/slide" Target="slides/slide164.xml"/><Relationship Id="rId170" Type="http://schemas.openxmlformats.org/officeDocument/2006/relationships/slide" Target="slides/slide165.xml"/><Relationship Id="rId171" Type="http://schemas.openxmlformats.org/officeDocument/2006/relationships/slide" Target="slides/slide166.xml"/><Relationship Id="rId172" Type="http://schemas.openxmlformats.org/officeDocument/2006/relationships/slide" Target="slides/slide167.xml"/><Relationship Id="rId173" Type="http://schemas.openxmlformats.org/officeDocument/2006/relationships/slide" Target="slides/slide168.xml"/><Relationship Id="rId174" Type="http://schemas.openxmlformats.org/officeDocument/2006/relationships/slide" Target="slides/slide169.xml"/><Relationship Id="rId175" Type="http://schemas.openxmlformats.org/officeDocument/2006/relationships/slide" Target="slides/slide170.xml"/><Relationship Id="rId176" Type="http://schemas.openxmlformats.org/officeDocument/2006/relationships/slide" Target="slides/slide171.xml"/><Relationship Id="rId177" Type="http://schemas.openxmlformats.org/officeDocument/2006/relationships/slide" Target="slides/slide172.xml"/><Relationship Id="rId178" Type="http://schemas.openxmlformats.org/officeDocument/2006/relationships/slide" Target="slides/slide173.xml"/><Relationship Id="rId179" Type="http://schemas.openxmlformats.org/officeDocument/2006/relationships/slide" Target="slides/slide174.xml"/><Relationship Id="rId180" Type="http://schemas.openxmlformats.org/officeDocument/2006/relationships/slide" Target="slides/slide175.xml"/><Relationship Id="rId181" Type="http://schemas.openxmlformats.org/officeDocument/2006/relationships/slide" Target="slides/slide176.xml"/><Relationship Id="rId182" Type="http://schemas.openxmlformats.org/officeDocument/2006/relationships/slide" Target="slides/slide177.xml"/><Relationship Id="rId183" Type="http://schemas.openxmlformats.org/officeDocument/2006/relationships/slide" Target="slides/slide178.xml"/><Relationship Id="rId184" Type="http://schemas.openxmlformats.org/officeDocument/2006/relationships/slide" Target="slides/slide179.xml"/><Relationship Id="rId185" Type="http://schemas.openxmlformats.org/officeDocument/2006/relationships/slide" Target="slides/slide180.xml"/><Relationship Id="rId186" Type="http://schemas.openxmlformats.org/officeDocument/2006/relationships/slide" Target="slides/slide181.xml"/><Relationship Id="rId187" Type="http://schemas.openxmlformats.org/officeDocument/2006/relationships/slide" Target="slides/slide182.xml"/><Relationship Id="rId188" Type="http://schemas.openxmlformats.org/officeDocument/2006/relationships/slide" Target="slides/slide183.xml"/><Relationship Id="rId189" Type="http://schemas.openxmlformats.org/officeDocument/2006/relationships/slide" Target="slides/slide184.xml"/><Relationship Id="rId190" Type="http://schemas.openxmlformats.org/officeDocument/2006/relationships/slide" Target="slides/slide185.xml"/><Relationship Id="rId191" Type="http://schemas.openxmlformats.org/officeDocument/2006/relationships/slide" Target="slides/slide186.xml"/><Relationship Id="rId192" Type="http://schemas.openxmlformats.org/officeDocument/2006/relationships/slide" Target="slides/slide187.xml"/><Relationship Id="rId193" Type="http://schemas.openxmlformats.org/officeDocument/2006/relationships/slide" Target="slides/slide188.xml"/><Relationship Id="rId194" Type="http://schemas.openxmlformats.org/officeDocument/2006/relationships/slide" Target="slides/slide189.xml"/><Relationship Id="rId195" Type="http://schemas.openxmlformats.org/officeDocument/2006/relationships/slide" Target="slides/slide190.xml"/><Relationship Id="rId196" Type="http://schemas.openxmlformats.org/officeDocument/2006/relationships/slide" Target="slides/slide191.xml"/><Relationship Id="rId197" Type="http://schemas.openxmlformats.org/officeDocument/2006/relationships/slide" Target="slides/slide192.xml"/><Relationship Id="rId198" Type="http://schemas.openxmlformats.org/officeDocument/2006/relationships/slide" Target="slides/slide193.xml"/><Relationship Id="rId199" Type="http://schemas.openxmlformats.org/officeDocument/2006/relationships/slide" Target="slides/slide194.xml"/><Relationship Id="rId200" Type="http://schemas.openxmlformats.org/officeDocument/2006/relationships/slide" Target="slides/slide195.xml"/><Relationship Id="rId201" Type="http://schemas.openxmlformats.org/officeDocument/2006/relationships/slide" Target="slides/slide196.xml"/><Relationship Id="rId202" Type="http://schemas.openxmlformats.org/officeDocument/2006/relationships/slide" Target="slides/slide197.xml"/><Relationship Id="rId203" Type="http://schemas.openxmlformats.org/officeDocument/2006/relationships/slide" Target="slides/slide198.xml"/><Relationship Id="rId204" Type="http://schemas.openxmlformats.org/officeDocument/2006/relationships/slide" Target="slides/slide199.xml"/><Relationship Id="rId205" Type="http://schemas.openxmlformats.org/officeDocument/2006/relationships/slide" Target="slides/slide200.xml"/><Relationship Id="rId206" Type="http://schemas.openxmlformats.org/officeDocument/2006/relationships/slide" Target="slides/slide201.xml"/><Relationship Id="rId207" Type="http://schemas.openxmlformats.org/officeDocument/2006/relationships/slide" Target="slides/slide202.xml"/><Relationship Id="rId208" Type="http://schemas.openxmlformats.org/officeDocument/2006/relationships/slide" Target="slides/slide203.xml"/><Relationship Id="rId209" Type="http://schemas.openxmlformats.org/officeDocument/2006/relationships/slide" Target="slides/slide204.xml"/><Relationship Id="rId210" Type="http://schemas.openxmlformats.org/officeDocument/2006/relationships/slide" Target="slides/slide205.xml"/><Relationship Id="rId211" Type="http://schemas.openxmlformats.org/officeDocument/2006/relationships/slide" Target="slides/slide206.xml"/><Relationship Id="rId212" Type="http://schemas.openxmlformats.org/officeDocument/2006/relationships/slide" Target="slides/slide207.xml"/><Relationship Id="rId213" Type="http://schemas.openxmlformats.org/officeDocument/2006/relationships/slide" Target="slides/slide208.xml"/><Relationship Id="rId214" Type="http://schemas.openxmlformats.org/officeDocument/2006/relationships/slide" Target="slides/slide209.xml"/><Relationship Id="rId215" Type="http://schemas.openxmlformats.org/officeDocument/2006/relationships/slide" Target="slides/slide210.xml"/><Relationship Id="rId216" Type="http://schemas.openxmlformats.org/officeDocument/2006/relationships/slide" Target="slides/slide211.xml"/><Relationship Id="rId217" Type="http://schemas.openxmlformats.org/officeDocument/2006/relationships/slide" Target="slides/slide212.xml"/><Relationship Id="rId218" Type="http://schemas.openxmlformats.org/officeDocument/2006/relationships/slide" Target="slides/slide213.xml"/><Relationship Id="rId219" Type="http://schemas.openxmlformats.org/officeDocument/2006/relationships/slide" Target="slides/slide214.xml"/><Relationship Id="rId220" Type="http://schemas.openxmlformats.org/officeDocument/2006/relationships/slide" Target="slides/slide215.xml"/><Relationship Id="rId221" Type="http://schemas.openxmlformats.org/officeDocument/2006/relationships/slide" Target="slides/slide216.xml"/><Relationship Id="rId222" Type="http://schemas.openxmlformats.org/officeDocument/2006/relationships/slide" Target="slides/slide217.xml"/><Relationship Id="rId223" Type="http://schemas.openxmlformats.org/officeDocument/2006/relationships/slide" Target="slides/slide218.xml"/><Relationship Id="rId224" Type="http://schemas.openxmlformats.org/officeDocument/2006/relationships/slide" Target="slides/slide219.xml"/><Relationship Id="rId225" Type="http://schemas.openxmlformats.org/officeDocument/2006/relationships/slide" Target="slides/slide220.xml"/><Relationship Id="rId226" Type="http://schemas.openxmlformats.org/officeDocument/2006/relationships/slide" Target="slides/slide221.xml"/><Relationship Id="rId227" Type="http://schemas.openxmlformats.org/officeDocument/2006/relationships/slide" Target="slides/slide222.xml"/><Relationship Id="rId228" Type="http://schemas.openxmlformats.org/officeDocument/2006/relationships/slide" Target="slides/slide223.xml"/><Relationship Id="rId229" Type="http://schemas.openxmlformats.org/officeDocument/2006/relationships/slide" Target="slides/slide224.xml"/><Relationship Id="rId230" Type="http://schemas.openxmlformats.org/officeDocument/2006/relationships/slide" Target="slides/slide225.xml"/><Relationship Id="rId231" Type="http://schemas.openxmlformats.org/officeDocument/2006/relationships/slide" Target="slides/slide226.xml"/><Relationship Id="rId232" Type="http://schemas.openxmlformats.org/officeDocument/2006/relationships/slide" Target="slides/slide227.xml"/><Relationship Id="rId233" Type="http://schemas.openxmlformats.org/officeDocument/2006/relationships/slide" Target="slides/slide228.xml"/><Relationship Id="rId234" Type="http://schemas.openxmlformats.org/officeDocument/2006/relationships/slide" Target="slides/slide229.xml"/><Relationship Id="rId235" Type="http://schemas.openxmlformats.org/officeDocument/2006/relationships/slide" Target="slides/slide230.xml"/><Relationship Id="rId236" Type="http://schemas.openxmlformats.org/officeDocument/2006/relationships/slide" Target="slides/slide231.xml"/><Relationship Id="rId237" Type="http://schemas.openxmlformats.org/officeDocument/2006/relationships/slide" Target="slides/slide232.xml"/><Relationship Id="rId238" Type="http://schemas.openxmlformats.org/officeDocument/2006/relationships/slide" Target="slides/slide233.xml"/><Relationship Id="rId239" Type="http://schemas.openxmlformats.org/officeDocument/2006/relationships/slide" Target="slides/slide234.xml"/><Relationship Id="rId240" Type="http://schemas.openxmlformats.org/officeDocument/2006/relationships/slide" Target="slides/slide235.xml"/><Relationship Id="rId241" Type="http://schemas.openxmlformats.org/officeDocument/2006/relationships/slide" Target="slides/slide236.xml"/><Relationship Id="rId242" Type="http://schemas.openxmlformats.org/officeDocument/2006/relationships/slide" Target="slides/slide237.xml"/><Relationship Id="rId243" Type="http://schemas.openxmlformats.org/officeDocument/2006/relationships/slide" Target="slides/slide238.xml"/><Relationship Id="rId244" Type="http://schemas.openxmlformats.org/officeDocument/2006/relationships/slide" Target="slides/slide239.xml"/><Relationship Id="rId245" Type="http://schemas.openxmlformats.org/officeDocument/2006/relationships/slide" Target="slides/slide240.xml"/><Relationship Id="rId246" Type="http://schemas.openxmlformats.org/officeDocument/2006/relationships/slide" Target="slides/slide241.xml"/><Relationship Id="rId247" Type="http://schemas.openxmlformats.org/officeDocument/2006/relationships/slide" Target="slides/slide242.xml"/><Relationship Id="rId248" Type="http://schemas.openxmlformats.org/officeDocument/2006/relationships/slide" Target="slides/slide243.xml"/><Relationship Id="rId249" Type="http://schemas.openxmlformats.org/officeDocument/2006/relationships/slide" Target="slides/slide244.xml"/><Relationship Id="rId250" Type="http://schemas.openxmlformats.org/officeDocument/2006/relationships/slide" Target="slides/slide245.xml"/><Relationship Id="rId251" Type="http://schemas.openxmlformats.org/officeDocument/2006/relationships/slide" Target="slides/slide246.xml"/><Relationship Id="rId252" Type="http://schemas.openxmlformats.org/officeDocument/2006/relationships/slide" Target="slides/slide247.xml"/><Relationship Id="rId253" Type="http://schemas.openxmlformats.org/officeDocument/2006/relationships/slide" Target="slides/slide248.xml"/><Relationship Id="rId254" Type="http://schemas.openxmlformats.org/officeDocument/2006/relationships/slide" Target="slides/slide249.xml"/><Relationship Id="rId255" Type="http://schemas.openxmlformats.org/officeDocument/2006/relationships/slide" Target="slides/slide250.xml"/><Relationship Id="rId256" Type="http://schemas.openxmlformats.org/officeDocument/2006/relationships/slide" Target="slides/slide251.xml"/><Relationship Id="rId257" Type="http://schemas.openxmlformats.org/officeDocument/2006/relationships/slide" Target="slides/slide252.xml"/><Relationship Id="rId258" Type="http://schemas.openxmlformats.org/officeDocument/2006/relationships/slide" Target="slides/slide253.xml"/><Relationship Id="rId259" Type="http://schemas.openxmlformats.org/officeDocument/2006/relationships/slide" Target="slides/slide254.xml"/><Relationship Id="rId260" Type="http://schemas.openxmlformats.org/officeDocument/2006/relationships/slide" Target="slides/slide255.xml"/><Relationship Id="rId261" Type="http://schemas.openxmlformats.org/officeDocument/2006/relationships/slide" Target="slides/slide256.xml"/><Relationship Id="rId262" Type="http://schemas.openxmlformats.org/officeDocument/2006/relationships/slide" Target="slides/slide257.xml"/><Relationship Id="rId263" Type="http://schemas.openxmlformats.org/officeDocument/2006/relationships/slide" Target="slides/slide258.xml"/><Relationship Id="rId264" Type="http://schemas.openxmlformats.org/officeDocument/2006/relationships/slide" Target="slides/slide259.xml"/><Relationship Id="rId265" Type="http://schemas.openxmlformats.org/officeDocument/2006/relationships/slide" Target="slides/slide260.xml"/><Relationship Id="rId266" Type="http://schemas.openxmlformats.org/officeDocument/2006/relationships/slide" Target="slides/slide261.xml"/><Relationship Id="rId267" Type="http://schemas.openxmlformats.org/officeDocument/2006/relationships/slide" Target="slides/slide262.xml"/><Relationship Id="rId268" Type="http://schemas.openxmlformats.org/officeDocument/2006/relationships/slide" Target="slides/slide263.xml"/><Relationship Id="rId269" Type="http://schemas.openxmlformats.org/officeDocument/2006/relationships/slide" Target="slides/slide264.xml"/><Relationship Id="rId270" Type="http://schemas.openxmlformats.org/officeDocument/2006/relationships/slide" Target="slides/slide265.xml"/><Relationship Id="rId271" Type="http://schemas.openxmlformats.org/officeDocument/2006/relationships/slide" Target="slides/slide266.xml"/><Relationship Id="rId272" Type="http://schemas.openxmlformats.org/officeDocument/2006/relationships/slide" Target="slides/slide267.xml"/><Relationship Id="rId273" Type="http://schemas.openxmlformats.org/officeDocument/2006/relationships/slide" Target="slides/slide268.xml"/><Relationship Id="rId274" Type="http://schemas.openxmlformats.org/officeDocument/2006/relationships/slide" Target="slides/slide269.xml"/><Relationship Id="rId275" Type="http://schemas.openxmlformats.org/officeDocument/2006/relationships/slide" Target="slides/slide270.xml"/><Relationship Id="rId276" Type="http://schemas.openxmlformats.org/officeDocument/2006/relationships/slide" Target="slides/slide271.xml"/><Relationship Id="rId277" Type="http://schemas.openxmlformats.org/officeDocument/2006/relationships/slide" Target="slides/slide272.xml"/><Relationship Id="rId278" Type="http://schemas.openxmlformats.org/officeDocument/2006/relationships/slide" Target="slides/slide273.xml"/><Relationship Id="rId279" Type="http://schemas.openxmlformats.org/officeDocument/2006/relationships/slide" Target="slides/slide274.xml"/><Relationship Id="rId280" Type="http://schemas.openxmlformats.org/officeDocument/2006/relationships/slide" Target="slides/slide275.xml"/><Relationship Id="rId281" Type="http://schemas.openxmlformats.org/officeDocument/2006/relationships/slide" Target="slides/slide276.xml"/><Relationship Id="rId282" Type="http://schemas.openxmlformats.org/officeDocument/2006/relationships/slide" Target="slides/slide277.xml"/><Relationship Id="rId283" Type="http://schemas.openxmlformats.org/officeDocument/2006/relationships/slide" Target="slides/slide278.xml"/><Relationship Id="rId284" Type="http://schemas.openxmlformats.org/officeDocument/2006/relationships/slide" Target="slides/slide279.xml"/><Relationship Id="rId285" Type="http://schemas.openxmlformats.org/officeDocument/2006/relationships/slide" Target="slides/slide280.xml"/><Relationship Id="rId286" Type="http://schemas.openxmlformats.org/officeDocument/2006/relationships/slide" Target="slides/slide281.xml"/><Relationship Id="rId287" Type="http://schemas.openxmlformats.org/officeDocument/2006/relationships/slide" Target="slides/slide282.xml"/><Relationship Id="rId288" Type="http://schemas.openxmlformats.org/officeDocument/2006/relationships/slide" Target="slides/slide283.xml"/><Relationship Id="rId289" Type="http://schemas.openxmlformats.org/officeDocument/2006/relationships/slide" Target="slides/slide284.xml"/><Relationship Id="rId290" Type="http://schemas.openxmlformats.org/officeDocument/2006/relationships/slide" Target="slides/slide285.xml"/><Relationship Id="rId291" Type="http://schemas.openxmlformats.org/officeDocument/2006/relationships/slide" Target="slides/slide286.xml"/><Relationship Id="rId292" Type="http://schemas.openxmlformats.org/officeDocument/2006/relationships/slide" Target="slides/slide287.xml"/><Relationship Id="rId293" Type="http://schemas.openxmlformats.org/officeDocument/2006/relationships/slide" Target="slides/slide28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4479" y="223580"/>
            <a:ext cx="10513060" cy="17615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E5496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88542" y="5368848"/>
            <a:ext cx="8221980" cy="697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E5496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E5496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30783" y="1409851"/>
            <a:ext cx="5242560" cy="4375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006FC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89928" y="1401021"/>
            <a:ext cx="5278755" cy="4244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E5496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276359" y="0"/>
            <a:ext cx="755200" cy="139051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2171" y="196400"/>
            <a:ext cx="11687657" cy="859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E5496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8878" y="1291560"/>
            <a:ext cx="10686415" cy="44215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Relationship Id="rId12" Type="http://schemas.openxmlformats.org/officeDocument/2006/relationships/image" Target="../media/image24.png"/><Relationship Id="rId13" Type="http://schemas.openxmlformats.org/officeDocument/2006/relationships/image" Target="../media/image25.png"/><Relationship Id="rId14" Type="http://schemas.openxmlformats.org/officeDocument/2006/relationships/image" Target="../media/image26.png"/><Relationship Id="rId15" Type="http://schemas.openxmlformats.org/officeDocument/2006/relationships/image" Target="../media/image27.jpg"/><Relationship Id="rId16" Type="http://schemas.openxmlformats.org/officeDocument/2006/relationships/image" Target="../media/image28.jpg"/><Relationship Id="rId17" Type="http://schemas.openxmlformats.org/officeDocument/2006/relationships/image" Target="../media/image29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www.vmware.com/topics/glossary/content/hypervisor" TargetMode="External"/><Relationship Id="rId3" Type="http://schemas.openxmlformats.org/officeDocument/2006/relationships/hyperlink" Target="https://youtu.be/EvXn2QiL3gs" TargetMode="External"/><Relationship Id="rId4" Type="http://schemas.openxmlformats.org/officeDocument/2006/relationships/hyperlink" Target="https://www.vmware.com/topics/glossary/content/bare-metal-hypervisor" TargetMode="External"/><Relationship Id="rId5" Type="http://schemas.openxmlformats.org/officeDocument/2006/relationships/hyperlink" Target="https://www.youtube.com/watch?v=dckSc61WS6w" TargetMode="External"/><Relationship Id="rId6" Type="http://schemas.openxmlformats.org/officeDocument/2006/relationships/hyperlink" Target="https://blog.servermania.com/bare-metal-vs-hypervisor-which-is-right-for-your-project/" TargetMode="Externa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prafullatak@pes.edu" TargetMode="External"/><Relationship Id="rId3" Type="http://schemas.openxmlformats.org/officeDocument/2006/relationships/image" Target="../media/image2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jpg"/><Relationship Id="rId3" Type="http://schemas.openxmlformats.org/officeDocument/2006/relationships/image" Target="../media/image35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7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jpg"/><Relationship Id="rId3" Type="http://schemas.openxmlformats.org/officeDocument/2006/relationships/hyperlink" Target="https://www.brainkart.com/article/Para-Virtualization-with-Compiler-Support_11336/" TargetMode="Externa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jp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www.geeksforgeeks.org/difference-between-full-virtualization-and-paravirtualization/" TargetMode="External"/><Relationship Id="rId3" Type="http://schemas.openxmlformats.org/officeDocument/2006/relationships/hyperlink" Target="https://www.vmware.com/content/dam/digitalmarketing/vmware/en/pdf/techpaper/VMware_paravirtualization.pdf" TargetMode="Externa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prafullatak@pes.edu" TargetMode="External"/><Relationship Id="rId3" Type="http://schemas.openxmlformats.org/officeDocument/2006/relationships/image" Target="../media/image2.jp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jpg"/><Relationship Id="rId3" Type="http://schemas.openxmlformats.org/officeDocument/2006/relationships/image" Target="../media/image35.jp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jp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jp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ystems-seminar-uiuc.github.io/fall20/content/VMM.pdf" TargetMode="External"/><Relationship Id="rId3" Type="http://schemas.openxmlformats.org/officeDocument/2006/relationships/image" Target="../media/image47.jpg"/><Relationship Id="rId4" Type="http://schemas.openxmlformats.org/officeDocument/2006/relationships/hyperlink" Target="http://www.cs.toronto.edu/~demke/2227/S.14/Papers/p2-adams.pdf" TargetMode="External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www.sciencedirect.com/topics/computer-science/binary-translation" TargetMode="External"/><Relationship Id="rId3" Type="http://schemas.openxmlformats.org/officeDocument/2006/relationships/hyperlink" Target="http://www.cs.cmu.edu/~410-f06/lectures/L31_Virtualization.pdf" TargetMode="External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prafullatak@pes.edu" TargetMode="External"/><Relationship Id="rId3" Type="http://schemas.openxmlformats.org/officeDocument/2006/relationships/image" Target="../media/image2.jpg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3" Type="http://schemas.openxmlformats.org/officeDocument/2006/relationships/image" Target="../media/image1.jpg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9.jpg"/><Relationship Id="rId3" Type="http://schemas.openxmlformats.org/officeDocument/2006/relationships/image" Target="../media/image1.jpg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0.png"/><Relationship Id="rId3" Type="http://schemas.openxmlformats.org/officeDocument/2006/relationships/image" Target="../media/image1.jpg"/></Relationships>
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vmware.com/pdf/asplos235_adams.pdf" TargetMode="External"/><Relationship Id="rId3" Type="http://schemas.openxmlformats.org/officeDocument/2006/relationships/hyperlink" Target="https://www.cse.iitb.ac.in/~cs695/slides_pdf/04-hwvirt-kvmqemu.pdf" TargetMode="External"/><Relationship Id="rId4" Type="http://schemas.openxmlformats.org/officeDocument/2006/relationships/hyperlink" Target="https://www.intel.com/content/dam/www/public/us/en/documents/white-papers/virtualization-tech-converged-application-platforms-paper.pdf" TargetMode="External"/><Relationship Id="rId5" Type="http://schemas.openxmlformats.org/officeDocument/2006/relationships/image" Target="../media/image1.jpg"/></Relationships>
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prafullatak@pes.edu" TargetMode="External"/><Relationship Id="rId3" Type="http://schemas.openxmlformats.org/officeDocument/2006/relationships/image" Target="../media/image2.jpg"/></Relationships>
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Relationship Id="rId10" Type="http://schemas.openxmlformats.org/officeDocument/2006/relationships/image" Target="../media/image58.png"/><Relationship Id="rId11" Type="http://schemas.openxmlformats.org/officeDocument/2006/relationships/image" Target="../media/image59.png"/><Relationship Id="rId12" Type="http://schemas.openxmlformats.org/officeDocument/2006/relationships/image" Target="../media/image60.png"/><Relationship Id="rId13" Type="http://schemas.openxmlformats.org/officeDocument/2006/relationships/image" Target="../media/image61.png"/><Relationship Id="rId14" Type="http://schemas.openxmlformats.org/officeDocument/2006/relationships/image" Target="../media/image62.png"/><Relationship Id="rId15" Type="http://schemas.openxmlformats.org/officeDocument/2006/relationships/image" Target="../media/image63.png"/><Relationship Id="rId16" Type="http://schemas.openxmlformats.org/officeDocument/2006/relationships/image" Target="../media/image64.png"/><Relationship Id="rId17" Type="http://schemas.openxmlformats.org/officeDocument/2006/relationships/image" Target="../media/image65.png"/><Relationship Id="rId18" Type="http://schemas.openxmlformats.org/officeDocument/2006/relationships/image" Target="../media/image66.png"/><Relationship Id="rId19" Type="http://schemas.openxmlformats.org/officeDocument/2006/relationships/image" Target="../media/image67.png"/><Relationship Id="rId20" Type="http://schemas.openxmlformats.org/officeDocument/2006/relationships/image" Target="../media/image68.png"/><Relationship Id="rId21" Type="http://schemas.openxmlformats.org/officeDocument/2006/relationships/image" Target="../media/image69.png"/><Relationship Id="rId22" Type="http://schemas.openxmlformats.org/officeDocument/2006/relationships/image" Target="../media/image70.png"/><Relationship Id="rId23" Type="http://schemas.openxmlformats.org/officeDocument/2006/relationships/image" Target="../media/image71.png"/><Relationship Id="rId24" Type="http://schemas.openxmlformats.org/officeDocument/2006/relationships/image" Target="../media/image72.png"/><Relationship Id="rId25" Type="http://schemas.openxmlformats.org/officeDocument/2006/relationships/image" Target="../media/image73.png"/><Relationship Id="rId26" Type="http://schemas.openxmlformats.org/officeDocument/2006/relationships/image" Target="../media/image74.png"/><Relationship Id="rId27" Type="http://schemas.openxmlformats.org/officeDocument/2006/relationships/image" Target="../media/image75.png"/><Relationship Id="rId28" Type="http://schemas.openxmlformats.org/officeDocument/2006/relationships/image" Target="../media/image76.png"/><Relationship Id="rId29" Type="http://schemas.openxmlformats.org/officeDocument/2006/relationships/image" Target="../media/image77.png"/><Relationship Id="rId30" Type="http://schemas.openxmlformats.org/officeDocument/2006/relationships/image" Target="../media/image78.png"/></Relationships>
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84.png"/><Relationship Id="rId9" Type="http://schemas.openxmlformats.org/officeDocument/2006/relationships/image" Target="../media/image85.png"/><Relationship Id="rId10" Type="http://schemas.openxmlformats.org/officeDocument/2006/relationships/image" Target="../media/image86.png"/></Relationships>
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87.png"/><Relationship Id="rId4" Type="http://schemas.openxmlformats.org/officeDocument/2006/relationships/image" Target="../media/image88.png"/><Relationship Id="rId5" Type="http://schemas.openxmlformats.org/officeDocument/2006/relationships/image" Target="../media/image89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92.png"/><Relationship Id="rId9" Type="http://schemas.openxmlformats.org/officeDocument/2006/relationships/image" Target="../media/image93.png"/><Relationship Id="rId10" Type="http://schemas.openxmlformats.org/officeDocument/2006/relationships/image" Target="../media/image94.png"/><Relationship Id="rId11" Type="http://schemas.openxmlformats.org/officeDocument/2006/relationships/image" Target="../media/image95.png"/><Relationship Id="rId12" Type="http://schemas.openxmlformats.org/officeDocument/2006/relationships/image" Target="../media/image96.png"/><Relationship Id="rId13" Type="http://schemas.openxmlformats.org/officeDocument/2006/relationships/image" Target="../media/image97.png"/><Relationship Id="rId14" Type="http://schemas.openxmlformats.org/officeDocument/2006/relationships/image" Target="../media/image98.png"/><Relationship Id="rId15" Type="http://schemas.openxmlformats.org/officeDocument/2006/relationships/image" Target="../media/image99.png"/><Relationship Id="rId16" Type="http://schemas.openxmlformats.org/officeDocument/2006/relationships/image" Target="../media/image100.png"/><Relationship Id="rId17" Type="http://schemas.openxmlformats.org/officeDocument/2006/relationships/image" Target="../media/image101.png"/><Relationship Id="rId18" Type="http://schemas.openxmlformats.org/officeDocument/2006/relationships/image" Target="../media/image102.png"/><Relationship Id="rId19" Type="http://schemas.openxmlformats.org/officeDocument/2006/relationships/image" Target="../media/image103.png"/><Relationship Id="rId20" Type="http://schemas.openxmlformats.org/officeDocument/2006/relationships/image" Target="../media/image104.png"/><Relationship Id="rId21" Type="http://schemas.openxmlformats.org/officeDocument/2006/relationships/image" Target="../media/image105.png"/><Relationship Id="rId22" Type="http://schemas.openxmlformats.org/officeDocument/2006/relationships/image" Target="../media/image106.png"/><Relationship Id="rId23" Type="http://schemas.openxmlformats.org/officeDocument/2006/relationships/image" Target="../media/image107.png"/><Relationship Id="rId24" Type="http://schemas.openxmlformats.org/officeDocument/2006/relationships/image" Target="../media/image108.png"/><Relationship Id="rId25" Type="http://schemas.openxmlformats.org/officeDocument/2006/relationships/image" Target="../media/image109.png"/><Relationship Id="rId26" Type="http://schemas.openxmlformats.org/officeDocument/2006/relationships/image" Target="../media/image110.png"/><Relationship Id="rId27" Type="http://schemas.openxmlformats.org/officeDocument/2006/relationships/image" Target="../media/image111.png"/><Relationship Id="rId28" Type="http://schemas.openxmlformats.org/officeDocument/2006/relationships/image" Target="../media/image112.png"/><Relationship Id="rId29" Type="http://schemas.openxmlformats.org/officeDocument/2006/relationships/image" Target="../media/image113.png"/><Relationship Id="rId30" Type="http://schemas.openxmlformats.org/officeDocument/2006/relationships/image" Target="../media/image114.png"/><Relationship Id="rId31" Type="http://schemas.openxmlformats.org/officeDocument/2006/relationships/image" Target="../media/image115.png"/><Relationship Id="rId32" Type="http://schemas.openxmlformats.org/officeDocument/2006/relationships/image" Target="../media/image116.png"/><Relationship Id="rId33" Type="http://schemas.openxmlformats.org/officeDocument/2006/relationships/image" Target="../media/image117.png"/><Relationship Id="rId34" Type="http://schemas.openxmlformats.org/officeDocument/2006/relationships/image" Target="../media/image118.png"/><Relationship Id="rId35" Type="http://schemas.openxmlformats.org/officeDocument/2006/relationships/image" Target="../media/image119.png"/><Relationship Id="rId36" Type="http://schemas.openxmlformats.org/officeDocument/2006/relationships/image" Target="../media/image120.png"/><Relationship Id="rId37" Type="http://schemas.openxmlformats.org/officeDocument/2006/relationships/image" Target="../media/image121.png"/><Relationship Id="rId38" Type="http://schemas.openxmlformats.org/officeDocument/2006/relationships/image" Target="../media/image122.png"/><Relationship Id="rId39" Type="http://schemas.openxmlformats.org/officeDocument/2006/relationships/image" Target="../media/image123.png"/><Relationship Id="rId40" Type="http://schemas.openxmlformats.org/officeDocument/2006/relationships/image" Target="../media/image124.png"/><Relationship Id="rId41" Type="http://schemas.openxmlformats.org/officeDocument/2006/relationships/image" Target="../media/image125.png"/><Relationship Id="rId42" Type="http://schemas.openxmlformats.org/officeDocument/2006/relationships/image" Target="../media/image126.png"/><Relationship Id="rId43" Type="http://schemas.openxmlformats.org/officeDocument/2006/relationships/image" Target="../media/image127.png"/><Relationship Id="rId44" Type="http://schemas.openxmlformats.org/officeDocument/2006/relationships/image" Target="../media/image128.png"/><Relationship Id="rId45" Type="http://schemas.openxmlformats.org/officeDocument/2006/relationships/image" Target="../media/image129.png"/><Relationship Id="rId46" Type="http://schemas.openxmlformats.org/officeDocument/2006/relationships/image" Target="../media/image130.png"/><Relationship Id="rId47" Type="http://schemas.openxmlformats.org/officeDocument/2006/relationships/image" Target="../media/image131.png"/></Relationships>
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132.png"/><Relationship Id="rId4" Type="http://schemas.openxmlformats.org/officeDocument/2006/relationships/image" Target="../media/image133.png"/><Relationship Id="rId5" Type="http://schemas.openxmlformats.org/officeDocument/2006/relationships/image" Target="../media/image134.png"/><Relationship Id="rId6" Type="http://schemas.openxmlformats.org/officeDocument/2006/relationships/image" Target="../media/image135.png"/><Relationship Id="rId7" Type="http://schemas.openxmlformats.org/officeDocument/2006/relationships/image" Target="../media/image136.png"/><Relationship Id="rId8" Type="http://schemas.openxmlformats.org/officeDocument/2006/relationships/image" Target="../media/image137.png"/><Relationship Id="rId9" Type="http://schemas.openxmlformats.org/officeDocument/2006/relationships/image" Target="../media/image138.png"/><Relationship Id="rId10" Type="http://schemas.openxmlformats.org/officeDocument/2006/relationships/image" Target="../media/image139.png"/></Relationships>
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hyperlink" Target="https://www.cse.iitk.ac.in/users/biswap/CASS18/VM.pdf" TargetMode="External"/></Relationships>
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132.png"/><Relationship Id="rId4" Type="http://schemas.openxmlformats.org/officeDocument/2006/relationships/image" Target="../media/image133.png"/><Relationship Id="rId5" Type="http://schemas.openxmlformats.org/officeDocument/2006/relationships/image" Target="../media/image137.png"/><Relationship Id="rId6" Type="http://schemas.openxmlformats.org/officeDocument/2006/relationships/image" Target="../media/image140.png"/><Relationship Id="rId7" Type="http://schemas.openxmlformats.org/officeDocument/2006/relationships/image" Target="../media/image139.png"/><Relationship Id="rId8" Type="http://schemas.openxmlformats.org/officeDocument/2006/relationships/image" Target="../media/image141.png"/><Relationship Id="rId9" Type="http://schemas.openxmlformats.org/officeDocument/2006/relationships/image" Target="../media/image142.png"/><Relationship Id="rId10" Type="http://schemas.openxmlformats.org/officeDocument/2006/relationships/image" Target="../media/image143.png"/><Relationship Id="rId11" Type="http://schemas.openxmlformats.org/officeDocument/2006/relationships/image" Target="../media/image144.png"/><Relationship Id="rId12" Type="http://schemas.openxmlformats.org/officeDocument/2006/relationships/image" Target="../media/image145.png"/></Relationships>
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146.png"/><Relationship Id="rId4" Type="http://schemas.openxmlformats.org/officeDocument/2006/relationships/image" Target="../media/image147.png"/></Relationships>
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148.png"/></Relationships>
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hyperlink" Target="http://developer.amd.com/wordpress/media/2012/10/NPT-WP-1%201-final-TM.pdf" TargetMode="External"/></Relationships>
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149.png"/></Relationships>
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150.jpg"/></Relationships>

</file>

<file path=ppt/slides/_rels/slide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151.jpg"/></Relationships>

</file>

<file path=ppt/slides/_rels/slide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152.jpg"/></Relationships>

</file>

<file path=ppt/slides/_rels/slide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153.png"/><Relationship Id="rId4" Type="http://schemas.openxmlformats.org/officeDocument/2006/relationships/hyperlink" Target="https://virtualizationdeepdive.wordpress.com/about/6-2/" TargetMode="External"/><Relationship Id="rId5" Type="http://schemas.openxmlformats.org/officeDocument/2006/relationships/hyperlink" Target="https://download3.vmware.com/vmworld/2006/tac0080.pdf" TargetMode="External"/></Relationships>

</file>

<file path=ppt/slides/_rels/slide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hyperlink" Target="https://www.cse.iitb.ac.in/~cs695/slides_pdf/06-memvirt.pdf" TargetMode="External"/><Relationship Id="rId4" Type="http://schemas.openxmlformats.org/officeDocument/2006/relationships/hyperlink" Target="https://www.cse.iitb.ac.in/~cs695/papers/iovirt.pdf" TargetMode="External"/></Relationships>

</file>

<file path=ppt/slides/_rels/slide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prafullatak@pes.edu" TargetMode="External"/><Relationship Id="rId3" Type="http://schemas.openxmlformats.org/officeDocument/2006/relationships/image" Target="../media/image2.jpg"/></Relationships>

</file>

<file path=ppt/slides/_rels/slide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cis.temple.edu/~ingargio/cis307/readings/virtualization.html#%3A~%3Atext%3DPrivileged%20Instructions%3A%20instructions%20that%20if%2C%2CSIDT%2CSLDT%2CSMSW" TargetMode="External"/></Relationships>

</file>

<file path=ppt/slides/_rels/slide9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cis.temple.edu/~ingargio/cis307/readings/virtualization.html#%3A~%3Atext%3DPrivileged%20Instructions%3A%20instructions%20that%20if%2C%2CSIDT%2CSLDT%2CSMSW" TargetMode="External"/></Relationships>

</file>

<file path=ppt/slides/_rels/slide9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n.wikipedia.org/wiki/Popek_and_Goldberg_virtualization_requirements" TargetMode="External"/></Relationships>

</file>

<file path=ppt/slides/_rels/slide9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n.wikipedia.org/wiki/Popek_and_Goldberg_virtualization_requirements" TargetMode="External"/></Relationships>

</file>

<file path=ppt/slides/_rels/slide9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4.png"/></Relationships>

</file>

<file path=ppt/slides/_rels/slide9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5.jpg"/><Relationship Id="rId3" Type="http://schemas.openxmlformats.org/officeDocument/2006/relationships/image" Target="../media/image156.jpg"/></Relationships>

</file>

<file path=ppt/slides/_rels/slide10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7.png"/><Relationship Id="rId3" Type="http://schemas.openxmlformats.org/officeDocument/2006/relationships/image" Target="../media/image158.png"/></Relationships>

</file>

<file path=ppt/slides/_rels/slide10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0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9.jpg"/></Relationships>

</file>

<file path=ppt/slides/_rels/slide10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apps.dtic.mil/sti/pdfs/ADA423654.pdf" TargetMode="External"/></Relationships>

</file>

<file path=ppt/slides/_rels/slide10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enacademic.com/dic.nsf/enwiki/480245" TargetMode="External"/><Relationship Id="rId3" Type="http://schemas.openxmlformats.org/officeDocument/2006/relationships/hyperlink" Target="https://www.cs.cmu.edu/~410-s14/lectures/L30_Virtualization.pdf" TargetMode="External"/><Relationship Id="rId4" Type="http://schemas.openxmlformats.org/officeDocument/2006/relationships/hyperlink" Target="https://en.wikipedia.org/wiki/Popek_and_Goldberg_virtualization_requirements#%3A~%3Atext%3DThe%20Popek%20and%20Goldberg%20virtualization%2Cfor%20Virtualizable%20Third%20Generation%20Architectures%22" TargetMode="External"/><Relationship Id="rId5" Type="http://schemas.openxmlformats.org/officeDocument/2006/relationships/hyperlink" Target="https://blog.acolyer.org/2016/02/19/formal-requirements-for-virtualizable-third-generation-architectures/" TargetMode="External"/><Relationship Id="rId6" Type="http://schemas.openxmlformats.org/officeDocument/2006/relationships/hyperlink" Target="http://citeseerx.ist.psu.edu/viewdoc/download?doi=10.1.1.141.4815&amp;rep=rep1&amp;type=pdf" TargetMode="External"/><Relationship Id="rId7" Type="http://schemas.openxmlformats.org/officeDocument/2006/relationships/hyperlink" Target="https://www.researchgate.net/publication/252019491_Recursive_virtual_machines_for_advanced_security_mechanisms" TargetMode="External"/></Relationships>

</file>

<file path=ppt/slides/_rels/slide10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prafullatak@pes.edu" TargetMode="External"/><Relationship Id="rId3" Type="http://schemas.openxmlformats.org/officeDocument/2006/relationships/image" Target="../media/image2.jpg"/></Relationships>

</file>

<file path=ppt/slides/_rels/slide10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10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0.jpg"/></Relationships>

</file>

<file path=ppt/slides/_rels/slide1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1.jpg"/></Relationships>

</file>

<file path=ppt/slides/_rels/slide1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2.png"/></Relationships>

</file>

<file path=ppt/slides/_rels/slide1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3.jpg"/></Relationships>

</file>

<file path=ppt/slides/_rels/slide1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4.jpg"/></Relationships>

</file>

<file path=ppt/slides/_rels/slide1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brainkart.com/article/Migration-of-Memory%2C-Files%2C-and-Network-Resources_11346/" TargetMode="External"/><Relationship Id="rId3" Type="http://schemas.openxmlformats.org/officeDocument/2006/relationships/hyperlink" Target="https://www.researchgate.net/publication/3958192_Internet_suspendresume" TargetMode="External"/></Relationships>

</file>

<file path=ppt/slides/_rels/slide1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5.jpg"/></Relationships>

</file>

<file path=ppt/slides/_rels/slide1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cse.iitb.ac.in/~cs695/papers/livemigration.pdf" TargetMode="External"/><Relationship Id="rId3" Type="http://schemas.openxmlformats.org/officeDocument/2006/relationships/hyperlink" Target="https://www.youtube.com/watch?v=GTHxL8U0PiI" TargetMode="External"/><Relationship Id="rId4" Type="http://schemas.openxmlformats.org/officeDocument/2006/relationships/hyperlink" Target="https://www.youtube.com/watch?v=_SpRpC2Ez9c" TargetMode="External"/></Relationships>

</file>

<file path=ppt/slides/_rels/slide1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prafullatak@pes.edu" TargetMode="External"/><Relationship Id="rId3" Type="http://schemas.openxmlformats.org/officeDocument/2006/relationships/image" Target="../media/image2.jpg"/></Relationships>

</file>

<file path=ppt/slides/_rels/slide1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1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6.png"/></Relationships>

</file>

<file path=ppt/slides/_rels/slide1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7.jpg"/></Relationships>

</file>

<file path=ppt/slides/_rels/slide1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8.jpg"/></Relationships>

</file>

<file path=ppt/slides/_rels/slide1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9.jpg"/></Relationships>

</file>

<file path=ppt/slides/_rels/slide1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0.jpg"/></Relationships>

</file>

<file path=ppt/slides/_rels/slide1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1.jpg"/><Relationship Id="rId3" Type="http://schemas.openxmlformats.org/officeDocument/2006/relationships/image" Target="../media/image172.jpg"/><Relationship Id="rId4" Type="http://schemas.openxmlformats.org/officeDocument/2006/relationships/image" Target="../media/image173.jpg"/></Relationships>

</file>

<file path=ppt/slides/_rels/slide1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4.jpg"/><Relationship Id="rId3" Type="http://schemas.openxmlformats.org/officeDocument/2006/relationships/hyperlink" Target="https://docs.docker.com/get-started/overview/" TargetMode="External"/></Relationships>

</file>

<file path=ppt/slides/_rels/slide1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5.jpg"/></Relationships>

</file>

<file path=ppt/slides/_rels/slide1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dockerinaction/ch3_dockerfile.git" TargetMode="External"/><Relationship Id="rId3" Type="http://schemas.openxmlformats.org/officeDocument/2006/relationships/hyperlink" Target="https://www.youtube.com/watch?v=nXV6qihj5uw" TargetMode="External"/></Relationships>

</file>

<file path=ppt/slides/_rels/slide1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6.jpg"/><Relationship Id="rId3" Type="http://schemas.openxmlformats.org/officeDocument/2006/relationships/image" Target="../media/image177.jpg"/></Relationships>

</file>

<file path=ppt/slides/_rels/slide1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8.jpg"/></Relationships>

</file>

<file path=ppt/slides/_rels/slide1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9.jpg"/><Relationship Id="rId3" Type="http://schemas.openxmlformats.org/officeDocument/2006/relationships/image" Target="../media/image180.jpg"/></Relationships>

</file>

<file path=ppt/slides/_rels/slide1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1.jpg"/><Relationship Id="rId3" Type="http://schemas.openxmlformats.org/officeDocument/2006/relationships/image" Target="../media/image182.jpg"/></Relationships>

</file>

<file path=ppt/slides/_rels/slide1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3.jpg"/><Relationship Id="rId3" Type="http://schemas.openxmlformats.org/officeDocument/2006/relationships/image" Target="../media/image184.jpg"/></Relationships>

</file>

<file path=ppt/slides/_rels/slide1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5.jpg"/></Relationships>

</file>

<file path=ppt/slides/_rels/slide1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cs.docker.com/storage/storagedriver/" TargetMode="External"/><Relationship Id="rId3" Type="http://schemas.openxmlformats.org/officeDocument/2006/relationships/image" Target="../media/image186.jpg"/><Relationship Id="rId4" Type="http://schemas.openxmlformats.org/officeDocument/2006/relationships/image" Target="../media/image187.jpg"/></Relationships>

</file>

<file path=ppt/slides/_rels/slide1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8.jpg"/></Relationships>

</file>

<file path=ppt/slides/_rels/slide1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9.jpg"/></Relationships>

</file>

<file path=ppt/slides/_rels/slide1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0.jpg"/><Relationship Id="rId3" Type="http://schemas.openxmlformats.org/officeDocument/2006/relationships/image" Target="../media/image191.jpg"/></Relationships>

</file>

<file path=ppt/slides/_rels/slide1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2.jpg"/></Relationships>

</file>

<file path=ppt/slides/_rels/slide1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redhat.com/sysadmin/7-linux-namespaces" TargetMode="External"/></Relationships>

</file>

<file path=ppt/slides/_rels/slide1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redhat.com/sysadmin/7-linux-namespaces" TargetMode="External"/></Relationships>

</file>

<file path=ppt/slides/_rels/slide1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3.png"/><Relationship Id="rId3" Type="http://schemas.openxmlformats.org/officeDocument/2006/relationships/image" Target="../media/image194.png"/><Relationship Id="rId4" Type="http://schemas.openxmlformats.org/officeDocument/2006/relationships/image" Target="../media/image195.png"/><Relationship Id="rId5" Type="http://schemas.openxmlformats.org/officeDocument/2006/relationships/image" Target="../media/image196.png"/><Relationship Id="rId6" Type="http://schemas.openxmlformats.org/officeDocument/2006/relationships/image" Target="../media/image197.png"/><Relationship Id="rId7" Type="http://schemas.openxmlformats.org/officeDocument/2006/relationships/image" Target="../media/image198.png"/><Relationship Id="rId8" Type="http://schemas.openxmlformats.org/officeDocument/2006/relationships/image" Target="../media/image199.png"/><Relationship Id="rId9" Type="http://schemas.openxmlformats.org/officeDocument/2006/relationships/image" Target="../media/image200.png"/><Relationship Id="rId10" Type="http://schemas.openxmlformats.org/officeDocument/2006/relationships/image" Target="../media/image201.png"/><Relationship Id="rId11" Type="http://schemas.openxmlformats.org/officeDocument/2006/relationships/image" Target="../media/image202.png"/><Relationship Id="rId12" Type="http://schemas.openxmlformats.org/officeDocument/2006/relationships/image" Target="../media/image203.png"/><Relationship Id="rId13" Type="http://schemas.openxmlformats.org/officeDocument/2006/relationships/image" Target="../media/image204.png"/><Relationship Id="rId14" Type="http://schemas.openxmlformats.org/officeDocument/2006/relationships/image" Target="../media/image205.png"/><Relationship Id="rId15" Type="http://schemas.openxmlformats.org/officeDocument/2006/relationships/image" Target="../media/image206.png"/><Relationship Id="rId16" Type="http://schemas.openxmlformats.org/officeDocument/2006/relationships/image" Target="../media/image207.png"/><Relationship Id="rId17" Type="http://schemas.openxmlformats.org/officeDocument/2006/relationships/image" Target="../media/image208.png"/><Relationship Id="rId18" Type="http://schemas.openxmlformats.org/officeDocument/2006/relationships/image" Target="../media/image209.png"/><Relationship Id="rId19" Type="http://schemas.openxmlformats.org/officeDocument/2006/relationships/image" Target="../media/image210.png"/><Relationship Id="rId20" Type="http://schemas.openxmlformats.org/officeDocument/2006/relationships/image" Target="../media/image211.png"/><Relationship Id="rId21" Type="http://schemas.openxmlformats.org/officeDocument/2006/relationships/image" Target="../media/image212.png"/><Relationship Id="rId22" Type="http://schemas.openxmlformats.org/officeDocument/2006/relationships/image" Target="../media/image213.png"/><Relationship Id="rId23" Type="http://schemas.openxmlformats.org/officeDocument/2006/relationships/image" Target="../media/image214.png"/><Relationship Id="rId24" Type="http://schemas.openxmlformats.org/officeDocument/2006/relationships/image" Target="../media/image215.png"/><Relationship Id="rId25" Type="http://schemas.openxmlformats.org/officeDocument/2006/relationships/image" Target="../media/image216.png"/><Relationship Id="rId26" Type="http://schemas.openxmlformats.org/officeDocument/2006/relationships/image" Target="../media/image217.png"/><Relationship Id="rId27" Type="http://schemas.openxmlformats.org/officeDocument/2006/relationships/image" Target="../media/image218.png"/><Relationship Id="rId28" Type="http://schemas.openxmlformats.org/officeDocument/2006/relationships/image" Target="../media/image219.png"/></Relationships>

</file>

<file path=ppt/slides/_rels/slide1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0.png"/><Relationship Id="rId3" Type="http://schemas.openxmlformats.org/officeDocument/2006/relationships/image" Target="../media/image221.png"/><Relationship Id="rId4" Type="http://schemas.openxmlformats.org/officeDocument/2006/relationships/image" Target="../media/image222.png"/><Relationship Id="rId5" Type="http://schemas.openxmlformats.org/officeDocument/2006/relationships/image" Target="../media/image223.png"/><Relationship Id="rId6" Type="http://schemas.openxmlformats.org/officeDocument/2006/relationships/image" Target="../media/image224.png"/><Relationship Id="rId7" Type="http://schemas.openxmlformats.org/officeDocument/2006/relationships/image" Target="../media/image225.png"/><Relationship Id="rId8" Type="http://schemas.openxmlformats.org/officeDocument/2006/relationships/image" Target="../media/image226.png"/><Relationship Id="rId9" Type="http://schemas.openxmlformats.org/officeDocument/2006/relationships/image" Target="../media/image227.png"/><Relationship Id="rId10" Type="http://schemas.openxmlformats.org/officeDocument/2006/relationships/image" Target="../media/image228.png"/><Relationship Id="rId11" Type="http://schemas.openxmlformats.org/officeDocument/2006/relationships/image" Target="../media/image229.png"/><Relationship Id="rId12" Type="http://schemas.openxmlformats.org/officeDocument/2006/relationships/image" Target="../media/image230.png"/><Relationship Id="rId13" Type="http://schemas.openxmlformats.org/officeDocument/2006/relationships/image" Target="../media/image231.png"/><Relationship Id="rId14" Type="http://schemas.openxmlformats.org/officeDocument/2006/relationships/image" Target="../media/image232.png"/><Relationship Id="rId15" Type="http://schemas.openxmlformats.org/officeDocument/2006/relationships/image" Target="../media/image233.png"/><Relationship Id="rId16" Type="http://schemas.openxmlformats.org/officeDocument/2006/relationships/image" Target="../media/image234.png"/><Relationship Id="rId17" Type="http://schemas.openxmlformats.org/officeDocument/2006/relationships/image" Target="../media/image235.png"/><Relationship Id="rId18" Type="http://schemas.openxmlformats.org/officeDocument/2006/relationships/image" Target="../media/image236.png"/><Relationship Id="rId19" Type="http://schemas.openxmlformats.org/officeDocument/2006/relationships/image" Target="../media/image237.png"/><Relationship Id="rId20" Type="http://schemas.openxmlformats.org/officeDocument/2006/relationships/image" Target="../media/image238.png"/><Relationship Id="rId21" Type="http://schemas.openxmlformats.org/officeDocument/2006/relationships/image" Target="../media/image239.png"/><Relationship Id="rId22" Type="http://schemas.openxmlformats.org/officeDocument/2006/relationships/image" Target="../media/image240.png"/><Relationship Id="rId23" Type="http://schemas.openxmlformats.org/officeDocument/2006/relationships/image" Target="../media/image241.png"/></Relationships>

</file>

<file path=ppt/slides/_rels/slide1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2.png"/><Relationship Id="rId3" Type="http://schemas.openxmlformats.org/officeDocument/2006/relationships/image" Target="../media/image243.png"/><Relationship Id="rId4" Type="http://schemas.openxmlformats.org/officeDocument/2006/relationships/image" Target="../media/image244.png"/><Relationship Id="rId5" Type="http://schemas.openxmlformats.org/officeDocument/2006/relationships/image" Target="../media/image245.png"/><Relationship Id="rId6" Type="http://schemas.openxmlformats.org/officeDocument/2006/relationships/image" Target="../media/image246.png"/><Relationship Id="rId7" Type="http://schemas.openxmlformats.org/officeDocument/2006/relationships/image" Target="../media/image247.png"/><Relationship Id="rId8" Type="http://schemas.openxmlformats.org/officeDocument/2006/relationships/image" Target="../media/image248.png"/><Relationship Id="rId9" Type="http://schemas.openxmlformats.org/officeDocument/2006/relationships/image" Target="../media/image249.png"/><Relationship Id="rId10" Type="http://schemas.openxmlformats.org/officeDocument/2006/relationships/image" Target="../media/image250.png"/><Relationship Id="rId11" Type="http://schemas.openxmlformats.org/officeDocument/2006/relationships/image" Target="../media/image251.png"/><Relationship Id="rId12" Type="http://schemas.openxmlformats.org/officeDocument/2006/relationships/image" Target="../media/image252.png"/><Relationship Id="rId13" Type="http://schemas.openxmlformats.org/officeDocument/2006/relationships/image" Target="../media/image253.png"/><Relationship Id="rId14" Type="http://schemas.openxmlformats.org/officeDocument/2006/relationships/image" Target="../media/image254.png"/><Relationship Id="rId15" Type="http://schemas.openxmlformats.org/officeDocument/2006/relationships/image" Target="../media/image255.png"/><Relationship Id="rId16" Type="http://schemas.openxmlformats.org/officeDocument/2006/relationships/image" Target="../media/image256.png"/><Relationship Id="rId17" Type="http://schemas.openxmlformats.org/officeDocument/2006/relationships/image" Target="../media/image257.png"/><Relationship Id="rId18" Type="http://schemas.openxmlformats.org/officeDocument/2006/relationships/image" Target="../media/image258.png"/><Relationship Id="rId19" Type="http://schemas.openxmlformats.org/officeDocument/2006/relationships/image" Target="../media/image259.png"/><Relationship Id="rId20" Type="http://schemas.openxmlformats.org/officeDocument/2006/relationships/image" Target="../media/image260.png"/><Relationship Id="rId21" Type="http://schemas.openxmlformats.org/officeDocument/2006/relationships/image" Target="../media/image261.png"/></Relationships>

</file>

<file path=ppt/slides/_rels/slide1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2.jpg"/><Relationship Id="rId3" Type="http://schemas.openxmlformats.org/officeDocument/2006/relationships/image" Target="../media/image263.jpg"/></Relationships>

</file>

<file path=ppt/slides/_rels/slide1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4.jpg"/></Relationships>

</file>

<file path=ppt/slides/_rels/slide1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5.jpg"/></Relationships>

</file>

<file path=ppt/slides/_rels/slide1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6.jpg"/><Relationship Id="rId3" Type="http://schemas.openxmlformats.org/officeDocument/2006/relationships/image" Target="../media/image267.jpg"/><Relationship Id="rId4" Type="http://schemas.openxmlformats.org/officeDocument/2006/relationships/image" Target="../media/image268.jpg"/></Relationships>

</file>

<file path=ppt/slides/_rels/slide1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9.jpg"/></Relationships>

</file>

<file path=ppt/slides/_rels/slide1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0.jpg"/><Relationship Id="rId3" Type="http://schemas.openxmlformats.org/officeDocument/2006/relationships/image" Target="../media/image271.jpg"/></Relationships>

</file>

<file path=ppt/slides/_rels/slide1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2.jpg"/></Relationships>

</file>

<file path=ppt/slides/_rels/slide1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3.png"/><Relationship Id="rId3" Type="http://schemas.openxmlformats.org/officeDocument/2006/relationships/image" Target="../media/image274.png"/><Relationship Id="rId4" Type="http://schemas.openxmlformats.org/officeDocument/2006/relationships/hyperlink" Target="https://developers.redhat.com/blog/2018/10/22/introduction-to-linux-interfaces-for-virtual-" TargetMode="External"/></Relationships>

</file>

<file path=ppt/slides/_rels/slide1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5.png"/><Relationship Id="rId3" Type="http://schemas.openxmlformats.org/officeDocument/2006/relationships/hyperlink" Target="https://man7.org/linux/man-pages/man8/pivot_root.8.html" TargetMode="External"/></Relationships>

</file>

<file path=ppt/slides/_rels/slide1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6.jpg"/><Relationship Id="rId3" Type="http://schemas.openxmlformats.org/officeDocument/2006/relationships/image" Target="../media/image277.jpg"/></Relationships>

</file>

<file path=ppt/slides/_rels/slide1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8.png"/></Relationships>

</file>

<file path=ppt/slides/_rels/slide1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9.png"/></Relationships>

</file>

<file path=ppt/slides/_rels/slide1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0.jpg"/><Relationship Id="rId3" Type="http://schemas.openxmlformats.org/officeDocument/2006/relationships/image" Target="../media/image281.jpg"/></Relationships>

</file>

<file path=ppt/slides/_rels/slide1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2.jpg"/></Relationships>

</file>

<file path=ppt/slides/_rels/slide1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cs.docker.com/get-started/overview/" TargetMode="External"/><Relationship Id="rId3" Type="http://schemas.openxmlformats.org/officeDocument/2006/relationships/hyperlink" Target="https://martinheinz.dev/blog/44" TargetMode="External"/></Relationships>

</file>

<file path=ppt/slides/_rels/slide1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linuxjournal.com/article/7714" TargetMode="External"/></Relationships>

</file>

<file path=ppt/slides/_rels/slide1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3.jpg"/></Relationships>

</file>

<file path=ppt/slides/_rels/slide1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4.jpg"/><Relationship Id="rId3" Type="http://schemas.openxmlformats.org/officeDocument/2006/relationships/hyperlink" Target="https://www.slideshare.net/cm13/introduction-to-docker-48784005" TargetMode="External"/></Relationships>

</file>

<file path=ppt/slides/_rels/slide1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5.jpg"/></Relationships>

</file>

<file path=ppt/slides/_rels/slide1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www.redhat.com/en/topics/containers/containers-vs-vms" TargetMode="External"/><Relationship Id="rId3" Type="http://schemas.openxmlformats.org/officeDocument/2006/relationships/hyperlink" Target="https://www.simplilearn.com/tutorials/docker-tutorial/what-is-docker-container" TargetMode="External"/><Relationship Id="rId4" Type="http://schemas.openxmlformats.org/officeDocument/2006/relationships/hyperlink" Target="https://www.xda-developers.com/best-docker-containers-for-developers/" TargetMode="External"/><Relationship Id="rId5" Type="http://schemas.openxmlformats.org/officeDocument/2006/relationships/hyperlink" Target="https://www.redhat.com/en/topics/containers" TargetMode="External"/><Relationship Id="rId6" Type="http://schemas.openxmlformats.org/officeDocument/2006/relationships/hyperlink" Target="https://www.cio.com/article/2924995/what-are-containers-and-why-do-you-need-them.html" TargetMode="External"/></Relationships>

</file>

<file path=ppt/slides/_rels/slide1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access.redhat.com/documentation/en-US/Red_Hat_Enterprise_Linux/6/html/Resource_Management_Guide/sec-Relationships_Between_Subsystems_Hierarchies_Control_Groups_and_Tasks.html" TargetMode="External"/><Relationship Id="rId3" Type="http://schemas.openxmlformats.org/officeDocument/2006/relationships/hyperlink" Target="https://en.wikipedia.org/wiki/Cgroups" TargetMode="External"/><Relationship Id="rId4" Type="http://schemas.openxmlformats.org/officeDocument/2006/relationships/hyperlink" Target="https://www.youtube.com/watch?v=sK5i-N34im8" TargetMode="External"/><Relationship Id="rId5" Type="http://schemas.openxmlformats.org/officeDocument/2006/relationships/hyperlink" Target="https://www.youtube.com/watch?v=nXV6qihj5uw" TargetMode="External"/></Relationships>

</file>

<file path=ppt/slides/_rels/slide1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prafullatak@pes.edu" TargetMode="External"/><Relationship Id="rId3" Type="http://schemas.openxmlformats.org/officeDocument/2006/relationships/image" Target="../media/image2.jpg"/></Relationships>

</file>

<file path=ppt/slides/_rels/slide1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1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6.png"/></Relationships>

</file>

<file path=ppt/slides/_rels/slide1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7.jpg"/></Relationships>

</file>

<file path=ppt/slides/_rels/slide19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8.jpg"/></Relationships>

</file>

<file path=ppt/slides/_rels/slide19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9.jpg"/></Relationships>

</file>

<file path=ppt/slides/_rels/slide19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0.jpg"/></Relationships>

</file>

<file path=ppt/slides/_rels/slide19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9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1.jpg"/><Relationship Id="rId3" Type="http://schemas.openxmlformats.org/officeDocument/2006/relationships/image" Target="../media/image172.jpg"/><Relationship Id="rId4" Type="http://schemas.openxmlformats.org/officeDocument/2006/relationships/image" Target="../media/image173.jpg"/></Relationships>

</file>

<file path=ppt/slides/_rels/slide19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4.jpg"/><Relationship Id="rId3" Type="http://schemas.openxmlformats.org/officeDocument/2006/relationships/hyperlink" Target="https://docs.docker.com/get-started/overview/" TargetMode="External"/></Relationships>

</file>

<file path=ppt/slides/_rels/slide19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5.jpg"/></Relationships>

</file>

<file path=ppt/slides/_rels/slide20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dockerinaction/ch3_dockerfile.git" TargetMode="External"/><Relationship Id="rId3" Type="http://schemas.openxmlformats.org/officeDocument/2006/relationships/hyperlink" Target="https://www.youtube.com/watch?v=nXV6qihj5uw" TargetMode="External"/></Relationships>

</file>

<file path=ppt/slides/_rels/slide20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6.jpg"/><Relationship Id="rId3" Type="http://schemas.openxmlformats.org/officeDocument/2006/relationships/image" Target="../media/image177.jpg"/></Relationships>

</file>

<file path=ppt/slides/_rels/slide20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8.jpg"/></Relationships>

</file>

<file path=ppt/slides/_rels/slide20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9.jpg"/><Relationship Id="rId3" Type="http://schemas.openxmlformats.org/officeDocument/2006/relationships/image" Target="../media/image180.jpg"/></Relationships>

</file>

<file path=ppt/slides/_rels/slide20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1.jpg"/><Relationship Id="rId3" Type="http://schemas.openxmlformats.org/officeDocument/2006/relationships/image" Target="../media/image182.jpg"/></Relationships>

</file>

<file path=ppt/slides/_rels/slide20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3.jpg"/><Relationship Id="rId3" Type="http://schemas.openxmlformats.org/officeDocument/2006/relationships/image" Target="../media/image184.jpg"/></Relationships>

</file>

<file path=ppt/slides/_rels/slide20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5.jpg"/></Relationships>

</file>

<file path=ppt/slides/_rels/slide20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cs.docker.com/storage/storagedriver/" TargetMode="External"/><Relationship Id="rId3" Type="http://schemas.openxmlformats.org/officeDocument/2006/relationships/image" Target="../media/image186.jpg"/><Relationship Id="rId4" Type="http://schemas.openxmlformats.org/officeDocument/2006/relationships/image" Target="../media/image187.jpg"/></Relationships>

</file>

<file path=ppt/slides/_rels/slide2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8.jpg"/></Relationships>

</file>

<file path=ppt/slides/_rels/slide2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9.jpg"/></Relationships>

</file>

<file path=ppt/slides/_rels/slide2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0.jpg"/><Relationship Id="rId3" Type="http://schemas.openxmlformats.org/officeDocument/2006/relationships/image" Target="../media/image191.jpg"/></Relationships>

</file>

<file path=ppt/slides/_rels/slide2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2.jpg"/></Relationships>

</file>

<file path=ppt/slides/_rels/slide2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redhat.com/sysadmin/7-linux-namespaces" TargetMode="External"/></Relationships>

</file>

<file path=ppt/slides/_rels/slide2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redhat.com/sysadmin/7-linux-namespaces" TargetMode="External"/></Relationships>

</file>

<file path=ppt/slides/_rels/slide2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3.png"/><Relationship Id="rId3" Type="http://schemas.openxmlformats.org/officeDocument/2006/relationships/image" Target="../media/image194.png"/><Relationship Id="rId4" Type="http://schemas.openxmlformats.org/officeDocument/2006/relationships/image" Target="../media/image286.png"/><Relationship Id="rId5" Type="http://schemas.openxmlformats.org/officeDocument/2006/relationships/image" Target="../media/image196.png"/><Relationship Id="rId6" Type="http://schemas.openxmlformats.org/officeDocument/2006/relationships/image" Target="../media/image287.png"/><Relationship Id="rId7" Type="http://schemas.openxmlformats.org/officeDocument/2006/relationships/image" Target="../media/image198.png"/><Relationship Id="rId8" Type="http://schemas.openxmlformats.org/officeDocument/2006/relationships/image" Target="../media/image288.png"/><Relationship Id="rId9" Type="http://schemas.openxmlformats.org/officeDocument/2006/relationships/image" Target="../media/image200.png"/><Relationship Id="rId10" Type="http://schemas.openxmlformats.org/officeDocument/2006/relationships/image" Target="../media/image289.png"/><Relationship Id="rId11" Type="http://schemas.openxmlformats.org/officeDocument/2006/relationships/image" Target="../media/image202.png"/><Relationship Id="rId12" Type="http://schemas.openxmlformats.org/officeDocument/2006/relationships/image" Target="../media/image290.png"/><Relationship Id="rId13" Type="http://schemas.openxmlformats.org/officeDocument/2006/relationships/image" Target="../media/image291.png"/><Relationship Id="rId14" Type="http://schemas.openxmlformats.org/officeDocument/2006/relationships/image" Target="../media/image292.png"/><Relationship Id="rId15" Type="http://schemas.openxmlformats.org/officeDocument/2006/relationships/image" Target="../media/image293.png"/><Relationship Id="rId16" Type="http://schemas.openxmlformats.org/officeDocument/2006/relationships/image" Target="../media/image294.png"/><Relationship Id="rId17" Type="http://schemas.openxmlformats.org/officeDocument/2006/relationships/image" Target="../media/image208.png"/><Relationship Id="rId18" Type="http://schemas.openxmlformats.org/officeDocument/2006/relationships/image" Target="../media/image295.png"/><Relationship Id="rId19" Type="http://schemas.openxmlformats.org/officeDocument/2006/relationships/image" Target="../media/image296.png"/><Relationship Id="rId20" Type="http://schemas.openxmlformats.org/officeDocument/2006/relationships/image" Target="../media/image297.png"/><Relationship Id="rId21" Type="http://schemas.openxmlformats.org/officeDocument/2006/relationships/image" Target="../media/image298.png"/><Relationship Id="rId22" Type="http://schemas.openxmlformats.org/officeDocument/2006/relationships/image" Target="../media/image299.png"/><Relationship Id="rId23" Type="http://schemas.openxmlformats.org/officeDocument/2006/relationships/image" Target="../media/image300.png"/><Relationship Id="rId24" Type="http://schemas.openxmlformats.org/officeDocument/2006/relationships/image" Target="../media/image301.png"/><Relationship Id="rId25" Type="http://schemas.openxmlformats.org/officeDocument/2006/relationships/image" Target="../media/image302.png"/><Relationship Id="rId26" Type="http://schemas.openxmlformats.org/officeDocument/2006/relationships/image" Target="../media/image303.png"/><Relationship Id="rId27" Type="http://schemas.openxmlformats.org/officeDocument/2006/relationships/image" Target="../media/image218.png"/><Relationship Id="rId28" Type="http://schemas.openxmlformats.org/officeDocument/2006/relationships/image" Target="../media/image219.png"/></Relationships>

</file>

<file path=ppt/slides/_rels/slide2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4.png"/><Relationship Id="rId3" Type="http://schemas.openxmlformats.org/officeDocument/2006/relationships/image" Target="../media/image221.png"/><Relationship Id="rId4" Type="http://schemas.openxmlformats.org/officeDocument/2006/relationships/image" Target="../media/image305.png"/><Relationship Id="rId5" Type="http://schemas.openxmlformats.org/officeDocument/2006/relationships/image" Target="../media/image223.png"/><Relationship Id="rId6" Type="http://schemas.openxmlformats.org/officeDocument/2006/relationships/image" Target="../media/image306.png"/><Relationship Id="rId7" Type="http://schemas.openxmlformats.org/officeDocument/2006/relationships/image" Target="../media/image225.png"/><Relationship Id="rId8" Type="http://schemas.openxmlformats.org/officeDocument/2006/relationships/image" Target="../media/image307.png"/><Relationship Id="rId9" Type="http://schemas.openxmlformats.org/officeDocument/2006/relationships/image" Target="../media/image235.png"/><Relationship Id="rId10" Type="http://schemas.openxmlformats.org/officeDocument/2006/relationships/image" Target="../media/image308.png"/><Relationship Id="rId11" Type="http://schemas.openxmlformats.org/officeDocument/2006/relationships/image" Target="../media/image309.png"/><Relationship Id="rId12" Type="http://schemas.openxmlformats.org/officeDocument/2006/relationships/image" Target="../media/image310.png"/><Relationship Id="rId13" Type="http://schemas.openxmlformats.org/officeDocument/2006/relationships/image" Target="../media/image231.png"/><Relationship Id="rId14" Type="http://schemas.openxmlformats.org/officeDocument/2006/relationships/image" Target="../media/image311.png"/><Relationship Id="rId15" Type="http://schemas.openxmlformats.org/officeDocument/2006/relationships/image" Target="../media/image312.png"/><Relationship Id="rId16" Type="http://schemas.openxmlformats.org/officeDocument/2006/relationships/image" Target="../media/image313.png"/><Relationship Id="rId17" Type="http://schemas.openxmlformats.org/officeDocument/2006/relationships/image" Target="../media/image314.png"/><Relationship Id="rId18" Type="http://schemas.openxmlformats.org/officeDocument/2006/relationships/image" Target="../media/image315.png"/><Relationship Id="rId19" Type="http://schemas.openxmlformats.org/officeDocument/2006/relationships/image" Target="../media/image237.png"/><Relationship Id="rId20" Type="http://schemas.openxmlformats.org/officeDocument/2006/relationships/image" Target="../media/image316.png"/><Relationship Id="rId21" Type="http://schemas.openxmlformats.org/officeDocument/2006/relationships/image" Target="../media/image317.png"/><Relationship Id="rId22" Type="http://schemas.openxmlformats.org/officeDocument/2006/relationships/image" Target="../media/image318.png"/><Relationship Id="rId23" Type="http://schemas.openxmlformats.org/officeDocument/2006/relationships/image" Target="../media/image319.png"/></Relationships>

</file>

<file path=ppt/slides/_rels/slide2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0.png"/><Relationship Id="rId3" Type="http://schemas.openxmlformats.org/officeDocument/2006/relationships/image" Target="../media/image250.png"/><Relationship Id="rId4" Type="http://schemas.openxmlformats.org/officeDocument/2006/relationships/image" Target="../media/image321.png"/><Relationship Id="rId5" Type="http://schemas.openxmlformats.org/officeDocument/2006/relationships/image" Target="../media/image322.png"/><Relationship Id="rId6" Type="http://schemas.openxmlformats.org/officeDocument/2006/relationships/image" Target="../media/image323.png"/><Relationship Id="rId7" Type="http://schemas.openxmlformats.org/officeDocument/2006/relationships/image" Target="../media/image324.png"/><Relationship Id="rId8" Type="http://schemas.openxmlformats.org/officeDocument/2006/relationships/image" Target="../media/image325.png"/><Relationship Id="rId9" Type="http://schemas.openxmlformats.org/officeDocument/2006/relationships/image" Target="../media/image326.png"/><Relationship Id="rId10" Type="http://schemas.openxmlformats.org/officeDocument/2006/relationships/image" Target="../media/image327.png"/><Relationship Id="rId11" Type="http://schemas.openxmlformats.org/officeDocument/2006/relationships/image" Target="../media/image328.png"/><Relationship Id="rId12" Type="http://schemas.openxmlformats.org/officeDocument/2006/relationships/image" Target="../media/image329.png"/><Relationship Id="rId13" Type="http://schemas.openxmlformats.org/officeDocument/2006/relationships/image" Target="../media/image330.png"/><Relationship Id="rId14" Type="http://schemas.openxmlformats.org/officeDocument/2006/relationships/image" Target="../media/image331.png"/><Relationship Id="rId15" Type="http://schemas.openxmlformats.org/officeDocument/2006/relationships/image" Target="../media/image332.png"/><Relationship Id="rId16" Type="http://schemas.openxmlformats.org/officeDocument/2006/relationships/image" Target="../media/image333.png"/><Relationship Id="rId17" Type="http://schemas.openxmlformats.org/officeDocument/2006/relationships/image" Target="../media/image334.png"/><Relationship Id="rId18" Type="http://schemas.openxmlformats.org/officeDocument/2006/relationships/image" Target="../media/image335.png"/><Relationship Id="rId19" Type="http://schemas.openxmlformats.org/officeDocument/2006/relationships/image" Target="../media/image336.png"/><Relationship Id="rId20" Type="http://schemas.openxmlformats.org/officeDocument/2006/relationships/image" Target="../media/image337.png"/><Relationship Id="rId21" Type="http://schemas.openxmlformats.org/officeDocument/2006/relationships/image" Target="../media/image338.png"/></Relationships>

</file>

<file path=ppt/slides/_rels/slide2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2.jpg"/><Relationship Id="rId3" Type="http://schemas.openxmlformats.org/officeDocument/2006/relationships/image" Target="../media/image263.jpg"/></Relationships>

</file>

<file path=ppt/slides/_rels/slide2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4.jpg"/></Relationships>

</file>

<file path=ppt/slides/_rels/slide2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5.jpg"/></Relationships>

</file>

<file path=ppt/slides/_rels/slide2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6.jpg"/><Relationship Id="rId3" Type="http://schemas.openxmlformats.org/officeDocument/2006/relationships/image" Target="../media/image267.jpg"/><Relationship Id="rId4" Type="http://schemas.openxmlformats.org/officeDocument/2006/relationships/image" Target="../media/image268.jpg"/></Relationships>

</file>

<file path=ppt/slides/_rels/slide2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9.jpg"/></Relationships>

</file>

<file path=ppt/slides/_rels/slide2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0.jpg"/><Relationship Id="rId3" Type="http://schemas.openxmlformats.org/officeDocument/2006/relationships/image" Target="../media/image271.jpg"/></Relationships>

</file>

<file path=ppt/slides/_rels/slide2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2.jpg"/></Relationships>

</file>

<file path=ppt/slides/_rels/slide2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3.png"/><Relationship Id="rId3" Type="http://schemas.openxmlformats.org/officeDocument/2006/relationships/image" Target="../media/image274.png"/><Relationship Id="rId4" Type="http://schemas.openxmlformats.org/officeDocument/2006/relationships/hyperlink" Target="https://developers.redhat.com/blog/2018/10/22/introduction-to-linux-interfaces-for-virtual-" TargetMode="External"/></Relationships>

</file>

<file path=ppt/slides/_rels/slide2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5.png"/><Relationship Id="rId3" Type="http://schemas.openxmlformats.org/officeDocument/2006/relationships/hyperlink" Target="https://man7.org/linux/man-pages/man8/pivot_root.8.html" TargetMode="External"/></Relationships>

</file>

<file path=ppt/slides/_rels/slide2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6.jpg"/><Relationship Id="rId3" Type="http://schemas.openxmlformats.org/officeDocument/2006/relationships/image" Target="../media/image277.jpg"/></Relationships>

</file>

<file path=ppt/slides/_rels/slide2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8.png"/></Relationships>

</file>

<file path=ppt/slides/_rels/slide2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9.png"/></Relationships>

</file>

<file path=ppt/slides/_rels/slide2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0.jpg"/><Relationship Id="rId3" Type="http://schemas.openxmlformats.org/officeDocument/2006/relationships/image" Target="../media/image281.jpg"/></Relationships>

</file>

<file path=ppt/slides/_rels/slide2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2.jpg"/></Relationships>

</file>

<file path=ppt/slides/_rels/slide2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cs.docker.com/get-started/overview/" TargetMode="External"/><Relationship Id="rId3" Type="http://schemas.openxmlformats.org/officeDocument/2006/relationships/hyperlink" Target="https://martinheinz.dev/blog/44" TargetMode="External"/></Relationships>

</file>

<file path=ppt/slides/_rels/slide2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linuxjournal.com/article/7714" TargetMode="External"/></Relationships>

</file>

<file path=ppt/slides/_rels/slide2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3.jpg"/></Relationships>

</file>

<file path=ppt/slides/_rels/slide2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4.jpg"/><Relationship Id="rId3" Type="http://schemas.openxmlformats.org/officeDocument/2006/relationships/hyperlink" Target="https://www.slideshare.net/cm13/introduction-to-docker-48784005" TargetMode="External"/></Relationships>

</file>

<file path=ppt/slides/_rels/slide2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5.jpg"/></Relationships>

</file>

<file path=ppt/slides/_rels/slide2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www.redhat.com/en/topics/containers/containers-vs-vms" TargetMode="External"/><Relationship Id="rId3" Type="http://schemas.openxmlformats.org/officeDocument/2006/relationships/hyperlink" Target="https://www.simplilearn.com/tutorials/docker-tutorial/what-is-docker-container" TargetMode="External"/><Relationship Id="rId4" Type="http://schemas.openxmlformats.org/officeDocument/2006/relationships/hyperlink" Target="https://www.xda-developers.com/best-docker-containers-for-developers/" TargetMode="External"/><Relationship Id="rId5" Type="http://schemas.openxmlformats.org/officeDocument/2006/relationships/hyperlink" Target="https://www.redhat.com/en/topics/containers" TargetMode="External"/><Relationship Id="rId6" Type="http://schemas.openxmlformats.org/officeDocument/2006/relationships/hyperlink" Target="https://www.cio.com/article/2924995/what-are-containers-and-why-do-you-need-them.html" TargetMode="External"/></Relationships>

</file>

<file path=ppt/slides/_rels/slide2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access.redhat.com/documentation/en-US/Red_Hat_Enterprise_Linux/6/html/Resource_Management_Guide/sec-Relationships_Between_Subsystems_Hierarchies_Control_Groups_and_Tasks.html" TargetMode="External"/><Relationship Id="rId3" Type="http://schemas.openxmlformats.org/officeDocument/2006/relationships/hyperlink" Target="https://en.wikipedia.org/wiki/Cgroups" TargetMode="External"/><Relationship Id="rId4" Type="http://schemas.openxmlformats.org/officeDocument/2006/relationships/hyperlink" Target="https://www.youtube.com/watch?v=sK5i-N34im8" TargetMode="External"/><Relationship Id="rId5" Type="http://schemas.openxmlformats.org/officeDocument/2006/relationships/hyperlink" Target="https://www.youtube.com/watch?v=nXV6qihj5uw" TargetMode="External"/></Relationships>

</file>

<file path=ppt/slides/_rels/slide2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prafullatak@pes.edu" TargetMode="External"/><Relationship Id="rId3" Type="http://schemas.openxmlformats.org/officeDocument/2006/relationships/image" Target="../media/image2.jpg"/></Relationships>

</file>

<file path=ppt/slides/_rels/slide2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2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9.jpg"/></Relationships>

</file>

<file path=ppt/slides/_rels/slide2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iltam.org/check_download_nopass.php?forcedownload=1&amp;file=files/DevOpsconfpresentationSandrine1.pptx&amp;no_encrypt=true&amp;dlpassword=20426" TargetMode="External"/></Relationships>

</file>

<file path=ppt/slides/_rels/slide2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40.jpg"/><Relationship Id="rId3" Type="http://schemas.openxmlformats.org/officeDocument/2006/relationships/image" Target="../media/image341.jpg"/></Relationships>

</file>

<file path=ppt/slides/_rels/slide2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2.jpg"/></Relationships>

</file>

<file path=ppt/slides/_rels/slide2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3.jpg"/></Relationships>

</file>

<file path=ppt/slides/_rels/slide2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44.jpg"/><Relationship Id="rId3" Type="http://schemas.openxmlformats.org/officeDocument/2006/relationships/image" Target="../media/image345.jpg"/><Relationship Id="rId4" Type="http://schemas.openxmlformats.org/officeDocument/2006/relationships/image" Target="../media/image346.jpg"/><Relationship Id="rId5" Type="http://schemas.openxmlformats.org/officeDocument/2006/relationships/image" Target="../media/image347.jpg"/></Relationships>

</file>

<file path=ppt/slides/_rels/slide2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8.jpg"/></Relationships>

</file>

<file path=ppt/slides/_rels/slide2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9.jpg"/></Relationships>

</file>

<file path=ppt/slides/_rels/slide2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0.jpg"/></Relationships>

</file>

<file path=ppt/slides/_rels/slide2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1.jpg"/></Relationships>

</file>

<file path=ppt/slides/_rels/slide2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guru99.com/jenkins-tutorial.html" TargetMode="External"/><Relationship Id="rId3" Type="http://schemas.openxmlformats.org/officeDocument/2006/relationships/hyperlink" Target="https://www.guru99.com/devops-tutorial.html" TargetMode="External"/><Relationship Id="rId4" Type="http://schemas.openxmlformats.org/officeDocument/2006/relationships/hyperlink" Target="https://www.jenkins.io/doc/" TargetMode="External"/><Relationship Id="rId5" Type="http://schemas.openxmlformats.org/officeDocument/2006/relationships/hyperlink" Target="https://www.jenkins.io/doc/book/pipeline/" TargetMode="External"/><Relationship Id="rId6" Type="http://schemas.openxmlformats.org/officeDocument/2006/relationships/hyperlink" Target="https://jenkins-x.io/" TargetMode="External"/></Relationships>

</file>

<file path=ppt/slides/_rels/slide2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prafullatak@pes.edu" TargetMode="External"/><Relationship Id="rId3" Type="http://schemas.openxmlformats.org/officeDocument/2006/relationships/image" Target="../media/image2.jpg"/></Relationships>

</file>

<file path=ppt/slides/_rels/slide2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2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2.png"/><Relationship Id="rId3" Type="http://schemas.openxmlformats.org/officeDocument/2006/relationships/hyperlink" Target="https://devopedia.org/container-orchestration" TargetMode="External"/></Relationships>

</file>

<file path=ppt/slides/_rels/slide2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3.png"/></Relationships>

</file>

<file path=ppt/slides/_rels/slide2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4.jpg"/></Relationships>

</file>

<file path=ppt/slides/_rels/slide2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5.jpg"/></Relationships>

</file>

<file path=ppt/slides/_rels/slide2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6.png"/><Relationship Id="rId3" Type="http://schemas.openxmlformats.org/officeDocument/2006/relationships/hyperlink" Target="http://kubernetes.io/docs/concepts/overview/what-is-kubernetes/" TargetMode="External"/><Relationship Id="rId4" Type="http://schemas.openxmlformats.org/officeDocument/2006/relationships/hyperlink" Target="https://www.bmc.com/blogs/what-is-kubernetes/" TargetMode="External"/><Relationship Id="rId5" Type="http://schemas.openxmlformats.org/officeDocument/2006/relationships/image" Target="../media/image357.jpg"/></Relationships>

</file>

<file path=ppt/slides/_rels/slide2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kubernetes.io/docs/concepts/workloads/pods/pod-lifecycle/" TargetMode="External"/></Relationships>

</file>

<file path=ppt/slides/_rels/slide2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7.jpg"/></Relationships>

</file>

<file path=ppt/slides/_rels/slide2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8.jpg"/><Relationship Id="rId3" Type="http://schemas.openxmlformats.org/officeDocument/2006/relationships/image" Target="../media/image359.png"/></Relationships>

</file>

<file path=ppt/slides/_rels/slide2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60.jpg"/><Relationship Id="rId3" Type="http://schemas.openxmlformats.org/officeDocument/2006/relationships/image" Target="../media/image361.png"/><Relationship Id="rId4" Type="http://schemas.openxmlformats.org/officeDocument/2006/relationships/image" Target="../media/image362.jpg"/></Relationships>

</file>

<file path=ppt/slides/_rels/slide2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63.jpg"/></Relationships>

</file>

<file path=ppt/slides/_rels/slide2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prafullatak@pes.edu" TargetMode="External"/><Relationship Id="rId3" Type="http://schemas.openxmlformats.org/officeDocument/2006/relationships/image" Target="../media/image2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10855452" y="266699"/>
            <a:ext cx="1066800" cy="1077595"/>
          </a:xfrm>
          <a:custGeom>
            <a:avLst/>
            <a:gdLst/>
            <a:ahLst/>
            <a:cxnLst/>
            <a:rect l="l" t="t" r="r" b="b"/>
            <a:pathLst>
              <a:path w="1066800" h="1077595">
                <a:moveTo>
                  <a:pt x="1066800" y="0"/>
                </a:moveTo>
                <a:lnTo>
                  <a:pt x="0" y="0"/>
                </a:lnTo>
                <a:lnTo>
                  <a:pt x="0" y="45720"/>
                </a:lnTo>
                <a:lnTo>
                  <a:pt x="1021080" y="45720"/>
                </a:lnTo>
                <a:lnTo>
                  <a:pt x="1021080" y="1077468"/>
                </a:lnTo>
                <a:lnTo>
                  <a:pt x="1066800" y="1077468"/>
                </a:lnTo>
                <a:lnTo>
                  <a:pt x="1066800" y="45720"/>
                </a:lnTo>
                <a:lnTo>
                  <a:pt x="1066800" y="10668"/>
                </a:lnTo>
                <a:lnTo>
                  <a:pt x="1066800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A logo for a university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3580" y="1171955"/>
            <a:ext cx="2239644" cy="3637788"/>
          </a:xfrm>
          <a:prstGeom prst="rect">
            <a:avLst/>
          </a:prstGeom>
        </p:spPr>
      </p:pic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61052" y="1695399"/>
            <a:ext cx="3898900" cy="5746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C55A11"/>
                </a:solidFill>
              </a:rPr>
              <a:t>CLOUD</a:t>
            </a:r>
            <a:r>
              <a:rPr dirty="0" sz="3600" spc="-25">
                <a:solidFill>
                  <a:srgbClr val="C55A11"/>
                </a:solidFill>
              </a:rPr>
              <a:t> </a:t>
            </a:r>
            <a:r>
              <a:rPr dirty="0" sz="3600" spc="-10">
                <a:solidFill>
                  <a:srgbClr val="C55A11"/>
                </a:solidFill>
              </a:rPr>
              <a:t>COMPUTING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4846701" y="2821304"/>
            <a:ext cx="58267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Compute</a:t>
            </a:r>
            <a:r>
              <a:rPr dirty="0" sz="2400" spc="-5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Virtualization</a:t>
            </a:r>
            <a:r>
              <a:rPr dirty="0" sz="2400" spc="-4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-</a:t>
            </a:r>
            <a:r>
              <a:rPr dirty="0" sz="2400" spc="-5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Types</a:t>
            </a:r>
            <a:r>
              <a:rPr dirty="0" sz="2400" spc="-50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of</a:t>
            </a:r>
            <a:r>
              <a:rPr dirty="0" sz="2400" spc="-5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395"/>
                </a:solidFill>
                <a:latin typeface="Calibri"/>
                <a:cs typeface="Calibri"/>
              </a:rPr>
              <a:t>Hypervisors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83073" y="4112514"/>
            <a:ext cx="4581525" cy="0"/>
          </a:xfrm>
          <a:custGeom>
            <a:avLst/>
            <a:gdLst/>
            <a:ahLst/>
            <a:cxnLst/>
            <a:rect l="l" t="t" r="r" b="b"/>
            <a:pathLst>
              <a:path w="4581525" h="0">
                <a:moveTo>
                  <a:pt x="0" y="0"/>
                </a:moveTo>
                <a:lnTo>
                  <a:pt x="4581398" y="0"/>
                </a:lnTo>
              </a:path>
            </a:pathLst>
          </a:custGeom>
          <a:ln w="38100">
            <a:solidFill>
              <a:srgbClr val="C55A1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846701" y="4304036"/>
            <a:ext cx="6269355" cy="915035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dirty="0" sz="2000" b="1">
                <a:latin typeface="Arial"/>
                <a:cs typeface="Arial"/>
              </a:rPr>
              <a:t>Dr.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Prafullata</a:t>
            </a:r>
            <a:r>
              <a:rPr dirty="0" sz="2000" spc="-4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Kiran</a:t>
            </a:r>
            <a:r>
              <a:rPr dirty="0" sz="2000" spc="-1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Auradkar</a:t>
            </a:r>
            <a:endParaRPr sz="2000">
              <a:latin typeface="Arial"/>
              <a:cs typeface="Arial"/>
            </a:endParaRPr>
          </a:p>
          <a:p>
            <a:pPr marL="26670">
              <a:lnSpc>
                <a:spcPct val="100000"/>
              </a:lnSpc>
              <a:spcBef>
                <a:spcPts val="940"/>
              </a:spcBef>
            </a:pPr>
            <a:r>
              <a:rPr dirty="0" sz="2400">
                <a:latin typeface="Calibri"/>
                <a:cs typeface="Calibri"/>
              </a:rPr>
              <a:t>Department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Computer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Science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Engineering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3944" y="5489447"/>
            <a:ext cx="1066800" cy="1079500"/>
          </a:xfrm>
          <a:custGeom>
            <a:avLst/>
            <a:gdLst/>
            <a:ahLst/>
            <a:cxnLst/>
            <a:rect l="l" t="t" r="r" b="b"/>
            <a:pathLst>
              <a:path w="1066800" h="1079500">
                <a:moveTo>
                  <a:pt x="1066800" y="1033272"/>
                </a:moveTo>
                <a:lnTo>
                  <a:pt x="45720" y="1033272"/>
                </a:lnTo>
                <a:lnTo>
                  <a:pt x="45720" y="0"/>
                </a:lnTo>
                <a:lnTo>
                  <a:pt x="0" y="0"/>
                </a:lnTo>
                <a:lnTo>
                  <a:pt x="0" y="1033272"/>
                </a:lnTo>
                <a:lnTo>
                  <a:pt x="0" y="1066800"/>
                </a:lnTo>
                <a:lnTo>
                  <a:pt x="0" y="1078992"/>
                </a:lnTo>
                <a:lnTo>
                  <a:pt x="1066800" y="1078992"/>
                </a:lnTo>
                <a:lnTo>
                  <a:pt x="1066800" y="1033272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38404" y="5442305"/>
            <a:ext cx="11408410" cy="100139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Arial"/>
                <a:cs typeface="Arial"/>
              </a:rPr>
              <a:t>Acknowledgements:</a:t>
            </a:r>
            <a:endParaRPr sz="1600">
              <a:latin typeface="Arial"/>
              <a:cs typeface="Arial"/>
            </a:endParaRPr>
          </a:p>
          <a:p>
            <a:pPr algn="just" marL="12700" marR="508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latin typeface="Arial"/>
                <a:cs typeface="Arial"/>
              </a:rPr>
              <a:t>Significant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information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slide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deck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presented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through</a:t>
            </a:r>
            <a:r>
              <a:rPr dirty="0" sz="1200" spc="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Unit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2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of</a:t>
            </a:r>
            <a:r>
              <a:rPr dirty="0" sz="1200" spc="9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course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have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been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created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by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Dr.</a:t>
            </a:r>
            <a:r>
              <a:rPr dirty="0" sz="1200" spc="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H.L.</a:t>
            </a:r>
            <a:r>
              <a:rPr dirty="0" sz="1200" spc="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Phalachandra</a:t>
            </a:r>
            <a:r>
              <a:rPr dirty="0" sz="1200" spc="70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would</a:t>
            </a:r>
            <a:r>
              <a:rPr dirty="0" sz="1200" spc="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like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acknowledge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and </a:t>
            </a:r>
            <a:r>
              <a:rPr dirty="0" sz="1200">
                <a:latin typeface="Arial"/>
                <a:cs typeface="Arial"/>
              </a:rPr>
              <a:t>thank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him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for the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same.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There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have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been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some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information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which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might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have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leveraged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from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content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of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Dr.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K.V. Subramaniam’s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lecture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contents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too.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 may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have </a:t>
            </a:r>
            <a:r>
              <a:rPr dirty="0" sz="1200">
                <a:latin typeface="Arial"/>
                <a:cs typeface="Arial"/>
              </a:rPr>
              <a:t>supplemented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same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with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contents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from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books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other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sources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from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Internet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would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like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sincerely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thank,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acknowledge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reiterate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that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credit/rights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for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same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remain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with the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original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authors/publishers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only. These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are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intended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for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classroom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presentation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only.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3728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380"/>
              </a:spcBef>
            </a:pPr>
            <a:r>
              <a:rPr dirty="0">
                <a:solidFill>
                  <a:srgbClr val="2E5395"/>
                </a:solidFill>
                <a:latin typeface="Arial"/>
                <a:cs typeface="Arial"/>
              </a:rPr>
              <a:t>CLOUD</a:t>
            </a:r>
            <a:r>
              <a:rPr dirty="0" spc="-5">
                <a:solidFill>
                  <a:srgbClr val="2E5395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2E5395"/>
                </a:solidFill>
                <a:latin typeface="Arial"/>
                <a:cs typeface="Arial"/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28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What</a:t>
            </a:r>
            <a:r>
              <a:rPr dirty="0" spc="-1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is</a:t>
            </a:r>
            <a:r>
              <a:rPr dirty="0" spc="-2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Virtualization?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1846" y="1283613"/>
            <a:ext cx="12026900" cy="830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20000"/>
              </a:lnSpc>
              <a:spcBef>
                <a:spcPts val="100"/>
              </a:spcBef>
              <a:buChar char="▪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Virtualization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technique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abstracting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physical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resources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(this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could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compute,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memory,</a:t>
            </a:r>
            <a:r>
              <a:rPr dirty="0" sz="2200" spc="-10">
                <a:latin typeface="Calibri"/>
                <a:cs typeface="Calibri"/>
              </a:rPr>
              <a:t> storage </a:t>
            </a:r>
            <a:r>
              <a:rPr dirty="0" sz="2200">
                <a:latin typeface="Calibri"/>
                <a:cs typeface="Calibri"/>
              </a:rPr>
              <a:t>disks,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networking)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logical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view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846" y="2241064"/>
            <a:ext cx="4584700" cy="829944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25"/>
              </a:spcBef>
              <a:buChar char="▪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Virtualization</a:t>
            </a:r>
            <a:r>
              <a:rPr dirty="0" sz="2200" spc="-9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increases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utilization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25"/>
              </a:spcBef>
            </a:pP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capability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infrastructure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75603" y="2404872"/>
            <a:ext cx="3654552" cy="615696"/>
          </a:xfrm>
          <a:prstGeom prst="rect">
            <a:avLst/>
          </a:prstGeom>
        </p:spPr>
      </p:pic>
      <p:pic>
        <p:nvPicPr>
          <p:cNvPr id="11" name="object 11" descr="Hex yellow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22780" y="2001824"/>
            <a:ext cx="1052823" cy="143479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996941" y="2410714"/>
            <a:ext cx="90106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35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Arial"/>
                <a:cs typeface="Arial"/>
              </a:rPr>
              <a:t>Virtual Memory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68390" y="2481199"/>
            <a:ext cx="3369945" cy="452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Arial"/>
                <a:cs typeface="Arial"/>
              </a:rPr>
              <a:t>Each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application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sees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its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own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logical </a:t>
            </a:r>
            <a:r>
              <a:rPr dirty="0" sz="1400" b="1">
                <a:latin typeface="Arial"/>
                <a:cs typeface="Arial"/>
              </a:rPr>
              <a:t>memory, </a:t>
            </a:r>
            <a:r>
              <a:rPr dirty="0" sz="1400">
                <a:latin typeface="Arial"/>
                <a:cs typeface="Arial"/>
              </a:rPr>
              <a:t>independent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of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physical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memory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846" y="3198012"/>
            <a:ext cx="4423410" cy="830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20000"/>
              </a:lnSpc>
              <a:spcBef>
                <a:spcPts val="100"/>
              </a:spcBef>
              <a:buChar char="▪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Simplifies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resource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management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by </a:t>
            </a:r>
            <a:r>
              <a:rPr dirty="0" sz="2200">
                <a:latin typeface="Calibri"/>
                <a:cs typeface="Calibri"/>
              </a:rPr>
              <a:t>pooling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sharing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resources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97167" y="3429000"/>
            <a:ext cx="3372612" cy="830580"/>
          </a:xfrm>
          <a:prstGeom prst="rect">
            <a:avLst/>
          </a:prstGeom>
        </p:spPr>
      </p:pic>
      <p:pic>
        <p:nvPicPr>
          <p:cNvPr id="15" name="object 15" descr="Hex cyan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79720" y="3128772"/>
            <a:ext cx="1007363" cy="1447800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5480050" y="3559809"/>
            <a:ext cx="7372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Arial"/>
                <a:cs typeface="Arial"/>
              </a:rPr>
              <a:t>Virtual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53558" y="3834129"/>
            <a:ext cx="10585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Arial"/>
                <a:cs typeface="Arial"/>
              </a:rPr>
              <a:t>Networks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577330" y="3505961"/>
            <a:ext cx="2906395" cy="666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Arial"/>
                <a:cs typeface="Arial"/>
              </a:rPr>
              <a:t>Each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application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sees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its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own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logical </a:t>
            </a:r>
            <a:r>
              <a:rPr dirty="0" sz="1400" b="1">
                <a:latin typeface="Arial"/>
                <a:cs typeface="Arial"/>
              </a:rPr>
              <a:t>network,</a:t>
            </a:r>
            <a:r>
              <a:rPr dirty="0" sz="1400" spc="-60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independent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of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physical network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846" y="4154385"/>
            <a:ext cx="4511675" cy="831215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35"/>
              </a:spcBef>
              <a:buChar char="▪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Significantly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reduces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downtime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both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30"/>
              </a:spcBef>
            </a:pPr>
            <a:r>
              <a:rPr dirty="0" sz="2200">
                <a:latin typeface="Calibri"/>
                <a:cs typeface="Calibri"/>
              </a:rPr>
              <a:t>Planned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unplanned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69508" y="4689347"/>
            <a:ext cx="3468624" cy="61569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6178422" y="4765294"/>
            <a:ext cx="315214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Each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application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sees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its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own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logical </a:t>
            </a:r>
            <a:r>
              <a:rPr dirty="0" sz="1400" b="1">
                <a:latin typeface="Arial"/>
                <a:cs typeface="Arial"/>
              </a:rPr>
              <a:t>server,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independent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of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physical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servers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846" y="5112562"/>
            <a:ext cx="3529965" cy="830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20000"/>
              </a:lnSpc>
              <a:spcBef>
                <a:spcPts val="100"/>
              </a:spcBef>
              <a:buChar char="▪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Improves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performance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IT </a:t>
            </a:r>
            <a:r>
              <a:rPr dirty="0" sz="2200" spc="-10">
                <a:latin typeface="Calibri"/>
                <a:cs typeface="Calibri"/>
              </a:rPr>
              <a:t>infrastructure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20" name="object 20" descr="Hex orange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11852" y="4273296"/>
            <a:ext cx="1057655" cy="144627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5004942" y="4681220"/>
            <a:ext cx="85661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35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Arial"/>
                <a:cs typeface="Arial"/>
              </a:rPr>
              <a:t>Virtual </a:t>
            </a:r>
            <a:r>
              <a:rPr dirty="0" sz="1800" spc="-20" b="1">
                <a:latin typeface="Arial"/>
                <a:cs typeface="Arial"/>
              </a:rPr>
              <a:t>Servers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24" name="object 24" descr="Hex green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379720" y="5390386"/>
            <a:ext cx="1007363" cy="1447798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5467858" y="5801664"/>
            <a:ext cx="87630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Arial"/>
                <a:cs typeface="Arial"/>
              </a:rPr>
              <a:t>Virtual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00" spc="-10" b="1">
                <a:latin typeface="Arial"/>
                <a:cs typeface="Arial"/>
              </a:rPr>
              <a:t>Storage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387084" y="5718047"/>
            <a:ext cx="3282696" cy="832104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6621906" y="5796788"/>
            <a:ext cx="2906395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Each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application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sees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its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own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logical </a:t>
            </a:r>
            <a:r>
              <a:rPr dirty="0" sz="1400" b="1">
                <a:latin typeface="Arial"/>
                <a:cs typeface="Arial"/>
              </a:rPr>
              <a:t>storage,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independent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of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physical storage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26" name="object 26" descr="http://t1.gstatic.com/images?q=tbn:ANd9GcTYR70M9ZtMxhqoAOhboyAc2j0MsEdM-k0AA9olHjqdCUZD8R6l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831323" y="2426207"/>
            <a:ext cx="2360676" cy="38359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3728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380"/>
              </a:spcBef>
            </a:pPr>
            <a:r>
              <a:rPr dirty="0">
                <a:solidFill>
                  <a:srgbClr val="2E5395"/>
                </a:solidFill>
                <a:latin typeface="Arial"/>
                <a:cs typeface="Arial"/>
              </a:rPr>
              <a:t>CLOUD</a:t>
            </a:r>
            <a:r>
              <a:rPr dirty="0" spc="-5">
                <a:solidFill>
                  <a:srgbClr val="2E5395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2E5395"/>
                </a:solidFill>
                <a:latin typeface="Arial"/>
                <a:cs typeface="Arial"/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28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Compute</a:t>
            </a:r>
            <a:r>
              <a:rPr dirty="0" spc="-1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Virtualization</a:t>
            </a:r>
            <a:r>
              <a:rPr dirty="0" spc="-6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:</a:t>
            </a:r>
            <a:r>
              <a:rPr dirty="0" spc="-15">
                <a:solidFill>
                  <a:srgbClr val="C55A11"/>
                </a:solidFill>
                <a:latin typeface="Arial"/>
                <a:cs typeface="Arial"/>
              </a:rPr>
              <a:t> 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Its</a:t>
            </a:r>
            <a:r>
              <a:rPr dirty="0" spc="-3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relationship</a:t>
            </a:r>
            <a:r>
              <a:rPr dirty="0" spc="-4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to</a:t>
            </a:r>
            <a:r>
              <a:rPr dirty="0" spc="-2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Cloud</a:t>
            </a:r>
            <a:r>
              <a:rPr dirty="0" spc="-2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Computing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89331" y="1183385"/>
            <a:ext cx="11636375" cy="5444490"/>
          </a:xfrm>
          <a:prstGeom prst="rect">
            <a:avLst/>
          </a:prstGeom>
        </p:spPr>
        <p:txBody>
          <a:bodyPr wrap="square" lIns="0" tIns="16192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75"/>
              </a:spcBef>
              <a:buSzPct val="97560"/>
              <a:buChar char="▪"/>
              <a:tabLst>
                <a:tab pos="355600" algn="l"/>
              </a:tabLst>
            </a:pPr>
            <a:r>
              <a:rPr dirty="0" sz="2050">
                <a:latin typeface="Calibri"/>
                <a:cs typeface="Calibri"/>
              </a:rPr>
              <a:t>Compute</a:t>
            </a:r>
            <a:r>
              <a:rPr dirty="0" sz="2050" spc="-60">
                <a:latin typeface="Calibri"/>
                <a:cs typeface="Calibri"/>
              </a:rPr>
              <a:t> </a:t>
            </a:r>
            <a:r>
              <a:rPr dirty="0" sz="2050" spc="-10">
                <a:latin typeface="Calibri"/>
                <a:cs typeface="Calibri"/>
              </a:rPr>
              <a:t>(sometimes</a:t>
            </a:r>
            <a:r>
              <a:rPr dirty="0" sz="2050" spc="-8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also</a:t>
            </a:r>
            <a:r>
              <a:rPr dirty="0" sz="2050" spc="-5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known</a:t>
            </a:r>
            <a:r>
              <a:rPr dirty="0" sz="2050" spc="-5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as</a:t>
            </a:r>
            <a:r>
              <a:rPr dirty="0" sz="2050" spc="-5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Server)</a:t>
            </a:r>
            <a:r>
              <a:rPr dirty="0" sz="2050" spc="-55">
                <a:latin typeface="Calibri"/>
                <a:cs typeface="Calibri"/>
              </a:rPr>
              <a:t> </a:t>
            </a:r>
            <a:r>
              <a:rPr dirty="0" sz="2050" spc="-10">
                <a:latin typeface="Calibri"/>
                <a:cs typeface="Calibri"/>
              </a:rPr>
              <a:t>virtualization</a:t>
            </a:r>
            <a:r>
              <a:rPr dirty="0" sz="2050" spc="-55">
                <a:latin typeface="Calibri"/>
                <a:cs typeface="Calibri"/>
              </a:rPr>
              <a:t> </a:t>
            </a:r>
            <a:r>
              <a:rPr dirty="0" sz="2050" spc="-50">
                <a:latin typeface="Calibri"/>
                <a:cs typeface="Calibri"/>
              </a:rPr>
              <a:t>:</a:t>
            </a:r>
            <a:endParaRPr sz="2050">
              <a:latin typeface="Calibri"/>
              <a:cs typeface="Calibri"/>
            </a:endParaRPr>
          </a:p>
          <a:p>
            <a:pPr lvl="1" marL="660400" marR="161290" indent="-342900">
              <a:lnSpc>
                <a:spcPct val="100000"/>
              </a:lnSpc>
              <a:spcBef>
                <a:spcPts val="1180"/>
              </a:spcBef>
              <a:buSzPct val="97560"/>
              <a:buChar char="▪"/>
              <a:tabLst>
                <a:tab pos="660400" algn="l"/>
              </a:tabLst>
            </a:pPr>
            <a:r>
              <a:rPr dirty="0" sz="2050">
                <a:latin typeface="Calibri"/>
                <a:cs typeface="Calibri"/>
              </a:rPr>
              <a:t>Can</a:t>
            </a:r>
            <a:r>
              <a:rPr dirty="0" sz="2050" spc="-4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be</a:t>
            </a:r>
            <a:r>
              <a:rPr dirty="0" sz="2050" spc="-40">
                <a:latin typeface="Calibri"/>
                <a:cs typeface="Calibri"/>
              </a:rPr>
              <a:t> </a:t>
            </a:r>
            <a:r>
              <a:rPr dirty="0" sz="2050" spc="-10">
                <a:latin typeface="Calibri"/>
                <a:cs typeface="Calibri"/>
              </a:rPr>
              <a:t>considered</a:t>
            </a:r>
            <a:r>
              <a:rPr dirty="0" sz="2050" spc="-2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as</a:t>
            </a:r>
            <a:r>
              <a:rPr dirty="0" sz="2050" spc="-4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a</a:t>
            </a:r>
            <a:r>
              <a:rPr dirty="0" sz="2050" spc="-40">
                <a:latin typeface="Calibri"/>
                <a:cs typeface="Calibri"/>
              </a:rPr>
              <a:t> </a:t>
            </a:r>
            <a:r>
              <a:rPr dirty="0" sz="2050" spc="-10">
                <a:latin typeface="Calibri"/>
                <a:cs typeface="Calibri"/>
              </a:rPr>
              <a:t>framework</a:t>
            </a:r>
            <a:r>
              <a:rPr dirty="0" sz="2050" spc="-4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or</a:t>
            </a:r>
            <a:r>
              <a:rPr dirty="0" sz="2050" spc="-50">
                <a:latin typeface="Calibri"/>
                <a:cs typeface="Calibri"/>
              </a:rPr>
              <a:t> </a:t>
            </a:r>
            <a:r>
              <a:rPr dirty="0" sz="2050" spc="-10">
                <a:latin typeface="Calibri"/>
                <a:cs typeface="Calibri"/>
              </a:rPr>
              <a:t>methodology</a:t>
            </a:r>
            <a:r>
              <a:rPr dirty="0" sz="2050" spc="-4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of</a:t>
            </a:r>
            <a:r>
              <a:rPr dirty="0" sz="2050" spc="-4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dividing</a:t>
            </a:r>
            <a:r>
              <a:rPr dirty="0" sz="2050" spc="-3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the</a:t>
            </a:r>
            <a:r>
              <a:rPr dirty="0" sz="2050" spc="-3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resources</a:t>
            </a:r>
            <a:r>
              <a:rPr dirty="0" sz="2050" spc="-3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of</a:t>
            </a:r>
            <a:r>
              <a:rPr dirty="0" sz="2050" spc="-3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a</a:t>
            </a:r>
            <a:r>
              <a:rPr dirty="0" sz="2050" spc="-50">
                <a:latin typeface="Calibri"/>
                <a:cs typeface="Calibri"/>
              </a:rPr>
              <a:t> </a:t>
            </a:r>
            <a:r>
              <a:rPr dirty="0" sz="2050" spc="-10">
                <a:latin typeface="Calibri"/>
                <a:cs typeface="Calibri"/>
              </a:rPr>
              <a:t>computer/server</a:t>
            </a:r>
            <a:r>
              <a:rPr dirty="0" sz="2050" spc="-40">
                <a:latin typeface="Calibri"/>
                <a:cs typeface="Calibri"/>
              </a:rPr>
              <a:t> </a:t>
            </a:r>
            <a:r>
              <a:rPr dirty="0" sz="2050" spc="-20">
                <a:latin typeface="Calibri"/>
                <a:cs typeface="Calibri"/>
              </a:rPr>
              <a:t>into </a:t>
            </a:r>
            <a:r>
              <a:rPr dirty="0" sz="2050">
                <a:latin typeface="Calibri"/>
                <a:cs typeface="Calibri"/>
              </a:rPr>
              <a:t>multiple</a:t>
            </a:r>
            <a:r>
              <a:rPr dirty="0" sz="2050" spc="-65">
                <a:latin typeface="Calibri"/>
                <a:cs typeface="Calibri"/>
              </a:rPr>
              <a:t> </a:t>
            </a:r>
            <a:r>
              <a:rPr dirty="0" sz="2050" spc="-10">
                <a:latin typeface="Calibri"/>
                <a:cs typeface="Calibri"/>
              </a:rPr>
              <a:t>execution</a:t>
            </a:r>
            <a:r>
              <a:rPr dirty="0" sz="2050" spc="-65">
                <a:latin typeface="Calibri"/>
                <a:cs typeface="Calibri"/>
              </a:rPr>
              <a:t> </a:t>
            </a:r>
            <a:r>
              <a:rPr dirty="0" sz="2050" spc="-10">
                <a:latin typeface="Calibri"/>
                <a:cs typeface="Calibri"/>
              </a:rPr>
              <a:t>environments</a:t>
            </a:r>
            <a:endParaRPr sz="2050">
              <a:latin typeface="Calibri"/>
              <a:cs typeface="Calibri"/>
            </a:endParaRPr>
          </a:p>
          <a:p>
            <a:pPr lvl="1" marL="660400" marR="389890" indent="-342900">
              <a:lnSpc>
                <a:spcPct val="99800"/>
              </a:lnSpc>
              <a:spcBef>
                <a:spcPts val="1180"/>
              </a:spcBef>
              <a:buSzPct val="97560"/>
              <a:buChar char="▪"/>
              <a:tabLst>
                <a:tab pos="660400" algn="l"/>
              </a:tabLst>
            </a:pPr>
            <a:r>
              <a:rPr dirty="0" sz="2050">
                <a:latin typeface="Calibri"/>
                <a:cs typeface="Calibri"/>
              </a:rPr>
              <a:t>Its</a:t>
            </a:r>
            <a:r>
              <a:rPr dirty="0" sz="2050" spc="-5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achieved</a:t>
            </a:r>
            <a:r>
              <a:rPr dirty="0" sz="2050" spc="-5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by</a:t>
            </a:r>
            <a:r>
              <a:rPr dirty="0" sz="2050" spc="-4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applying</a:t>
            </a:r>
            <a:r>
              <a:rPr dirty="0" sz="2050" spc="-4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one</a:t>
            </a:r>
            <a:r>
              <a:rPr dirty="0" sz="2050" spc="-5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or</a:t>
            </a:r>
            <a:r>
              <a:rPr dirty="0" sz="2050" spc="-5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more</a:t>
            </a:r>
            <a:r>
              <a:rPr dirty="0" sz="2050" spc="-6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concepts</a:t>
            </a:r>
            <a:r>
              <a:rPr dirty="0" sz="2050" spc="-4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or</a:t>
            </a:r>
            <a:r>
              <a:rPr dirty="0" sz="2050" spc="-55">
                <a:latin typeface="Calibri"/>
                <a:cs typeface="Calibri"/>
              </a:rPr>
              <a:t> </a:t>
            </a:r>
            <a:r>
              <a:rPr dirty="0" sz="2050" spc="-10">
                <a:latin typeface="Calibri"/>
                <a:cs typeface="Calibri"/>
              </a:rPr>
              <a:t>technologies</a:t>
            </a:r>
            <a:r>
              <a:rPr dirty="0" sz="2050" spc="-6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such</a:t>
            </a:r>
            <a:r>
              <a:rPr dirty="0" sz="2050" spc="-4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as</a:t>
            </a:r>
            <a:r>
              <a:rPr dirty="0" sz="2050" spc="-5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hardware</a:t>
            </a:r>
            <a:r>
              <a:rPr dirty="0" sz="2050" spc="-4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and</a:t>
            </a:r>
            <a:r>
              <a:rPr dirty="0" sz="2050" spc="-40">
                <a:latin typeface="Calibri"/>
                <a:cs typeface="Calibri"/>
              </a:rPr>
              <a:t> </a:t>
            </a:r>
            <a:r>
              <a:rPr dirty="0" sz="2050" spc="-10">
                <a:latin typeface="Calibri"/>
                <a:cs typeface="Calibri"/>
              </a:rPr>
              <a:t>software partitioning,</a:t>
            </a:r>
            <a:r>
              <a:rPr dirty="0" sz="2050" spc="-50">
                <a:latin typeface="Calibri"/>
                <a:cs typeface="Calibri"/>
              </a:rPr>
              <a:t> </a:t>
            </a:r>
            <a:r>
              <a:rPr dirty="0" sz="2050" spc="-10">
                <a:latin typeface="Calibri"/>
                <a:cs typeface="Calibri"/>
              </a:rPr>
              <a:t>time-</a:t>
            </a:r>
            <a:r>
              <a:rPr dirty="0" sz="2050">
                <a:latin typeface="Calibri"/>
                <a:cs typeface="Calibri"/>
              </a:rPr>
              <a:t>sharing,</a:t>
            </a:r>
            <a:r>
              <a:rPr dirty="0" sz="2050" spc="-6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partial</a:t>
            </a:r>
            <a:r>
              <a:rPr dirty="0" sz="2050" spc="-7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or</a:t>
            </a:r>
            <a:r>
              <a:rPr dirty="0" sz="2050" spc="-7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complete</a:t>
            </a:r>
            <a:r>
              <a:rPr dirty="0" sz="2050" spc="-9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machine</a:t>
            </a:r>
            <a:r>
              <a:rPr dirty="0" sz="2050" spc="-7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simulation,</a:t>
            </a:r>
            <a:r>
              <a:rPr dirty="0" sz="2050" spc="-5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emulation,</a:t>
            </a:r>
            <a:r>
              <a:rPr dirty="0" sz="2050" spc="-7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quality</a:t>
            </a:r>
            <a:r>
              <a:rPr dirty="0" sz="2050" spc="-5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of</a:t>
            </a:r>
            <a:r>
              <a:rPr dirty="0" sz="2050" spc="-7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service,</a:t>
            </a:r>
            <a:r>
              <a:rPr dirty="0" sz="2050" spc="-70">
                <a:latin typeface="Calibri"/>
                <a:cs typeface="Calibri"/>
              </a:rPr>
              <a:t> </a:t>
            </a:r>
            <a:r>
              <a:rPr dirty="0" sz="2050" spc="-25">
                <a:latin typeface="Calibri"/>
                <a:cs typeface="Calibri"/>
              </a:rPr>
              <a:t>and </a:t>
            </a:r>
            <a:r>
              <a:rPr dirty="0" sz="2050">
                <a:latin typeface="Calibri"/>
                <a:cs typeface="Calibri"/>
              </a:rPr>
              <a:t>many</a:t>
            </a:r>
            <a:r>
              <a:rPr dirty="0" sz="2050" spc="-55">
                <a:latin typeface="Calibri"/>
                <a:cs typeface="Calibri"/>
              </a:rPr>
              <a:t> </a:t>
            </a:r>
            <a:r>
              <a:rPr dirty="0" sz="2050" spc="-10">
                <a:latin typeface="Calibri"/>
                <a:cs typeface="Calibri"/>
              </a:rPr>
              <a:t>others.</a:t>
            </a:r>
            <a:endParaRPr sz="2050">
              <a:latin typeface="Calibri"/>
              <a:cs typeface="Calibri"/>
            </a:endParaRPr>
          </a:p>
          <a:p>
            <a:pPr lvl="1" marL="660400" indent="-342900">
              <a:lnSpc>
                <a:spcPct val="100000"/>
              </a:lnSpc>
              <a:spcBef>
                <a:spcPts val="1175"/>
              </a:spcBef>
              <a:buSzPct val="97560"/>
              <a:buChar char="▪"/>
              <a:tabLst>
                <a:tab pos="660400" algn="l"/>
              </a:tabLst>
            </a:pPr>
            <a:r>
              <a:rPr dirty="0" sz="2050">
                <a:latin typeface="Calibri"/>
                <a:cs typeface="Calibri"/>
              </a:rPr>
              <a:t>Can</a:t>
            </a:r>
            <a:r>
              <a:rPr dirty="0" sz="2050" spc="-5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be</a:t>
            </a:r>
            <a:r>
              <a:rPr dirty="0" sz="2050" spc="-4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looked</a:t>
            </a:r>
            <a:r>
              <a:rPr dirty="0" sz="2050" spc="-5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at</a:t>
            </a:r>
            <a:r>
              <a:rPr dirty="0" sz="2050" spc="-4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as</a:t>
            </a:r>
            <a:r>
              <a:rPr dirty="0" sz="2050" spc="-5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a</a:t>
            </a:r>
            <a:r>
              <a:rPr dirty="0" sz="2050" spc="-4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practice</a:t>
            </a:r>
            <a:r>
              <a:rPr dirty="0" sz="2050" spc="-4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of</a:t>
            </a:r>
            <a:r>
              <a:rPr dirty="0" sz="2050" spc="-40">
                <a:latin typeface="Calibri"/>
                <a:cs typeface="Calibri"/>
              </a:rPr>
              <a:t> </a:t>
            </a:r>
            <a:r>
              <a:rPr dirty="0" sz="2050" spc="-10">
                <a:latin typeface="Calibri"/>
                <a:cs typeface="Calibri"/>
              </a:rPr>
              <a:t>presenting</a:t>
            </a:r>
            <a:r>
              <a:rPr dirty="0" sz="2050" spc="-3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and</a:t>
            </a:r>
            <a:r>
              <a:rPr dirty="0" sz="2050" spc="-30">
                <a:latin typeface="Calibri"/>
                <a:cs typeface="Calibri"/>
              </a:rPr>
              <a:t> </a:t>
            </a:r>
            <a:r>
              <a:rPr dirty="0" sz="2050" spc="-10">
                <a:latin typeface="Calibri"/>
                <a:cs typeface="Calibri"/>
              </a:rPr>
              <a:t>partitioning</a:t>
            </a:r>
            <a:r>
              <a:rPr dirty="0" sz="2050" spc="-3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computing</a:t>
            </a:r>
            <a:r>
              <a:rPr dirty="0" sz="2050" spc="-45">
                <a:latin typeface="Calibri"/>
                <a:cs typeface="Calibri"/>
              </a:rPr>
              <a:t> </a:t>
            </a:r>
            <a:r>
              <a:rPr dirty="0" sz="2050" spc="-10">
                <a:latin typeface="Calibri"/>
                <a:cs typeface="Calibri"/>
              </a:rPr>
              <a:t>resources</a:t>
            </a:r>
            <a:r>
              <a:rPr dirty="0" sz="2050" spc="-4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in</a:t>
            </a:r>
            <a:r>
              <a:rPr dirty="0" sz="2050" spc="-5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a</a:t>
            </a:r>
            <a:r>
              <a:rPr dirty="0" sz="2050" spc="-4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logical</a:t>
            </a:r>
            <a:r>
              <a:rPr dirty="0" sz="2050" spc="-55">
                <a:latin typeface="Calibri"/>
                <a:cs typeface="Calibri"/>
              </a:rPr>
              <a:t> </a:t>
            </a:r>
            <a:r>
              <a:rPr dirty="0" sz="2050" spc="-25">
                <a:latin typeface="Calibri"/>
                <a:cs typeface="Calibri"/>
              </a:rPr>
              <a:t>way</a:t>
            </a:r>
            <a:endParaRPr sz="2050">
              <a:latin typeface="Calibri"/>
              <a:cs typeface="Calibri"/>
            </a:endParaRPr>
          </a:p>
          <a:p>
            <a:pPr marL="660400">
              <a:lnSpc>
                <a:spcPct val="100000"/>
              </a:lnSpc>
            </a:pPr>
            <a:r>
              <a:rPr dirty="0" sz="2050">
                <a:latin typeface="Calibri"/>
                <a:cs typeface="Calibri"/>
              </a:rPr>
              <a:t>rather</a:t>
            </a:r>
            <a:r>
              <a:rPr dirty="0" sz="2050" spc="-5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than</a:t>
            </a:r>
            <a:r>
              <a:rPr dirty="0" sz="2050" spc="-45">
                <a:latin typeface="Calibri"/>
                <a:cs typeface="Calibri"/>
              </a:rPr>
              <a:t> </a:t>
            </a:r>
            <a:r>
              <a:rPr dirty="0" sz="2050" spc="-10">
                <a:latin typeface="Calibri"/>
                <a:cs typeface="Calibri"/>
              </a:rPr>
              <a:t>partitioning</a:t>
            </a:r>
            <a:r>
              <a:rPr dirty="0" sz="2050" spc="-4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according</a:t>
            </a:r>
            <a:r>
              <a:rPr dirty="0" sz="2050" spc="-5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to</a:t>
            </a:r>
            <a:r>
              <a:rPr dirty="0" sz="2050" spc="-50">
                <a:latin typeface="Calibri"/>
                <a:cs typeface="Calibri"/>
              </a:rPr>
              <a:t> </a:t>
            </a:r>
            <a:r>
              <a:rPr dirty="0" sz="2050" spc="-10">
                <a:latin typeface="Calibri"/>
                <a:cs typeface="Calibri"/>
              </a:rPr>
              <a:t>physical</a:t>
            </a:r>
            <a:r>
              <a:rPr dirty="0" sz="2050" spc="-55">
                <a:latin typeface="Calibri"/>
                <a:cs typeface="Calibri"/>
              </a:rPr>
              <a:t> </a:t>
            </a:r>
            <a:r>
              <a:rPr dirty="0" sz="2050" spc="-10">
                <a:latin typeface="Calibri"/>
                <a:cs typeface="Calibri"/>
              </a:rPr>
              <a:t>reality</a:t>
            </a:r>
            <a:endParaRPr sz="2050">
              <a:latin typeface="Calibri"/>
              <a:cs typeface="Calibri"/>
            </a:endParaRPr>
          </a:p>
          <a:p>
            <a:pPr marL="355600" marR="5080" indent="-343535">
              <a:lnSpc>
                <a:spcPct val="100000"/>
              </a:lnSpc>
              <a:spcBef>
                <a:spcPts val="1180"/>
              </a:spcBef>
              <a:buSzPct val="97560"/>
              <a:buChar char="▪"/>
              <a:tabLst>
                <a:tab pos="355600" algn="l"/>
              </a:tabLst>
            </a:pPr>
            <a:r>
              <a:rPr dirty="0" sz="2050">
                <a:latin typeface="Calibri"/>
                <a:cs typeface="Calibri"/>
              </a:rPr>
              <a:t>VM</a:t>
            </a:r>
            <a:r>
              <a:rPr dirty="0" sz="2050" spc="-4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(or</a:t>
            </a:r>
            <a:r>
              <a:rPr dirty="0" sz="2050" spc="-6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a</a:t>
            </a:r>
            <a:r>
              <a:rPr dirty="0" sz="2050" spc="-5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Virtual</a:t>
            </a:r>
            <a:r>
              <a:rPr dirty="0" sz="2050" spc="-40">
                <a:latin typeface="Calibri"/>
                <a:cs typeface="Calibri"/>
              </a:rPr>
              <a:t> </a:t>
            </a:r>
            <a:r>
              <a:rPr dirty="0" sz="2050" spc="-10">
                <a:latin typeface="Calibri"/>
                <a:cs typeface="Calibri"/>
              </a:rPr>
              <a:t>Machine)</a:t>
            </a:r>
            <a:r>
              <a:rPr dirty="0" sz="2050" spc="-4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is</a:t>
            </a:r>
            <a:r>
              <a:rPr dirty="0" sz="2050" spc="-5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the</a:t>
            </a:r>
            <a:r>
              <a:rPr dirty="0" sz="2050" spc="-4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coarse</a:t>
            </a:r>
            <a:r>
              <a:rPr dirty="0" sz="2050" spc="-5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granular</a:t>
            </a:r>
            <a:r>
              <a:rPr dirty="0" sz="2050" spc="-3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view</a:t>
            </a:r>
            <a:r>
              <a:rPr dirty="0" sz="2050" spc="-4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of</a:t>
            </a:r>
            <a:r>
              <a:rPr dirty="0" sz="2050" spc="-5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the</a:t>
            </a:r>
            <a:r>
              <a:rPr dirty="0" sz="2050" spc="-5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Virtual</a:t>
            </a:r>
            <a:r>
              <a:rPr dirty="0" sz="2050" spc="-4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Compute</a:t>
            </a:r>
            <a:r>
              <a:rPr dirty="0" sz="2050" spc="-5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at</a:t>
            </a:r>
            <a:r>
              <a:rPr dirty="0" sz="2050" spc="-4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the</a:t>
            </a:r>
            <a:r>
              <a:rPr dirty="0" sz="2050" spc="-5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next</a:t>
            </a:r>
            <a:r>
              <a:rPr dirty="0" sz="2050" spc="-5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abstract</a:t>
            </a:r>
            <a:r>
              <a:rPr dirty="0" sz="2050" spc="-3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level,</a:t>
            </a:r>
            <a:r>
              <a:rPr dirty="0" sz="2050" spc="-75">
                <a:latin typeface="Calibri"/>
                <a:cs typeface="Calibri"/>
              </a:rPr>
              <a:t> </a:t>
            </a:r>
            <a:r>
              <a:rPr dirty="0" sz="2050" spc="-25">
                <a:latin typeface="Calibri"/>
                <a:cs typeface="Calibri"/>
              </a:rPr>
              <a:t>and </a:t>
            </a:r>
            <a:r>
              <a:rPr dirty="0" sz="2050">
                <a:latin typeface="Calibri"/>
                <a:cs typeface="Calibri"/>
              </a:rPr>
              <a:t>is</a:t>
            </a:r>
            <a:r>
              <a:rPr dirty="0" sz="2050" spc="-5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logically</a:t>
            </a:r>
            <a:r>
              <a:rPr dirty="0" sz="2050" spc="-8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identical</a:t>
            </a:r>
            <a:r>
              <a:rPr dirty="0" sz="2050" spc="-5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to</a:t>
            </a:r>
            <a:r>
              <a:rPr dirty="0" sz="2050" spc="-5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a</a:t>
            </a:r>
            <a:r>
              <a:rPr dirty="0" sz="2050" spc="-5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Physical</a:t>
            </a:r>
            <a:r>
              <a:rPr dirty="0" sz="2050" spc="-6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machine</a:t>
            </a:r>
            <a:r>
              <a:rPr dirty="0" sz="2050" spc="-4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with</a:t>
            </a:r>
            <a:r>
              <a:rPr dirty="0" sz="2050" spc="-5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an</a:t>
            </a:r>
            <a:r>
              <a:rPr dirty="0" sz="2050" spc="-4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ability</a:t>
            </a:r>
            <a:r>
              <a:rPr dirty="0" sz="2050" spc="-5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to</a:t>
            </a:r>
            <a:r>
              <a:rPr dirty="0" sz="2050" spc="-4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run</a:t>
            </a:r>
            <a:r>
              <a:rPr dirty="0" sz="2050" spc="-3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an</a:t>
            </a:r>
            <a:r>
              <a:rPr dirty="0" sz="2050" spc="-60">
                <a:latin typeface="Calibri"/>
                <a:cs typeface="Calibri"/>
              </a:rPr>
              <a:t> </a:t>
            </a:r>
            <a:r>
              <a:rPr dirty="0" sz="2050" spc="-25">
                <a:latin typeface="Calibri"/>
                <a:cs typeface="Calibri"/>
              </a:rPr>
              <a:t>OS</a:t>
            </a:r>
            <a:endParaRPr sz="20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175"/>
              </a:spcBef>
              <a:buSzPct val="97560"/>
              <a:buChar char="▪"/>
              <a:tabLst>
                <a:tab pos="355600" algn="l"/>
              </a:tabLst>
            </a:pPr>
            <a:r>
              <a:rPr dirty="0" sz="2050" spc="-10">
                <a:latin typeface="Calibri"/>
                <a:cs typeface="Calibri"/>
              </a:rPr>
              <a:t>Virtualization</a:t>
            </a:r>
            <a:r>
              <a:rPr dirty="0" sz="2050" spc="-6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enables</a:t>
            </a:r>
            <a:r>
              <a:rPr dirty="0" sz="2050" spc="-6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sharing</a:t>
            </a:r>
            <a:r>
              <a:rPr dirty="0" sz="2050" spc="-4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of</a:t>
            </a:r>
            <a:r>
              <a:rPr dirty="0" sz="2050" spc="-5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the</a:t>
            </a:r>
            <a:r>
              <a:rPr dirty="0" sz="2050" spc="-5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same</a:t>
            </a:r>
            <a:r>
              <a:rPr dirty="0" sz="2050" spc="-6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physical</a:t>
            </a:r>
            <a:r>
              <a:rPr dirty="0" sz="2050" spc="-5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resources</a:t>
            </a:r>
            <a:r>
              <a:rPr dirty="0" sz="2050" spc="-6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across</a:t>
            </a:r>
            <a:r>
              <a:rPr dirty="0" sz="2050" spc="-5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different</a:t>
            </a:r>
            <a:r>
              <a:rPr dirty="0" sz="2050" spc="-6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users</a:t>
            </a:r>
            <a:r>
              <a:rPr dirty="0" sz="2050" spc="-5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and</a:t>
            </a:r>
            <a:r>
              <a:rPr dirty="0" sz="2050" spc="-5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is</a:t>
            </a:r>
            <a:r>
              <a:rPr dirty="0" sz="2050" spc="-6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a</a:t>
            </a:r>
            <a:r>
              <a:rPr dirty="0" sz="2050" spc="-6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key</a:t>
            </a:r>
            <a:r>
              <a:rPr dirty="0" sz="2050" spc="-60">
                <a:latin typeface="Calibri"/>
                <a:cs typeface="Calibri"/>
              </a:rPr>
              <a:t> </a:t>
            </a:r>
            <a:r>
              <a:rPr dirty="0" sz="2050" spc="-10">
                <a:latin typeface="Calibri"/>
                <a:cs typeface="Calibri"/>
              </a:rPr>
              <a:t>technology</a:t>
            </a:r>
            <a:endParaRPr sz="20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dirty="0" sz="2050">
                <a:latin typeface="Calibri"/>
                <a:cs typeface="Calibri"/>
              </a:rPr>
              <a:t>for</a:t>
            </a:r>
            <a:r>
              <a:rPr dirty="0" sz="2050" spc="-5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Cloud</a:t>
            </a:r>
            <a:r>
              <a:rPr dirty="0" sz="2050" spc="-60">
                <a:latin typeface="Calibri"/>
                <a:cs typeface="Calibri"/>
              </a:rPr>
              <a:t> </a:t>
            </a:r>
            <a:r>
              <a:rPr dirty="0" sz="2050" spc="-10">
                <a:latin typeface="Calibri"/>
                <a:cs typeface="Calibri"/>
              </a:rPr>
              <a:t>Computing</a:t>
            </a:r>
            <a:endParaRPr sz="2050">
              <a:latin typeface="Calibri"/>
              <a:cs typeface="Calibri"/>
            </a:endParaRPr>
          </a:p>
          <a:p>
            <a:pPr marL="355600" marR="33020" indent="-343535">
              <a:lnSpc>
                <a:spcPct val="100000"/>
              </a:lnSpc>
              <a:spcBef>
                <a:spcPts val="1180"/>
              </a:spcBef>
              <a:buSzPct val="97560"/>
              <a:buChar char="▪"/>
              <a:tabLst>
                <a:tab pos="355600" algn="l"/>
              </a:tabLst>
            </a:pPr>
            <a:r>
              <a:rPr dirty="0" sz="2050">
                <a:latin typeface="Calibri"/>
                <a:cs typeface="Calibri"/>
              </a:rPr>
              <a:t>VM</a:t>
            </a:r>
            <a:r>
              <a:rPr dirty="0" sz="2050" spc="-4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which</a:t>
            </a:r>
            <a:r>
              <a:rPr dirty="0" sz="2050" spc="-5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uses</a:t>
            </a:r>
            <a:r>
              <a:rPr dirty="0" sz="2050" spc="-4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this</a:t>
            </a:r>
            <a:r>
              <a:rPr dirty="0" sz="2050" spc="-50">
                <a:latin typeface="Calibri"/>
                <a:cs typeface="Calibri"/>
              </a:rPr>
              <a:t> </a:t>
            </a:r>
            <a:r>
              <a:rPr dirty="0" sz="2050" spc="-10">
                <a:latin typeface="Calibri"/>
                <a:cs typeface="Calibri"/>
              </a:rPr>
              <a:t>virtualization</a:t>
            </a:r>
            <a:r>
              <a:rPr dirty="0" sz="2050" spc="-5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technology</a:t>
            </a:r>
            <a:r>
              <a:rPr dirty="0" sz="2050" spc="-4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is</a:t>
            </a:r>
            <a:r>
              <a:rPr dirty="0" sz="2050" spc="-6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one</a:t>
            </a:r>
            <a:r>
              <a:rPr dirty="0" sz="2050" spc="-5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of</a:t>
            </a:r>
            <a:r>
              <a:rPr dirty="0" sz="2050" spc="-4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the</a:t>
            </a:r>
            <a:r>
              <a:rPr dirty="0" sz="2050" spc="-5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prominent</a:t>
            </a:r>
            <a:r>
              <a:rPr dirty="0" sz="2050" spc="-5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ways</a:t>
            </a:r>
            <a:r>
              <a:rPr dirty="0" sz="2050" spc="-4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in</a:t>
            </a:r>
            <a:r>
              <a:rPr dirty="0" sz="2050" spc="-6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which</a:t>
            </a:r>
            <a:r>
              <a:rPr dirty="0" sz="2050" spc="-5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compute</a:t>
            </a:r>
            <a:r>
              <a:rPr dirty="0" sz="2050" spc="-55">
                <a:latin typeface="Calibri"/>
                <a:cs typeface="Calibri"/>
              </a:rPr>
              <a:t> </a:t>
            </a:r>
            <a:r>
              <a:rPr dirty="0" sz="2050" spc="-10">
                <a:latin typeface="Calibri"/>
                <a:cs typeface="Calibri"/>
              </a:rPr>
              <a:t>resources</a:t>
            </a:r>
            <a:r>
              <a:rPr dirty="0" sz="2050" spc="-50">
                <a:latin typeface="Calibri"/>
                <a:cs typeface="Calibri"/>
              </a:rPr>
              <a:t> </a:t>
            </a:r>
            <a:r>
              <a:rPr dirty="0" sz="2050" spc="-25">
                <a:latin typeface="Calibri"/>
                <a:cs typeface="Calibri"/>
              </a:rPr>
              <a:t>are </a:t>
            </a:r>
            <a:r>
              <a:rPr dirty="0" sz="2050" spc="-10">
                <a:latin typeface="Calibri"/>
                <a:cs typeface="Calibri"/>
              </a:rPr>
              <a:t>provisioned</a:t>
            </a:r>
            <a:r>
              <a:rPr dirty="0" sz="2050" spc="-3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in</a:t>
            </a:r>
            <a:r>
              <a:rPr dirty="0" sz="2050" spc="-3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a</a:t>
            </a:r>
            <a:r>
              <a:rPr dirty="0" sz="2050" spc="-4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cloud</a:t>
            </a:r>
            <a:r>
              <a:rPr dirty="0" sz="2050" spc="-45">
                <a:latin typeface="Calibri"/>
                <a:cs typeface="Calibri"/>
              </a:rPr>
              <a:t> </a:t>
            </a:r>
            <a:r>
              <a:rPr dirty="0" sz="2050" spc="-10">
                <a:latin typeface="Calibri"/>
                <a:cs typeface="Calibri"/>
              </a:rPr>
              <a:t>environment</a:t>
            </a:r>
            <a:endParaRPr sz="2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xfrm>
            <a:off x="472541" y="277444"/>
            <a:ext cx="3057525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2E5395"/>
                </a:solidFill>
                <a:latin typeface="Arial"/>
                <a:cs typeface="Arial"/>
              </a:rPr>
              <a:t>CLOUD</a:t>
            </a:r>
            <a:r>
              <a:rPr dirty="0" spc="-5">
                <a:solidFill>
                  <a:srgbClr val="2E5395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2E5395"/>
                </a:solidFill>
                <a:latin typeface="Arial"/>
                <a:cs typeface="Arial"/>
              </a:rPr>
              <a:t>COMPUTING</a:t>
            </a:r>
          </a:p>
        </p:txBody>
      </p:sp>
      <p:sp>
        <p:nvSpPr>
          <p:cNvPr id="2" name="object 2"/>
          <p:cNvSpPr/>
          <p:nvPr/>
        </p:nvSpPr>
        <p:spPr>
          <a:xfrm>
            <a:off x="778001" y="1404366"/>
            <a:ext cx="4598035" cy="5393690"/>
          </a:xfrm>
          <a:custGeom>
            <a:avLst/>
            <a:gdLst/>
            <a:ahLst/>
            <a:cxnLst/>
            <a:rect l="l" t="t" r="r" b="b"/>
            <a:pathLst>
              <a:path w="4598035" h="5393690">
                <a:moveTo>
                  <a:pt x="0" y="178181"/>
                </a:moveTo>
                <a:lnTo>
                  <a:pt x="6364" y="130807"/>
                </a:lnTo>
                <a:lnTo>
                  <a:pt x="24325" y="88241"/>
                </a:lnTo>
                <a:lnTo>
                  <a:pt x="52184" y="52181"/>
                </a:lnTo>
                <a:lnTo>
                  <a:pt x="88243" y="24322"/>
                </a:lnTo>
                <a:lnTo>
                  <a:pt x="130804" y="6363"/>
                </a:lnTo>
                <a:lnTo>
                  <a:pt x="178168" y="0"/>
                </a:lnTo>
                <a:lnTo>
                  <a:pt x="4419727" y="0"/>
                </a:lnTo>
                <a:lnTo>
                  <a:pt x="4467100" y="6363"/>
                </a:lnTo>
                <a:lnTo>
                  <a:pt x="4509666" y="24322"/>
                </a:lnTo>
                <a:lnTo>
                  <a:pt x="4545726" y="52181"/>
                </a:lnTo>
                <a:lnTo>
                  <a:pt x="4573585" y="88241"/>
                </a:lnTo>
                <a:lnTo>
                  <a:pt x="4591544" y="130807"/>
                </a:lnTo>
                <a:lnTo>
                  <a:pt x="4597908" y="178181"/>
                </a:lnTo>
                <a:lnTo>
                  <a:pt x="4597908" y="5215267"/>
                </a:lnTo>
                <a:lnTo>
                  <a:pt x="4591544" y="5262631"/>
                </a:lnTo>
                <a:lnTo>
                  <a:pt x="4573585" y="5305192"/>
                </a:lnTo>
                <a:lnTo>
                  <a:pt x="4545726" y="5341251"/>
                </a:lnTo>
                <a:lnTo>
                  <a:pt x="4509666" y="5369109"/>
                </a:lnTo>
                <a:lnTo>
                  <a:pt x="4467100" y="5387070"/>
                </a:lnTo>
                <a:lnTo>
                  <a:pt x="4419727" y="5393434"/>
                </a:lnTo>
                <a:lnTo>
                  <a:pt x="178168" y="5393434"/>
                </a:lnTo>
                <a:lnTo>
                  <a:pt x="130804" y="5387070"/>
                </a:lnTo>
                <a:lnTo>
                  <a:pt x="88243" y="5369109"/>
                </a:lnTo>
                <a:lnTo>
                  <a:pt x="52184" y="5341251"/>
                </a:lnTo>
                <a:lnTo>
                  <a:pt x="24325" y="5305192"/>
                </a:lnTo>
                <a:lnTo>
                  <a:pt x="6364" y="5262631"/>
                </a:lnTo>
                <a:lnTo>
                  <a:pt x="0" y="5215267"/>
                </a:lnTo>
                <a:lnTo>
                  <a:pt x="0" y="178181"/>
                </a:lnTo>
                <a:close/>
              </a:path>
            </a:pathLst>
          </a:custGeom>
          <a:ln w="19050">
            <a:solidFill>
              <a:srgbClr val="4453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44167" y="2714857"/>
            <a:ext cx="1926589" cy="9994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45415">
              <a:lnSpc>
                <a:spcPts val="2215"/>
              </a:lnSpc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Application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FFFF00"/>
                </a:solidFill>
                <a:latin typeface="Arial"/>
                <a:cs typeface="Arial"/>
              </a:rPr>
              <a:t>Operating</a:t>
            </a:r>
            <a:r>
              <a:rPr dirty="0" sz="1800" spc="-90" b="1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FFF00"/>
                </a:solidFill>
                <a:latin typeface="Arial"/>
                <a:cs typeface="Arial"/>
              </a:rPr>
              <a:t>system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55877" y="2067814"/>
            <a:ext cx="4214495" cy="1863089"/>
            <a:chOff x="1055877" y="2067814"/>
            <a:chExt cx="4214495" cy="1863089"/>
          </a:xfrm>
        </p:grpSpPr>
        <p:sp>
          <p:nvSpPr>
            <p:cNvPr id="6" name="object 6"/>
            <p:cNvSpPr/>
            <p:nvPr/>
          </p:nvSpPr>
          <p:spPr>
            <a:xfrm>
              <a:off x="1062227" y="2074164"/>
              <a:ext cx="4201795" cy="1850389"/>
            </a:xfrm>
            <a:custGeom>
              <a:avLst/>
              <a:gdLst/>
              <a:ahLst/>
              <a:cxnLst/>
              <a:rect l="l" t="t" r="r" b="b"/>
              <a:pathLst>
                <a:path w="4201795" h="1850389">
                  <a:moveTo>
                    <a:pt x="4110228" y="0"/>
                  </a:moveTo>
                  <a:lnTo>
                    <a:pt x="91478" y="0"/>
                  </a:lnTo>
                  <a:lnTo>
                    <a:pt x="55871" y="7179"/>
                  </a:lnTo>
                  <a:lnTo>
                    <a:pt x="26793" y="26765"/>
                  </a:lnTo>
                  <a:lnTo>
                    <a:pt x="7188" y="55828"/>
                  </a:lnTo>
                  <a:lnTo>
                    <a:pt x="0" y="91439"/>
                  </a:lnTo>
                  <a:lnTo>
                    <a:pt x="0" y="1758696"/>
                  </a:lnTo>
                  <a:lnTo>
                    <a:pt x="7188" y="1794307"/>
                  </a:lnTo>
                  <a:lnTo>
                    <a:pt x="26793" y="1823370"/>
                  </a:lnTo>
                  <a:lnTo>
                    <a:pt x="55871" y="1842956"/>
                  </a:lnTo>
                  <a:lnTo>
                    <a:pt x="91478" y="1850136"/>
                  </a:lnTo>
                  <a:lnTo>
                    <a:pt x="4110228" y="1850136"/>
                  </a:lnTo>
                  <a:lnTo>
                    <a:pt x="4145839" y="1842956"/>
                  </a:lnTo>
                  <a:lnTo>
                    <a:pt x="4174902" y="1823370"/>
                  </a:lnTo>
                  <a:lnTo>
                    <a:pt x="4194488" y="1794307"/>
                  </a:lnTo>
                  <a:lnTo>
                    <a:pt x="4201668" y="1758696"/>
                  </a:lnTo>
                  <a:lnTo>
                    <a:pt x="4201668" y="91439"/>
                  </a:lnTo>
                  <a:lnTo>
                    <a:pt x="4194488" y="55828"/>
                  </a:lnTo>
                  <a:lnTo>
                    <a:pt x="4174902" y="26765"/>
                  </a:lnTo>
                  <a:lnTo>
                    <a:pt x="4145839" y="7179"/>
                  </a:lnTo>
                  <a:lnTo>
                    <a:pt x="4110228" y="0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62227" y="2074164"/>
              <a:ext cx="4201795" cy="1850389"/>
            </a:xfrm>
            <a:custGeom>
              <a:avLst/>
              <a:gdLst/>
              <a:ahLst/>
              <a:cxnLst/>
              <a:rect l="l" t="t" r="r" b="b"/>
              <a:pathLst>
                <a:path w="4201795" h="1850389">
                  <a:moveTo>
                    <a:pt x="0" y="91439"/>
                  </a:moveTo>
                  <a:lnTo>
                    <a:pt x="7188" y="55828"/>
                  </a:lnTo>
                  <a:lnTo>
                    <a:pt x="26793" y="26765"/>
                  </a:lnTo>
                  <a:lnTo>
                    <a:pt x="55871" y="7179"/>
                  </a:lnTo>
                  <a:lnTo>
                    <a:pt x="91478" y="0"/>
                  </a:lnTo>
                  <a:lnTo>
                    <a:pt x="4110228" y="0"/>
                  </a:lnTo>
                  <a:lnTo>
                    <a:pt x="4145839" y="7179"/>
                  </a:lnTo>
                  <a:lnTo>
                    <a:pt x="4174902" y="26765"/>
                  </a:lnTo>
                  <a:lnTo>
                    <a:pt x="4194488" y="55828"/>
                  </a:lnTo>
                  <a:lnTo>
                    <a:pt x="4201668" y="91439"/>
                  </a:lnTo>
                  <a:lnTo>
                    <a:pt x="4201668" y="1758696"/>
                  </a:lnTo>
                  <a:lnTo>
                    <a:pt x="4194488" y="1794307"/>
                  </a:lnTo>
                  <a:lnTo>
                    <a:pt x="4174902" y="1823370"/>
                  </a:lnTo>
                  <a:lnTo>
                    <a:pt x="4145839" y="1842956"/>
                  </a:lnTo>
                  <a:lnTo>
                    <a:pt x="4110228" y="1850136"/>
                  </a:lnTo>
                  <a:lnTo>
                    <a:pt x="91478" y="1850136"/>
                  </a:lnTo>
                  <a:lnTo>
                    <a:pt x="55871" y="1842956"/>
                  </a:lnTo>
                  <a:lnTo>
                    <a:pt x="26793" y="1823370"/>
                  </a:lnTo>
                  <a:lnTo>
                    <a:pt x="7188" y="1794307"/>
                  </a:lnTo>
                  <a:lnTo>
                    <a:pt x="0" y="1758696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193291" y="2193036"/>
              <a:ext cx="3941445" cy="1612900"/>
            </a:xfrm>
            <a:custGeom>
              <a:avLst/>
              <a:gdLst/>
              <a:ahLst/>
              <a:cxnLst/>
              <a:rect l="l" t="t" r="r" b="b"/>
              <a:pathLst>
                <a:path w="3941445" h="1612900">
                  <a:moveTo>
                    <a:pt x="3856482" y="0"/>
                  </a:moveTo>
                  <a:lnTo>
                    <a:pt x="84582" y="0"/>
                  </a:lnTo>
                  <a:lnTo>
                    <a:pt x="51654" y="6643"/>
                  </a:lnTo>
                  <a:lnTo>
                    <a:pt x="24769" y="24764"/>
                  </a:lnTo>
                  <a:lnTo>
                    <a:pt x="6645" y="51649"/>
                  </a:lnTo>
                  <a:lnTo>
                    <a:pt x="0" y="84581"/>
                  </a:lnTo>
                  <a:lnTo>
                    <a:pt x="0" y="1527809"/>
                  </a:lnTo>
                  <a:lnTo>
                    <a:pt x="6645" y="1560742"/>
                  </a:lnTo>
                  <a:lnTo>
                    <a:pt x="24769" y="1587627"/>
                  </a:lnTo>
                  <a:lnTo>
                    <a:pt x="51654" y="1605748"/>
                  </a:lnTo>
                  <a:lnTo>
                    <a:pt x="84582" y="1612391"/>
                  </a:lnTo>
                  <a:lnTo>
                    <a:pt x="3856482" y="1612391"/>
                  </a:lnTo>
                  <a:lnTo>
                    <a:pt x="3889414" y="1605748"/>
                  </a:lnTo>
                  <a:lnTo>
                    <a:pt x="3916299" y="1587627"/>
                  </a:lnTo>
                  <a:lnTo>
                    <a:pt x="3934420" y="1560742"/>
                  </a:lnTo>
                  <a:lnTo>
                    <a:pt x="3941064" y="1527809"/>
                  </a:lnTo>
                  <a:lnTo>
                    <a:pt x="3941064" y="84581"/>
                  </a:lnTo>
                  <a:lnTo>
                    <a:pt x="3934420" y="51649"/>
                  </a:lnTo>
                  <a:lnTo>
                    <a:pt x="3916299" y="24764"/>
                  </a:lnTo>
                  <a:lnTo>
                    <a:pt x="3889414" y="6643"/>
                  </a:lnTo>
                  <a:lnTo>
                    <a:pt x="3856482" y="0"/>
                  </a:lnTo>
                  <a:close/>
                </a:path>
              </a:pathLst>
            </a:custGeom>
            <a:solidFill>
              <a:srgbClr val="5578A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193291" y="2193036"/>
              <a:ext cx="3941445" cy="1612900"/>
            </a:xfrm>
            <a:custGeom>
              <a:avLst/>
              <a:gdLst/>
              <a:ahLst/>
              <a:cxnLst/>
              <a:rect l="l" t="t" r="r" b="b"/>
              <a:pathLst>
                <a:path w="3941445" h="1612900">
                  <a:moveTo>
                    <a:pt x="0" y="84581"/>
                  </a:moveTo>
                  <a:lnTo>
                    <a:pt x="6645" y="51649"/>
                  </a:lnTo>
                  <a:lnTo>
                    <a:pt x="24769" y="24764"/>
                  </a:lnTo>
                  <a:lnTo>
                    <a:pt x="51654" y="6643"/>
                  </a:lnTo>
                  <a:lnTo>
                    <a:pt x="84582" y="0"/>
                  </a:lnTo>
                  <a:lnTo>
                    <a:pt x="3856482" y="0"/>
                  </a:lnTo>
                  <a:lnTo>
                    <a:pt x="3889414" y="6643"/>
                  </a:lnTo>
                  <a:lnTo>
                    <a:pt x="3916299" y="24764"/>
                  </a:lnTo>
                  <a:lnTo>
                    <a:pt x="3934420" y="51649"/>
                  </a:lnTo>
                  <a:lnTo>
                    <a:pt x="3941064" y="84581"/>
                  </a:lnTo>
                  <a:lnTo>
                    <a:pt x="3941064" y="1527809"/>
                  </a:lnTo>
                  <a:lnTo>
                    <a:pt x="3934420" y="1560742"/>
                  </a:lnTo>
                  <a:lnTo>
                    <a:pt x="3916299" y="1587627"/>
                  </a:lnTo>
                  <a:lnTo>
                    <a:pt x="3889414" y="1605748"/>
                  </a:lnTo>
                  <a:lnTo>
                    <a:pt x="3856482" y="1612391"/>
                  </a:lnTo>
                  <a:lnTo>
                    <a:pt x="84582" y="1612391"/>
                  </a:lnTo>
                  <a:lnTo>
                    <a:pt x="51654" y="1605748"/>
                  </a:lnTo>
                  <a:lnTo>
                    <a:pt x="24769" y="1587627"/>
                  </a:lnTo>
                  <a:lnTo>
                    <a:pt x="6645" y="1560742"/>
                  </a:lnTo>
                  <a:lnTo>
                    <a:pt x="0" y="1527809"/>
                  </a:lnTo>
                  <a:lnTo>
                    <a:pt x="0" y="8458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324355" y="2371344"/>
              <a:ext cx="3677920" cy="957580"/>
            </a:xfrm>
            <a:custGeom>
              <a:avLst/>
              <a:gdLst/>
              <a:ahLst/>
              <a:cxnLst/>
              <a:rect l="l" t="t" r="r" b="b"/>
              <a:pathLst>
                <a:path w="3677920" h="957579">
                  <a:moveTo>
                    <a:pt x="3593210" y="0"/>
                  </a:moveTo>
                  <a:lnTo>
                    <a:pt x="84200" y="0"/>
                  </a:lnTo>
                  <a:lnTo>
                    <a:pt x="51434" y="6619"/>
                  </a:lnTo>
                  <a:lnTo>
                    <a:pt x="24669" y="24669"/>
                  </a:lnTo>
                  <a:lnTo>
                    <a:pt x="6619" y="51435"/>
                  </a:lnTo>
                  <a:lnTo>
                    <a:pt x="0" y="84200"/>
                  </a:lnTo>
                  <a:lnTo>
                    <a:pt x="0" y="872870"/>
                  </a:lnTo>
                  <a:lnTo>
                    <a:pt x="6619" y="905636"/>
                  </a:lnTo>
                  <a:lnTo>
                    <a:pt x="24669" y="932402"/>
                  </a:lnTo>
                  <a:lnTo>
                    <a:pt x="51434" y="950452"/>
                  </a:lnTo>
                  <a:lnTo>
                    <a:pt x="84200" y="957071"/>
                  </a:lnTo>
                  <a:lnTo>
                    <a:pt x="3593210" y="957071"/>
                  </a:lnTo>
                  <a:lnTo>
                    <a:pt x="3625977" y="950452"/>
                  </a:lnTo>
                  <a:lnTo>
                    <a:pt x="3652742" y="932402"/>
                  </a:lnTo>
                  <a:lnTo>
                    <a:pt x="3670792" y="905636"/>
                  </a:lnTo>
                  <a:lnTo>
                    <a:pt x="3677411" y="872870"/>
                  </a:lnTo>
                  <a:lnTo>
                    <a:pt x="3677411" y="84200"/>
                  </a:lnTo>
                  <a:lnTo>
                    <a:pt x="3670792" y="51435"/>
                  </a:lnTo>
                  <a:lnTo>
                    <a:pt x="3652742" y="24669"/>
                  </a:lnTo>
                  <a:lnTo>
                    <a:pt x="3625977" y="6619"/>
                  </a:lnTo>
                  <a:lnTo>
                    <a:pt x="359321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324355" y="2371344"/>
              <a:ext cx="3677920" cy="957580"/>
            </a:xfrm>
            <a:custGeom>
              <a:avLst/>
              <a:gdLst/>
              <a:ahLst/>
              <a:cxnLst/>
              <a:rect l="l" t="t" r="r" b="b"/>
              <a:pathLst>
                <a:path w="3677920" h="957579">
                  <a:moveTo>
                    <a:pt x="0" y="84200"/>
                  </a:moveTo>
                  <a:lnTo>
                    <a:pt x="6619" y="51435"/>
                  </a:lnTo>
                  <a:lnTo>
                    <a:pt x="24669" y="24669"/>
                  </a:lnTo>
                  <a:lnTo>
                    <a:pt x="51434" y="6619"/>
                  </a:lnTo>
                  <a:lnTo>
                    <a:pt x="84200" y="0"/>
                  </a:lnTo>
                  <a:lnTo>
                    <a:pt x="3593210" y="0"/>
                  </a:lnTo>
                  <a:lnTo>
                    <a:pt x="3625977" y="6619"/>
                  </a:lnTo>
                  <a:lnTo>
                    <a:pt x="3652742" y="24669"/>
                  </a:lnTo>
                  <a:lnTo>
                    <a:pt x="3670792" y="51435"/>
                  </a:lnTo>
                  <a:lnTo>
                    <a:pt x="3677411" y="84200"/>
                  </a:lnTo>
                  <a:lnTo>
                    <a:pt x="3677411" y="872870"/>
                  </a:lnTo>
                  <a:lnTo>
                    <a:pt x="3670792" y="905636"/>
                  </a:lnTo>
                  <a:lnTo>
                    <a:pt x="3652742" y="932402"/>
                  </a:lnTo>
                  <a:lnTo>
                    <a:pt x="3625977" y="950452"/>
                  </a:lnTo>
                  <a:lnTo>
                    <a:pt x="3593210" y="957071"/>
                  </a:lnTo>
                  <a:lnTo>
                    <a:pt x="84200" y="957071"/>
                  </a:lnTo>
                  <a:lnTo>
                    <a:pt x="51434" y="950452"/>
                  </a:lnTo>
                  <a:lnTo>
                    <a:pt x="24669" y="932402"/>
                  </a:lnTo>
                  <a:lnTo>
                    <a:pt x="6619" y="905636"/>
                  </a:lnTo>
                  <a:lnTo>
                    <a:pt x="0" y="872870"/>
                  </a:lnTo>
                  <a:lnTo>
                    <a:pt x="0" y="842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" name="object 3"/>
          <p:cNvSpPr txBox="1"/>
          <p:nvPr/>
        </p:nvSpPr>
        <p:spPr>
          <a:xfrm>
            <a:off x="983691" y="4691071"/>
            <a:ext cx="4291965" cy="2051050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186690" indent="-173990">
              <a:lnSpc>
                <a:spcPct val="100000"/>
              </a:lnSpc>
              <a:spcBef>
                <a:spcPts val="869"/>
              </a:spcBef>
              <a:buClr>
                <a:srgbClr val="EC7C30"/>
              </a:buClr>
              <a:buFont typeface="Calibri"/>
              <a:buChar char="•"/>
              <a:tabLst>
                <a:tab pos="186690" algn="l"/>
              </a:tabLst>
            </a:pPr>
            <a:r>
              <a:rPr dirty="0" sz="1400">
                <a:latin typeface="Arial"/>
                <a:cs typeface="Arial"/>
              </a:rPr>
              <a:t>Single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operating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system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image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per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machine</a:t>
            </a:r>
            <a:endParaRPr sz="1400">
              <a:latin typeface="Arial"/>
              <a:cs typeface="Arial"/>
            </a:endParaRPr>
          </a:p>
          <a:p>
            <a:pPr marL="186055" indent="-173355">
              <a:lnSpc>
                <a:spcPct val="100000"/>
              </a:lnSpc>
              <a:spcBef>
                <a:spcPts val="775"/>
              </a:spcBef>
              <a:buClr>
                <a:srgbClr val="EC7C30"/>
              </a:buClr>
              <a:buFont typeface="Calibri"/>
              <a:buChar char="•"/>
              <a:tabLst>
                <a:tab pos="186055" algn="l"/>
              </a:tabLst>
            </a:pPr>
            <a:r>
              <a:rPr dirty="0" sz="1400">
                <a:latin typeface="Arial"/>
                <a:cs typeface="Arial"/>
              </a:rPr>
              <a:t>Software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and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hardware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tightly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couple</a:t>
            </a:r>
            <a:endParaRPr sz="1400">
              <a:latin typeface="Arial"/>
              <a:cs typeface="Arial"/>
            </a:endParaRPr>
          </a:p>
          <a:p>
            <a:pPr marL="185420" marR="65405" indent="-173355">
              <a:lnSpc>
                <a:spcPct val="110000"/>
              </a:lnSpc>
              <a:spcBef>
                <a:spcPts val="600"/>
              </a:spcBef>
              <a:buClr>
                <a:srgbClr val="EC7C30"/>
              </a:buClr>
              <a:buFont typeface="Calibri"/>
              <a:buChar char="•"/>
              <a:tabLst>
                <a:tab pos="187325" algn="l"/>
              </a:tabLst>
            </a:pPr>
            <a:r>
              <a:rPr dirty="0" sz="1400">
                <a:latin typeface="Arial"/>
                <a:cs typeface="Arial"/>
              </a:rPr>
              <a:t>OS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handles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bare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hardware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(CPU,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memory,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and </a:t>
            </a:r>
            <a:r>
              <a:rPr dirty="0" sz="1400" spc="-25">
                <a:latin typeface="Arial"/>
                <a:cs typeface="Arial"/>
              </a:rPr>
              <a:t>	</a:t>
            </a:r>
            <a:r>
              <a:rPr dirty="0" sz="1400">
                <a:latin typeface="Arial"/>
                <a:cs typeface="Arial"/>
              </a:rPr>
              <a:t>I/O)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directly.</a:t>
            </a:r>
            <a:endParaRPr sz="1400">
              <a:latin typeface="Arial"/>
              <a:cs typeface="Arial"/>
            </a:endParaRPr>
          </a:p>
          <a:p>
            <a:pPr marL="185420" marR="5080" indent="-173355">
              <a:lnSpc>
                <a:spcPct val="110000"/>
              </a:lnSpc>
              <a:spcBef>
                <a:spcPts val="600"/>
              </a:spcBef>
              <a:buClr>
                <a:srgbClr val="EC7C30"/>
              </a:buClr>
              <a:buFont typeface="Calibri"/>
              <a:buChar char="•"/>
              <a:tabLst>
                <a:tab pos="187325" algn="l"/>
              </a:tabLst>
            </a:pPr>
            <a:r>
              <a:rPr dirty="0" sz="1400">
                <a:latin typeface="Arial"/>
                <a:cs typeface="Arial"/>
              </a:rPr>
              <a:t>Running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multiple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applications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on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same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machine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can </a:t>
            </a:r>
            <a:r>
              <a:rPr dirty="0" sz="1400" spc="-25">
                <a:latin typeface="Arial"/>
                <a:cs typeface="Arial"/>
              </a:rPr>
              <a:t>	</a:t>
            </a:r>
            <a:r>
              <a:rPr dirty="0" sz="1400">
                <a:latin typeface="Arial"/>
                <a:cs typeface="Arial"/>
              </a:rPr>
              <a:t>create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conflicts</a:t>
            </a:r>
            <a:endParaRPr sz="1400">
              <a:latin typeface="Arial"/>
              <a:cs typeface="Arial"/>
            </a:endParaRPr>
          </a:p>
          <a:p>
            <a:pPr marL="186690" indent="-173990">
              <a:lnSpc>
                <a:spcPct val="100000"/>
              </a:lnSpc>
              <a:spcBef>
                <a:spcPts val="765"/>
              </a:spcBef>
              <a:buClr>
                <a:srgbClr val="EC7C30"/>
              </a:buClr>
              <a:buFont typeface="Calibri"/>
              <a:buChar char="•"/>
              <a:tabLst>
                <a:tab pos="186690" algn="l"/>
              </a:tabLst>
            </a:pPr>
            <a:r>
              <a:rPr dirty="0" sz="1400">
                <a:latin typeface="Arial"/>
                <a:cs typeface="Arial"/>
              </a:rPr>
              <a:t>Underutilized</a:t>
            </a:r>
            <a:r>
              <a:rPr dirty="0" sz="1400" spc="-9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resources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639" y="1844039"/>
            <a:ext cx="4401312" cy="2891027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193291" y="2114550"/>
            <a:ext cx="1846580" cy="833755"/>
          </a:xfrm>
          <a:prstGeom prst="rect">
            <a:avLst/>
          </a:prstGeom>
          <a:solidFill>
            <a:srgbClr val="4471C4"/>
          </a:solidFill>
          <a:ln w="25400">
            <a:solidFill>
              <a:srgbClr val="30528F"/>
            </a:solidFill>
          </a:ln>
        </p:spPr>
        <p:txBody>
          <a:bodyPr wrap="square" lIns="0" tIns="9969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85"/>
              </a:spcBef>
            </a:pPr>
            <a:endParaRPr sz="1400">
              <a:latin typeface="Times New Roman"/>
              <a:cs typeface="Times New Roman"/>
            </a:endParaRPr>
          </a:p>
          <a:p>
            <a:pPr marL="414020">
              <a:lnSpc>
                <a:spcPct val="100000"/>
              </a:lnSpc>
            </a:pP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Application</a:t>
            </a:r>
            <a:r>
              <a:rPr dirty="0" sz="14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33750" y="2114550"/>
            <a:ext cx="1649730" cy="833755"/>
          </a:xfrm>
          <a:prstGeom prst="rect">
            <a:avLst/>
          </a:prstGeom>
          <a:solidFill>
            <a:srgbClr val="4471C4"/>
          </a:solidFill>
          <a:ln w="25400">
            <a:solidFill>
              <a:srgbClr val="30528F"/>
            </a:solidFill>
          </a:ln>
        </p:spPr>
        <p:txBody>
          <a:bodyPr wrap="square" lIns="0" tIns="9969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85"/>
              </a:spcBef>
            </a:pPr>
            <a:endParaRPr sz="1400">
              <a:latin typeface="Times New Roman"/>
              <a:cs typeface="Times New Roman"/>
            </a:endParaRPr>
          </a:p>
          <a:p>
            <a:pPr marL="309245">
              <a:lnSpc>
                <a:spcPct val="100000"/>
              </a:lnSpc>
            </a:pP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Application</a:t>
            </a:r>
            <a:r>
              <a:rPr dirty="0" sz="14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038469" y="1394841"/>
            <a:ext cx="5972175" cy="5412740"/>
            <a:chOff x="6038469" y="1394841"/>
            <a:chExt cx="5972175" cy="5412740"/>
          </a:xfrm>
        </p:grpSpPr>
        <p:sp>
          <p:nvSpPr>
            <p:cNvPr id="16" name="object 16"/>
            <p:cNvSpPr/>
            <p:nvPr/>
          </p:nvSpPr>
          <p:spPr>
            <a:xfrm>
              <a:off x="6047994" y="1404366"/>
              <a:ext cx="5953125" cy="5393690"/>
            </a:xfrm>
            <a:custGeom>
              <a:avLst/>
              <a:gdLst/>
              <a:ahLst/>
              <a:cxnLst/>
              <a:rect l="l" t="t" r="r" b="b"/>
              <a:pathLst>
                <a:path w="5953125" h="5393690">
                  <a:moveTo>
                    <a:pt x="5743702" y="0"/>
                  </a:moveTo>
                  <a:lnTo>
                    <a:pt x="209041" y="0"/>
                  </a:lnTo>
                  <a:lnTo>
                    <a:pt x="161113" y="5521"/>
                  </a:lnTo>
                  <a:lnTo>
                    <a:pt x="117113" y="21248"/>
                  </a:lnTo>
                  <a:lnTo>
                    <a:pt x="78300" y="45926"/>
                  </a:lnTo>
                  <a:lnTo>
                    <a:pt x="45926" y="78300"/>
                  </a:lnTo>
                  <a:lnTo>
                    <a:pt x="21248" y="117113"/>
                  </a:lnTo>
                  <a:lnTo>
                    <a:pt x="5521" y="161113"/>
                  </a:lnTo>
                  <a:lnTo>
                    <a:pt x="0" y="209042"/>
                  </a:lnTo>
                  <a:lnTo>
                    <a:pt x="0" y="5184444"/>
                  </a:lnTo>
                  <a:lnTo>
                    <a:pt x="5521" y="5232362"/>
                  </a:lnTo>
                  <a:lnTo>
                    <a:pt x="21248" y="5276351"/>
                  </a:lnTo>
                  <a:lnTo>
                    <a:pt x="45926" y="5315155"/>
                  </a:lnTo>
                  <a:lnTo>
                    <a:pt x="78300" y="5347520"/>
                  </a:lnTo>
                  <a:lnTo>
                    <a:pt x="117113" y="5372191"/>
                  </a:lnTo>
                  <a:lnTo>
                    <a:pt x="161113" y="5387914"/>
                  </a:lnTo>
                  <a:lnTo>
                    <a:pt x="209041" y="5393434"/>
                  </a:lnTo>
                  <a:lnTo>
                    <a:pt x="5743702" y="5393434"/>
                  </a:lnTo>
                  <a:lnTo>
                    <a:pt x="5791630" y="5387914"/>
                  </a:lnTo>
                  <a:lnTo>
                    <a:pt x="5835630" y="5372191"/>
                  </a:lnTo>
                  <a:lnTo>
                    <a:pt x="5874443" y="5347520"/>
                  </a:lnTo>
                  <a:lnTo>
                    <a:pt x="5906817" y="5315155"/>
                  </a:lnTo>
                  <a:lnTo>
                    <a:pt x="5931495" y="5276351"/>
                  </a:lnTo>
                  <a:lnTo>
                    <a:pt x="5947222" y="5232362"/>
                  </a:lnTo>
                  <a:lnTo>
                    <a:pt x="5952744" y="5184444"/>
                  </a:lnTo>
                  <a:lnTo>
                    <a:pt x="5952744" y="209042"/>
                  </a:lnTo>
                  <a:lnTo>
                    <a:pt x="5947222" y="161113"/>
                  </a:lnTo>
                  <a:lnTo>
                    <a:pt x="5931495" y="117113"/>
                  </a:lnTo>
                  <a:lnTo>
                    <a:pt x="5906817" y="78300"/>
                  </a:lnTo>
                  <a:lnTo>
                    <a:pt x="5874443" y="45926"/>
                  </a:lnTo>
                  <a:lnTo>
                    <a:pt x="5835630" y="21248"/>
                  </a:lnTo>
                  <a:lnTo>
                    <a:pt x="5791630" y="5521"/>
                  </a:lnTo>
                  <a:lnTo>
                    <a:pt x="5743702" y="0"/>
                  </a:lnTo>
                  <a:close/>
                </a:path>
              </a:pathLst>
            </a:custGeom>
            <a:solidFill>
              <a:srgbClr val="ECEE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047994" y="1404366"/>
              <a:ext cx="5953125" cy="5393690"/>
            </a:xfrm>
            <a:custGeom>
              <a:avLst/>
              <a:gdLst/>
              <a:ahLst/>
              <a:cxnLst/>
              <a:rect l="l" t="t" r="r" b="b"/>
              <a:pathLst>
                <a:path w="5953125" h="5393690">
                  <a:moveTo>
                    <a:pt x="0" y="209042"/>
                  </a:moveTo>
                  <a:lnTo>
                    <a:pt x="5521" y="161113"/>
                  </a:lnTo>
                  <a:lnTo>
                    <a:pt x="21248" y="117113"/>
                  </a:lnTo>
                  <a:lnTo>
                    <a:pt x="45926" y="78300"/>
                  </a:lnTo>
                  <a:lnTo>
                    <a:pt x="78300" y="45926"/>
                  </a:lnTo>
                  <a:lnTo>
                    <a:pt x="117113" y="21248"/>
                  </a:lnTo>
                  <a:lnTo>
                    <a:pt x="161113" y="5521"/>
                  </a:lnTo>
                  <a:lnTo>
                    <a:pt x="209041" y="0"/>
                  </a:lnTo>
                  <a:lnTo>
                    <a:pt x="5743702" y="0"/>
                  </a:lnTo>
                  <a:lnTo>
                    <a:pt x="5791630" y="5521"/>
                  </a:lnTo>
                  <a:lnTo>
                    <a:pt x="5835630" y="21248"/>
                  </a:lnTo>
                  <a:lnTo>
                    <a:pt x="5874443" y="45926"/>
                  </a:lnTo>
                  <a:lnTo>
                    <a:pt x="5906817" y="78300"/>
                  </a:lnTo>
                  <a:lnTo>
                    <a:pt x="5931495" y="117113"/>
                  </a:lnTo>
                  <a:lnTo>
                    <a:pt x="5947222" y="161113"/>
                  </a:lnTo>
                  <a:lnTo>
                    <a:pt x="5952744" y="209042"/>
                  </a:lnTo>
                  <a:lnTo>
                    <a:pt x="5952744" y="5184444"/>
                  </a:lnTo>
                  <a:lnTo>
                    <a:pt x="5947222" y="5232362"/>
                  </a:lnTo>
                  <a:lnTo>
                    <a:pt x="5931495" y="5276351"/>
                  </a:lnTo>
                  <a:lnTo>
                    <a:pt x="5906817" y="5315155"/>
                  </a:lnTo>
                  <a:lnTo>
                    <a:pt x="5874443" y="5347520"/>
                  </a:lnTo>
                  <a:lnTo>
                    <a:pt x="5835630" y="5372191"/>
                  </a:lnTo>
                  <a:lnTo>
                    <a:pt x="5791630" y="5387914"/>
                  </a:lnTo>
                  <a:lnTo>
                    <a:pt x="5743702" y="5393434"/>
                  </a:lnTo>
                  <a:lnTo>
                    <a:pt x="209041" y="5393434"/>
                  </a:lnTo>
                  <a:lnTo>
                    <a:pt x="161113" y="5387914"/>
                  </a:lnTo>
                  <a:lnTo>
                    <a:pt x="117113" y="5372191"/>
                  </a:lnTo>
                  <a:lnTo>
                    <a:pt x="78300" y="5347520"/>
                  </a:lnTo>
                  <a:lnTo>
                    <a:pt x="45926" y="5315155"/>
                  </a:lnTo>
                  <a:lnTo>
                    <a:pt x="21248" y="5276351"/>
                  </a:lnTo>
                  <a:lnTo>
                    <a:pt x="5521" y="5232362"/>
                  </a:lnTo>
                  <a:lnTo>
                    <a:pt x="0" y="5184444"/>
                  </a:lnTo>
                  <a:lnTo>
                    <a:pt x="0" y="209042"/>
                  </a:lnTo>
                  <a:close/>
                </a:path>
              </a:pathLst>
            </a:custGeom>
            <a:ln w="19050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39927" y="770001"/>
            <a:ext cx="9319895" cy="10064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C55A11"/>
                </a:solidFill>
                <a:latin typeface="Arial"/>
                <a:cs typeface="Arial"/>
              </a:rPr>
              <a:t>Traditional</a:t>
            </a:r>
            <a:r>
              <a:rPr dirty="0" sz="2000" spc="-5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C55A11"/>
                </a:solidFill>
                <a:latin typeface="Arial"/>
                <a:cs typeface="Arial"/>
              </a:rPr>
              <a:t>computer</a:t>
            </a:r>
            <a:r>
              <a:rPr dirty="0" sz="2000" spc="-4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C55A11"/>
                </a:solidFill>
                <a:latin typeface="Arial"/>
                <a:cs typeface="Arial"/>
              </a:rPr>
              <a:t>without</a:t>
            </a:r>
            <a:r>
              <a:rPr dirty="0" sz="2000" spc="-5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C55A11"/>
                </a:solidFill>
                <a:latin typeface="Arial"/>
                <a:cs typeface="Arial"/>
              </a:rPr>
              <a:t>virtualization</a:t>
            </a:r>
            <a:r>
              <a:rPr dirty="0" sz="2000" spc="-5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C55A11"/>
                </a:solidFill>
                <a:latin typeface="Arial"/>
                <a:cs typeface="Arial"/>
              </a:rPr>
              <a:t>(bare</a:t>
            </a:r>
            <a:r>
              <a:rPr dirty="0" sz="2000" spc="-2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C55A11"/>
                </a:solidFill>
                <a:latin typeface="Arial"/>
                <a:cs typeface="Arial"/>
              </a:rPr>
              <a:t>metal)</a:t>
            </a:r>
            <a:r>
              <a:rPr dirty="0" sz="2000" spc="-5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C55A11"/>
                </a:solidFill>
                <a:latin typeface="Arial"/>
                <a:cs typeface="Arial"/>
              </a:rPr>
              <a:t>&amp;</a:t>
            </a:r>
            <a:r>
              <a:rPr dirty="0" sz="2000" spc="-1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C55A11"/>
                </a:solidFill>
                <a:latin typeface="Arial"/>
                <a:cs typeface="Arial"/>
              </a:rPr>
              <a:t>After</a:t>
            </a:r>
            <a:r>
              <a:rPr dirty="0" sz="2000" spc="-5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C55A11"/>
                </a:solidFill>
                <a:latin typeface="Arial"/>
                <a:cs typeface="Arial"/>
              </a:rPr>
              <a:t>Virtualization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2000">
              <a:latin typeface="Arial"/>
              <a:cs typeface="Arial"/>
            </a:endParaRPr>
          </a:p>
          <a:p>
            <a:pPr marL="598805">
              <a:lnSpc>
                <a:spcPct val="100000"/>
              </a:lnSpc>
              <a:tabLst>
                <a:tab pos="6017895" algn="l"/>
              </a:tabLst>
            </a:pPr>
            <a:r>
              <a:rPr dirty="0" baseline="1388" sz="3000" b="1">
                <a:latin typeface="Arial"/>
                <a:cs typeface="Arial"/>
              </a:rPr>
              <a:t>Before</a:t>
            </a:r>
            <a:r>
              <a:rPr dirty="0" baseline="1388" sz="3000" spc="-97" b="1">
                <a:latin typeface="Arial"/>
                <a:cs typeface="Arial"/>
              </a:rPr>
              <a:t> </a:t>
            </a:r>
            <a:r>
              <a:rPr dirty="0" baseline="1388" sz="3000" b="1">
                <a:latin typeface="Arial"/>
                <a:cs typeface="Arial"/>
              </a:rPr>
              <a:t>Server</a:t>
            </a:r>
            <a:r>
              <a:rPr dirty="0" baseline="1388" sz="3000" spc="-30" b="1">
                <a:latin typeface="Arial"/>
                <a:cs typeface="Arial"/>
              </a:rPr>
              <a:t> </a:t>
            </a:r>
            <a:r>
              <a:rPr dirty="0" baseline="1388" sz="3000" spc="-15" b="1">
                <a:latin typeface="Arial"/>
                <a:cs typeface="Arial"/>
              </a:rPr>
              <a:t>Virtualization:</a:t>
            </a:r>
            <a:r>
              <a:rPr dirty="0" baseline="1388" sz="3000" b="1">
                <a:latin typeface="Arial"/>
                <a:cs typeface="Arial"/>
              </a:rPr>
              <a:t>	</a:t>
            </a:r>
            <a:r>
              <a:rPr dirty="0" sz="2000" b="1">
                <a:latin typeface="Arial"/>
                <a:cs typeface="Arial"/>
              </a:rPr>
              <a:t>After</a:t>
            </a:r>
            <a:r>
              <a:rPr dirty="0" sz="2000" spc="-6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Server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Virtualization:</a:t>
            </a:r>
            <a:r>
              <a:rPr dirty="0" sz="2000" spc="-10" b="1">
                <a:solidFill>
                  <a:srgbClr val="E7E6E6"/>
                </a:solidFill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6206997" y="4895189"/>
            <a:ext cx="5797550" cy="16630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6055" marR="5080" indent="-173355">
              <a:lnSpc>
                <a:spcPct val="110000"/>
              </a:lnSpc>
              <a:spcBef>
                <a:spcPts val="100"/>
              </a:spcBef>
              <a:buClr>
                <a:srgbClr val="EC7C30"/>
              </a:buClr>
              <a:buFont typeface="Calibri"/>
              <a:buChar char="•"/>
              <a:tabLst>
                <a:tab pos="187960" algn="l"/>
              </a:tabLst>
            </a:pPr>
            <a:r>
              <a:rPr dirty="0" sz="1400">
                <a:latin typeface="Arial"/>
                <a:cs typeface="Arial"/>
              </a:rPr>
              <a:t>Virtual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Machines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(VMs)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break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dependencies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between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operating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system </a:t>
            </a:r>
            <a:r>
              <a:rPr dirty="0" sz="1400" spc="-10">
                <a:latin typeface="Arial"/>
                <a:cs typeface="Arial"/>
              </a:rPr>
              <a:t>	</a:t>
            </a:r>
            <a:r>
              <a:rPr dirty="0" sz="1400">
                <a:latin typeface="Arial"/>
                <a:cs typeface="Arial"/>
              </a:rPr>
              <a:t>and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hardware</a:t>
            </a:r>
            <a:endParaRPr sz="1400">
              <a:latin typeface="Arial"/>
              <a:cs typeface="Arial"/>
            </a:endParaRPr>
          </a:p>
          <a:p>
            <a:pPr marL="186055" indent="-173355">
              <a:lnSpc>
                <a:spcPct val="100000"/>
              </a:lnSpc>
              <a:spcBef>
                <a:spcPts val="765"/>
              </a:spcBef>
              <a:buClr>
                <a:srgbClr val="EC7C30"/>
              </a:buClr>
              <a:buFont typeface="Calibri"/>
              <a:buChar char="•"/>
              <a:tabLst>
                <a:tab pos="186055" algn="l"/>
              </a:tabLst>
            </a:pPr>
            <a:r>
              <a:rPr dirty="0" sz="1400">
                <a:latin typeface="Arial"/>
                <a:cs typeface="Arial"/>
              </a:rPr>
              <a:t>Manages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operating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system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and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application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as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single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unit</a:t>
            </a:r>
            <a:r>
              <a:rPr dirty="0" sz="1400" spc="-25">
                <a:latin typeface="Arial"/>
                <a:cs typeface="Arial"/>
              </a:rPr>
              <a:t> by</a:t>
            </a:r>
            <a:endParaRPr sz="1400">
              <a:latin typeface="Arial"/>
              <a:cs typeface="Arial"/>
            </a:endParaRPr>
          </a:p>
          <a:p>
            <a:pPr marL="187960">
              <a:lnSpc>
                <a:spcPct val="100000"/>
              </a:lnSpc>
              <a:spcBef>
                <a:spcPts val="170"/>
              </a:spcBef>
            </a:pPr>
            <a:r>
              <a:rPr dirty="0" sz="1400" spc="-10">
                <a:latin typeface="Arial"/>
                <a:cs typeface="Arial"/>
              </a:rPr>
              <a:t>encapsulating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them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into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VMs</a:t>
            </a:r>
            <a:endParaRPr sz="1400">
              <a:latin typeface="Arial"/>
              <a:cs typeface="Arial"/>
            </a:endParaRPr>
          </a:p>
          <a:p>
            <a:pPr marL="186055" indent="-173355">
              <a:lnSpc>
                <a:spcPct val="100000"/>
              </a:lnSpc>
              <a:spcBef>
                <a:spcPts val="770"/>
              </a:spcBef>
              <a:buClr>
                <a:srgbClr val="EC7C30"/>
              </a:buClr>
              <a:buFont typeface="Calibri"/>
              <a:buChar char="•"/>
              <a:tabLst>
                <a:tab pos="186055" algn="l"/>
              </a:tabLst>
            </a:pPr>
            <a:r>
              <a:rPr dirty="0" sz="1400">
                <a:latin typeface="Arial"/>
                <a:cs typeface="Arial"/>
              </a:rPr>
              <a:t>Strong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fault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and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security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isolation</a:t>
            </a:r>
            <a:endParaRPr sz="1400">
              <a:latin typeface="Arial"/>
              <a:cs typeface="Arial"/>
            </a:endParaRPr>
          </a:p>
          <a:p>
            <a:pPr marL="186055" indent="-173355">
              <a:lnSpc>
                <a:spcPct val="100000"/>
              </a:lnSpc>
              <a:spcBef>
                <a:spcPts val="765"/>
              </a:spcBef>
              <a:buClr>
                <a:srgbClr val="EC7C30"/>
              </a:buClr>
              <a:buFont typeface="Calibri"/>
              <a:buChar char="•"/>
              <a:tabLst>
                <a:tab pos="186055" algn="l"/>
              </a:tabLst>
            </a:pPr>
            <a:r>
              <a:rPr dirty="0" sz="1400" spc="-10">
                <a:latin typeface="Arial"/>
                <a:cs typeface="Arial"/>
              </a:rPr>
              <a:t>Hardware-independent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08420" y="1780032"/>
            <a:ext cx="5125212" cy="31211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3728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380"/>
              </a:spcBef>
            </a:pPr>
            <a:r>
              <a:rPr dirty="0">
                <a:solidFill>
                  <a:srgbClr val="2E5395"/>
                </a:solidFill>
                <a:latin typeface="Arial"/>
                <a:cs typeface="Arial"/>
              </a:rPr>
              <a:t>CLOUD</a:t>
            </a:r>
            <a:r>
              <a:rPr dirty="0" spc="-5">
                <a:solidFill>
                  <a:srgbClr val="2E5395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2E5395"/>
                </a:solidFill>
                <a:latin typeface="Arial"/>
                <a:cs typeface="Arial"/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28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Compute</a:t>
            </a:r>
            <a:r>
              <a:rPr dirty="0" spc="-2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Virtualization</a:t>
            </a:r>
            <a:r>
              <a:rPr dirty="0" spc="-6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:</a:t>
            </a:r>
            <a:r>
              <a:rPr dirty="0" spc="-2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Why</a:t>
            </a:r>
            <a:r>
              <a:rPr dirty="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25">
                <a:solidFill>
                  <a:srgbClr val="C55A11"/>
                </a:solidFill>
                <a:latin typeface="Arial"/>
                <a:cs typeface="Arial"/>
              </a:rPr>
              <a:t>VM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620369" y="1327194"/>
            <a:ext cx="3080385" cy="5473700"/>
          </a:xfrm>
          <a:prstGeom prst="rect">
            <a:avLst/>
          </a:prstGeom>
        </p:spPr>
        <p:txBody>
          <a:bodyPr wrap="square" lIns="0" tIns="186055" rIns="0" bIns="0" rtlCol="0" vert="horz">
            <a:spAutoFit/>
          </a:bodyPr>
          <a:lstStyle/>
          <a:p>
            <a:pPr marL="419734" indent="-407034">
              <a:lnSpc>
                <a:spcPct val="100000"/>
              </a:lnSpc>
              <a:spcBef>
                <a:spcPts val="1465"/>
              </a:spcBef>
              <a:buSzPct val="121739"/>
              <a:buFont typeface="Arial"/>
              <a:buChar char="•"/>
              <a:tabLst>
                <a:tab pos="419734" algn="l"/>
              </a:tabLst>
            </a:pPr>
            <a:r>
              <a:rPr dirty="0" sz="2300">
                <a:latin typeface="Calibri"/>
                <a:cs typeface="Calibri"/>
              </a:rPr>
              <a:t>Server</a:t>
            </a:r>
            <a:r>
              <a:rPr dirty="0" sz="2300" spc="-50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consolidation</a:t>
            </a:r>
            <a:endParaRPr sz="2300">
              <a:latin typeface="Calibri"/>
              <a:cs typeface="Calibri"/>
            </a:endParaRPr>
          </a:p>
          <a:p>
            <a:pPr marL="419734" indent="-407034">
              <a:lnSpc>
                <a:spcPct val="100000"/>
              </a:lnSpc>
              <a:spcBef>
                <a:spcPts val="2145"/>
              </a:spcBef>
              <a:buClr>
                <a:srgbClr val="000000"/>
              </a:buClr>
              <a:buSzPct val="121739"/>
              <a:buFont typeface="Arial"/>
              <a:buChar char="•"/>
              <a:tabLst>
                <a:tab pos="419734" algn="l"/>
              </a:tabLst>
            </a:pPr>
            <a:r>
              <a:rPr dirty="0" sz="2300">
                <a:solidFill>
                  <a:srgbClr val="006FC0"/>
                </a:solidFill>
                <a:latin typeface="Calibri"/>
                <a:cs typeface="Calibri"/>
              </a:rPr>
              <a:t>Workload</a:t>
            </a:r>
            <a:r>
              <a:rPr dirty="0" sz="2300" spc="-2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300" spc="-10">
                <a:solidFill>
                  <a:srgbClr val="006FC0"/>
                </a:solidFill>
                <a:latin typeface="Calibri"/>
                <a:cs typeface="Calibri"/>
              </a:rPr>
              <a:t>mobility</a:t>
            </a:r>
            <a:endParaRPr sz="2300">
              <a:latin typeface="Calibri"/>
              <a:cs typeface="Calibri"/>
            </a:endParaRPr>
          </a:p>
          <a:p>
            <a:pPr marL="419734" indent="-407034">
              <a:lnSpc>
                <a:spcPct val="100000"/>
              </a:lnSpc>
              <a:spcBef>
                <a:spcPts val="325"/>
              </a:spcBef>
              <a:buClr>
                <a:srgbClr val="000000"/>
              </a:buClr>
              <a:buSzPct val="121739"/>
              <a:buFont typeface="Arial"/>
              <a:buChar char="•"/>
              <a:tabLst>
                <a:tab pos="419734" algn="l"/>
              </a:tabLst>
            </a:pPr>
            <a:r>
              <a:rPr dirty="0" sz="2300">
                <a:solidFill>
                  <a:srgbClr val="C00000"/>
                </a:solidFill>
                <a:latin typeface="Calibri"/>
                <a:cs typeface="Calibri"/>
              </a:rPr>
              <a:t>Development</a:t>
            </a:r>
            <a:r>
              <a:rPr dirty="0" sz="2300" spc="-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C00000"/>
                </a:solidFill>
                <a:latin typeface="Calibri"/>
                <a:cs typeface="Calibri"/>
              </a:rPr>
              <a:t>and </a:t>
            </a:r>
            <a:r>
              <a:rPr dirty="0" sz="2300" spc="-20">
                <a:solidFill>
                  <a:srgbClr val="C00000"/>
                </a:solidFill>
                <a:latin typeface="Calibri"/>
                <a:cs typeface="Calibri"/>
              </a:rPr>
              <a:t>test</a:t>
            </a:r>
            <a:endParaRPr sz="2300">
              <a:latin typeface="Calibri"/>
              <a:cs typeface="Calibri"/>
            </a:endParaRPr>
          </a:p>
          <a:p>
            <a:pPr marL="419734" marR="328295" indent="-407670">
              <a:lnSpc>
                <a:spcPts val="2480"/>
              </a:lnSpc>
              <a:spcBef>
                <a:spcPts val="645"/>
              </a:spcBef>
              <a:buClr>
                <a:srgbClr val="000000"/>
              </a:buClr>
              <a:buSzPct val="121739"/>
              <a:buFont typeface="Arial"/>
              <a:buChar char="•"/>
              <a:tabLst>
                <a:tab pos="419734" algn="l"/>
              </a:tabLst>
            </a:pPr>
            <a:r>
              <a:rPr dirty="0" sz="2300">
                <a:solidFill>
                  <a:srgbClr val="6F2F9F"/>
                </a:solidFill>
                <a:latin typeface="Calibri"/>
                <a:cs typeface="Calibri"/>
              </a:rPr>
              <a:t>Business</a:t>
            </a:r>
            <a:r>
              <a:rPr dirty="0" sz="2300" spc="-45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300" spc="-10">
                <a:solidFill>
                  <a:srgbClr val="6F2F9F"/>
                </a:solidFill>
                <a:latin typeface="Calibri"/>
                <a:cs typeface="Calibri"/>
              </a:rPr>
              <a:t>Continuity Management</a:t>
            </a:r>
            <a:endParaRPr sz="2300">
              <a:latin typeface="Calibri"/>
              <a:cs typeface="Calibri"/>
            </a:endParaRPr>
          </a:p>
          <a:p>
            <a:pPr marL="419734" indent="-407034">
              <a:lnSpc>
                <a:spcPct val="100000"/>
              </a:lnSpc>
              <a:spcBef>
                <a:spcPts val="290"/>
              </a:spcBef>
              <a:buClr>
                <a:srgbClr val="000000"/>
              </a:buClr>
              <a:buSzPct val="121739"/>
              <a:buFont typeface="Arial"/>
              <a:buChar char="•"/>
              <a:tabLst>
                <a:tab pos="419734" algn="l"/>
              </a:tabLst>
            </a:pPr>
            <a:r>
              <a:rPr dirty="0" sz="2300">
                <a:solidFill>
                  <a:srgbClr val="385522"/>
                </a:solidFill>
                <a:latin typeface="Calibri"/>
                <a:cs typeface="Calibri"/>
              </a:rPr>
              <a:t>Support</a:t>
            </a:r>
            <a:r>
              <a:rPr dirty="0" sz="2300" spc="-40">
                <a:solidFill>
                  <a:srgbClr val="385522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385522"/>
                </a:solidFill>
                <a:latin typeface="Calibri"/>
                <a:cs typeface="Calibri"/>
              </a:rPr>
              <a:t>OS</a:t>
            </a:r>
            <a:r>
              <a:rPr dirty="0" sz="2300" spc="-60">
                <a:solidFill>
                  <a:srgbClr val="385522"/>
                </a:solidFill>
                <a:latin typeface="Calibri"/>
                <a:cs typeface="Calibri"/>
              </a:rPr>
              <a:t> </a:t>
            </a:r>
            <a:r>
              <a:rPr dirty="0" sz="2300" spc="-10">
                <a:solidFill>
                  <a:srgbClr val="385522"/>
                </a:solidFill>
                <a:latin typeface="Calibri"/>
                <a:cs typeface="Calibri"/>
              </a:rPr>
              <a:t>diversity</a:t>
            </a:r>
            <a:endParaRPr sz="2300">
              <a:latin typeface="Calibri"/>
              <a:cs typeface="Calibri"/>
            </a:endParaRPr>
          </a:p>
          <a:p>
            <a:pPr marL="419734" indent="-407034">
              <a:lnSpc>
                <a:spcPct val="100000"/>
              </a:lnSpc>
              <a:spcBef>
                <a:spcPts val="325"/>
              </a:spcBef>
              <a:buSzPct val="121739"/>
              <a:buFont typeface="Arial"/>
              <a:buChar char="•"/>
              <a:tabLst>
                <a:tab pos="419734" algn="l"/>
              </a:tabLst>
            </a:pPr>
            <a:r>
              <a:rPr dirty="0" sz="2300" spc="-10">
                <a:latin typeface="Calibri"/>
                <a:cs typeface="Calibri"/>
              </a:rPr>
              <a:t>Security/Isolation</a:t>
            </a:r>
            <a:endParaRPr sz="2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75"/>
              </a:spcBef>
              <a:buFont typeface="Arial"/>
              <a:buChar char="•"/>
            </a:pPr>
            <a:endParaRPr sz="2300">
              <a:latin typeface="Calibri"/>
              <a:cs typeface="Calibri"/>
            </a:endParaRPr>
          </a:p>
          <a:p>
            <a:pPr marL="419734" marR="62230" indent="-407670">
              <a:lnSpc>
                <a:spcPts val="2480"/>
              </a:lnSpc>
              <a:spcBef>
                <a:spcPts val="5"/>
              </a:spcBef>
              <a:buClr>
                <a:srgbClr val="000000"/>
              </a:buClr>
              <a:buSzPct val="121739"/>
              <a:buFont typeface="Arial"/>
              <a:buChar char="•"/>
              <a:tabLst>
                <a:tab pos="419734" algn="l"/>
              </a:tabLst>
            </a:pPr>
            <a:r>
              <a:rPr dirty="0" sz="2300">
                <a:solidFill>
                  <a:srgbClr val="006FC0"/>
                </a:solidFill>
                <a:latin typeface="Calibri"/>
                <a:cs typeface="Calibri"/>
              </a:rPr>
              <a:t>High</a:t>
            </a:r>
            <a:r>
              <a:rPr dirty="0" sz="2300" spc="-6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300" spc="-10">
                <a:solidFill>
                  <a:srgbClr val="006FC0"/>
                </a:solidFill>
                <a:latin typeface="Calibri"/>
                <a:cs typeface="Calibri"/>
              </a:rPr>
              <a:t>Availability/Load Balancing</a:t>
            </a:r>
            <a:endParaRPr sz="2300">
              <a:latin typeface="Calibri"/>
              <a:cs typeface="Calibri"/>
            </a:endParaRPr>
          </a:p>
          <a:p>
            <a:pPr marL="419734" indent="-407034">
              <a:lnSpc>
                <a:spcPct val="100000"/>
              </a:lnSpc>
              <a:spcBef>
                <a:spcPts val="290"/>
              </a:spcBef>
              <a:buClr>
                <a:srgbClr val="000000"/>
              </a:buClr>
              <a:buSzPct val="121739"/>
              <a:buFont typeface="Arial"/>
              <a:buChar char="•"/>
              <a:tabLst>
                <a:tab pos="419734" algn="l"/>
              </a:tabLst>
            </a:pPr>
            <a:r>
              <a:rPr dirty="0" sz="2300">
                <a:solidFill>
                  <a:srgbClr val="C00000"/>
                </a:solidFill>
                <a:latin typeface="Calibri"/>
                <a:cs typeface="Calibri"/>
              </a:rPr>
              <a:t>Rapid</a:t>
            </a:r>
            <a:r>
              <a:rPr dirty="0" sz="2300" spc="-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300" spc="-10">
                <a:solidFill>
                  <a:srgbClr val="C00000"/>
                </a:solidFill>
                <a:latin typeface="Calibri"/>
                <a:cs typeface="Calibri"/>
              </a:rPr>
              <a:t>provisioning</a:t>
            </a:r>
            <a:endParaRPr sz="2300">
              <a:latin typeface="Calibri"/>
              <a:cs typeface="Calibri"/>
            </a:endParaRPr>
          </a:p>
          <a:p>
            <a:pPr marL="419734" indent="-407034">
              <a:lnSpc>
                <a:spcPct val="100000"/>
              </a:lnSpc>
              <a:spcBef>
                <a:spcPts val="325"/>
              </a:spcBef>
              <a:buClr>
                <a:srgbClr val="000000"/>
              </a:buClr>
              <a:buSzPct val="121739"/>
              <a:buFont typeface="Arial"/>
              <a:buChar char="•"/>
              <a:tabLst>
                <a:tab pos="419734" algn="l"/>
              </a:tabLst>
            </a:pPr>
            <a:r>
              <a:rPr dirty="0" sz="2300" spc="-10">
                <a:solidFill>
                  <a:srgbClr val="6F2F9F"/>
                </a:solidFill>
                <a:latin typeface="Calibri"/>
                <a:cs typeface="Calibri"/>
              </a:rPr>
              <a:t>Encapsulation</a:t>
            </a:r>
            <a:endParaRPr sz="2300">
              <a:latin typeface="Calibri"/>
              <a:cs typeface="Calibri"/>
            </a:endParaRPr>
          </a:p>
          <a:p>
            <a:pPr marL="419734" indent="-407034">
              <a:lnSpc>
                <a:spcPct val="100000"/>
              </a:lnSpc>
              <a:spcBef>
                <a:spcPts val="1895"/>
              </a:spcBef>
              <a:buClr>
                <a:srgbClr val="000000"/>
              </a:buClr>
              <a:buSzPct val="121739"/>
              <a:buFont typeface="Arial"/>
              <a:buChar char="•"/>
              <a:tabLst>
                <a:tab pos="419734" algn="l"/>
              </a:tabLst>
            </a:pPr>
            <a:r>
              <a:rPr dirty="0" sz="2300">
                <a:solidFill>
                  <a:srgbClr val="385522"/>
                </a:solidFill>
                <a:latin typeface="Calibri"/>
                <a:cs typeface="Calibri"/>
              </a:rPr>
              <a:t>Lower </a:t>
            </a:r>
            <a:r>
              <a:rPr dirty="0" sz="2300" spc="-20">
                <a:solidFill>
                  <a:srgbClr val="385522"/>
                </a:solidFill>
                <a:latin typeface="Calibri"/>
                <a:cs typeface="Calibri"/>
              </a:rPr>
              <a:t>Costs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145870" y="2631948"/>
            <a:ext cx="432434" cy="292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190"/>
              </a:lnSpc>
            </a:pPr>
            <a:r>
              <a:rPr dirty="0" sz="2300" spc="-25">
                <a:solidFill>
                  <a:srgbClr val="C00000"/>
                </a:solidFill>
                <a:latin typeface="Calibri"/>
                <a:cs typeface="Calibri"/>
              </a:rPr>
              <a:t>dev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729216" y="2029967"/>
            <a:ext cx="2054860" cy="1153795"/>
            <a:chOff x="9729216" y="2029967"/>
            <a:chExt cx="2054860" cy="1153795"/>
          </a:xfrm>
        </p:grpSpPr>
        <p:pic>
          <p:nvPicPr>
            <p:cNvPr id="8" name="object 8" descr="blue 3d disc with glow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88980" y="2484119"/>
              <a:ext cx="894587" cy="541020"/>
            </a:xfrm>
            <a:prstGeom prst="rect">
              <a:avLst/>
            </a:prstGeom>
          </p:spPr>
        </p:pic>
        <p:pic>
          <p:nvPicPr>
            <p:cNvPr id="9" name="object 9" descr="Host Integration Server (HIS) sm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49000" y="2029967"/>
              <a:ext cx="626364" cy="882396"/>
            </a:xfrm>
            <a:prstGeom prst="rect">
              <a:avLst/>
            </a:prstGeom>
          </p:spPr>
        </p:pic>
        <p:pic>
          <p:nvPicPr>
            <p:cNvPr id="10" name="object 10" descr="sm yellow straight down arrow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91572" y="2273807"/>
              <a:ext cx="801624" cy="565403"/>
            </a:xfrm>
            <a:prstGeom prst="rect">
              <a:avLst/>
            </a:prstGeom>
          </p:spPr>
        </p:pic>
        <p:pic>
          <p:nvPicPr>
            <p:cNvPr id="11" name="object 11" descr="blue 3d disc with glow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729216" y="2474975"/>
              <a:ext cx="489203" cy="306324"/>
            </a:xfrm>
            <a:prstGeom prst="rect">
              <a:avLst/>
            </a:prstGeom>
          </p:spPr>
        </p:pic>
        <p:pic>
          <p:nvPicPr>
            <p:cNvPr id="12" name="object 12" descr="Server sm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34372" y="2285999"/>
              <a:ext cx="288035" cy="411479"/>
            </a:xfrm>
            <a:prstGeom prst="rect">
              <a:avLst/>
            </a:prstGeom>
          </p:spPr>
        </p:pic>
        <p:pic>
          <p:nvPicPr>
            <p:cNvPr id="13" name="object 13" descr="blue 3d disc with glow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66604" y="2511551"/>
              <a:ext cx="489203" cy="306324"/>
            </a:xfrm>
            <a:prstGeom prst="rect">
              <a:avLst/>
            </a:prstGeom>
          </p:spPr>
        </p:pic>
        <p:pic>
          <p:nvPicPr>
            <p:cNvPr id="14" name="object 14" descr="Server sm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282428" y="2321051"/>
              <a:ext cx="288035" cy="413003"/>
            </a:xfrm>
            <a:prstGeom prst="rect">
              <a:avLst/>
            </a:prstGeom>
          </p:spPr>
        </p:pic>
        <p:pic>
          <p:nvPicPr>
            <p:cNvPr id="15" name="object 15" descr="blue 3d disc with glow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32720" y="2877311"/>
              <a:ext cx="489203" cy="306324"/>
            </a:xfrm>
            <a:prstGeom prst="rect">
              <a:avLst/>
            </a:prstGeom>
          </p:spPr>
        </p:pic>
        <p:pic>
          <p:nvPicPr>
            <p:cNvPr id="16" name="object 16" descr="Server sm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37876" y="2680715"/>
              <a:ext cx="288035" cy="409955"/>
            </a:xfrm>
            <a:prstGeom prst="rect">
              <a:avLst/>
            </a:prstGeom>
          </p:spPr>
        </p:pic>
        <p:pic>
          <p:nvPicPr>
            <p:cNvPr id="17" name="object 17" descr="blue 3d disc with glow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75520" y="2772155"/>
              <a:ext cx="489203" cy="307848"/>
            </a:xfrm>
            <a:prstGeom prst="rect">
              <a:avLst/>
            </a:prstGeom>
          </p:spPr>
        </p:pic>
        <p:pic>
          <p:nvPicPr>
            <p:cNvPr id="18" name="object 18" descr="Server sm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980676" y="2575559"/>
              <a:ext cx="288035" cy="411479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1623699" y="3221482"/>
            <a:ext cx="3282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300" spc="-1220">
                <a:solidFill>
                  <a:srgbClr val="6F2F9F"/>
                </a:solidFill>
                <a:latin typeface="Calibri"/>
                <a:cs typeface="Calibri"/>
              </a:rPr>
              <a:t>n</a:t>
            </a:r>
            <a:r>
              <a:rPr dirty="0" baseline="-40509" sz="3600" spc="-540">
                <a:latin typeface="Lucida Sans Unicode"/>
                <a:cs typeface="Lucida Sans Unicode"/>
              </a:rPr>
              <a:t>n</a:t>
            </a:r>
            <a:r>
              <a:rPr dirty="0" sz="2300" spc="-15">
                <a:solidFill>
                  <a:srgbClr val="6F2F9F"/>
                </a:solidFill>
                <a:latin typeface="Calibri"/>
                <a:cs typeface="Calibri"/>
              </a:rPr>
              <a:t>t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744456" y="3038627"/>
            <a:ext cx="1920875" cy="13893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30555">
              <a:lnSpc>
                <a:spcPts val="2190"/>
              </a:lnSpc>
            </a:pPr>
            <a:r>
              <a:rPr dirty="0" sz="2300" spc="-10">
                <a:solidFill>
                  <a:srgbClr val="6F2F9F"/>
                </a:solidFill>
                <a:latin typeface="Calibri"/>
                <a:cs typeface="Calibri"/>
              </a:rPr>
              <a:t>physical</a:t>
            </a:r>
            <a:endParaRPr sz="2300">
              <a:latin typeface="Calibri"/>
              <a:cs typeface="Calibri"/>
            </a:endParaRPr>
          </a:p>
          <a:p>
            <a:pPr marL="90805" indent="-91440">
              <a:lnSpc>
                <a:spcPct val="52700"/>
              </a:lnSpc>
              <a:spcBef>
                <a:spcPts val="2465"/>
              </a:spcBef>
            </a:pPr>
            <a:r>
              <a:rPr dirty="0" sz="2400">
                <a:latin typeface="Lucida Sans Unicode"/>
                <a:cs typeface="Lucida Sans Unicode"/>
              </a:rPr>
              <a:t>Con</a:t>
            </a:r>
            <a:r>
              <a:rPr dirty="0" sz="2400" spc="-1210">
                <a:latin typeface="Lucida Sans Unicode"/>
                <a:cs typeface="Lucida Sans Unicode"/>
              </a:rPr>
              <a:t>s</a:t>
            </a:r>
            <a:r>
              <a:rPr dirty="0" baseline="42270" sz="3450" spc="7">
                <a:solidFill>
                  <a:srgbClr val="6F2F9F"/>
                </a:solidFill>
                <a:latin typeface="Calibri"/>
                <a:cs typeface="Calibri"/>
              </a:rPr>
              <a:t>e</a:t>
            </a:r>
            <a:r>
              <a:rPr dirty="0" baseline="42270" sz="3450" spc="-1739">
                <a:solidFill>
                  <a:srgbClr val="6F2F9F"/>
                </a:solidFill>
                <a:latin typeface="Calibri"/>
                <a:cs typeface="Calibri"/>
              </a:rPr>
              <a:t>n</a:t>
            </a:r>
            <a:r>
              <a:rPr dirty="0" sz="2400" spc="-380">
                <a:latin typeface="Lucida Sans Unicode"/>
                <a:cs typeface="Lucida Sans Unicode"/>
              </a:rPr>
              <a:t>o</a:t>
            </a:r>
            <a:r>
              <a:rPr dirty="0" baseline="42270" sz="3450" spc="-975">
                <a:solidFill>
                  <a:srgbClr val="6F2F9F"/>
                </a:solidFill>
                <a:latin typeface="Calibri"/>
                <a:cs typeface="Calibri"/>
              </a:rPr>
              <a:t>v</a:t>
            </a:r>
            <a:r>
              <a:rPr dirty="0" sz="2400">
                <a:latin typeface="Lucida Sans Unicode"/>
                <a:cs typeface="Lucida Sans Unicode"/>
              </a:rPr>
              <a:t>l</a:t>
            </a:r>
            <a:r>
              <a:rPr dirty="0" sz="2400" spc="-640">
                <a:latin typeface="Lucida Sans Unicode"/>
                <a:cs typeface="Lucida Sans Unicode"/>
              </a:rPr>
              <a:t>i</a:t>
            </a:r>
            <a:r>
              <a:rPr dirty="0" baseline="42270" sz="3450">
                <a:solidFill>
                  <a:srgbClr val="6F2F9F"/>
                </a:solidFill>
                <a:latin typeface="Calibri"/>
                <a:cs typeface="Calibri"/>
              </a:rPr>
              <a:t>i</a:t>
            </a:r>
            <a:r>
              <a:rPr dirty="0" baseline="42270" sz="3450" spc="-1200">
                <a:solidFill>
                  <a:srgbClr val="6F2F9F"/>
                </a:solidFill>
                <a:latin typeface="Calibri"/>
                <a:cs typeface="Calibri"/>
              </a:rPr>
              <a:t>r</a:t>
            </a:r>
            <a:r>
              <a:rPr dirty="0" sz="2400" spc="-775">
                <a:latin typeface="Lucida Sans Unicode"/>
                <a:cs typeface="Lucida Sans Unicode"/>
              </a:rPr>
              <a:t>d</a:t>
            </a:r>
            <a:r>
              <a:rPr dirty="0" baseline="42270" sz="3450" spc="-600">
                <a:solidFill>
                  <a:srgbClr val="6F2F9F"/>
                </a:solidFill>
                <a:latin typeface="Calibri"/>
                <a:cs typeface="Calibri"/>
              </a:rPr>
              <a:t>o</a:t>
            </a:r>
            <a:r>
              <a:rPr dirty="0" sz="2400" spc="-1005">
                <a:latin typeface="Lucida Sans Unicode"/>
                <a:cs typeface="Lucida Sans Unicode"/>
              </a:rPr>
              <a:t>a</a:t>
            </a:r>
            <a:r>
              <a:rPr dirty="0" baseline="42270" sz="3450">
                <a:solidFill>
                  <a:srgbClr val="6F2F9F"/>
                </a:solidFill>
                <a:latin typeface="Calibri"/>
                <a:cs typeface="Calibri"/>
              </a:rPr>
              <a:t>n</a:t>
            </a:r>
            <a:r>
              <a:rPr dirty="0" sz="2400" spc="-894">
                <a:latin typeface="Lucida Sans Unicode"/>
                <a:cs typeface="Lucida Sans Unicode"/>
              </a:rPr>
              <a:t>t</a:t>
            </a:r>
            <a:r>
              <a:rPr dirty="0" baseline="42270" sz="3450" spc="-1455">
                <a:solidFill>
                  <a:srgbClr val="6F2F9F"/>
                </a:solidFill>
                <a:latin typeface="Calibri"/>
                <a:cs typeface="Calibri"/>
              </a:rPr>
              <a:t>m</a:t>
            </a:r>
            <a:r>
              <a:rPr dirty="0" sz="2400">
                <a:latin typeface="Lucida Sans Unicode"/>
                <a:cs typeface="Lucida Sans Unicode"/>
              </a:rPr>
              <a:t>i</a:t>
            </a:r>
            <a:r>
              <a:rPr dirty="0" sz="2400" spc="-1130">
                <a:latin typeface="Lucida Sans Unicode"/>
                <a:cs typeface="Lucida Sans Unicode"/>
              </a:rPr>
              <a:t>o</a:t>
            </a:r>
            <a:r>
              <a:rPr dirty="0" baseline="42270" sz="3450">
                <a:solidFill>
                  <a:srgbClr val="6F2F9F"/>
                </a:solidFill>
                <a:latin typeface="Calibri"/>
                <a:cs typeface="Calibri"/>
              </a:rPr>
              <a:t>e</a:t>
            </a:r>
            <a:r>
              <a:rPr dirty="0" baseline="42270" sz="3450" spc="-37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300" spc="-25">
                <a:solidFill>
                  <a:srgbClr val="385522"/>
                </a:solidFill>
                <a:latin typeface="Calibri"/>
                <a:cs typeface="Calibri"/>
              </a:rPr>
              <a:t>h/w</a:t>
            </a:r>
            <a:endParaRPr sz="2300">
              <a:latin typeface="Calibri"/>
              <a:cs typeface="Calibri"/>
            </a:endParaRPr>
          </a:p>
          <a:p>
            <a:pPr marL="640715">
              <a:lnSpc>
                <a:spcPct val="100000"/>
              </a:lnSpc>
              <a:spcBef>
                <a:spcPts val="440"/>
              </a:spcBef>
            </a:pPr>
            <a:r>
              <a:rPr dirty="0" sz="2300" spc="-25">
                <a:latin typeface="Calibri"/>
                <a:cs typeface="Calibri"/>
              </a:rPr>
              <a:t>and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544811" y="2828544"/>
            <a:ext cx="2089785" cy="1568450"/>
            <a:chOff x="9544811" y="2828544"/>
            <a:chExt cx="2089785" cy="1568450"/>
          </a:xfrm>
        </p:grpSpPr>
        <p:pic>
          <p:nvPicPr>
            <p:cNvPr id="22" name="object 22" descr="3D Oval disc teal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544811" y="3148584"/>
              <a:ext cx="2089403" cy="1248156"/>
            </a:xfrm>
            <a:prstGeom prst="rect">
              <a:avLst/>
            </a:prstGeom>
          </p:spPr>
        </p:pic>
        <p:pic>
          <p:nvPicPr>
            <p:cNvPr id="23" name="object 23" descr="BizTalk Sm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027663" y="3107436"/>
              <a:ext cx="426720" cy="702563"/>
            </a:xfrm>
            <a:prstGeom prst="rect">
              <a:avLst/>
            </a:prstGeom>
          </p:spPr>
        </p:pic>
        <p:pic>
          <p:nvPicPr>
            <p:cNvPr id="24" name="object 24" descr="Content Management Server (CMS) Sm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024871" y="2828544"/>
              <a:ext cx="435864" cy="690372"/>
            </a:xfrm>
            <a:prstGeom prst="rect">
              <a:avLst/>
            </a:prstGeom>
          </p:spPr>
        </p:pic>
        <p:pic>
          <p:nvPicPr>
            <p:cNvPr id="25" name="object 25" descr="SQL sm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523219" y="2872740"/>
              <a:ext cx="443483" cy="704088"/>
            </a:xfrm>
            <a:prstGeom prst="rect">
              <a:avLst/>
            </a:prstGeom>
          </p:spPr>
        </p:pic>
        <p:pic>
          <p:nvPicPr>
            <p:cNvPr id="26" name="object 26" descr="Server and XML Web Service sm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088879" y="3488436"/>
              <a:ext cx="454151" cy="746759"/>
            </a:xfrm>
            <a:prstGeom prst="rect">
              <a:avLst/>
            </a:prstGeom>
          </p:spPr>
        </p:pic>
        <p:pic>
          <p:nvPicPr>
            <p:cNvPr id="27" name="object 27" descr="Mobile Information Server sm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693908" y="3480816"/>
              <a:ext cx="438911" cy="702564"/>
            </a:xfrm>
            <a:prstGeom prst="rect">
              <a:avLst/>
            </a:prstGeom>
          </p:spPr>
        </p:pic>
        <p:pic>
          <p:nvPicPr>
            <p:cNvPr id="28" name="object 28" descr="ISAS - firewall sm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651491" y="3223260"/>
              <a:ext cx="416051" cy="70408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829799" y="3133344"/>
              <a:ext cx="1197102" cy="694182"/>
            </a:xfrm>
            <a:prstGeom prst="rect">
              <a:avLst/>
            </a:prstGeom>
          </p:spPr>
        </p:pic>
      </p:grpSp>
      <p:sp>
        <p:nvSpPr>
          <p:cNvPr id="4" name="object 4"/>
          <p:cNvSpPr txBox="1"/>
          <p:nvPr/>
        </p:nvSpPr>
        <p:spPr>
          <a:xfrm>
            <a:off x="4745482" y="4329429"/>
            <a:ext cx="1823085" cy="37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>
                <a:latin typeface="Calibri"/>
                <a:cs typeface="Calibri"/>
              </a:rPr>
              <a:t>VMs</a:t>
            </a:r>
            <a:r>
              <a:rPr dirty="0" sz="2300" spc="-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from</a:t>
            </a:r>
            <a:r>
              <a:rPr dirty="0" sz="2300" spc="-15">
                <a:latin typeface="Calibri"/>
                <a:cs typeface="Calibri"/>
              </a:rPr>
              <a:t> </a:t>
            </a:r>
            <a:r>
              <a:rPr dirty="0" sz="2300" spc="-25">
                <a:latin typeface="Calibri"/>
                <a:cs typeface="Calibri"/>
              </a:rPr>
              <a:t>H/W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338573" y="1449781"/>
            <a:ext cx="7672070" cy="54260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19100" indent="-406400">
              <a:lnSpc>
                <a:spcPts val="2485"/>
              </a:lnSpc>
              <a:spcBef>
                <a:spcPts val="105"/>
              </a:spcBef>
              <a:buSzPct val="121739"/>
              <a:buFont typeface="Arial"/>
              <a:buChar char="•"/>
              <a:tabLst>
                <a:tab pos="419100" algn="l"/>
              </a:tabLst>
            </a:pPr>
            <a:r>
              <a:rPr dirty="0" sz="2300">
                <a:latin typeface="Calibri"/>
                <a:cs typeface="Calibri"/>
              </a:rPr>
              <a:t>Increase</a:t>
            </a:r>
            <a:r>
              <a:rPr dirty="0" sz="2300" spc="-1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hardware</a:t>
            </a:r>
            <a:r>
              <a:rPr dirty="0" sz="2300" spc="-1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utilization</a:t>
            </a:r>
            <a:r>
              <a:rPr dirty="0" sz="2300" spc="-1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by</a:t>
            </a:r>
            <a:r>
              <a:rPr dirty="0" sz="2300" spc="-1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running</a:t>
            </a:r>
            <a:r>
              <a:rPr dirty="0" sz="2300" spc="-15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multiple</a:t>
            </a:r>
            <a:endParaRPr sz="2300">
              <a:latin typeface="Calibri"/>
              <a:cs typeface="Calibri"/>
            </a:endParaRPr>
          </a:p>
          <a:p>
            <a:pPr marL="419100">
              <a:lnSpc>
                <a:spcPts val="2485"/>
              </a:lnSpc>
            </a:pPr>
            <a:r>
              <a:rPr dirty="0" sz="2300">
                <a:latin typeface="Calibri"/>
                <a:cs typeface="Calibri"/>
              </a:rPr>
              <a:t>applications</a:t>
            </a:r>
            <a:r>
              <a:rPr dirty="0" sz="2300" spc="-2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in</a:t>
            </a:r>
            <a:r>
              <a:rPr dirty="0" sz="2300" spc="-2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isolation</a:t>
            </a:r>
            <a:r>
              <a:rPr dirty="0" sz="2300" spc="-2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on</a:t>
            </a:r>
            <a:r>
              <a:rPr dirty="0" sz="2300" spc="-2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same</a:t>
            </a:r>
            <a:r>
              <a:rPr dirty="0" sz="2300" spc="-1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physical</a:t>
            </a:r>
            <a:r>
              <a:rPr dirty="0" sz="2300" spc="-30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server</a:t>
            </a:r>
            <a:endParaRPr sz="2300">
              <a:latin typeface="Calibri"/>
              <a:cs typeface="Calibri"/>
            </a:endParaRPr>
          </a:p>
          <a:p>
            <a:pPr marL="419100" indent="-406400">
              <a:lnSpc>
                <a:spcPct val="100000"/>
              </a:lnSpc>
              <a:spcBef>
                <a:spcPts val="455"/>
              </a:spcBef>
              <a:buClr>
                <a:srgbClr val="000000"/>
              </a:buClr>
              <a:buSzPct val="121739"/>
              <a:buFont typeface="Arial"/>
              <a:buChar char="•"/>
              <a:tabLst>
                <a:tab pos="419100" algn="l"/>
              </a:tabLst>
            </a:pPr>
            <a:r>
              <a:rPr dirty="0" sz="2300">
                <a:solidFill>
                  <a:srgbClr val="006FC0"/>
                </a:solidFill>
                <a:latin typeface="Calibri"/>
                <a:cs typeface="Calibri"/>
              </a:rPr>
              <a:t>Move</a:t>
            </a:r>
            <a:r>
              <a:rPr dirty="0" sz="2300" spc="-1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006FC0"/>
                </a:solidFill>
                <a:latin typeface="Calibri"/>
                <a:cs typeface="Calibri"/>
              </a:rPr>
              <a:t>applications</a:t>
            </a:r>
            <a:r>
              <a:rPr dirty="0" sz="2300" spc="-1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006FC0"/>
                </a:solidFill>
                <a:latin typeface="Calibri"/>
                <a:cs typeface="Calibri"/>
              </a:rPr>
              <a:t>from</a:t>
            </a:r>
            <a:r>
              <a:rPr dirty="0" sz="2300" spc="-2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006FC0"/>
                </a:solidFill>
                <a:latin typeface="Calibri"/>
                <a:cs typeface="Calibri"/>
              </a:rPr>
              <a:t>one</a:t>
            </a:r>
            <a:r>
              <a:rPr dirty="0" sz="2300" spc="-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006FC0"/>
                </a:solidFill>
                <a:latin typeface="Calibri"/>
                <a:cs typeface="Calibri"/>
              </a:rPr>
              <a:t>server</a:t>
            </a:r>
            <a:r>
              <a:rPr dirty="0" sz="2300" spc="-2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006FC0"/>
                </a:solidFill>
                <a:latin typeface="Calibri"/>
                <a:cs typeface="Calibri"/>
              </a:rPr>
              <a:t>to</a:t>
            </a:r>
            <a:r>
              <a:rPr dirty="0" sz="2300" spc="-1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300" spc="-10">
                <a:solidFill>
                  <a:srgbClr val="006FC0"/>
                </a:solidFill>
                <a:latin typeface="Calibri"/>
                <a:cs typeface="Calibri"/>
              </a:rPr>
              <a:t>another</a:t>
            </a:r>
            <a:endParaRPr sz="2300">
              <a:latin typeface="Calibri"/>
              <a:cs typeface="Calibri"/>
            </a:endParaRPr>
          </a:p>
          <a:p>
            <a:pPr marL="419100" indent="-406400">
              <a:lnSpc>
                <a:spcPct val="100000"/>
              </a:lnSpc>
              <a:spcBef>
                <a:spcPts val="445"/>
              </a:spcBef>
              <a:buClr>
                <a:srgbClr val="000000"/>
              </a:buClr>
              <a:buSzPct val="121739"/>
              <a:buFont typeface="Arial"/>
              <a:buChar char="•"/>
              <a:tabLst>
                <a:tab pos="419100" algn="l"/>
              </a:tabLst>
            </a:pPr>
            <a:r>
              <a:rPr dirty="0" sz="2300">
                <a:solidFill>
                  <a:srgbClr val="C00000"/>
                </a:solidFill>
                <a:latin typeface="Calibri"/>
                <a:cs typeface="Calibri"/>
              </a:rPr>
              <a:t>Easily</a:t>
            </a:r>
            <a:r>
              <a:rPr dirty="0" sz="230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C00000"/>
                </a:solidFill>
                <a:latin typeface="Calibri"/>
                <a:cs typeface="Calibri"/>
              </a:rPr>
              <a:t>provision</a:t>
            </a:r>
            <a:r>
              <a:rPr dirty="0" sz="2300" spc="-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C00000"/>
                </a:solidFill>
                <a:latin typeface="Calibri"/>
                <a:cs typeface="Calibri"/>
              </a:rPr>
              <a:t>virtual</a:t>
            </a:r>
            <a:r>
              <a:rPr dirty="0" sz="2300" spc="-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C00000"/>
                </a:solidFill>
                <a:latin typeface="Calibri"/>
                <a:cs typeface="Calibri"/>
              </a:rPr>
              <a:t>resources</a:t>
            </a:r>
            <a:r>
              <a:rPr dirty="0" sz="2300" spc="-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C00000"/>
                </a:solidFill>
                <a:latin typeface="Calibri"/>
                <a:cs typeface="Calibri"/>
              </a:rPr>
              <a:t>for</a:t>
            </a:r>
            <a:r>
              <a:rPr dirty="0" sz="2300" spc="-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C00000"/>
                </a:solidFill>
                <a:latin typeface="Calibri"/>
                <a:cs typeface="Calibri"/>
              </a:rPr>
              <a:t>test</a:t>
            </a:r>
            <a:r>
              <a:rPr dirty="0" sz="2300" spc="-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300" spc="-25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endParaRPr sz="2300">
              <a:latin typeface="Calibri"/>
              <a:cs typeface="Calibri"/>
            </a:endParaRPr>
          </a:p>
          <a:p>
            <a:pPr marL="419100" indent="-406400">
              <a:lnSpc>
                <a:spcPts val="2485"/>
              </a:lnSpc>
              <a:spcBef>
                <a:spcPts val="445"/>
              </a:spcBef>
              <a:buClr>
                <a:srgbClr val="000000"/>
              </a:buClr>
              <a:buSzPct val="121739"/>
              <a:buFont typeface="Arial"/>
              <a:buChar char="•"/>
              <a:tabLst>
                <a:tab pos="419100" algn="l"/>
              </a:tabLst>
            </a:pPr>
            <a:r>
              <a:rPr dirty="0" sz="2300">
                <a:solidFill>
                  <a:srgbClr val="6F2F9F"/>
                </a:solidFill>
                <a:latin typeface="Calibri"/>
                <a:cs typeface="Calibri"/>
              </a:rPr>
              <a:t>Ability</a:t>
            </a:r>
            <a:r>
              <a:rPr dirty="0" sz="2300" spc="-35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dirty="0" sz="2300" spc="-5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6F2F9F"/>
                </a:solidFill>
                <a:latin typeface="Calibri"/>
                <a:cs typeface="Calibri"/>
              </a:rPr>
              <a:t>granularly</a:t>
            </a:r>
            <a:r>
              <a:rPr dirty="0" sz="2300" spc="-4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6F2F9F"/>
                </a:solidFill>
                <a:latin typeface="Calibri"/>
                <a:cs typeface="Calibri"/>
              </a:rPr>
              <a:t>live-migrate</a:t>
            </a:r>
            <a:r>
              <a:rPr dirty="0" sz="2300" spc="-4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dirty="0" sz="2300" spc="-15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6F2F9F"/>
                </a:solidFill>
                <a:latin typeface="Calibri"/>
                <a:cs typeface="Calibri"/>
              </a:rPr>
              <a:t>VM</a:t>
            </a:r>
            <a:r>
              <a:rPr dirty="0" sz="2300" spc="-25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dirty="0" sz="2300" spc="-10">
                <a:solidFill>
                  <a:srgbClr val="6F2F9F"/>
                </a:solidFill>
                <a:latin typeface="Calibri"/>
                <a:cs typeface="Calibri"/>
              </a:rPr>
              <a:t> other</a:t>
            </a:r>
            <a:endParaRPr sz="2300">
              <a:latin typeface="Calibri"/>
              <a:cs typeface="Calibri"/>
            </a:endParaRPr>
          </a:p>
          <a:p>
            <a:pPr marL="419100">
              <a:lnSpc>
                <a:spcPts val="2485"/>
              </a:lnSpc>
            </a:pPr>
            <a:r>
              <a:rPr dirty="0" sz="2300">
                <a:solidFill>
                  <a:srgbClr val="6F2F9F"/>
                </a:solidFill>
                <a:latin typeface="Calibri"/>
                <a:cs typeface="Calibri"/>
              </a:rPr>
              <a:t>servers</a:t>
            </a:r>
            <a:r>
              <a:rPr dirty="0" sz="2300" spc="-4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6F2F9F"/>
                </a:solidFill>
                <a:latin typeface="Calibri"/>
                <a:cs typeface="Calibri"/>
              </a:rPr>
              <a:t>which</a:t>
            </a:r>
            <a:r>
              <a:rPr dirty="0" sz="2300" spc="-5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6F2F9F"/>
                </a:solidFill>
                <a:latin typeface="Calibri"/>
                <a:cs typeface="Calibri"/>
              </a:rPr>
              <a:t>are</a:t>
            </a:r>
            <a:r>
              <a:rPr dirty="0" sz="2300" spc="-25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6F2F9F"/>
                </a:solidFill>
                <a:latin typeface="Calibri"/>
                <a:cs typeface="Calibri"/>
              </a:rPr>
              <a:t>part</a:t>
            </a:r>
            <a:r>
              <a:rPr dirty="0" sz="2300" spc="-15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dirty="0" sz="2300" spc="-1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dirty="0" sz="2300" spc="-15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6F2F9F"/>
                </a:solidFill>
                <a:latin typeface="Calibri"/>
                <a:cs typeface="Calibri"/>
              </a:rPr>
              <a:t>Business</a:t>
            </a:r>
            <a:r>
              <a:rPr dirty="0" sz="2300" spc="-2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300" spc="-10">
                <a:solidFill>
                  <a:srgbClr val="6F2F9F"/>
                </a:solidFill>
                <a:latin typeface="Calibri"/>
                <a:cs typeface="Calibri"/>
              </a:rPr>
              <a:t>Continuity</a:t>
            </a:r>
            <a:endParaRPr sz="2300">
              <a:latin typeface="Calibri"/>
              <a:cs typeface="Calibri"/>
            </a:endParaRPr>
          </a:p>
          <a:p>
            <a:pPr marL="419100" indent="-406400">
              <a:lnSpc>
                <a:spcPct val="100000"/>
              </a:lnSpc>
              <a:spcBef>
                <a:spcPts val="455"/>
              </a:spcBef>
              <a:buClr>
                <a:srgbClr val="000000"/>
              </a:buClr>
              <a:buSzPct val="121739"/>
              <a:buFont typeface="Arial"/>
              <a:buChar char="•"/>
              <a:tabLst>
                <a:tab pos="419100" algn="l"/>
              </a:tabLst>
            </a:pPr>
            <a:r>
              <a:rPr dirty="0" sz="2300">
                <a:solidFill>
                  <a:srgbClr val="385522"/>
                </a:solidFill>
                <a:latin typeface="Calibri"/>
                <a:cs typeface="Calibri"/>
              </a:rPr>
              <a:t>Can</a:t>
            </a:r>
            <a:r>
              <a:rPr dirty="0" sz="2300" spc="-40">
                <a:solidFill>
                  <a:srgbClr val="385522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385522"/>
                </a:solidFill>
                <a:latin typeface="Calibri"/>
                <a:cs typeface="Calibri"/>
              </a:rPr>
              <a:t>run</a:t>
            </a:r>
            <a:r>
              <a:rPr dirty="0" sz="2300" spc="-40">
                <a:solidFill>
                  <a:srgbClr val="385522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385522"/>
                </a:solidFill>
                <a:latin typeface="Calibri"/>
                <a:cs typeface="Calibri"/>
              </a:rPr>
              <a:t>both</a:t>
            </a:r>
            <a:r>
              <a:rPr dirty="0" sz="2300" spc="-25">
                <a:solidFill>
                  <a:srgbClr val="385522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385522"/>
                </a:solidFill>
                <a:latin typeface="Calibri"/>
                <a:cs typeface="Calibri"/>
              </a:rPr>
              <a:t>Linux</a:t>
            </a:r>
            <a:r>
              <a:rPr dirty="0" sz="2300" spc="-35">
                <a:solidFill>
                  <a:srgbClr val="385522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385522"/>
                </a:solidFill>
                <a:latin typeface="Calibri"/>
                <a:cs typeface="Calibri"/>
              </a:rPr>
              <a:t>and</a:t>
            </a:r>
            <a:r>
              <a:rPr dirty="0" sz="2300" spc="-40">
                <a:solidFill>
                  <a:srgbClr val="385522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385522"/>
                </a:solidFill>
                <a:latin typeface="Calibri"/>
                <a:cs typeface="Calibri"/>
              </a:rPr>
              <a:t>Windows</a:t>
            </a:r>
            <a:r>
              <a:rPr dirty="0" sz="2300" spc="-35">
                <a:solidFill>
                  <a:srgbClr val="385522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385522"/>
                </a:solidFill>
                <a:latin typeface="Calibri"/>
                <a:cs typeface="Calibri"/>
              </a:rPr>
              <a:t>on</a:t>
            </a:r>
            <a:r>
              <a:rPr dirty="0" sz="2300" spc="-30">
                <a:solidFill>
                  <a:srgbClr val="385522"/>
                </a:solidFill>
                <a:latin typeface="Calibri"/>
                <a:cs typeface="Calibri"/>
              </a:rPr>
              <a:t> </a:t>
            </a:r>
            <a:r>
              <a:rPr dirty="0" sz="2300" spc="-20">
                <a:solidFill>
                  <a:srgbClr val="385522"/>
                </a:solidFill>
                <a:latin typeface="Calibri"/>
                <a:cs typeface="Calibri"/>
              </a:rPr>
              <a:t>same</a:t>
            </a:r>
            <a:endParaRPr sz="2300">
              <a:latin typeface="Calibri"/>
              <a:cs typeface="Calibri"/>
            </a:endParaRPr>
          </a:p>
          <a:p>
            <a:pPr marL="419100" indent="-406400">
              <a:lnSpc>
                <a:spcPct val="100000"/>
              </a:lnSpc>
              <a:spcBef>
                <a:spcPts val="345"/>
              </a:spcBef>
              <a:buSzPct val="121739"/>
              <a:buFont typeface="Arial"/>
              <a:buChar char="•"/>
              <a:tabLst>
                <a:tab pos="419100" algn="l"/>
              </a:tabLst>
            </a:pPr>
            <a:r>
              <a:rPr dirty="0" sz="2300">
                <a:latin typeface="Calibri"/>
                <a:cs typeface="Calibri"/>
              </a:rPr>
              <a:t>Hypervisor</a:t>
            </a:r>
            <a:r>
              <a:rPr dirty="0" sz="2300" spc="-8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separates</a:t>
            </a:r>
            <a:r>
              <a:rPr dirty="0" sz="2300" spc="-1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the</a:t>
            </a:r>
            <a:r>
              <a:rPr dirty="0" sz="2300" spc="-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VMs</a:t>
            </a:r>
            <a:r>
              <a:rPr dirty="0" sz="2300" spc="-3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from</a:t>
            </a:r>
            <a:r>
              <a:rPr dirty="0" sz="2300" spc="-15">
                <a:latin typeface="Calibri"/>
                <a:cs typeface="Calibri"/>
              </a:rPr>
              <a:t> </a:t>
            </a:r>
            <a:r>
              <a:rPr dirty="0" sz="2300" spc="5">
                <a:latin typeface="Calibri"/>
                <a:cs typeface="Calibri"/>
              </a:rPr>
              <a:t>ea</a:t>
            </a:r>
            <a:r>
              <a:rPr dirty="0" sz="2300" spc="-555">
                <a:latin typeface="Calibri"/>
                <a:cs typeface="Calibri"/>
              </a:rPr>
              <a:t>c</a:t>
            </a:r>
            <a:r>
              <a:rPr dirty="0" baseline="1157" sz="3600" spc="-2347">
                <a:latin typeface="Lucida Sans Unicode"/>
                <a:cs typeface="Lucida Sans Unicode"/>
              </a:rPr>
              <a:t>W</a:t>
            </a:r>
            <a:r>
              <a:rPr dirty="0" sz="2300" spc="10">
                <a:latin typeface="Calibri"/>
                <a:cs typeface="Calibri"/>
              </a:rPr>
              <a:t>h</a:t>
            </a:r>
            <a:r>
              <a:rPr dirty="0" sz="2300" spc="-5">
                <a:latin typeface="Calibri"/>
                <a:cs typeface="Calibri"/>
              </a:rPr>
              <a:t> </a:t>
            </a:r>
            <a:r>
              <a:rPr dirty="0" sz="2300" spc="-1175">
                <a:latin typeface="Calibri"/>
                <a:cs typeface="Calibri"/>
              </a:rPr>
              <a:t>o</a:t>
            </a:r>
            <a:r>
              <a:rPr dirty="0" baseline="1157" sz="3600" spc="-592">
                <a:latin typeface="Lucida Sans Unicode"/>
                <a:cs typeface="Lucida Sans Unicode"/>
              </a:rPr>
              <a:t>o</a:t>
            </a:r>
            <a:r>
              <a:rPr dirty="0" sz="2300" spc="-420">
                <a:latin typeface="Calibri"/>
                <a:cs typeface="Calibri"/>
              </a:rPr>
              <a:t>t</a:t>
            </a:r>
            <a:r>
              <a:rPr dirty="0" baseline="1157" sz="3600" spc="-877">
                <a:latin typeface="Lucida Sans Unicode"/>
                <a:cs typeface="Lucida Sans Unicode"/>
              </a:rPr>
              <a:t>r</a:t>
            </a:r>
            <a:r>
              <a:rPr dirty="0" sz="2300" spc="-740">
                <a:latin typeface="Calibri"/>
                <a:cs typeface="Calibri"/>
              </a:rPr>
              <a:t>h</a:t>
            </a:r>
            <a:r>
              <a:rPr dirty="0" baseline="1157" sz="3600" spc="-937">
                <a:latin typeface="Lucida Sans Unicode"/>
                <a:cs typeface="Lucida Sans Unicode"/>
              </a:rPr>
              <a:t>k</a:t>
            </a:r>
            <a:r>
              <a:rPr dirty="0" sz="2300" spc="-650">
                <a:latin typeface="Calibri"/>
                <a:cs typeface="Calibri"/>
              </a:rPr>
              <a:t>e</a:t>
            </a:r>
            <a:r>
              <a:rPr dirty="0" baseline="1157" sz="3600" spc="-30">
                <a:latin typeface="Lucida Sans Unicode"/>
                <a:cs typeface="Lucida Sans Unicode"/>
              </a:rPr>
              <a:t>l</a:t>
            </a:r>
            <a:r>
              <a:rPr dirty="0" baseline="1157" sz="3600" spc="-2212">
                <a:latin typeface="Lucida Sans Unicode"/>
                <a:cs typeface="Lucida Sans Unicode"/>
              </a:rPr>
              <a:t>o</a:t>
            </a:r>
            <a:r>
              <a:rPr dirty="0" sz="2300" spc="-20">
                <a:latin typeface="Calibri"/>
                <a:cs typeface="Calibri"/>
              </a:rPr>
              <a:t>r</a:t>
            </a:r>
            <a:r>
              <a:rPr dirty="0" sz="2300" spc="180">
                <a:latin typeface="Calibri"/>
                <a:cs typeface="Calibri"/>
              </a:rPr>
              <a:t> </a:t>
            </a:r>
            <a:r>
              <a:rPr dirty="0" baseline="1157" sz="3600" spc="292">
                <a:latin typeface="Lucida Sans Unicode"/>
                <a:cs typeface="Lucida Sans Unicode"/>
              </a:rPr>
              <a:t>ad</a:t>
            </a:r>
            <a:r>
              <a:rPr dirty="0" baseline="1157" sz="3600" spc="-225">
                <a:latin typeface="Lucida Sans Unicode"/>
                <a:cs typeface="Lucida Sans Unicode"/>
              </a:rPr>
              <a:t> </a:t>
            </a:r>
            <a:r>
              <a:rPr dirty="0" sz="2300" spc="-10">
                <a:latin typeface="Calibri"/>
                <a:cs typeface="Calibri"/>
              </a:rPr>
              <a:t>isolates</a:t>
            </a:r>
            <a:endParaRPr sz="2300">
              <a:latin typeface="Calibri"/>
              <a:cs typeface="Calibri"/>
            </a:endParaRPr>
          </a:p>
          <a:p>
            <a:pPr marL="419100" indent="-406400">
              <a:lnSpc>
                <a:spcPct val="100000"/>
              </a:lnSpc>
              <a:spcBef>
                <a:spcPts val="2630"/>
              </a:spcBef>
              <a:buClr>
                <a:srgbClr val="000000"/>
              </a:buClr>
              <a:buSzPct val="121739"/>
              <a:buFont typeface="Arial"/>
              <a:buChar char="•"/>
              <a:tabLst>
                <a:tab pos="419100" algn="l"/>
              </a:tabLst>
            </a:pPr>
            <a:r>
              <a:rPr dirty="0" sz="2300">
                <a:solidFill>
                  <a:srgbClr val="006FC0"/>
                </a:solidFill>
                <a:latin typeface="Calibri"/>
                <a:cs typeface="Calibri"/>
              </a:rPr>
              <a:t>Ability</a:t>
            </a:r>
            <a:r>
              <a:rPr dirty="0" sz="2300" spc="-3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006FC0"/>
                </a:solidFill>
                <a:latin typeface="Calibri"/>
                <a:cs typeface="Calibri"/>
              </a:rPr>
              <a:t>to</a:t>
            </a:r>
            <a:r>
              <a:rPr dirty="0" sz="2300" spc="-1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006FC0"/>
                </a:solidFill>
                <a:latin typeface="Calibri"/>
                <a:cs typeface="Calibri"/>
              </a:rPr>
              <a:t>live-migrate</a:t>
            </a:r>
            <a:r>
              <a:rPr dirty="0" sz="2300" spc="-4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300" spc="-1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006FC0"/>
                </a:solidFill>
                <a:latin typeface="Calibri"/>
                <a:cs typeface="Calibri"/>
              </a:rPr>
              <a:t>VM</a:t>
            </a:r>
            <a:r>
              <a:rPr dirty="0" sz="2300" spc="-2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006FC0"/>
                </a:solidFill>
                <a:latin typeface="Calibri"/>
                <a:cs typeface="Calibri"/>
              </a:rPr>
              <a:t>to</a:t>
            </a:r>
            <a:r>
              <a:rPr dirty="0" sz="2300" spc="-1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006FC0"/>
                </a:solidFill>
                <a:latin typeface="Calibri"/>
                <a:cs typeface="Calibri"/>
              </a:rPr>
              <a:t>other</a:t>
            </a:r>
            <a:r>
              <a:rPr dirty="0" sz="2300" spc="-1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006FC0"/>
                </a:solidFill>
                <a:latin typeface="Calibri"/>
                <a:cs typeface="Calibri"/>
              </a:rPr>
              <a:t>physical</a:t>
            </a:r>
            <a:r>
              <a:rPr dirty="0" sz="2300" spc="-2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300" spc="-10">
                <a:solidFill>
                  <a:srgbClr val="006FC0"/>
                </a:solidFill>
                <a:latin typeface="Calibri"/>
                <a:cs typeface="Calibri"/>
              </a:rPr>
              <a:t>server</a:t>
            </a:r>
            <a:endParaRPr sz="2300">
              <a:latin typeface="Calibri"/>
              <a:cs typeface="Calibri"/>
            </a:endParaRPr>
          </a:p>
          <a:p>
            <a:pPr marL="419100" indent="-406400">
              <a:lnSpc>
                <a:spcPct val="100000"/>
              </a:lnSpc>
              <a:spcBef>
                <a:spcPts val="2800"/>
              </a:spcBef>
              <a:buClr>
                <a:srgbClr val="000000"/>
              </a:buClr>
              <a:buSzPct val="121739"/>
              <a:buFont typeface="Arial"/>
              <a:buChar char="•"/>
              <a:tabLst>
                <a:tab pos="419100" algn="l"/>
              </a:tabLst>
            </a:pPr>
            <a:r>
              <a:rPr dirty="0" sz="2300">
                <a:solidFill>
                  <a:srgbClr val="C00000"/>
                </a:solidFill>
                <a:latin typeface="Calibri"/>
                <a:cs typeface="Calibri"/>
              </a:rPr>
              <a:t>On</a:t>
            </a:r>
            <a:r>
              <a:rPr dirty="0" sz="23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C00000"/>
                </a:solidFill>
                <a:latin typeface="Calibri"/>
                <a:cs typeface="Calibri"/>
              </a:rPr>
              <a:t>demand</a:t>
            </a:r>
            <a:r>
              <a:rPr dirty="0" sz="2300" spc="-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C00000"/>
                </a:solidFill>
                <a:latin typeface="Calibri"/>
                <a:cs typeface="Calibri"/>
              </a:rPr>
              <a:t>provisioning</a:t>
            </a:r>
            <a:r>
              <a:rPr dirty="0" sz="230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dirty="0" sz="23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C00000"/>
                </a:solidFill>
                <a:latin typeface="Calibri"/>
                <a:cs typeface="Calibri"/>
              </a:rPr>
              <a:t>hardware</a:t>
            </a:r>
            <a:r>
              <a:rPr dirty="0" sz="2300" spc="-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300" spc="-10">
                <a:solidFill>
                  <a:srgbClr val="C00000"/>
                </a:solidFill>
                <a:latin typeface="Calibri"/>
                <a:cs typeface="Calibri"/>
              </a:rPr>
              <a:t>resources</a:t>
            </a:r>
            <a:endParaRPr sz="2300">
              <a:latin typeface="Calibri"/>
              <a:cs typeface="Calibri"/>
            </a:endParaRPr>
          </a:p>
          <a:p>
            <a:pPr marL="419100" indent="-406400">
              <a:lnSpc>
                <a:spcPts val="2485"/>
              </a:lnSpc>
              <a:spcBef>
                <a:spcPts val="445"/>
              </a:spcBef>
              <a:buClr>
                <a:srgbClr val="000000"/>
              </a:buClr>
              <a:buSzPct val="121739"/>
              <a:buFont typeface="Arial"/>
              <a:buChar char="•"/>
              <a:tabLst>
                <a:tab pos="419100" algn="l"/>
              </a:tabLst>
            </a:pPr>
            <a:r>
              <a:rPr dirty="0" sz="230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dirty="0" sz="2300" spc="-35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6F2F9F"/>
                </a:solidFill>
                <a:latin typeface="Calibri"/>
                <a:cs typeface="Calibri"/>
              </a:rPr>
              <a:t>execution</a:t>
            </a:r>
            <a:r>
              <a:rPr dirty="0" sz="2300" spc="-15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6F2F9F"/>
                </a:solidFill>
                <a:latin typeface="Calibri"/>
                <a:cs typeface="Calibri"/>
              </a:rPr>
              <a:t>environment</a:t>
            </a:r>
            <a:r>
              <a:rPr dirty="0" sz="2300" spc="-35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dirty="0" sz="2300" spc="-3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6F2F9F"/>
                </a:solidFill>
                <a:latin typeface="Calibri"/>
                <a:cs typeface="Calibri"/>
              </a:rPr>
              <a:t>an</a:t>
            </a:r>
            <a:r>
              <a:rPr dirty="0" sz="2300" spc="-25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6F2F9F"/>
                </a:solidFill>
                <a:latin typeface="Calibri"/>
                <a:cs typeface="Calibri"/>
              </a:rPr>
              <a:t>application</a:t>
            </a:r>
            <a:r>
              <a:rPr dirty="0" sz="2300" spc="-35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dirty="0" sz="2300" spc="-45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300" spc="-10">
                <a:solidFill>
                  <a:srgbClr val="6F2F9F"/>
                </a:solidFill>
                <a:latin typeface="Calibri"/>
                <a:cs typeface="Calibri"/>
              </a:rPr>
              <a:t>encapsulated</a:t>
            </a:r>
            <a:endParaRPr sz="2300">
              <a:latin typeface="Calibri"/>
              <a:cs typeface="Calibri"/>
            </a:endParaRPr>
          </a:p>
          <a:p>
            <a:pPr marL="419100">
              <a:lnSpc>
                <a:spcPts val="2485"/>
              </a:lnSpc>
            </a:pPr>
            <a:r>
              <a:rPr dirty="0" sz="2300">
                <a:solidFill>
                  <a:srgbClr val="6F2F9F"/>
                </a:solidFill>
                <a:latin typeface="Calibri"/>
                <a:cs typeface="Calibri"/>
              </a:rPr>
              <a:t>within</a:t>
            </a:r>
            <a:r>
              <a:rPr dirty="0" sz="2300" spc="-25">
                <a:solidFill>
                  <a:srgbClr val="6F2F9F"/>
                </a:solidFill>
                <a:latin typeface="Calibri"/>
                <a:cs typeface="Calibri"/>
              </a:rPr>
              <a:t> VM</a:t>
            </a:r>
            <a:endParaRPr sz="2300">
              <a:latin typeface="Calibri"/>
              <a:cs typeface="Calibri"/>
            </a:endParaRPr>
          </a:p>
          <a:p>
            <a:pPr marL="419100" indent="-406400">
              <a:lnSpc>
                <a:spcPct val="100000"/>
              </a:lnSpc>
              <a:spcBef>
                <a:spcPts val="50"/>
              </a:spcBef>
              <a:buClr>
                <a:srgbClr val="000000"/>
              </a:buClr>
              <a:buSzPct val="121739"/>
              <a:buFont typeface="Arial"/>
              <a:buChar char="•"/>
              <a:tabLst>
                <a:tab pos="419100" algn="l"/>
              </a:tabLst>
            </a:pPr>
            <a:r>
              <a:rPr dirty="0" sz="2300">
                <a:solidFill>
                  <a:srgbClr val="385522"/>
                </a:solidFill>
                <a:latin typeface="Calibri"/>
                <a:cs typeface="Calibri"/>
              </a:rPr>
              <a:t>Increased</a:t>
            </a:r>
            <a:r>
              <a:rPr dirty="0" sz="2300" spc="-30">
                <a:solidFill>
                  <a:srgbClr val="385522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385522"/>
                </a:solidFill>
                <a:latin typeface="Calibri"/>
                <a:cs typeface="Calibri"/>
              </a:rPr>
              <a:t>Efficiencies,</a:t>
            </a:r>
            <a:r>
              <a:rPr dirty="0" sz="2300" spc="-35">
                <a:solidFill>
                  <a:srgbClr val="385522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385522"/>
                </a:solidFill>
                <a:latin typeface="Calibri"/>
                <a:cs typeface="Calibri"/>
              </a:rPr>
              <a:t>flexibility</a:t>
            </a:r>
            <a:r>
              <a:rPr dirty="0" sz="2300" spc="-40">
                <a:solidFill>
                  <a:srgbClr val="385522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385522"/>
                </a:solidFill>
                <a:latin typeface="Calibri"/>
                <a:cs typeface="Calibri"/>
              </a:rPr>
              <a:t>and</a:t>
            </a:r>
            <a:r>
              <a:rPr dirty="0" sz="2300" spc="-30">
                <a:solidFill>
                  <a:srgbClr val="385522"/>
                </a:solidFill>
                <a:latin typeface="Calibri"/>
                <a:cs typeface="Calibri"/>
              </a:rPr>
              <a:t> </a:t>
            </a:r>
            <a:r>
              <a:rPr dirty="0" sz="2300" spc="-10">
                <a:solidFill>
                  <a:srgbClr val="385522"/>
                </a:solidFill>
                <a:latin typeface="Calibri"/>
                <a:cs typeface="Calibri"/>
              </a:rPr>
              <a:t>responsiveness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361169" y="4396867"/>
            <a:ext cx="11957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Lucida Sans Unicode"/>
                <a:cs typeface="Lucida Sans Unicode"/>
              </a:rPr>
              <a:t>Mobility</a:t>
            </a:r>
            <a:endParaRPr sz="2400">
              <a:latin typeface="Lucida Sans Unicode"/>
              <a:cs typeface="Lucida Sans Unicode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9156192" y="3092195"/>
            <a:ext cx="2867025" cy="3014980"/>
            <a:chOff x="9156192" y="3092195"/>
            <a:chExt cx="2867025" cy="3014980"/>
          </a:xfrm>
        </p:grpSpPr>
        <p:pic>
          <p:nvPicPr>
            <p:cNvPr id="33" name="object 3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156192" y="3092195"/>
              <a:ext cx="2866644" cy="137159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886188" y="3553967"/>
              <a:ext cx="2135124" cy="255269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069068" y="4165091"/>
              <a:ext cx="1892807" cy="64465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500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500"/>
              </a:spcBef>
            </a:pPr>
            <a:r>
              <a:rPr dirty="0">
                <a:solidFill>
                  <a:srgbClr val="2E5395"/>
                </a:solidFill>
                <a:latin typeface="Arial"/>
                <a:cs typeface="Arial"/>
              </a:rPr>
              <a:t>CLOUD</a:t>
            </a:r>
            <a:r>
              <a:rPr dirty="0" spc="-75">
                <a:solidFill>
                  <a:srgbClr val="2E5395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2E5395"/>
                </a:solidFill>
                <a:latin typeface="Arial"/>
                <a:cs typeface="Arial"/>
              </a:rPr>
              <a:t>COMPUTING</a:t>
            </a:r>
          </a:p>
          <a:p>
            <a:pPr marL="13335">
              <a:lnSpc>
                <a:spcPct val="100000"/>
              </a:lnSpc>
              <a:spcBef>
                <a:spcPts val="40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Compute</a:t>
            </a:r>
            <a:r>
              <a:rPr dirty="0" spc="-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Virtualization</a:t>
            </a:r>
            <a:r>
              <a:rPr dirty="0" spc="-4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: How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is this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 implemented?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54609" y="1301013"/>
            <a:ext cx="11558905" cy="5545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4450" marR="411480">
              <a:lnSpc>
                <a:spcPct val="120000"/>
              </a:lnSpc>
              <a:spcBef>
                <a:spcPts val="100"/>
              </a:spcBef>
            </a:pPr>
            <a:r>
              <a:rPr dirty="0" sz="2200">
                <a:latin typeface="Calibri"/>
                <a:cs typeface="Calibri"/>
              </a:rPr>
              <a:t>Typically,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layer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software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provides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illusion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“real”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machine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multiple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instances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of </a:t>
            </a:r>
            <a:r>
              <a:rPr dirty="0" sz="2200">
                <a:latin typeface="Calibri"/>
                <a:cs typeface="Calibri"/>
              </a:rPr>
              <a:t>“</a:t>
            </a:r>
            <a:r>
              <a:rPr dirty="0" sz="2200" b="1" i="1">
                <a:solidFill>
                  <a:srgbClr val="6F2F9F"/>
                </a:solidFill>
                <a:latin typeface="Calibri"/>
                <a:cs typeface="Calibri"/>
              </a:rPr>
              <a:t>virtual</a:t>
            </a:r>
            <a:r>
              <a:rPr dirty="0" sz="2200" spc="-30" b="1" i="1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200" b="1" i="1">
                <a:solidFill>
                  <a:srgbClr val="6F2F9F"/>
                </a:solidFill>
                <a:latin typeface="Calibri"/>
                <a:cs typeface="Calibri"/>
              </a:rPr>
              <a:t>machines</a:t>
            </a:r>
            <a:r>
              <a:rPr dirty="0" sz="2200" spc="-50" b="1" i="1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traditionally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called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b="1" i="1">
                <a:solidFill>
                  <a:srgbClr val="6F2F9F"/>
                </a:solidFill>
                <a:latin typeface="Calibri"/>
                <a:cs typeface="Calibri"/>
              </a:rPr>
              <a:t>Virtual</a:t>
            </a:r>
            <a:r>
              <a:rPr dirty="0" sz="2200" spc="-30" b="1" i="1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200" b="1" i="1">
                <a:solidFill>
                  <a:srgbClr val="6F2F9F"/>
                </a:solidFill>
                <a:latin typeface="Calibri"/>
                <a:cs typeface="Calibri"/>
              </a:rPr>
              <a:t>Machine</a:t>
            </a:r>
            <a:r>
              <a:rPr dirty="0" sz="2200" spc="-35" b="1" i="1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200" b="1" i="1">
                <a:solidFill>
                  <a:srgbClr val="6F2F9F"/>
                </a:solidFill>
                <a:latin typeface="Calibri"/>
                <a:cs typeface="Calibri"/>
              </a:rPr>
              <a:t>Monitor</a:t>
            </a:r>
            <a:r>
              <a:rPr dirty="0" sz="2200" spc="-50" b="1" i="1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200" b="1" i="1">
                <a:solidFill>
                  <a:srgbClr val="6F2F9F"/>
                </a:solidFill>
                <a:latin typeface="Calibri"/>
                <a:cs typeface="Calibri"/>
              </a:rPr>
              <a:t>(VMM)</a:t>
            </a:r>
            <a:r>
              <a:rPr dirty="0" sz="2200" spc="-5" b="1" i="1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“</a:t>
            </a:r>
            <a:r>
              <a:rPr dirty="0" sz="2200" spc="-10" b="1" i="1">
                <a:solidFill>
                  <a:srgbClr val="6F2F9F"/>
                </a:solidFill>
                <a:latin typeface="Calibri"/>
                <a:cs typeface="Calibri"/>
              </a:rPr>
              <a:t>Hypervisor</a:t>
            </a:r>
            <a:r>
              <a:rPr dirty="0" sz="2200" spc="-10">
                <a:latin typeface="Calibri"/>
                <a:cs typeface="Calibri"/>
              </a:rPr>
              <a:t>”</a:t>
            </a:r>
            <a:endParaRPr sz="2200">
              <a:latin typeface="Calibri"/>
              <a:cs typeface="Calibri"/>
            </a:endParaRPr>
          </a:p>
          <a:p>
            <a:pPr marL="387350" marR="5080" indent="-343535">
              <a:lnSpc>
                <a:spcPct val="120000"/>
              </a:lnSpc>
              <a:buClr>
                <a:srgbClr val="000000"/>
              </a:buClr>
              <a:buSzPct val="81818"/>
              <a:buFont typeface="Arial"/>
              <a:buChar char="•"/>
              <a:tabLst>
                <a:tab pos="387350" algn="l"/>
              </a:tabLst>
            </a:pPr>
            <a:r>
              <a:rPr dirty="0" sz="2200" spc="-25" b="1">
                <a:solidFill>
                  <a:srgbClr val="C00000"/>
                </a:solidFill>
                <a:latin typeface="Calibri"/>
                <a:cs typeface="Calibri"/>
              </a:rPr>
              <a:t>Hardware-</a:t>
            </a:r>
            <a:r>
              <a:rPr dirty="0" sz="2200" b="1">
                <a:solidFill>
                  <a:srgbClr val="C00000"/>
                </a:solidFill>
                <a:latin typeface="Calibri"/>
                <a:cs typeface="Calibri"/>
              </a:rPr>
              <a:t>level</a:t>
            </a:r>
            <a:r>
              <a:rPr dirty="0" sz="2200" spc="2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C00000"/>
                </a:solidFill>
                <a:latin typeface="Calibri"/>
                <a:cs typeface="Calibri"/>
              </a:rPr>
              <a:t>virtualization</a:t>
            </a:r>
            <a:r>
              <a:rPr dirty="0" sz="2200" spc="-1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inserts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VMM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(or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virtualization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layer)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between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real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hardware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traditional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operating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systems.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VMM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directly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interacts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with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Hardware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thus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also </a:t>
            </a:r>
            <a:r>
              <a:rPr dirty="0" sz="2200">
                <a:latin typeface="Calibri"/>
                <a:cs typeface="Calibri"/>
              </a:rPr>
              <a:t>called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Bare</a:t>
            </a:r>
            <a:r>
              <a:rPr dirty="0" sz="2200" spc="-2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Metal</a:t>
            </a:r>
            <a:r>
              <a:rPr dirty="0" sz="2200" spc="-1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VMM</a:t>
            </a:r>
            <a:r>
              <a:rPr dirty="0" sz="2200" spc="-4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or</a:t>
            </a:r>
            <a:r>
              <a:rPr dirty="0" sz="2200" spc="-2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spc="-10" b="1">
                <a:solidFill>
                  <a:srgbClr val="006FC0"/>
                </a:solidFill>
                <a:latin typeface="Calibri"/>
                <a:cs typeface="Calibri"/>
              </a:rPr>
              <a:t>Hypervisor</a:t>
            </a:r>
            <a:r>
              <a:rPr dirty="0" sz="2200" spc="-3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of</a:t>
            </a:r>
            <a:r>
              <a:rPr dirty="0" sz="2200" spc="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385522"/>
                </a:solidFill>
                <a:latin typeface="Calibri"/>
                <a:cs typeface="Calibri"/>
              </a:rPr>
              <a:t>Type</a:t>
            </a:r>
            <a:r>
              <a:rPr dirty="0" sz="2200" spc="-45" b="1">
                <a:solidFill>
                  <a:srgbClr val="385522"/>
                </a:solidFill>
                <a:latin typeface="Calibri"/>
                <a:cs typeface="Calibri"/>
              </a:rPr>
              <a:t> </a:t>
            </a:r>
            <a:r>
              <a:rPr dirty="0" sz="2200" spc="-25" b="1">
                <a:solidFill>
                  <a:srgbClr val="385522"/>
                </a:solidFill>
                <a:latin typeface="Calibri"/>
                <a:cs typeface="Calibri"/>
              </a:rPr>
              <a:t>1</a:t>
            </a:r>
            <a:r>
              <a:rPr dirty="0" sz="2200" spc="-25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ts val="2515"/>
              </a:lnSpc>
              <a:spcBef>
                <a:spcPts val="220"/>
              </a:spcBef>
              <a:buSzPct val="81818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VMM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manages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hardware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resources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computing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system.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Each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time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ts val="2515"/>
              </a:lnSpc>
            </a:pPr>
            <a:r>
              <a:rPr dirty="0" sz="2200">
                <a:latin typeface="Calibri"/>
                <a:cs typeface="Calibri"/>
              </a:rPr>
              <a:t>programs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access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hardware,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VMM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captures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process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10"/>
              </a:spcBef>
              <a:buSzPct val="81818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VMM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acts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traditional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OS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&amp;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leading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three</a:t>
            </a:r>
            <a:r>
              <a:rPr dirty="0" sz="2200" spc="-10">
                <a:latin typeface="Calibri"/>
                <a:cs typeface="Calibri"/>
              </a:rPr>
              <a:t> requirements</a:t>
            </a:r>
            <a:r>
              <a:rPr dirty="0" sz="2200">
                <a:latin typeface="Calibri"/>
                <a:cs typeface="Calibri"/>
              </a:rPr>
              <a:t> for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0">
                <a:latin typeface="Calibri"/>
                <a:cs typeface="Calibri"/>
              </a:rPr>
              <a:t> VMM:</a:t>
            </a:r>
            <a:endParaRPr sz="2200">
              <a:latin typeface="Calibri"/>
              <a:cs typeface="Calibri"/>
            </a:endParaRPr>
          </a:p>
          <a:p>
            <a:pPr lvl="1" marL="725805" marR="4051300" indent="-360045">
              <a:lnSpc>
                <a:spcPct val="110000"/>
              </a:lnSpc>
              <a:spcBef>
                <a:spcPts val="395"/>
              </a:spcBef>
              <a:buSzPct val="81818"/>
              <a:buFont typeface="Arial"/>
              <a:buChar char="•"/>
              <a:tabLst>
                <a:tab pos="725805" algn="l"/>
              </a:tabLst>
            </a:pPr>
            <a:r>
              <a:rPr dirty="0" sz="2200">
                <a:latin typeface="Calibri"/>
                <a:cs typeface="Calibri"/>
              </a:rPr>
              <a:t>VMM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should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provide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environment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programs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is </a:t>
            </a:r>
            <a:r>
              <a:rPr dirty="0" sz="2200">
                <a:latin typeface="Calibri"/>
                <a:cs typeface="Calibri"/>
              </a:rPr>
              <a:t>essentially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identical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original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machine.</a:t>
            </a:r>
            <a:endParaRPr sz="2200">
              <a:latin typeface="Calibri"/>
              <a:cs typeface="Calibri"/>
            </a:endParaRPr>
          </a:p>
          <a:p>
            <a:pPr lvl="1" marL="725805" indent="-360045">
              <a:lnSpc>
                <a:spcPct val="100000"/>
              </a:lnSpc>
              <a:spcBef>
                <a:spcPts val="660"/>
              </a:spcBef>
              <a:buSzPct val="81818"/>
              <a:buFont typeface="Arial"/>
              <a:buChar char="•"/>
              <a:tabLst>
                <a:tab pos="725805" algn="l"/>
              </a:tabLst>
            </a:pPr>
            <a:r>
              <a:rPr dirty="0" sz="2200">
                <a:latin typeface="Calibri"/>
                <a:cs typeface="Calibri"/>
              </a:rPr>
              <a:t>Programs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running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environment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should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show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at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worst,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only</a:t>
            </a:r>
            <a:endParaRPr sz="2200">
              <a:latin typeface="Calibri"/>
              <a:cs typeface="Calibri"/>
            </a:endParaRPr>
          </a:p>
          <a:p>
            <a:pPr marL="725805">
              <a:lnSpc>
                <a:spcPct val="100000"/>
              </a:lnSpc>
              <a:spcBef>
                <a:spcPts val="270"/>
              </a:spcBef>
            </a:pPr>
            <a:r>
              <a:rPr dirty="0" sz="2200">
                <a:latin typeface="Calibri"/>
                <a:cs typeface="Calibri"/>
              </a:rPr>
              <a:t>minor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reduction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performance.</a:t>
            </a:r>
            <a:endParaRPr sz="2200">
              <a:latin typeface="Calibri"/>
              <a:cs typeface="Calibri"/>
            </a:endParaRPr>
          </a:p>
          <a:p>
            <a:pPr lvl="1" marL="789305" indent="-423545">
              <a:lnSpc>
                <a:spcPct val="100000"/>
              </a:lnSpc>
              <a:spcBef>
                <a:spcPts val="670"/>
              </a:spcBef>
              <a:buSzPct val="81818"/>
              <a:buFont typeface="Arial"/>
              <a:buChar char="•"/>
              <a:tabLst>
                <a:tab pos="789305" algn="l"/>
              </a:tabLst>
            </a:pPr>
            <a:r>
              <a:rPr dirty="0" sz="2200">
                <a:latin typeface="Calibri"/>
                <a:cs typeface="Calibri"/>
              </a:rPr>
              <a:t>VMM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should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complete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control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system</a:t>
            </a:r>
            <a:r>
              <a:rPr dirty="0" sz="2200" spc="-10">
                <a:latin typeface="Calibri"/>
                <a:cs typeface="Calibri"/>
              </a:rPr>
              <a:t> resources.</a:t>
            </a:r>
            <a:endParaRPr sz="2200">
              <a:latin typeface="Calibri"/>
              <a:cs typeface="Calibri"/>
            </a:endParaRPr>
          </a:p>
          <a:p>
            <a:pPr marL="365760">
              <a:lnSpc>
                <a:spcPct val="100000"/>
              </a:lnSpc>
              <a:spcBef>
                <a:spcPts val="660"/>
              </a:spcBef>
            </a:pPr>
            <a:r>
              <a:rPr dirty="0" sz="2200">
                <a:latin typeface="Calibri"/>
                <a:cs typeface="Calibri"/>
              </a:rPr>
              <a:t>E.g.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Xen,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VMWare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ESX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server,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IBM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CP/CMS,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Windows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Virtualization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(2008)</a:t>
            </a:r>
            <a:endParaRPr sz="22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160256" y="3124454"/>
          <a:ext cx="2820035" cy="3480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1710"/>
                <a:gridCol w="870585"/>
                <a:gridCol w="866775"/>
              </a:tblGrid>
              <a:tr h="1470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31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10" b="1">
                          <a:solidFill>
                            <a:srgbClr val="385522"/>
                          </a:solidFill>
                          <a:latin typeface="Arial"/>
                          <a:cs typeface="Arial"/>
                        </a:rPr>
                        <a:t>Guest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</a:pPr>
                      <a:r>
                        <a:rPr dirty="0" sz="1400" spc="-25" b="1">
                          <a:solidFill>
                            <a:srgbClr val="385522"/>
                          </a:solidFill>
                          <a:latin typeface="Arial"/>
                          <a:cs typeface="Arial"/>
                        </a:rPr>
                        <a:t>VM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28575">
                      <a:solidFill>
                        <a:srgbClr val="30528F"/>
                      </a:solidFill>
                      <a:prstDash val="solid"/>
                    </a:lnL>
                    <a:lnR w="38100">
                      <a:solidFill>
                        <a:srgbClr val="30528F"/>
                      </a:solidFill>
                      <a:prstDash val="solid"/>
                    </a:lnR>
                    <a:lnT w="28575">
                      <a:solidFill>
                        <a:srgbClr val="30528F"/>
                      </a:solidFill>
                      <a:prstDash val="solid"/>
                    </a:lnT>
                    <a:lnB w="28575">
                      <a:solidFill>
                        <a:srgbClr val="30528F"/>
                      </a:solidFill>
                      <a:prstDash val="solid"/>
                    </a:lnB>
                    <a:solidFill>
                      <a:srgbClr val="F4AF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99720" marR="175260" indent="-117475">
                        <a:lnSpc>
                          <a:spcPct val="100000"/>
                        </a:lnSpc>
                      </a:pPr>
                      <a:r>
                        <a:rPr dirty="0" sz="1400" spc="-10" b="1">
                          <a:solidFill>
                            <a:srgbClr val="385522"/>
                          </a:solidFill>
                          <a:latin typeface="Arial"/>
                          <a:cs typeface="Arial"/>
                        </a:rPr>
                        <a:t>Guest </a:t>
                      </a:r>
                      <a:r>
                        <a:rPr dirty="0" sz="1400" spc="-25" b="1">
                          <a:solidFill>
                            <a:srgbClr val="385522"/>
                          </a:solidFill>
                          <a:latin typeface="Arial"/>
                          <a:cs typeface="Arial"/>
                        </a:rPr>
                        <a:t>VM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38100">
                      <a:solidFill>
                        <a:srgbClr val="30528F"/>
                      </a:solidFill>
                      <a:prstDash val="solid"/>
                    </a:lnL>
                    <a:lnR w="38100">
                      <a:solidFill>
                        <a:srgbClr val="30528F"/>
                      </a:solidFill>
                      <a:prstDash val="solid"/>
                    </a:lnR>
                    <a:lnT w="28575">
                      <a:solidFill>
                        <a:srgbClr val="30528F"/>
                      </a:solidFill>
                      <a:prstDash val="solid"/>
                    </a:lnT>
                    <a:lnB w="28575">
                      <a:solidFill>
                        <a:srgbClr val="30528F"/>
                      </a:solidFill>
                      <a:prstDash val="solid"/>
                    </a:lnB>
                    <a:solidFill>
                      <a:srgbClr val="F4AF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99720" marR="171450" indent="-117475">
                        <a:lnSpc>
                          <a:spcPct val="100000"/>
                        </a:lnSpc>
                      </a:pPr>
                      <a:r>
                        <a:rPr dirty="0" sz="1400" spc="-10" b="1">
                          <a:solidFill>
                            <a:srgbClr val="385522"/>
                          </a:solidFill>
                          <a:latin typeface="Arial"/>
                          <a:cs typeface="Arial"/>
                        </a:rPr>
                        <a:t>Guest </a:t>
                      </a:r>
                      <a:r>
                        <a:rPr dirty="0" sz="1400" spc="-25" b="1">
                          <a:solidFill>
                            <a:srgbClr val="385522"/>
                          </a:solidFill>
                          <a:latin typeface="Arial"/>
                          <a:cs typeface="Arial"/>
                        </a:rPr>
                        <a:t>VM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38100">
                      <a:solidFill>
                        <a:srgbClr val="30528F"/>
                      </a:solidFill>
                      <a:prstDash val="solid"/>
                    </a:lnL>
                    <a:lnR w="28575">
                      <a:solidFill>
                        <a:srgbClr val="30528F"/>
                      </a:solidFill>
                      <a:prstDash val="solid"/>
                    </a:lnR>
                    <a:lnT w="28575">
                      <a:solidFill>
                        <a:srgbClr val="30528F"/>
                      </a:solidFill>
                      <a:prstDash val="solid"/>
                    </a:lnT>
                    <a:lnB w="28575">
                      <a:solidFill>
                        <a:srgbClr val="30528F"/>
                      </a:solidFill>
                      <a:prstDash val="solid"/>
                    </a:lnB>
                    <a:solidFill>
                      <a:srgbClr val="F4AF81"/>
                    </a:solidFill>
                  </a:tcPr>
                </a:tc>
              </a:tr>
              <a:tr h="101346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20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VMM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54610">
                    <a:lnL w="28575">
                      <a:solidFill>
                        <a:srgbClr val="30528F"/>
                      </a:solidFill>
                      <a:prstDash val="solid"/>
                    </a:lnL>
                    <a:lnR w="28575">
                      <a:solidFill>
                        <a:srgbClr val="30528F"/>
                      </a:solidFill>
                      <a:prstDash val="solid"/>
                    </a:lnR>
                    <a:lnT w="28575">
                      <a:solidFill>
                        <a:srgbClr val="30528F"/>
                      </a:solidFill>
                      <a:prstDash val="solid"/>
                    </a:lnT>
                    <a:lnB w="28575">
                      <a:solidFill>
                        <a:srgbClr val="30528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99631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775335">
                        <a:lnSpc>
                          <a:spcPct val="100000"/>
                        </a:lnSpc>
                      </a:pPr>
                      <a:r>
                        <a:rPr dirty="0" sz="20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Hardware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28575">
                      <a:solidFill>
                        <a:srgbClr val="30528F"/>
                      </a:solidFill>
                      <a:prstDash val="solid"/>
                    </a:lnL>
                    <a:lnR w="28575">
                      <a:solidFill>
                        <a:srgbClr val="30528F"/>
                      </a:solidFill>
                      <a:prstDash val="solid"/>
                    </a:lnR>
                    <a:lnT w="28575">
                      <a:solidFill>
                        <a:srgbClr val="30528F"/>
                      </a:solidFill>
                      <a:prstDash val="solid"/>
                    </a:lnT>
                    <a:lnB w="28575">
                      <a:solidFill>
                        <a:srgbClr val="30528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4135" rIns="0" bIns="0" rtlCol="0" vert="horz">
            <a:spAutoFit/>
          </a:bodyPr>
          <a:lstStyle/>
          <a:p>
            <a:pPr marL="233045">
              <a:lnSpc>
                <a:spcPct val="100000"/>
              </a:lnSpc>
              <a:spcBef>
                <a:spcPts val="505"/>
              </a:spcBef>
            </a:pPr>
            <a:r>
              <a:rPr dirty="0">
                <a:solidFill>
                  <a:srgbClr val="2E5395"/>
                </a:solidFill>
                <a:latin typeface="Arial"/>
                <a:cs typeface="Arial"/>
              </a:rPr>
              <a:t>CLOUD</a:t>
            </a:r>
            <a:r>
              <a:rPr dirty="0" spc="-5">
                <a:solidFill>
                  <a:srgbClr val="2E5395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2E5395"/>
                </a:solidFill>
                <a:latin typeface="Arial"/>
                <a:cs typeface="Arial"/>
              </a:rPr>
              <a:t>COMPUTING</a:t>
            </a:r>
          </a:p>
          <a:p>
            <a:pPr marL="233045">
              <a:lnSpc>
                <a:spcPct val="100000"/>
              </a:lnSpc>
              <a:spcBef>
                <a:spcPts val="400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Compute</a:t>
            </a:r>
            <a:r>
              <a:rPr dirty="0" spc="-3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Virtualization</a:t>
            </a:r>
            <a:r>
              <a:rPr dirty="0" spc="-8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:</a:t>
            </a:r>
            <a:r>
              <a:rPr dirty="0" spc="-3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How</a:t>
            </a:r>
            <a:r>
              <a:rPr dirty="0" spc="-4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is</a:t>
            </a:r>
            <a:r>
              <a:rPr dirty="0" spc="-3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this</a:t>
            </a:r>
            <a:r>
              <a:rPr dirty="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implemented?</a:t>
            </a:r>
            <a:r>
              <a:rPr dirty="0" spc="-4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-</a:t>
            </a:r>
            <a:r>
              <a:rPr dirty="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25">
                <a:solidFill>
                  <a:srgbClr val="C55A11"/>
                </a:solidFill>
                <a:latin typeface="Arial"/>
                <a:cs typeface="Arial"/>
              </a:rPr>
              <a:t>II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object 2"/>
          <p:cNvSpPr txBox="1"/>
          <p:nvPr/>
        </p:nvSpPr>
        <p:spPr>
          <a:xfrm>
            <a:off x="360679" y="1351305"/>
            <a:ext cx="8244840" cy="3754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20000"/>
              </a:lnSpc>
              <a:spcBef>
                <a:spcPts val="100"/>
              </a:spcBef>
              <a:buSzPct val="81818"/>
              <a:buFont typeface="Calibri"/>
              <a:buChar char="▪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VMM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when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implemented on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top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figure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would </a:t>
            </a:r>
            <a:r>
              <a:rPr dirty="0" sz="2200">
                <a:latin typeface="Calibri"/>
                <a:cs typeface="Calibri"/>
              </a:rPr>
              <a:t>typically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called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Hosted</a:t>
            </a:r>
            <a:r>
              <a:rPr dirty="0" sz="2200" spc="-3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VMM</a:t>
            </a:r>
            <a:r>
              <a:rPr dirty="0" sz="2200" spc="-3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Hosted</a:t>
            </a:r>
            <a:r>
              <a:rPr dirty="0" sz="2200" spc="-3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Hypervisor</a:t>
            </a:r>
            <a:r>
              <a:rPr dirty="0" sz="2200" spc="-3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spc="-25" b="1">
                <a:solidFill>
                  <a:srgbClr val="006FC0"/>
                </a:solidFill>
                <a:latin typeface="Calibri"/>
                <a:cs typeface="Calibri"/>
              </a:rPr>
              <a:t>or </a:t>
            </a: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Hypervisor</a:t>
            </a:r>
            <a:r>
              <a:rPr dirty="0" sz="2200" spc="-3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385522"/>
                </a:solidFill>
                <a:latin typeface="Calibri"/>
                <a:cs typeface="Calibri"/>
              </a:rPr>
              <a:t>Type</a:t>
            </a:r>
            <a:r>
              <a:rPr dirty="0" sz="2200" spc="-55" b="1">
                <a:solidFill>
                  <a:srgbClr val="385522"/>
                </a:solidFill>
                <a:latin typeface="Calibri"/>
                <a:cs typeface="Calibri"/>
              </a:rPr>
              <a:t> </a:t>
            </a:r>
            <a:r>
              <a:rPr dirty="0" sz="2200" spc="-50" b="1">
                <a:solidFill>
                  <a:srgbClr val="385522"/>
                </a:solidFill>
                <a:latin typeface="Calibri"/>
                <a:cs typeface="Calibri"/>
              </a:rPr>
              <a:t>2</a:t>
            </a:r>
            <a:endParaRPr sz="2200">
              <a:latin typeface="Calibri"/>
              <a:cs typeface="Calibri"/>
            </a:endParaRPr>
          </a:p>
          <a:p>
            <a:pPr marL="355600" marR="30480" indent="-342900">
              <a:lnSpc>
                <a:spcPct val="120000"/>
              </a:lnSpc>
              <a:spcBef>
                <a:spcPts val="1010"/>
              </a:spcBef>
              <a:buSzPct val="81818"/>
              <a:buChar char="▪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VMM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maintains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software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level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representation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physical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hardware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interposes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operations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redirects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per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policies</a:t>
            </a:r>
            <a:endParaRPr sz="2200">
              <a:latin typeface="Calibri"/>
              <a:cs typeface="Calibri"/>
            </a:endParaRPr>
          </a:p>
          <a:p>
            <a:pPr marL="393700">
              <a:lnSpc>
                <a:spcPct val="100000"/>
              </a:lnSpc>
              <a:spcBef>
                <a:spcPts val="1525"/>
              </a:spcBef>
            </a:pPr>
            <a:r>
              <a:rPr dirty="0" sz="2200">
                <a:latin typeface="Calibri"/>
                <a:cs typeface="Calibri"/>
              </a:rPr>
              <a:t>E.g.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VMWare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workstation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Oracle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VirtualBox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525"/>
              </a:spcBef>
              <a:buSzPct val="81818"/>
              <a:buChar char="▪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VMM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could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also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implemented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part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OS</a:t>
            </a:r>
            <a:r>
              <a:rPr dirty="0" sz="2200" spc="-20">
                <a:latin typeface="Calibri"/>
                <a:cs typeface="Calibri"/>
              </a:rPr>
              <a:t> too.</a:t>
            </a:r>
            <a:endParaRPr sz="2200">
              <a:latin typeface="Calibri"/>
              <a:cs typeface="Calibri"/>
            </a:endParaRPr>
          </a:p>
          <a:p>
            <a:pPr marL="365760">
              <a:lnSpc>
                <a:spcPct val="100000"/>
              </a:lnSpc>
              <a:spcBef>
                <a:spcPts val="1535"/>
              </a:spcBef>
            </a:pPr>
            <a:r>
              <a:rPr dirty="0" sz="2200">
                <a:latin typeface="Calibri"/>
                <a:cs typeface="Calibri"/>
              </a:rPr>
              <a:t>E.g.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KVM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(Kernel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Based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Virtual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Machine)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Linux</a:t>
            </a:r>
            <a:endParaRPr sz="22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833357" y="1900682"/>
          <a:ext cx="3293745" cy="3175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5540"/>
                <a:gridCol w="1028699"/>
                <a:gridCol w="1017905"/>
              </a:tblGrid>
              <a:tr h="10331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429259" marR="320675" indent="-117475">
                        <a:lnSpc>
                          <a:spcPct val="100000"/>
                        </a:lnSpc>
                      </a:pPr>
                      <a:r>
                        <a:rPr dirty="0" sz="1400" spc="-10" b="1">
                          <a:solidFill>
                            <a:srgbClr val="385522"/>
                          </a:solidFill>
                          <a:latin typeface="Arial"/>
                          <a:cs typeface="Arial"/>
                        </a:rPr>
                        <a:t>Guest </a:t>
                      </a:r>
                      <a:r>
                        <a:rPr dirty="0" sz="1400" spc="-25" b="1">
                          <a:solidFill>
                            <a:srgbClr val="385522"/>
                          </a:solidFill>
                          <a:latin typeface="Arial"/>
                          <a:cs typeface="Arial"/>
                        </a:rPr>
                        <a:t>VM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90805">
                    <a:lnL w="28575">
                      <a:solidFill>
                        <a:srgbClr val="30528F"/>
                      </a:solidFill>
                      <a:prstDash val="solid"/>
                    </a:lnL>
                    <a:lnR w="28575">
                      <a:solidFill>
                        <a:srgbClr val="30528F"/>
                      </a:solidFill>
                      <a:prstDash val="solid"/>
                    </a:lnR>
                    <a:lnT w="28575">
                      <a:solidFill>
                        <a:srgbClr val="30528F"/>
                      </a:solidFill>
                      <a:prstDash val="solid"/>
                    </a:lnT>
                    <a:lnB w="28575">
                      <a:solidFill>
                        <a:srgbClr val="30528F"/>
                      </a:solidFill>
                      <a:prstDash val="solid"/>
                    </a:lnB>
                    <a:solidFill>
                      <a:srgbClr val="F4AF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81635" marR="251460" indent="-117475">
                        <a:lnSpc>
                          <a:spcPct val="100000"/>
                        </a:lnSpc>
                      </a:pPr>
                      <a:r>
                        <a:rPr dirty="0" sz="1400" spc="-10" b="1">
                          <a:solidFill>
                            <a:srgbClr val="385522"/>
                          </a:solidFill>
                          <a:latin typeface="Arial"/>
                          <a:cs typeface="Arial"/>
                        </a:rPr>
                        <a:t>Guest </a:t>
                      </a:r>
                      <a:r>
                        <a:rPr dirty="0" sz="1400" spc="-25" b="1">
                          <a:solidFill>
                            <a:srgbClr val="385522"/>
                          </a:solidFill>
                          <a:latin typeface="Arial"/>
                          <a:cs typeface="Arial"/>
                        </a:rPr>
                        <a:t>VM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91440">
                    <a:lnL w="28575">
                      <a:solidFill>
                        <a:srgbClr val="30528F"/>
                      </a:solidFill>
                      <a:prstDash val="solid"/>
                    </a:lnL>
                    <a:lnR w="57150">
                      <a:solidFill>
                        <a:srgbClr val="30528F"/>
                      </a:solidFill>
                      <a:prstDash val="solid"/>
                    </a:lnR>
                    <a:lnT w="28575">
                      <a:solidFill>
                        <a:srgbClr val="30528F"/>
                      </a:solidFill>
                      <a:prstDash val="solid"/>
                    </a:lnT>
                    <a:lnB w="28575">
                      <a:solidFill>
                        <a:srgbClr val="30528F"/>
                      </a:solidFill>
                      <a:prstDash val="solid"/>
                    </a:lnB>
                    <a:solidFill>
                      <a:srgbClr val="F4AF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75920" marR="246379" indent="-117475">
                        <a:lnSpc>
                          <a:spcPct val="100000"/>
                        </a:lnSpc>
                      </a:pPr>
                      <a:r>
                        <a:rPr dirty="0" sz="1400" spc="-10" b="1">
                          <a:solidFill>
                            <a:srgbClr val="385522"/>
                          </a:solidFill>
                          <a:latin typeface="Arial"/>
                          <a:cs typeface="Arial"/>
                        </a:rPr>
                        <a:t>Guest </a:t>
                      </a:r>
                      <a:r>
                        <a:rPr dirty="0" sz="1400" spc="-25" b="1">
                          <a:solidFill>
                            <a:srgbClr val="385522"/>
                          </a:solidFill>
                          <a:latin typeface="Arial"/>
                          <a:cs typeface="Arial"/>
                        </a:rPr>
                        <a:t>VM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91440">
                    <a:lnL w="57150">
                      <a:solidFill>
                        <a:srgbClr val="30528F"/>
                      </a:solidFill>
                      <a:prstDash val="solid"/>
                    </a:lnL>
                    <a:lnR w="28575">
                      <a:solidFill>
                        <a:srgbClr val="30528F"/>
                      </a:solidFill>
                      <a:prstDash val="solid"/>
                    </a:lnR>
                    <a:lnT w="28575">
                      <a:solidFill>
                        <a:srgbClr val="30528F"/>
                      </a:solidFill>
                      <a:prstDash val="solid"/>
                    </a:lnT>
                    <a:lnB w="28575">
                      <a:solidFill>
                        <a:srgbClr val="30528F"/>
                      </a:solidFill>
                      <a:prstDash val="solid"/>
                    </a:lnB>
                    <a:solidFill>
                      <a:srgbClr val="F4AF81"/>
                    </a:solidFill>
                  </a:tcPr>
                </a:tc>
              </a:tr>
              <a:tr h="709930">
                <a:tc gridSpan="3">
                  <a:txBody>
                    <a:bodyPr/>
                    <a:lstStyle/>
                    <a:p>
                      <a:pPr algn="ctr" marL="6985">
                        <a:lnSpc>
                          <a:spcPct val="100000"/>
                        </a:lnSpc>
                        <a:spcBef>
                          <a:spcPts val="1535"/>
                        </a:spcBef>
                      </a:pPr>
                      <a:r>
                        <a:rPr dirty="0" sz="20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VMM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94945">
                    <a:lnL w="28575">
                      <a:solidFill>
                        <a:srgbClr val="30528F"/>
                      </a:solidFill>
                      <a:prstDash val="solid"/>
                    </a:lnL>
                    <a:lnR w="28575">
                      <a:solidFill>
                        <a:srgbClr val="30528F"/>
                      </a:solidFill>
                      <a:prstDash val="solid"/>
                    </a:lnR>
                    <a:lnT w="28575">
                      <a:solidFill>
                        <a:srgbClr val="30528F"/>
                      </a:solidFill>
                      <a:prstDash val="solid"/>
                    </a:lnT>
                    <a:lnB w="28575">
                      <a:solidFill>
                        <a:srgbClr val="30528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10565">
                <a:tc gridSpan="3"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1460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Host</a:t>
                      </a:r>
                      <a:r>
                        <a:rPr dirty="0" sz="2000" spc="-6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85420">
                    <a:lnL w="28575">
                      <a:solidFill>
                        <a:srgbClr val="30528F"/>
                      </a:solidFill>
                      <a:prstDash val="solid"/>
                    </a:lnL>
                    <a:lnR w="28575">
                      <a:solidFill>
                        <a:srgbClr val="30528F"/>
                      </a:solidFill>
                      <a:prstDash val="solid"/>
                    </a:lnR>
                    <a:lnT w="28575">
                      <a:solidFill>
                        <a:srgbClr val="30528F"/>
                      </a:solidFill>
                      <a:prstDash val="solid"/>
                    </a:lnT>
                    <a:lnB w="57150">
                      <a:solidFill>
                        <a:srgbClr val="30528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21360">
                <a:tc gridSpan="3">
                  <a:txBody>
                    <a:bodyPr/>
                    <a:lstStyle/>
                    <a:p>
                      <a:pPr marL="1014730">
                        <a:lnSpc>
                          <a:spcPct val="100000"/>
                        </a:lnSpc>
                        <a:spcBef>
                          <a:spcPts val="1635"/>
                        </a:spcBef>
                      </a:pPr>
                      <a:r>
                        <a:rPr dirty="0" sz="20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Hardware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207645">
                    <a:lnL w="28575">
                      <a:solidFill>
                        <a:srgbClr val="30528F"/>
                      </a:solidFill>
                      <a:prstDash val="solid"/>
                    </a:lnL>
                    <a:lnR w="28575">
                      <a:solidFill>
                        <a:srgbClr val="30528F"/>
                      </a:solidFill>
                      <a:prstDash val="solid"/>
                    </a:lnR>
                    <a:lnT w="57150">
                      <a:solidFill>
                        <a:srgbClr val="30528F"/>
                      </a:solidFill>
                      <a:prstDash val="solid"/>
                    </a:lnT>
                    <a:lnB w="28575">
                      <a:solidFill>
                        <a:srgbClr val="30528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4135" rIns="0" bIns="0" rtlCol="0" vert="horz">
            <a:spAutoFit/>
          </a:bodyPr>
          <a:lstStyle/>
          <a:p>
            <a:pPr marL="233045">
              <a:lnSpc>
                <a:spcPct val="100000"/>
              </a:lnSpc>
              <a:spcBef>
                <a:spcPts val="505"/>
              </a:spcBef>
            </a:pPr>
            <a:r>
              <a:rPr dirty="0">
                <a:solidFill>
                  <a:srgbClr val="2E5395"/>
                </a:solidFill>
                <a:latin typeface="Arial"/>
                <a:cs typeface="Arial"/>
              </a:rPr>
              <a:t>CLOUD</a:t>
            </a:r>
            <a:r>
              <a:rPr dirty="0" spc="-5">
                <a:solidFill>
                  <a:srgbClr val="2E5395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2E5395"/>
                </a:solidFill>
                <a:latin typeface="Arial"/>
                <a:cs typeface="Arial"/>
              </a:rPr>
              <a:t>COMPUTING</a:t>
            </a:r>
          </a:p>
          <a:p>
            <a:pPr marL="233045">
              <a:lnSpc>
                <a:spcPct val="100000"/>
              </a:lnSpc>
              <a:spcBef>
                <a:spcPts val="400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Compute</a:t>
            </a:r>
            <a:r>
              <a:rPr dirty="0" spc="-3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Virtualization</a:t>
            </a:r>
            <a:r>
              <a:rPr dirty="0" spc="-8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:</a:t>
            </a:r>
            <a:r>
              <a:rPr dirty="0" spc="-3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How</a:t>
            </a:r>
            <a:r>
              <a:rPr dirty="0" spc="-4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is</a:t>
            </a:r>
            <a:r>
              <a:rPr dirty="0" spc="-3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this</a:t>
            </a:r>
            <a:r>
              <a:rPr dirty="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implemented?</a:t>
            </a:r>
            <a:r>
              <a:rPr dirty="0" spc="-4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-</a:t>
            </a:r>
            <a:r>
              <a:rPr dirty="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25">
                <a:solidFill>
                  <a:srgbClr val="C55A11"/>
                </a:solidFill>
                <a:latin typeface="Arial"/>
                <a:cs typeface="Arial"/>
              </a:rPr>
              <a:t>III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object 2"/>
          <p:cNvSpPr txBox="1"/>
          <p:nvPr/>
        </p:nvSpPr>
        <p:spPr>
          <a:xfrm>
            <a:off x="360679" y="1351305"/>
            <a:ext cx="8255000" cy="1763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5600" marR="5080" indent="-342900">
              <a:lnSpc>
                <a:spcPct val="120000"/>
              </a:lnSpc>
              <a:spcBef>
                <a:spcPts val="100"/>
              </a:spcBef>
              <a:buSzPct val="81818"/>
              <a:buFont typeface="Calibri"/>
              <a:buChar char="▪"/>
              <a:tabLst>
                <a:tab pos="355600" algn="l"/>
                <a:tab pos="358140" algn="l"/>
              </a:tabLst>
            </a:pPr>
            <a:r>
              <a:rPr dirty="0" sz="2200">
                <a:latin typeface="Calibri"/>
                <a:cs typeface="Calibri"/>
              </a:rPr>
              <a:t>	VMM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implementation when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supporting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both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bare-</a:t>
            </a:r>
            <a:r>
              <a:rPr dirty="0" sz="2200">
                <a:latin typeface="Calibri"/>
                <a:cs typeface="Calibri"/>
              </a:rPr>
              <a:t>metal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50">
                <a:latin typeface="Calibri"/>
                <a:cs typeface="Calibri"/>
              </a:rPr>
              <a:t>a </a:t>
            </a:r>
            <a:r>
              <a:rPr dirty="0" sz="2200">
                <a:latin typeface="Calibri"/>
                <a:cs typeface="Calibri"/>
              </a:rPr>
              <a:t>hosted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application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top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OS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figure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would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typically</a:t>
            </a:r>
            <a:r>
              <a:rPr dirty="0" sz="2200" spc="-25">
                <a:latin typeface="Calibri"/>
                <a:cs typeface="Calibri"/>
              </a:rPr>
              <a:t> be </a:t>
            </a:r>
            <a:r>
              <a:rPr dirty="0" sz="2200">
                <a:latin typeface="Calibri"/>
                <a:cs typeface="Calibri"/>
              </a:rPr>
              <a:t>called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Hybrid</a:t>
            </a:r>
            <a:r>
              <a:rPr dirty="0" sz="2200" spc="-2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VMM</a:t>
            </a:r>
            <a:r>
              <a:rPr dirty="0" sz="2200" spc="-1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Hybrid</a:t>
            </a:r>
            <a:r>
              <a:rPr dirty="0" sz="2200" spc="-2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spc="-10" b="1">
                <a:solidFill>
                  <a:srgbClr val="006FC0"/>
                </a:solidFill>
                <a:latin typeface="Calibri"/>
                <a:cs typeface="Calibri"/>
              </a:rPr>
              <a:t>Hypervisor</a:t>
            </a:r>
            <a:endParaRPr sz="2200">
              <a:latin typeface="Calibri"/>
              <a:cs typeface="Calibri"/>
            </a:endParaRPr>
          </a:p>
          <a:p>
            <a:pPr marL="393700">
              <a:lnSpc>
                <a:spcPct val="100000"/>
              </a:lnSpc>
              <a:spcBef>
                <a:spcPts val="1535"/>
              </a:spcBef>
            </a:pPr>
            <a:r>
              <a:rPr dirty="0" sz="2200">
                <a:latin typeface="Calibri"/>
                <a:cs typeface="Calibri"/>
              </a:rPr>
              <a:t>E.g.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MS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Virtual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Server,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Virtual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PC</a:t>
            </a:r>
            <a:endParaRPr sz="22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281669" y="2556764"/>
          <a:ext cx="3611879" cy="3619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9045"/>
                <a:gridCol w="1139190"/>
                <a:gridCol w="1121410"/>
              </a:tblGrid>
              <a:tr h="11861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424815" marR="4203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20" b="1">
                          <a:solidFill>
                            <a:srgbClr val="385522"/>
                          </a:solidFill>
                          <a:latin typeface="Arial"/>
                          <a:cs typeface="Arial"/>
                        </a:rPr>
                        <a:t>Host </a:t>
                      </a:r>
                      <a:r>
                        <a:rPr dirty="0" sz="1400" spc="-25" b="1">
                          <a:solidFill>
                            <a:srgbClr val="385522"/>
                          </a:solidFill>
                          <a:latin typeface="Arial"/>
                          <a:cs typeface="Arial"/>
                        </a:rPr>
                        <a:t>VM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1290">
                    <a:lnL w="28575">
                      <a:solidFill>
                        <a:srgbClr val="30528F"/>
                      </a:solidFill>
                      <a:prstDash val="solid"/>
                    </a:lnL>
                    <a:lnR w="38100">
                      <a:solidFill>
                        <a:srgbClr val="30528F"/>
                      </a:solidFill>
                      <a:prstDash val="solid"/>
                    </a:lnR>
                    <a:lnT w="28575">
                      <a:solidFill>
                        <a:srgbClr val="30528F"/>
                      </a:solidFill>
                      <a:prstDash val="solid"/>
                    </a:lnT>
                    <a:lnB w="28575">
                      <a:solidFill>
                        <a:srgbClr val="30528F"/>
                      </a:solidFill>
                      <a:prstDash val="solid"/>
                    </a:lnB>
                    <a:solidFill>
                      <a:srgbClr val="A8D08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7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</a:pPr>
                      <a:r>
                        <a:rPr dirty="0" sz="1400" spc="-10" b="1">
                          <a:solidFill>
                            <a:srgbClr val="385522"/>
                          </a:solidFill>
                          <a:latin typeface="Arial"/>
                          <a:cs typeface="Arial"/>
                        </a:rPr>
                        <a:t>Guest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25" b="1">
                          <a:solidFill>
                            <a:srgbClr val="385522"/>
                          </a:solidFill>
                          <a:latin typeface="Arial"/>
                          <a:cs typeface="Arial"/>
                        </a:rPr>
                        <a:t>VM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74625">
                    <a:lnL w="38100">
                      <a:solidFill>
                        <a:srgbClr val="30528F"/>
                      </a:solidFill>
                      <a:prstDash val="solid"/>
                    </a:lnL>
                    <a:lnR w="38100">
                      <a:solidFill>
                        <a:srgbClr val="30528F"/>
                      </a:solidFill>
                      <a:prstDash val="solid"/>
                    </a:lnR>
                    <a:lnT w="28575">
                      <a:solidFill>
                        <a:srgbClr val="30528F"/>
                      </a:solidFill>
                      <a:prstDash val="solid"/>
                    </a:lnT>
                    <a:lnB w="28575">
                      <a:solidFill>
                        <a:srgbClr val="30528F"/>
                      </a:solidFill>
                      <a:prstDash val="solid"/>
                    </a:lnB>
                    <a:solidFill>
                      <a:srgbClr val="F4AF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7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10" b="1">
                          <a:solidFill>
                            <a:srgbClr val="385522"/>
                          </a:solidFill>
                          <a:latin typeface="Arial"/>
                          <a:cs typeface="Arial"/>
                        </a:rPr>
                        <a:t>Guest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25" b="1">
                          <a:solidFill>
                            <a:srgbClr val="385522"/>
                          </a:solidFill>
                          <a:latin typeface="Arial"/>
                          <a:cs typeface="Arial"/>
                        </a:rPr>
                        <a:t>VM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74625">
                    <a:lnL w="38100">
                      <a:solidFill>
                        <a:srgbClr val="30528F"/>
                      </a:solidFill>
                      <a:prstDash val="solid"/>
                    </a:lnL>
                    <a:lnR w="28575">
                      <a:solidFill>
                        <a:srgbClr val="30528F"/>
                      </a:solidFill>
                      <a:prstDash val="solid"/>
                    </a:lnR>
                    <a:lnT w="28575">
                      <a:solidFill>
                        <a:srgbClr val="30528F"/>
                      </a:solidFill>
                      <a:prstDash val="solid"/>
                    </a:lnT>
                    <a:lnB w="28575">
                      <a:solidFill>
                        <a:srgbClr val="30528F"/>
                      </a:solidFill>
                      <a:prstDash val="solid"/>
                    </a:lnB>
                    <a:solidFill>
                      <a:srgbClr val="F4AF81"/>
                    </a:solidFill>
                  </a:tcPr>
                </a:tc>
              </a:tr>
              <a:tr h="805815">
                <a:tc rowSpan="2">
                  <a:txBody>
                    <a:bodyPr/>
                    <a:lstStyle/>
                    <a:p>
                      <a:pPr marL="229235">
                        <a:lnSpc>
                          <a:spcPct val="100000"/>
                        </a:lnSpc>
                        <a:spcBef>
                          <a:spcPts val="1914"/>
                        </a:spcBef>
                      </a:pPr>
                      <a:r>
                        <a:rPr dirty="0" sz="20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VMM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243204">
                    <a:lnR w="28575">
                      <a:solidFill>
                        <a:srgbClr val="30528F"/>
                      </a:solidFill>
                      <a:prstDash val="solid"/>
                    </a:lnR>
                    <a:lnT w="28575">
                      <a:solidFill>
                        <a:srgbClr val="30528F"/>
                      </a:solidFill>
                      <a:prstDash val="solid"/>
                    </a:lnT>
                    <a:lnB w="28575">
                      <a:solidFill>
                        <a:srgbClr val="30528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marR="140970">
                        <a:lnSpc>
                          <a:spcPct val="100000"/>
                        </a:lnSpc>
                        <a:spcBef>
                          <a:spcPts val="1914"/>
                        </a:spcBef>
                      </a:pPr>
                      <a:r>
                        <a:rPr dirty="0" sz="20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VMM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243204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30528F"/>
                      </a:solidFill>
                      <a:prstDash val="solid"/>
                    </a:lnR>
                    <a:lnT w="28575">
                      <a:solidFill>
                        <a:srgbClr val="30528F"/>
                      </a:solidFill>
                      <a:prstDash val="solid"/>
                    </a:lnT>
                    <a:lnB w="28575">
                      <a:solidFill>
                        <a:srgbClr val="30528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80835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43204">
                    <a:lnR w="28575">
                      <a:solidFill>
                        <a:srgbClr val="30528F"/>
                      </a:solidFill>
                      <a:prstDash val="solid"/>
                    </a:lnR>
                    <a:lnT w="28575">
                      <a:solidFill>
                        <a:srgbClr val="30528F"/>
                      </a:solidFill>
                      <a:prstDash val="solid"/>
                    </a:lnT>
                    <a:lnB w="28575">
                      <a:solidFill>
                        <a:srgbClr val="30528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31825">
                        <a:lnSpc>
                          <a:spcPct val="100000"/>
                        </a:lnSpc>
                        <a:spcBef>
                          <a:spcPts val="1825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Host</a:t>
                      </a:r>
                      <a:r>
                        <a:rPr dirty="0" sz="2000" spc="-6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231775">
                    <a:lnL w="28575">
                      <a:solidFill>
                        <a:srgbClr val="30528F"/>
                      </a:solidFill>
                      <a:prstDash val="solid"/>
                    </a:lnL>
                    <a:lnR w="28575">
                      <a:solidFill>
                        <a:srgbClr val="30528F"/>
                      </a:solidFill>
                      <a:prstDash val="solid"/>
                    </a:lnR>
                    <a:lnT w="28575">
                      <a:solidFill>
                        <a:srgbClr val="30528F"/>
                      </a:solidFill>
                      <a:prstDash val="solid"/>
                    </a:lnT>
                    <a:lnB w="57150">
                      <a:solidFill>
                        <a:srgbClr val="30528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819150">
                <a:tc gridSpan="3">
                  <a:txBody>
                    <a:bodyPr/>
                    <a:lstStyle/>
                    <a:p>
                      <a:pPr marL="1247775">
                        <a:lnSpc>
                          <a:spcPct val="100000"/>
                        </a:lnSpc>
                        <a:spcBef>
                          <a:spcPts val="2020"/>
                        </a:spcBef>
                      </a:pPr>
                      <a:r>
                        <a:rPr dirty="0" sz="20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Hardware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256540">
                    <a:lnL w="28575">
                      <a:solidFill>
                        <a:srgbClr val="30528F"/>
                      </a:solidFill>
                      <a:prstDash val="solid"/>
                    </a:lnL>
                    <a:lnR w="28575">
                      <a:solidFill>
                        <a:srgbClr val="30528F"/>
                      </a:solidFill>
                      <a:prstDash val="solid"/>
                    </a:lnR>
                    <a:lnB w="28575">
                      <a:solidFill>
                        <a:srgbClr val="30528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36905" y="226272"/>
            <a:ext cx="8723630" cy="859790"/>
          </a:xfrm>
          <a:prstGeom prst="rect"/>
        </p:spPr>
        <p:txBody>
          <a:bodyPr wrap="square" lIns="0" tIns="64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>
                <a:solidFill>
                  <a:srgbClr val="2E5395"/>
                </a:solidFill>
                <a:latin typeface="Arial"/>
                <a:cs typeface="Arial"/>
              </a:rPr>
              <a:t>CLOUD</a:t>
            </a:r>
            <a:r>
              <a:rPr dirty="0" spc="-5">
                <a:solidFill>
                  <a:srgbClr val="2E5395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2E5395"/>
                </a:solidFill>
                <a:latin typeface="Arial"/>
                <a:cs typeface="Arial"/>
              </a:rPr>
              <a:t>COMPUTING</a:t>
            </a: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Physical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Machine</a:t>
            </a:r>
            <a:r>
              <a:rPr dirty="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(setting</a:t>
            </a:r>
            <a:r>
              <a:rPr dirty="0" spc="-5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the</a:t>
            </a:r>
            <a:r>
              <a:rPr dirty="0" spc="-4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context</a:t>
            </a:r>
            <a:r>
              <a:rPr dirty="0" spc="-2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from</a:t>
            </a:r>
            <a:r>
              <a:rPr dirty="0" spc="-4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the</a:t>
            </a:r>
            <a:r>
              <a:rPr dirty="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OS</a:t>
            </a:r>
            <a:r>
              <a:rPr dirty="0" spc="-4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last</a:t>
            </a:r>
            <a:r>
              <a:rPr dirty="0" spc="-3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20">
                <a:solidFill>
                  <a:srgbClr val="C55A11"/>
                </a:solidFill>
                <a:latin typeface="Arial"/>
                <a:cs typeface="Arial"/>
              </a:rPr>
              <a:t>Sem)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363118" y="1318412"/>
            <a:ext cx="11462385" cy="5414010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900" b="1">
                <a:latin typeface="Calibri"/>
                <a:cs typeface="Calibri"/>
              </a:rPr>
              <a:t>Physical</a:t>
            </a:r>
            <a:r>
              <a:rPr dirty="0" sz="1900" spc="-4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machines</a:t>
            </a:r>
            <a:r>
              <a:rPr dirty="0" sz="1900" spc="-30" b="1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have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real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hardware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resources</a:t>
            </a:r>
            <a:r>
              <a:rPr dirty="0" sz="1900" spc="-6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like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CPU,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memory,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I/O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etc.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1900">
                <a:latin typeface="Calibri"/>
                <a:cs typeface="Calibri"/>
              </a:rPr>
              <a:t>These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are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managed/orchestrated</a:t>
            </a:r>
            <a:r>
              <a:rPr dirty="0" sz="1900" spc="-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into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single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execution</a:t>
            </a:r>
            <a:r>
              <a:rPr dirty="0" sz="1900" spc="-1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environment</a:t>
            </a:r>
            <a:r>
              <a:rPr dirty="0" sz="1900" spc="-2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by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OS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by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having</a:t>
            </a:r>
            <a:endParaRPr sz="19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830"/>
              </a:spcBef>
              <a:buSzPct val="97368"/>
              <a:buChar char="▪"/>
              <a:tabLst>
                <a:tab pos="354965" algn="l"/>
              </a:tabLst>
            </a:pPr>
            <a:r>
              <a:rPr dirty="0" sz="1900">
                <a:latin typeface="Calibri"/>
                <a:cs typeface="Calibri"/>
              </a:rPr>
              <a:t>Exclusive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access</a:t>
            </a:r>
            <a:r>
              <a:rPr dirty="0" sz="1900" spc="-7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to</a:t>
            </a:r>
            <a:r>
              <a:rPr dirty="0" sz="1900" spc="-7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these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hardware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resources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through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some</a:t>
            </a:r>
            <a:r>
              <a:rPr dirty="0" sz="1900" spc="-6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hardware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interfaces</a:t>
            </a:r>
            <a:endParaRPr sz="1900">
              <a:latin typeface="Calibri"/>
              <a:cs typeface="Calibri"/>
            </a:endParaRPr>
          </a:p>
          <a:p>
            <a:pPr marL="355600" marR="3522979" indent="-342900">
              <a:lnSpc>
                <a:spcPct val="110000"/>
              </a:lnSpc>
              <a:spcBef>
                <a:spcPts val="600"/>
              </a:spcBef>
              <a:buSzPct val="97368"/>
              <a:buChar char="▪"/>
              <a:tabLst>
                <a:tab pos="355600" algn="l"/>
              </a:tabLst>
            </a:pPr>
            <a:r>
              <a:rPr dirty="0" sz="1900">
                <a:latin typeface="Calibri"/>
                <a:cs typeface="Calibri"/>
              </a:rPr>
              <a:t>Uses</a:t>
            </a:r>
            <a:r>
              <a:rPr dirty="0" sz="1900" spc="-2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instructions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defined</a:t>
            </a:r>
            <a:r>
              <a:rPr dirty="0" sz="1900" spc="-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by</a:t>
            </a:r>
            <a:r>
              <a:rPr dirty="0" sz="1900" spc="-2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1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ISA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(ISA-instruction</a:t>
            </a:r>
            <a:r>
              <a:rPr dirty="0" sz="1900" spc="-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set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architectures)</a:t>
            </a:r>
            <a:r>
              <a:rPr dirty="0" sz="1900" spc="-2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for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the </a:t>
            </a:r>
            <a:r>
              <a:rPr dirty="0" sz="1900">
                <a:latin typeface="Calibri"/>
                <a:cs typeface="Calibri"/>
              </a:rPr>
              <a:t>specific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CPU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architecture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eg.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X86</a:t>
            </a:r>
            <a:endParaRPr sz="19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830"/>
              </a:spcBef>
              <a:buSzPct val="97368"/>
              <a:buChar char="▪"/>
              <a:tabLst>
                <a:tab pos="354965" algn="l"/>
              </a:tabLst>
            </a:pPr>
            <a:r>
              <a:rPr dirty="0" sz="1900" spc="-10">
                <a:latin typeface="Calibri"/>
                <a:cs typeface="Calibri"/>
              </a:rPr>
              <a:t>Memory</a:t>
            </a:r>
            <a:endParaRPr sz="19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825"/>
              </a:spcBef>
              <a:buSzPct val="97368"/>
              <a:buChar char="▪"/>
              <a:tabLst>
                <a:tab pos="354965" algn="l"/>
              </a:tabLst>
            </a:pPr>
            <a:r>
              <a:rPr dirty="0" sz="1900" spc="-25">
                <a:latin typeface="Calibri"/>
                <a:cs typeface="Calibri"/>
              </a:rPr>
              <a:t>I/O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1900">
                <a:latin typeface="Calibri"/>
                <a:cs typeface="Calibri"/>
              </a:rPr>
              <a:t>OSes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provide</a:t>
            </a:r>
            <a:r>
              <a:rPr dirty="0" sz="1900" spc="-2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dual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modes,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with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privileged</a:t>
            </a:r>
            <a:r>
              <a:rPr dirty="0" sz="1900" spc="-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or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Kernel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mode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 b="1">
                <a:solidFill>
                  <a:srgbClr val="006FC0"/>
                </a:solidFill>
                <a:latin typeface="Calibri"/>
                <a:cs typeface="Calibri"/>
              </a:rPr>
              <a:t>(Ring</a:t>
            </a:r>
            <a:r>
              <a:rPr dirty="0" sz="1900" spc="-5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 b="1">
                <a:solidFill>
                  <a:srgbClr val="006FC0"/>
                </a:solidFill>
                <a:latin typeface="Calibri"/>
                <a:cs typeface="Calibri"/>
              </a:rPr>
              <a:t>0)</a:t>
            </a:r>
            <a:r>
              <a:rPr dirty="0" sz="1900" spc="-4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having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access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to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the</a:t>
            </a:r>
            <a:endParaRPr sz="1900">
              <a:latin typeface="Calibri"/>
              <a:cs typeface="Calibri"/>
            </a:endParaRPr>
          </a:p>
          <a:p>
            <a:pPr marL="12700" marR="5080">
              <a:lnSpc>
                <a:spcPct val="110000"/>
              </a:lnSpc>
            </a:pPr>
            <a:r>
              <a:rPr dirty="0" sz="1900">
                <a:latin typeface="Calibri"/>
                <a:cs typeface="Calibri"/>
              </a:rPr>
              <a:t>physical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resources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(with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operations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like</a:t>
            </a:r>
            <a:r>
              <a:rPr dirty="0" sz="1900" spc="-2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I/O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instructions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and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Halt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instructions,</a:t>
            </a:r>
            <a:r>
              <a:rPr dirty="0" sz="1900" spc="-2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Turn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off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all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Interrupts,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Set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2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Timer, </a:t>
            </a:r>
            <a:r>
              <a:rPr dirty="0" sz="1900">
                <a:latin typeface="Calibri"/>
                <a:cs typeface="Calibri"/>
              </a:rPr>
              <a:t>Context</a:t>
            </a:r>
            <a:r>
              <a:rPr dirty="0" sz="1900" spc="-2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Switching,</a:t>
            </a:r>
            <a:r>
              <a:rPr dirty="0" sz="1900" spc="3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Clear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Memory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or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Remove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process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from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Memory)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and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non-</a:t>
            </a:r>
            <a:r>
              <a:rPr dirty="0" sz="1900">
                <a:latin typeface="Calibri"/>
                <a:cs typeface="Calibri"/>
              </a:rPr>
              <a:t>privileged</a:t>
            </a:r>
            <a:r>
              <a:rPr dirty="0" sz="1900" spc="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mode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(or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also </a:t>
            </a:r>
            <a:r>
              <a:rPr dirty="0" sz="1900">
                <a:latin typeface="Calibri"/>
                <a:cs typeface="Calibri"/>
              </a:rPr>
              <a:t>know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as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 b="1">
                <a:solidFill>
                  <a:srgbClr val="006FC0"/>
                </a:solidFill>
                <a:latin typeface="Calibri"/>
                <a:cs typeface="Calibri"/>
              </a:rPr>
              <a:t>Ring</a:t>
            </a:r>
            <a:r>
              <a:rPr dirty="0" sz="1900" spc="-3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 b="1">
                <a:solidFill>
                  <a:srgbClr val="006FC0"/>
                </a:solidFill>
                <a:latin typeface="Calibri"/>
                <a:cs typeface="Calibri"/>
              </a:rPr>
              <a:t>3</a:t>
            </a:r>
            <a:r>
              <a:rPr dirty="0" sz="1900" spc="-4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 b="1">
                <a:solidFill>
                  <a:srgbClr val="006FC0"/>
                </a:solidFill>
                <a:latin typeface="Calibri"/>
                <a:cs typeface="Calibri"/>
              </a:rPr>
              <a:t>or</a:t>
            </a:r>
            <a:r>
              <a:rPr dirty="0" sz="1900" spc="-4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 b="1">
                <a:solidFill>
                  <a:srgbClr val="006FC0"/>
                </a:solidFill>
                <a:latin typeface="Calibri"/>
                <a:cs typeface="Calibri"/>
              </a:rPr>
              <a:t>User</a:t>
            </a:r>
            <a:r>
              <a:rPr dirty="0" sz="1900" spc="-2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 b="1">
                <a:solidFill>
                  <a:srgbClr val="006FC0"/>
                </a:solidFill>
                <a:latin typeface="Calibri"/>
                <a:cs typeface="Calibri"/>
              </a:rPr>
              <a:t>mode</a:t>
            </a:r>
            <a:r>
              <a:rPr dirty="0" sz="1900">
                <a:latin typeface="Calibri"/>
                <a:cs typeface="Calibri"/>
              </a:rPr>
              <a:t>,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where</a:t>
            </a:r>
            <a:r>
              <a:rPr dirty="0" sz="1900" spc="-2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safe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instructions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(like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Load,</a:t>
            </a:r>
            <a:r>
              <a:rPr dirty="0" sz="1900" spc="-2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store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instructions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Add,</a:t>
            </a:r>
            <a:r>
              <a:rPr dirty="0" sz="1900" spc="-2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Subtract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etc.)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are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supported</a:t>
            </a:r>
            <a:endParaRPr sz="1900">
              <a:latin typeface="Calibri"/>
              <a:cs typeface="Calibri"/>
            </a:endParaRPr>
          </a:p>
          <a:p>
            <a:pPr marL="12700" marR="118745">
              <a:lnSpc>
                <a:spcPct val="110000"/>
              </a:lnSpc>
              <a:spcBef>
                <a:spcPts val="600"/>
              </a:spcBef>
            </a:pP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User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mode</a:t>
            </a:r>
            <a:r>
              <a:rPr dirty="0" sz="1900" spc="-2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can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do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some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of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IO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and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other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actions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only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by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invoking</a:t>
            </a:r>
            <a:r>
              <a:rPr dirty="0" sz="1900" spc="-1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system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calls.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These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system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calls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when </a:t>
            </a:r>
            <a:r>
              <a:rPr dirty="0" sz="1900">
                <a:latin typeface="Calibri"/>
                <a:cs typeface="Calibri"/>
              </a:rPr>
              <a:t>executed,</a:t>
            </a:r>
            <a:r>
              <a:rPr dirty="0" sz="1900" spc="-2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first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sets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mode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bit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to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0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(supervisory</a:t>
            </a:r>
            <a:r>
              <a:rPr dirty="0" sz="1900" spc="-2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mode)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and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then</a:t>
            </a:r>
            <a:r>
              <a:rPr dirty="0" sz="1900" spc="-2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executes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call.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On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completion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of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action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and </a:t>
            </a:r>
            <a:r>
              <a:rPr dirty="0" sz="1900">
                <a:latin typeface="Calibri"/>
                <a:cs typeface="Calibri"/>
              </a:rPr>
              <a:t>before</a:t>
            </a:r>
            <a:r>
              <a:rPr dirty="0" sz="1900" spc="-2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exiting</a:t>
            </a:r>
            <a:r>
              <a:rPr dirty="0" sz="1900" spc="-1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from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I/O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system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call,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it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sets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bit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to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one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(user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mode)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and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transfers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control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back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to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user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process. </a:t>
            </a:r>
            <a:r>
              <a:rPr dirty="0" sz="1900">
                <a:latin typeface="Calibri"/>
                <a:cs typeface="Calibri"/>
              </a:rPr>
              <a:t>This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approach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is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used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as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means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of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not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giving</a:t>
            </a:r>
            <a:r>
              <a:rPr dirty="0" sz="1900" spc="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supervisory</a:t>
            </a:r>
            <a:r>
              <a:rPr dirty="0" sz="1900" spc="-2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control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to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any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user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process.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8216" y="1007364"/>
            <a:ext cx="2843783" cy="344119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653396" y="879424"/>
            <a:ext cx="130873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Arial"/>
                <a:cs typeface="Arial"/>
              </a:rPr>
              <a:t>Privilege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spc="-20" b="1">
                <a:latin typeface="Arial"/>
                <a:cs typeface="Arial"/>
              </a:rPr>
              <a:t>Rings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Hypervisor</a:t>
            </a:r>
            <a:r>
              <a:rPr dirty="0" spc="-1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Type</a:t>
            </a:r>
            <a:r>
              <a:rPr dirty="0" spc="-3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1</a:t>
            </a:r>
            <a:r>
              <a:rPr dirty="0" spc="-4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vs.</a:t>
            </a:r>
            <a:r>
              <a:rPr dirty="0" spc="-5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Type</a:t>
            </a:r>
            <a:r>
              <a:rPr dirty="0" spc="-2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50">
                <a:solidFill>
                  <a:srgbClr val="C55A1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type 1 hypervisor vs type 2 hypervisor Bare-metal Native vs Hosted tabular form - Difference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9456" y="1386839"/>
            <a:ext cx="9256776" cy="5145024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85604" y="1114044"/>
            <a:ext cx="2186940" cy="251155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721467" y="3653154"/>
            <a:ext cx="5683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Type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 spc="-5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85604" y="4146803"/>
            <a:ext cx="2238755" cy="222199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721467" y="6472529"/>
            <a:ext cx="5683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Type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 spc="-50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62813" y="223580"/>
            <a:ext cx="8870950" cy="510032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121920">
              <a:lnSpc>
                <a:spcPct val="100000"/>
              </a:lnSpc>
              <a:spcBef>
                <a:spcPts val="455"/>
              </a:spcBef>
            </a:pP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CLOUD</a:t>
            </a:r>
            <a:r>
              <a:rPr dirty="0" sz="2400" spc="-3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395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  <a:spcBef>
                <a:spcPts val="355"/>
              </a:spcBef>
            </a:pP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Additional</a:t>
            </a:r>
            <a:r>
              <a:rPr dirty="0" sz="2400" spc="-4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references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50"/>
              </a:spcBef>
            </a:pPr>
            <a:endParaRPr sz="2400">
              <a:latin typeface="Arial"/>
              <a:cs typeface="Arial"/>
            </a:endParaRPr>
          </a:p>
          <a:p>
            <a:pPr marL="12700" marR="904240">
              <a:lnSpc>
                <a:spcPct val="99800"/>
              </a:lnSpc>
              <a:spcBef>
                <a:spcPts val="5"/>
              </a:spcBef>
            </a:pPr>
            <a:r>
              <a:rPr dirty="0" sz="2400">
                <a:latin typeface="Calibri"/>
                <a:cs typeface="Calibri"/>
              </a:rPr>
              <a:t>What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Hypervisor? </a:t>
            </a:r>
            <a:r>
              <a:rPr dirty="0" u="sng" sz="24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https://www.vmware.com/topics/glossary/content/hypervisor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u="sng" sz="24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3"/>
              </a:rPr>
              <a:t>https://youtu.be/EvXn2QiL3gs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u="sng" sz="24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4"/>
              </a:rPr>
              <a:t>https://www.vmware.com/topics/glossary/content/bare-</a:t>
            </a:r>
            <a:r>
              <a:rPr dirty="0" u="sng" sz="240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4"/>
              </a:rPr>
              <a:t>metal-</a:t>
            </a:r>
            <a:r>
              <a:rPr dirty="0" u="sng" sz="24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4"/>
              </a:rPr>
              <a:t>hypervisor</a:t>
            </a:r>
            <a:endParaRPr sz="2400">
              <a:latin typeface="Calibri"/>
              <a:cs typeface="Calibri"/>
            </a:endParaRPr>
          </a:p>
          <a:p>
            <a:pPr marL="12700" marR="2426970">
              <a:lnSpc>
                <a:spcPct val="100000"/>
              </a:lnSpc>
              <a:spcBef>
                <a:spcPts val="20"/>
              </a:spcBef>
            </a:pPr>
            <a:r>
              <a:rPr dirty="0" sz="2400">
                <a:latin typeface="Calibri"/>
                <a:cs typeface="Calibri"/>
              </a:rPr>
              <a:t>Types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hypervisor </a:t>
            </a:r>
            <a:r>
              <a:rPr dirty="0" u="sng" sz="24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5"/>
              </a:rPr>
              <a:t>https://www.youtube.com/watch?v=dckSc61WS6w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Bare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metal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vs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hypervisor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ts val="2880"/>
              </a:lnSpc>
              <a:spcBef>
                <a:spcPts val="75"/>
              </a:spcBef>
            </a:pPr>
            <a:r>
              <a:rPr dirty="0" u="sng" sz="24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6"/>
              </a:rPr>
              <a:t>https://blog.servermania.com/bare-metal-</a:t>
            </a:r>
            <a:r>
              <a:rPr dirty="0" u="sng" sz="2400" spc="-25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6"/>
              </a:rPr>
              <a:t>vs-</a:t>
            </a:r>
            <a:r>
              <a:rPr dirty="0" u="sng" sz="24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6"/>
              </a:rPr>
              <a:t>hypervisor-which-is-</a:t>
            </a:r>
            <a:r>
              <a:rPr dirty="0" u="sng" sz="240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6"/>
              </a:rPr>
              <a:t>right-</a:t>
            </a:r>
            <a:r>
              <a:rPr dirty="0" u="sng" sz="24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6"/>
              </a:rPr>
              <a:t>for-your-project/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765536" y="348995"/>
            <a:ext cx="1066800" cy="1079500"/>
          </a:xfrm>
          <a:custGeom>
            <a:avLst/>
            <a:gdLst/>
            <a:ahLst/>
            <a:cxnLst/>
            <a:rect l="l" t="t" r="r" b="b"/>
            <a:pathLst>
              <a:path w="1066800" h="1079500">
                <a:moveTo>
                  <a:pt x="1066800" y="0"/>
                </a:moveTo>
                <a:lnTo>
                  <a:pt x="0" y="0"/>
                </a:lnTo>
                <a:lnTo>
                  <a:pt x="0" y="45720"/>
                </a:lnTo>
                <a:lnTo>
                  <a:pt x="1021080" y="45720"/>
                </a:lnTo>
                <a:lnTo>
                  <a:pt x="1021080" y="1078992"/>
                </a:lnTo>
                <a:lnTo>
                  <a:pt x="1066800" y="1078992"/>
                </a:lnTo>
                <a:lnTo>
                  <a:pt x="1066800" y="45720"/>
                </a:lnTo>
                <a:lnTo>
                  <a:pt x="1066800" y="12192"/>
                </a:lnTo>
                <a:lnTo>
                  <a:pt x="1066800" y="0"/>
                </a:lnTo>
                <a:close/>
              </a:path>
            </a:pathLst>
          </a:custGeom>
          <a:solidFill>
            <a:srgbClr val="F4AF8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A logo for a university  Description automatically generated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0572" y="1171955"/>
            <a:ext cx="2461602" cy="3997452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367276" y="2089784"/>
            <a:ext cx="274256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C55A11"/>
                </a:solidFill>
                <a:latin typeface="Arial"/>
                <a:cs typeface="Arial"/>
              </a:rPr>
              <a:t>THANK</a:t>
            </a:r>
            <a:r>
              <a:rPr dirty="0" sz="3600" spc="-14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3600" spc="-25">
                <a:solidFill>
                  <a:srgbClr val="C55A11"/>
                </a:solidFill>
                <a:latin typeface="Arial"/>
                <a:cs typeface="Arial"/>
              </a:rPr>
              <a:t>YOU</a:t>
            </a:r>
            <a:endParaRPr sz="3600">
              <a:latin typeface="Arial"/>
              <a:cs typeface="Arial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4289297" y="2888742"/>
            <a:ext cx="4581525" cy="0"/>
          </a:xfrm>
          <a:custGeom>
            <a:avLst/>
            <a:gdLst/>
            <a:ahLst/>
            <a:cxnLst/>
            <a:rect l="l" t="t" r="r" b="b"/>
            <a:pathLst>
              <a:path w="4581525" h="0">
                <a:moveTo>
                  <a:pt x="0" y="0"/>
                </a:moveTo>
                <a:lnTo>
                  <a:pt x="4581398" y="0"/>
                </a:lnTo>
              </a:path>
            </a:pathLst>
          </a:custGeom>
          <a:ln w="38100">
            <a:solidFill>
              <a:srgbClr val="DFA1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367276" y="3221032"/>
            <a:ext cx="5217160" cy="123444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2400" b="1">
                <a:latin typeface="Calibri"/>
                <a:cs typeface="Calibri"/>
              </a:rPr>
              <a:t>Prafullata</a:t>
            </a:r>
            <a:r>
              <a:rPr dirty="0" sz="2400" spc="-3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Kiran</a:t>
            </a:r>
            <a:r>
              <a:rPr dirty="0" sz="2400" spc="-2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Auradkar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2000">
                <a:latin typeface="Calibri"/>
                <a:cs typeface="Calibri"/>
              </a:rPr>
              <a:t>Department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Computer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Science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Engineering</a:t>
            </a:r>
            <a:endParaRPr sz="2000">
              <a:latin typeface="Calibri"/>
              <a:cs typeface="Calibri"/>
            </a:endParaRPr>
          </a:p>
          <a:p>
            <a:pPr marL="24765">
              <a:lnSpc>
                <a:spcPct val="100000"/>
              </a:lnSpc>
              <a:spcBef>
                <a:spcPts val="745"/>
              </a:spcBef>
            </a:pPr>
            <a:r>
              <a:rPr dirty="0" sz="2400" spc="-10" b="1">
                <a:latin typeface="Calibri"/>
                <a:cs typeface="Calibri"/>
                <a:hlinkClick r:id="rId2"/>
              </a:rPr>
              <a:t>prafullatak@pes.edu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3944" y="5489447"/>
            <a:ext cx="1066800" cy="1079500"/>
          </a:xfrm>
          <a:custGeom>
            <a:avLst/>
            <a:gdLst/>
            <a:ahLst/>
            <a:cxnLst/>
            <a:rect l="l" t="t" r="r" b="b"/>
            <a:pathLst>
              <a:path w="1066800" h="1079500">
                <a:moveTo>
                  <a:pt x="1066800" y="1033272"/>
                </a:moveTo>
                <a:lnTo>
                  <a:pt x="45720" y="1033272"/>
                </a:lnTo>
                <a:lnTo>
                  <a:pt x="45720" y="0"/>
                </a:lnTo>
                <a:lnTo>
                  <a:pt x="0" y="0"/>
                </a:lnTo>
                <a:lnTo>
                  <a:pt x="0" y="1033272"/>
                </a:lnTo>
                <a:lnTo>
                  <a:pt x="0" y="1066800"/>
                </a:lnTo>
                <a:lnTo>
                  <a:pt x="0" y="1078992"/>
                </a:lnTo>
                <a:lnTo>
                  <a:pt x="1066800" y="1078992"/>
                </a:lnTo>
                <a:lnTo>
                  <a:pt x="1066800" y="1033272"/>
                </a:lnTo>
                <a:close/>
              </a:path>
            </a:pathLst>
          </a:custGeom>
          <a:solidFill>
            <a:srgbClr val="F4AF81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10855706" y="266077"/>
            <a:ext cx="1067435" cy="1078230"/>
          </a:xfrm>
          <a:custGeom>
            <a:avLst/>
            <a:gdLst/>
            <a:ahLst/>
            <a:cxnLst/>
            <a:rect l="l" t="t" r="r" b="b"/>
            <a:pathLst>
              <a:path w="1067434" h="1078230">
                <a:moveTo>
                  <a:pt x="1066914" y="11201"/>
                </a:moveTo>
                <a:lnTo>
                  <a:pt x="1066888" y="0"/>
                </a:lnTo>
                <a:lnTo>
                  <a:pt x="0" y="0"/>
                </a:lnTo>
                <a:lnTo>
                  <a:pt x="0" y="45707"/>
                </a:lnTo>
                <a:lnTo>
                  <a:pt x="1021207" y="45707"/>
                </a:lnTo>
                <a:lnTo>
                  <a:pt x="1021207" y="1078090"/>
                </a:lnTo>
                <a:lnTo>
                  <a:pt x="1066914" y="1078090"/>
                </a:lnTo>
                <a:lnTo>
                  <a:pt x="1066914" y="11201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A logo for a university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3622" y="1172591"/>
            <a:ext cx="2239539" cy="3636645"/>
          </a:xfrm>
          <a:prstGeom prst="rect">
            <a:avLst/>
          </a:prstGeom>
        </p:spPr>
      </p:pic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61305" y="1695958"/>
            <a:ext cx="3894454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C55A11"/>
                </a:solidFill>
              </a:rPr>
              <a:t>CLOUD</a:t>
            </a:r>
            <a:r>
              <a:rPr dirty="0" sz="3600" spc="-130">
                <a:solidFill>
                  <a:srgbClr val="C55A11"/>
                </a:solidFill>
              </a:rPr>
              <a:t> </a:t>
            </a:r>
            <a:r>
              <a:rPr dirty="0" sz="3600" spc="-10">
                <a:solidFill>
                  <a:srgbClr val="C55A11"/>
                </a:solidFill>
              </a:rPr>
              <a:t>COMPUTING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4846701" y="2821000"/>
            <a:ext cx="621157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Paravirtualization</a:t>
            </a:r>
            <a:r>
              <a:rPr dirty="0" sz="2400" spc="-50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and</a:t>
            </a:r>
            <a:r>
              <a:rPr dirty="0" sz="2400" spc="-50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Transparent</a:t>
            </a:r>
            <a:r>
              <a:rPr dirty="0" sz="2400" spc="-40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395"/>
                </a:solidFill>
                <a:latin typeface="Calibri"/>
                <a:cs typeface="Calibri"/>
              </a:rPr>
              <a:t>Virtualization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81930" y="4112386"/>
            <a:ext cx="4581525" cy="0"/>
          </a:xfrm>
          <a:custGeom>
            <a:avLst/>
            <a:gdLst/>
            <a:ahLst/>
            <a:cxnLst/>
            <a:rect l="l" t="t" r="r" b="b"/>
            <a:pathLst>
              <a:path w="4581525" h="0">
                <a:moveTo>
                  <a:pt x="0" y="0"/>
                </a:moveTo>
                <a:lnTo>
                  <a:pt x="4581398" y="0"/>
                </a:lnTo>
              </a:path>
            </a:pathLst>
          </a:custGeom>
          <a:ln w="38100">
            <a:solidFill>
              <a:srgbClr val="C55A1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774184" y="4217299"/>
            <a:ext cx="6245860" cy="848360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marL="181610">
              <a:lnSpc>
                <a:spcPct val="100000"/>
              </a:lnSpc>
              <a:spcBef>
                <a:spcPts val="645"/>
              </a:spcBef>
            </a:pPr>
            <a:r>
              <a:rPr dirty="0" sz="2000" b="1">
                <a:latin typeface="Arial"/>
                <a:cs typeface="Arial"/>
              </a:rPr>
              <a:t>Dr.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Prafullata</a:t>
            </a:r>
            <a:r>
              <a:rPr dirty="0" sz="2000" spc="-4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Kiran</a:t>
            </a:r>
            <a:r>
              <a:rPr dirty="0" sz="2000" spc="-1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Auradkar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2400">
                <a:latin typeface="Calibri"/>
                <a:cs typeface="Calibri"/>
              </a:rPr>
              <a:t>Department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Computer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Science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Engineering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3842" y="5489702"/>
            <a:ext cx="1067435" cy="1078230"/>
          </a:xfrm>
          <a:custGeom>
            <a:avLst/>
            <a:gdLst/>
            <a:ahLst/>
            <a:cxnLst/>
            <a:rect l="l" t="t" r="r" b="b"/>
            <a:pathLst>
              <a:path w="1067435" h="1078229">
                <a:moveTo>
                  <a:pt x="1066888" y="1032446"/>
                </a:moveTo>
                <a:lnTo>
                  <a:pt x="45707" y="1032446"/>
                </a:lnTo>
                <a:lnTo>
                  <a:pt x="45707" y="0"/>
                </a:lnTo>
                <a:lnTo>
                  <a:pt x="0" y="0"/>
                </a:lnTo>
                <a:lnTo>
                  <a:pt x="0" y="1032446"/>
                </a:lnTo>
                <a:lnTo>
                  <a:pt x="0" y="1066888"/>
                </a:lnTo>
                <a:lnTo>
                  <a:pt x="0" y="1078153"/>
                </a:lnTo>
                <a:lnTo>
                  <a:pt x="1066888" y="1078153"/>
                </a:lnTo>
                <a:lnTo>
                  <a:pt x="1066888" y="1032446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38404" y="5442610"/>
            <a:ext cx="11408410" cy="100139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Arial"/>
                <a:cs typeface="Arial"/>
              </a:rPr>
              <a:t>Acknowledgements:</a:t>
            </a:r>
            <a:endParaRPr sz="1600">
              <a:latin typeface="Arial"/>
              <a:cs typeface="Arial"/>
            </a:endParaRPr>
          </a:p>
          <a:p>
            <a:pPr algn="just" marL="12700" marR="508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latin typeface="Arial"/>
                <a:cs typeface="Arial"/>
              </a:rPr>
              <a:t>Significant</a:t>
            </a:r>
            <a:r>
              <a:rPr dirty="0" sz="1200" spc="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information</a:t>
            </a:r>
            <a:r>
              <a:rPr dirty="0" sz="1200" spc="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</a:t>
            </a:r>
            <a:r>
              <a:rPr dirty="0" sz="1200" spc="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slide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deck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presented</a:t>
            </a:r>
            <a:r>
              <a:rPr dirty="0" sz="1200" spc="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through</a:t>
            </a:r>
            <a:r>
              <a:rPr dirty="0" sz="1200" spc="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Unit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2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of</a:t>
            </a:r>
            <a:r>
              <a:rPr dirty="0" sz="1200" spc="9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course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have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been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created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by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Dr.</a:t>
            </a:r>
            <a:r>
              <a:rPr dirty="0" sz="1200" spc="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H.L.</a:t>
            </a:r>
            <a:r>
              <a:rPr dirty="0" sz="1200" spc="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Phalachandra</a:t>
            </a:r>
            <a:r>
              <a:rPr dirty="0" sz="1200" spc="75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would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like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acknowledge</a:t>
            </a:r>
            <a:r>
              <a:rPr dirty="0" sz="1200" spc="85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and </a:t>
            </a:r>
            <a:r>
              <a:rPr dirty="0" sz="1200">
                <a:latin typeface="Arial"/>
                <a:cs typeface="Arial"/>
              </a:rPr>
              <a:t>thank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him for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same. There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have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been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some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information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which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 might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have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leveraged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from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content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of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Dr.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K.V.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Subramaniam’s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lecture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contents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too.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 may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have </a:t>
            </a:r>
            <a:r>
              <a:rPr dirty="0" sz="1200">
                <a:latin typeface="Arial"/>
                <a:cs typeface="Arial"/>
              </a:rPr>
              <a:t>supplemented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same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with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contents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from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books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other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sources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from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Internet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would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like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sincerely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thank,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acknowledge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reiterate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that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credit/rights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for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same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remain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with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original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authors/publishers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only.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These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are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intended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for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classroom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presentation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only.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61620" y="277748"/>
            <a:ext cx="305625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2E5395"/>
                </a:solidFill>
                <a:latin typeface="Arial"/>
                <a:cs typeface="Arial"/>
              </a:rPr>
              <a:t>CLOUD</a:t>
            </a:r>
            <a:r>
              <a:rPr dirty="0" spc="-90">
                <a:solidFill>
                  <a:srgbClr val="2E5395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2E5395"/>
                </a:solidFill>
                <a:latin typeface="Arial"/>
                <a:cs typeface="Arial"/>
              </a:rPr>
              <a:t>COMPUTING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432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703" y="0"/>
                </a:moveTo>
                <a:lnTo>
                  <a:pt x="0" y="0"/>
                </a:lnTo>
                <a:lnTo>
                  <a:pt x="0" y="38100"/>
                </a:lnTo>
                <a:lnTo>
                  <a:pt x="8291703" y="38100"/>
                </a:lnTo>
                <a:lnTo>
                  <a:pt x="8291703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61620" y="610235"/>
            <a:ext cx="11811000" cy="6228080"/>
          </a:xfrm>
          <a:prstGeom prst="rect">
            <a:avLst/>
          </a:prstGeom>
        </p:spPr>
        <p:txBody>
          <a:bodyPr wrap="square" lIns="0" tIns="141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Context</a:t>
            </a:r>
            <a:r>
              <a:rPr dirty="0" sz="2400" spc="-5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of</a:t>
            </a:r>
            <a:r>
              <a:rPr dirty="0" sz="2400" spc="-5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different</a:t>
            </a:r>
            <a:r>
              <a:rPr dirty="0" sz="2400" spc="-7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types</a:t>
            </a:r>
            <a:r>
              <a:rPr dirty="0" sz="2400" spc="-3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of</a:t>
            </a:r>
            <a:r>
              <a:rPr dirty="0" sz="2400" spc="-5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Virtualization</a:t>
            </a:r>
            <a:endParaRPr sz="2400">
              <a:latin typeface="Arial"/>
              <a:cs typeface="Arial"/>
            </a:endParaRPr>
          </a:p>
          <a:p>
            <a:pPr marL="355600" marR="49530" indent="-342900">
              <a:lnSpc>
                <a:spcPct val="120000"/>
              </a:lnSpc>
              <a:spcBef>
                <a:spcPts val="1310"/>
              </a:spcBef>
              <a:buClr>
                <a:srgbClr val="833B0A"/>
              </a:buClr>
              <a:buSzPct val="141176"/>
              <a:buChar char="▪"/>
              <a:tabLst>
                <a:tab pos="355600" algn="l"/>
              </a:tabLst>
            </a:pPr>
            <a:r>
              <a:rPr dirty="0" sz="1700">
                <a:latin typeface="Calibri"/>
                <a:cs typeface="Calibri"/>
              </a:rPr>
              <a:t>Applications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based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on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their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functioning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call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different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instructions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as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part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-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execution,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where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some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instructions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modify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 spc="-20">
                <a:latin typeface="Calibri"/>
                <a:cs typeface="Calibri"/>
              </a:rPr>
              <a:t>part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machines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resources.</a:t>
            </a:r>
            <a:r>
              <a:rPr dirty="0" sz="1700" spc="-7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These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instructions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(also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called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privileged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instructions)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can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harm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system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when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executed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maliciously</a:t>
            </a:r>
            <a:r>
              <a:rPr dirty="0" sz="1700" spc="35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or </a:t>
            </a:r>
            <a:r>
              <a:rPr dirty="0" sz="1700">
                <a:latin typeface="Calibri"/>
                <a:cs typeface="Calibri"/>
              </a:rPr>
              <a:t>when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improperly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 spc="-20">
                <a:latin typeface="Calibri"/>
                <a:cs typeface="Calibri"/>
              </a:rPr>
              <a:t>used</a:t>
            </a:r>
            <a:endParaRPr sz="1700">
              <a:latin typeface="Calibri"/>
              <a:cs typeface="Calibri"/>
            </a:endParaRPr>
          </a:p>
          <a:p>
            <a:pPr marL="355600" marR="412115" indent="-342900">
              <a:lnSpc>
                <a:spcPct val="120000"/>
              </a:lnSpc>
              <a:spcBef>
                <a:spcPts val="409"/>
              </a:spcBef>
              <a:buClr>
                <a:srgbClr val="833B0A"/>
              </a:buClr>
              <a:buSzPct val="141176"/>
              <a:buChar char="▪"/>
              <a:tabLst>
                <a:tab pos="355600" algn="l"/>
              </a:tabLst>
            </a:pPr>
            <a:r>
              <a:rPr dirty="0" sz="1700">
                <a:latin typeface="Calibri"/>
                <a:cs typeface="Calibri"/>
              </a:rPr>
              <a:t>These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applications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or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User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processes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are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not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trusted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with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executing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these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privileged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instructions,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will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need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be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run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 spc="-20">
                <a:latin typeface="Calibri"/>
                <a:cs typeface="Calibri"/>
              </a:rPr>
              <a:t>with </a:t>
            </a:r>
            <a:r>
              <a:rPr dirty="0" sz="1700">
                <a:latin typeface="Calibri"/>
                <a:cs typeface="Calibri"/>
              </a:rPr>
              <a:t>privileges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assigned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by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OS.</a:t>
            </a:r>
            <a:endParaRPr sz="1700">
              <a:latin typeface="Calibri"/>
              <a:cs typeface="Calibri"/>
            </a:endParaRPr>
          </a:p>
          <a:p>
            <a:pPr marL="355600" marR="94615" indent="-342900">
              <a:lnSpc>
                <a:spcPct val="120100"/>
              </a:lnSpc>
              <a:spcBef>
                <a:spcPts val="395"/>
              </a:spcBef>
              <a:buClr>
                <a:srgbClr val="833B0A"/>
              </a:buClr>
              <a:buSzPct val="141176"/>
              <a:buChar char="▪"/>
              <a:tabLst>
                <a:tab pos="355600" algn="l"/>
              </a:tabLst>
            </a:pPr>
            <a:r>
              <a:rPr dirty="0" sz="1700">
                <a:latin typeface="Calibri"/>
                <a:cs typeface="Calibri"/>
              </a:rPr>
              <a:t>Typically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 b="1">
                <a:latin typeface="Calibri"/>
                <a:cs typeface="Calibri"/>
              </a:rPr>
              <a:t>OS</a:t>
            </a:r>
            <a:r>
              <a:rPr dirty="0" sz="1700" spc="-20" b="1">
                <a:latin typeface="Calibri"/>
                <a:cs typeface="Calibri"/>
              </a:rPr>
              <a:t> </a:t>
            </a:r>
            <a:r>
              <a:rPr dirty="0" sz="1700" b="1">
                <a:latin typeface="Calibri"/>
                <a:cs typeface="Calibri"/>
              </a:rPr>
              <a:t>is</a:t>
            </a:r>
            <a:r>
              <a:rPr dirty="0" sz="1700" spc="-35" b="1">
                <a:latin typeface="Calibri"/>
                <a:cs typeface="Calibri"/>
              </a:rPr>
              <a:t> </a:t>
            </a:r>
            <a:r>
              <a:rPr dirty="0" sz="1700" b="1">
                <a:latin typeface="Calibri"/>
                <a:cs typeface="Calibri"/>
              </a:rPr>
              <a:t>responsible</a:t>
            </a:r>
            <a:r>
              <a:rPr dirty="0" sz="1700" spc="-55" b="1">
                <a:latin typeface="Calibri"/>
                <a:cs typeface="Calibri"/>
              </a:rPr>
              <a:t> </a:t>
            </a:r>
            <a:r>
              <a:rPr dirty="0" sz="1700" b="1">
                <a:latin typeface="Calibri"/>
                <a:cs typeface="Calibri"/>
              </a:rPr>
              <a:t>for</a:t>
            </a:r>
            <a:r>
              <a:rPr dirty="0" sz="1700" spc="-30" b="1">
                <a:latin typeface="Calibri"/>
                <a:cs typeface="Calibri"/>
              </a:rPr>
              <a:t> </a:t>
            </a:r>
            <a:r>
              <a:rPr dirty="0" sz="1700" b="1">
                <a:latin typeface="Calibri"/>
                <a:cs typeface="Calibri"/>
              </a:rPr>
              <a:t>managing</a:t>
            </a:r>
            <a:r>
              <a:rPr dirty="0" sz="1700" spc="-40" b="1">
                <a:latin typeface="Calibri"/>
                <a:cs typeface="Calibri"/>
              </a:rPr>
              <a:t> </a:t>
            </a:r>
            <a:r>
              <a:rPr dirty="0" sz="1700" b="1">
                <a:latin typeface="Calibri"/>
                <a:cs typeface="Calibri"/>
              </a:rPr>
              <a:t>the</a:t>
            </a:r>
            <a:r>
              <a:rPr dirty="0" sz="1700" spc="-25" b="1">
                <a:latin typeface="Calibri"/>
                <a:cs typeface="Calibri"/>
              </a:rPr>
              <a:t> </a:t>
            </a:r>
            <a:r>
              <a:rPr dirty="0" sz="1700" b="1">
                <a:latin typeface="Calibri"/>
                <a:cs typeface="Calibri"/>
              </a:rPr>
              <a:t>hardware</a:t>
            </a:r>
            <a:r>
              <a:rPr dirty="0" sz="1700" spc="-30" b="1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and,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ensure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these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privileged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instructions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are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safely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executed,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 spc="-20">
                <a:latin typeface="Calibri"/>
                <a:cs typeface="Calibri"/>
              </a:rPr>
              <a:t>uses </a:t>
            </a:r>
            <a:r>
              <a:rPr dirty="0" sz="1700">
                <a:latin typeface="Calibri"/>
                <a:cs typeface="Calibri"/>
              </a:rPr>
              <a:t>four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instruction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execution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privilege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rings-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Ring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0,</a:t>
            </a:r>
            <a:r>
              <a:rPr dirty="0" sz="1700" spc="-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1,</a:t>
            </a:r>
            <a:r>
              <a:rPr dirty="0" sz="1700" spc="-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2,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3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as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offered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by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traditional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x86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processor,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with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ring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0</a:t>
            </a:r>
            <a:r>
              <a:rPr dirty="0" sz="1700" spc="-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having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3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highest </a:t>
            </a:r>
            <a:r>
              <a:rPr dirty="0" sz="1700">
                <a:latin typeface="Calibri"/>
                <a:cs typeface="Calibri"/>
              </a:rPr>
              <a:t>privileges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as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needed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for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privileged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instructions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ring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3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where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applications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are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run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with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minimal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privileges.</a:t>
            </a:r>
            <a:endParaRPr sz="1700">
              <a:latin typeface="Calibri"/>
              <a:cs typeface="Calibri"/>
            </a:endParaRPr>
          </a:p>
          <a:p>
            <a:pPr marL="355600" marR="5080" indent="-342900">
              <a:lnSpc>
                <a:spcPct val="120000"/>
              </a:lnSpc>
              <a:spcBef>
                <a:spcPts val="395"/>
              </a:spcBef>
              <a:buClr>
                <a:srgbClr val="833B0A"/>
              </a:buClr>
              <a:buSzPct val="141176"/>
              <a:buChar char="▪"/>
              <a:tabLst>
                <a:tab pos="355600" algn="l"/>
              </a:tabLst>
            </a:pPr>
            <a:r>
              <a:rPr dirty="0" sz="1700">
                <a:latin typeface="Calibri"/>
                <a:cs typeface="Calibri"/>
              </a:rPr>
              <a:t>When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any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privileged</a:t>
            </a:r>
            <a:r>
              <a:rPr dirty="0" sz="1700" spc="-10">
                <a:latin typeface="Calibri"/>
                <a:cs typeface="Calibri"/>
              </a:rPr>
              <a:t> instructions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is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executed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user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mode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by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application,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they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will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trap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..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Aka..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they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will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not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be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executed,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will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be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treated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as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illegal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instruction,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Hardware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traps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..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-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sense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operating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system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is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alerted</a:t>
            </a:r>
            <a:r>
              <a:rPr dirty="0" sz="1700" spc="-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machine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is </a:t>
            </a:r>
            <a:r>
              <a:rPr dirty="0" sz="1700">
                <a:latin typeface="Calibri"/>
                <a:cs typeface="Calibri"/>
              </a:rPr>
              <a:t>forced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into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system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mode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(moved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ring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0)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whereby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it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executes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some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code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operating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system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deal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with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situation.</a:t>
            </a:r>
            <a:endParaRPr sz="1700">
              <a:latin typeface="Calibri"/>
              <a:cs typeface="Calibri"/>
            </a:endParaRPr>
          </a:p>
          <a:p>
            <a:pPr marL="355600" marR="760095" indent="-342900">
              <a:lnSpc>
                <a:spcPct val="120000"/>
              </a:lnSpc>
              <a:spcBef>
                <a:spcPts val="405"/>
              </a:spcBef>
              <a:buClr>
                <a:srgbClr val="833B0A"/>
              </a:buClr>
              <a:buSzPct val="141176"/>
              <a:buChar char="▪"/>
              <a:tabLst>
                <a:tab pos="355600" algn="l"/>
              </a:tabLst>
            </a:pPr>
            <a:r>
              <a:rPr dirty="0" sz="1700">
                <a:latin typeface="Calibri"/>
                <a:cs typeface="Calibri"/>
              </a:rPr>
              <a:t>Hypervisors</a:t>
            </a:r>
            <a:r>
              <a:rPr dirty="0" sz="1700" spc="-7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facilitating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Virtualizations,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will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manage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interactions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multiple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VMs</a:t>
            </a:r>
            <a:r>
              <a:rPr dirty="0" sz="1700" spc="-7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(running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different</a:t>
            </a:r>
            <a:r>
              <a:rPr dirty="0" sz="1700" spc="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OS’es)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with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the </a:t>
            </a:r>
            <a:r>
              <a:rPr dirty="0" sz="1700">
                <a:latin typeface="Calibri"/>
                <a:cs typeface="Calibri"/>
              </a:rPr>
              <a:t>Hardware,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by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handling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both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privileged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non-privileged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instructions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use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traps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generated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for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privileged instructions.</a:t>
            </a:r>
            <a:endParaRPr sz="1700">
              <a:latin typeface="Calibri"/>
              <a:cs typeface="Calibri"/>
            </a:endParaRPr>
          </a:p>
          <a:p>
            <a:pPr marL="355600" marR="675005" indent="-342900">
              <a:lnSpc>
                <a:spcPct val="120000"/>
              </a:lnSpc>
              <a:spcBef>
                <a:spcPts val="400"/>
              </a:spcBef>
              <a:buClr>
                <a:srgbClr val="833B0A"/>
              </a:buClr>
              <a:buSzPct val="141176"/>
              <a:buChar char="▪"/>
              <a:tabLst>
                <a:tab pos="355600" algn="l"/>
              </a:tabLst>
            </a:pPr>
            <a:r>
              <a:rPr dirty="0" sz="1700">
                <a:latin typeface="Calibri"/>
                <a:cs typeface="Calibri"/>
              </a:rPr>
              <a:t>Unfortunately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based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on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CPU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architectures,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not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all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these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privileged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instructions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are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virtualizable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leading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different </a:t>
            </a:r>
            <a:r>
              <a:rPr dirty="0" sz="1700">
                <a:latin typeface="Calibri"/>
                <a:cs typeface="Calibri"/>
              </a:rPr>
              <a:t>approaches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for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Virtualization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support,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like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Full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or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transparent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virtualization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where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hardware</a:t>
            </a:r>
            <a:r>
              <a:rPr dirty="0" sz="1700" spc="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I/O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is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emulated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or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 spc="-50">
                <a:latin typeface="Calibri"/>
                <a:cs typeface="Calibri"/>
              </a:rPr>
              <a:t>a </a:t>
            </a:r>
            <a:r>
              <a:rPr dirty="0" sz="1700">
                <a:latin typeface="Calibri"/>
                <a:cs typeface="Calibri"/>
              </a:rPr>
              <a:t>paravirtualization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for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performance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other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considerations.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40232" y="242061"/>
            <a:ext cx="4088765" cy="828675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380"/>
              </a:spcBef>
            </a:pPr>
            <a:r>
              <a:rPr dirty="0" sz="2400" b="1">
                <a:solidFill>
                  <a:srgbClr val="2E5395"/>
                </a:solidFill>
                <a:latin typeface="Arial"/>
                <a:cs typeface="Arial"/>
              </a:rPr>
              <a:t>CLOUD</a:t>
            </a:r>
            <a:r>
              <a:rPr dirty="0" sz="2400" spc="-90" b="1">
                <a:solidFill>
                  <a:srgbClr val="2E5395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2E5395"/>
                </a:solidFill>
                <a:latin typeface="Arial"/>
                <a:cs typeface="Arial"/>
              </a:rPr>
              <a:t>COMPUTING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Other</a:t>
            </a:r>
            <a:r>
              <a:rPr dirty="0" sz="2400" spc="-6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types</a:t>
            </a:r>
            <a:r>
              <a:rPr dirty="0" sz="2400" spc="-3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of</a:t>
            </a:r>
            <a:r>
              <a:rPr dirty="0" sz="2400" spc="-7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Virtualization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297432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703" y="0"/>
                </a:moveTo>
                <a:lnTo>
                  <a:pt x="0" y="0"/>
                </a:lnTo>
                <a:lnTo>
                  <a:pt x="0" y="38100"/>
                </a:lnTo>
                <a:lnTo>
                  <a:pt x="8291703" y="38100"/>
                </a:lnTo>
                <a:lnTo>
                  <a:pt x="8291703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28345" y="1354023"/>
            <a:ext cx="2463800" cy="422909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spc="-10">
                <a:solidFill>
                  <a:srgbClr val="006FC0"/>
                </a:solidFill>
              </a:rPr>
              <a:t>Paravirtualization</a:t>
            </a:r>
            <a:endParaRPr sz="2600"/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35289" y="1316482"/>
            <a:ext cx="3342258" cy="311327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28345" y="1811782"/>
            <a:ext cx="8484870" cy="4739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97535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libri"/>
                <a:cs typeface="Calibri"/>
              </a:rPr>
              <a:t>It’s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virtualization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technique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presents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software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interface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VMs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similar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but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not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identical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10">
                <a:latin typeface="Calibri"/>
                <a:cs typeface="Calibri"/>
              </a:rPr>
              <a:t> underlying hardware</a:t>
            </a:r>
            <a:endParaRPr sz="2400">
              <a:latin typeface="Calibri"/>
              <a:cs typeface="Calibri"/>
            </a:endParaRPr>
          </a:p>
          <a:p>
            <a:pPr algn="just" marL="616585" indent="-340360">
              <a:lnSpc>
                <a:spcPts val="2460"/>
              </a:lnSpc>
              <a:buSzPct val="81250"/>
              <a:buFont typeface="Arial"/>
              <a:buChar char="•"/>
              <a:tabLst>
                <a:tab pos="616585" algn="l"/>
              </a:tabLst>
            </a:pPr>
            <a:r>
              <a:rPr dirty="0" sz="2400">
                <a:latin typeface="Calibri"/>
                <a:cs typeface="Calibri"/>
              </a:rPr>
              <a:t>OS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explicitly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ported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run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top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VMM/Hypervisor</a:t>
            </a:r>
            <a:endParaRPr sz="2400">
              <a:latin typeface="Calibri"/>
              <a:cs typeface="Calibri"/>
            </a:endParaRPr>
          </a:p>
          <a:p>
            <a:pPr algn="just" lvl="1" marL="1047750" indent="-340360">
              <a:lnSpc>
                <a:spcPts val="2515"/>
              </a:lnSpc>
              <a:buSzPct val="81250"/>
              <a:buFont typeface="Arial"/>
              <a:buChar char="•"/>
              <a:tabLst>
                <a:tab pos="1047750" algn="l"/>
              </a:tabLst>
            </a:pPr>
            <a:r>
              <a:rPr dirty="0" sz="2400" spc="-25">
                <a:latin typeface="Calibri"/>
                <a:cs typeface="Calibri"/>
              </a:rPr>
              <a:t>Xen</a:t>
            </a:r>
            <a:endParaRPr sz="2400">
              <a:latin typeface="Calibri"/>
              <a:cs typeface="Calibri"/>
            </a:endParaRPr>
          </a:p>
          <a:p>
            <a:pPr algn="just" marL="615950" indent="-339725">
              <a:lnSpc>
                <a:spcPts val="2515"/>
              </a:lnSpc>
              <a:buSzPct val="81250"/>
              <a:buFont typeface="Arial"/>
              <a:buChar char="•"/>
              <a:tabLst>
                <a:tab pos="615950" algn="l"/>
              </a:tabLst>
            </a:pPr>
            <a:r>
              <a:rPr dirty="0" sz="2400">
                <a:latin typeface="Calibri"/>
                <a:cs typeface="Calibri"/>
              </a:rPr>
              <a:t>VMM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provides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APIs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guest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OS</a:t>
            </a:r>
            <a:endParaRPr sz="2400">
              <a:latin typeface="Calibri"/>
              <a:cs typeface="Calibri"/>
            </a:endParaRPr>
          </a:p>
          <a:p>
            <a:pPr algn="just" marL="615950" indent="-339725">
              <a:lnSpc>
                <a:spcPts val="2520"/>
              </a:lnSpc>
              <a:buSzPct val="81250"/>
              <a:buFont typeface="Arial"/>
              <a:buChar char="•"/>
              <a:tabLst>
                <a:tab pos="615950" algn="l"/>
              </a:tabLst>
            </a:pPr>
            <a:r>
              <a:rPr dirty="0" sz="2400">
                <a:latin typeface="Calibri"/>
                <a:cs typeface="Calibri"/>
              </a:rPr>
              <a:t>Useful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if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source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code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modifiable</a:t>
            </a:r>
            <a:endParaRPr sz="2400">
              <a:latin typeface="Calibri"/>
              <a:cs typeface="Calibri"/>
            </a:endParaRPr>
          </a:p>
          <a:p>
            <a:pPr algn="just" lvl="1" marL="1047750" indent="-340360">
              <a:lnSpc>
                <a:spcPts val="2515"/>
              </a:lnSpc>
              <a:buSzPct val="81250"/>
              <a:buFont typeface="Arial"/>
              <a:buChar char="•"/>
              <a:tabLst>
                <a:tab pos="1047750" algn="l"/>
              </a:tabLst>
            </a:pPr>
            <a:r>
              <a:rPr dirty="0" sz="2400">
                <a:latin typeface="Calibri"/>
                <a:cs typeface="Calibri"/>
              </a:rPr>
              <a:t>IBM: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MVS,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VM</a:t>
            </a:r>
            <a:endParaRPr sz="2400">
              <a:latin typeface="Calibri"/>
              <a:cs typeface="Calibri"/>
            </a:endParaRPr>
          </a:p>
          <a:p>
            <a:pPr lvl="1" marL="1050290" indent="-342900">
              <a:lnSpc>
                <a:spcPts val="2515"/>
              </a:lnSpc>
              <a:buSzPct val="81250"/>
              <a:buFont typeface="Arial"/>
              <a:buChar char="•"/>
              <a:tabLst>
                <a:tab pos="1050290" algn="l"/>
              </a:tabLst>
            </a:pPr>
            <a:r>
              <a:rPr dirty="0" sz="2400" spc="-10">
                <a:latin typeface="Calibri"/>
                <a:cs typeface="Calibri"/>
              </a:rPr>
              <a:t>Linux</a:t>
            </a:r>
            <a:endParaRPr sz="2400">
              <a:latin typeface="Calibri"/>
              <a:cs typeface="Calibri"/>
            </a:endParaRPr>
          </a:p>
          <a:p>
            <a:pPr lvl="1" marL="1050290" indent="-342900">
              <a:lnSpc>
                <a:spcPts val="2700"/>
              </a:lnSpc>
              <a:buSzPct val="81250"/>
              <a:buFont typeface="Arial"/>
              <a:buChar char="•"/>
              <a:tabLst>
                <a:tab pos="1050290" algn="l"/>
              </a:tabLst>
            </a:pPr>
            <a:r>
              <a:rPr dirty="0" sz="2400">
                <a:latin typeface="Calibri"/>
                <a:cs typeface="Calibri"/>
              </a:rPr>
              <a:t>Microsoft: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Windows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940"/>
              </a:lnSpc>
              <a:spcBef>
                <a:spcPts val="65"/>
              </a:spcBef>
            </a:pPr>
            <a:r>
              <a:rPr dirty="0" sz="2600" b="1">
                <a:solidFill>
                  <a:srgbClr val="006FC0"/>
                </a:solidFill>
                <a:latin typeface="Calibri"/>
                <a:cs typeface="Calibri"/>
              </a:rPr>
              <a:t>Full</a:t>
            </a:r>
            <a:r>
              <a:rPr dirty="0" sz="2600" spc="-9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(</a:t>
            </a:r>
            <a:r>
              <a:rPr dirty="0" sz="2600" b="1">
                <a:latin typeface="Calibri"/>
                <a:cs typeface="Calibri"/>
              </a:rPr>
              <a:t>transparent</a:t>
            </a:r>
            <a:r>
              <a:rPr dirty="0" sz="2600">
                <a:latin typeface="Calibri"/>
                <a:cs typeface="Calibri"/>
              </a:rPr>
              <a:t>)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10" b="1">
                <a:solidFill>
                  <a:srgbClr val="006FC0"/>
                </a:solidFill>
                <a:latin typeface="Calibri"/>
                <a:cs typeface="Calibri"/>
              </a:rPr>
              <a:t>virtualization</a:t>
            </a:r>
            <a:endParaRPr sz="2600">
              <a:latin typeface="Calibri"/>
              <a:cs typeface="Calibri"/>
            </a:endParaRPr>
          </a:p>
          <a:p>
            <a:pPr marL="619125" indent="-342900">
              <a:lnSpc>
                <a:spcPts val="2520"/>
              </a:lnSpc>
              <a:buSzPct val="81250"/>
              <a:buFont typeface="Arial"/>
              <a:buChar char="•"/>
              <a:tabLst>
                <a:tab pos="619125" algn="l"/>
              </a:tabLst>
            </a:pPr>
            <a:r>
              <a:rPr dirty="0" sz="2400">
                <a:latin typeface="Calibri"/>
                <a:cs typeface="Calibri"/>
              </a:rPr>
              <a:t>Provides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complete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simulation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underlying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hardware</a:t>
            </a:r>
            <a:endParaRPr sz="2400">
              <a:latin typeface="Calibri"/>
              <a:cs typeface="Calibri"/>
            </a:endParaRPr>
          </a:p>
          <a:p>
            <a:pPr marL="619125" indent="-342900">
              <a:lnSpc>
                <a:spcPts val="2515"/>
              </a:lnSpc>
              <a:buSzPct val="81250"/>
              <a:buFont typeface="Arial"/>
              <a:buChar char="•"/>
              <a:tabLst>
                <a:tab pos="619125" algn="l"/>
              </a:tabLst>
            </a:pPr>
            <a:r>
              <a:rPr dirty="0" sz="2400">
                <a:latin typeface="Calibri"/>
                <a:cs typeface="Calibri"/>
              </a:rPr>
              <a:t>OS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runs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without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modification</a:t>
            </a:r>
            <a:endParaRPr sz="2400">
              <a:latin typeface="Calibri"/>
              <a:cs typeface="Calibri"/>
            </a:endParaRPr>
          </a:p>
          <a:p>
            <a:pPr lvl="1" marL="1050290" indent="-342900">
              <a:lnSpc>
                <a:spcPts val="2695"/>
              </a:lnSpc>
              <a:buSzPct val="81250"/>
              <a:buFont typeface="Arial"/>
              <a:buChar char="•"/>
              <a:tabLst>
                <a:tab pos="1050290" algn="l"/>
              </a:tabLst>
            </a:pPr>
            <a:r>
              <a:rPr dirty="0" sz="2400">
                <a:latin typeface="Calibri"/>
                <a:cs typeface="Calibri"/>
              </a:rPr>
              <a:t>Oracle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Virtual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Box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40406" y="4657235"/>
            <a:ext cx="2823696" cy="21733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3921" rIns="0" bIns="0" rtlCol="0" vert="horz">
            <a:spAutoFit/>
          </a:bodyPr>
          <a:lstStyle/>
          <a:p>
            <a:pPr marL="203200">
              <a:lnSpc>
                <a:spcPct val="100000"/>
              </a:lnSpc>
              <a:spcBef>
                <a:spcPts val="380"/>
              </a:spcBef>
            </a:pPr>
            <a:r>
              <a:rPr dirty="0">
                <a:solidFill>
                  <a:srgbClr val="2E5395"/>
                </a:solidFill>
                <a:latin typeface="Arial"/>
                <a:cs typeface="Arial"/>
              </a:rPr>
              <a:t>CLOUD</a:t>
            </a:r>
            <a:r>
              <a:rPr dirty="0" spc="-90">
                <a:solidFill>
                  <a:srgbClr val="2E5395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2E5395"/>
                </a:solidFill>
                <a:latin typeface="Arial"/>
                <a:cs typeface="Arial"/>
              </a:rPr>
              <a:t>COMPUTING</a:t>
            </a:r>
          </a:p>
          <a:p>
            <a:pPr marL="200660">
              <a:lnSpc>
                <a:spcPct val="100000"/>
              </a:lnSpc>
              <a:spcBef>
                <a:spcPts val="280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More</a:t>
            </a:r>
            <a:r>
              <a:rPr dirty="0" spc="-3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details</a:t>
            </a:r>
            <a:r>
              <a:rPr dirty="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of</a:t>
            </a:r>
            <a:r>
              <a:rPr dirty="0" spc="-3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Full</a:t>
            </a:r>
            <a:r>
              <a:rPr dirty="0" spc="-5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and</a:t>
            </a:r>
            <a:r>
              <a:rPr dirty="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Para</a:t>
            </a:r>
            <a:r>
              <a:rPr dirty="0" spc="-2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Virtualization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432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703" y="0"/>
                </a:moveTo>
                <a:lnTo>
                  <a:pt x="0" y="0"/>
                </a:lnTo>
                <a:lnTo>
                  <a:pt x="0" y="38100"/>
                </a:lnTo>
                <a:lnTo>
                  <a:pt x="8291703" y="38100"/>
                </a:lnTo>
                <a:lnTo>
                  <a:pt x="8291703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4218" y="1502163"/>
            <a:ext cx="6598866" cy="282015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46100" y="4340893"/>
            <a:ext cx="11986895" cy="2241550"/>
          </a:xfrm>
          <a:prstGeom prst="rect">
            <a:avLst/>
          </a:prstGeom>
        </p:spPr>
        <p:txBody>
          <a:bodyPr wrap="square" lIns="0" tIns="130810" rIns="0" bIns="0" rtlCol="0" vert="horz">
            <a:spAutoFit/>
          </a:bodyPr>
          <a:lstStyle/>
          <a:p>
            <a:pPr marL="419100" indent="-406400">
              <a:lnSpc>
                <a:spcPct val="100000"/>
              </a:lnSpc>
              <a:spcBef>
                <a:spcPts val="1030"/>
              </a:spcBef>
              <a:buClr>
                <a:srgbClr val="833B0A"/>
              </a:buClr>
              <a:buChar char="▪"/>
              <a:tabLst>
                <a:tab pos="419100" algn="l"/>
              </a:tabLst>
            </a:pPr>
            <a:r>
              <a:rPr dirty="0" sz="2200">
                <a:latin typeface="Calibri"/>
                <a:cs typeface="Calibri"/>
              </a:rPr>
              <a:t>Full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virtualization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architecture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intercepts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&amp;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emulates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privileged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sensitive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instructions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runtime</a:t>
            </a:r>
            <a:endParaRPr sz="2200">
              <a:latin typeface="Calibri"/>
              <a:cs typeface="Calibri"/>
            </a:endParaRPr>
          </a:p>
          <a:p>
            <a:pPr marL="419100" indent="-406400">
              <a:lnSpc>
                <a:spcPct val="100000"/>
              </a:lnSpc>
              <a:spcBef>
                <a:spcPts val="925"/>
              </a:spcBef>
              <a:buClr>
                <a:srgbClr val="833B0A"/>
              </a:buClr>
              <a:buChar char="▪"/>
              <a:tabLst>
                <a:tab pos="419100" algn="l"/>
              </a:tabLst>
            </a:pPr>
            <a:r>
              <a:rPr dirty="0" sz="2200" spc="-10">
                <a:latin typeface="Calibri"/>
                <a:cs typeface="Calibri"/>
              </a:rPr>
              <a:t>Para-virtualization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handles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these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privileged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sensitive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instructions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at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 b="1" i="1">
                <a:solidFill>
                  <a:srgbClr val="006FC0"/>
                </a:solidFill>
                <a:latin typeface="Calibri"/>
                <a:cs typeface="Calibri"/>
              </a:rPr>
              <a:t>compile</a:t>
            </a:r>
            <a:r>
              <a:rPr dirty="0" sz="2200" spc="-45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 i="1">
                <a:solidFill>
                  <a:srgbClr val="006FC0"/>
                </a:solidFill>
                <a:latin typeface="Calibri"/>
                <a:cs typeface="Calibri"/>
              </a:rPr>
              <a:t>time</a:t>
            </a:r>
            <a:r>
              <a:rPr dirty="0" sz="2200" spc="-10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guest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OS.</a:t>
            </a:r>
            <a:endParaRPr sz="2200">
              <a:latin typeface="Calibri"/>
              <a:cs typeface="Calibri"/>
            </a:endParaRPr>
          </a:p>
          <a:p>
            <a:pPr lvl="1" marL="733425" indent="-289560">
              <a:lnSpc>
                <a:spcPct val="100000"/>
              </a:lnSpc>
              <a:spcBef>
                <a:spcPts val="935"/>
              </a:spcBef>
              <a:buClr>
                <a:srgbClr val="833B0A"/>
              </a:buClr>
              <a:buChar char="▪"/>
              <a:tabLst>
                <a:tab pos="733425" algn="l"/>
              </a:tabLst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guest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kernel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modified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replace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privileged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sensitive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instructions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with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 b="1" i="1">
                <a:solidFill>
                  <a:srgbClr val="FF0000"/>
                </a:solidFill>
                <a:latin typeface="Calibri"/>
                <a:cs typeface="Calibri"/>
              </a:rPr>
              <a:t>hypercalls</a:t>
            </a:r>
            <a:r>
              <a:rPr dirty="0" sz="2200" spc="-30" b="1" i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to</a:t>
            </a:r>
            <a:endParaRPr sz="2200">
              <a:latin typeface="Calibri"/>
              <a:cs typeface="Calibri"/>
            </a:endParaRPr>
          </a:p>
          <a:p>
            <a:pPr marL="733425">
              <a:lnSpc>
                <a:spcPct val="100000"/>
              </a:lnSpc>
              <a:spcBef>
                <a:spcPts val="530"/>
              </a:spcBef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hypervisor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VMM.</a:t>
            </a:r>
            <a:endParaRPr sz="2200">
              <a:latin typeface="Calibri"/>
              <a:cs typeface="Calibri"/>
            </a:endParaRPr>
          </a:p>
          <a:p>
            <a:pPr lvl="1" marL="733425" indent="-289560">
              <a:lnSpc>
                <a:spcPct val="100000"/>
              </a:lnSpc>
              <a:spcBef>
                <a:spcPts val="925"/>
              </a:spcBef>
              <a:buClr>
                <a:srgbClr val="833B0A"/>
              </a:buClr>
              <a:buChar char="▪"/>
              <a:tabLst>
                <a:tab pos="733425" algn="l"/>
              </a:tabLst>
            </a:pPr>
            <a:r>
              <a:rPr dirty="0" sz="2200">
                <a:latin typeface="Calibri"/>
                <a:cs typeface="Calibri"/>
              </a:rPr>
              <a:t>Xen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assumes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such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para-</a:t>
            </a:r>
            <a:r>
              <a:rPr dirty="0" sz="2200" spc="-10">
                <a:latin typeface="Calibri"/>
                <a:cs typeface="Calibri"/>
              </a:rPr>
              <a:t>virtualization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architecture.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97432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703" y="0"/>
                </a:moveTo>
                <a:lnTo>
                  <a:pt x="0" y="0"/>
                </a:lnTo>
                <a:lnTo>
                  <a:pt x="0" y="38100"/>
                </a:lnTo>
                <a:lnTo>
                  <a:pt x="8291703" y="38100"/>
                </a:lnTo>
                <a:lnTo>
                  <a:pt x="8291703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0232" y="242061"/>
            <a:ext cx="11551920" cy="6431915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380"/>
              </a:spcBef>
            </a:pPr>
            <a:r>
              <a:rPr dirty="0" sz="2400" b="1">
                <a:solidFill>
                  <a:srgbClr val="2E5395"/>
                </a:solidFill>
                <a:latin typeface="Arial"/>
                <a:cs typeface="Arial"/>
              </a:rPr>
              <a:t>CLOUD</a:t>
            </a:r>
            <a:r>
              <a:rPr dirty="0" sz="2400" spc="-90" b="1">
                <a:solidFill>
                  <a:srgbClr val="2E5395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2E5395"/>
                </a:solidFill>
                <a:latin typeface="Arial"/>
                <a:cs typeface="Arial"/>
              </a:rPr>
              <a:t>COMPUTING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Paravirtualization</a:t>
            </a:r>
            <a:r>
              <a:rPr dirty="0" sz="2400" spc="-12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Overview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2075"/>
              </a:spcBef>
              <a:buClr>
                <a:srgbClr val="833B0A"/>
              </a:buClr>
              <a:buFont typeface="Calibri"/>
              <a:buChar char="▪"/>
              <a:tabLst>
                <a:tab pos="354965" algn="l"/>
              </a:tabLst>
            </a:pPr>
            <a:r>
              <a:rPr dirty="0" sz="2400">
                <a:latin typeface="Arial"/>
                <a:cs typeface="Arial"/>
              </a:rPr>
              <a:t>Performance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degradation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is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critical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issue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virtualized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system.</a:t>
            </a:r>
            <a:endParaRPr sz="2400">
              <a:latin typeface="Arial"/>
              <a:cs typeface="Arial"/>
            </a:endParaRPr>
          </a:p>
          <a:p>
            <a:pPr lvl="1" marL="659765" indent="-342265">
              <a:lnSpc>
                <a:spcPct val="100000"/>
              </a:lnSpc>
              <a:spcBef>
                <a:spcPts val="990"/>
              </a:spcBef>
              <a:buClr>
                <a:srgbClr val="833B0A"/>
              </a:buClr>
              <a:buFont typeface="Calibri"/>
              <a:buChar char="▪"/>
              <a:tabLst>
                <a:tab pos="659765" algn="l"/>
              </a:tabLst>
            </a:pPr>
            <a:r>
              <a:rPr dirty="0" sz="2400">
                <a:latin typeface="Arial"/>
                <a:cs typeface="Arial"/>
              </a:rPr>
              <a:t>No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one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wants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to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use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VM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if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it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is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much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slower</a:t>
            </a:r>
            <a:r>
              <a:rPr dirty="0" sz="2400" spc="-2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than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using</a:t>
            </a:r>
            <a:r>
              <a:rPr dirty="0" sz="2400" spc="-2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physical</a:t>
            </a:r>
            <a:r>
              <a:rPr dirty="0" sz="2400" spc="-1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machine.</a:t>
            </a:r>
            <a:endParaRPr sz="2400">
              <a:latin typeface="Arial"/>
              <a:cs typeface="Arial"/>
            </a:endParaRPr>
          </a:p>
          <a:p>
            <a:pPr lvl="1" marL="660400" marR="5080" indent="-342900">
              <a:lnSpc>
                <a:spcPct val="120100"/>
              </a:lnSpc>
              <a:spcBef>
                <a:spcPts val="390"/>
              </a:spcBef>
              <a:buClr>
                <a:srgbClr val="833B0A"/>
              </a:buClr>
              <a:buFont typeface="Calibri"/>
              <a:buChar char="▪"/>
              <a:tabLst>
                <a:tab pos="660400" algn="l"/>
              </a:tabLst>
            </a:pPr>
            <a:r>
              <a:rPr dirty="0" sz="2400" spc="-25">
                <a:latin typeface="Arial"/>
                <a:cs typeface="Arial"/>
              </a:rPr>
              <a:t>Para-</a:t>
            </a:r>
            <a:r>
              <a:rPr dirty="0" sz="2400" spc="-10">
                <a:latin typeface="Arial"/>
                <a:cs typeface="Arial"/>
              </a:rPr>
              <a:t>virtualization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attempts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to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reduce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virtualization</a:t>
            </a:r>
            <a:r>
              <a:rPr dirty="0" sz="2400" spc="-3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overhead,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and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thus </a:t>
            </a:r>
            <a:r>
              <a:rPr dirty="0" sz="2400">
                <a:latin typeface="Arial"/>
                <a:cs typeface="Arial"/>
              </a:rPr>
              <a:t>improve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performance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by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modifying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guest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OS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kernel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and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putting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any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requests </a:t>
            </a:r>
            <a:r>
              <a:rPr dirty="0" sz="2400">
                <a:latin typeface="Arial"/>
                <a:cs typeface="Arial"/>
              </a:rPr>
              <a:t>on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applications.</a:t>
            </a:r>
            <a:endParaRPr sz="2400">
              <a:latin typeface="Arial"/>
              <a:cs typeface="Arial"/>
            </a:endParaRPr>
          </a:p>
          <a:p>
            <a:pPr marL="355600" marR="329565" indent="-342900">
              <a:lnSpc>
                <a:spcPct val="120000"/>
              </a:lnSpc>
              <a:buClr>
                <a:srgbClr val="833B0A"/>
              </a:buClr>
              <a:buFont typeface="Calibri"/>
              <a:buChar char="▪"/>
              <a:tabLst>
                <a:tab pos="355600" algn="l"/>
              </a:tabLst>
            </a:pPr>
            <a:r>
              <a:rPr dirty="0" sz="2400">
                <a:latin typeface="Arial"/>
                <a:cs typeface="Arial"/>
              </a:rPr>
              <a:t>Modify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guest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OS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(used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with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paravirtualization)</a:t>
            </a:r>
            <a:r>
              <a:rPr dirty="0" sz="2400" spc="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so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that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it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interfaces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better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with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2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hypervisor</a:t>
            </a:r>
            <a:endParaRPr sz="2400">
              <a:latin typeface="Arial"/>
              <a:cs typeface="Arial"/>
            </a:endParaRPr>
          </a:p>
          <a:p>
            <a:pPr marL="733425" marR="624840" indent="-342900">
              <a:lnSpc>
                <a:spcPct val="110000"/>
              </a:lnSpc>
              <a:spcBef>
                <a:spcPts val="470"/>
              </a:spcBef>
              <a:buClr>
                <a:srgbClr val="833B0A"/>
              </a:buClr>
              <a:buChar char="•"/>
              <a:tabLst>
                <a:tab pos="733425" algn="l"/>
              </a:tabLst>
            </a:pPr>
            <a:r>
              <a:rPr dirty="0" sz="2400">
                <a:latin typeface="Arial"/>
                <a:cs typeface="Arial"/>
              </a:rPr>
              <a:t>Access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non-</a:t>
            </a:r>
            <a:r>
              <a:rPr dirty="0" sz="2400">
                <a:latin typeface="Arial"/>
                <a:cs typeface="Arial"/>
              </a:rPr>
              <a:t>virtualizable</a:t>
            </a:r>
            <a:r>
              <a:rPr dirty="0" sz="2400" spc="-2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OS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instructions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using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hypervisor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APIs</a:t>
            </a:r>
            <a:r>
              <a:rPr dirty="0" sz="2400" spc="51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(</a:t>
            </a:r>
            <a:r>
              <a:rPr dirty="0" sz="2400" spc="-10" b="1">
                <a:solidFill>
                  <a:srgbClr val="FF0000"/>
                </a:solidFill>
                <a:latin typeface="Arial"/>
                <a:cs typeface="Arial"/>
              </a:rPr>
              <a:t>hypercall</a:t>
            </a:r>
            <a:r>
              <a:rPr dirty="0" sz="2400" spc="-10">
                <a:latin typeface="Arial"/>
                <a:cs typeface="Arial"/>
              </a:rPr>
              <a:t>) </a:t>
            </a:r>
            <a:r>
              <a:rPr dirty="0" sz="2400">
                <a:latin typeface="Arial"/>
                <a:cs typeface="Arial"/>
              </a:rPr>
              <a:t>which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are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special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I/O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APIs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(does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not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emulate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hardware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I/O)</a:t>
            </a:r>
            <a:endParaRPr sz="2400">
              <a:latin typeface="Arial"/>
              <a:cs typeface="Arial"/>
            </a:endParaRPr>
          </a:p>
          <a:p>
            <a:pPr marL="733425" indent="-342900">
              <a:lnSpc>
                <a:spcPct val="100000"/>
              </a:lnSpc>
              <a:spcBef>
                <a:spcPts val="695"/>
              </a:spcBef>
              <a:buClr>
                <a:srgbClr val="833B0A"/>
              </a:buClr>
              <a:buChar char="•"/>
              <a:tabLst>
                <a:tab pos="733425" algn="l"/>
              </a:tabLst>
            </a:pPr>
            <a:r>
              <a:rPr dirty="0" sz="2400">
                <a:latin typeface="Arial"/>
                <a:cs typeface="Arial"/>
              </a:rPr>
              <a:t>This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would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support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improved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performance</a:t>
            </a:r>
            <a:endParaRPr sz="2400">
              <a:latin typeface="Arial"/>
              <a:cs typeface="Arial"/>
            </a:endParaRPr>
          </a:p>
          <a:p>
            <a:pPr marL="355600" marR="104139" indent="-342900">
              <a:lnSpc>
                <a:spcPct val="120000"/>
              </a:lnSpc>
              <a:spcBef>
                <a:spcPts val="330"/>
              </a:spcBef>
              <a:buClr>
                <a:srgbClr val="833B0A"/>
              </a:buClr>
              <a:buFont typeface="Calibri"/>
              <a:buChar char="▪"/>
              <a:tabLst>
                <a:tab pos="355600" algn="l"/>
              </a:tabLst>
            </a:pPr>
            <a:r>
              <a:rPr dirty="0" sz="2400">
                <a:latin typeface="Arial"/>
                <a:cs typeface="Arial"/>
              </a:rPr>
              <a:t>There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is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no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requirement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for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modification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user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applications</a:t>
            </a:r>
            <a:r>
              <a:rPr dirty="0" sz="2400" spc="-2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for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performance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an </a:t>
            </a:r>
            <a:r>
              <a:rPr dirty="0" sz="2400" spc="-10">
                <a:latin typeface="Arial"/>
                <a:cs typeface="Arial"/>
              </a:rPr>
              <a:t>paravirtualized</a:t>
            </a:r>
            <a:r>
              <a:rPr dirty="0" sz="2400" spc="-3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VM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with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modified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OS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3921" rIns="0" bIns="0" rtlCol="0" vert="horz">
            <a:spAutoFit/>
          </a:bodyPr>
          <a:lstStyle/>
          <a:p>
            <a:pPr marL="203200">
              <a:lnSpc>
                <a:spcPct val="100000"/>
              </a:lnSpc>
              <a:spcBef>
                <a:spcPts val="380"/>
              </a:spcBef>
            </a:pPr>
            <a:r>
              <a:rPr dirty="0">
                <a:solidFill>
                  <a:srgbClr val="2E5395"/>
                </a:solidFill>
                <a:latin typeface="Arial"/>
                <a:cs typeface="Arial"/>
              </a:rPr>
              <a:t>CLOUD</a:t>
            </a:r>
            <a:r>
              <a:rPr dirty="0" spc="-90">
                <a:solidFill>
                  <a:srgbClr val="2E5395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2E5395"/>
                </a:solidFill>
                <a:latin typeface="Arial"/>
                <a:cs typeface="Arial"/>
              </a:rPr>
              <a:t>COMPUTING</a:t>
            </a:r>
          </a:p>
          <a:p>
            <a:pPr marL="200660">
              <a:lnSpc>
                <a:spcPct val="100000"/>
              </a:lnSpc>
              <a:spcBef>
                <a:spcPts val="280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Paravirtualization</a:t>
            </a:r>
            <a:r>
              <a:rPr dirty="0" spc="-12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Architecture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432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703" y="0"/>
                </a:moveTo>
                <a:lnTo>
                  <a:pt x="0" y="0"/>
                </a:lnTo>
                <a:lnTo>
                  <a:pt x="0" y="38100"/>
                </a:lnTo>
                <a:lnTo>
                  <a:pt x="8291703" y="38100"/>
                </a:lnTo>
                <a:lnTo>
                  <a:pt x="8291703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115" y="1636507"/>
            <a:ext cx="11301603" cy="486054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3319" rIns="0" bIns="0" rtlCol="0" vert="horz">
            <a:spAutoFit/>
          </a:bodyPr>
          <a:lstStyle/>
          <a:p>
            <a:pPr marL="200660">
              <a:lnSpc>
                <a:spcPct val="100000"/>
              </a:lnSpc>
              <a:spcBef>
                <a:spcPts val="300"/>
              </a:spcBef>
            </a:pPr>
            <a:r>
              <a:rPr dirty="0">
                <a:solidFill>
                  <a:srgbClr val="2E5395"/>
                </a:solidFill>
                <a:latin typeface="Arial"/>
                <a:cs typeface="Arial"/>
              </a:rPr>
              <a:t>CLOUD</a:t>
            </a:r>
            <a:r>
              <a:rPr dirty="0" spc="-90">
                <a:solidFill>
                  <a:srgbClr val="2E5395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2E5395"/>
                </a:solidFill>
                <a:latin typeface="Arial"/>
                <a:cs typeface="Arial"/>
              </a:rPr>
              <a:t>COMPUTING</a:t>
            </a:r>
          </a:p>
          <a:p>
            <a:pPr marL="200660">
              <a:lnSpc>
                <a:spcPct val="100000"/>
              </a:lnSpc>
              <a:spcBef>
                <a:spcPts val="204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Paravirtualization</a:t>
            </a:r>
            <a:r>
              <a:rPr dirty="0" spc="-5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with</a:t>
            </a:r>
            <a:r>
              <a:rPr dirty="0" spc="-7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Guest</a:t>
            </a:r>
            <a:r>
              <a:rPr dirty="0" spc="-3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OS</a:t>
            </a:r>
            <a:r>
              <a:rPr dirty="0" spc="-4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Compiler</a:t>
            </a:r>
            <a:r>
              <a:rPr dirty="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Support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432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703" y="0"/>
                </a:moveTo>
                <a:lnTo>
                  <a:pt x="0" y="0"/>
                </a:lnTo>
                <a:lnTo>
                  <a:pt x="0" y="38100"/>
                </a:lnTo>
                <a:lnTo>
                  <a:pt x="8291703" y="38100"/>
                </a:lnTo>
                <a:lnTo>
                  <a:pt x="8291703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7515" y="1304167"/>
            <a:ext cx="11732895" cy="4224655"/>
          </a:xfrm>
          <a:prstGeom prst="rect">
            <a:avLst/>
          </a:prstGeom>
        </p:spPr>
        <p:txBody>
          <a:bodyPr wrap="square" lIns="0" tIns="12890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15"/>
              </a:spcBef>
              <a:buSzPct val="85714"/>
              <a:buFont typeface="Arial"/>
              <a:buChar char="•"/>
              <a:tabLst>
                <a:tab pos="354965" algn="l"/>
              </a:tabLst>
            </a:pPr>
            <a:r>
              <a:rPr dirty="0" sz="2100">
                <a:latin typeface="Calibri"/>
                <a:cs typeface="Calibri"/>
              </a:rPr>
              <a:t>The</a:t>
            </a:r>
            <a:r>
              <a:rPr dirty="0" sz="2100" spc="-2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guest</a:t>
            </a:r>
            <a:r>
              <a:rPr dirty="0" sz="2100" spc="-1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OS</a:t>
            </a:r>
            <a:r>
              <a:rPr dirty="0" sz="2100" spc="-2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running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in</a:t>
            </a:r>
            <a:r>
              <a:rPr dirty="0" sz="2100" spc="-2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</a:t>
            </a:r>
            <a:r>
              <a:rPr dirty="0" sz="2100" spc="-1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guest</a:t>
            </a:r>
            <a:r>
              <a:rPr dirty="0" sz="2100" spc="-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domain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may</a:t>
            </a:r>
            <a:r>
              <a:rPr dirty="0" sz="2100" spc="-2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run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at</a:t>
            </a:r>
            <a:r>
              <a:rPr dirty="0" sz="2100" spc="-1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Ring</a:t>
            </a:r>
            <a:r>
              <a:rPr dirty="0" sz="2100" spc="-1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1</a:t>
            </a:r>
            <a:r>
              <a:rPr dirty="0" sz="2100" spc="-1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instead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of</a:t>
            </a:r>
            <a:r>
              <a:rPr dirty="0" sz="2100" spc="-1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at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Ring</a:t>
            </a:r>
            <a:r>
              <a:rPr dirty="0" sz="2100" spc="-25">
                <a:latin typeface="Calibri"/>
                <a:cs typeface="Calibri"/>
              </a:rPr>
              <a:t> 0.</a:t>
            </a:r>
            <a:endParaRPr sz="2100">
              <a:latin typeface="Calibri"/>
              <a:cs typeface="Calibri"/>
            </a:endParaRPr>
          </a:p>
          <a:p>
            <a:pPr lvl="1" marL="725805" indent="-342900">
              <a:lnSpc>
                <a:spcPct val="100000"/>
              </a:lnSpc>
              <a:spcBef>
                <a:spcPts val="915"/>
              </a:spcBef>
              <a:buSzPct val="85714"/>
              <a:buFont typeface="Arial"/>
              <a:buChar char="•"/>
              <a:tabLst>
                <a:tab pos="725805" algn="l"/>
              </a:tabLst>
            </a:pPr>
            <a:r>
              <a:rPr dirty="0" sz="2100">
                <a:latin typeface="Calibri"/>
                <a:cs typeface="Calibri"/>
              </a:rPr>
              <a:t>This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implies</a:t>
            </a:r>
            <a:r>
              <a:rPr dirty="0" sz="2100" spc="-2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that</a:t>
            </a:r>
            <a:r>
              <a:rPr dirty="0" sz="2100" spc="-6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the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guest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OS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may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not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be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able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to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execute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some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privileged</a:t>
            </a:r>
            <a:r>
              <a:rPr dirty="0" sz="2100" spc="-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and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sensitive</a:t>
            </a:r>
            <a:r>
              <a:rPr dirty="0" sz="2100" spc="-5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instructions.</a:t>
            </a:r>
            <a:endParaRPr sz="21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900"/>
              </a:spcBef>
              <a:buSzPct val="85714"/>
              <a:buFont typeface="Arial"/>
              <a:buChar char="•"/>
              <a:tabLst>
                <a:tab pos="354965" algn="l"/>
              </a:tabLst>
            </a:pPr>
            <a:r>
              <a:rPr dirty="0" sz="2100">
                <a:latin typeface="Calibri"/>
                <a:cs typeface="Calibri"/>
              </a:rPr>
              <a:t>The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privileged</a:t>
            </a:r>
            <a:r>
              <a:rPr dirty="0" sz="2100" spc="-1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instructions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are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implemented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by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hypercalls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to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the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hypervisor.</a:t>
            </a:r>
            <a:endParaRPr sz="21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900"/>
              </a:spcBef>
              <a:buSzPct val="85714"/>
              <a:buFont typeface="Arial"/>
              <a:buChar char="•"/>
              <a:tabLst>
                <a:tab pos="354965" algn="l"/>
              </a:tabLst>
            </a:pPr>
            <a:r>
              <a:rPr dirty="0" sz="2100">
                <a:latin typeface="Calibri"/>
                <a:cs typeface="Calibri"/>
              </a:rPr>
              <a:t>The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guest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OS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is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compiled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with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changes,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replacing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some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of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these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privileged</a:t>
            </a:r>
            <a:r>
              <a:rPr dirty="0" sz="2100" spc="-1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instructions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with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hypercalls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 spc="-25">
                <a:latin typeface="Calibri"/>
                <a:cs typeface="Calibri"/>
              </a:rPr>
              <a:t>to</a:t>
            </a:r>
            <a:endParaRPr sz="21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05"/>
              </a:spcBef>
            </a:pPr>
            <a:r>
              <a:rPr dirty="0" sz="2100">
                <a:latin typeface="Calibri"/>
                <a:cs typeface="Calibri"/>
              </a:rPr>
              <a:t>the </a:t>
            </a:r>
            <a:r>
              <a:rPr dirty="0" sz="2100" spc="-10">
                <a:latin typeface="Calibri"/>
                <a:cs typeface="Calibri"/>
              </a:rPr>
              <a:t>hypervisor</a:t>
            </a:r>
            <a:endParaRPr sz="2100">
              <a:latin typeface="Calibri"/>
              <a:cs typeface="Calibri"/>
            </a:endParaRPr>
          </a:p>
          <a:p>
            <a:pPr marL="355600" marR="568325" indent="-342900">
              <a:lnSpc>
                <a:spcPct val="120000"/>
              </a:lnSpc>
              <a:spcBef>
                <a:spcPts val="409"/>
              </a:spcBef>
              <a:buSzPct val="85714"/>
              <a:buFont typeface="Arial"/>
              <a:buChar char="•"/>
              <a:tabLst>
                <a:tab pos="355600" algn="l"/>
              </a:tabLst>
            </a:pPr>
            <a:r>
              <a:rPr dirty="0" sz="2100">
                <a:latin typeface="Calibri"/>
                <a:cs typeface="Calibri"/>
              </a:rPr>
              <a:t>After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replacing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the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instructions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with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hypercalls,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the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modified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guest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OS</a:t>
            </a:r>
            <a:r>
              <a:rPr dirty="0" sz="2100" spc="-6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emulates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the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behavior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of</a:t>
            </a:r>
            <a:r>
              <a:rPr dirty="0" sz="2100" spc="-60">
                <a:latin typeface="Calibri"/>
                <a:cs typeface="Calibri"/>
              </a:rPr>
              <a:t> </a:t>
            </a:r>
            <a:r>
              <a:rPr dirty="0" sz="2100" spc="-25">
                <a:latin typeface="Calibri"/>
                <a:cs typeface="Calibri"/>
              </a:rPr>
              <a:t>the </a:t>
            </a:r>
            <a:r>
              <a:rPr dirty="0" sz="2100">
                <a:latin typeface="Calibri"/>
                <a:cs typeface="Calibri"/>
              </a:rPr>
              <a:t>original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guest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 spc="-25">
                <a:latin typeface="Calibri"/>
                <a:cs typeface="Calibri"/>
              </a:rPr>
              <a:t>OS.</a:t>
            </a:r>
            <a:endParaRPr sz="2100">
              <a:latin typeface="Calibri"/>
              <a:cs typeface="Calibri"/>
            </a:endParaRPr>
          </a:p>
          <a:p>
            <a:pPr marL="355600" marR="981710" indent="-342900">
              <a:lnSpc>
                <a:spcPct val="120000"/>
              </a:lnSpc>
              <a:spcBef>
                <a:spcPts val="400"/>
              </a:spcBef>
              <a:buSzPct val="85714"/>
              <a:buFont typeface="Arial"/>
              <a:buChar char="•"/>
              <a:tabLst>
                <a:tab pos="355600" algn="l"/>
              </a:tabLst>
            </a:pPr>
            <a:r>
              <a:rPr dirty="0" sz="2100">
                <a:latin typeface="Calibri"/>
                <a:cs typeface="Calibri"/>
              </a:rPr>
              <a:t>On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an</a:t>
            </a:r>
            <a:r>
              <a:rPr dirty="0" sz="2100" spc="-6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UNIX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system,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system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call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involves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an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interrupt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or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service</a:t>
            </a:r>
            <a:r>
              <a:rPr dirty="0" sz="2100" spc="-1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routine.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The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hypercalls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apply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 spc="-50">
                <a:latin typeface="Calibri"/>
                <a:cs typeface="Calibri"/>
              </a:rPr>
              <a:t>a </a:t>
            </a:r>
            <a:r>
              <a:rPr dirty="0" sz="2100">
                <a:latin typeface="Calibri"/>
                <a:cs typeface="Calibri"/>
              </a:rPr>
              <a:t>dedicated</a:t>
            </a:r>
            <a:r>
              <a:rPr dirty="0" sz="2100" spc="-6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service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routine.</a:t>
            </a:r>
            <a:endParaRPr sz="21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900"/>
              </a:spcBef>
              <a:buSzPct val="85714"/>
              <a:buFont typeface="Arial"/>
              <a:buChar char="•"/>
              <a:tabLst>
                <a:tab pos="354965" algn="l"/>
              </a:tabLst>
            </a:pPr>
            <a:r>
              <a:rPr dirty="0" sz="2100">
                <a:latin typeface="Calibri"/>
                <a:cs typeface="Calibri"/>
              </a:rPr>
              <a:t>Xen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assumes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such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para-</a:t>
            </a:r>
            <a:r>
              <a:rPr dirty="0" sz="2100" spc="-10">
                <a:latin typeface="Calibri"/>
                <a:cs typeface="Calibri"/>
              </a:rPr>
              <a:t>virtualization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architecture.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9875" y="180147"/>
            <a:ext cx="7505700" cy="828040"/>
          </a:xfrm>
          <a:prstGeom prst="rect"/>
        </p:spPr>
        <p:txBody>
          <a:bodyPr wrap="square" lIns="0" tIns="48260" rIns="0" bIns="0" rtlCol="0" vert="horz">
            <a:spAutoFit/>
          </a:bodyPr>
          <a:lstStyle/>
          <a:p>
            <a:pPr marL="44450">
              <a:lnSpc>
                <a:spcPct val="100000"/>
              </a:lnSpc>
              <a:spcBef>
                <a:spcPts val="380"/>
              </a:spcBef>
            </a:pPr>
            <a:r>
              <a:rPr dirty="0">
                <a:solidFill>
                  <a:srgbClr val="2E5395"/>
                </a:solidFill>
                <a:latin typeface="Arial"/>
                <a:cs typeface="Arial"/>
              </a:rPr>
              <a:t>CLOUD</a:t>
            </a:r>
            <a:r>
              <a:rPr dirty="0" spc="-5">
                <a:solidFill>
                  <a:srgbClr val="2E5395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2E5395"/>
                </a:solidFill>
                <a:latin typeface="Arial"/>
                <a:cs typeface="Arial"/>
              </a:rPr>
              <a:t>COMPUTING</a:t>
            </a: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Paravirtualization</a:t>
            </a:r>
            <a:r>
              <a:rPr dirty="0" spc="-3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Illustration</a:t>
            </a:r>
            <a:r>
              <a:rPr dirty="0" spc="-5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with</a:t>
            </a:r>
            <a:r>
              <a:rPr dirty="0" spc="-5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Memory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 handling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432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703" y="0"/>
                </a:moveTo>
                <a:lnTo>
                  <a:pt x="0" y="0"/>
                </a:lnTo>
                <a:lnTo>
                  <a:pt x="0" y="38100"/>
                </a:lnTo>
                <a:lnTo>
                  <a:pt x="8291703" y="38100"/>
                </a:lnTo>
                <a:lnTo>
                  <a:pt x="8291703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64388" y="1175410"/>
            <a:ext cx="5605145" cy="982980"/>
          </a:xfrm>
          <a:prstGeom prst="rect">
            <a:avLst/>
          </a:prstGeom>
        </p:spPr>
        <p:txBody>
          <a:bodyPr wrap="square" lIns="0" tIns="15557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225"/>
              </a:spcBef>
              <a:buSzPct val="81818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Xen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writeable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tables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50">
                <a:latin typeface="Calibri"/>
                <a:cs typeface="Calibri"/>
              </a:rPr>
              <a:t>:</a:t>
            </a:r>
            <a:endParaRPr sz="2200">
              <a:latin typeface="Calibri"/>
              <a:cs typeface="Calibri"/>
            </a:endParaRPr>
          </a:p>
          <a:p>
            <a:pPr marL="405765">
              <a:lnSpc>
                <a:spcPct val="100000"/>
              </a:lnSpc>
              <a:spcBef>
                <a:spcPts val="1130"/>
              </a:spcBef>
            </a:pPr>
            <a:r>
              <a:rPr dirty="0" sz="2200">
                <a:latin typeface="Calibri"/>
                <a:cs typeface="Calibri"/>
              </a:rPr>
              <a:t>Guest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OS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tables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initially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readable.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809101" y="1738706"/>
            <a:ext cx="892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C00000"/>
                </a:solidFill>
                <a:latin typeface="Arial"/>
                <a:cs typeface="Arial"/>
              </a:rPr>
              <a:t>GuestOS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1588" y="2159360"/>
            <a:ext cx="6224270" cy="185547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00"/>
              </a:spcBef>
              <a:buSzPct val="81818"/>
              <a:buFont typeface="Arial"/>
              <a:buChar char="•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Guest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OS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enabled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writeable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tables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option</a:t>
            </a:r>
            <a:endParaRPr sz="2200">
              <a:latin typeface="Calibri"/>
              <a:cs typeface="Calibri"/>
            </a:endParaRPr>
          </a:p>
          <a:p>
            <a:pPr marL="355600" marR="5080" indent="-343535">
              <a:lnSpc>
                <a:spcPct val="100000"/>
              </a:lnSpc>
              <a:spcBef>
                <a:spcPts val="400"/>
              </a:spcBef>
              <a:buSzPct val="81818"/>
              <a:buFont typeface="Arial"/>
              <a:buChar char="•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Guest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tries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write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guest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tables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and </a:t>
            </a:r>
            <a:r>
              <a:rPr dirty="0" sz="2200">
                <a:latin typeface="Calibri"/>
                <a:cs typeface="Calibri"/>
              </a:rPr>
              <a:t>generates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trap</a:t>
            </a:r>
            <a:endParaRPr sz="2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05"/>
              </a:spcBef>
              <a:buSzPct val="81818"/>
              <a:buFont typeface="Arial"/>
              <a:buChar char="•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Xen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based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trap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makes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guest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table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temporarily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writeable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52486" y="2123782"/>
            <a:ext cx="1276985" cy="664210"/>
          </a:xfrm>
          <a:prstGeom prst="rect">
            <a:avLst/>
          </a:prstGeom>
          <a:solidFill>
            <a:srgbClr val="4471C4"/>
          </a:solidFill>
          <a:ln w="25400">
            <a:solidFill>
              <a:srgbClr val="30528F"/>
            </a:solidFill>
          </a:ln>
        </p:spPr>
        <p:txBody>
          <a:bodyPr wrap="square" lIns="0" tIns="113664" rIns="0" bIns="0" rtlCol="0" vert="horz">
            <a:spAutoFit/>
          </a:bodyPr>
          <a:lstStyle/>
          <a:p>
            <a:pPr marL="349885" marR="342900" indent="76200">
              <a:lnSpc>
                <a:spcPct val="100000"/>
              </a:lnSpc>
              <a:spcBef>
                <a:spcPts val="894"/>
              </a:spcBef>
            </a:pPr>
            <a:r>
              <a:rPr dirty="0" sz="1400" spc="-20">
                <a:solidFill>
                  <a:srgbClr val="FFFFFF"/>
                </a:solidFill>
                <a:latin typeface="Arial"/>
                <a:cs typeface="Arial"/>
              </a:rPr>
              <a:t>Read </a:t>
            </a:r>
            <a:r>
              <a:rPr dirty="0" sz="1400" spc="-10">
                <a:solidFill>
                  <a:srgbClr val="FFFFFF"/>
                </a:solidFill>
                <a:latin typeface="Arial"/>
                <a:cs typeface="Arial"/>
              </a:rPr>
              <a:t>Access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730488" y="2188540"/>
            <a:ext cx="830580" cy="392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5244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Guest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25" b="1">
                <a:latin typeface="Arial"/>
                <a:cs typeface="Arial"/>
              </a:rPr>
              <a:t>OS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b="1">
                <a:latin typeface="Arial"/>
                <a:cs typeface="Arial"/>
              </a:rPr>
              <a:t>Page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Table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80753" y="2123782"/>
            <a:ext cx="1276985" cy="664210"/>
          </a:xfrm>
          <a:prstGeom prst="rect">
            <a:avLst/>
          </a:prstGeom>
          <a:solidFill>
            <a:srgbClr val="4471C4"/>
          </a:solidFill>
          <a:ln w="25400">
            <a:solidFill>
              <a:srgbClr val="30528F"/>
            </a:solidFill>
          </a:ln>
        </p:spPr>
        <p:txBody>
          <a:bodyPr wrap="square" lIns="0" tIns="113664" rIns="0" bIns="0" rtlCol="0" vert="horz">
            <a:spAutoFit/>
          </a:bodyPr>
          <a:lstStyle/>
          <a:p>
            <a:pPr marL="349885" marR="342265" indent="78740">
              <a:lnSpc>
                <a:spcPct val="100000"/>
              </a:lnSpc>
              <a:spcBef>
                <a:spcPts val="894"/>
              </a:spcBef>
            </a:pPr>
            <a:r>
              <a:rPr dirty="0" sz="1400" spc="-10">
                <a:solidFill>
                  <a:srgbClr val="FFFFFF"/>
                </a:solidFill>
                <a:latin typeface="Arial"/>
                <a:cs typeface="Arial"/>
              </a:rPr>
              <a:t>Write Access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133335" y="3119627"/>
            <a:ext cx="4788535" cy="0"/>
          </a:xfrm>
          <a:custGeom>
            <a:avLst/>
            <a:gdLst/>
            <a:ahLst/>
            <a:cxnLst/>
            <a:rect l="l" t="t" r="r" b="b"/>
            <a:pathLst>
              <a:path w="4788534" h="0">
                <a:moveTo>
                  <a:pt x="0" y="0"/>
                </a:moveTo>
                <a:lnTo>
                  <a:pt x="4788535" y="0"/>
                </a:lnTo>
              </a:path>
            </a:pathLst>
          </a:custGeom>
          <a:ln w="9525">
            <a:solidFill>
              <a:srgbClr val="3D6DC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452486" y="5692089"/>
            <a:ext cx="4150360" cy="853440"/>
          </a:xfrm>
          <a:prstGeom prst="rect">
            <a:avLst/>
          </a:prstGeom>
          <a:solidFill>
            <a:srgbClr val="A4A4A4"/>
          </a:solidFill>
          <a:ln w="25400">
            <a:solidFill>
              <a:srgbClr val="30528F"/>
            </a:solidFill>
          </a:ln>
        </p:spPr>
        <p:txBody>
          <a:bodyPr wrap="square" lIns="0" tIns="1111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875"/>
              </a:spcBef>
            </a:pPr>
            <a:endParaRPr sz="1400">
              <a:latin typeface="Times New Roman"/>
              <a:cs typeface="Times New Roman"/>
            </a:endParaRPr>
          </a:p>
          <a:p>
            <a:pPr marL="813435">
              <a:lnSpc>
                <a:spcPct val="100000"/>
              </a:lnSpc>
            </a:pPr>
            <a:r>
              <a:rPr dirty="0" sz="1400" b="1">
                <a:latin typeface="Arial"/>
                <a:cs typeface="Arial"/>
              </a:rPr>
              <a:t>Virtual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to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Physical Page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spc="-20" b="1">
                <a:latin typeface="Arial"/>
                <a:cs typeface="Arial"/>
              </a:rPr>
              <a:t>Table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052943" y="2787650"/>
            <a:ext cx="76200" cy="2904490"/>
          </a:xfrm>
          <a:custGeom>
            <a:avLst/>
            <a:gdLst/>
            <a:ahLst/>
            <a:cxnLst/>
            <a:rect l="l" t="t" r="r" b="b"/>
            <a:pathLst>
              <a:path w="76200" h="2904490">
                <a:moveTo>
                  <a:pt x="33274" y="2828239"/>
                </a:moveTo>
                <a:lnTo>
                  <a:pt x="0" y="2828239"/>
                </a:lnTo>
                <a:lnTo>
                  <a:pt x="38100" y="2904439"/>
                </a:lnTo>
                <a:lnTo>
                  <a:pt x="69850" y="2840939"/>
                </a:lnTo>
                <a:lnTo>
                  <a:pt x="33274" y="2840939"/>
                </a:lnTo>
                <a:lnTo>
                  <a:pt x="33274" y="2828239"/>
                </a:lnTo>
                <a:close/>
              </a:path>
              <a:path w="76200" h="2904490">
                <a:moveTo>
                  <a:pt x="42799" y="0"/>
                </a:moveTo>
                <a:lnTo>
                  <a:pt x="33274" y="0"/>
                </a:lnTo>
                <a:lnTo>
                  <a:pt x="33274" y="2840939"/>
                </a:lnTo>
                <a:lnTo>
                  <a:pt x="42799" y="2840939"/>
                </a:lnTo>
                <a:lnTo>
                  <a:pt x="42799" y="0"/>
                </a:lnTo>
                <a:close/>
              </a:path>
              <a:path w="76200" h="2904490">
                <a:moveTo>
                  <a:pt x="76200" y="2828239"/>
                </a:moveTo>
                <a:lnTo>
                  <a:pt x="42799" y="2828239"/>
                </a:lnTo>
                <a:lnTo>
                  <a:pt x="42799" y="2840939"/>
                </a:lnTo>
                <a:lnTo>
                  <a:pt x="69850" y="2840939"/>
                </a:lnTo>
                <a:lnTo>
                  <a:pt x="76200" y="2828239"/>
                </a:lnTo>
                <a:close/>
              </a:path>
            </a:pathLst>
          </a:custGeom>
          <a:solidFill>
            <a:srgbClr val="3D6D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0181081" y="2787650"/>
            <a:ext cx="76200" cy="581025"/>
          </a:xfrm>
          <a:custGeom>
            <a:avLst/>
            <a:gdLst/>
            <a:ahLst/>
            <a:cxnLst/>
            <a:rect l="l" t="t" r="r" b="b"/>
            <a:pathLst>
              <a:path w="76200" h="581025">
                <a:moveTo>
                  <a:pt x="33400" y="504698"/>
                </a:moveTo>
                <a:lnTo>
                  <a:pt x="0" y="504698"/>
                </a:lnTo>
                <a:lnTo>
                  <a:pt x="38100" y="580898"/>
                </a:lnTo>
                <a:lnTo>
                  <a:pt x="69850" y="517398"/>
                </a:lnTo>
                <a:lnTo>
                  <a:pt x="33400" y="517398"/>
                </a:lnTo>
                <a:lnTo>
                  <a:pt x="33400" y="504698"/>
                </a:lnTo>
                <a:close/>
              </a:path>
              <a:path w="76200" h="581025">
                <a:moveTo>
                  <a:pt x="42925" y="0"/>
                </a:moveTo>
                <a:lnTo>
                  <a:pt x="33400" y="0"/>
                </a:lnTo>
                <a:lnTo>
                  <a:pt x="33400" y="517398"/>
                </a:lnTo>
                <a:lnTo>
                  <a:pt x="42925" y="517398"/>
                </a:lnTo>
                <a:lnTo>
                  <a:pt x="42925" y="0"/>
                </a:lnTo>
                <a:close/>
              </a:path>
              <a:path w="76200" h="581025">
                <a:moveTo>
                  <a:pt x="76200" y="504698"/>
                </a:moveTo>
                <a:lnTo>
                  <a:pt x="42925" y="504698"/>
                </a:lnTo>
                <a:lnTo>
                  <a:pt x="42925" y="517398"/>
                </a:lnTo>
                <a:lnTo>
                  <a:pt x="69850" y="517398"/>
                </a:lnTo>
                <a:lnTo>
                  <a:pt x="76200" y="504698"/>
                </a:lnTo>
                <a:close/>
              </a:path>
            </a:pathLst>
          </a:custGeom>
          <a:solidFill>
            <a:srgbClr val="3D6D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0285221" y="2815208"/>
            <a:ext cx="76644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latin typeface="Arial"/>
                <a:cs typeface="Arial"/>
              </a:rPr>
              <a:t>Hypercall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32369" y="4309364"/>
            <a:ext cx="60198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Arial"/>
                <a:cs typeface="Arial"/>
              </a:rPr>
              <a:t>Direct Access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580753" y="3451580"/>
            <a:ext cx="1383665" cy="1245235"/>
          </a:xfrm>
          <a:prstGeom prst="rect">
            <a:avLst/>
          </a:prstGeom>
          <a:solidFill>
            <a:srgbClr val="BE9000"/>
          </a:solidFill>
          <a:ln w="25400">
            <a:solidFill>
              <a:srgbClr val="30528F"/>
            </a:solidFill>
          </a:ln>
        </p:spPr>
        <p:txBody>
          <a:bodyPr wrap="square" lIns="0" tIns="1993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70"/>
              </a:spcBef>
            </a:pPr>
            <a:endParaRPr sz="1400">
              <a:latin typeface="Times New Roman"/>
              <a:cs typeface="Times New Roman"/>
            </a:endParaRPr>
          </a:p>
          <a:p>
            <a:pPr marL="284480" marR="272415" indent="5334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VMM</a:t>
            </a:r>
            <a:r>
              <a:rPr dirty="0" sz="14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Arial"/>
                <a:cs typeface="Arial"/>
              </a:rPr>
              <a:t>will 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update</a:t>
            </a:r>
            <a:r>
              <a:rPr dirty="0" sz="14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Arial"/>
                <a:cs typeface="Arial"/>
              </a:rPr>
              <a:t>PT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1588" y="3989349"/>
            <a:ext cx="6607175" cy="2575560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812800" indent="-342900">
              <a:lnSpc>
                <a:spcPct val="100000"/>
              </a:lnSpc>
              <a:spcBef>
                <a:spcPts val="495"/>
              </a:spcBef>
              <a:buSzPct val="81818"/>
              <a:buFont typeface="Arial"/>
              <a:buChar char="•"/>
              <a:tabLst>
                <a:tab pos="812800" algn="l"/>
              </a:tabLst>
            </a:pPr>
            <a:r>
              <a:rPr dirty="0" sz="2200">
                <a:latin typeface="Calibri"/>
                <a:cs typeface="Calibri"/>
              </a:rPr>
              <a:t>But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removes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from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physical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table</a:t>
            </a:r>
            <a:endParaRPr sz="2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95"/>
              </a:spcBef>
              <a:buSzPct val="81818"/>
              <a:buFont typeface="Arial"/>
              <a:buChar char="•"/>
              <a:tabLst>
                <a:tab pos="355600" algn="l"/>
              </a:tabLst>
            </a:pPr>
            <a:r>
              <a:rPr dirty="0" sz="2200" spc="-20">
                <a:latin typeface="Calibri"/>
                <a:cs typeface="Calibri"/>
              </a:rPr>
              <a:t>Re-</a:t>
            </a:r>
            <a:r>
              <a:rPr dirty="0" sz="2200">
                <a:latin typeface="Calibri"/>
                <a:cs typeface="Calibri"/>
              </a:rPr>
              <a:t>starts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guest</a:t>
            </a:r>
            <a:endParaRPr sz="2200">
              <a:latin typeface="Calibri"/>
              <a:cs typeface="Calibri"/>
            </a:endParaRPr>
          </a:p>
          <a:p>
            <a:pPr marL="355600" marR="175260" indent="-343535">
              <a:lnSpc>
                <a:spcPct val="100000"/>
              </a:lnSpc>
              <a:spcBef>
                <a:spcPts val="409"/>
              </a:spcBef>
              <a:buSzPct val="81818"/>
              <a:buFont typeface="Arial"/>
              <a:buChar char="•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Guest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continue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modify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guest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table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at </a:t>
            </a:r>
            <a:r>
              <a:rPr dirty="0" sz="2200">
                <a:latin typeface="Calibri"/>
                <a:cs typeface="Calibri"/>
              </a:rPr>
              <a:t>completion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generates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trap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will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generate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50">
                <a:latin typeface="Calibri"/>
                <a:cs typeface="Calibri"/>
              </a:rPr>
              <a:t>a </a:t>
            </a:r>
            <a:r>
              <a:rPr dirty="0" sz="2200">
                <a:latin typeface="Calibri"/>
                <a:cs typeface="Calibri"/>
              </a:rPr>
              <a:t>trigger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Xen</a:t>
            </a:r>
            <a:endParaRPr sz="2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00"/>
              </a:spcBef>
              <a:buSzPct val="81818"/>
              <a:buFont typeface="Arial"/>
              <a:buChar char="•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Xen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updates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physical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table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(Played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back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 real</a:t>
            </a:r>
            <a:r>
              <a:rPr dirty="0" sz="2200" spc="-10">
                <a:latin typeface="Calibri"/>
                <a:cs typeface="Calibri"/>
              </a:rPr>
              <a:t> environment)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181081" y="4696333"/>
            <a:ext cx="76200" cy="996315"/>
          </a:xfrm>
          <a:custGeom>
            <a:avLst/>
            <a:gdLst/>
            <a:ahLst/>
            <a:cxnLst/>
            <a:rect l="l" t="t" r="r" b="b"/>
            <a:pathLst>
              <a:path w="76200" h="996314">
                <a:moveTo>
                  <a:pt x="33400" y="919556"/>
                </a:moveTo>
                <a:lnTo>
                  <a:pt x="0" y="919556"/>
                </a:lnTo>
                <a:lnTo>
                  <a:pt x="38100" y="995756"/>
                </a:lnTo>
                <a:lnTo>
                  <a:pt x="69850" y="932256"/>
                </a:lnTo>
                <a:lnTo>
                  <a:pt x="33400" y="932256"/>
                </a:lnTo>
                <a:lnTo>
                  <a:pt x="33400" y="919556"/>
                </a:lnTo>
                <a:close/>
              </a:path>
              <a:path w="76200" h="996314">
                <a:moveTo>
                  <a:pt x="42925" y="0"/>
                </a:moveTo>
                <a:lnTo>
                  <a:pt x="33400" y="0"/>
                </a:lnTo>
                <a:lnTo>
                  <a:pt x="33400" y="932256"/>
                </a:lnTo>
                <a:lnTo>
                  <a:pt x="42925" y="932256"/>
                </a:lnTo>
                <a:lnTo>
                  <a:pt x="42925" y="0"/>
                </a:lnTo>
                <a:close/>
              </a:path>
              <a:path w="76200" h="996314">
                <a:moveTo>
                  <a:pt x="76200" y="919556"/>
                </a:moveTo>
                <a:lnTo>
                  <a:pt x="42925" y="919556"/>
                </a:lnTo>
                <a:lnTo>
                  <a:pt x="42925" y="932256"/>
                </a:lnTo>
                <a:lnTo>
                  <a:pt x="69850" y="932256"/>
                </a:lnTo>
                <a:lnTo>
                  <a:pt x="76200" y="919556"/>
                </a:lnTo>
                <a:close/>
              </a:path>
            </a:pathLst>
          </a:custGeom>
          <a:solidFill>
            <a:srgbClr val="3D6D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0522966" y="4819599"/>
            <a:ext cx="44132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Arial"/>
                <a:cs typeface="Arial"/>
              </a:rPr>
              <a:t>VMM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97432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703" y="0"/>
                </a:moveTo>
                <a:lnTo>
                  <a:pt x="0" y="0"/>
                </a:lnTo>
                <a:lnTo>
                  <a:pt x="0" y="38100"/>
                </a:lnTo>
                <a:lnTo>
                  <a:pt x="8291703" y="38100"/>
                </a:lnTo>
                <a:lnTo>
                  <a:pt x="8291703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0232" y="242061"/>
            <a:ext cx="10140950" cy="386080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380"/>
              </a:spcBef>
            </a:pPr>
            <a:r>
              <a:rPr dirty="0" sz="2400" b="1">
                <a:solidFill>
                  <a:srgbClr val="2E5395"/>
                </a:solidFill>
                <a:latin typeface="Arial"/>
                <a:cs typeface="Arial"/>
              </a:rPr>
              <a:t>CLOUD</a:t>
            </a:r>
            <a:r>
              <a:rPr dirty="0" sz="2400" spc="-90" b="1">
                <a:solidFill>
                  <a:srgbClr val="2E5395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2E5395"/>
                </a:solidFill>
                <a:latin typeface="Arial"/>
                <a:cs typeface="Arial"/>
              </a:rPr>
              <a:t>COMPUTING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Paravirtualization</a:t>
            </a:r>
            <a:r>
              <a:rPr dirty="0" sz="2400" spc="-13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Example</a:t>
            </a:r>
            <a:r>
              <a:rPr dirty="0" sz="2400" spc="-12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(Cont.)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10"/>
              </a:spcBef>
            </a:pPr>
            <a:endParaRPr sz="2400">
              <a:latin typeface="Arial"/>
              <a:cs typeface="Arial"/>
            </a:endParaRPr>
          </a:p>
          <a:p>
            <a:pPr marL="501015" indent="-342900">
              <a:lnSpc>
                <a:spcPct val="100000"/>
              </a:lnSpc>
              <a:buClr>
                <a:srgbClr val="833B0A"/>
              </a:buClr>
              <a:buSzPct val="75000"/>
              <a:buChar char="▪"/>
              <a:tabLst>
                <a:tab pos="501015" algn="l"/>
              </a:tabLst>
            </a:pPr>
            <a:r>
              <a:rPr dirty="0" sz="2400">
                <a:latin typeface="Calibri"/>
                <a:cs typeface="Calibri"/>
              </a:rPr>
              <a:t>Suppose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Guest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wants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start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Oracle;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Oracle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needs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1GB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virtual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memory</a:t>
            </a:r>
            <a:endParaRPr sz="2400">
              <a:latin typeface="Calibri"/>
              <a:cs typeface="Calibri"/>
            </a:endParaRPr>
          </a:p>
          <a:p>
            <a:pPr marL="501015" indent="-342900">
              <a:lnSpc>
                <a:spcPct val="100000"/>
              </a:lnSpc>
              <a:spcBef>
                <a:spcPts val="1175"/>
              </a:spcBef>
              <a:buClr>
                <a:srgbClr val="833B0A"/>
              </a:buClr>
              <a:buSzPct val="75000"/>
              <a:buChar char="▪"/>
              <a:tabLst>
                <a:tab pos="501015" algn="l"/>
              </a:tabLst>
            </a:pPr>
            <a:r>
              <a:rPr dirty="0" sz="2400">
                <a:latin typeface="Calibri"/>
                <a:cs typeface="Calibri"/>
              </a:rPr>
              <a:t>Page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table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stores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mapping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virtual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memory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physical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memory</a:t>
            </a:r>
            <a:endParaRPr sz="2400">
              <a:latin typeface="Calibri"/>
              <a:cs typeface="Calibri"/>
            </a:endParaRPr>
          </a:p>
          <a:p>
            <a:pPr lvl="1" marL="958215" indent="-342900">
              <a:lnSpc>
                <a:spcPct val="100000"/>
              </a:lnSpc>
              <a:spcBef>
                <a:spcPts val="1180"/>
              </a:spcBef>
              <a:buClr>
                <a:srgbClr val="833B0A"/>
              </a:buClr>
              <a:buSzPct val="75000"/>
              <a:buChar char="▪"/>
              <a:tabLst>
                <a:tab pos="958215" algn="l"/>
              </a:tabLst>
            </a:pPr>
            <a:r>
              <a:rPr dirty="0" sz="2400">
                <a:latin typeface="Calibri"/>
                <a:cs typeface="Calibri"/>
              </a:rPr>
              <a:t>Assuming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4K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page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size,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there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1GB/4K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=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250,000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page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table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entries</a:t>
            </a:r>
            <a:endParaRPr sz="2400">
              <a:latin typeface="Calibri"/>
              <a:cs typeface="Calibri"/>
            </a:endParaRPr>
          </a:p>
          <a:p>
            <a:pPr marL="501015" indent="-342900">
              <a:lnSpc>
                <a:spcPct val="100000"/>
              </a:lnSpc>
              <a:spcBef>
                <a:spcPts val="1175"/>
              </a:spcBef>
              <a:buClr>
                <a:srgbClr val="833B0A"/>
              </a:buClr>
              <a:buSzPct val="75000"/>
              <a:buChar char="▪"/>
              <a:tabLst>
                <a:tab pos="501015" algn="l"/>
              </a:tabLst>
            </a:pPr>
            <a:r>
              <a:rPr dirty="0" sz="2400">
                <a:latin typeface="Calibri"/>
                <a:cs typeface="Calibri"/>
              </a:rPr>
              <a:t>Under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pure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trap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emulate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virtualization,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there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will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trap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each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entry</a:t>
            </a:r>
            <a:endParaRPr sz="2400">
              <a:latin typeface="Calibri"/>
              <a:cs typeface="Calibri"/>
            </a:endParaRPr>
          </a:p>
          <a:p>
            <a:pPr lvl="1" marL="958215" indent="-342900">
              <a:lnSpc>
                <a:spcPct val="100000"/>
              </a:lnSpc>
              <a:spcBef>
                <a:spcPts val="1175"/>
              </a:spcBef>
              <a:buClr>
                <a:srgbClr val="833B0A"/>
              </a:buClr>
              <a:buSzPct val="75000"/>
              <a:buChar char="▪"/>
              <a:tabLst>
                <a:tab pos="958215" algn="l"/>
              </a:tabLst>
            </a:pPr>
            <a:r>
              <a:rPr dirty="0" sz="2400">
                <a:latin typeface="Calibri"/>
                <a:cs typeface="Calibri"/>
              </a:rPr>
              <a:t>250,000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traps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3921" rIns="0" bIns="0" rtlCol="0" vert="horz">
            <a:spAutoFit/>
          </a:bodyPr>
          <a:lstStyle/>
          <a:p>
            <a:pPr marL="231775">
              <a:lnSpc>
                <a:spcPct val="100000"/>
              </a:lnSpc>
              <a:spcBef>
                <a:spcPts val="380"/>
              </a:spcBef>
            </a:pPr>
            <a:r>
              <a:rPr dirty="0">
                <a:solidFill>
                  <a:srgbClr val="2E5395"/>
                </a:solidFill>
                <a:latin typeface="Arial"/>
                <a:cs typeface="Arial"/>
              </a:rPr>
              <a:t>CLOUD</a:t>
            </a:r>
            <a:r>
              <a:rPr dirty="0" spc="-90">
                <a:solidFill>
                  <a:srgbClr val="2E5395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2E5395"/>
                </a:solidFill>
                <a:latin typeface="Arial"/>
                <a:cs typeface="Arial"/>
              </a:rPr>
              <a:t>COMPUTING</a:t>
            </a:r>
          </a:p>
          <a:p>
            <a:pPr marL="200660">
              <a:lnSpc>
                <a:spcPct val="100000"/>
              </a:lnSpc>
              <a:spcBef>
                <a:spcPts val="280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Paravirtualization</a:t>
            </a:r>
            <a:r>
              <a:rPr dirty="0" spc="-1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Example</a:t>
            </a:r>
            <a:r>
              <a:rPr dirty="0" spc="-12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(Cont.)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432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703" y="0"/>
                </a:moveTo>
                <a:lnTo>
                  <a:pt x="0" y="0"/>
                </a:lnTo>
                <a:lnTo>
                  <a:pt x="0" y="38100"/>
                </a:lnTo>
                <a:lnTo>
                  <a:pt x="8291703" y="38100"/>
                </a:lnTo>
                <a:lnTo>
                  <a:pt x="8291703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73176" y="1199158"/>
            <a:ext cx="11656060" cy="5617210"/>
          </a:xfrm>
          <a:prstGeom prst="rect">
            <a:avLst/>
          </a:prstGeom>
        </p:spPr>
        <p:txBody>
          <a:bodyPr wrap="square" lIns="0" tIns="15557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225"/>
              </a:spcBef>
              <a:buSzPct val="81818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Since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we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need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table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with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250,000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entries,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table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itself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stored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memory</a:t>
            </a:r>
            <a:endParaRPr sz="2200">
              <a:latin typeface="Calibri"/>
              <a:cs typeface="Calibri"/>
            </a:endParaRPr>
          </a:p>
          <a:p>
            <a:pPr lvl="1" marL="812800" indent="-342900">
              <a:lnSpc>
                <a:spcPct val="100000"/>
              </a:lnSpc>
              <a:spcBef>
                <a:spcPts val="1130"/>
              </a:spcBef>
              <a:buSzPct val="81818"/>
              <a:buFont typeface="Arial"/>
              <a:buChar char="•"/>
              <a:tabLst>
                <a:tab pos="812800" algn="l"/>
              </a:tabLst>
            </a:pPr>
            <a:r>
              <a:rPr dirty="0" sz="2200">
                <a:latin typeface="Calibri"/>
                <a:cs typeface="Calibri"/>
              </a:rPr>
              <a:t>Suppose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need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4MB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table</a:t>
            </a:r>
            <a:endParaRPr sz="2200">
              <a:latin typeface="Calibri"/>
              <a:cs typeface="Calibri"/>
            </a:endParaRPr>
          </a:p>
          <a:p>
            <a:pPr lvl="1" marL="812800" indent="-342900">
              <a:lnSpc>
                <a:spcPct val="100000"/>
              </a:lnSpc>
              <a:spcBef>
                <a:spcPts val="1130"/>
              </a:spcBef>
              <a:buSzPct val="81818"/>
              <a:buFont typeface="Arial"/>
              <a:buChar char="•"/>
              <a:tabLst>
                <a:tab pos="812800" algn="l"/>
              </a:tabLst>
            </a:pP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4MB/4K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=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1000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pages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130"/>
              </a:spcBef>
              <a:buSzPct val="81818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With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Xen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writeable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table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support</a:t>
            </a:r>
            <a:endParaRPr sz="2200">
              <a:latin typeface="Calibri"/>
              <a:cs typeface="Calibri"/>
            </a:endParaRPr>
          </a:p>
          <a:p>
            <a:pPr lvl="1" marL="812800" indent="-342900">
              <a:lnSpc>
                <a:spcPct val="100000"/>
              </a:lnSpc>
              <a:spcBef>
                <a:spcPts val="1125"/>
              </a:spcBef>
              <a:buSzPct val="81818"/>
              <a:buFont typeface="Arial"/>
              <a:buChar char="•"/>
              <a:tabLst>
                <a:tab pos="812800" algn="l"/>
              </a:tabLst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first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time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guest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OS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tries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write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table,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there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will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trap</a:t>
            </a:r>
            <a:endParaRPr sz="2200">
              <a:latin typeface="Calibri"/>
              <a:cs typeface="Calibri"/>
            </a:endParaRPr>
          </a:p>
          <a:p>
            <a:pPr lvl="1" marL="812800" indent="-342900">
              <a:lnSpc>
                <a:spcPct val="100000"/>
              </a:lnSpc>
              <a:spcBef>
                <a:spcPts val="1130"/>
              </a:spcBef>
              <a:buSzPct val="81818"/>
              <a:buFont typeface="Arial"/>
              <a:buChar char="•"/>
              <a:tabLst>
                <a:tab pos="812800" algn="l"/>
              </a:tabLst>
            </a:pPr>
            <a:r>
              <a:rPr dirty="0" sz="2200">
                <a:latin typeface="Calibri"/>
                <a:cs typeface="Calibri"/>
              </a:rPr>
              <a:t>Xen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will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remove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from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table</a:t>
            </a:r>
            <a:endParaRPr sz="2200">
              <a:latin typeface="Calibri"/>
              <a:cs typeface="Calibri"/>
            </a:endParaRPr>
          </a:p>
          <a:p>
            <a:pPr lvl="1" marL="812800" indent="-342900">
              <a:lnSpc>
                <a:spcPct val="100000"/>
              </a:lnSpc>
              <a:spcBef>
                <a:spcPts val="1130"/>
              </a:spcBef>
              <a:buSzPct val="81818"/>
              <a:buFont typeface="Arial"/>
              <a:buChar char="•"/>
              <a:tabLst>
                <a:tab pos="812800" algn="l"/>
              </a:tabLst>
            </a:pPr>
            <a:r>
              <a:rPr dirty="0" sz="2200">
                <a:latin typeface="Calibri"/>
                <a:cs typeface="Calibri"/>
              </a:rPr>
              <a:t>After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that,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guest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modify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entries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needed</a:t>
            </a:r>
            <a:endParaRPr sz="2200">
              <a:latin typeface="Calibri"/>
              <a:cs typeface="Calibri"/>
            </a:endParaRPr>
          </a:p>
          <a:p>
            <a:pPr lvl="1" marL="812800" indent="-342900">
              <a:lnSpc>
                <a:spcPct val="100000"/>
              </a:lnSpc>
              <a:spcBef>
                <a:spcPts val="1130"/>
              </a:spcBef>
              <a:buSzPct val="81818"/>
              <a:buFont typeface="Arial"/>
              <a:buChar char="•"/>
              <a:tabLst>
                <a:tab pos="812800" algn="l"/>
              </a:tabLst>
            </a:pPr>
            <a:r>
              <a:rPr dirty="0" sz="2200">
                <a:latin typeface="Calibri"/>
                <a:cs typeface="Calibri"/>
              </a:rPr>
              <a:t>When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completed;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guest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will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call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Xen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API</a:t>
            </a:r>
            <a:endParaRPr sz="2200">
              <a:latin typeface="Calibri"/>
              <a:cs typeface="Calibri"/>
            </a:endParaRPr>
          </a:p>
          <a:p>
            <a:pPr lvl="1" marL="812800" indent="-342900">
              <a:lnSpc>
                <a:spcPct val="100000"/>
              </a:lnSpc>
              <a:spcBef>
                <a:spcPts val="1130"/>
              </a:spcBef>
              <a:buSzPct val="81818"/>
              <a:buFont typeface="Arial"/>
              <a:buChar char="•"/>
              <a:tabLst>
                <a:tab pos="812800" algn="l"/>
              </a:tabLst>
            </a:pPr>
            <a:r>
              <a:rPr dirty="0" sz="2200">
                <a:latin typeface="Calibri"/>
                <a:cs typeface="Calibri"/>
              </a:rPr>
              <a:t>Xen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will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validate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table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entries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put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back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table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dirty="0" sz="2200">
                <a:latin typeface="Calibri"/>
                <a:cs typeface="Calibri"/>
              </a:rPr>
              <a:t>So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using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hypercalls,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performance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got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significantly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improved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with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reduction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need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handling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4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following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number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traps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30"/>
              </a:spcBef>
              <a:buSzPct val="81818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1000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traps</a:t>
            </a:r>
            <a:r>
              <a:rPr dirty="0" sz="2200" spc="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vs</a:t>
            </a:r>
            <a:r>
              <a:rPr dirty="0" sz="2200" spc="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250,000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traps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3921" rIns="0" bIns="0" rtlCol="0" vert="horz">
            <a:spAutoFit/>
          </a:bodyPr>
          <a:lstStyle/>
          <a:p>
            <a:pPr marL="231775">
              <a:lnSpc>
                <a:spcPct val="100000"/>
              </a:lnSpc>
              <a:spcBef>
                <a:spcPts val="380"/>
              </a:spcBef>
            </a:pPr>
            <a:r>
              <a:rPr dirty="0">
                <a:solidFill>
                  <a:srgbClr val="2E5395"/>
                </a:solidFill>
                <a:latin typeface="Arial"/>
                <a:cs typeface="Arial"/>
              </a:rPr>
              <a:t>CLOUD</a:t>
            </a:r>
            <a:r>
              <a:rPr dirty="0" spc="-90">
                <a:solidFill>
                  <a:srgbClr val="2E5395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2E5395"/>
                </a:solidFill>
                <a:latin typeface="Arial"/>
                <a:cs typeface="Arial"/>
              </a:rPr>
              <a:t>COMPUTING</a:t>
            </a:r>
          </a:p>
          <a:p>
            <a:pPr marL="200660">
              <a:lnSpc>
                <a:spcPct val="100000"/>
              </a:lnSpc>
              <a:spcBef>
                <a:spcPts val="280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Paravirtualization</a:t>
            </a:r>
            <a:r>
              <a:rPr dirty="0" spc="-9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Issues</a:t>
            </a:r>
            <a:r>
              <a:rPr dirty="0" spc="-6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and</a:t>
            </a:r>
            <a:r>
              <a:rPr dirty="0" spc="-7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Advantages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432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703" y="0"/>
                </a:moveTo>
                <a:lnTo>
                  <a:pt x="0" y="0"/>
                </a:lnTo>
                <a:lnTo>
                  <a:pt x="0" y="38100"/>
                </a:lnTo>
                <a:lnTo>
                  <a:pt x="8291703" y="38100"/>
                </a:lnTo>
                <a:lnTo>
                  <a:pt x="8291703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86231" y="1433220"/>
            <a:ext cx="10912475" cy="5093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721995" indent="-342900">
              <a:lnSpc>
                <a:spcPct val="120000"/>
              </a:lnSpc>
              <a:spcBef>
                <a:spcPts val="100"/>
              </a:spcBef>
              <a:buSzPct val="81818"/>
              <a:buFont typeface="Arial"/>
              <a:buChar char="•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First,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C00000"/>
                </a:solidFill>
                <a:latin typeface="Calibri"/>
                <a:cs typeface="Calibri"/>
              </a:rPr>
              <a:t>compatibility</a:t>
            </a:r>
            <a:r>
              <a:rPr dirty="0" sz="2200" spc="-40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2200" spc="-30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C00000"/>
                </a:solidFill>
                <a:latin typeface="Calibri"/>
                <a:cs typeface="Calibri"/>
              </a:rPr>
              <a:t>portability</a:t>
            </a:r>
            <a:r>
              <a:rPr dirty="0" sz="2200" spc="-55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may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doubt,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because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must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support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un-</a:t>
            </a:r>
            <a:r>
              <a:rPr dirty="0" sz="2200">
                <a:latin typeface="Calibri"/>
                <a:cs typeface="Calibri"/>
              </a:rPr>
              <a:t>modified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well.</a:t>
            </a:r>
            <a:endParaRPr sz="2200">
              <a:latin typeface="Calibri"/>
              <a:cs typeface="Calibri"/>
            </a:endParaRPr>
          </a:p>
          <a:p>
            <a:pPr marL="355600" marR="5080" indent="-342900">
              <a:lnSpc>
                <a:spcPct val="120100"/>
              </a:lnSpc>
              <a:spcBef>
                <a:spcPts val="595"/>
              </a:spcBef>
              <a:buSzPct val="81818"/>
              <a:buFont typeface="Arial"/>
              <a:buChar char="•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Second,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C00000"/>
                </a:solidFill>
                <a:latin typeface="Calibri"/>
                <a:cs typeface="Calibri"/>
              </a:rPr>
              <a:t>cost</a:t>
            </a:r>
            <a:r>
              <a:rPr dirty="0" sz="2200" spc="-30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dirty="0" sz="2200" spc="-30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C00000"/>
                </a:solidFill>
                <a:latin typeface="Calibri"/>
                <a:cs typeface="Calibri"/>
              </a:rPr>
              <a:t>maintaining</a:t>
            </a:r>
            <a:r>
              <a:rPr dirty="0" sz="2200" spc="-55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 spc="-10" i="1">
                <a:solidFill>
                  <a:srgbClr val="C00000"/>
                </a:solidFill>
                <a:latin typeface="Calibri"/>
                <a:cs typeface="Calibri"/>
              </a:rPr>
              <a:t>para-</a:t>
            </a:r>
            <a:r>
              <a:rPr dirty="0" sz="2200" i="1">
                <a:solidFill>
                  <a:srgbClr val="C00000"/>
                </a:solidFill>
                <a:latin typeface="Calibri"/>
                <a:cs typeface="Calibri"/>
              </a:rPr>
              <a:t>virtualized</a:t>
            </a:r>
            <a:r>
              <a:rPr dirty="0" sz="2200" spc="-45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C00000"/>
                </a:solidFill>
                <a:latin typeface="Calibri"/>
                <a:cs typeface="Calibri"/>
              </a:rPr>
              <a:t>OSes</a:t>
            </a:r>
            <a:r>
              <a:rPr dirty="0" sz="2200" spc="-30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C00000"/>
                </a:solidFill>
                <a:latin typeface="Calibri"/>
                <a:cs typeface="Calibri"/>
              </a:rPr>
              <a:t>is</a:t>
            </a:r>
            <a:r>
              <a:rPr dirty="0" sz="2200" spc="-40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C00000"/>
                </a:solidFill>
                <a:latin typeface="Calibri"/>
                <a:cs typeface="Calibri"/>
              </a:rPr>
              <a:t>high</a:t>
            </a:r>
            <a:r>
              <a:rPr dirty="0" sz="2200">
                <a:latin typeface="Calibri"/>
                <a:cs typeface="Calibri"/>
              </a:rPr>
              <a:t>,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because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they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may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require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deep </a:t>
            </a:r>
            <a:r>
              <a:rPr dirty="0" sz="2200">
                <a:latin typeface="Calibri"/>
                <a:cs typeface="Calibri"/>
              </a:rPr>
              <a:t>OS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kernel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modifications.</a:t>
            </a:r>
            <a:endParaRPr sz="2200">
              <a:latin typeface="Calibri"/>
              <a:cs typeface="Calibri"/>
            </a:endParaRPr>
          </a:p>
          <a:p>
            <a:pPr marL="355600" marR="607060" indent="-342900">
              <a:lnSpc>
                <a:spcPct val="120000"/>
              </a:lnSpc>
              <a:spcBef>
                <a:spcPts val="600"/>
              </a:spcBef>
              <a:buSzPct val="81818"/>
              <a:buFont typeface="Arial"/>
              <a:buChar char="•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Finally,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C00000"/>
                </a:solidFill>
                <a:latin typeface="Calibri"/>
                <a:cs typeface="Calibri"/>
              </a:rPr>
              <a:t>performance</a:t>
            </a:r>
            <a:r>
              <a:rPr dirty="0" sz="2200" spc="-45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advantage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para-</a:t>
            </a:r>
            <a:r>
              <a:rPr dirty="0" sz="2200">
                <a:latin typeface="Calibri"/>
                <a:cs typeface="Calibri"/>
              </a:rPr>
              <a:t>virtualization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varies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greatly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due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workload variations.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dirty="0" sz="2200" spc="-10" b="1">
                <a:latin typeface="Calibri"/>
                <a:cs typeface="Calibri"/>
              </a:rPr>
              <a:t>Advantages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30"/>
              </a:spcBef>
              <a:buSzPct val="81818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Compared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with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full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virtualization,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para-</a:t>
            </a:r>
            <a:r>
              <a:rPr dirty="0" sz="2200">
                <a:latin typeface="Calibri"/>
                <a:cs typeface="Calibri"/>
              </a:rPr>
              <a:t>virtualization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relatively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easy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more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practical.</a:t>
            </a:r>
            <a:endParaRPr sz="2200">
              <a:latin typeface="Calibri"/>
              <a:cs typeface="Calibri"/>
            </a:endParaRPr>
          </a:p>
          <a:p>
            <a:pPr marL="299085" marR="112395" indent="-287020">
              <a:lnSpc>
                <a:spcPct val="120100"/>
              </a:lnSpc>
              <a:spcBef>
                <a:spcPts val="630"/>
              </a:spcBef>
              <a:buSzPct val="90000"/>
              <a:buFont typeface="Arial"/>
              <a:buChar char="•"/>
              <a:tabLst>
                <a:tab pos="299085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main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problem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full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virtualization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its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 i="1">
                <a:solidFill>
                  <a:srgbClr val="C00000"/>
                </a:solidFill>
                <a:latin typeface="Calibri"/>
                <a:cs typeface="Calibri"/>
              </a:rPr>
              <a:t>low</a:t>
            </a:r>
            <a:r>
              <a:rPr dirty="0" sz="2000" spc="-35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i="1">
                <a:solidFill>
                  <a:srgbClr val="C00000"/>
                </a:solidFill>
                <a:latin typeface="Calibri"/>
                <a:cs typeface="Calibri"/>
              </a:rPr>
              <a:t>performance</a:t>
            </a:r>
            <a:r>
              <a:rPr dirty="0" sz="2000" spc="-55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i="1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dirty="0" sz="2000" spc="-35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i="1">
                <a:solidFill>
                  <a:srgbClr val="C00000"/>
                </a:solidFill>
                <a:latin typeface="Calibri"/>
                <a:cs typeface="Calibri"/>
              </a:rPr>
              <a:t>binary</a:t>
            </a:r>
            <a:r>
              <a:rPr dirty="0" sz="2000" spc="-30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i="1">
                <a:solidFill>
                  <a:srgbClr val="C00000"/>
                </a:solidFill>
                <a:latin typeface="Calibri"/>
                <a:cs typeface="Calibri"/>
              </a:rPr>
              <a:t>translation</a:t>
            </a:r>
            <a:r>
              <a:rPr dirty="0" sz="2000">
                <a:latin typeface="Calibri"/>
                <a:cs typeface="Calibri"/>
              </a:rPr>
              <a:t>.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speed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up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binary </a:t>
            </a:r>
            <a:r>
              <a:rPr dirty="0" sz="2000">
                <a:latin typeface="Calibri"/>
                <a:cs typeface="Calibri"/>
              </a:rPr>
              <a:t>translation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difficult.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Therefore,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many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virtualization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products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employ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para-virtualization architecture.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popular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Xen,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KVM,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VMware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ESX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good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examples.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0232" y="242061"/>
            <a:ext cx="3088005" cy="82867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 indent="31115">
              <a:lnSpc>
                <a:spcPct val="109800"/>
              </a:lnSpc>
              <a:spcBef>
                <a:spcPts val="95"/>
              </a:spcBef>
            </a:pPr>
            <a:r>
              <a:rPr dirty="0">
                <a:solidFill>
                  <a:srgbClr val="2E5395"/>
                </a:solidFill>
                <a:latin typeface="Arial"/>
                <a:cs typeface="Arial"/>
              </a:rPr>
              <a:t>CLOUD</a:t>
            </a:r>
            <a:r>
              <a:rPr dirty="0" spc="-90">
                <a:solidFill>
                  <a:srgbClr val="2E5395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2E5395"/>
                </a:solidFill>
                <a:latin typeface="Arial"/>
                <a:cs typeface="Arial"/>
              </a:rPr>
              <a:t>COMPUTING </a:t>
            </a:r>
            <a:r>
              <a:rPr dirty="0" spc="-25">
                <a:solidFill>
                  <a:srgbClr val="C55A11"/>
                </a:solidFill>
                <a:latin typeface="Arial"/>
                <a:cs typeface="Arial"/>
              </a:rPr>
              <a:t>KVM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432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703" y="0"/>
                </a:moveTo>
                <a:lnTo>
                  <a:pt x="0" y="0"/>
                </a:lnTo>
                <a:lnTo>
                  <a:pt x="0" y="38100"/>
                </a:lnTo>
                <a:lnTo>
                  <a:pt x="8291703" y="38100"/>
                </a:lnTo>
                <a:lnTo>
                  <a:pt x="8291703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53644" y="1429029"/>
            <a:ext cx="10101580" cy="3071495"/>
          </a:xfrm>
          <a:prstGeom prst="rect">
            <a:avLst/>
          </a:prstGeom>
        </p:spPr>
        <p:txBody>
          <a:bodyPr wrap="square" lIns="0" tIns="15557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225"/>
              </a:spcBef>
              <a:buSzPct val="81818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Linux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para-virtualization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system—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part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Linux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version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2.6.20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kernel.</a:t>
            </a:r>
            <a:endParaRPr sz="2200">
              <a:latin typeface="Calibri"/>
              <a:cs typeface="Calibri"/>
            </a:endParaRPr>
          </a:p>
          <a:p>
            <a:pPr marL="355600" marR="187960" indent="-342900">
              <a:lnSpc>
                <a:spcPct val="120000"/>
              </a:lnSpc>
              <a:spcBef>
                <a:spcPts val="600"/>
              </a:spcBef>
              <a:buChar char="•"/>
              <a:tabLst>
                <a:tab pos="355600" algn="l"/>
                <a:tab pos="419100" algn="l"/>
              </a:tabLst>
            </a:pPr>
            <a:r>
              <a:rPr dirty="0" sz="1800">
                <a:latin typeface="Arial"/>
                <a:cs typeface="Arial"/>
              </a:rPr>
              <a:t>	</a:t>
            </a:r>
            <a:r>
              <a:rPr dirty="0" sz="2200">
                <a:latin typeface="Calibri"/>
                <a:cs typeface="Calibri"/>
              </a:rPr>
              <a:t>Memory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management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scheduling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activities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carried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out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by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existing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Linux </a:t>
            </a:r>
            <a:r>
              <a:rPr dirty="0" sz="2200">
                <a:latin typeface="Calibri"/>
                <a:cs typeface="Calibri"/>
              </a:rPr>
              <a:t>kernel.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KVM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does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rest,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makes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simpler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hypervisor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that </a:t>
            </a:r>
            <a:r>
              <a:rPr dirty="0" sz="2200">
                <a:latin typeface="Calibri"/>
                <a:cs typeface="Calibri"/>
              </a:rPr>
              <a:t>controls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8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hardware.</a:t>
            </a:r>
            <a:endParaRPr sz="2200">
              <a:latin typeface="Calibri"/>
              <a:cs typeface="Calibri"/>
            </a:endParaRPr>
          </a:p>
          <a:p>
            <a:pPr marL="355600" marR="5080" indent="-342900">
              <a:lnSpc>
                <a:spcPct val="120100"/>
              </a:lnSpc>
              <a:spcBef>
                <a:spcPts val="600"/>
              </a:spcBef>
              <a:buSzPct val="81818"/>
              <a:buFont typeface="Arial"/>
              <a:buChar char="•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KVM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 i="1">
                <a:solidFill>
                  <a:srgbClr val="C00000"/>
                </a:solidFill>
                <a:latin typeface="Calibri"/>
                <a:cs typeface="Calibri"/>
              </a:rPr>
              <a:t>hardware-</a:t>
            </a:r>
            <a:r>
              <a:rPr dirty="0" sz="2200" i="1">
                <a:solidFill>
                  <a:srgbClr val="C00000"/>
                </a:solidFill>
                <a:latin typeface="Calibri"/>
                <a:cs typeface="Calibri"/>
              </a:rPr>
              <a:t>assisted</a:t>
            </a:r>
            <a:r>
              <a:rPr dirty="0" sz="2200" spc="-15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 spc="-10" i="1">
                <a:solidFill>
                  <a:srgbClr val="C00000"/>
                </a:solidFill>
                <a:latin typeface="Calibri"/>
                <a:cs typeface="Calibri"/>
              </a:rPr>
              <a:t>para-</a:t>
            </a:r>
            <a:r>
              <a:rPr dirty="0" sz="2200" i="1">
                <a:solidFill>
                  <a:srgbClr val="C00000"/>
                </a:solidFill>
                <a:latin typeface="Calibri"/>
                <a:cs typeface="Calibri"/>
              </a:rPr>
              <a:t>virtualization</a:t>
            </a:r>
            <a:r>
              <a:rPr dirty="0" sz="2200" spc="-45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C00000"/>
                </a:solidFill>
                <a:latin typeface="Calibri"/>
                <a:cs typeface="Calibri"/>
              </a:rPr>
              <a:t>tool</a:t>
            </a:r>
            <a:r>
              <a:rPr dirty="0" sz="2200">
                <a:latin typeface="Calibri"/>
                <a:cs typeface="Calibri"/>
              </a:rPr>
              <a:t>,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improves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performance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and </a:t>
            </a:r>
            <a:r>
              <a:rPr dirty="0" sz="2200">
                <a:latin typeface="Calibri"/>
                <a:cs typeface="Calibri"/>
              </a:rPr>
              <a:t>supports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unmodified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guest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OSes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such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Windows,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Linux,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Solaris,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other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UNIX </a:t>
            </a:r>
            <a:r>
              <a:rPr dirty="0" sz="2200" spc="-10">
                <a:latin typeface="Calibri"/>
                <a:cs typeface="Calibri"/>
              </a:rPr>
              <a:t>variants.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5261610"/>
            <a:chOff x="0" y="0"/>
            <a:chExt cx="12192000" cy="52616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80302" y="1231519"/>
              <a:ext cx="5711698" cy="403009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1297432"/>
              <a:ext cx="8291830" cy="38100"/>
            </a:xfrm>
            <a:custGeom>
              <a:avLst/>
              <a:gdLst/>
              <a:ahLst/>
              <a:cxnLst/>
              <a:rect l="l" t="t" r="r" b="b"/>
              <a:pathLst>
                <a:path w="8291830" h="38100">
                  <a:moveTo>
                    <a:pt x="8291703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8291703" y="38100"/>
                  </a:lnTo>
                  <a:lnTo>
                    <a:pt x="8291703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290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80"/>
              </a:spcBef>
            </a:pPr>
            <a:r>
              <a:rPr dirty="0">
                <a:solidFill>
                  <a:srgbClr val="2E5395"/>
                </a:solidFill>
                <a:latin typeface="Arial"/>
                <a:cs typeface="Arial"/>
              </a:rPr>
              <a:t>CLOUD</a:t>
            </a:r>
            <a:r>
              <a:rPr dirty="0" spc="-90">
                <a:solidFill>
                  <a:srgbClr val="2E5395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2E5395"/>
                </a:solidFill>
                <a:latin typeface="Arial"/>
                <a:cs typeface="Arial"/>
              </a:rPr>
              <a:t>COMPUTING</a:t>
            </a:r>
          </a:p>
          <a:p>
            <a:pPr marL="59055">
              <a:lnSpc>
                <a:spcPct val="100000"/>
              </a:lnSpc>
              <a:spcBef>
                <a:spcPts val="280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VMware</a:t>
            </a:r>
            <a:r>
              <a:rPr dirty="0" spc="-7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ESX</a:t>
            </a:r>
            <a:r>
              <a:rPr dirty="0" spc="-2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Server</a:t>
            </a:r>
            <a:r>
              <a:rPr dirty="0" spc="-2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architecture</a:t>
            </a:r>
            <a:r>
              <a:rPr dirty="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using</a:t>
            </a:r>
            <a:r>
              <a:rPr dirty="0" spc="-6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20">
                <a:solidFill>
                  <a:srgbClr val="C55A11"/>
                </a:solidFill>
                <a:latin typeface="Arial"/>
                <a:cs typeface="Arial"/>
              </a:rPr>
              <a:t>Para-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Virtualization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2100" y="1314982"/>
            <a:ext cx="6001385" cy="3799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149860" indent="-343535">
              <a:lnSpc>
                <a:spcPct val="120000"/>
              </a:lnSpc>
              <a:spcBef>
                <a:spcPts val="100"/>
              </a:spcBef>
              <a:buSzPct val="81818"/>
              <a:buChar char="▪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ESX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 a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VMM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hypervisor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bare-</a:t>
            </a:r>
            <a:r>
              <a:rPr dirty="0" sz="2200">
                <a:latin typeface="Calibri"/>
                <a:cs typeface="Calibri"/>
              </a:rPr>
              <a:t>metal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x86 </a:t>
            </a:r>
            <a:r>
              <a:rPr dirty="0" sz="2200" b="1" i="1">
                <a:latin typeface="Calibri"/>
                <a:cs typeface="Calibri"/>
              </a:rPr>
              <a:t>symmetric</a:t>
            </a:r>
            <a:r>
              <a:rPr dirty="0" sz="2200" spc="-15" b="1" i="1">
                <a:latin typeface="Calibri"/>
                <a:cs typeface="Calibri"/>
              </a:rPr>
              <a:t> </a:t>
            </a:r>
            <a:r>
              <a:rPr dirty="0" sz="2200" spc="-10" b="1" i="1">
                <a:latin typeface="Calibri"/>
                <a:cs typeface="Calibri"/>
              </a:rPr>
              <a:t>multiprocessing </a:t>
            </a:r>
            <a:r>
              <a:rPr dirty="0" sz="2200">
                <a:latin typeface="Calibri"/>
                <a:cs typeface="Calibri"/>
              </a:rPr>
              <a:t>(SMP)</a:t>
            </a:r>
            <a:r>
              <a:rPr dirty="0" sz="2200" spc="1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servers.</a:t>
            </a:r>
            <a:endParaRPr sz="2200">
              <a:latin typeface="Calibri"/>
              <a:cs typeface="Calibri"/>
            </a:endParaRPr>
          </a:p>
          <a:p>
            <a:pPr marL="355600" marR="86360" indent="-343535">
              <a:lnSpc>
                <a:spcPct val="120000"/>
              </a:lnSpc>
              <a:spcBef>
                <a:spcPts val="600"/>
              </a:spcBef>
              <a:buSzPct val="81818"/>
              <a:buChar char="▪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It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accesses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hardware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resources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such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I/O </a:t>
            </a:r>
            <a:r>
              <a:rPr dirty="0" sz="2200">
                <a:latin typeface="Calibri"/>
                <a:cs typeface="Calibri"/>
              </a:rPr>
              <a:t>directly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complete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resource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management control.</a:t>
            </a:r>
            <a:endParaRPr sz="2200">
              <a:latin typeface="Calibri"/>
              <a:cs typeface="Calibri"/>
            </a:endParaRPr>
          </a:p>
          <a:p>
            <a:pPr marL="355600" marR="5080" indent="-343535">
              <a:lnSpc>
                <a:spcPct val="120000"/>
              </a:lnSpc>
              <a:spcBef>
                <a:spcPts val="600"/>
              </a:spcBef>
              <a:buSzPct val="81818"/>
              <a:buChar char="▪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improve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performance,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ESX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server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employs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para-</a:t>
            </a:r>
            <a:r>
              <a:rPr dirty="0" sz="2200">
                <a:latin typeface="Calibri"/>
                <a:cs typeface="Calibri"/>
              </a:rPr>
              <a:t>virtualization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architecture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VM </a:t>
            </a:r>
            <a:r>
              <a:rPr dirty="0" sz="2200">
                <a:latin typeface="Calibri"/>
                <a:cs typeface="Calibri"/>
              </a:rPr>
              <a:t>kernel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interacts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directly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with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hardware </a:t>
            </a:r>
            <a:r>
              <a:rPr dirty="0" sz="2200">
                <a:latin typeface="Calibri"/>
                <a:cs typeface="Calibri"/>
              </a:rPr>
              <a:t>without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involving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host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OS.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7800" y="6557873"/>
            <a:ext cx="655764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Arial"/>
                <a:cs typeface="Arial"/>
                <a:hlinkClick r:id="rId3"/>
              </a:rPr>
              <a:t>https://www.brainkart.com/article/Para-Virtualization-with-Compiler-Support_11336/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1435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405"/>
              </a:spcBef>
            </a:pPr>
            <a:r>
              <a:rPr dirty="0">
                <a:solidFill>
                  <a:srgbClr val="2E5395"/>
                </a:solidFill>
                <a:latin typeface="Arial"/>
                <a:cs typeface="Arial"/>
              </a:rPr>
              <a:t>CLOUD</a:t>
            </a:r>
            <a:r>
              <a:rPr dirty="0" spc="-75">
                <a:solidFill>
                  <a:srgbClr val="2E5395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2E5395"/>
                </a:solidFill>
                <a:latin typeface="Arial"/>
                <a:cs typeface="Arial"/>
              </a:rPr>
              <a:t>COMPUTING</a:t>
            </a:r>
          </a:p>
          <a:p>
            <a:pPr marL="20955">
              <a:lnSpc>
                <a:spcPct val="100000"/>
              </a:lnSpc>
              <a:spcBef>
                <a:spcPts val="280"/>
              </a:spcBef>
            </a:pP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VMware</a:t>
            </a:r>
            <a:r>
              <a:rPr dirty="0" sz="2200" spc="-8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ESX</a:t>
            </a:r>
            <a:r>
              <a:rPr dirty="0" sz="2200" spc="-8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Server</a:t>
            </a:r>
            <a:r>
              <a:rPr dirty="0" sz="2200" spc="-8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architecture</a:t>
            </a:r>
            <a:r>
              <a:rPr dirty="0" sz="2200" spc="-5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using</a:t>
            </a:r>
            <a:r>
              <a:rPr dirty="0" sz="2200" spc="-5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C55A11"/>
                </a:solidFill>
                <a:latin typeface="Arial"/>
                <a:cs typeface="Arial"/>
              </a:rPr>
              <a:t>Para-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Virtualization</a:t>
            </a:r>
            <a:r>
              <a:rPr dirty="0" sz="2200" spc="-4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C55A11"/>
                </a:solidFill>
                <a:latin typeface="Arial"/>
                <a:cs typeface="Arial"/>
              </a:rPr>
              <a:t>(Cont.)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297432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703" y="0"/>
                </a:moveTo>
                <a:lnTo>
                  <a:pt x="0" y="0"/>
                </a:lnTo>
                <a:lnTo>
                  <a:pt x="0" y="38100"/>
                </a:lnTo>
                <a:lnTo>
                  <a:pt x="8291703" y="38100"/>
                </a:lnTo>
                <a:lnTo>
                  <a:pt x="8291703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56336" y="3294633"/>
            <a:ext cx="485584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network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bandwidth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maps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them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25">
                <a:latin typeface="Calibri"/>
                <a:cs typeface="Calibri"/>
              </a:rPr>
              <a:t> the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6336" y="3660394"/>
            <a:ext cx="52222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libri"/>
                <a:cs typeface="Calibri"/>
              </a:rPr>
              <a:t>virtual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hardware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resource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set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each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VM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created.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3131" y="4041306"/>
            <a:ext cx="5467350" cy="2663825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algn="r" marL="342900" marR="221615" indent="-342900">
              <a:lnSpc>
                <a:spcPct val="100000"/>
              </a:lnSpc>
              <a:spcBef>
                <a:spcPts val="585"/>
              </a:spcBef>
              <a:buClr>
                <a:srgbClr val="000000"/>
              </a:buClr>
              <a:buSzPct val="90000"/>
              <a:buChar char="▪"/>
              <a:tabLst>
                <a:tab pos="342900" algn="l"/>
              </a:tabLst>
            </a:pP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Hardware</a:t>
            </a:r>
            <a:r>
              <a:rPr dirty="0" sz="2000" spc="-5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interface</a:t>
            </a:r>
            <a:r>
              <a:rPr dirty="0" sz="2000" spc="-4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components</a:t>
            </a:r>
            <a:r>
              <a:rPr dirty="0" sz="2000" spc="-6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device</a:t>
            </a:r>
            <a:endParaRPr sz="2000">
              <a:latin typeface="Calibri"/>
              <a:cs typeface="Calibri"/>
            </a:endParaRPr>
          </a:p>
          <a:p>
            <a:pPr algn="r" marR="167005">
              <a:lnSpc>
                <a:spcPct val="100000"/>
              </a:lnSpc>
              <a:spcBef>
                <a:spcPts val="480"/>
              </a:spcBef>
            </a:pPr>
            <a:r>
              <a:rPr dirty="0" sz="2000">
                <a:latin typeface="Calibri"/>
                <a:cs typeface="Calibri"/>
              </a:rPr>
              <a:t>drivers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VMware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ESX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Server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File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System.</a:t>
            </a:r>
            <a:endParaRPr sz="2000">
              <a:latin typeface="Calibri"/>
              <a:cs typeface="Calibri"/>
            </a:endParaRPr>
          </a:p>
          <a:p>
            <a:pPr marL="355600" marR="5080" indent="-343535">
              <a:lnSpc>
                <a:spcPct val="120000"/>
              </a:lnSpc>
              <a:spcBef>
                <a:spcPts val="600"/>
              </a:spcBef>
              <a:buSzPct val="90000"/>
              <a:buChar char="▪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service</a:t>
            </a:r>
            <a:r>
              <a:rPr dirty="0" sz="2000" spc="-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console</a:t>
            </a:r>
            <a:r>
              <a:rPr dirty="0" sz="2000" spc="-4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responsible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booting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>
                <a:latin typeface="Calibri"/>
                <a:cs typeface="Calibri"/>
              </a:rPr>
              <a:t>system,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initiating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execution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VMM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and </a:t>
            </a:r>
            <a:r>
              <a:rPr dirty="0" sz="2000">
                <a:latin typeface="Calibri"/>
                <a:cs typeface="Calibri"/>
              </a:rPr>
              <a:t>resource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manager,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relinquishing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control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to </a:t>
            </a:r>
            <a:r>
              <a:rPr dirty="0" sz="2000">
                <a:latin typeface="Calibri"/>
                <a:cs typeface="Calibri"/>
              </a:rPr>
              <a:t>those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layers.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also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facilitates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process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for </a:t>
            </a:r>
            <a:r>
              <a:rPr dirty="0" sz="2000">
                <a:latin typeface="Calibri"/>
                <a:cs typeface="Calibri"/>
              </a:rPr>
              <a:t>system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administrators.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500751" y="1975739"/>
            <a:ext cx="6682105" cy="3333750"/>
            <a:chOff x="5500751" y="1975739"/>
            <a:chExt cx="6682105" cy="333375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43700" y="1975739"/>
              <a:ext cx="5438775" cy="33337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13451" y="2652649"/>
              <a:ext cx="1925954" cy="51727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513451" y="2652649"/>
              <a:ext cx="1925955" cy="517525"/>
            </a:xfrm>
            <a:custGeom>
              <a:avLst/>
              <a:gdLst/>
              <a:ahLst/>
              <a:cxnLst/>
              <a:rect l="l" t="t" r="r" b="b"/>
              <a:pathLst>
                <a:path w="1925954" h="517525">
                  <a:moveTo>
                    <a:pt x="0" y="129286"/>
                  </a:moveTo>
                  <a:lnTo>
                    <a:pt x="1667382" y="129286"/>
                  </a:lnTo>
                  <a:lnTo>
                    <a:pt x="1667382" y="0"/>
                  </a:lnTo>
                  <a:lnTo>
                    <a:pt x="1925954" y="258572"/>
                  </a:lnTo>
                  <a:lnTo>
                    <a:pt x="1667382" y="517271"/>
                  </a:lnTo>
                  <a:lnTo>
                    <a:pt x="1667382" y="387985"/>
                  </a:lnTo>
                  <a:lnTo>
                    <a:pt x="0" y="387985"/>
                  </a:lnTo>
                  <a:lnTo>
                    <a:pt x="0" y="129286"/>
                  </a:lnTo>
                  <a:close/>
                </a:path>
              </a:pathLst>
            </a:custGeom>
            <a:ln w="254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313131" y="1328205"/>
            <a:ext cx="6875780" cy="1931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1185545" indent="-343535">
              <a:lnSpc>
                <a:spcPct val="120000"/>
              </a:lnSpc>
              <a:spcBef>
                <a:spcPts val="100"/>
              </a:spcBef>
              <a:buSzPct val="90000"/>
              <a:buChar char="▪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VMM</a:t>
            </a:r>
            <a:r>
              <a:rPr dirty="0" sz="2000" spc="-4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layer</a:t>
            </a:r>
            <a:r>
              <a:rPr dirty="0" sz="20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virtualizes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physical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hardware resources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such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CPU,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memory,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network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disk </a:t>
            </a:r>
            <a:r>
              <a:rPr dirty="0" sz="2000">
                <a:latin typeface="Calibri"/>
                <a:cs typeface="Calibri"/>
              </a:rPr>
              <a:t>controllers,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human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interface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devices.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Every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VM </a:t>
            </a:r>
            <a:r>
              <a:rPr dirty="0" sz="2000">
                <a:latin typeface="Calibri"/>
                <a:cs typeface="Calibri"/>
              </a:rPr>
              <a:t>has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own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set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virtual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hardware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resources.</a:t>
            </a:r>
            <a:endParaRPr sz="2000">
              <a:latin typeface="Calibri"/>
              <a:cs typeface="Calibri"/>
            </a:endParaRPr>
          </a:p>
          <a:p>
            <a:pPr algn="r" marR="5080">
              <a:lnSpc>
                <a:spcPts val="1345"/>
              </a:lnSpc>
            </a:pPr>
            <a:r>
              <a:rPr dirty="0" sz="1400">
                <a:latin typeface="Arial"/>
                <a:cs typeface="Arial"/>
              </a:rPr>
              <a:t>Virtualization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Layer</a:t>
            </a:r>
            <a:endParaRPr sz="1400">
              <a:latin typeface="Arial"/>
              <a:cs typeface="Arial"/>
            </a:endParaRPr>
          </a:p>
          <a:p>
            <a:pPr marL="412115" indent="-399415">
              <a:lnSpc>
                <a:spcPts val="2135"/>
              </a:lnSpc>
              <a:buSzPct val="90000"/>
              <a:buChar char="▪"/>
              <a:tabLst>
                <a:tab pos="412115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resource</a:t>
            </a:r>
            <a:r>
              <a:rPr dirty="0" sz="2000" spc="-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manager</a:t>
            </a:r>
            <a:r>
              <a:rPr dirty="0" sz="2000" spc="-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allocates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CPU,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memory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disk,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560809" y="1150238"/>
            <a:ext cx="381000" cy="914400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5500751" y="3079369"/>
            <a:ext cx="1972945" cy="542925"/>
            <a:chOff x="5500751" y="3079369"/>
            <a:chExt cx="1972945" cy="542925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13451" y="3092069"/>
              <a:ext cx="1947418" cy="51727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513451" y="3092069"/>
              <a:ext cx="1947545" cy="517525"/>
            </a:xfrm>
            <a:custGeom>
              <a:avLst/>
              <a:gdLst/>
              <a:ahLst/>
              <a:cxnLst/>
              <a:rect l="l" t="t" r="r" b="b"/>
              <a:pathLst>
                <a:path w="1947545" h="517525">
                  <a:moveTo>
                    <a:pt x="0" y="129285"/>
                  </a:moveTo>
                  <a:lnTo>
                    <a:pt x="1688719" y="129285"/>
                  </a:lnTo>
                  <a:lnTo>
                    <a:pt x="1688719" y="0"/>
                  </a:lnTo>
                  <a:lnTo>
                    <a:pt x="1947418" y="258698"/>
                  </a:lnTo>
                  <a:lnTo>
                    <a:pt x="1688719" y="517270"/>
                  </a:lnTo>
                  <a:lnTo>
                    <a:pt x="1688719" y="387984"/>
                  </a:lnTo>
                  <a:lnTo>
                    <a:pt x="0" y="387984"/>
                  </a:lnTo>
                  <a:lnTo>
                    <a:pt x="0" y="129285"/>
                  </a:lnTo>
                  <a:close/>
                </a:path>
              </a:pathLst>
            </a:custGeom>
            <a:ln w="254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5614796" y="3234308"/>
            <a:ext cx="153606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Arial"/>
                <a:cs typeface="Arial"/>
              </a:rPr>
              <a:t>Resource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Manager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641977" y="3714115"/>
            <a:ext cx="2781300" cy="542925"/>
            <a:chOff x="4641977" y="3714115"/>
            <a:chExt cx="2781300" cy="542925"/>
          </a:xfrm>
        </p:grpSpPr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54677" y="3726815"/>
              <a:ext cx="2755900" cy="517271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654677" y="3726815"/>
              <a:ext cx="2755900" cy="517525"/>
            </a:xfrm>
            <a:custGeom>
              <a:avLst/>
              <a:gdLst/>
              <a:ahLst/>
              <a:cxnLst/>
              <a:rect l="l" t="t" r="r" b="b"/>
              <a:pathLst>
                <a:path w="2755900" h="517525">
                  <a:moveTo>
                    <a:pt x="0" y="129286"/>
                  </a:moveTo>
                  <a:lnTo>
                    <a:pt x="2497201" y="129286"/>
                  </a:lnTo>
                  <a:lnTo>
                    <a:pt x="2497201" y="0"/>
                  </a:lnTo>
                  <a:lnTo>
                    <a:pt x="2755900" y="258699"/>
                  </a:lnTo>
                  <a:lnTo>
                    <a:pt x="2497201" y="517271"/>
                  </a:lnTo>
                  <a:lnTo>
                    <a:pt x="2497201" y="387985"/>
                  </a:lnTo>
                  <a:lnTo>
                    <a:pt x="0" y="387985"/>
                  </a:lnTo>
                  <a:lnTo>
                    <a:pt x="0" y="129286"/>
                  </a:lnTo>
                  <a:close/>
                </a:path>
              </a:pathLst>
            </a:custGeom>
            <a:ln w="254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4675759" y="3869182"/>
            <a:ext cx="259080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Hardware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Interface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Components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23429" y="5559044"/>
            <a:ext cx="4008754" cy="1245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An</a:t>
            </a:r>
            <a:r>
              <a:rPr dirty="0" sz="200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C00000"/>
                </a:solidFill>
                <a:latin typeface="Calibri"/>
                <a:cs typeface="Calibri"/>
              </a:rPr>
              <a:t>ESX-enabled</a:t>
            </a:r>
            <a:r>
              <a:rPr dirty="0" sz="2000" spc="-5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server</a:t>
            </a:r>
            <a:r>
              <a:rPr dirty="0" sz="2000" spc="-1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consists</a:t>
            </a:r>
            <a:r>
              <a:rPr dirty="0" sz="2000" spc="-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dirty="0" sz="200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C00000"/>
                </a:solidFill>
                <a:latin typeface="Calibri"/>
                <a:cs typeface="Calibri"/>
              </a:rPr>
              <a:t>four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components:</a:t>
            </a:r>
            <a:r>
              <a:rPr dirty="0" sz="2000" spc="-6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dirty="0" sz="2000" spc="-4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virtualization</a:t>
            </a:r>
            <a:r>
              <a:rPr dirty="0" sz="2000" spc="-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layer,</a:t>
            </a:r>
            <a:r>
              <a:rPr dirty="0" sz="2000" spc="-4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50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resource</a:t>
            </a:r>
            <a:r>
              <a:rPr dirty="0" sz="2000" spc="-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manager,</a:t>
            </a:r>
            <a:r>
              <a:rPr dirty="0" sz="2000" spc="-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hardware</a:t>
            </a:r>
            <a:r>
              <a:rPr dirty="0" sz="2000" spc="-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C00000"/>
                </a:solidFill>
                <a:latin typeface="Calibri"/>
                <a:cs typeface="Calibri"/>
              </a:rPr>
              <a:t>interface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components,</a:t>
            </a:r>
            <a:r>
              <a:rPr dirty="0" sz="2000" spc="-6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200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dirty="0" sz="2000" spc="-4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service</a:t>
            </a:r>
            <a:r>
              <a:rPr dirty="0" sz="2000" spc="-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C00000"/>
                </a:solidFill>
                <a:latin typeface="Calibri"/>
                <a:cs typeface="Calibri"/>
              </a:rPr>
              <a:t>console.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97432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703" y="0"/>
                </a:moveTo>
                <a:lnTo>
                  <a:pt x="0" y="0"/>
                </a:lnTo>
                <a:lnTo>
                  <a:pt x="0" y="38100"/>
                </a:lnTo>
                <a:lnTo>
                  <a:pt x="8291703" y="38100"/>
                </a:lnTo>
                <a:lnTo>
                  <a:pt x="8291703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0232" y="242061"/>
            <a:ext cx="8879840" cy="533019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380"/>
              </a:spcBef>
            </a:pPr>
            <a:r>
              <a:rPr dirty="0" sz="2400" b="1">
                <a:solidFill>
                  <a:srgbClr val="2E5395"/>
                </a:solidFill>
                <a:latin typeface="Arial"/>
                <a:cs typeface="Arial"/>
              </a:rPr>
              <a:t>CLOUD</a:t>
            </a:r>
            <a:r>
              <a:rPr dirty="0" sz="2400" spc="-90" b="1">
                <a:solidFill>
                  <a:srgbClr val="2E5395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2E5395"/>
                </a:solidFill>
                <a:latin typeface="Arial"/>
                <a:cs typeface="Arial"/>
              </a:rPr>
              <a:t>COMPUTING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Summary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10"/>
              </a:spcBef>
            </a:pPr>
            <a:endParaRPr sz="2400">
              <a:latin typeface="Arial"/>
              <a:cs typeface="Arial"/>
            </a:endParaRPr>
          </a:p>
          <a:p>
            <a:pPr marL="363855" indent="-343535">
              <a:lnSpc>
                <a:spcPct val="100000"/>
              </a:lnSpc>
              <a:buSzPct val="75000"/>
              <a:buFont typeface="Arial"/>
              <a:buChar char="•"/>
              <a:tabLst>
                <a:tab pos="363855" algn="l"/>
              </a:tabLst>
            </a:pPr>
            <a:r>
              <a:rPr dirty="0" sz="2400">
                <a:latin typeface="Calibri"/>
                <a:cs typeface="Calibri"/>
              </a:rPr>
              <a:t>Transparent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virtualization</a:t>
            </a:r>
            <a:endParaRPr sz="2400">
              <a:latin typeface="Calibri"/>
              <a:cs typeface="Calibri"/>
            </a:endParaRPr>
          </a:p>
          <a:p>
            <a:pPr lvl="1" marL="821055" indent="-342900">
              <a:lnSpc>
                <a:spcPct val="100000"/>
              </a:lnSpc>
              <a:spcBef>
                <a:spcPts val="1175"/>
              </a:spcBef>
              <a:buSzPct val="75000"/>
              <a:buFont typeface="Arial"/>
              <a:buChar char="•"/>
              <a:tabLst>
                <a:tab pos="821055" algn="l"/>
              </a:tabLst>
            </a:pPr>
            <a:r>
              <a:rPr dirty="0" sz="2400" spc="-20">
                <a:latin typeface="Calibri"/>
                <a:cs typeface="Calibri"/>
              </a:rPr>
              <a:t>Trap-and-</a:t>
            </a:r>
            <a:r>
              <a:rPr dirty="0" sz="2400">
                <a:latin typeface="Calibri"/>
                <a:cs typeface="Calibri"/>
              </a:rPr>
              <a:t>emulate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(to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discussed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detail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next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lecture)</a:t>
            </a:r>
            <a:endParaRPr sz="2400">
              <a:latin typeface="Calibri"/>
              <a:cs typeface="Calibri"/>
            </a:endParaRPr>
          </a:p>
          <a:p>
            <a:pPr lvl="1" marL="821055" indent="-342900">
              <a:lnSpc>
                <a:spcPct val="100000"/>
              </a:lnSpc>
              <a:spcBef>
                <a:spcPts val="1180"/>
              </a:spcBef>
              <a:buSzPct val="75000"/>
              <a:buFont typeface="Arial"/>
              <a:buChar char="•"/>
              <a:tabLst>
                <a:tab pos="821055" algn="l"/>
              </a:tabLst>
            </a:pPr>
            <a:r>
              <a:rPr dirty="0" sz="2400">
                <a:latin typeface="Calibri"/>
                <a:cs typeface="Calibri"/>
              </a:rPr>
              <a:t>Binary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translation</a:t>
            </a:r>
            <a:endParaRPr sz="2400">
              <a:latin typeface="Calibri"/>
              <a:cs typeface="Calibri"/>
            </a:endParaRPr>
          </a:p>
          <a:p>
            <a:pPr marL="363855" indent="-343535">
              <a:lnSpc>
                <a:spcPct val="100000"/>
              </a:lnSpc>
              <a:spcBef>
                <a:spcPts val="1175"/>
              </a:spcBef>
              <a:buSzPct val="75000"/>
              <a:buFont typeface="Arial"/>
              <a:buChar char="•"/>
              <a:tabLst>
                <a:tab pos="363855" algn="l"/>
              </a:tabLst>
            </a:pPr>
            <a:r>
              <a:rPr dirty="0" sz="2400" spc="-10">
                <a:latin typeface="Calibri"/>
                <a:cs typeface="Calibri"/>
              </a:rPr>
              <a:t>Paravirtualization</a:t>
            </a:r>
            <a:endParaRPr sz="2400">
              <a:latin typeface="Calibri"/>
              <a:cs typeface="Calibri"/>
            </a:endParaRPr>
          </a:p>
          <a:p>
            <a:pPr marL="363855" indent="-343535">
              <a:lnSpc>
                <a:spcPct val="100000"/>
              </a:lnSpc>
              <a:spcBef>
                <a:spcPts val="1175"/>
              </a:spcBef>
              <a:buSzPct val="75000"/>
              <a:buFont typeface="Arial"/>
              <a:buChar char="•"/>
              <a:tabLst>
                <a:tab pos="363855" algn="l"/>
              </a:tabLst>
            </a:pPr>
            <a:r>
              <a:rPr dirty="0" sz="2400">
                <a:latin typeface="Calibri"/>
                <a:cs typeface="Calibri"/>
              </a:rPr>
              <a:t>Example: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Page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tables</a:t>
            </a:r>
            <a:endParaRPr sz="2400">
              <a:latin typeface="Calibri"/>
              <a:cs typeface="Calibri"/>
            </a:endParaRPr>
          </a:p>
          <a:p>
            <a:pPr lvl="1" marL="821055" marR="5080" indent="-342900">
              <a:lnSpc>
                <a:spcPct val="120000"/>
              </a:lnSpc>
              <a:spcBef>
                <a:spcPts val="605"/>
              </a:spcBef>
              <a:buSzPct val="75000"/>
              <a:buFont typeface="Arial"/>
              <a:buChar char="•"/>
              <a:tabLst>
                <a:tab pos="821055" algn="l"/>
              </a:tabLst>
            </a:pPr>
            <a:r>
              <a:rPr dirty="0" sz="2400">
                <a:latin typeface="Calibri"/>
                <a:cs typeface="Calibri"/>
              </a:rPr>
              <a:t>Transparent: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shadow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page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tables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(to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discussed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detail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under </a:t>
            </a:r>
            <a:r>
              <a:rPr dirty="0" sz="2400">
                <a:latin typeface="Calibri"/>
                <a:cs typeface="Calibri"/>
              </a:rPr>
              <a:t>Memory</a:t>
            </a:r>
            <a:r>
              <a:rPr dirty="0" sz="2400" spc="-10">
                <a:latin typeface="Calibri"/>
                <a:cs typeface="Calibri"/>
              </a:rPr>
              <a:t> virtualization)</a:t>
            </a:r>
            <a:endParaRPr sz="2400">
              <a:latin typeface="Calibri"/>
              <a:cs typeface="Calibri"/>
            </a:endParaRPr>
          </a:p>
          <a:p>
            <a:pPr lvl="1" marL="821055" indent="-342900">
              <a:lnSpc>
                <a:spcPct val="100000"/>
              </a:lnSpc>
              <a:spcBef>
                <a:spcPts val="1175"/>
              </a:spcBef>
              <a:buSzPct val="75000"/>
              <a:buFont typeface="Arial"/>
              <a:buChar char="•"/>
              <a:tabLst>
                <a:tab pos="821055" algn="l"/>
              </a:tabLst>
            </a:pPr>
            <a:r>
              <a:rPr dirty="0" sz="2400">
                <a:latin typeface="Calibri"/>
                <a:cs typeface="Calibri"/>
              </a:rPr>
              <a:t>Paravirtualization: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special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page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table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APIs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(Xen)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97432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703" y="0"/>
                </a:moveTo>
                <a:lnTo>
                  <a:pt x="0" y="0"/>
                </a:lnTo>
                <a:lnTo>
                  <a:pt x="0" y="38100"/>
                </a:lnTo>
                <a:lnTo>
                  <a:pt x="8291703" y="38100"/>
                </a:lnTo>
                <a:lnTo>
                  <a:pt x="8291703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0232" y="242061"/>
            <a:ext cx="8237855" cy="357251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380"/>
              </a:spcBef>
            </a:pPr>
            <a:r>
              <a:rPr dirty="0" sz="2400" b="1">
                <a:solidFill>
                  <a:srgbClr val="2E5395"/>
                </a:solidFill>
                <a:latin typeface="Arial"/>
                <a:cs typeface="Arial"/>
              </a:rPr>
              <a:t>CLOUD</a:t>
            </a:r>
            <a:r>
              <a:rPr dirty="0" sz="2400" spc="-90" b="1">
                <a:solidFill>
                  <a:srgbClr val="2E5395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2E5395"/>
                </a:solidFill>
                <a:latin typeface="Arial"/>
                <a:cs typeface="Arial"/>
              </a:rPr>
              <a:t>COMPUTING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Additional</a:t>
            </a:r>
            <a:r>
              <a:rPr dirty="0" sz="2400" spc="-7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References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80"/>
              </a:spcBef>
            </a:pPr>
            <a:endParaRPr sz="2400">
              <a:latin typeface="Arial"/>
              <a:cs typeface="Arial"/>
            </a:endParaRPr>
          </a:p>
          <a:p>
            <a:pPr marL="144780" marR="5080">
              <a:lnSpc>
                <a:spcPct val="100000"/>
              </a:lnSpc>
            </a:pPr>
            <a:r>
              <a:rPr dirty="0" sz="2400">
                <a:latin typeface="Arial"/>
                <a:cs typeface="Arial"/>
              </a:rPr>
              <a:t>Para</a:t>
            </a:r>
            <a:r>
              <a:rPr dirty="0" sz="2400" spc="-3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vs</a:t>
            </a:r>
            <a:r>
              <a:rPr dirty="0" sz="2400" spc="-2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Full</a:t>
            </a:r>
            <a:r>
              <a:rPr dirty="0" sz="2400" spc="-2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vs</a:t>
            </a:r>
            <a:r>
              <a:rPr dirty="0" sz="2400" spc="-2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Transparent</a:t>
            </a:r>
            <a:r>
              <a:rPr dirty="0" sz="2400" spc="-2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virtualization </a:t>
            </a:r>
            <a:r>
              <a:rPr dirty="0" u="sng" sz="2400" spc="-2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https://www.geeksforgeeks.org/difference-</a:t>
            </a:r>
            <a:r>
              <a:rPr dirty="0" u="sng" sz="2400" spc="-2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between-</a:t>
            </a:r>
            <a:r>
              <a:rPr dirty="0" u="sng" sz="240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full-</a:t>
            </a:r>
            <a:r>
              <a:rPr dirty="0" u="sng" sz="2400" spc="-2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virtualization-</a:t>
            </a:r>
            <a:r>
              <a:rPr dirty="0" u="sng" sz="2400" spc="-2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and-</a:t>
            </a:r>
            <a:r>
              <a:rPr dirty="0" u="sng" sz="2400" spc="-1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paravirtualization/</a:t>
            </a:r>
            <a:r>
              <a:rPr dirty="0" sz="2400" spc="-10">
                <a:latin typeface="Arial"/>
                <a:cs typeface="Arial"/>
              </a:rPr>
              <a:t> </a:t>
            </a:r>
            <a:r>
              <a:rPr dirty="0" u="sng" sz="2400" spc="-1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https://www.vmware.com/content/dam/digitalmarketing/vmw</a:t>
            </a:r>
            <a:r>
              <a:rPr dirty="0" sz="2400" spc="-10">
                <a:latin typeface="Arial"/>
                <a:cs typeface="Arial"/>
              </a:rPr>
              <a:t> </a:t>
            </a:r>
            <a:r>
              <a:rPr dirty="0" u="sng" sz="2400" spc="-1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are/en/pdf/techpaper/VMware_paravirtualization.pdf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765409" y="349516"/>
            <a:ext cx="1067435" cy="1078230"/>
          </a:xfrm>
          <a:custGeom>
            <a:avLst/>
            <a:gdLst/>
            <a:ahLst/>
            <a:cxnLst/>
            <a:rect l="l" t="t" r="r" b="b"/>
            <a:pathLst>
              <a:path w="1067434" h="1078230">
                <a:moveTo>
                  <a:pt x="1066901" y="0"/>
                </a:moveTo>
                <a:lnTo>
                  <a:pt x="0" y="0"/>
                </a:lnTo>
                <a:lnTo>
                  <a:pt x="0" y="45707"/>
                </a:lnTo>
                <a:lnTo>
                  <a:pt x="1021080" y="45707"/>
                </a:lnTo>
                <a:lnTo>
                  <a:pt x="1021080" y="1078090"/>
                </a:lnTo>
                <a:lnTo>
                  <a:pt x="1066787" y="1078090"/>
                </a:lnTo>
                <a:lnTo>
                  <a:pt x="1066787" y="45707"/>
                </a:lnTo>
                <a:lnTo>
                  <a:pt x="1066901" y="0"/>
                </a:lnTo>
                <a:close/>
              </a:path>
            </a:pathLst>
          </a:custGeom>
          <a:solidFill>
            <a:srgbClr val="F4AF8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A logo for a university  Description automatically generated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0614" y="1172591"/>
            <a:ext cx="2461497" cy="3997071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367276" y="2089784"/>
            <a:ext cx="274256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C55A11"/>
                </a:solidFill>
                <a:latin typeface="Arial"/>
                <a:cs typeface="Arial"/>
              </a:rPr>
              <a:t>THANK</a:t>
            </a:r>
            <a:r>
              <a:rPr dirty="0" sz="3600" spc="-14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3600" spc="-25">
                <a:solidFill>
                  <a:srgbClr val="C55A11"/>
                </a:solidFill>
                <a:latin typeface="Arial"/>
                <a:cs typeface="Arial"/>
              </a:rPr>
              <a:t>YOU</a:t>
            </a:r>
            <a:endParaRPr sz="3600">
              <a:latin typeface="Arial"/>
              <a:cs typeface="Arial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4287901" y="2887345"/>
            <a:ext cx="4581525" cy="0"/>
          </a:xfrm>
          <a:custGeom>
            <a:avLst/>
            <a:gdLst/>
            <a:ahLst/>
            <a:cxnLst/>
            <a:rect l="l" t="t" r="r" b="b"/>
            <a:pathLst>
              <a:path w="4581525" h="0">
                <a:moveTo>
                  <a:pt x="0" y="0"/>
                </a:moveTo>
                <a:lnTo>
                  <a:pt x="4581525" y="0"/>
                </a:lnTo>
              </a:path>
            </a:pathLst>
          </a:custGeom>
          <a:ln w="38100">
            <a:solidFill>
              <a:srgbClr val="DFA1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367276" y="3221591"/>
            <a:ext cx="5217160" cy="123380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z="2400" b="1">
                <a:latin typeface="Calibri"/>
                <a:cs typeface="Calibri"/>
              </a:rPr>
              <a:t>Prafullata</a:t>
            </a:r>
            <a:r>
              <a:rPr dirty="0" sz="2400" spc="-3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Kiran</a:t>
            </a:r>
            <a:r>
              <a:rPr dirty="0" sz="2400" spc="-2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Auradkar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2000">
                <a:latin typeface="Calibri"/>
                <a:cs typeface="Calibri"/>
              </a:rPr>
              <a:t>Department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Computer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Science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Engineering</a:t>
            </a:r>
            <a:endParaRPr sz="2000">
              <a:latin typeface="Calibri"/>
              <a:cs typeface="Calibri"/>
            </a:endParaRPr>
          </a:p>
          <a:p>
            <a:pPr marL="24765">
              <a:lnSpc>
                <a:spcPct val="100000"/>
              </a:lnSpc>
              <a:spcBef>
                <a:spcPts val="745"/>
              </a:spcBef>
            </a:pPr>
            <a:r>
              <a:rPr dirty="0" sz="2400" spc="-10" b="1">
                <a:latin typeface="Calibri"/>
                <a:cs typeface="Calibri"/>
                <a:hlinkClick r:id="rId2"/>
              </a:rPr>
              <a:t>prafullatak@pes.edu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3842" y="5489702"/>
            <a:ext cx="1067435" cy="1078230"/>
          </a:xfrm>
          <a:custGeom>
            <a:avLst/>
            <a:gdLst/>
            <a:ahLst/>
            <a:cxnLst/>
            <a:rect l="l" t="t" r="r" b="b"/>
            <a:pathLst>
              <a:path w="1067435" h="1078229">
                <a:moveTo>
                  <a:pt x="1066888" y="1032446"/>
                </a:moveTo>
                <a:lnTo>
                  <a:pt x="45707" y="1032446"/>
                </a:lnTo>
                <a:lnTo>
                  <a:pt x="45707" y="0"/>
                </a:lnTo>
                <a:lnTo>
                  <a:pt x="0" y="0"/>
                </a:lnTo>
                <a:lnTo>
                  <a:pt x="0" y="1032446"/>
                </a:lnTo>
                <a:lnTo>
                  <a:pt x="0" y="1066888"/>
                </a:lnTo>
                <a:lnTo>
                  <a:pt x="0" y="1078153"/>
                </a:lnTo>
                <a:lnTo>
                  <a:pt x="1066888" y="1078153"/>
                </a:lnTo>
                <a:lnTo>
                  <a:pt x="1066888" y="1032446"/>
                </a:lnTo>
                <a:close/>
              </a:path>
            </a:pathLst>
          </a:custGeom>
          <a:solidFill>
            <a:srgbClr val="F4AF81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10855452" y="266699"/>
            <a:ext cx="1066800" cy="1077595"/>
          </a:xfrm>
          <a:custGeom>
            <a:avLst/>
            <a:gdLst/>
            <a:ahLst/>
            <a:cxnLst/>
            <a:rect l="l" t="t" r="r" b="b"/>
            <a:pathLst>
              <a:path w="1066800" h="1077595">
                <a:moveTo>
                  <a:pt x="1066800" y="0"/>
                </a:moveTo>
                <a:lnTo>
                  <a:pt x="0" y="0"/>
                </a:lnTo>
                <a:lnTo>
                  <a:pt x="0" y="45720"/>
                </a:lnTo>
                <a:lnTo>
                  <a:pt x="1021080" y="45720"/>
                </a:lnTo>
                <a:lnTo>
                  <a:pt x="1021080" y="1077468"/>
                </a:lnTo>
                <a:lnTo>
                  <a:pt x="1066800" y="1077468"/>
                </a:lnTo>
                <a:lnTo>
                  <a:pt x="1066800" y="45720"/>
                </a:lnTo>
                <a:lnTo>
                  <a:pt x="1066800" y="10668"/>
                </a:lnTo>
                <a:lnTo>
                  <a:pt x="1066800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A logo for a university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3580" y="1171955"/>
            <a:ext cx="2239644" cy="3637788"/>
          </a:xfrm>
          <a:prstGeom prst="rect">
            <a:avLst/>
          </a:prstGeom>
        </p:spPr>
      </p:pic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74184" y="1698497"/>
            <a:ext cx="3894454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C55A11"/>
                </a:solidFill>
              </a:rPr>
              <a:t>CLOUD</a:t>
            </a:r>
            <a:r>
              <a:rPr dirty="0" sz="3600" spc="-130">
                <a:solidFill>
                  <a:srgbClr val="C55A11"/>
                </a:solidFill>
              </a:rPr>
              <a:t> </a:t>
            </a:r>
            <a:r>
              <a:rPr dirty="0" sz="3600" spc="-10">
                <a:solidFill>
                  <a:srgbClr val="C55A11"/>
                </a:solidFill>
              </a:rPr>
              <a:t>COMPUTING</a:t>
            </a:r>
            <a:endParaRPr sz="3600"/>
          </a:p>
        </p:txBody>
      </p:sp>
      <p:sp>
        <p:nvSpPr>
          <p:cNvPr id="4" name="object 4"/>
          <p:cNvSpPr/>
          <p:nvPr/>
        </p:nvSpPr>
        <p:spPr>
          <a:xfrm>
            <a:off x="4783073" y="4112514"/>
            <a:ext cx="4581525" cy="0"/>
          </a:xfrm>
          <a:custGeom>
            <a:avLst/>
            <a:gdLst/>
            <a:ahLst/>
            <a:cxnLst/>
            <a:rect l="l" t="t" r="r" b="b"/>
            <a:pathLst>
              <a:path w="4581525" h="0">
                <a:moveTo>
                  <a:pt x="0" y="0"/>
                </a:moveTo>
                <a:lnTo>
                  <a:pt x="4581398" y="0"/>
                </a:lnTo>
              </a:path>
            </a:pathLst>
          </a:custGeom>
          <a:ln w="38100">
            <a:solidFill>
              <a:srgbClr val="C55A1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846701" y="2821304"/>
            <a:ext cx="6247130" cy="23456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0645" marR="1779905" indent="-6858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Virtualization</a:t>
            </a:r>
            <a:r>
              <a:rPr dirty="0" sz="2400" spc="-90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Software</a:t>
            </a:r>
            <a:r>
              <a:rPr dirty="0" sz="2400" spc="-100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395"/>
                </a:solidFill>
                <a:latin typeface="Calibri"/>
                <a:cs typeface="Calibri"/>
              </a:rPr>
              <a:t>Techniques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Trap</a:t>
            </a:r>
            <a:r>
              <a:rPr dirty="0" sz="2400" spc="-2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&amp;</a:t>
            </a:r>
            <a:r>
              <a:rPr dirty="0" sz="2400" spc="-4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emulate,</a:t>
            </a: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binary</a:t>
            </a:r>
            <a:r>
              <a:rPr dirty="0" sz="2400" spc="-4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translation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845"/>
              </a:spcBef>
            </a:pPr>
            <a:endParaRPr sz="2400">
              <a:latin typeface="Calibri"/>
              <a:cs typeface="Calibri"/>
            </a:endParaRPr>
          </a:p>
          <a:p>
            <a:pPr marL="108585">
              <a:lnSpc>
                <a:spcPct val="100000"/>
              </a:lnSpc>
            </a:pPr>
            <a:r>
              <a:rPr dirty="0" sz="2000" b="1">
                <a:latin typeface="Arial"/>
                <a:cs typeface="Arial"/>
              </a:rPr>
              <a:t>Dr.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Prafullata</a:t>
            </a:r>
            <a:r>
              <a:rPr dirty="0" sz="2000" spc="-4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Kiran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Auradkar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dirty="0" sz="2400">
                <a:latin typeface="Calibri"/>
                <a:cs typeface="Calibri"/>
              </a:rPr>
              <a:t>Department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Computer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Science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10">
                <a:latin typeface="Calibri"/>
                <a:cs typeface="Calibri"/>
              </a:rPr>
              <a:t> Engineering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13944" y="5489447"/>
            <a:ext cx="1066800" cy="1079500"/>
          </a:xfrm>
          <a:custGeom>
            <a:avLst/>
            <a:gdLst/>
            <a:ahLst/>
            <a:cxnLst/>
            <a:rect l="l" t="t" r="r" b="b"/>
            <a:pathLst>
              <a:path w="1066800" h="1079500">
                <a:moveTo>
                  <a:pt x="1066800" y="1033272"/>
                </a:moveTo>
                <a:lnTo>
                  <a:pt x="45720" y="1033272"/>
                </a:lnTo>
                <a:lnTo>
                  <a:pt x="45720" y="0"/>
                </a:lnTo>
                <a:lnTo>
                  <a:pt x="0" y="0"/>
                </a:lnTo>
                <a:lnTo>
                  <a:pt x="0" y="1033272"/>
                </a:lnTo>
                <a:lnTo>
                  <a:pt x="0" y="1066800"/>
                </a:lnTo>
                <a:lnTo>
                  <a:pt x="0" y="1078992"/>
                </a:lnTo>
                <a:lnTo>
                  <a:pt x="1066800" y="1078992"/>
                </a:lnTo>
                <a:lnTo>
                  <a:pt x="1066800" y="1033272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38404" y="5442305"/>
            <a:ext cx="11408410" cy="100139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Arial"/>
                <a:cs typeface="Arial"/>
              </a:rPr>
              <a:t>Acknowledgements:</a:t>
            </a:r>
            <a:endParaRPr sz="1600">
              <a:latin typeface="Arial"/>
              <a:cs typeface="Arial"/>
            </a:endParaRPr>
          </a:p>
          <a:p>
            <a:pPr algn="just" marL="12700" marR="508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latin typeface="Arial"/>
                <a:cs typeface="Arial"/>
              </a:rPr>
              <a:t>Significant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information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slide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deck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presented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through</a:t>
            </a:r>
            <a:r>
              <a:rPr dirty="0" sz="1200" spc="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Unit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2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of</a:t>
            </a:r>
            <a:r>
              <a:rPr dirty="0" sz="1200" spc="9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course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have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been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created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by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Dr.</a:t>
            </a:r>
            <a:r>
              <a:rPr dirty="0" sz="1200" spc="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H.L.</a:t>
            </a:r>
            <a:r>
              <a:rPr dirty="0" sz="1200" spc="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Phalachandra</a:t>
            </a:r>
            <a:r>
              <a:rPr dirty="0" sz="1200" spc="70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would</a:t>
            </a:r>
            <a:r>
              <a:rPr dirty="0" sz="1200" spc="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like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acknowledge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and </a:t>
            </a:r>
            <a:r>
              <a:rPr dirty="0" sz="1200">
                <a:latin typeface="Arial"/>
                <a:cs typeface="Arial"/>
              </a:rPr>
              <a:t>thank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him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for the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same.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There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have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been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some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information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which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might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have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leveraged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from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content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of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Dr.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K.V. Subramaniam’s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lecture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contents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too.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 may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have </a:t>
            </a:r>
            <a:r>
              <a:rPr dirty="0" sz="1200">
                <a:latin typeface="Arial"/>
                <a:cs typeface="Arial"/>
              </a:rPr>
              <a:t>supplemented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same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with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contents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from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books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other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sources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from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Internet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would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like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sincerely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thank,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acknowledge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reiterate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that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credit/rights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for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same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remain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with the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original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authors/publishers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only. These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are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intended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for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classroom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presentation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only.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Direct</a:t>
            </a:r>
            <a:r>
              <a:rPr dirty="0" spc="-7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Execution</a:t>
            </a:r>
            <a:r>
              <a:rPr dirty="0" spc="-9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(Recap)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99363" y="1526540"/>
            <a:ext cx="9469120" cy="25895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Calibri"/>
                <a:cs typeface="Calibri"/>
              </a:rPr>
              <a:t>Idea:</a:t>
            </a:r>
            <a:r>
              <a:rPr dirty="0" sz="2400" spc="-40" b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Run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most</a:t>
            </a:r>
            <a:r>
              <a:rPr dirty="0" sz="2400" spc="-35" i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instructions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VM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directly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hardware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80"/>
              </a:spcBef>
            </a:pPr>
            <a:r>
              <a:rPr dirty="0" sz="2400" b="1">
                <a:latin typeface="Calibri"/>
                <a:cs typeface="Calibri"/>
              </a:rPr>
              <a:t>Advantage:</a:t>
            </a:r>
            <a:r>
              <a:rPr dirty="0" sz="2400" spc="-65" b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Performance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close</a:t>
            </a:r>
            <a:r>
              <a:rPr dirty="0" sz="2400" spc="-70" i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native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execution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5"/>
              </a:spcBef>
            </a:pPr>
            <a:r>
              <a:rPr dirty="0" sz="2400" b="1">
                <a:latin typeface="Calibri"/>
                <a:cs typeface="Calibri"/>
              </a:rPr>
              <a:t>Challenge:</a:t>
            </a:r>
            <a:r>
              <a:rPr dirty="0" sz="2400" spc="-50" b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How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ensure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isolation/protection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50">
                <a:latin typeface="Calibri"/>
                <a:cs typeface="Calibri"/>
              </a:rPr>
              <a:t>?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80"/>
              </a:spcBef>
            </a:pPr>
            <a:r>
              <a:rPr dirty="0" sz="2400">
                <a:latin typeface="Calibri"/>
                <a:cs typeface="Calibri"/>
              </a:rPr>
              <a:t>If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all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instructions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VM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directly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executed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VMM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no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control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50">
                <a:latin typeface="Calibri"/>
                <a:cs typeface="Calibri"/>
              </a:rPr>
              <a:t>!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3191" y="5541262"/>
            <a:ext cx="11378565" cy="1201420"/>
          </a:xfrm>
          <a:prstGeom prst="rect">
            <a:avLst/>
          </a:prstGeom>
          <a:ln w="9525">
            <a:solidFill>
              <a:srgbClr val="C00000"/>
            </a:solidFill>
          </a:ln>
        </p:spPr>
        <p:txBody>
          <a:bodyPr wrap="square" lIns="0" tIns="31115" rIns="0" bIns="0" rtlCol="0" vert="horz">
            <a:spAutoFit/>
          </a:bodyPr>
          <a:lstStyle/>
          <a:p>
            <a:pPr marL="91440" marR="89535">
              <a:lnSpc>
                <a:spcPct val="100400"/>
              </a:lnSpc>
              <a:spcBef>
                <a:spcPts val="245"/>
              </a:spcBef>
            </a:pP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Where</a:t>
            </a:r>
            <a:r>
              <a:rPr dirty="0" sz="1800" spc="-2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dirty="0" sz="1800" spc="-2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original</a:t>
            </a:r>
            <a:r>
              <a:rPr dirty="0" sz="1800" spc="-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intent</a:t>
            </a:r>
            <a:r>
              <a:rPr dirty="0" sz="1800" spc="-2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for</a:t>
            </a:r>
            <a:r>
              <a:rPr dirty="0" sz="1800" spc="-2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a</a:t>
            </a:r>
            <a:r>
              <a:rPr dirty="0" sz="1800" spc="-3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VMM</a:t>
            </a:r>
            <a:r>
              <a:rPr dirty="0" sz="1800" spc="-2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dirty="0" sz="1800" spc="-1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VM</a:t>
            </a:r>
            <a:r>
              <a:rPr dirty="0" sz="1800" spc="-3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dirty="0" sz="1800" spc="-1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dirty="0" sz="1800" spc="-3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run</a:t>
            </a:r>
            <a:r>
              <a:rPr dirty="0" sz="1800" spc="-1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an</a:t>
            </a:r>
            <a:r>
              <a:rPr dirty="0" sz="1800" spc="-2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1F5F"/>
                </a:solidFill>
                <a:latin typeface="Calibri"/>
                <a:cs typeface="Calibri"/>
              </a:rPr>
              <a:t>unmodified</a:t>
            </a:r>
            <a:r>
              <a:rPr dirty="0" sz="1800" spc="-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guest</a:t>
            </a:r>
            <a:r>
              <a:rPr dirty="0" sz="1800" spc="-3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OS</a:t>
            </a:r>
            <a:r>
              <a:rPr dirty="0" sz="1800" spc="-3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on</a:t>
            </a:r>
            <a:r>
              <a:rPr dirty="0" sz="1800" spc="-2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dirty="0" sz="1800" spc="-1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VM</a:t>
            </a:r>
            <a:r>
              <a:rPr dirty="0" sz="1800" spc="-2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as</a:t>
            </a:r>
            <a:r>
              <a:rPr dirty="0" sz="1800" spc="-3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if</a:t>
            </a:r>
            <a:r>
              <a:rPr dirty="0" sz="1800" spc="-1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it</a:t>
            </a:r>
            <a:r>
              <a:rPr dirty="0" sz="1800" spc="-2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were</a:t>
            </a:r>
            <a:r>
              <a:rPr dirty="0" sz="1800" spc="-1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executing</a:t>
            </a:r>
            <a:r>
              <a:rPr dirty="0" sz="1800" spc="-10">
                <a:solidFill>
                  <a:srgbClr val="001F5F"/>
                </a:solidFill>
                <a:latin typeface="Calibri"/>
                <a:cs typeface="Calibri"/>
              </a:rPr>
              <a:t> directly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on</a:t>
            </a:r>
            <a:r>
              <a:rPr dirty="0" sz="1800" spc="-3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dirty="0" sz="1800" spc="-4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hardware,</a:t>
            </a:r>
            <a:r>
              <a:rPr dirty="0" sz="1800" spc="-3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an</a:t>
            </a:r>
            <a:r>
              <a:rPr dirty="0" sz="1800" spc="-4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alternative</a:t>
            </a:r>
            <a:r>
              <a:rPr dirty="0" sz="1800" spc="-3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dirty="0" sz="1800" spc="-4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dirty="0" sz="1800" spc="-3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modify</a:t>
            </a:r>
            <a:r>
              <a:rPr dirty="0" sz="1800" spc="-4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dirty="0" sz="1800" spc="-3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guest</a:t>
            </a:r>
            <a:r>
              <a:rPr dirty="0" sz="1800" spc="-5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OS</a:t>
            </a:r>
            <a:r>
              <a:rPr dirty="0" sz="1800" spc="-5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replacing</a:t>
            </a:r>
            <a:r>
              <a:rPr dirty="0" sz="1800" spc="-2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hard</a:t>
            </a:r>
            <a:r>
              <a:rPr dirty="0" sz="1800" spc="-3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dirty="0" sz="1800" spc="-4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virtualize</a:t>
            </a:r>
            <a:r>
              <a:rPr dirty="0" sz="1800" spc="-2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instructions</a:t>
            </a:r>
            <a:r>
              <a:rPr dirty="0" sz="1800" spc="-3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and/or</a:t>
            </a:r>
            <a:r>
              <a:rPr dirty="0" sz="1800" spc="-4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providing</a:t>
            </a:r>
            <a:r>
              <a:rPr dirty="0" sz="1800" spc="-20">
                <a:solidFill>
                  <a:srgbClr val="001F5F"/>
                </a:solidFill>
                <a:latin typeface="Calibri"/>
                <a:cs typeface="Calibri"/>
              </a:rPr>
              <a:t> more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convenient</a:t>
            </a:r>
            <a:r>
              <a:rPr dirty="0" sz="1800" spc="-3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abstractions</a:t>
            </a:r>
            <a:r>
              <a:rPr dirty="0" sz="1800" spc="-4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especially</a:t>
            </a:r>
            <a:r>
              <a:rPr dirty="0" sz="1800" spc="-4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dirty="0" sz="1800" spc="-5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IO</a:t>
            </a:r>
            <a:r>
              <a:rPr dirty="0" sz="1800" spc="-5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devices.</a:t>
            </a:r>
            <a:r>
              <a:rPr dirty="0" sz="1800" spc="-5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Paravirtualization</a:t>
            </a:r>
            <a:r>
              <a:rPr dirty="0" sz="1800" spc="-1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often</a:t>
            </a:r>
            <a:r>
              <a:rPr dirty="0" sz="1800" spc="-5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results</a:t>
            </a:r>
            <a:r>
              <a:rPr dirty="0" sz="1800" spc="-5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dirty="0" sz="1800" spc="-4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more</a:t>
            </a:r>
            <a:r>
              <a:rPr dirty="0" sz="1800" spc="-5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efficient</a:t>
            </a:r>
            <a:r>
              <a:rPr dirty="0" sz="1800" spc="-4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code,</a:t>
            </a:r>
            <a:r>
              <a:rPr dirty="0" sz="1800" spc="-4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but</a:t>
            </a:r>
            <a:r>
              <a:rPr dirty="0" sz="1800" spc="-4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dirty="0" sz="1800" spc="-5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1F5F"/>
                </a:solidFill>
                <a:latin typeface="Calibri"/>
                <a:cs typeface="Calibri"/>
              </a:rPr>
              <a:t>course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limits</a:t>
            </a:r>
            <a:r>
              <a:rPr dirty="0" sz="1800" spc="-2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dirty="0" sz="1800" spc="-3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range</a:t>
            </a:r>
            <a:r>
              <a:rPr dirty="0" sz="1800" spc="-3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dirty="0" sz="1800" spc="-2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usable</a:t>
            </a:r>
            <a:r>
              <a:rPr dirty="0" sz="1800" spc="-3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guest</a:t>
            </a:r>
            <a:r>
              <a:rPr dirty="0" sz="1800" spc="-3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OSs</a:t>
            </a:r>
            <a:r>
              <a:rPr dirty="0" sz="1800" spc="-4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dirty="0" sz="1800" spc="-2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dirty="0" sz="1800" spc="-3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convenience of</a:t>
            </a:r>
            <a:r>
              <a:rPr dirty="0" sz="1800" spc="-3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1F5F"/>
                </a:solidFill>
                <a:latin typeface="Calibri"/>
                <a:cs typeface="Calibri"/>
              </a:rPr>
              <a:t>their</a:t>
            </a:r>
            <a:r>
              <a:rPr dirty="0" sz="1800" spc="-3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001F5F"/>
                </a:solidFill>
                <a:latin typeface="Calibri"/>
                <a:cs typeface="Calibri"/>
              </a:rPr>
              <a:t>use.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Direct</a:t>
            </a:r>
            <a:r>
              <a:rPr dirty="0" spc="-3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Execution</a:t>
            </a:r>
            <a:r>
              <a:rPr dirty="0" spc="-4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+</a:t>
            </a:r>
            <a:r>
              <a:rPr dirty="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Trap</a:t>
            </a:r>
            <a:r>
              <a:rPr dirty="0" spc="-3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and</a:t>
            </a:r>
            <a:r>
              <a:rPr dirty="0" spc="-4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Emulate</a:t>
            </a:r>
            <a:r>
              <a:rPr dirty="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(Recap)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40842" y="1642109"/>
            <a:ext cx="11414760" cy="2731135"/>
          </a:xfrm>
          <a:prstGeom prst="rect">
            <a:avLst/>
          </a:prstGeom>
        </p:spPr>
        <p:txBody>
          <a:bodyPr wrap="square" lIns="0" tIns="139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 sz="2400" spc="-10" b="1">
                <a:latin typeface="Calibri"/>
                <a:cs typeface="Calibri"/>
              </a:rPr>
              <a:t>Idea:</a:t>
            </a:r>
            <a:endParaRPr sz="2400">
              <a:latin typeface="Calibri"/>
              <a:cs typeface="Calibri"/>
            </a:endParaRPr>
          </a:p>
          <a:p>
            <a:pPr marL="355600" marR="6350" indent="-342900">
              <a:lnSpc>
                <a:spcPct val="120000"/>
              </a:lnSpc>
              <a:spcBef>
                <a:spcPts val="380"/>
              </a:spcBef>
              <a:buClr>
                <a:srgbClr val="833B0A"/>
              </a:buClr>
              <a:buChar char="▪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Trap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hypervisor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when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tries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execute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instruction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could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change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state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the </a:t>
            </a:r>
            <a:r>
              <a:rPr dirty="0" sz="2200">
                <a:latin typeface="Calibri"/>
                <a:cs typeface="Calibri"/>
              </a:rPr>
              <a:t>system/take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control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(i.e.,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impact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safety/isolation).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130"/>
              </a:spcBef>
              <a:buClr>
                <a:srgbClr val="833B0A"/>
              </a:buClr>
              <a:buChar char="▪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Emulate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execution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these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instruction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hypervisor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125"/>
              </a:spcBef>
              <a:buClr>
                <a:srgbClr val="833B0A"/>
              </a:buClr>
              <a:buChar char="▪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Direct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execution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any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other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innocuous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instructions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h/w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cannot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impact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other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the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30"/>
              </a:spcBef>
            </a:pPr>
            <a:r>
              <a:rPr dirty="0" sz="2200" spc="-10">
                <a:latin typeface="Calibri"/>
                <a:cs typeface="Calibri"/>
              </a:rPr>
              <a:t>hypervisor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3921" rIns="0" bIns="0" rtlCol="0" vert="horz">
            <a:spAutoFit/>
          </a:bodyPr>
          <a:lstStyle/>
          <a:p>
            <a:pPr marL="231775">
              <a:lnSpc>
                <a:spcPct val="100000"/>
              </a:lnSpc>
              <a:spcBef>
                <a:spcPts val="380"/>
              </a:spcBef>
            </a:pPr>
            <a:r>
              <a:rPr dirty="0">
                <a:solidFill>
                  <a:srgbClr val="2E5395"/>
                </a:solidFill>
                <a:latin typeface="Arial"/>
                <a:cs typeface="Arial"/>
              </a:rPr>
              <a:t>CLOUD</a:t>
            </a:r>
            <a:r>
              <a:rPr dirty="0" spc="-90">
                <a:solidFill>
                  <a:srgbClr val="2E5395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2E5395"/>
                </a:solidFill>
                <a:latin typeface="Arial"/>
                <a:cs typeface="Arial"/>
              </a:rPr>
              <a:t>COMPUTING</a:t>
            </a:r>
          </a:p>
          <a:p>
            <a:pPr marL="200660">
              <a:lnSpc>
                <a:spcPct val="100000"/>
              </a:lnSpc>
              <a:spcBef>
                <a:spcPts val="280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Virtualization</a:t>
            </a:r>
            <a:r>
              <a:rPr dirty="0" spc="-7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(Types)</a:t>
            </a:r>
            <a:r>
              <a:rPr dirty="0" spc="-15">
                <a:solidFill>
                  <a:srgbClr val="C55A11"/>
                </a:solidFill>
                <a:latin typeface="Arial"/>
                <a:cs typeface="Arial"/>
              </a:rPr>
              <a:t> 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-</a:t>
            </a:r>
            <a:r>
              <a:rPr dirty="0" spc="-2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Recap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1298447"/>
            <a:ext cx="8293734" cy="38100"/>
          </a:xfrm>
          <a:custGeom>
            <a:avLst/>
            <a:gdLst/>
            <a:ahLst/>
            <a:cxnLst/>
            <a:rect l="l" t="t" r="r" b="b"/>
            <a:pathLst>
              <a:path w="8293734" h="38100">
                <a:moveTo>
                  <a:pt x="8293227" y="0"/>
                </a:moveTo>
                <a:lnTo>
                  <a:pt x="0" y="0"/>
                </a:lnTo>
                <a:lnTo>
                  <a:pt x="0" y="38100"/>
                </a:lnTo>
                <a:lnTo>
                  <a:pt x="8293227" y="38100"/>
                </a:lnTo>
                <a:lnTo>
                  <a:pt x="8293227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28345" y="1295590"/>
            <a:ext cx="7831455" cy="5207000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2400" spc="-10" b="1">
                <a:solidFill>
                  <a:srgbClr val="006FC0"/>
                </a:solidFill>
                <a:latin typeface="Calibri"/>
                <a:cs typeface="Calibri"/>
              </a:rPr>
              <a:t>Paravirtualization</a:t>
            </a:r>
            <a:endParaRPr sz="2400">
              <a:latin typeface="Calibri"/>
              <a:cs typeface="Calibri"/>
            </a:endParaRPr>
          </a:p>
          <a:p>
            <a:pPr marL="12700" marR="459740">
              <a:lnSpc>
                <a:spcPct val="100000"/>
              </a:lnSpc>
              <a:spcBef>
                <a:spcPts val="484"/>
              </a:spcBef>
            </a:pPr>
            <a:r>
              <a:rPr dirty="0" sz="2200">
                <a:latin typeface="Calibri"/>
                <a:cs typeface="Calibri"/>
              </a:rPr>
              <a:t>It’s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virtualization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technique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presents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software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interface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VMs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similar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but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not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identical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underlying hardware</a:t>
            </a:r>
            <a:endParaRPr sz="2200">
              <a:latin typeface="Calibri"/>
              <a:cs typeface="Calibri"/>
            </a:endParaRPr>
          </a:p>
          <a:p>
            <a:pPr marL="619125" indent="-342900">
              <a:lnSpc>
                <a:spcPts val="2325"/>
              </a:lnSpc>
              <a:buSzPct val="79545"/>
              <a:buFont typeface="Arial"/>
              <a:buChar char="•"/>
              <a:tabLst>
                <a:tab pos="619125" algn="l"/>
              </a:tabLst>
            </a:pPr>
            <a:r>
              <a:rPr dirty="0" sz="2200">
                <a:latin typeface="Calibri"/>
                <a:cs typeface="Calibri"/>
              </a:rPr>
              <a:t>OS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explicitly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ported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top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VMM/Hypervisor</a:t>
            </a:r>
            <a:endParaRPr sz="2200">
              <a:latin typeface="Calibri"/>
              <a:cs typeface="Calibri"/>
            </a:endParaRPr>
          </a:p>
          <a:p>
            <a:pPr lvl="1" marL="1050290" indent="-342900">
              <a:lnSpc>
                <a:spcPts val="2345"/>
              </a:lnSpc>
              <a:buSzPct val="79545"/>
              <a:buFont typeface="Arial"/>
              <a:buChar char="•"/>
              <a:tabLst>
                <a:tab pos="1050290" algn="l"/>
              </a:tabLst>
            </a:pPr>
            <a:r>
              <a:rPr dirty="0" sz="2200" spc="-25">
                <a:latin typeface="Calibri"/>
                <a:cs typeface="Calibri"/>
              </a:rPr>
              <a:t>Xen</a:t>
            </a:r>
            <a:endParaRPr sz="2200">
              <a:latin typeface="Calibri"/>
              <a:cs typeface="Calibri"/>
            </a:endParaRPr>
          </a:p>
          <a:p>
            <a:pPr marL="619125" indent="-342900">
              <a:lnSpc>
                <a:spcPts val="2355"/>
              </a:lnSpc>
              <a:buSzPct val="81818"/>
              <a:buFont typeface="Arial"/>
              <a:buChar char="•"/>
              <a:tabLst>
                <a:tab pos="619125" algn="l"/>
              </a:tabLst>
            </a:pPr>
            <a:r>
              <a:rPr dirty="0" sz="2200">
                <a:latin typeface="Calibri"/>
                <a:cs typeface="Calibri"/>
              </a:rPr>
              <a:t>VMM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provides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APIs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guest</a:t>
            </a:r>
            <a:r>
              <a:rPr dirty="0" sz="2200" spc="-25">
                <a:latin typeface="Calibri"/>
                <a:cs typeface="Calibri"/>
              </a:rPr>
              <a:t> OS</a:t>
            </a:r>
            <a:endParaRPr sz="2200">
              <a:latin typeface="Calibri"/>
              <a:cs typeface="Calibri"/>
            </a:endParaRPr>
          </a:p>
          <a:p>
            <a:pPr marL="619125" indent="-342900">
              <a:lnSpc>
                <a:spcPts val="2345"/>
              </a:lnSpc>
              <a:buSzPct val="79545"/>
              <a:buFont typeface="Arial"/>
              <a:buChar char="•"/>
              <a:tabLst>
                <a:tab pos="619125" algn="l"/>
              </a:tabLst>
            </a:pPr>
            <a:r>
              <a:rPr dirty="0" sz="2200">
                <a:latin typeface="Calibri"/>
                <a:cs typeface="Calibri"/>
              </a:rPr>
              <a:t>Useful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if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source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code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OS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modifiable</a:t>
            </a:r>
            <a:endParaRPr sz="2200">
              <a:latin typeface="Calibri"/>
              <a:cs typeface="Calibri"/>
            </a:endParaRPr>
          </a:p>
          <a:p>
            <a:pPr lvl="1" marL="1050290" indent="-342900">
              <a:lnSpc>
                <a:spcPts val="2345"/>
              </a:lnSpc>
              <a:buSzPct val="79545"/>
              <a:buFont typeface="Arial"/>
              <a:buChar char="•"/>
              <a:tabLst>
                <a:tab pos="1050290" algn="l"/>
              </a:tabLst>
            </a:pPr>
            <a:r>
              <a:rPr dirty="0" sz="2200">
                <a:latin typeface="Calibri"/>
                <a:cs typeface="Calibri"/>
              </a:rPr>
              <a:t>IBM: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MVS,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VM</a:t>
            </a:r>
            <a:endParaRPr sz="2200">
              <a:latin typeface="Calibri"/>
              <a:cs typeface="Calibri"/>
            </a:endParaRPr>
          </a:p>
          <a:p>
            <a:pPr lvl="1" marL="1050290" indent="-342900">
              <a:lnSpc>
                <a:spcPts val="2350"/>
              </a:lnSpc>
              <a:buSzPct val="79545"/>
              <a:buFont typeface="Arial"/>
              <a:buChar char="•"/>
              <a:tabLst>
                <a:tab pos="1050290" algn="l"/>
              </a:tabLst>
            </a:pPr>
            <a:r>
              <a:rPr dirty="0" sz="2200" spc="-10">
                <a:latin typeface="Calibri"/>
                <a:cs typeface="Calibri"/>
              </a:rPr>
              <a:t>Linux</a:t>
            </a:r>
            <a:endParaRPr sz="2200">
              <a:latin typeface="Calibri"/>
              <a:cs typeface="Calibri"/>
            </a:endParaRPr>
          </a:p>
          <a:p>
            <a:pPr lvl="1" marL="1050290" indent="-342900">
              <a:lnSpc>
                <a:spcPts val="2495"/>
              </a:lnSpc>
              <a:buSzPct val="79545"/>
              <a:buFont typeface="Arial"/>
              <a:buChar char="•"/>
              <a:tabLst>
                <a:tab pos="1050290" algn="l"/>
              </a:tabLst>
            </a:pPr>
            <a:r>
              <a:rPr dirty="0" sz="2200">
                <a:latin typeface="Calibri"/>
                <a:cs typeface="Calibri"/>
              </a:rPr>
              <a:t>Microsoft: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Windows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ts val="2740"/>
              </a:lnSpc>
              <a:spcBef>
                <a:spcPts val="125"/>
              </a:spcBef>
            </a:pPr>
            <a:r>
              <a:rPr dirty="0" sz="2400" b="1">
                <a:solidFill>
                  <a:srgbClr val="006FC0"/>
                </a:solidFill>
                <a:latin typeface="Calibri"/>
                <a:cs typeface="Calibri"/>
              </a:rPr>
              <a:t>Full</a:t>
            </a:r>
            <a:r>
              <a:rPr dirty="0" sz="2400" spc="-2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(</a:t>
            </a:r>
            <a:r>
              <a:rPr dirty="0" sz="2400" spc="-10" b="1">
                <a:latin typeface="Calibri"/>
                <a:cs typeface="Calibri"/>
              </a:rPr>
              <a:t>transparent</a:t>
            </a:r>
            <a:r>
              <a:rPr dirty="0" sz="2400" spc="-10">
                <a:latin typeface="Calibri"/>
                <a:cs typeface="Calibri"/>
              </a:rPr>
              <a:t>)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006FC0"/>
                </a:solidFill>
                <a:latin typeface="Calibri"/>
                <a:cs typeface="Calibri"/>
              </a:rPr>
              <a:t>virtualization</a:t>
            </a:r>
            <a:endParaRPr sz="2400">
              <a:latin typeface="Calibri"/>
              <a:cs typeface="Calibri"/>
            </a:endParaRPr>
          </a:p>
          <a:p>
            <a:pPr marL="619125" indent="-342900">
              <a:lnSpc>
                <a:spcPts val="2350"/>
              </a:lnSpc>
              <a:buSzPct val="79545"/>
              <a:buFont typeface="Arial"/>
              <a:buChar char="•"/>
              <a:tabLst>
                <a:tab pos="619125" algn="l"/>
              </a:tabLst>
            </a:pPr>
            <a:r>
              <a:rPr dirty="0" sz="2200">
                <a:latin typeface="Calibri"/>
                <a:cs typeface="Calibri"/>
              </a:rPr>
              <a:t>Provides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complete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simulation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underlying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hardware</a:t>
            </a:r>
            <a:endParaRPr sz="2200">
              <a:latin typeface="Calibri"/>
              <a:cs typeface="Calibri"/>
            </a:endParaRPr>
          </a:p>
          <a:p>
            <a:pPr marL="619125" indent="-342900">
              <a:lnSpc>
                <a:spcPts val="2345"/>
              </a:lnSpc>
              <a:buSzPct val="79545"/>
              <a:buFont typeface="Arial"/>
              <a:buChar char="•"/>
              <a:tabLst>
                <a:tab pos="619125" algn="l"/>
              </a:tabLst>
            </a:pPr>
            <a:r>
              <a:rPr dirty="0" sz="2200">
                <a:latin typeface="Calibri"/>
                <a:cs typeface="Calibri"/>
              </a:rPr>
              <a:t>OS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without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modification</a:t>
            </a:r>
            <a:endParaRPr sz="2200">
              <a:latin typeface="Calibri"/>
              <a:cs typeface="Calibri"/>
            </a:endParaRPr>
          </a:p>
          <a:p>
            <a:pPr lvl="1" marL="1050290" indent="-342900">
              <a:lnSpc>
                <a:spcPts val="2350"/>
              </a:lnSpc>
              <a:buSzPct val="79545"/>
              <a:buFont typeface="Arial"/>
              <a:buChar char="•"/>
              <a:tabLst>
                <a:tab pos="1050290" algn="l"/>
              </a:tabLst>
            </a:pPr>
            <a:r>
              <a:rPr dirty="0" sz="2200" spc="-10">
                <a:latin typeface="Calibri"/>
                <a:cs typeface="Calibri"/>
              </a:rPr>
              <a:t>VMWare</a:t>
            </a:r>
            <a:endParaRPr sz="2200">
              <a:latin typeface="Calibri"/>
              <a:cs typeface="Calibri"/>
            </a:endParaRPr>
          </a:p>
          <a:p>
            <a:pPr lvl="1" marL="1050290" indent="-342900">
              <a:lnSpc>
                <a:spcPts val="2495"/>
              </a:lnSpc>
              <a:buSzPct val="79545"/>
              <a:buFont typeface="Arial"/>
              <a:buChar char="•"/>
              <a:tabLst>
                <a:tab pos="1050290" algn="l"/>
              </a:tabLst>
            </a:pPr>
            <a:r>
              <a:rPr dirty="0" sz="2200" spc="-25">
                <a:latin typeface="Calibri"/>
                <a:cs typeface="Calibri"/>
              </a:rPr>
              <a:t>kvm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35923" y="1316736"/>
            <a:ext cx="3342131" cy="311353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40789" y="4657361"/>
            <a:ext cx="2823817" cy="217318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How</a:t>
            </a:r>
            <a:r>
              <a:rPr dirty="0" spc="-1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to</a:t>
            </a:r>
            <a:r>
              <a:rPr dirty="0" spc="-1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do</a:t>
            </a:r>
            <a:r>
              <a:rPr dirty="0" spc="-2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Trap</a:t>
            </a:r>
            <a:r>
              <a:rPr dirty="0" spc="-2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and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Emulate?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34441" y="1485112"/>
            <a:ext cx="6250305" cy="3484879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80"/>
              </a:spcBef>
              <a:buClr>
                <a:srgbClr val="833B0A"/>
              </a:buClr>
              <a:buChar char="▪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Generally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two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categories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instructions(assembly):</a:t>
            </a:r>
            <a:endParaRPr sz="2000">
              <a:latin typeface="Calibri"/>
              <a:cs typeface="Calibri"/>
            </a:endParaRPr>
          </a:p>
          <a:p>
            <a:pPr lvl="1" marL="659765" indent="-269240">
              <a:lnSpc>
                <a:spcPct val="100000"/>
              </a:lnSpc>
              <a:spcBef>
                <a:spcPts val="1080"/>
              </a:spcBef>
              <a:buClr>
                <a:srgbClr val="833B0A"/>
              </a:buClr>
              <a:buFont typeface="Arial"/>
              <a:buChar char="•"/>
              <a:tabLst>
                <a:tab pos="659765" algn="l"/>
              </a:tabLst>
            </a:pPr>
            <a:r>
              <a:rPr dirty="0" sz="2000">
                <a:latin typeface="Calibri"/>
                <a:cs typeface="Calibri"/>
              </a:rPr>
              <a:t>User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instructions:</a:t>
            </a:r>
            <a:endParaRPr sz="2000">
              <a:latin typeface="Calibri"/>
              <a:cs typeface="Calibri"/>
            </a:endParaRPr>
          </a:p>
          <a:p>
            <a:pPr lvl="2" marL="1254125" indent="-342265">
              <a:lnSpc>
                <a:spcPct val="100000"/>
              </a:lnSpc>
              <a:spcBef>
                <a:spcPts val="1080"/>
              </a:spcBef>
              <a:buFont typeface="Courier New"/>
              <a:buChar char="o"/>
              <a:tabLst>
                <a:tab pos="1254125" algn="l"/>
              </a:tabLst>
            </a:pPr>
            <a:r>
              <a:rPr dirty="0" sz="2000">
                <a:latin typeface="Calibri"/>
                <a:cs typeface="Calibri"/>
              </a:rPr>
              <a:t>Typically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compute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instructions</a:t>
            </a:r>
            <a:endParaRPr sz="2000">
              <a:latin typeface="Calibri"/>
              <a:cs typeface="Calibri"/>
            </a:endParaRPr>
          </a:p>
          <a:p>
            <a:pPr marL="1254760">
              <a:lnSpc>
                <a:spcPct val="100000"/>
              </a:lnSpc>
              <a:spcBef>
                <a:spcPts val="480"/>
              </a:spcBef>
            </a:pPr>
            <a:r>
              <a:rPr dirty="0" sz="2000">
                <a:latin typeface="Calibri"/>
                <a:cs typeface="Calibri"/>
              </a:rPr>
              <a:t>e.g.</a:t>
            </a:r>
            <a:r>
              <a:rPr dirty="0" sz="2000" spc="409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add,</a:t>
            </a:r>
            <a:r>
              <a:rPr dirty="0" sz="2000" spc="-3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mult,</a:t>
            </a:r>
            <a:r>
              <a:rPr dirty="0" sz="2000" spc="-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ld,</a:t>
            </a:r>
            <a:r>
              <a:rPr dirty="0" sz="2000" spc="-1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store,</a:t>
            </a:r>
            <a:r>
              <a:rPr dirty="0" sz="2000" spc="-25" i="1">
                <a:latin typeface="Calibri"/>
                <a:cs typeface="Calibri"/>
              </a:rPr>
              <a:t> jmp</a:t>
            </a:r>
            <a:endParaRPr sz="2000">
              <a:latin typeface="Calibri"/>
              <a:cs typeface="Calibri"/>
            </a:endParaRPr>
          </a:p>
          <a:p>
            <a:pPr marL="659765" indent="-269240">
              <a:lnSpc>
                <a:spcPct val="100000"/>
              </a:lnSpc>
              <a:spcBef>
                <a:spcPts val="1080"/>
              </a:spcBef>
              <a:buClr>
                <a:srgbClr val="833B0A"/>
              </a:buClr>
              <a:buFont typeface="Arial"/>
              <a:buChar char="•"/>
              <a:tabLst>
                <a:tab pos="659765" algn="l"/>
              </a:tabLst>
            </a:pPr>
            <a:r>
              <a:rPr dirty="0" sz="2000">
                <a:latin typeface="Calibri"/>
                <a:cs typeface="Calibri"/>
              </a:rPr>
              <a:t>System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instructions:</a:t>
            </a:r>
            <a:endParaRPr sz="2000">
              <a:latin typeface="Calibri"/>
              <a:cs typeface="Calibri"/>
            </a:endParaRPr>
          </a:p>
          <a:p>
            <a:pPr lvl="1" marL="1254125" indent="-342265">
              <a:lnSpc>
                <a:spcPct val="100000"/>
              </a:lnSpc>
              <a:spcBef>
                <a:spcPts val="1080"/>
              </a:spcBef>
              <a:buFont typeface="Courier New"/>
              <a:buChar char="o"/>
              <a:tabLst>
                <a:tab pos="1254125" algn="l"/>
              </a:tabLst>
            </a:pPr>
            <a:r>
              <a:rPr dirty="0" sz="2000">
                <a:latin typeface="Calibri"/>
                <a:cs typeface="Calibri"/>
              </a:rPr>
              <a:t>Typically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system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management</a:t>
            </a:r>
            <a:endParaRPr sz="2000">
              <a:latin typeface="Calibri"/>
              <a:cs typeface="Calibri"/>
            </a:endParaRPr>
          </a:p>
          <a:p>
            <a:pPr marL="1254760">
              <a:lnSpc>
                <a:spcPct val="100000"/>
              </a:lnSpc>
              <a:spcBef>
                <a:spcPts val="1085"/>
              </a:spcBef>
            </a:pPr>
            <a:r>
              <a:rPr dirty="0" sz="2000">
                <a:latin typeface="Calibri"/>
                <a:cs typeface="Calibri"/>
              </a:rPr>
              <a:t>e.g.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iret,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invlpg,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hlt,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in,</a:t>
            </a:r>
            <a:r>
              <a:rPr dirty="0" sz="2000" spc="-25">
                <a:latin typeface="Calibri"/>
                <a:cs typeface="Calibri"/>
              </a:rPr>
              <a:t> out</a:t>
            </a:r>
            <a:endParaRPr sz="2000">
              <a:latin typeface="Calibri"/>
              <a:cs typeface="Calibri"/>
            </a:endParaRPr>
          </a:p>
          <a:p>
            <a:pPr marL="2207260">
              <a:lnSpc>
                <a:spcPct val="100000"/>
              </a:lnSpc>
              <a:spcBef>
                <a:spcPts val="1795"/>
              </a:spcBef>
            </a:pPr>
            <a:r>
              <a:rPr dirty="0" sz="1400" i="1">
                <a:latin typeface="Calibri"/>
                <a:cs typeface="Calibri"/>
              </a:rPr>
              <a:t>invlpg</a:t>
            </a:r>
            <a:r>
              <a:rPr dirty="0" sz="1400" b="1">
                <a:latin typeface="Calibri"/>
                <a:cs typeface="Calibri"/>
              </a:rPr>
              <a:t>—</a:t>
            </a:r>
            <a:r>
              <a:rPr dirty="0" sz="1400" spc="-30" b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priviledged</a:t>
            </a:r>
            <a:r>
              <a:rPr dirty="0" sz="1400" spc="-35" i="1">
                <a:latin typeface="Calibri"/>
                <a:cs typeface="Calibri"/>
              </a:rPr>
              <a:t> </a:t>
            </a:r>
            <a:r>
              <a:rPr dirty="0" sz="1400" spc="-10" i="1">
                <a:latin typeface="Calibri"/>
                <a:cs typeface="Calibri"/>
              </a:rPr>
              <a:t>instruction</a:t>
            </a:r>
            <a:r>
              <a:rPr dirty="0" sz="1400" spc="-30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to</a:t>
            </a:r>
            <a:r>
              <a:rPr dirty="0" sz="1400" spc="-35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invalidate</a:t>
            </a:r>
            <a:r>
              <a:rPr dirty="0" sz="1400" spc="-20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TLB</a:t>
            </a:r>
            <a:r>
              <a:rPr dirty="0" sz="1400" spc="-30" i="1">
                <a:latin typeface="Calibri"/>
                <a:cs typeface="Calibri"/>
              </a:rPr>
              <a:t> </a:t>
            </a:r>
            <a:r>
              <a:rPr dirty="0" sz="1400" spc="-10" i="1">
                <a:latin typeface="Calibri"/>
                <a:cs typeface="Calibri"/>
              </a:rPr>
              <a:t>Entries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How</a:t>
            </a:r>
            <a:r>
              <a:rPr dirty="0" spc="-2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to</a:t>
            </a:r>
            <a:r>
              <a:rPr dirty="0" spc="-1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do</a:t>
            </a:r>
            <a:r>
              <a:rPr dirty="0" spc="-2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Trap</a:t>
            </a:r>
            <a:r>
              <a:rPr dirty="0" spc="-2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and</a:t>
            </a:r>
            <a:r>
              <a:rPr dirty="0" spc="-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Emulate?</a:t>
            </a:r>
            <a:r>
              <a:rPr dirty="0" spc="-2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(Cont.)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40842" y="1443888"/>
            <a:ext cx="11163300" cy="4669790"/>
          </a:xfrm>
          <a:prstGeom prst="rect">
            <a:avLst/>
          </a:prstGeom>
        </p:spPr>
        <p:txBody>
          <a:bodyPr wrap="square" lIns="0" tIns="1270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Two</a:t>
            </a:r>
            <a:r>
              <a:rPr dirty="0" sz="2200" spc="-3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modes</a:t>
            </a:r>
            <a:r>
              <a:rPr dirty="0" sz="2200" spc="-3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of</a:t>
            </a:r>
            <a:r>
              <a:rPr dirty="0" sz="2200" spc="-3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CPU</a:t>
            </a:r>
            <a:r>
              <a:rPr dirty="0" sz="2200" spc="-4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spc="-10" b="1">
                <a:solidFill>
                  <a:srgbClr val="006FC0"/>
                </a:solidFill>
                <a:latin typeface="Calibri"/>
                <a:cs typeface="Calibri"/>
              </a:rPr>
              <a:t>operation</a:t>
            </a:r>
            <a:r>
              <a:rPr dirty="0" sz="2200" spc="-10">
                <a:latin typeface="Calibri"/>
                <a:cs typeface="Calibri"/>
              </a:rPr>
              <a:t>: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2200" b="1">
                <a:latin typeface="Calibri"/>
                <a:cs typeface="Calibri"/>
              </a:rPr>
              <a:t>User mode </a:t>
            </a:r>
            <a:r>
              <a:rPr dirty="0" sz="2200">
                <a:latin typeface="Calibri"/>
                <a:cs typeface="Calibri"/>
              </a:rPr>
              <a:t>(in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x86-</a:t>
            </a:r>
            <a:r>
              <a:rPr dirty="0" sz="2200">
                <a:latin typeface="Calibri"/>
                <a:cs typeface="Calibri"/>
              </a:rPr>
              <a:t>64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typically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ring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3)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dirty="0" sz="2200" b="1">
                <a:latin typeface="Calibri"/>
                <a:cs typeface="Calibri"/>
              </a:rPr>
              <a:t>Privileged</a:t>
            </a:r>
            <a:r>
              <a:rPr dirty="0" sz="2200" spc="-1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mode</a:t>
            </a:r>
            <a:r>
              <a:rPr dirty="0" sz="2200" spc="-25" b="1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(in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x86-</a:t>
            </a:r>
            <a:r>
              <a:rPr dirty="0" sz="2200">
                <a:latin typeface="Calibri"/>
                <a:cs typeface="Calibri"/>
              </a:rPr>
              <a:t>64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ring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0)</a:t>
            </a:r>
            <a:endParaRPr sz="2200">
              <a:latin typeface="Calibri"/>
              <a:cs typeface="Calibri"/>
            </a:endParaRPr>
          </a:p>
          <a:p>
            <a:pPr marL="12700" marR="5080">
              <a:lnSpc>
                <a:spcPct val="131400"/>
              </a:lnSpc>
              <a:spcBef>
                <a:spcPts val="305"/>
              </a:spcBef>
            </a:pPr>
            <a:r>
              <a:rPr dirty="0" sz="2200">
                <a:latin typeface="Calibri"/>
                <a:cs typeface="Calibri"/>
              </a:rPr>
              <a:t>Attempt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execute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system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instructions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mode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generates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trap/</a:t>
            </a:r>
            <a:r>
              <a:rPr dirty="0" sz="2200" i="1">
                <a:solidFill>
                  <a:srgbClr val="C00000"/>
                </a:solidFill>
                <a:latin typeface="Calibri"/>
                <a:cs typeface="Calibri"/>
              </a:rPr>
              <a:t>general</a:t>
            </a:r>
            <a:r>
              <a:rPr dirty="0" sz="2200" spc="-55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C00000"/>
                </a:solidFill>
                <a:latin typeface="Calibri"/>
                <a:cs typeface="Calibri"/>
              </a:rPr>
              <a:t>protection</a:t>
            </a:r>
            <a:r>
              <a:rPr dirty="0" sz="2200" spc="-65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C00000"/>
                </a:solidFill>
                <a:latin typeface="Calibri"/>
                <a:cs typeface="Calibri"/>
              </a:rPr>
              <a:t>fault</a:t>
            </a:r>
            <a:r>
              <a:rPr dirty="0" sz="2200" spc="-55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(</a:t>
            </a:r>
            <a:r>
              <a:rPr dirty="0" sz="2200" spc="-10">
                <a:solidFill>
                  <a:srgbClr val="C00000"/>
                </a:solidFill>
                <a:latin typeface="Calibri"/>
                <a:cs typeface="Calibri"/>
              </a:rPr>
              <a:t>gpf</a:t>
            </a:r>
            <a:r>
              <a:rPr dirty="0" sz="2200" spc="-10">
                <a:latin typeface="Calibri"/>
                <a:cs typeface="Calibri"/>
              </a:rPr>
              <a:t>) </a:t>
            </a: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System</a:t>
            </a:r>
            <a:r>
              <a:rPr dirty="0" sz="2200" spc="-6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spc="-10" b="1">
                <a:solidFill>
                  <a:srgbClr val="006FC0"/>
                </a:solidFill>
                <a:latin typeface="Calibri"/>
                <a:cs typeface="Calibri"/>
              </a:rPr>
              <a:t>state: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dirty="0" sz="2200">
                <a:latin typeface="Calibri"/>
                <a:cs typeface="Calibri"/>
              </a:rPr>
              <a:t>Example,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dirty="0" sz="2200">
                <a:latin typeface="Calibri"/>
                <a:cs typeface="Calibri"/>
              </a:rPr>
              <a:t>ontrol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dirty="0" sz="2200">
                <a:latin typeface="Calibri"/>
                <a:cs typeface="Calibri"/>
              </a:rPr>
              <a:t>egisters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like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25" i="1">
                <a:latin typeface="Calibri"/>
                <a:cs typeface="Calibri"/>
              </a:rPr>
              <a:t>cr3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dirty="0" sz="2200">
                <a:latin typeface="Calibri"/>
                <a:cs typeface="Calibri"/>
              </a:rPr>
              <a:t>Access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system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state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mode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trigger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gpf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2200" spc="-10" b="1">
                <a:solidFill>
                  <a:srgbClr val="006FC0"/>
                </a:solidFill>
                <a:latin typeface="Calibri"/>
                <a:cs typeface="Calibri"/>
              </a:rPr>
              <a:t>Idea: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2200">
                <a:latin typeface="Calibri"/>
                <a:cs typeface="Calibri"/>
              </a:rPr>
              <a:t>Run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user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mode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(ring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3),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while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hypervisor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privileged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mode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(ring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0)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dirty="0" sz="2200">
                <a:latin typeface="Calibri"/>
                <a:cs typeface="Calibri"/>
              </a:rPr>
              <a:t>Anytime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tries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execute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system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instruction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tries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access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system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state,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trap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VMM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Trap</a:t>
            </a:r>
            <a:r>
              <a:rPr dirty="0" spc="-2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and</a:t>
            </a:r>
            <a:r>
              <a:rPr dirty="0" spc="-1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Emulate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72541" y="1226972"/>
            <a:ext cx="6813550" cy="5590540"/>
          </a:xfrm>
          <a:prstGeom prst="rect">
            <a:avLst/>
          </a:prstGeom>
        </p:spPr>
        <p:txBody>
          <a:bodyPr wrap="square" lIns="0" tIns="15557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225"/>
              </a:spcBef>
              <a:buClr>
                <a:srgbClr val="833B0A"/>
              </a:buClr>
              <a:buChar char="▪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Privilege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Rings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Hardware</a:t>
            </a:r>
            <a:endParaRPr sz="2200">
              <a:latin typeface="Calibri"/>
              <a:cs typeface="Calibri"/>
            </a:endParaRPr>
          </a:p>
          <a:p>
            <a:pPr lvl="1" marL="659765" indent="-342265">
              <a:lnSpc>
                <a:spcPct val="100000"/>
              </a:lnSpc>
              <a:spcBef>
                <a:spcPts val="1130"/>
              </a:spcBef>
              <a:buClr>
                <a:srgbClr val="833B0A"/>
              </a:buClr>
              <a:buChar char="▪"/>
              <a:tabLst>
                <a:tab pos="659765" algn="l"/>
              </a:tabLst>
            </a:pPr>
            <a:r>
              <a:rPr dirty="0" sz="2200">
                <a:latin typeface="Calibri"/>
                <a:cs typeface="Calibri"/>
              </a:rPr>
              <a:t>Ring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0,1,2,3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x86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CPUs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130"/>
              </a:spcBef>
              <a:buClr>
                <a:srgbClr val="833B0A"/>
              </a:buClr>
              <a:buChar char="▪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Typically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OS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high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privilege</a:t>
            </a:r>
            <a:r>
              <a:rPr dirty="0" sz="2200" spc="4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mode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(Ring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0)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125"/>
              </a:spcBef>
              <a:buClr>
                <a:srgbClr val="833B0A"/>
              </a:buClr>
              <a:buChar char="▪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User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applications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Ring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3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(less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privilege)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130"/>
              </a:spcBef>
              <a:buClr>
                <a:srgbClr val="833B0A"/>
              </a:buClr>
              <a:buChar char="▪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But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with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VMM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(functioning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like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OS),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the</a:t>
            </a:r>
            <a:endParaRPr sz="2200">
              <a:latin typeface="Calibri"/>
              <a:cs typeface="Calibri"/>
            </a:endParaRPr>
          </a:p>
          <a:p>
            <a:pPr marL="709930" indent="-227965">
              <a:lnSpc>
                <a:spcPct val="100000"/>
              </a:lnSpc>
              <a:spcBef>
                <a:spcPts val="925"/>
              </a:spcBef>
              <a:buFont typeface="Arial"/>
              <a:buChar char="•"/>
              <a:tabLst>
                <a:tab pos="709930" algn="l"/>
              </a:tabLst>
            </a:pPr>
            <a:r>
              <a:rPr dirty="0" sz="2200">
                <a:latin typeface="Calibri"/>
                <a:cs typeface="Calibri"/>
              </a:rPr>
              <a:t>VMM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runs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ring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50">
                <a:latin typeface="Calibri"/>
                <a:cs typeface="Calibri"/>
              </a:rPr>
              <a:t>0</a:t>
            </a:r>
            <a:endParaRPr sz="2200">
              <a:latin typeface="Calibri"/>
              <a:cs typeface="Calibri"/>
            </a:endParaRPr>
          </a:p>
          <a:p>
            <a:pPr marL="709930" indent="-227965">
              <a:lnSpc>
                <a:spcPct val="100000"/>
              </a:lnSpc>
              <a:spcBef>
                <a:spcPts val="1330"/>
              </a:spcBef>
              <a:buFont typeface="Arial"/>
              <a:buChar char="•"/>
              <a:tabLst>
                <a:tab pos="709930" algn="l"/>
              </a:tabLst>
            </a:pP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ring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does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Guest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in?</a:t>
            </a:r>
            <a:endParaRPr sz="2200">
              <a:latin typeface="Calibri"/>
              <a:cs typeface="Calibri"/>
            </a:endParaRPr>
          </a:p>
          <a:p>
            <a:pPr marL="355600" marR="403225" indent="-342900">
              <a:lnSpc>
                <a:spcPct val="120000"/>
              </a:lnSpc>
              <a:spcBef>
                <a:spcPts val="400"/>
              </a:spcBef>
              <a:buClr>
                <a:srgbClr val="833B0A"/>
              </a:buClr>
              <a:buChar char="▪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Guest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will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need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with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privileges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but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not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fully </a:t>
            </a:r>
            <a:r>
              <a:rPr dirty="0" sz="2200">
                <a:latin typeface="Calibri"/>
                <a:cs typeface="Calibri"/>
              </a:rPr>
              <a:t>privileged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like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host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OS/VMM</a:t>
            </a:r>
            <a:endParaRPr sz="2200">
              <a:latin typeface="Calibri"/>
              <a:cs typeface="Calibri"/>
            </a:endParaRPr>
          </a:p>
          <a:p>
            <a:pPr lvl="1" marL="733425" indent="-342900">
              <a:lnSpc>
                <a:spcPct val="100000"/>
              </a:lnSpc>
              <a:spcBef>
                <a:spcPts val="1130"/>
              </a:spcBef>
              <a:buClr>
                <a:srgbClr val="833B0A"/>
              </a:buClr>
              <a:buChar char="▪"/>
              <a:tabLst>
                <a:tab pos="733425" algn="l"/>
              </a:tabLst>
            </a:pPr>
            <a:r>
              <a:rPr dirty="0" sz="2200">
                <a:latin typeface="Calibri"/>
                <a:cs typeface="Calibri"/>
              </a:rPr>
              <a:t>Guest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will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also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need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protected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from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guest</a:t>
            </a:r>
            <a:endParaRPr sz="2200">
              <a:latin typeface="Calibri"/>
              <a:cs typeface="Calibri"/>
            </a:endParaRPr>
          </a:p>
          <a:p>
            <a:pPr marL="733425">
              <a:lnSpc>
                <a:spcPct val="100000"/>
              </a:lnSpc>
              <a:spcBef>
                <a:spcPts val="525"/>
              </a:spcBef>
            </a:pPr>
            <a:r>
              <a:rPr dirty="0" sz="2200">
                <a:latin typeface="Calibri"/>
                <a:cs typeface="Calibri"/>
              </a:rPr>
              <a:t>apps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would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ring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50">
                <a:latin typeface="Calibri"/>
                <a:cs typeface="Calibri"/>
              </a:rPr>
              <a:t>3</a:t>
            </a:r>
            <a:endParaRPr sz="2200">
              <a:latin typeface="Calibri"/>
              <a:cs typeface="Calibri"/>
            </a:endParaRPr>
          </a:p>
          <a:p>
            <a:pPr lvl="1" marL="733425" indent="-342900">
              <a:lnSpc>
                <a:spcPct val="100000"/>
              </a:lnSpc>
              <a:spcBef>
                <a:spcPts val="1130"/>
              </a:spcBef>
              <a:buClr>
                <a:srgbClr val="833B0A"/>
              </a:buClr>
              <a:buChar char="▪"/>
              <a:tabLst>
                <a:tab pos="733425" algn="l"/>
              </a:tabLst>
            </a:pPr>
            <a:r>
              <a:rPr dirty="0" sz="2200">
                <a:latin typeface="Calibri"/>
                <a:cs typeface="Calibri"/>
              </a:rPr>
              <a:t>Typically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would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Ring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1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traps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VMM</a:t>
            </a:r>
            <a:r>
              <a:rPr dirty="0" sz="2200" spc="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–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at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 spc="-50">
                <a:latin typeface="Calibri"/>
                <a:cs typeface="Calibri"/>
              </a:rPr>
              <a:t>0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7127" y="1789013"/>
            <a:ext cx="4543425" cy="487208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Trap</a:t>
            </a:r>
            <a:r>
              <a:rPr dirty="0" spc="-2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and</a:t>
            </a:r>
            <a:r>
              <a:rPr dirty="0" spc="-2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Emulate</a:t>
            </a:r>
            <a:r>
              <a:rPr dirty="0" spc="-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Contd.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37845" y="1292504"/>
            <a:ext cx="6083300" cy="5305425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25"/>
              </a:spcBef>
              <a:buClr>
                <a:srgbClr val="833B0A"/>
              </a:buClr>
              <a:buChar char="▪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If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Guest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application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handle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syscall/interrupt</a:t>
            </a:r>
            <a:endParaRPr sz="2200">
              <a:latin typeface="Calibri"/>
              <a:cs typeface="Calibri"/>
            </a:endParaRPr>
          </a:p>
          <a:p>
            <a:pPr lvl="1" marL="709930" indent="-227965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709930" algn="l"/>
              </a:tabLst>
            </a:pPr>
            <a:r>
              <a:rPr dirty="0" sz="2200">
                <a:latin typeface="Calibri"/>
                <a:cs typeface="Calibri"/>
              </a:rPr>
              <a:t>Special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trap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instr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(int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n),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traps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VMM</a:t>
            </a:r>
            <a:endParaRPr sz="2200">
              <a:latin typeface="Calibri"/>
              <a:cs typeface="Calibri"/>
            </a:endParaRPr>
          </a:p>
          <a:p>
            <a:pPr lvl="1" marL="709930" indent="-227965">
              <a:lnSpc>
                <a:spcPct val="100000"/>
              </a:lnSpc>
              <a:spcBef>
                <a:spcPts val="805"/>
              </a:spcBef>
              <a:buFont typeface="Arial"/>
              <a:buChar char="•"/>
              <a:tabLst>
                <a:tab pos="709930" algn="l"/>
              </a:tabLst>
            </a:pPr>
            <a:r>
              <a:rPr dirty="0" sz="2200">
                <a:latin typeface="Calibri"/>
                <a:cs typeface="Calibri"/>
              </a:rPr>
              <a:t>VMM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doesn’t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know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how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handle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trap</a:t>
            </a:r>
            <a:endParaRPr sz="2200">
              <a:latin typeface="Calibri"/>
              <a:cs typeface="Calibri"/>
            </a:endParaRPr>
          </a:p>
          <a:p>
            <a:pPr lvl="1" marL="709930" indent="-227965">
              <a:lnSpc>
                <a:spcPct val="100000"/>
              </a:lnSpc>
              <a:spcBef>
                <a:spcPts val="805"/>
              </a:spcBef>
              <a:buFont typeface="Arial"/>
              <a:buChar char="•"/>
              <a:tabLst>
                <a:tab pos="709930" algn="l"/>
              </a:tabLst>
            </a:pPr>
            <a:r>
              <a:rPr dirty="0" sz="2200">
                <a:latin typeface="Calibri"/>
                <a:cs typeface="Calibri"/>
              </a:rPr>
              <a:t>VMM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jumps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guest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trap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handler</a:t>
            </a:r>
            <a:endParaRPr sz="2200">
              <a:latin typeface="Calibri"/>
              <a:cs typeface="Calibri"/>
            </a:endParaRPr>
          </a:p>
          <a:p>
            <a:pPr lvl="1" marL="709930" indent="-227965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709930" algn="l"/>
              </a:tabLst>
            </a:pPr>
            <a:r>
              <a:rPr dirty="0" sz="2200">
                <a:latin typeface="Calibri"/>
                <a:cs typeface="Calibri"/>
              </a:rPr>
              <a:t>Trap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handled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by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guest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normally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305"/>
              </a:spcBef>
              <a:buClr>
                <a:srgbClr val="833B0A"/>
              </a:buClr>
              <a:buChar char="▪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Guest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performs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return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from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trap</a:t>
            </a:r>
            <a:endParaRPr sz="2200">
              <a:latin typeface="Calibri"/>
              <a:cs typeface="Calibri"/>
            </a:endParaRPr>
          </a:p>
          <a:p>
            <a:pPr lvl="1" marL="709930" indent="-227965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709930" algn="l"/>
              </a:tabLst>
            </a:pPr>
            <a:r>
              <a:rPr dirty="0" sz="2200">
                <a:latin typeface="Calibri"/>
                <a:cs typeface="Calibri"/>
              </a:rPr>
              <a:t>Privileged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instr,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traps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VMM</a:t>
            </a:r>
            <a:endParaRPr sz="2200">
              <a:latin typeface="Calibri"/>
              <a:cs typeface="Calibri"/>
            </a:endParaRPr>
          </a:p>
          <a:p>
            <a:pPr lvl="1" marL="709930" indent="-227965">
              <a:lnSpc>
                <a:spcPct val="100000"/>
              </a:lnSpc>
              <a:spcBef>
                <a:spcPts val="805"/>
              </a:spcBef>
              <a:buFont typeface="Arial"/>
              <a:buChar char="•"/>
              <a:tabLst>
                <a:tab pos="709930" algn="l"/>
              </a:tabLst>
            </a:pPr>
            <a:r>
              <a:rPr dirty="0" sz="2200">
                <a:latin typeface="Calibri"/>
                <a:cs typeface="Calibri"/>
              </a:rPr>
              <a:t>VMM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jumps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corresponding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user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process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300"/>
              </a:spcBef>
              <a:buClr>
                <a:srgbClr val="833B0A"/>
              </a:buClr>
              <a:buChar char="▪"/>
              <a:tabLst>
                <a:tab pos="354965" algn="l"/>
              </a:tabLst>
            </a:pPr>
            <a:r>
              <a:rPr dirty="0" sz="2200">
                <a:solidFill>
                  <a:srgbClr val="006FC0"/>
                </a:solidFill>
                <a:latin typeface="Calibri"/>
                <a:cs typeface="Calibri"/>
              </a:rPr>
              <a:t>Any</a:t>
            </a:r>
            <a:r>
              <a:rPr dirty="0" sz="2200" spc="-3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006FC0"/>
                </a:solidFill>
                <a:latin typeface="Calibri"/>
                <a:cs typeface="Calibri"/>
              </a:rPr>
              <a:t>privileged</a:t>
            </a:r>
            <a:r>
              <a:rPr dirty="0" sz="2200" spc="-4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006FC0"/>
                </a:solidFill>
                <a:latin typeface="Calibri"/>
                <a:cs typeface="Calibri"/>
              </a:rPr>
              <a:t>action</a:t>
            </a:r>
            <a:r>
              <a:rPr dirty="0" sz="2200" spc="-3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006FC0"/>
                </a:solidFill>
                <a:latin typeface="Calibri"/>
                <a:cs typeface="Calibri"/>
              </a:rPr>
              <a:t>by</a:t>
            </a:r>
            <a:r>
              <a:rPr dirty="0" sz="2200" spc="-3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006FC0"/>
                </a:solidFill>
                <a:latin typeface="Calibri"/>
                <a:cs typeface="Calibri"/>
              </a:rPr>
              <a:t>guest</a:t>
            </a:r>
            <a:r>
              <a:rPr dirty="0" sz="2200" spc="-1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006FC0"/>
                </a:solidFill>
                <a:latin typeface="Calibri"/>
                <a:cs typeface="Calibri"/>
              </a:rPr>
              <a:t>OS</a:t>
            </a:r>
            <a:r>
              <a:rPr dirty="0" sz="2200" spc="-2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006FC0"/>
                </a:solidFill>
                <a:latin typeface="Calibri"/>
                <a:cs typeface="Calibri"/>
              </a:rPr>
              <a:t>traps</a:t>
            </a:r>
            <a:r>
              <a:rPr dirty="0" sz="2200" spc="-3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006FC0"/>
                </a:solidFill>
                <a:latin typeface="Calibri"/>
                <a:cs typeface="Calibri"/>
              </a:rPr>
              <a:t>to</a:t>
            </a:r>
            <a:r>
              <a:rPr dirty="0" sz="2200" spc="-25">
                <a:solidFill>
                  <a:srgbClr val="006FC0"/>
                </a:solidFill>
                <a:latin typeface="Calibri"/>
                <a:cs typeface="Calibri"/>
              </a:rPr>
              <a:t> VMM</a:t>
            </a:r>
            <a:endParaRPr sz="2200">
              <a:latin typeface="Calibri"/>
              <a:cs typeface="Calibri"/>
            </a:endParaRPr>
          </a:p>
          <a:p>
            <a:pPr marL="798830">
              <a:lnSpc>
                <a:spcPct val="100000"/>
              </a:lnSpc>
              <a:spcBef>
                <a:spcPts val="625"/>
              </a:spcBef>
            </a:pPr>
            <a:r>
              <a:rPr dirty="0" sz="2200">
                <a:latin typeface="Calibri"/>
                <a:cs typeface="Calibri"/>
              </a:rPr>
              <a:t>Example: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set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IDT,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set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CR3,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access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hardware</a:t>
            </a:r>
            <a:endParaRPr sz="2200">
              <a:latin typeface="Calibri"/>
              <a:cs typeface="Calibri"/>
            </a:endParaRPr>
          </a:p>
          <a:p>
            <a:pPr lvl="1" marL="709930" indent="-227965">
              <a:lnSpc>
                <a:spcPct val="100000"/>
              </a:lnSpc>
              <a:spcBef>
                <a:spcPts val="790"/>
              </a:spcBef>
              <a:buClr>
                <a:srgbClr val="000000"/>
              </a:buClr>
              <a:buFont typeface="Arial"/>
              <a:buChar char="•"/>
              <a:tabLst>
                <a:tab pos="709930" algn="l"/>
              </a:tabLst>
            </a:pPr>
            <a:r>
              <a:rPr dirty="0" sz="2200">
                <a:solidFill>
                  <a:srgbClr val="006FC0"/>
                </a:solidFill>
                <a:latin typeface="Calibri"/>
                <a:cs typeface="Calibri"/>
              </a:rPr>
              <a:t>emulated</a:t>
            </a:r>
            <a:r>
              <a:rPr dirty="0" sz="2200" spc="-4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006FC0"/>
                </a:solidFill>
                <a:latin typeface="Calibri"/>
                <a:cs typeface="Calibri"/>
              </a:rPr>
              <a:t>by</a:t>
            </a:r>
            <a:r>
              <a:rPr dirty="0" sz="2200" spc="-5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spc="-25">
                <a:solidFill>
                  <a:srgbClr val="006FC0"/>
                </a:solidFill>
                <a:latin typeface="Calibri"/>
                <a:cs typeface="Calibri"/>
              </a:rPr>
              <a:t>VMM</a:t>
            </a:r>
            <a:endParaRPr sz="2200">
              <a:latin typeface="Calibri"/>
              <a:cs typeface="Calibri"/>
            </a:endParaRPr>
          </a:p>
          <a:p>
            <a:pPr lvl="1" marL="709930" indent="-227965">
              <a:lnSpc>
                <a:spcPct val="100000"/>
              </a:lnSpc>
              <a:spcBef>
                <a:spcPts val="795"/>
              </a:spcBef>
              <a:buClr>
                <a:srgbClr val="000000"/>
              </a:buClr>
              <a:buFont typeface="Arial"/>
              <a:buChar char="•"/>
              <a:tabLst>
                <a:tab pos="709930" algn="l"/>
              </a:tabLst>
            </a:pPr>
            <a:r>
              <a:rPr dirty="0" sz="2200">
                <a:solidFill>
                  <a:srgbClr val="006FC0"/>
                </a:solidFill>
                <a:latin typeface="Calibri"/>
                <a:cs typeface="Calibri"/>
              </a:rPr>
              <a:t>Then</a:t>
            </a:r>
            <a:r>
              <a:rPr dirty="0" sz="2200" spc="-2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006FC0"/>
                </a:solidFill>
                <a:latin typeface="Calibri"/>
                <a:cs typeface="Calibri"/>
              </a:rPr>
              <a:t>go</a:t>
            </a:r>
            <a:r>
              <a:rPr dirty="0" sz="2200" spc="-3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006FC0"/>
                </a:solidFill>
                <a:latin typeface="Calibri"/>
                <a:cs typeface="Calibri"/>
              </a:rPr>
              <a:t>back</a:t>
            </a:r>
            <a:r>
              <a:rPr dirty="0" sz="2200" spc="-4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006FC0"/>
                </a:solidFill>
                <a:latin typeface="Calibri"/>
                <a:cs typeface="Calibri"/>
              </a:rPr>
              <a:t>to</a:t>
            </a:r>
            <a:r>
              <a:rPr dirty="0" sz="2200" spc="-2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006FC0"/>
                </a:solidFill>
                <a:latin typeface="Calibri"/>
                <a:cs typeface="Calibri"/>
              </a:rPr>
              <a:t>the</a:t>
            </a:r>
            <a:r>
              <a:rPr dirty="0" sz="2200" spc="-2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006FC0"/>
                </a:solidFill>
                <a:latin typeface="Calibri"/>
                <a:cs typeface="Calibri"/>
              </a:rPr>
              <a:t>Guest</a:t>
            </a:r>
            <a:r>
              <a:rPr dirty="0" sz="2200" spc="-2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spc="-35">
                <a:solidFill>
                  <a:srgbClr val="006FC0"/>
                </a:solidFill>
                <a:latin typeface="Calibri"/>
                <a:cs typeface="Calibri"/>
              </a:rPr>
              <a:t>OS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51064" y="2062531"/>
            <a:ext cx="4308170" cy="414685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075419" y="2107692"/>
            <a:ext cx="1713230" cy="307975"/>
          </a:xfrm>
          <a:prstGeom prst="rect">
            <a:avLst/>
          </a:prstGeom>
          <a:solidFill>
            <a:srgbClr val="F7C9AC"/>
          </a:solidFill>
        </p:spPr>
        <p:txBody>
          <a:bodyPr wrap="square" lIns="0" tIns="4000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15"/>
              </a:spcBef>
            </a:pPr>
            <a:r>
              <a:rPr dirty="0" sz="1400" b="1" i="1">
                <a:solidFill>
                  <a:srgbClr val="C00000"/>
                </a:solidFill>
                <a:latin typeface="Arial"/>
                <a:cs typeface="Arial"/>
              </a:rPr>
              <a:t>Guest</a:t>
            </a:r>
            <a:r>
              <a:rPr dirty="0" sz="1400" spc="-40" b="1" i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00" spc="-10" b="1" i="1">
                <a:solidFill>
                  <a:srgbClr val="C00000"/>
                </a:solidFill>
                <a:latin typeface="Arial"/>
                <a:cs typeface="Arial"/>
              </a:rPr>
              <a:t>Application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4599" rIns="0" bIns="0" rtlCol="0" vert="horz">
            <a:spAutoFit/>
          </a:bodyPr>
          <a:lstStyle/>
          <a:p>
            <a:pPr marL="23304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33045">
              <a:lnSpc>
                <a:spcPct val="100000"/>
              </a:lnSpc>
              <a:spcBef>
                <a:spcPts val="114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Issues/Problems</a:t>
            </a:r>
            <a:r>
              <a:rPr dirty="0" spc="-3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with</a:t>
            </a:r>
            <a:r>
              <a:rPr dirty="0" spc="-6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Trap</a:t>
            </a:r>
            <a:r>
              <a:rPr dirty="0" spc="-2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and</a:t>
            </a:r>
            <a:r>
              <a:rPr dirty="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Emulate</a:t>
            </a:r>
            <a:r>
              <a:rPr dirty="0" spc="-1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Virtualization</a:t>
            </a:r>
            <a:r>
              <a:rPr dirty="0" spc="-5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technique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40842" y="1419680"/>
            <a:ext cx="11572240" cy="3157855"/>
          </a:xfrm>
          <a:prstGeom prst="rect">
            <a:avLst/>
          </a:prstGeom>
        </p:spPr>
        <p:txBody>
          <a:bodyPr wrap="square" lIns="0" tIns="12636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469265" algn="l"/>
              </a:tabLst>
            </a:pPr>
            <a:r>
              <a:rPr dirty="0" sz="2200" spc="-25">
                <a:latin typeface="Calibri"/>
                <a:cs typeface="Calibri"/>
              </a:rPr>
              <a:t>1.</a:t>
            </a:r>
            <a:r>
              <a:rPr dirty="0" sz="2200">
                <a:latin typeface="Calibri"/>
                <a:cs typeface="Calibri"/>
              </a:rPr>
              <a:t>	</a:t>
            </a:r>
            <a:r>
              <a:rPr dirty="0" sz="2200" spc="-10">
                <a:latin typeface="Calibri"/>
                <a:cs typeface="Calibri"/>
              </a:rPr>
              <a:t>Performance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Overhead</a:t>
            </a:r>
            <a:endParaRPr sz="2200">
              <a:latin typeface="Calibri"/>
              <a:cs typeface="Calibri"/>
            </a:endParaRPr>
          </a:p>
          <a:p>
            <a:pPr marL="498475">
              <a:lnSpc>
                <a:spcPct val="100000"/>
              </a:lnSpc>
              <a:spcBef>
                <a:spcPts val="900"/>
              </a:spcBef>
            </a:pPr>
            <a:r>
              <a:rPr dirty="0" sz="2200">
                <a:latin typeface="Calibri"/>
                <a:cs typeface="Calibri"/>
              </a:rPr>
              <a:t>E.g.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trapping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privileged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instructions</a:t>
            </a:r>
            <a:endParaRPr sz="2200">
              <a:latin typeface="Calibri"/>
              <a:cs typeface="Calibri"/>
            </a:endParaRPr>
          </a:p>
          <a:p>
            <a:pPr marL="804545" indent="-342900">
              <a:lnSpc>
                <a:spcPct val="100000"/>
              </a:lnSpc>
              <a:spcBef>
                <a:spcPts val="1035"/>
              </a:spcBef>
              <a:buChar char="▪"/>
              <a:tabLst>
                <a:tab pos="804545" algn="l"/>
              </a:tabLst>
            </a:pPr>
            <a:r>
              <a:rPr dirty="0" sz="2200">
                <a:latin typeface="Calibri"/>
                <a:cs typeface="Calibri"/>
              </a:rPr>
              <a:t>Trap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costs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may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20">
                <a:latin typeface="Calibri"/>
                <a:cs typeface="Calibri"/>
              </a:rPr>
              <a:t> high</a:t>
            </a:r>
            <a:endParaRPr sz="22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395"/>
              </a:spcBef>
              <a:buAutoNum type="arabicPeriod" startAt="2"/>
              <a:tabLst>
                <a:tab pos="469265" algn="l"/>
              </a:tabLst>
            </a:pPr>
            <a:r>
              <a:rPr dirty="0" sz="2200">
                <a:latin typeface="Calibri"/>
                <a:cs typeface="Calibri"/>
              </a:rPr>
              <a:t>Not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all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architectures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support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it</a:t>
            </a:r>
            <a:endParaRPr sz="22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900"/>
              </a:spcBef>
              <a:buFont typeface="Arial"/>
              <a:buChar char="•"/>
              <a:tabLst>
                <a:tab pos="733425" algn="l"/>
              </a:tabLst>
            </a:pPr>
            <a:r>
              <a:rPr dirty="0" sz="2200">
                <a:latin typeface="Calibri"/>
                <a:cs typeface="Calibri"/>
              </a:rPr>
              <a:t>x86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architecture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was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easily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not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completely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virtualizable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needed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workarounds</a:t>
            </a:r>
            <a:endParaRPr sz="2200">
              <a:latin typeface="Calibri"/>
              <a:cs typeface="Calibri"/>
            </a:endParaRPr>
          </a:p>
          <a:p>
            <a:pPr lvl="1" marL="733425" marR="5080" indent="-361315">
              <a:lnSpc>
                <a:spcPct val="120000"/>
              </a:lnSpc>
              <a:spcBef>
                <a:spcPts val="1000"/>
              </a:spcBef>
              <a:buFont typeface="Arial"/>
              <a:buChar char="•"/>
              <a:tabLst>
                <a:tab pos="733425" algn="l"/>
              </a:tabLst>
            </a:pPr>
            <a:r>
              <a:rPr dirty="0" sz="2200">
                <a:latin typeface="Calibri"/>
                <a:cs typeface="Calibri"/>
              </a:rPr>
              <a:t>Depends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fact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executing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instruction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at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lower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privilege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required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will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cause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50">
                <a:latin typeface="Calibri"/>
                <a:cs typeface="Calibri"/>
              </a:rPr>
              <a:t>a </a:t>
            </a:r>
            <a:r>
              <a:rPr dirty="0" u="sng" sz="22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trap</a:t>
            </a:r>
            <a:r>
              <a:rPr dirty="0" sz="2200" spc="-25" b="1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VMM.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85266" y="5342382"/>
            <a:ext cx="11018520" cy="1321435"/>
          </a:xfrm>
          <a:prstGeom prst="rect">
            <a:avLst/>
          </a:prstGeom>
          <a:ln w="25400">
            <a:solidFill>
              <a:srgbClr val="C00000"/>
            </a:solidFill>
          </a:ln>
        </p:spPr>
        <p:txBody>
          <a:bodyPr wrap="square" lIns="0" tIns="150495" rIns="0" bIns="0" rtlCol="0" vert="horz">
            <a:spAutoFit/>
          </a:bodyPr>
          <a:lstStyle/>
          <a:p>
            <a:pPr algn="just" marL="170180" marR="263525">
              <a:lnSpc>
                <a:spcPct val="100400"/>
              </a:lnSpc>
              <a:spcBef>
                <a:spcPts val="1185"/>
              </a:spcBef>
            </a:pPr>
            <a:r>
              <a:rPr dirty="0" sz="1800">
                <a:latin typeface="Calibri"/>
                <a:cs typeface="Calibri"/>
              </a:rPr>
              <a:t>Recent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x86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systems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try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facilitate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virtualization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by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dealing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with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sensitive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instructions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are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not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privileged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by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facilitating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memory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management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with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hardware.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They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have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introduced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new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mode,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root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mode.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Now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the </a:t>
            </a:r>
            <a:r>
              <a:rPr dirty="0" sz="1800">
                <a:latin typeface="Calibri"/>
                <a:cs typeface="Calibri"/>
              </a:rPr>
              <a:t>mode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will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consist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usual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four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levels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paired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with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normal/root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mode.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All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sensitive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instructions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cause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transfer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root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mode.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78968" y="218947"/>
            <a:ext cx="260286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72262" y="669112"/>
            <a:ext cx="11633200" cy="5755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Issues/Problems</a:t>
            </a:r>
            <a:r>
              <a:rPr dirty="0" sz="2400" spc="-3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with</a:t>
            </a:r>
            <a:r>
              <a:rPr dirty="0" sz="2400" spc="-6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Trap</a:t>
            </a:r>
            <a:r>
              <a:rPr dirty="0" sz="2400" spc="-2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and</a:t>
            </a:r>
            <a:r>
              <a:rPr dirty="0" sz="2400" spc="-3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Emulate</a:t>
            </a:r>
            <a:r>
              <a:rPr dirty="0" sz="2400" spc="-1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Virtualization</a:t>
            </a:r>
            <a:r>
              <a:rPr dirty="0" sz="2400" spc="-5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technique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400">
              <a:latin typeface="Arial"/>
              <a:cs typeface="Arial"/>
            </a:endParaRPr>
          </a:p>
          <a:p>
            <a:pPr marL="527685" marR="5080" indent="-515620">
              <a:lnSpc>
                <a:spcPts val="2380"/>
              </a:lnSpc>
              <a:spcBef>
                <a:spcPts val="5"/>
              </a:spcBef>
              <a:buSzPct val="79545"/>
              <a:buAutoNum type="arabicPeriod" startAt="3"/>
              <a:tabLst>
                <a:tab pos="527685" algn="l"/>
              </a:tabLst>
            </a:pPr>
            <a:r>
              <a:rPr dirty="0" sz="2200">
                <a:latin typeface="Calibri"/>
                <a:cs typeface="Calibri"/>
              </a:rPr>
              <a:t>Some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x86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instructions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change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hardware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state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</a:t>
            </a:r>
            <a:r>
              <a:rPr dirty="0" sz="2200">
                <a:solidFill>
                  <a:srgbClr val="006EC0"/>
                </a:solidFill>
                <a:latin typeface="Calibri"/>
                <a:cs typeface="Calibri"/>
              </a:rPr>
              <a:t>sensitive</a:t>
            </a:r>
            <a:r>
              <a:rPr dirty="0" sz="2200" spc="445">
                <a:solidFill>
                  <a:srgbClr val="006EC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006EC0"/>
                </a:solidFill>
                <a:latin typeface="Calibri"/>
                <a:cs typeface="Calibri"/>
              </a:rPr>
              <a:t>instructions</a:t>
            </a:r>
            <a:r>
              <a:rPr dirty="0" sz="2200">
                <a:latin typeface="Calibri"/>
                <a:cs typeface="Calibri"/>
              </a:rPr>
              <a:t>)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both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privileged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unprivileged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modes</a:t>
            </a:r>
            <a:endParaRPr sz="2200">
              <a:latin typeface="Calibri"/>
              <a:cs typeface="Calibri"/>
            </a:endParaRPr>
          </a:p>
          <a:p>
            <a:pPr lvl="1" marL="812165" indent="-342265">
              <a:lnSpc>
                <a:spcPct val="100000"/>
              </a:lnSpc>
              <a:spcBef>
                <a:spcPts val="530"/>
              </a:spcBef>
              <a:buClr>
                <a:srgbClr val="C00000"/>
              </a:buClr>
              <a:buSzPct val="87500"/>
              <a:buChar char="▪"/>
              <a:tabLst>
                <a:tab pos="812165" algn="l"/>
              </a:tabLst>
            </a:pPr>
            <a:r>
              <a:rPr dirty="0" sz="2000">
                <a:latin typeface="Calibri"/>
                <a:cs typeface="Calibri"/>
              </a:rPr>
              <a:t>Will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behave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differently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when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guest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ring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0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less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privileged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ring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50"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  <a:p>
            <a:pPr lvl="1" marL="812165" indent="-342265">
              <a:lnSpc>
                <a:spcPct val="100000"/>
              </a:lnSpc>
              <a:spcBef>
                <a:spcPts val="565"/>
              </a:spcBef>
              <a:buClr>
                <a:srgbClr val="C00000"/>
              </a:buClr>
              <a:buSzPct val="87500"/>
              <a:buChar char="▪"/>
              <a:tabLst>
                <a:tab pos="812165" algn="l"/>
              </a:tabLst>
            </a:pPr>
            <a:r>
              <a:rPr dirty="0" sz="2000">
                <a:latin typeface="Calibri"/>
                <a:cs typeface="Calibri"/>
              </a:rPr>
              <a:t>OS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behaves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incorrectly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ring1,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will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trap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VMM</a:t>
            </a:r>
            <a:endParaRPr sz="2000">
              <a:latin typeface="Calibri"/>
              <a:cs typeface="Calibri"/>
            </a:endParaRPr>
          </a:p>
          <a:p>
            <a:pPr marL="812800">
              <a:lnSpc>
                <a:spcPct val="100000"/>
              </a:lnSpc>
              <a:spcBef>
                <a:spcPts val="555"/>
              </a:spcBef>
            </a:pPr>
            <a:r>
              <a:rPr dirty="0" sz="2000" b="1" i="1">
                <a:latin typeface="Calibri"/>
                <a:cs typeface="Calibri"/>
              </a:rPr>
              <a:t>Example:</a:t>
            </a:r>
            <a:r>
              <a:rPr dirty="0" sz="2000" spc="-30" b="1" i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popf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(pop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flags)</a:t>
            </a:r>
            <a:endParaRPr sz="2000">
              <a:latin typeface="Calibri"/>
              <a:cs typeface="Calibri"/>
            </a:endParaRPr>
          </a:p>
          <a:p>
            <a:pPr lvl="2" marL="1158240" indent="-360680">
              <a:lnSpc>
                <a:spcPct val="100000"/>
              </a:lnSpc>
              <a:spcBef>
                <a:spcPts val="560"/>
              </a:spcBef>
              <a:buSzPct val="87500"/>
              <a:buFont typeface="Arial"/>
              <a:buChar char="•"/>
              <a:tabLst>
                <a:tab pos="1158240" algn="l"/>
              </a:tabLst>
            </a:pP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used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user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mode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change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ALU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flags</a:t>
            </a:r>
            <a:endParaRPr sz="2000">
              <a:latin typeface="Calibri"/>
              <a:cs typeface="Calibri"/>
            </a:endParaRPr>
          </a:p>
          <a:p>
            <a:pPr lvl="2" marL="1158240" indent="-360680">
              <a:lnSpc>
                <a:spcPct val="100000"/>
              </a:lnSpc>
              <a:spcBef>
                <a:spcPts val="565"/>
              </a:spcBef>
              <a:buSzPct val="87500"/>
              <a:buFont typeface="Arial"/>
              <a:buChar char="•"/>
              <a:tabLst>
                <a:tab pos="1158240" algn="l"/>
              </a:tabLst>
            </a:pP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privileged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mode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change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system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state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flag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(e.g.,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interrupt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delivery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flag)</a:t>
            </a:r>
            <a:endParaRPr sz="2000">
              <a:latin typeface="Calibri"/>
              <a:cs typeface="Calibri"/>
            </a:endParaRPr>
          </a:p>
          <a:p>
            <a:pPr lvl="2" marL="1158240" indent="-360680">
              <a:lnSpc>
                <a:spcPct val="100000"/>
              </a:lnSpc>
              <a:spcBef>
                <a:spcPts val="555"/>
              </a:spcBef>
              <a:buSzPct val="87500"/>
              <a:buFont typeface="Arial"/>
              <a:buChar char="•"/>
              <a:tabLst>
                <a:tab pos="1158240" algn="l"/>
              </a:tabLst>
            </a:pPr>
            <a:r>
              <a:rPr dirty="0" sz="2000">
                <a:latin typeface="Calibri"/>
                <a:cs typeface="Calibri"/>
              </a:rPr>
              <a:t>Trouble: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trap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if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popf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attempted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alter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interrupt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flag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user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mode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--</a:t>
            </a:r>
            <a:r>
              <a:rPr dirty="0" sz="2000">
                <a:latin typeface="Calibri"/>
                <a:cs typeface="Calibri"/>
              </a:rPr>
              <a:t>-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CPU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just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ignores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50">
                <a:latin typeface="Calibri"/>
                <a:cs typeface="Calibri"/>
              </a:rPr>
              <a:t>!</a:t>
            </a:r>
            <a:endParaRPr sz="2000">
              <a:latin typeface="Calibri"/>
              <a:cs typeface="Calibri"/>
            </a:endParaRPr>
          </a:p>
          <a:p>
            <a:pPr lvl="3" marL="1518285" indent="-342900">
              <a:lnSpc>
                <a:spcPct val="100000"/>
              </a:lnSpc>
              <a:spcBef>
                <a:spcPts val="565"/>
              </a:spcBef>
              <a:buSzPct val="87500"/>
              <a:buFont typeface="Arial"/>
              <a:buChar char="•"/>
              <a:tabLst>
                <a:tab pos="1518285" algn="l"/>
              </a:tabLst>
            </a:pPr>
            <a:r>
              <a:rPr dirty="0" sz="2000">
                <a:latin typeface="Calibri"/>
                <a:cs typeface="Calibri"/>
              </a:rPr>
              <a:t>Behavior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sensitive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instruction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but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privileged</a:t>
            </a:r>
            <a:endParaRPr sz="2000">
              <a:latin typeface="Calibri"/>
              <a:cs typeface="Calibri"/>
            </a:endParaRPr>
          </a:p>
          <a:p>
            <a:pPr marL="812800">
              <a:lnSpc>
                <a:spcPct val="100000"/>
              </a:lnSpc>
              <a:spcBef>
                <a:spcPts val="565"/>
              </a:spcBef>
            </a:pPr>
            <a:r>
              <a:rPr dirty="0" sz="2000" b="1" i="1">
                <a:latin typeface="Calibri"/>
                <a:cs typeface="Calibri"/>
              </a:rPr>
              <a:t>Example:</a:t>
            </a:r>
            <a:r>
              <a:rPr dirty="0" sz="2000" spc="-25" b="1" i="1">
                <a:latin typeface="Calibri"/>
                <a:cs typeface="Calibri"/>
              </a:rPr>
              <a:t> </a:t>
            </a:r>
            <a:r>
              <a:rPr dirty="0" sz="2000" spc="-20" i="1">
                <a:latin typeface="Calibri"/>
                <a:cs typeface="Calibri"/>
              </a:rPr>
              <a:t>pushf</a:t>
            </a:r>
            <a:endParaRPr sz="2000">
              <a:latin typeface="Calibri"/>
              <a:cs typeface="Calibri"/>
            </a:endParaRPr>
          </a:p>
          <a:p>
            <a:pPr lvl="2" marL="1158240" indent="-360680">
              <a:lnSpc>
                <a:spcPct val="100000"/>
              </a:lnSpc>
              <a:spcBef>
                <a:spcPts val="550"/>
              </a:spcBef>
              <a:buSzPct val="87500"/>
              <a:buFont typeface="Arial"/>
              <a:buChar char="•"/>
              <a:tabLst>
                <a:tab pos="1158240" algn="l"/>
              </a:tabLst>
            </a:pPr>
            <a:r>
              <a:rPr dirty="0" sz="2000">
                <a:latin typeface="Calibri"/>
                <a:cs typeface="Calibri"/>
              </a:rPr>
              <a:t>simply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reveals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kernel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running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user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mode</a:t>
            </a:r>
            <a:endParaRPr sz="2000">
              <a:latin typeface="Calibri"/>
              <a:cs typeface="Calibri"/>
            </a:endParaRPr>
          </a:p>
          <a:p>
            <a:pPr lvl="1" marL="812165" indent="-342265">
              <a:lnSpc>
                <a:spcPts val="2280"/>
              </a:lnSpc>
              <a:spcBef>
                <a:spcPts val="565"/>
              </a:spcBef>
              <a:buClr>
                <a:srgbClr val="C00000"/>
              </a:buClr>
              <a:buSzPct val="87500"/>
              <a:buChar char="▪"/>
              <a:tabLst>
                <a:tab pos="812165" algn="l"/>
              </a:tabLst>
            </a:pPr>
            <a:r>
              <a:rPr dirty="0" sz="2000">
                <a:latin typeface="Calibri"/>
                <a:cs typeface="Calibri"/>
              </a:rPr>
              <a:t>There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were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about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17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such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instructions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x86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E.g.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SGDT,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SIDT,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SLDT,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SMSW,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PUSHF,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POPF,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LAR,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LSL,</a:t>
            </a:r>
            <a:endParaRPr sz="2000">
              <a:latin typeface="Calibri"/>
              <a:cs typeface="Calibri"/>
            </a:endParaRPr>
          </a:p>
          <a:p>
            <a:pPr marL="812800">
              <a:lnSpc>
                <a:spcPts val="2280"/>
              </a:lnSpc>
            </a:pPr>
            <a:r>
              <a:rPr dirty="0" sz="2000">
                <a:latin typeface="Calibri"/>
                <a:cs typeface="Calibri"/>
              </a:rPr>
              <a:t>VERR,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VERW,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POP,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PUSH,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CALL,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JMP,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INT,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RET,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STR,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MOV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initial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architecuture</a:t>
            </a:r>
            <a:endParaRPr sz="2000">
              <a:latin typeface="Calibri"/>
              <a:cs typeface="Calibri"/>
            </a:endParaRPr>
          </a:p>
          <a:p>
            <a:pPr lvl="1" marL="812165" indent="-342265">
              <a:lnSpc>
                <a:spcPct val="100000"/>
              </a:lnSpc>
              <a:spcBef>
                <a:spcPts val="565"/>
              </a:spcBef>
              <a:buClr>
                <a:srgbClr val="C00000"/>
              </a:buClr>
              <a:buSzPct val="87500"/>
              <a:buChar char="▪"/>
              <a:tabLst>
                <a:tab pos="812165" algn="l"/>
              </a:tabLst>
            </a:pPr>
            <a:r>
              <a:rPr dirty="0" sz="2000">
                <a:latin typeface="Calibri"/>
                <a:cs typeface="Calibri"/>
              </a:rPr>
              <a:t>X86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ISA</a:t>
            </a:r>
            <a:r>
              <a:rPr dirty="0" sz="2000" spc="4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(pre-</a:t>
            </a:r>
            <a:r>
              <a:rPr dirty="0" sz="2000">
                <a:latin typeface="Calibri"/>
                <a:cs typeface="Calibri"/>
              </a:rPr>
              <a:t>2005)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does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not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meet the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Popek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&amp;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Goldberg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requirements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virtualization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0842" y="208534"/>
            <a:ext cx="260286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40842" y="679145"/>
            <a:ext cx="11494135" cy="4255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Problems</a:t>
            </a:r>
            <a:r>
              <a:rPr dirty="0" sz="2400" spc="-1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with</a:t>
            </a:r>
            <a:r>
              <a:rPr dirty="0" sz="2400" spc="-5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Trap</a:t>
            </a:r>
            <a:r>
              <a:rPr dirty="0" sz="2400" spc="-3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and</a:t>
            </a: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Emulate</a:t>
            </a:r>
            <a:r>
              <a:rPr dirty="0" sz="2400" spc="-1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Virtualization</a:t>
            </a:r>
            <a:r>
              <a:rPr dirty="0" sz="2400" spc="-4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technique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2400">
              <a:latin typeface="Arial"/>
              <a:cs typeface="Arial"/>
            </a:endParaRPr>
          </a:p>
          <a:p>
            <a:pPr marL="481965" indent="-457200">
              <a:lnSpc>
                <a:spcPct val="100000"/>
              </a:lnSpc>
              <a:buAutoNum type="arabicPeriod" startAt="4"/>
              <a:tabLst>
                <a:tab pos="481965" algn="l"/>
              </a:tabLst>
            </a:pPr>
            <a:r>
              <a:rPr dirty="0" sz="2200">
                <a:latin typeface="Calibri"/>
                <a:cs typeface="Calibri"/>
              </a:rPr>
              <a:t>Guest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may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realize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running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lower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privilege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level</a:t>
            </a:r>
            <a:endParaRPr sz="2200">
              <a:latin typeface="Calibri"/>
              <a:cs typeface="Calibri"/>
            </a:endParaRPr>
          </a:p>
          <a:p>
            <a:pPr lvl="1" marL="709930" indent="-227965">
              <a:lnSpc>
                <a:spcPct val="100000"/>
              </a:lnSpc>
              <a:spcBef>
                <a:spcPts val="1125"/>
              </a:spcBef>
              <a:buFont typeface="Arial"/>
              <a:buChar char="•"/>
              <a:tabLst>
                <a:tab pos="709930" algn="l"/>
              </a:tabLst>
            </a:pPr>
            <a:r>
              <a:rPr dirty="0" sz="2200">
                <a:latin typeface="Calibri"/>
                <a:cs typeface="Calibri"/>
              </a:rPr>
              <a:t>Some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registers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x86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reflect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CPU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privilege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level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(code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segment/CS)</a:t>
            </a:r>
            <a:endParaRPr sz="2200">
              <a:latin typeface="Calibri"/>
              <a:cs typeface="Calibri"/>
            </a:endParaRPr>
          </a:p>
          <a:p>
            <a:pPr marL="481965" marR="830580" indent="-457200">
              <a:lnSpc>
                <a:spcPct val="120100"/>
              </a:lnSpc>
              <a:spcBef>
                <a:spcPts val="600"/>
              </a:spcBef>
              <a:buAutoNum type="arabicPeriod" startAt="4"/>
              <a:tabLst>
                <a:tab pos="481965" algn="l"/>
              </a:tabLst>
            </a:pP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trying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keep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Guest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lower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privileged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level,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memory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protection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another </a:t>
            </a:r>
            <a:r>
              <a:rPr dirty="0" sz="2200">
                <a:latin typeface="Calibri"/>
                <a:cs typeface="Calibri"/>
              </a:rPr>
              <a:t>challenge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physical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memory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shared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resource.</a:t>
            </a:r>
            <a:endParaRPr sz="2200">
              <a:latin typeface="Calibri"/>
              <a:cs typeface="Calibri"/>
            </a:endParaRPr>
          </a:p>
          <a:p>
            <a:pPr lvl="1" marL="710565" marR="508000" indent="-228600">
              <a:lnSpc>
                <a:spcPct val="120000"/>
              </a:lnSpc>
              <a:spcBef>
                <a:spcPts val="600"/>
              </a:spcBef>
              <a:buFont typeface="Arial"/>
              <a:buChar char="•"/>
              <a:tabLst>
                <a:tab pos="710565" algn="l"/>
              </a:tabLst>
            </a:pPr>
            <a:r>
              <a:rPr dirty="0" sz="2200">
                <a:latin typeface="Calibri"/>
                <a:cs typeface="Calibri"/>
              </a:rPr>
              <a:t>So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may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need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not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allow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Guest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directly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allow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memory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access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map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fake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physical </a:t>
            </a:r>
            <a:r>
              <a:rPr dirty="0" sz="2200">
                <a:latin typeface="Calibri"/>
                <a:cs typeface="Calibri"/>
              </a:rPr>
              <a:t>pages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needing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two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levels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virtual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address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translation.</a:t>
            </a:r>
            <a:endParaRPr sz="2200">
              <a:latin typeface="Calibri"/>
              <a:cs typeface="Calibri"/>
            </a:endParaRPr>
          </a:p>
          <a:p>
            <a:pPr lvl="1" marL="709930" indent="-227965">
              <a:lnSpc>
                <a:spcPct val="100000"/>
              </a:lnSpc>
              <a:spcBef>
                <a:spcPts val="1125"/>
              </a:spcBef>
              <a:buFont typeface="Arial"/>
              <a:buChar char="•"/>
              <a:tabLst>
                <a:tab pos="709930" algn="l"/>
              </a:tabLst>
            </a:pPr>
            <a:r>
              <a:rPr dirty="0" sz="2200">
                <a:latin typeface="Calibri"/>
                <a:cs typeface="Calibri"/>
              </a:rPr>
              <a:t>Virtual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fake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physical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then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fake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physical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real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machine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frame/page.</a:t>
            </a:r>
            <a:endParaRPr sz="2200">
              <a:latin typeface="Calibri"/>
              <a:cs typeface="Calibri"/>
            </a:endParaRPr>
          </a:p>
          <a:p>
            <a:pPr marL="710565">
              <a:lnSpc>
                <a:spcPct val="100000"/>
              </a:lnSpc>
              <a:spcBef>
                <a:spcPts val="535"/>
              </a:spcBef>
            </a:pPr>
            <a:r>
              <a:rPr dirty="0" sz="2200">
                <a:latin typeface="Calibri"/>
                <a:cs typeface="Calibri"/>
              </a:rPr>
              <a:t>Makes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complex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handle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this.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9215" rIns="0" bIns="0" rtlCol="0" vert="horz">
            <a:spAutoFit/>
          </a:bodyPr>
          <a:lstStyle/>
          <a:p>
            <a:pPr marL="233045">
              <a:lnSpc>
                <a:spcPct val="100000"/>
              </a:lnSpc>
              <a:spcBef>
                <a:spcPts val="54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33045">
              <a:lnSpc>
                <a:spcPct val="100000"/>
              </a:lnSpc>
              <a:spcBef>
                <a:spcPts val="440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Trap</a:t>
            </a:r>
            <a:r>
              <a:rPr dirty="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and</a:t>
            </a:r>
            <a:r>
              <a:rPr dirty="0" spc="-5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Emulate</a:t>
            </a:r>
            <a:r>
              <a:rPr dirty="0" spc="-4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technique</a:t>
            </a:r>
            <a:r>
              <a:rPr dirty="0" spc="-4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:</a:t>
            </a:r>
            <a:r>
              <a:rPr dirty="0" spc="-4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Exercise</a:t>
            </a:r>
          </a:p>
        </p:txBody>
      </p:sp>
      <p:sp>
        <p:nvSpPr>
          <p:cNvPr id="6" name="object 6"/>
          <p:cNvSpPr/>
          <p:nvPr/>
        </p:nvSpPr>
        <p:spPr>
          <a:xfrm>
            <a:off x="465581" y="1372361"/>
            <a:ext cx="8299450" cy="0"/>
          </a:xfrm>
          <a:custGeom>
            <a:avLst/>
            <a:gdLst/>
            <a:ahLst/>
            <a:cxnLst/>
            <a:rect l="l" t="t" r="r" b="b"/>
            <a:pathLst>
              <a:path w="8299450" h="0">
                <a:moveTo>
                  <a:pt x="0" y="0"/>
                </a:moveTo>
                <a:lnTo>
                  <a:pt x="8299450" y="0"/>
                </a:lnTo>
              </a:path>
            </a:pathLst>
          </a:custGeom>
          <a:ln w="38100">
            <a:solidFill>
              <a:srgbClr val="C55A1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71043" y="1487576"/>
            <a:ext cx="5377815" cy="830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20000"/>
              </a:lnSpc>
              <a:spcBef>
                <a:spcPts val="100"/>
              </a:spcBef>
              <a:buSzPct val="81818"/>
              <a:buFont typeface="Arial"/>
              <a:buChar char="•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Guest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(e.g.,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Linux)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trying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define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new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gvp</a:t>
            </a:r>
            <a:r>
              <a:rPr dirty="0" sz="2200" spc="-30" i="1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process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938643" y="1633473"/>
            <a:ext cx="25317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Arial"/>
                <a:cs typeface="Arial"/>
              </a:rPr>
              <a:t>VM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–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Running</a:t>
            </a:r>
            <a:r>
              <a:rPr dirty="0" sz="1600" spc="-1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a</a:t>
            </a:r>
            <a:r>
              <a:rPr dirty="0" sz="1600" spc="-2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Guest</a:t>
            </a:r>
            <a:r>
              <a:rPr dirty="0" sz="1600" spc="-10" b="1">
                <a:latin typeface="Arial"/>
                <a:cs typeface="Arial"/>
              </a:rPr>
              <a:t> </a:t>
            </a:r>
            <a:r>
              <a:rPr dirty="0" sz="1600" spc="-25" b="1">
                <a:latin typeface="Arial"/>
                <a:cs typeface="Arial"/>
              </a:rPr>
              <a:t>OS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1043" y="2293061"/>
            <a:ext cx="5245100" cy="2143760"/>
          </a:xfrm>
          <a:prstGeom prst="rect">
            <a:avLst/>
          </a:prstGeom>
        </p:spPr>
        <p:txBody>
          <a:bodyPr wrap="square" lIns="0" tIns="20701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630"/>
              </a:spcBef>
              <a:buSzPct val="81818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It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finds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unused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gpp</a:t>
            </a:r>
            <a:r>
              <a:rPr dirty="0" sz="2200" spc="-25" i="1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memory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525"/>
              </a:spcBef>
              <a:buSzPct val="81818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It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tries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load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(gvp,gpp)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into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table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525"/>
              </a:spcBef>
              <a:buSzPct val="81818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hpp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free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physical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page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535"/>
              </a:spcBef>
              <a:buSzPct val="81818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What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happens?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6623304" y="1975104"/>
            <a:ext cx="5515610" cy="2385060"/>
            <a:chOff x="6623304" y="1975104"/>
            <a:chExt cx="5515610" cy="2385060"/>
          </a:xfrm>
        </p:grpSpPr>
        <p:sp>
          <p:nvSpPr>
            <p:cNvPr id="3" name="object 3"/>
            <p:cNvSpPr/>
            <p:nvPr/>
          </p:nvSpPr>
          <p:spPr>
            <a:xfrm>
              <a:off x="6642354" y="1994154"/>
              <a:ext cx="5477510" cy="2346960"/>
            </a:xfrm>
            <a:custGeom>
              <a:avLst/>
              <a:gdLst/>
              <a:ahLst/>
              <a:cxnLst/>
              <a:rect l="l" t="t" r="r" b="b"/>
              <a:pathLst>
                <a:path w="5477509" h="2346960">
                  <a:moveTo>
                    <a:pt x="5086096" y="0"/>
                  </a:moveTo>
                  <a:lnTo>
                    <a:pt x="391160" y="0"/>
                  </a:lnTo>
                  <a:lnTo>
                    <a:pt x="342094" y="3047"/>
                  </a:lnTo>
                  <a:lnTo>
                    <a:pt x="294847" y="11946"/>
                  </a:lnTo>
                  <a:lnTo>
                    <a:pt x="249785" y="26330"/>
                  </a:lnTo>
                  <a:lnTo>
                    <a:pt x="207275" y="45831"/>
                  </a:lnTo>
                  <a:lnTo>
                    <a:pt x="167683" y="70084"/>
                  </a:lnTo>
                  <a:lnTo>
                    <a:pt x="131376" y="98721"/>
                  </a:lnTo>
                  <a:lnTo>
                    <a:pt x="98721" y="131376"/>
                  </a:lnTo>
                  <a:lnTo>
                    <a:pt x="70084" y="167683"/>
                  </a:lnTo>
                  <a:lnTo>
                    <a:pt x="45831" y="207275"/>
                  </a:lnTo>
                  <a:lnTo>
                    <a:pt x="26330" y="249785"/>
                  </a:lnTo>
                  <a:lnTo>
                    <a:pt x="11946" y="294847"/>
                  </a:lnTo>
                  <a:lnTo>
                    <a:pt x="3047" y="342094"/>
                  </a:lnTo>
                  <a:lnTo>
                    <a:pt x="0" y="391160"/>
                  </a:lnTo>
                  <a:lnTo>
                    <a:pt x="0" y="1955800"/>
                  </a:lnTo>
                  <a:lnTo>
                    <a:pt x="3047" y="2004865"/>
                  </a:lnTo>
                  <a:lnTo>
                    <a:pt x="11946" y="2052112"/>
                  </a:lnTo>
                  <a:lnTo>
                    <a:pt x="26330" y="2097174"/>
                  </a:lnTo>
                  <a:lnTo>
                    <a:pt x="45831" y="2139684"/>
                  </a:lnTo>
                  <a:lnTo>
                    <a:pt x="70084" y="2179276"/>
                  </a:lnTo>
                  <a:lnTo>
                    <a:pt x="98721" y="2215583"/>
                  </a:lnTo>
                  <a:lnTo>
                    <a:pt x="131376" y="2248238"/>
                  </a:lnTo>
                  <a:lnTo>
                    <a:pt x="167683" y="2276875"/>
                  </a:lnTo>
                  <a:lnTo>
                    <a:pt x="207275" y="2301128"/>
                  </a:lnTo>
                  <a:lnTo>
                    <a:pt x="249785" y="2320629"/>
                  </a:lnTo>
                  <a:lnTo>
                    <a:pt x="294847" y="2335013"/>
                  </a:lnTo>
                  <a:lnTo>
                    <a:pt x="342094" y="2343912"/>
                  </a:lnTo>
                  <a:lnTo>
                    <a:pt x="391160" y="2346960"/>
                  </a:lnTo>
                  <a:lnTo>
                    <a:pt x="5086096" y="2346960"/>
                  </a:lnTo>
                  <a:lnTo>
                    <a:pt x="5135161" y="2343912"/>
                  </a:lnTo>
                  <a:lnTo>
                    <a:pt x="5182408" y="2335013"/>
                  </a:lnTo>
                  <a:lnTo>
                    <a:pt x="5227470" y="2320629"/>
                  </a:lnTo>
                  <a:lnTo>
                    <a:pt x="5269980" y="2301128"/>
                  </a:lnTo>
                  <a:lnTo>
                    <a:pt x="5309572" y="2276875"/>
                  </a:lnTo>
                  <a:lnTo>
                    <a:pt x="5345879" y="2248238"/>
                  </a:lnTo>
                  <a:lnTo>
                    <a:pt x="5378534" y="2215583"/>
                  </a:lnTo>
                  <a:lnTo>
                    <a:pt x="5407171" y="2179276"/>
                  </a:lnTo>
                  <a:lnTo>
                    <a:pt x="5431424" y="2139684"/>
                  </a:lnTo>
                  <a:lnTo>
                    <a:pt x="5450925" y="2097174"/>
                  </a:lnTo>
                  <a:lnTo>
                    <a:pt x="5465309" y="2052112"/>
                  </a:lnTo>
                  <a:lnTo>
                    <a:pt x="5474208" y="2004865"/>
                  </a:lnTo>
                  <a:lnTo>
                    <a:pt x="5477256" y="1955800"/>
                  </a:lnTo>
                  <a:lnTo>
                    <a:pt x="5477256" y="391160"/>
                  </a:lnTo>
                  <a:lnTo>
                    <a:pt x="5474208" y="342094"/>
                  </a:lnTo>
                  <a:lnTo>
                    <a:pt x="5465309" y="294847"/>
                  </a:lnTo>
                  <a:lnTo>
                    <a:pt x="5450925" y="249785"/>
                  </a:lnTo>
                  <a:lnTo>
                    <a:pt x="5431424" y="207275"/>
                  </a:lnTo>
                  <a:lnTo>
                    <a:pt x="5407171" y="167683"/>
                  </a:lnTo>
                  <a:lnTo>
                    <a:pt x="5378534" y="131376"/>
                  </a:lnTo>
                  <a:lnTo>
                    <a:pt x="5345879" y="98721"/>
                  </a:lnTo>
                  <a:lnTo>
                    <a:pt x="5309572" y="70084"/>
                  </a:lnTo>
                  <a:lnTo>
                    <a:pt x="5269980" y="45831"/>
                  </a:lnTo>
                  <a:lnTo>
                    <a:pt x="5227470" y="26330"/>
                  </a:lnTo>
                  <a:lnTo>
                    <a:pt x="5182408" y="11946"/>
                  </a:lnTo>
                  <a:lnTo>
                    <a:pt x="5135161" y="3047"/>
                  </a:lnTo>
                  <a:lnTo>
                    <a:pt x="5086096" y="0"/>
                  </a:lnTo>
                  <a:close/>
                </a:path>
              </a:pathLst>
            </a:custGeom>
            <a:solidFill>
              <a:srgbClr val="F7C9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6642354" y="1994154"/>
              <a:ext cx="5477510" cy="2346960"/>
            </a:xfrm>
            <a:custGeom>
              <a:avLst/>
              <a:gdLst/>
              <a:ahLst/>
              <a:cxnLst/>
              <a:rect l="l" t="t" r="r" b="b"/>
              <a:pathLst>
                <a:path w="5477509" h="2346960">
                  <a:moveTo>
                    <a:pt x="0" y="391160"/>
                  </a:moveTo>
                  <a:lnTo>
                    <a:pt x="3047" y="342094"/>
                  </a:lnTo>
                  <a:lnTo>
                    <a:pt x="11946" y="294847"/>
                  </a:lnTo>
                  <a:lnTo>
                    <a:pt x="26330" y="249785"/>
                  </a:lnTo>
                  <a:lnTo>
                    <a:pt x="45831" y="207275"/>
                  </a:lnTo>
                  <a:lnTo>
                    <a:pt x="70084" y="167683"/>
                  </a:lnTo>
                  <a:lnTo>
                    <a:pt x="98721" y="131376"/>
                  </a:lnTo>
                  <a:lnTo>
                    <a:pt x="131376" y="98721"/>
                  </a:lnTo>
                  <a:lnTo>
                    <a:pt x="167683" y="70084"/>
                  </a:lnTo>
                  <a:lnTo>
                    <a:pt x="207275" y="45831"/>
                  </a:lnTo>
                  <a:lnTo>
                    <a:pt x="249785" y="26330"/>
                  </a:lnTo>
                  <a:lnTo>
                    <a:pt x="294847" y="11946"/>
                  </a:lnTo>
                  <a:lnTo>
                    <a:pt x="342094" y="3047"/>
                  </a:lnTo>
                  <a:lnTo>
                    <a:pt x="391160" y="0"/>
                  </a:lnTo>
                  <a:lnTo>
                    <a:pt x="5086096" y="0"/>
                  </a:lnTo>
                  <a:lnTo>
                    <a:pt x="5135161" y="3047"/>
                  </a:lnTo>
                  <a:lnTo>
                    <a:pt x="5182408" y="11946"/>
                  </a:lnTo>
                  <a:lnTo>
                    <a:pt x="5227470" y="26330"/>
                  </a:lnTo>
                  <a:lnTo>
                    <a:pt x="5269980" y="45831"/>
                  </a:lnTo>
                  <a:lnTo>
                    <a:pt x="5309572" y="70084"/>
                  </a:lnTo>
                  <a:lnTo>
                    <a:pt x="5345879" y="98721"/>
                  </a:lnTo>
                  <a:lnTo>
                    <a:pt x="5378534" y="131376"/>
                  </a:lnTo>
                  <a:lnTo>
                    <a:pt x="5407171" y="167683"/>
                  </a:lnTo>
                  <a:lnTo>
                    <a:pt x="5431424" y="207275"/>
                  </a:lnTo>
                  <a:lnTo>
                    <a:pt x="5450925" y="249785"/>
                  </a:lnTo>
                  <a:lnTo>
                    <a:pt x="5465309" y="294847"/>
                  </a:lnTo>
                  <a:lnTo>
                    <a:pt x="5474208" y="342094"/>
                  </a:lnTo>
                  <a:lnTo>
                    <a:pt x="5477256" y="391160"/>
                  </a:lnTo>
                  <a:lnTo>
                    <a:pt x="5477256" y="1955800"/>
                  </a:lnTo>
                  <a:lnTo>
                    <a:pt x="5474208" y="2004865"/>
                  </a:lnTo>
                  <a:lnTo>
                    <a:pt x="5465309" y="2052112"/>
                  </a:lnTo>
                  <a:lnTo>
                    <a:pt x="5450925" y="2097174"/>
                  </a:lnTo>
                  <a:lnTo>
                    <a:pt x="5431424" y="2139684"/>
                  </a:lnTo>
                  <a:lnTo>
                    <a:pt x="5407171" y="2179276"/>
                  </a:lnTo>
                  <a:lnTo>
                    <a:pt x="5378534" y="2215583"/>
                  </a:lnTo>
                  <a:lnTo>
                    <a:pt x="5345879" y="2248238"/>
                  </a:lnTo>
                  <a:lnTo>
                    <a:pt x="5309572" y="2276875"/>
                  </a:lnTo>
                  <a:lnTo>
                    <a:pt x="5269980" y="2301128"/>
                  </a:lnTo>
                  <a:lnTo>
                    <a:pt x="5227470" y="2320629"/>
                  </a:lnTo>
                  <a:lnTo>
                    <a:pt x="5182408" y="2335013"/>
                  </a:lnTo>
                  <a:lnTo>
                    <a:pt x="5135161" y="2343912"/>
                  </a:lnTo>
                  <a:lnTo>
                    <a:pt x="5086096" y="2346960"/>
                  </a:lnTo>
                  <a:lnTo>
                    <a:pt x="391160" y="2346960"/>
                  </a:lnTo>
                  <a:lnTo>
                    <a:pt x="342094" y="2343912"/>
                  </a:lnTo>
                  <a:lnTo>
                    <a:pt x="294847" y="2335013"/>
                  </a:lnTo>
                  <a:lnTo>
                    <a:pt x="249785" y="2320629"/>
                  </a:lnTo>
                  <a:lnTo>
                    <a:pt x="207275" y="2301128"/>
                  </a:lnTo>
                  <a:lnTo>
                    <a:pt x="167683" y="2276875"/>
                  </a:lnTo>
                  <a:lnTo>
                    <a:pt x="131376" y="2248238"/>
                  </a:lnTo>
                  <a:lnTo>
                    <a:pt x="98721" y="2215583"/>
                  </a:lnTo>
                  <a:lnTo>
                    <a:pt x="70084" y="2179276"/>
                  </a:lnTo>
                  <a:lnTo>
                    <a:pt x="45831" y="2139684"/>
                  </a:lnTo>
                  <a:lnTo>
                    <a:pt x="26330" y="2097174"/>
                  </a:lnTo>
                  <a:lnTo>
                    <a:pt x="11946" y="2052112"/>
                  </a:lnTo>
                  <a:lnTo>
                    <a:pt x="3047" y="2004865"/>
                  </a:lnTo>
                  <a:lnTo>
                    <a:pt x="0" y="1955800"/>
                  </a:lnTo>
                  <a:lnTo>
                    <a:pt x="0" y="39116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10237089" y="2089149"/>
            <a:ext cx="14770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Calibri"/>
                <a:cs typeface="Calibri"/>
              </a:rPr>
              <a:t>Guest</a:t>
            </a:r>
            <a:r>
              <a:rPr dirty="0" sz="1600" spc="-3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Page</a:t>
            </a:r>
            <a:r>
              <a:rPr dirty="0" sz="1600" spc="-40" b="1">
                <a:latin typeface="Calibri"/>
                <a:cs typeface="Calibri"/>
              </a:rPr>
              <a:t> </a:t>
            </a:r>
            <a:r>
              <a:rPr dirty="0" sz="1600" spc="-10" b="1">
                <a:latin typeface="Calibri"/>
                <a:cs typeface="Calibri"/>
              </a:rPr>
              <a:t>Table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6859651" y="2307463"/>
          <a:ext cx="1818639" cy="1737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9105"/>
              </a:tblGrid>
              <a:tr h="822960">
                <a:tc>
                  <a:txBody>
                    <a:bodyPr/>
                    <a:lstStyle/>
                    <a:p>
                      <a:pPr marL="92075" marR="1771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Guest</a:t>
                      </a:r>
                      <a:r>
                        <a:rPr dirty="0" sz="1600" spc="-3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Physical </a:t>
                      </a:r>
                      <a:r>
                        <a:rPr dirty="0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Mem</a:t>
                      </a:r>
                      <a:r>
                        <a:rPr dirty="0" sz="1600" spc="41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(Fake</a:t>
                      </a:r>
                      <a:r>
                        <a:rPr dirty="0" sz="16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or </a:t>
                      </a:r>
                      <a:r>
                        <a:rPr dirty="0" sz="16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Imaginary)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3E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gpp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3E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8813545" y="2307463"/>
          <a:ext cx="1152525" cy="1554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3625"/>
              </a:tblGrid>
              <a:tr h="822960">
                <a:tc>
                  <a:txBody>
                    <a:bodyPr/>
                    <a:lstStyle/>
                    <a:p>
                      <a:pPr marL="92075" marR="18542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Guest Virtual Memory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3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gvp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5153025" y="3422650"/>
          <a:ext cx="1231900" cy="3138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/>
              </a:tblGrid>
              <a:tr h="5791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Physical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Memory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3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3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hpp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3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3EA"/>
                    </a:solidFill>
                  </a:tcPr>
                </a:tc>
              </a:tr>
            </a:tbl>
          </a:graphicData>
        </a:graphic>
      </p:graphicFrame>
      <p:sp>
        <p:nvSpPr>
          <p:cNvPr id="13" name="object 13"/>
          <p:cNvSpPr/>
          <p:nvPr/>
        </p:nvSpPr>
        <p:spPr>
          <a:xfrm>
            <a:off x="6302502" y="3182873"/>
            <a:ext cx="563880" cy="1327150"/>
          </a:xfrm>
          <a:custGeom>
            <a:avLst/>
            <a:gdLst/>
            <a:ahLst/>
            <a:cxnLst/>
            <a:rect l="l" t="t" r="r" b="b"/>
            <a:pathLst>
              <a:path w="563879" h="1327150">
                <a:moveTo>
                  <a:pt x="0" y="1326895"/>
                </a:moveTo>
                <a:lnTo>
                  <a:pt x="563752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9948926" y="2398648"/>
          <a:ext cx="1993900" cy="1790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8694"/>
                <a:gridCol w="916305"/>
              </a:tblGrid>
              <a:tr h="8229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Guest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Ph </a:t>
                      </a:r>
                      <a:r>
                        <a:rPr dirty="0" sz="160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page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92075" marR="18478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Guest Virtual </a:t>
                      </a:r>
                      <a:r>
                        <a:rPr dirty="0" sz="160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page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30924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gpp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3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gvp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3E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</a:tr>
              <a:tr h="3530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3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3EA"/>
                    </a:solidFill>
                  </a:tcPr>
                </a:tc>
              </a:tr>
            </a:tbl>
          </a:graphicData>
        </a:graphic>
      </p:graphicFrame>
      <p:sp>
        <p:nvSpPr>
          <p:cNvPr id="14" name="object 14"/>
          <p:cNvSpPr/>
          <p:nvPr/>
        </p:nvSpPr>
        <p:spPr>
          <a:xfrm>
            <a:off x="6302502" y="3804665"/>
            <a:ext cx="1157605" cy="1894839"/>
          </a:xfrm>
          <a:custGeom>
            <a:avLst/>
            <a:gdLst/>
            <a:ahLst/>
            <a:cxnLst/>
            <a:rect l="l" t="t" r="r" b="b"/>
            <a:pathLst>
              <a:path w="1157604" h="1894839">
                <a:moveTo>
                  <a:pt x="0" y="1894319"/>
                </a:moveTo>
                <a:lnTo>
                  <a:pt x="1157224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019668" y="4362704"/>
            <a:ext cx="22694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alibri"/>
                <a:cs typeface="Calibri"/>
              </a:rPr>
              <a:t>VMM/Host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Page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Tables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7561198" y="4703953"/>
          <a:ext cx="2794000" cy="1935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2550"/>
                <a:gridCol w="1352550"/>
              </a:tblGrid>
              <a:tr h="822960">
                <a:tc>
                  <a:txBody>
                    <a:bodyPr/>
                    <a:lstStyle/>
                    <a:p>
                      <a:pPr marL="92075" marR="4343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Guest </a:t>
                      </a:r>
                      <a:r>
                        <a:rPr dirty="0" sz="160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Physical page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301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Actual/Host Physical </a:t>
                      </a:r>
                      <a:r>
                        <a:rPr dirty="0" sz="160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page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3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3EA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3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3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Trap</a:t>
            </a:r>
            <a:r>
              <a:rPr dirty="0" spc="-5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and</a:t>
            </a:r>
            <a:r>
              <a:rPr dirty="0" spc="-5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Emulate</a:t>
            </a:r>
            <a:r>
              <a:rPr dirty="0" spc="-4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Exercise</a:t>
            </a:r>
            <a:r>
              <a:rPr dirty="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12216" y="1382458"/>
            <a:ext cx="5006975" cy="685165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  <a:tabLst>
                <a:tab pos="527685" algn="l"/>
              </a:tabLst>
            </a:pPr>
            <a:r>
              <a:rPr dirty="0" sz="1800" spc="-25">
                <a:latin typeface="Calibri"/>
                <a:cs typeface="Calibri"/>
              </a:rPr>
              <a:t>1.</a:t>
            </a:r>
            <a:r>
              <a:rPr dirty="0" sz="1800">
                <a:latin typeface="Calibri"/>
                <a:cs typeface="Calibri"/>
              </a:rPr>
              <a:t>	Guest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OS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tries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modify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page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tables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so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gvp</a:t>
            </a:r>
            <a:endParaRPr sz="1800">
              <a:latin typeface="Calibri"/>
              <a:cs typeface="Calibri"/>
            </a:endParaRPr>
          </a:p>
          <a:p>
            <a:pPr marL="527685">
              <a:lnSpc>
                <a:spcPct val="100000"/>
              </a:lnSpc>
              <a:spcBef>
                <a:spcPts val="434"/>
              </a:spcBef>
            </a:pPr>
            <a:r>
              <a:rPr dirty="0" sz="1800">
                <a:latin typeface="Calibri"/>
                <a:cs typeface="Calibri"/>
              </a:rPr>
              <a:t>points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gpp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938643" y="1633473"/>
            <a:ext cx="25317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Arial"/>
                <a:cs typeface="Arial"/>
              </a:rPr>
              <a:t>VM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–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Running</a:t>
            </a:r>
            <a:r>
              <a:rPr dirty="0" sz="1600" spc="-1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a</a:t>
            </a:r>
            <a:r>
              <a:rPr dirty="0" sz="1600" spc="-2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Guest</a:t>
            </a:r>
            <a:r>
              <a:rPr dirty="0" sz="1600" spc="-10" b="1">
                <a:latin typeface="Arial"/>
                <a:cs typeface="Arial"/>
              </a:rPr>
              <a:t> </a:t>
            </a:r>
            <a:r>
              <a:rPr dirty="0" sz="1600" spc="-25" b="1">
                <a:latin typeface="Arial"/>
                <a:cs typeface="Arial"/>
              </a:rPr>
              <a:t>OS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2216" y="2169668"/>
            <a:ext cx="3430904" cy="683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27685" marR="5080" indent="-515620">
              <a:lnSpc>
                <a:spcPct val="120000"/>
              </a:lnSpc>
              <a:spcBef>
                <a:spcPts val="100"/>
              </a:spcBef>
              <a:tabLst>
                <a:tab pos="527685" algn="l"/>
              </a:tabLst>
            </a:pPr>
            <a:r>
              <a:rPr dirty="0" sz="1800" spc="-25">
                <a:latin typeface="Calibri"/>
                <a:cs typeface="Calibri"/>
              </a:rPr>
              <a:t>2.</a:t>
            </a:r>
            <a:r>
              <a:rPr dirty="0" sz="1800">
                <a:latin typeface="Calibri"/>
                <a:cs typeface="Calibri"/>
              </a:rPr>
              <a:t>	Hypervisor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traps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this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privileged instruction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2216" y="2953956"/>
            <a:ext cx="4866640" cy="685165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  <a:tabLst>
                <a:tab pos="527685" algn="l"/>
              </a:tabLst>
            </a:pPr>
            <a:r>
              <a:rPr dirty="0" sz="1800" spc="-25">
                <a:latin typeface="Calibri"/>
                <a:cs typeface="Calibri"/>
              </a:rPr>
              <a:t>3.</a:t>
            </a:r>
            <a:r>
              <a:rPr dirty="0" sz="1800">
                <a:latin typeface="Calibri"/>
                <a:cs typeface="Calibri"/>
              </a:rPr>
              <a:t>	Hypervisor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maps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(if not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already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done)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gpp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50"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  <a:p>
            <a:pPr marL="527685">
              <a:lnSpc>
                <a:spcPct val="100000"/>
              </a:lnSpc>
              <a:spcBef>
                <a:spcPts val="434"/>
              </a:spcBef>
            </a:pPr>
            <a:r>
              <a:rPr dirty="0" sz="1800">
                <a:latin typeface="Calibri"/>
                <a:cs typeface="Calibri"/>
              </a:rPr>
              <a:t>host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physical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page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hpp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2216" y="3739641"/>
            <a:ext cx="4769485" cy="1013460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  <a:tabLst>
                <a:tab pos="527685" algn="l"/>
              </a:tabLst>
            </a:pPr>
            <a:r>
              <a:rPr dirty="0" sz="1800" spc="-25">
                <a:latin typeface="Calibri"/>
                <a:cs typeface="Calibri"/>
              </a:rPr>
              <a:t>4.</a:t>
            </a:r>
            <a:r>
              <a:rPr dirty="0" sz="1800">
                <a:latin typeface="Calibri"/>
                <a:cs typeface="Calibri"/>
              </a:rPr>
              <a:t>	Loads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Guest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page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table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get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gvp</a:t>
            </a:r>
            <a:endParaRPr sz="1800">
              <a:latin typeface="Calibri"/>
              <a:cs typeface="Calibri"/>
            </a:endParaRPr>
          </a:p>
          <a:p>
            <a:pPr marL="527685">
              <a:lnSpc>
                <a:spcPct val="100000"/>
              </a:lnSpc>
              <a:spcBef>
                <a:spcPts val="430"/>
              </a:spcBef>
            </a:pP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point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hpp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by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copying it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from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VMM/Host</a:t>
            </a:r>
            <a:endParaRPr sz="1800">
              <a:latin typeface="Calibri"/>
              <a:cs typeface="Calibri"/>
            </a:endParaRPr>
          </a:p>
          <a:p>
            <a:pPr marL="527685">
              <a:lnSpc>
                <a:spcPct val="100000"/>
              </a:lnSpc>
              <a:spcBef>
                <a:spcPts val="434"/>
              </a:spcBef>
            </a:pPr>
            <a:r>
              <a:rPr dirty="0" sz="1800">
                <a:latin typeface="Calibri"/>
                <a:cs typeface="Calibri"/>
              </a:rPr>
              <a:t>page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table.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(to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enhance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usability)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623304" y="1975104"/>
            <a:ext cx="5515610" cy="2385060"/>
            <a:chOff x="6623304" y="1975104"/>
            <a:chExt cx="5515610" cy="2385060"/>
          </a:xfrm>
        </p:grpSpPr>
        <p:sp>
          <p:nvSpPr>
            <p:cNvPr id="10" name="object 10"/>
            <p:cNvSpPr/>
            <p:nvPr/>
          </p:nvSpPr>
          <p:spPr>
            <a:xfrm>
              <a:off x="6642354" y="1994154"/>
              <a:ext cx="5477510" cy="2346960"/>
            </a:xfrm>
            <a:custGeom>
              <a:avLst/>
              <a:gdLst/>
              <a:ahLst/>
              <a:cxnLst/>
              <a:rect l="l" t="t" r="r" b="b"/>
              <a:pathLst>
                <a:path w="5477509" h="2346960">
                  <a:moveTo>
                    <a:pt x="5086096" y="0"/>
                  </a:moveTo>
                  <a:lnTo>
                    <a:pt x="391160" y="0"/>
                  </a:lnTo>
                  <a:lnTo>
                    <a:pt x="342094" y="3047"/>
                  </a:lnTo>
                  <a:lnTo>
                    <a:pt x="294847" y="11946"/>
                  </a:lnTo>
                  <a:lnTo>
                    <a:pt x="249785" y="26330"/>
                  </a:lnTo>
                  <a:lnTo>
                    <a:pt x="207275" y="45831"/>
                  </a:lnTo>
                  <a:lnTo>
                    <a:pt x="167683" y="70084"/>
                  </a:lnTo>
                  <a:lnTo>
                    <a:pt x="131376" y="98721"/>
                  </a:lnTo>
                  <a:lnTo>
                    <a:pt x="98721" y="131376"/>
                  </a:lnTo>
                  <a:lnTo>
                    <a:pt x="70084" y="167683"/>
                  </a:lnTo>
                  <a:lnTo>
                    <a:pt x="45831" y="207275"/>
                  </a:lnTo>
                  <a:lnTo>
                    <a:pt x="26330" y="249785"/>
                  </a:lnTo>
                  <a:lnTo>
                    <a:pt x="11946" y="294847"/>
                  </a:lnTo>
                  <a:lnTo>
                    <a:pt x="3047" y="342094"/>
                  </a:lnTo>
                  <a:lnTo>
                    <a:pt x="0" y="391160"/>
                  </a:lnTo>
                  <a:lnTo>
                    <a:pt x="0" y="1955800"/>
                  </a:lnTo>
                  <a:lnTo>
                    <a:pt x="3047" y="2004865"/>
                  </a:lnTo>
                  <a:lnTo>
                    <a:pt x="11946" y="2052112"/>
                  </a:lnTo>
                  <a:lnTo>
                    <a:pt x="26330" y="2097174"/>
                  </a:lnTo>
                  <a:lnTo>
                    <a:pt x="45831" y="2139684"/>
                  </a:lnTo>
                  <a:lnTo>
                    <a:pt x="70084" y="2179276"/>
                  </a:lnTo>
                  <a:lnTo>
                    <a:pt x="98721" y="2215583"/>
                  </a:lnTo>
                  <a:lnTo>
                    <a:pt x="131376" y="2248238"/>
                  </a:lnTo>
                  <a:lnTo>
                    <a:pt x="167683" y="2276875"/>
                  </a:lnTo>
                  <a:lnTo>
                    <a:pt x="207275" y="2301128"/>
                  </a:lnTo>
                  <a:lnTo>
                    <a:pt x="249785" y="2320629"/>
                  </a:lnTo>
                  <a:lnTo>
                    <a:pt x="294847" y="2335013"/>
                  </a:lnTo>
                  <a:lnTo>
                    <a:pt x="342094" y="2343912"/>
                  </a:lnTo>
                  <a:lnTo>
                    <a:pt x="391160" y="2346960"/>
                  </a:lnTo>
                  <a:lnTo>
                    <a:pt x="5086096" y="2346960"/>
                  </a:lnTo>
                  <a:lnTo>
                    <a:pt x="5135161" y="2343912"/>
                  </a:lnTo>
                  <a:lnTo>
                    <a:pt x="5182408" y="2335013"/>
                  </a:lnTo>
                  <a:lnTo>
                    <a:pt x="5227470" y="2320629"/>
                  </a:lnTo>
                  <a:lnTo>
                    <a:pt x="5269980" y="2301128"/>
                  </a:lnTo>
                  <a:lnTo>
                    <a:pt x="5309572" y="2276875"/>
                  </a:lnTo>
                  <a:lnTo>
                    <a:pt x="5345879" y="2248238"/>
                  </a:lnTo>
                  <a:lnTo>
                    <a:pt x="5378534" y="2215583"/>
                  </a:lnTo>
                  <a:lnTo>
                    <a:pt x="5407171" y="2179276"/>
                  </a:lnTo>
                  <a:lnTo>
                    <a:pt x="5431424" y="2139684"/>
                  </a:lnTo>
                  <a:lnTo>
                    <a:pt x="5450925" y="2097174"/>
                  </a:lnTo>
                  <a:lnTo>
                    <a:pt x="5465309" y="2052112"/>
                  </a:lnTo>
                  <a:lnTo>
                    <a:pt x="5474208" y="2004865"/>
                  </a:lnTo>
                  <a:lnTo>
                    <a:pt x="5477256" y="1955800"/>
                  </a:lnTo>
                  <a:lnTo>
                    <a:pt x="5477256" y="391160"/>
                  </a:lnTo>
                  <a:lnTo>
                    <a:pt x="5474208" y="342094"/>
                  </a:lnTo>
                  <a:lnTo>
                    <a:pt x="5465309" y="294847"/>
                  </a:lnTo>
                  <a:lnTo>
                    <a:pt x="5450925" y="249785"/>
                  </a:lnTo>
                  <a:lnTo>
                    <a:pt x="5431424" y="207275"/>
                  </a:lnTo>
                  <a:lnTo>
                    <a:pt x="5407171" y="167683"/>
                  </a:lnTo>
                  <a:lnTo>
                    <a:pt x="5378534" y="131376"/>
                  </a:lnTo>
                  <a:lnTo>
                    <a:pt x="5345879" y="98721"/>
                  </a:lnTo>
                  <a:lnTo>
                    <a:pt x="5309572" y="70084"/>
                  </a:lnTo>
                  <a:lnTo>
                    <a:pt x="5269980" y="45831"/>
                  </a:lnTo>
                  <a:lnTo>
                    <a:pt x="5227470" y="26330"/>
                  </a:lnTo>
                  <a:lnTo>
                    <a:pt x="5182408" y="11946"/>
                  </a:lnTo>
                  <a:lnTo>
                    <a:pt x="5135161" y="3047"/>
                  </a:lnTo>
                  <a:lnTo>
                    <a:pt x="5086096" y="0"/>
                  </a:lnTo>
                  <a:close/>
                </a:path>
              </a:pathLst>
            </a:custGeom>
            <a:solidFill>
              <a:srgbClr val="F7C9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642354" y="1994154"/>
              <a:ext cx="5477510" cy="2346960"/>
            </a:xfrm>
            <a:custGeom>
              <a:avLst/>
              <a:gdLst/>
              <a:ahLst/>
              <a:cxnLst/>
              <a:rect l="l" t="t" r="r" b="b"/>
              <a:pathLst>
                <a:path w="5477509" h="2346960">
                  <a:moveTo>
                    <a:pt x="0" y="391160"/>
                  </a:moveTo>
                  <a:lnTo>
                    <a:pt x="3047" y="342094"/>
                  </a:lnTo>
                  <a:lnTo>
                    <a:pt x="11946" y="294847"/>
                  </a:lnTo>
                  <a:lnTo>
                    <a:pt x="26330" y="249785"/>
                  </a:lnTo>
                  <a:lnTo>
                    <a:pt x="45831" y="207275"/>
                  </a:lnTo>
                  <a:lnTo>
                    <a:pt x="70084" y="167683"/>
                  </a:lnTo>
                  <a:lnTo>
                    <a:pt x="98721" y="131376"/>
                  </a:lnTo>
                  <a:lnTo>
                    <a:pt x="131376" y="98721"/>
                  </a:lnTo>
                  <a:lnTo>
                    <a:pt x="167683" y="70084"/>
                  </a:lnTo>
                  <a:lnTo>
                    <a:pt x="207275" y="45831"/>
                  </a:lnTo>
                  <a:lnTo>
                    <a:pt x="249785" y="26330"/>
                  </a:lnTo>
                  <a:lnTo>
                    <a:pt x="294847" y="11946"/>
                  </a:lnTo>
                  <a:lnTo>
                    <a:pt x="342094" y="3047"/>
                  </a:lnTo>
                  <a:lnTo>
                    <a:pt x="391160" y="0"/>
                  </a:lnTo>
                  <a:lnTo>
                    <a:pt x="5086096" y="0"/>
                  </a:lnTo>
                  <a:lnTo>
                    <a:pt x="5135161" y="3047"/>
                  </a:lnTo>
                  <a:lnTo>
                    <a:pt x="5182408" y="11946"/>
                  </a:lnTo>
                  <a:lnTo>
                    <a:pt x="5227470" y="26330"/>
                  </a:lnTo>
                  <a:lnTo>
                    <a:pt x="5269980" y="45831"/>
                  </a:lnTo>
                  <a:lnTo>
                    <a:pt x="5309572" y="70084"/>
                  </a:lnTo>
                  <a:lnTo>
                    <a:pt x="5345879" y="98721"/>
                  </a:lnTo>
                  <a:lnTo>
                    <a:pt x="5378534" y="131376"/>
                  </a:lnTo>
                  <a:lnTo>
                    <a:pt x="5407171" y="167683"/>
                  </a:lnTo>
                  <a:lnTo>
                    <a:pt x="5431424" y="207275"/>
                  </a:lnTo>
                  <a:lnTo>
                    <a:pt x="5450925" y="249785"/>
                  </a:lnTo>
                  <a:lnTo>
                    <a:pt x="5465309" y="294847"/>
                  </a:lnTo>
                  <a:lnTo>
                    <a:pt x="5474208" y="342094"/>
                  </a:lnTo>
                  <a:lnTo>
                    <a:pt x="5477256" y="391160"/>
                  </a:lnTo>
                  <a:lnTo>
                    <a:pt x="5477256" y="1955800"/>
                  </a:lnTo>
                  <a:lnTo>
                    <a:pt x="5474208" y="2004865"/>
                  </a:lnTo>
                  <a:lnTo>
                    <a:pt x="5465309" y="2052112"/>
                  </a:lnTo>
                  <a:lnTo>
                    <a:pt x="5450925" y="2097174"/>
                  </a:lnTo>
                  <a:lnTo>
                    <a:pt x="5431424" y="2139684"/>
                  </a:lnTo>
                  <a:lnTo>
                    <a:pt x="5407171" y="2179276"/>
                  </a:lnTo>
                  <a:lnTo>
                    <a:pt x="5378534" y="2215583"/>
                  </a:lnTo>
                  <a:lnTo>
                    <a:pt x="5345879" y="2248238"/>
                  </a:lnTo>
                  <a:lnTo>
                    <a:pt x="5309572" y="2276875"/>
                  </a:lnTo>
                  <a:lnTo>
                    <a:pt x="5269980" y="2301128"/>
                  </a:lnTo>
                  <a:lnTo>
                    <a:pt x="5227470" y="2320629"/>
                  </a:lnTo>
                  <a:lnTo>
                    <a:pt x="5182408" y="2335013"/>
                  </a:lnTo>
                  <a:lnTo>
                    <a:pt x="5135161" y="2343912"/>
                  </a:lnTo>
                  <a:lnTo>
                    <a:pt x="5086096" y="2346960"/>
                  </a:lnTo>
                  <a:lnTo>
                    <a:pt x="391160" y="2346960"/>
                  </a:lnTo>
                  <a:lnTo>
                    <a:pt x="342094" y="2343912"/>
                  </a:lnTo>
                  <a:lnTo>
                    <a:pt x="294847" y="2335013"/>
                  </a:lnTo>
                  <a:lnTo>
                    <a:pt x="249785" y="2320629"/>
                  </a:lnTo>
                  <a:lnTo>
                    <a:pt x="207275" y="2301128"/>
                  </a:lnTo>
                  <a:lnTo>
                    <a:pt x="167683" y="2276875"/>
                  </a:lnTo>
                  <a:lnTo>
                    <a:pt x="131376" y="2248238"/>
                  </a:lnTo>
                  <a:lnTo>
                    <a:pt x="98721" y="2215583"/>
                  </a:lnTo>
                  <a:lnTo>
                    <a:pt x="70084" y="2179276"/>
                  </a:lnTo>
                  <a:lnTo>
                    <a:pt x="45831" y="2139684"/>
                  </a:lnTo>
                  <a:lnTo>
                    <a:pt x="26330" y="2097174"/>
                  </a:lnTo>
                  <a:lnTo>
                    <a:pt x="11946" y="2052112"/>
                  </a:lnTo>
                  <a:lnTo>
                    <a:pt x="3047" y="2004865"/>
                  </a:lnTo>
                  <a:lnTo>
                    <a:pt x="0" y="1955800"/>
                  </a:lnTo>
                  <a:lnTo>
                    <a:pt x="0" y="39116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5415026" y="1852548"/>
          <a:ext cx="1231900" cy="3138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/>
              </a:tblGrid>
              <a:tr h="579120">
                <a:tc>
                  <a:txBody>
                    <a:bodyPr/>
                    <a:lstStyle/>
                    <a:p>
                      <a:pPr marL="92075" marR="22479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60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Physical </a:t>
                      </a:r>
                      <a:r>
                        <a:rPr dirty="0" sz="16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Memory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3EA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3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hpp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3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3EA"/>
                    </a:solidFill>
                  </a:tcPr>
                </a:tc>
              </a:tr>
            </a:tbl>
          </a:graphicData>
        </a:graphic>
      </p:graphicFrame>
      <p:sp>
        <p:nvSpPr>
          <p:cNvPr id="22" name="object 22"/>
          <p:cNvSpPr txBox="1"/>
          <p:nvPr/>
        </p:nvSpPr>
        <p:spPr>
          <a:xfrm>
            <a:off x="10237089" y="2089149"/>
            <a:ext cx="14770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Calibri"/>
                <a:cs typeface="Calibri"/>
              </a:rPr>
              <a:t>Guest</a:t>
            </a:r>
            <a:r>
              <a:rPr dirty="0" sz="1600" spc="-3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Page</a:t>
            </a:r>
            <a:r>
              <a:rPr dirty="0" sz="1600" spc="-40" b="1">
                <a:latin typeface="Calibri"/>
                <a:cs typeface="Calibri"/>
              </a:rPr>
              <a:t> </a:t>
            </a:r>
            <a:r>
              <a:rPr dirty="0" sz="1600" spc="-10" b="1">
                <a:latin typeface="Calibri"/>
                <a:cs typeface="Calibri"/>
              </a:rPr>
              <a:t>Table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6859651" y="2307463"/>
          <a:ext cx="1818639" cy="1737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9105"/>
              </a:tblGrid>
              <a:tr h="822960">
                <a:tc>
                  <a:txBody>
                    <a:bodyPr/>
                    <a:lstStyle/>
                    <a:p>
                      <a:pPr marL="92075" marR="1771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Guest</a:t>
                      </a:r>
                      <a:r>
                        <a:rPr dirty="0" sz="1600" spc="-3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Physical </a:t>
                      </a:r>
                      <a:r>
                        <a:rPr dirty="0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Mem</a:t>
                      </a:r>
                      <a:r>
                        <a:rPr dirty="0" sz="1600" spc="41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(Fake</a:t>
                      </a:r>
                      <a:r>
                        <a:rPr dirty="0" sz="16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or </a:t>
                      </a:r>
                      <a:r>
                        <a:rPr dirty="0" sz="16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Imaginary)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3E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gpp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3EA"/>
                    </a:solidFill>
                  </a:tcPr>
                </a:tc>
              </a:tr>
            </a:tbl>
          </a:graphicData>
        </a:graphic>
      </p:graphicFrame>
      <p:sp>
        <p:nvSpPr>
          <p:cNvPr id="15" name="object 15"/>
          <p:cNvSpPr/>
          <p:nvPr/>
        </p:nvSpPr>
        <p:spPr>
          <a:xfrm>
            <a:off x="6502146" y="2926842"/>
            <a:ext cx="363855" cy="257175"/>
          </a:xfrm>
          <a:custGeom>
            <a:avLst/>
            <a:gdLst/>
            <a:ahLst/>
            <a:cxnLst/>
            <a:rect l="l" t="t" r="r" b="b"/>
            <a:pathLst>
              <a:path w="363854" h="257175">
                <a:moveTo>
                  <a:pt x="0" y="0"/>
                </a:moveTo>
                <a:lnTo>
                  <a:pt x="363854" y="257048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8813545" y="2307463"/>
          <a:ext cx="1152525" cy="1554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3625"/>
              </a:tblGrid>
              <a:tr h="822960">
                <a:tc>
                  <a:txBody>
                    <a:bodyPr/>
                    <a:lstStyle/>
                    <a:p>
                      <a:pPr marL="92075" marR="18542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Guest Virtual Memory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3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gvp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10047731" y="2465855"/>
            <a:ext cx="1124585" cy="7143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764"/>
              </a:lnSpc>
            </a:pP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Guest</a:t>
            </a:r>
            <a:endParaRPr sz="1600">
              <a:latin typeface="Arial"/>
              <a:cs typeface="Arial"/>
            </a:endParaRPr>
          </a:p>
          <a:p>
            <a:pPr algn="r">
              <a:lnSpc>
                <a:spcPct val="100000"/>
              </a:lnSpc>
              <a:tabLst>
                <a:tab pos="988694" algn="l"/>
              </a:tabLst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Ph </a:t>
            </a: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page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600" spc="-50" b="1">
                <a:solidFill>
                  <a:srgbClr val="FFFFFF"/>
                </a:solidFill>
                <a:latin typeface="Arial"/>
                <a:cs typeface="Arial"/>
              </a:rPr>
              <a:t>V</a:t>
            </a:r>
            <a:endParaRPr sz="1600">
              <a:latin typeface="Arial"/>
              <a:cs typeface="Arial"/>
            </a:endParaRPr>
          </a:p>
          <a:p>
            <a:pPr algn="r" marR="3810">
              <a:lnSpc>
                <a:spcPct val="100000"/>
              </a:lnSpc>
            </a:pPr>
            <a:r>
              <a:rPr dirty="0" sz="1600" spc="-50" b="1">
                <a:solidFill>
                  <a:srgbClr val="FFFFFF"/>
                </a:solidFill>
                <a:latin typeface="Arial"/>
                <a:cs typeface="Arial"/>
              </a:rPr>
              <a:t>p</a:t>
            </a:r>
            <a:endParaRPr sz="1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036554" y="2465855"/>
            <a:ext cx="631825" cy="7143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764"/>
              </a:lnSpc>
            </a:pP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Guest</a:t>
            </a:r>
            <a:endParaRPr sz="1600">
              <a:latin typeface="Arial"/>
              <a:cs typeface="Arial"/>
            </a:endParaRPr>
          </a:p>
          <a:p>
            <a:pPr marL="135255">
              <a:lnSpc>
                <a:spcPct val="100000"/>
              </a:lnSpc>
            </a:pP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irtual</a:t>
            </a:r>
            <a:endParaRPr sz="1600">
              <a:latin typeface="Arial"/>
              <a:cs typeface="Arial"/>
            </a:endParaRPr>
          </a:p>
          <a:p>
            <a:pPr marL="123825">
              <a:lnSpc>
                <a:spcPct val="100000"/>
              </a:lnSpc>
            </a:pP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age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047731" y="3285235"/>
            <a:ext cx="1088390" cy="1993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50"/>
              </a:lnSpc>
              <a:tabLst>
                <a:tab pos="988694" algn="l"/>
              </a:tabLst>
            </a:pPr>
            <a:r>
              <a:rPr dirty="0" sz="1400" spc="-25">
                <a:latin typeface="Arial"/>
                <a:cs typeface="Arial"/>
              </a:rPr>
              <a:t>gpp</a:t>
            </a:r>
            <a:r>
              <a:rPr dirty="0" sz="1400">
                <a:latin typeface="Arial"/>
                <a:cs typeface="Arial"/>
              </a:rPr>
              <a:t>	</a:t>
            </a:r>
            <a:r>
              <a:rPr dirty="0" sz="1400" spc="-50">
                <a:latin typeface="Arial"/>
                <a:cs typeface="Arial"/>
              </a:rPr>
              <a:t>g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135720" y="3285235"/>
            <a:ext cx="186055" cy="1993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50"/>
              </a:lnSpc>
            </a:pPr>
            <a:r>
              <a:rPr dirty="0" sz="1400" spc="-30">
                <a:latin typeface="Arial"/>
                <a:cs typeface="Arial"/>
              </a:rPr>
              <a:t>vp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422897" y="3957065"/>
            <a:ext cx="444500" cy="158750"/>
          </a:xfrm>
          <a:custGeom>
            <a:avLst/>
            <a:gdLst/>
            <a:ahLst/>
            <a:cxnLst/>
            <a:rect l="l" t="t" r="r" b="b"/>
            <a:pathLst>
              <a:path w="444500" h="158750">
                <a:moveTo>
                  <a:pt x="0" y="158495"/>
                </a:moveTo>
                <a:lnTo>
                  <a:pt x="44450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9948926" y="2372105"/>
          <a:ext cx="2122170" cy="18408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9350"/>
                <a:gridCol w="883919"/>
              </a:tblGrid>
              <a:tr h="848994">
                <a:tc>
                  <a:txBody>
                    <a:bodyPr/>
                    <a:lstStyle/>
                    <a:p>
                      <a:pPr marL="92075" marR="2292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Actual Physical </a:t>
                      </a:r>
                      <a:r>
                        <a:rPr dirty="0" sz="160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Page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A8D08B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92075" marR="1524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Guest Virtual </a:t>
                      </a:r>
                      <a:r>
                        <a:rPr dirty="0" sz="160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page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A8D08B"/>
                    </a:solidFill>
                  </a:tcPr>
                </a:tc>
              </a:tr>
              <a:tr h="768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8D08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8D08B"/>
                    </a:solidFill>
                  </a:tcPr>
                </a:tc>
              </a:tr>
              <a:tr h="231775">
                <a:tc>
                  <a:txBody>
                    <a:bodyPr/>
                    <a:lstStyle/>
                    <a:p>
                      <a:pPr marL="92075">
                        <a:lnSpc>
                          <a:spcPts val="1405"/>
                        </a:lnSpc>
                        <a:spcBef>
                          <a:spcPts val="320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hpp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CDD3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405"/>
                        </a:lnSpc>
                        <a:spcBef>
                          <a:spcPts val="320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gvp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CDD3EA"/>
                    </a:solidFill>
                  </a:tcPr>
                </a:tc>
              </a:tr>
              <a:tr h="72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3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3EA"/>
                    </a:solidFill>
                  </a:tcPr>
                </a:tc>
              </a:tr>
              <a:tr h="2317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E8EBF5"/>
                    </a:solidFill>
                  </a:tcPr>
                </a:tc>
              </a:tr>
              <a:tr h="72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</a:tr>
              <a:tr h="3067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3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3EA"/>
                    </a:solidFill>
                  </a:tcPr>
                </a:tc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8019668" y="4362704"/>
            <a:ext cx="22694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alibri"/>
                <a:cs typeface="Calibri"/>
              </a:rPr>
              <a:t>VMM/Host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Page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Tables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2216" y="4855590"/>
            <a:ext cx="4227830" cy="1139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27685" marR="5080" indent="-515620">
              <a:lnSpc>
                <a:spcPct val="120000"/>
              </a:lnSpc>
              <a:spcBef>
                <a:spcPts val="100"/>
              </a:spcBef>
              <a:buAutoNum type="arabicPeriod" startAt="5"/>
              <a:tabLst>
                <a:tab pos="527685" algn="l"/>
              </a:tabLst>
            </a:pPr>
            <a:r>
              <a:rPr dirty="0" sz="1800">
                <a:latin typeface="Calibri"/>
                <a:cs typeface="Calibri"/>
              </a:rPr>
              <a:t>Other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page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table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operations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(e.g.,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read) </a:t>
            </a:r>
            <a:r>
              <a:rPr dirty="0" sz="1800">
                <a:latin typeface="Calibri"/>
                <a:cs typeface="Calibri"/>
              </a:rPr>
              <a:t>have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trapped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</a:t>
            </a:r>
            <a:r>
              <a:rPr dirty="0" sz="1800" spc="-20">
                <a:latin typeface="Calibri"/>
                <a:cs typeface="Calibri"/>
              </a:rPr>
              <a:t> well</a:t>
            </a:r>
            <a:endParaRPr sz="180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spcBef>
                <a:spcPts val="1425"/>
              </a:spcBef>
              <a:buAutoNum type="arabicPeriod" startAt="5"/>
              <a:tabLst>
                <a:tab pos="527685" algn="l"/>
              </a:tabLst>
            </a:pPr>
            <a:r>
              <a:rPr dirty="0" sz="1800">
                <a:latin typeface="Calibri"/>
                <a:cs typeface="Calibri"/>
              </a:rPr>
              <a:t>We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have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skipped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TLB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manipulation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6" name="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53154" y="4666825"/>
            <a:ext cx="2209967" cy="1561423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133604" y="6537147"/>
            <a:ext cx="773620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 i="1">
                <a:latin typeface="Arial"/>
                <a:cs typeface="Arial"/>
              </a:rPr>
              <a:t>As</a:t>
            </a:r>
            <a:r>
              <a:rPr dirty="0" sz="1400" spc="-15" b="1" i="1">
                <a:latin typeface="Arial"/>
                <a:cs typeface="Arial"/>
              </a:rPr>
              <a:t> </a:t>
            </a:r>
            <a:r>
              <a:rPr dirty="0" sz="1400" b="1" i="1">
                <a:latin typeface="Arial"/>
                <a:cs typeface="Arial"/>
              </a:rPr>
              <a:t>an</a:t>
            </a:r>
            <a:r>
              <a:rPr dirty="0" sz="1400" spc="-15" b="1" i="1">
                <a:latin typeface="Arial"/>
                <a:cs typeface="Arial"/>
              </a:rPr>
              <a:t> </a:t>
            </a:r>
            <a:r>
              <a:rPr dirty="0" sz="1400" b="1" i="1">
                <a:latin typeface="Arial"/>
                <a:cs typeface="Arial"/>
              </a:rPr>
              <a:t>implementation</a:t>
            </a:r>
            <a:r>
              <a:rPr dirty="0" sz="1400" spc="-50" b="1" i="1">
                <a:latin typeface="Arial"/>
                <a:cs typeface="Arial"/>
              </a:rPr>
              <a:t> </a:t>
            </a:r>
            <a:r>
              <a:rPr dirty="0" sz="1400" b="1" i="1">
                <a:latin typeface="Arial"/>
                <a:cs typeface="Arial"/>
              </a:rPr>
              <a:t>the</a:t>
            </a:r>
            <a:r>
              <a:rPr dirty="0" sz="1400" spc="-20" b="1" i="1">
                <a:latin typeface="Arial"/>
                <a:cs typeface="Arial"/>
              </a:rPr>
              <a:t> </a:t>
            </a:r>
            <a:r>
              <a:rPr dirty="0" sz="1400" b="1" i="1">
                <a:latin typeface="Arial"/>
                <a:cs typeface="Arial"/>
              </a:rPr>
              <a:t>new</a:t>
            </a:r>
            <a:r>
              <a:rPr dirty="0" sz="1400" spc="-30" b="1" i="1">
                <a:latin typeface="Arial"/>
                <a:cs typeface="Arial"/>
              </a:rPr>
              <a:t> </a:t>
            </a:r>
            <a:r>
              <a:rPr dirty="0" sz="1400" b="1" i="1">
                <a:latin typeface="Arial"/>
                <a:cs typeface="Arial"/>
              </a:rPr>
              <a:t>Page</a:t>
            </a:r>
            <a:r>
              <a:rPr dirty="0" sz="1400" spc="-10" b="1" i="1">
                <a:latin typeface="Arial"/>
                <a:cs typeface="Arial"/>
              </a:rPr>
              <a:t> </a:t>
            </a:r>
            <a:r>
              <a:rPr dirty="0" sz="1400" b="1" i="1">
                <a:latin typeface="Arial"/>
                <a:cs typeface="Arial"/>
              </a:rPr>
              <a:t>table</a:t>
            </a:r>
            <a:r>
              <a:rPr dirty="0" sz="1400" spc="-35" b="1" i="1">
                <a:latin typeface="Arial"/>
                <a:cs typeface="Arial"/>
              </a:rPr>
              <a:t> </a:t>
            </a:r>
            <a:r>
              <a:rPr dirty="0" sz="1400" b="1" i="1">
                <a:latin typeface="Arial"/>
                <a:cs typeface="Arial"/>
              </a:rPr>
              <a:t>in</a:t>
            </a:r>
            <a:r>
              <a:rPr dirty="0" sz="1400" spc="-25" b="1" i="1">
                <a:latin typeface="Arial"/>
                <a:cs typeface="Arial"/>
              </a:rPr>
              <a:t> </a:t>
            </a:r>
            <a:r>
              <a:rPr dirty="0" sz="1400" b="1" i="1">
                <a:latin typeface="Arial"/>
                <a:cs typeface="Arial"/>
              </a:rPr>
              <a:t>Green</a:t>
            </a:r>
            <a:r>
              <a:rPr dirty="0" sz="1400" spc="-25" b="1" i="1">
                <a:latin typeface="Arial"/>
                <a:cs typeface="Arial"/>
              </a:rPr>
              <a:t> </a:t>
            </a:r>
            <a:r>
              <a:rPr dirty="0" sz="1400" b="1" i="1">
                <a:latin typeface="Arial"/>
                <a:cs typeface="Arial"/>
              </a:rPr>
              <a:t>is</a:t>
            </a:r>
            <a:r>
              <a:rPr dirty="0" sz="1400" spc="-25" b="1" i="1">
                <a:latin typeface="Arial"/>
                <a:cs typeface="Arial"/>
              </a:rPr>
              <a:t> </a:t>
            </a:r>
            <a:r>
              <a:rPr dirty="0" sz="1400" b="1" i="1">
                <a:latin typeface="Arial"/>
                <a:cs typeface="Arial"/>
              </a:rPr>
              <a:t>also</a:t>
            </a:r>
            <a:r>
              <a:rPr dirty="0" sz="1400" spc="-25" b="1" i="1">
                <a:latin typeface="Arial"/>
                <a:cs typeface="Arial"/>
              </a:rPr>
              <a:t> </a:t>
            </a:r>
            <a:r>
              <a:rPr dirty="0" sz="1400" b="1" i="1">
                <a:latin typeface="Arial"/>
                <a:cs typeface="Arial"/>
              </a:rPr>
              <a:t>called</a:t>
            </a:r>
            <a:r>
              <a:rPr dirty="0" sz="1400" spc="-55" b="1" i="1">
                <a:latin typeface="Arial"/>
                <a:cs typeface="Arial"/>
              </a:rPr>
              <a:t> </a:t>
            </a:r>
            <a:r>
              <a:rPr dirty="0" sz="1400" b="1" i="1">
                <a:latin typeface="Arial"/>
                <a:cs typeface="Arial"/>
              </a:rPr>
              <a:t>Shadow</a:t>
            </a:r>
            <a:r>
              <a:rPr dirty="0" sz="1400" spc="-20" b="1" i="1">
                <a:latin typeface="Arial"/>
                <a:cs typeface="Arial"/>
              </a:rPr>
              <a:t> </a:t>
            </a:r>
            <a:r>
              <a:rPr dirty="0" sz="1400" b="1" i="1">
                <a:latin typeface="Arial"/>
                <a:cs typeface="Arial"/>
              </a:rPr>
              <a:t>Paging/Page</a:t>
            </a:r>
            <a:r>
              <a:rPr dirty="0" sz="1400" spc="-45" b="1" i="1">
                <a:latin typeface="Arial"/>
                <a:cs typeface="Arial"/>
              </a:rPr>
              <a:t> </a:t>
            </a:r>
            <a:r>
              <a:rPr dirty="0" sz="1400" spc="-10" b="1" i="1">
                <a:latin typeface="Arial"/>
                <a:cs typeface="Arial"/>
              </a:rPr>
              <a:t>table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72541" y="268300"/>
            <a:ext cx="2602865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-12700" y="679145"/>
            <a:ext cx="11718925" cy="57321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6609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C55A11"/>
                </a:solidFill>
                <a:latin typeface="Arial"/>
                <a:cs typeface="Arial"/>
              </a:rPr>
              <a:t>Why</a:t>
            </a:r>
            <a:r>
              <a:rPr dirty="0" sz="2000" spc="-3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C55A11"/>
                </a:solidFill>
                <a:latin typeface="Arial"/>
                <a:cs typeface="Arial"/>
              </a:rPr>
              <a:t>did</a:t>
            </a:r>
            <a:r>
              <a:rPr dirty="0" sz="2000" spc="-2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C55A11"/>
                </a:solidFill>
                <a:latin typeface="Arial"/>
                <a:cs typeface="Arial"/>
              </a:rPr>
              <a:t>these</a:t>
            </a:r>
            <a:r>
              <a:rPr dirty="0" sz="2000" spc="-4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C55A11"/>
                </a:solidFill>
                <a:latin typeface="Arial"/>
                <a:cs typeface="Arial"/>
              </a:rPr>
              <a:t>problems</a:t>
            </a:r>
            <a:r>
              <a:rPr dirty="0" sz="2000" spc="-3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C55A11"/>
                </a:solidFill>
                <a:latin typeface="Arial"/>
                <a:cs typeface="Arial"/>
              </a:rPr>
              <a:t>crop</a:t>
            </a:r>
            <a:r>
              <a:rPr dirty="0" sz="2000" spc="-3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C55A11"/>
                </a:solidFill>
                <a:latin typeface="Arial"/>
                <a:cs typeface="Arial"/>
              </a:rPr>
              <a:t>up</a:t>
            </a:r>
            <a:r>
              <a:rPr dirty="0" sz="2000" spc="-2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C55A11"/>
                </a:solidFill>
                <a:latin typeface="Arial"/>
                <a:cs typeface="Arial"/>
              </a:rPr>
              <a:t>during</a:t>
            </a:r>
            <a:r>
              <a:rPr dirty="0" sz="2000" spc="-2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C55A11"/>
                </a:solidFill>
                <a:latin typeface="Arial"/>
                <a:cs typeface="Arial"/>
              </a:rPr>
              <a:t>Virtualization</a:t>
            </a:r>
            <a:r>
              <a:rPr dirty="0" sz="2000" spc="-6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000" spc="-50" b="1">
                <a:solidFill>
                  <a:srgbClr val="C55A11"/>
                </a:solidFill>
                <a:latin typeface="Arial"/>
                <a:cs typeface="Arial"/>
              </a:rPr>
              <a:t>&amp;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466090" algn="l"/>
                <a:tab pos="8305165" algn="l"/>
              </a:tabLst>
            </a:pPr>
            <a:r>
              <a:rPr dirty="0" u="heavy" sz="2000" b="1">
                <a:solidFill>
                  <a:srgbClr val="538135"/>
                </a:solidFill>
                <a:uFill>
                  <a:solidFill>
                    <a:srgbClr val="C55A11"/>
                  </a:solidFill>
                </a:uFill>
                <a:latin typeface="Arial"/>
                <a:cs typeface="Arial"/>
              </a:rPr>
              <a:t>	What</a:t>
            </a:r>
            <a:r>
              <a:rPr dirty="0" u="heavy" sz="2000" spc="-40" b="1">
                <a:solidFill>
                  <a:srgbClr val="538135"/>
                </a:solidFill>
                <a:uFill>
                  <a:solidFill>
                    <a:srgbClr val="C55A11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2000" b="1">
                <a:solidFill>
                  <a:srgbClr val="538135"/>
                </a:solidFill>
                <a:uFill>
                  <a:solidFill>
                    <a:srgbClr val="C55A11"/>
                  </a:solidFill>
                </a:uFill>
                <a:latin typeface="Arial"/>
                <a:cs typeface="Arial"/>
              </a:rPr>
              <a:t>is</a:t>
            </a:r>
            <a:r>
              <a:rPr dirty="0" u="heavy" sz="2000" spc="-30" b="1">
                <a:solidFill>
                  <a:srgbClr val="538135"/>
                </a:solidFill>
                <a:uFill>
                  <a:solidFill>
                    <a:srgbClr val="C55A11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2000" b="1">
                <a:solidFill>
                  <a:srgbClr val="538135"/>
                </a:solidFill>
                <a:uFill>
                  <a:solidFill>
                    <a:srgbClr val="C55A11"/>
                  </a:solidFill>
                </a:uFill>
                <a:latin typeface="Arial"/>
                <a:cs typeface="Arial"/>
              </a:rPr>
              <a:t>Strictly</a:t>
            </a:r>
            <a:r>
              <a:rPr dirty="0" u="heavy" sz="2000" spc="-45" b="1">
                <a:solidFill>
                  <a:srgbClr val="538135"/>
                </a:solidFill>
                <a:uFill>
                  <a:solidFill>
                    <a:srgbClr val="C55A11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2000" spc="-10" b="1">
                <a:solidFill>
                  <a:srgbClr val="538135"/>
                </a:solidFill>
                <a:uFill>
                  <a:solidFill>
                    <a:srgbClr val="C55A11"/>
                  </a:solidFill>
                </a:uFill>
                <a:latin typeface="Arial"/>
                <a:cs typeface="Arial"/>
              </a:rPr>
              <a:t>Virtualizable</a:t>
            </a:r>
            <a:r>
              <a:rPr dirty="0" u="heavy" sz="2000" b="1">
                <a:solidFill>
                  <a:srgbClr val="538135"/>
                </a:solidFill>
                <a:uFill>
                  <a:solidFill>
                    <a:srgbClr val="C55A11"/>
                  </a:solidFill>
                </a:uFill>
                <a:latin typeface="Arial"/>
                <a:cs typeface="Arial"/>
              </a:rPr>
              <a:t>	</a:t>
            </a:r>
            <a:endParaRPr sz="2000">
              <a:latin typeface="Arial"/>
              <a:cs typeface="Arial"/>
            </a:endParaRPr>
          </a:p>
          <a:p>
            <a:pPr marL="631190" indent="-342900">
              <a:lnSpc>
                <a:spcPct val="100000"/>
              </a:lnSpc>
              <a:spcBef>
                <a:spcPts val="1365"/>
              </a:spcBef>
              <a:buClr>
                <a:srgbClr val="000000"/>
              </a:buClr>
              <a:buFont typeface="Calibri"/>
              <a:buChar char="▪"/>
              <a:tabLst>
                <a:tab pos="631190" algn="l"/>
              </a:tabLst>
            </a:pPr>
            <a:r>
              <a:rPr dirty="0" sz="2200" b="1" i="1">
                <a:solidFill>
                  <a:srgbClr val="C00000"/>
                </a:solidFill>
                <a:latin typeface="Calibri"/>
                <a:cs typeface="Calibri"/>
              </a:rPr>
              <a:t>Why</a:t>
            </a:r>
            <a:r>
              <a:rPr dirty="0" sz="2200" spc="-20" b="1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 b="1" i="1">
                <a:solidFill>
                  <a:srgbClr val="C00000"/>
                </a:solidFill>
                <a:latin typeface="Calibri"/>
                <a:cs typeface="Calibri"/>
              </a:rPr>
              <a:t>these</a:t>
            </a:r>
            <a:r>
              <a:rPr dirty="0" sz="2200" spc="-40" b="1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 spc="-10" b="1" i="1">
                <a:solidFill>
                  <a:srgbClr val="C00000"/>
                </a:solidFill>
                <a:latin typeface="Calibri"/>
                <a:cs typeface="Calibri"/>
              </a:rPr>
              <a:t>problems</a:t>
            </a:r>
            <a:r>
              <a:rPr dirty="0" sz="2200" spc="-10">
                <a:latin typeface="Calibri"/>
                <a:cs typeface="Calibri"/>
              </a:rPr>
              <a:t>?</a:t>
            </a:r>
            <a:endParaRPr sz="2200">
              <a:latin typeface="Calibri"/>
              <a:cs typeface="Calibri"/>
            </a:endParaRPr>
          </a:p>
          <a:p>
            <a:pPr lvl="1" marL="973455" indent="-227965">
              <a:lnSpc>
                <a:spcPct val="100000"/>
              </a:lnSpc>
              <a:spcBef>
                <a:spcPts val="1130"/>
              </a:spcBef>
              <a:buFont typeface="Arial"/>
              <a:buChar char="•"/>
              <a:tabLst>
                <a:tab pos="973455" algn="l"/>
              </a:tabLst>
            </a:pPr>
            <a:r>
              <a:rPr dirty="0" sz="2200">
                <a:latin typeface="Calibri"/>
                <a:cs typeface="Calibri"/>
              </a:rPr>
              <a:t>OSes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not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developed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lower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privilege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level</a:t>
            </a:r>
            <a:endParaRPr sz="2200">
              <a:latin typeface="Calibri"/>
              <a:cs typeface="Calibri"/>
            </a:endParaRPr>
          </a:p>
          <a:p>
            <a:pPr lvl="1" marL="973455" indent="-227965">
              <a:lnSpc>
                <a:spcPct val="100000"/>
              </a:lnSpc>
              <a:spcBef>
                <a:spcPts val="1125"/>
              </a:spcBef>
              <a:buFont typeface="Arial"/>
              <a:buChar char="•"/>
              <a:tabLst>
                <a:tab pos="973455" algn="l"/>
              </a:tabLst>
            </a:pPr>
            <a:r>
              <a:rPr dirty="0" sz="2200">
                <a:latin typeface="Calibri"/>
                <a:cs typeface="Calibri"/>
              </a:rPr>
              <a:t>Instruction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set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architecture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x86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not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easily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virtualizable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(x86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wasn’t</a:t>
            </a:r>
            <a:r>
              <a:rPr dirty="0" sz="2200" spc="4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designed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with</a:t>
            </a:r>
            <a:endParaRPr sz="2200">
              <a:latin typeface="Calibri"/>
              <a:cs typeface="Calibri"/>
            </a:endParaRPr>
          </a:p>
          <a:p>
            <a:pPr marL="974090">
              <a:lnSpc>
                <a:spcPct val="100000"/>
              </a:lnSpc>
              <a:spcBef>
                <a:spcPts val="530"/>
              </a:spcBef>
            </a:pPr>
            <a:r>
              <a:rPr dirty="0" sz="2200">
                <a:latin typeface="Calibri"/>
                <a:cs typeface="Calibri"/>
              </a:rPr>
              <a:t>virtualization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mind)</a:t>
            </a:r>
            <a:endParaRPr sz="2200">
              <a:latin typeface="Calibri"/>
              <a:cs typeface="Calibri"/>
            </a:endParaRPr>
          </a:p>
          <a:p>
            <a:pPr marL="631190" marR="5080" indent="-343535">
              <a:lnSpc>
                <a:spcPct val="120000"/>
              </a:lnSpc>
              <a:spcBef>
                <a:spcPts val="805"/>
              </a:spcBef>
              <a:buChar char="▪"/>
              <a:tabLst>
                <a:tab pos="631190" algn="l"/>
              </a:tabLst>
            </a:pP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processor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mode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processor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b="1" i="1">
                <a:solidFill>
                  <a:srgbClr val="C00000"/>
                </a:solidFill>
                <a:latin typeface="Calibri"/>
                <a:cs typeface="Calibri"/>
              </a:rPr>
              <a:t>strictly</a:t>
            </a:r>
            <a:r>
              <a:rPr dirty="0" sz="2200" spc="-40" b="1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 b="1" i="1">
                <a:solidFill>
                  <a:srgbClr val="C00000"/>
                </a:solidFill>
                <a:latin typeface="Calibri"/>
                <a:cs typeface="Calibri"/>
              </a:rPr>
              <a:t>virtualizable</a:t>
            </a:r>
            <a:r>
              <a:rPr dirty="0" sz="2200" spc="-30" b="1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if,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when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executed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lesser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privileged mode:</a:t>
            </a:r>
            <a:endParaRPr sz="2200">
              <a:latin typeface="Calibri"/>
              <a:cs typeface="Calibri"/>
            </a:endParaRPr>
          </a:p>
          <a:p>
            <a:pPr lvl="1" marL="1175385" indent="-323215">
              <a:lnSpc>
                <a:spcPct val="100000"/>
              </a:lnSpc>
              <a:spcBef>
                <a:spcPts val="1920"/>
              </a:spcBef>
              <a:buFont typeface="Arial"/>
              <a:buChar char="•"/>
              <a:tabLst>
                <a:tab pos="1175385" algn="l"/>
              </a:tabLst>
            </a:pPr>
            <a:r>
              <a:rPr dirty="0" sz="2200">
                <a:latin typeface="Calibri"/>
                <a:cs typeface="Calibri"/>
              </a:rPr>
              <a:t>all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instructions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access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privileged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state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should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trap</a:t>
            </a:r>
            <a:endParaRPr sz="2200">
              <a:latin typeface="Calibri"/>
              <a:cs typeface="Calibri"/>
            </a:endParaRPr>
          </a:p>
          <a:p>
            <a:pPr lvl="1" marL="288290" marR="5111115" indent="887094">
              <a:lnSpc>
                <a:spcPct val="173200"/>
              </a:lnSpc>
              <a:buFont typeface="Arial"/>
              <a:buChar char="•"/>
              <a:tabLst>
                <a:tab pos="1175385" algn="l"/>
              </a:tabLst>
            </a:pPr>
            <a:r>
              <a:rPr dirty="0" sz="2200">
                <a:latin typeface="Calibri"/>
                <a:cs typeface="Calibri"/>
              </a:rPr>
              <a:t>all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instructions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either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trap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execute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identically </a:t>
            </a:r>
            <a:r>
              <a:rPr dirty="0" sz="2200">
                <a:latin typeface="Calibri"/>
                <a:cs typeface="Calibri"/>
              </a:rPr>
              <a:t>Again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another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operational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definition.</a:t>
            </a:r>
            <a:endParaRPr sz="2200">
              <a:latin typeface="Calibri"/>
              <a:cs typeface="Calibri"/>
            </a:endParaRPr>
          </a:p>
          <a:p>
            <a:pPr marL="288290">
              <a:lnSpc>
                <a:spcPct val="100000"/>
              </a:lnSpc>
              <a:spcBef>
                <a:spcPts val="1925"/>
              </a:spcBef>
            </a:pP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idea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behind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strictly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virtualizable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whether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trap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emulate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will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work.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Binary</a:t>
            </a:r>
            <a:r>
              <a:rPr dirty="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Translation</a:t>
            </a:r>
            <a:r>
              <a:rPr dirty="0" spc="-5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Technique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40842" y="1332737"/>
            <a:ext cx="11626850" cy="55270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55600" marR="88900" indent="-342900">
              <a:lnSpc>
                <a:spcPct val="100200"/>
              </a:lnSpc>
              <a:spcBef>
                <a:spcPts val="90"/>
              </a:spcBef>
              <a:buChar char="▪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Binary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translation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specific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approach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implementing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full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virtualization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does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not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require </a:t>
            </a:r>
            <a:r>
              <a:rPr dirty="0" sz="2200">
                <a:latin typeface="Calibri"/>
                <a:cs typeface="Calibri"/>
              </a:rPr>
              <a:t>hardware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virtualization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features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-</a:t>
            </a:r>
            <a:r>
              <a:rPr dirty="0" sz="2200">
                <a:latin typeface="Calibri"/>
                <a:cs typeface="Calibri"/>
              </a:rPr>
              <a:t>say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like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instructions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x86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support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17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non </a:t>
            </a:r>
            <a:r>
              <a:rPr dirty="0" sz="2200">
                <a:latin typeface="Calibri"/>
                <a:cs typeface="Calibri"/>
              </a:rPr>
              <a:t>virtualization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instructions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trap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emulation.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ts val="2630"/>
              </a:lnSpc>
              <a:buChar char="▪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Not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having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support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VT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instructions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limit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public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IaaS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virtualizable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further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by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ts val="2635"/>
              </a:lnSpc>
              <a:spcBef>
                <a:spcPts val="15"/>
              </a:spcBef>
            </a:pPr>
            <a:r>
              <a:rPr dirty="0" sz="2200">
                <a:latin typeface="Calibri"/>
                <a:cs typeface="Calibri"/>
              </a:rPr>
              <a:t>Users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..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Say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like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EC@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instance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being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virtualized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further.</a:t>
            </a:r>
            <a:endParaRPr sz="2200">
              <a:latin typeface="Calibri"/>
              <a:cs typeface="Calibri"/>
            </a:endParaRPr>
          </a:p>
          <a:p>
            <a:pPr marL="355600" marR="5080" indent="-342900">
              <a:lnSpc>
                <a:spcPts val="2640"/>
              </a:lnSpc>
              <a:spcBef>
                <a:spcPts val="80"/>
              </a:spcBef>
              <a:buChar char="▪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Binary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translation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involves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hypervisor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examining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virtual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guest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code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"unsafe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sensitive" </a:t>
            </a:r>
            <a:r>
              <a:rPr dirty="0" sz="2200">
                <a:latin typeface="Calibri"/>
                <a:cs typeface="Calibri"/>
              </a:rPr>
              <a:t>but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unprivileged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instructions,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translating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these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"safe"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privileged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equivalents,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then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ts val="2560"/>
              </a:lnSpc>
            </a:pPr>
            <a:r>
              <a:rPr dirty="0" sz="2200">
                <a:latin typeface="Calibri"/>
                <a:cs typeface="Calibri"/>
              </a:rPr>
              <a:t>executing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translated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code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ts val="2635"/>
              </a:lnSpc>
              <a:buChar char="▪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Thus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approach,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since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there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sensitive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unprivileged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instructions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(because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they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got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5"/>
              </a:spcBef>
            </a:pPr>
            <a:r>
              <a:rPr dirty="0" sz="2200">
                <a:latin typeface="Calibri"/>
                <a:cs typeface="Calibri"/>
              </a:rPr>
              <a:t>translated)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there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need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trap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generated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handled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85"/>
              </a:spcBef>
              <a:buChar char="▪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helps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Transparent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full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virtualization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technique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Char char="▪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Supports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virtualization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x86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architecture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Char char="▪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Similar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technique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was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DEC,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but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was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Virtualization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VMWare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Char char="▪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Conceptually</a:t>
            </a:r>
            <a:r>
              <a:rPr dirty="0" sz="2000" spc="-9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simple</a:t>
            </a:r>
            <a:endParaRPr sz="2000">
              <a:latin typeface="Calibri"/>
              <a:cs typeface="Calibri"/>
            </a:endParaRPr>
          </a:p>
          <a:p>
            <a:pPr marL="297180">
              <a:lnSpc>
                <a:spcPct val="100000"/>
              </a:lnSpc>
              <a:spcBef>
                <a:spcPts val="1080"/>
              </a:spcBef>
            </a:pPr>
            <a:r>
              <a:rPr dirty="0" sz="2000">
                <a:latin typeface="Calibri"/>
                <a:cs typeface="Calibri"/>
              </a:rPr>
              <a:t>E.g.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Replacing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popf</a:t>
            </a:r>
            <a:r>
              <a:rPr dirty="0" sz="2000" spc="-45" i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instruction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trap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kernel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emulation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8890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57785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Binary</a:t>
            </a:r>
            <a:r>
              <a:rPr dirty="0" spc="-3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Translation</a:t>
            </a:r>
            <a:r>
              <a:rPr dirty="0" spc="-5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Technique</a:t>
            </a:r>
            <a:r>
              <a:rPr dirty="0" spc="-2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-</a:t>
            </a:r>
            <a:r>
              <a:rPr dirty="0" spc="-4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Functioning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66191" y="1308963"/>
            <a:ext cx="11849100" cy="4781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20000"/>
              </a:lnSpc>
              <a:spcBef>
                <a:spcPts val="100"/>
              </a:spcBef>
              <a:buChar char="▪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monitor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inspects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next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sequence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instructions.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instruction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sequence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typically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defined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next </a:t>
            </a:r>
            <a:r>
              <a:rPr dirty="0" sz="2000">
                <a:latin typeface="Calibri"/>
                <a:cs typeface="Calibri"/>
              </a:rPr>
              <a:t>basic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block,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instructions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up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next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control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transfer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instruction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such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branch.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Such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code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will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executed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start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finish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CPU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hence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ideal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translation.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Post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there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call-</a:t>
            </a:r>
            <a:r>
              <a:rPr dirty="0" sz="2000">
                <a:latin typeface="Calibri"/>
                <a:cs typeface="Calibri"/>
              </a:rPr>
              <a:t>out</a:t>
            </a:r>
            <a:r>
              <a:rPr dirty="0" sz="2000" spc="-25">
                <a:latin typeface="Calibri"/>
                <a:cs typeface="Calibri"/>
              </a:rPr>
              <a:t> to </a:t>
            </a:r>
            <a:r>
              <a:rPr dirty="0" sz="2000">
                <a:latin typeface="Calibri"/>
                <a:cs typeface="Calibri"/>
              </a:rPr>
              <a:t>other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pieces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code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will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need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emulated.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Char char="▪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Each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instruction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translated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translation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copied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b="1" i="1">
                <a:latin typeface="Calibri"/>
                <a:cs typeface="Calibri"/>
              </a:rPr>
              <a:t>translation</a:t>
            </a:r>
            <a:r>
              <a:rPr dirty="0" sz="2000" spc="-80" b="1" i="1">
                <a:latin typeface="Calibri"/>
                <a:cs typeface="Calibri"/>
              </a:rPr>
              <a:t> </a:t>
            </a:r>
            <a:r>
              <a:rPr dirty="0" sz="2000" spc="-10" b="1" i="1">
                <a:latin typeface="Calibri"/>
                <a:cs typeface="Calibri"/>
              </a:rPr>
              <a:t>cache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Char char="▪"/>
              <a:tabLst>
                <a:tab pos="354965" algn="l"/>
              </a:tabLst>
            </a:pPr>
            <a:r>
              <a:rPr dirty="0" sz="2000" spc="-10">
                <a:latin typeface="Calibri"/>
                <a:cs typeface="Calibri"/>
              </a:rPr>
              <a:t>Instructions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translated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follows:</a:t>
            </a:r>
            <a:endParaRPr sz="2000">
              <a:latin typeface="Calibri"/>
              <a:cs typeface="Calibri"/>
            </a:endParaRPr>
          </a:p>
          <a:p>
            <a:pPr lvl="1" marL="911225" indent="-342265">
              <a:lnSpc>
                <a:spcPct val="100000"/>
              </a:lnSpc>
              <a:spcBef>
                <a:spcPts val="480"/>
              </a:spcBef>
              <a:buChar char="▪"/>
              <a:tabLst>
                <a:tab pos="911225" algn="l"/>
              </a:tabLst>
            </a:pPr>
            <a:r>
              <a:rPr dirty="0" sz="2000" spc="-10">
                <a:latin typeface="Calibri"/>
                <a:cs typeface="Calibri"/>
              </a:rPr>
              <a:t>Instructions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pose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problems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copied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into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translation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cache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modification.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call</a:t>
            </a:r>
            <a:endParaRPr sz="2000">
              <a:latin typeface="Calibri"/>
              <a:cs typeface="Calibri"/>
            </a:endParaRPr>
          </a:p>
          <a:p>
            <a:pPr marL="911860">
              <a:lnSpc>
                <a:spcPct val="100000"/>
              </a:lnSpc>
              <a:spcBef>
                <a:spcPts val="480"/>
              </a:spcBef>
            </a:pPr>
            <a:r>
              <a:rPr dirty="0" sz="2000">
                <a:latin typeface="Calibri"/>
                <a:cs typeface="Calibri"/>
              </a:rPr>
              <a:t>these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“ident”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translations.</a:t>
            </a:r>
            <a:endParaRPr sz="2000">
              <a:latin typeface="Calibri"/>
              <a:cs typeface="Calibri"/>
            </a:endParaRPr>
          </a:p>
          <a:p>
            <a:pPr lvl="1" marL="911860" marR="93345" indent="-342900">
              <a:lnSpc>
                <a:spcPct val="120000"/>
              </a:lnSpc>
              <a:buChar char="▪"/>
              <a:tabLst>
                <a:tab pos="911860" algn="l"/>
              </a:tabLst>
            </a:pPr>
            <a:r>
              <a:rPr dirty="0" sz="2000">
                <a:latin typeface="Calibri"/>
                <a:cs typeface="Calibri"/>
              </a:rPr>
              <a:t>Some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simple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dangerous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instructions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translated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into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short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sequence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emulation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code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directly </a:t>
            </a:r>
            <a:r>
              <a:rPr dirty="0" sz="2000">
                <a:latin typeface="Calibri"/>
                <a:cs typeface="Calibri"/>
              </a:rPr>
              <a:t>into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translation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cache.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known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“inline”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translation.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example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modification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>
                <a:latin typeface="Calibri"/>
                <a:cs typeface="Calibri"/>
              </a:rPr>
              <a:t>Interrupt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Enable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flag.</a:t>
            </a:r>
            <a:endParaRPr sz="2000">
              <a:latin typeface="Calibri"/>
              <a:cs typeface="Calibri"/>
            </a:endParaRPr>
          </a:p>
          <a:p>
            <a:pPr lvl="1" marL="911225" indent="-342265">
              <a:lnSpc>
                <a:spcPct val="100000"/>
              </a:lnSpc>
              <a:spcBef>
                <a:spcPts val="480"/>
              </a:spcBef>
              <a:buChar char="▪"/>
              <a:tabLst>
                <a:tab pos="911225" algn="l"/>
              </a:tabLst>
            </a:pPr>
            <a:r>
              <a:rPr dirty="0" sz="2000">
                <a:latin typeface="Calibri"/>
                <a:cs typeface="Calibri"/>
              </a:rPr>
              <a:t>Other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dangerous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instructions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performed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emulation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code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VMM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calls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to</a:t>
            </a:r>
            <a:endParaRPr sz="2000">
              <a:latin typeface="Calibri"/>
              <a:cs typeface="Calibri"/>
            </a:endParaRPr>
          </a:p>
          <a:p>
            <a:pPr marL="911860">
              <a:lnSpc>
                <a:spcPct val="100000"/>
              </a:lnSpc>
              <a:spcBef>
                <a:spcPts val="484"/>
              </a:spcBef>
            </a:pP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made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called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“Call-</a:t>
            </a:r>
            <a:r>
              <a:rPr dirty="0" sz="2000">
                <a:latin typeface="Calibri"/>
                <a:cs typeface="Calibri"/>
              </a:rPr>
              <a:t>outs”.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example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these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change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page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table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base.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Binary</a:t>
            </a:r>
            <a:r>
              <a:rPr dirty="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Translation</a:t>
            </a:r>
            <a:r>
              <a:rPr dirty="0" spc="-5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Complexities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86841" y="1416837"/>
            <a:ext cx="4921250" cy="2287270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10"/>
              </a:spcBef>
              <a:buSzPct val="81818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Control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flow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changes</a:t>
            </a:r>
            <a:endParaRPr sz="2200">
              <a:latin typeface="Calibri"/>
              <a:cs typeface="Calibri"/>
            </a:endParaRPr>
          </a:p>
          <a:p>
            <a:pPr lvl="1" marL="812800" marR="5080" indent="-343535">
              <a:lnSpc>
                <a:spcPct val="120000"/>
              </a:lnSpc>
              <a:spcBef>
                <a:spcPts val="385"/>
              </a:spcBef>
              <a:buSzPct val="81818"/>
              <a:buFont typeface="Arial"/>
              <a:buChar char="•"/>
              <a:tabLst>
                <a:tab pos="812800" algn="l"/>
              </a:tabLst>
            </a:pPr>
            <a:r>
              <a:rPr dirty="0" sz="2200">
                <a:latin typeface="Calibri"/>
                <a:cs typeface="Calibri"/>
              </a:rPr>
              <a:t>Translation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change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addresses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of </a:t>
            </a:r>
            <a:r>
              <a:rPr dirty="0" sz="2200" spc="-10">
                <a:latin typeface="Calibri"/>
                <a:cs typeface="Calibri"/>
              </a:rPr>
              <a:t>instructions</a:t>
            </a:r>
            <a:endParaRPr sz="2200">
              <a:latin typeface="Calibri"/>
              <a:cs typeface="Calibri"/>
            </a:endParaRPr>
          </a:p>
          <a:p>
            <a:pPr lvl="1" marL="812165" indent="-342265">
              <a:lnSpc>
                <a:spcPct val="100000"/>
              </a:lnSpc>
              <a:spcBef>
                <a:spcPts val="1130"/>
              </a:spcBef>
              <a:buSzPct val="81818"/>
              <a:buFont typeface="Arial"/>
              <a:buChar char="•"/>
              <a:tabLst>
                <a:tab pos="812165" algn="l"/>
              </a:tabLst>
            </a:pPr>
            <a:r>
              <a:rPr dirty="0" sz="2200">
                <a:latin typeface="Calibri"/>
                <a:cs typeface="Calibri"/>
              </a:rPr>
              <a:t>Branches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have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20">
                <a:latin typeface="Calibri"/>
                <a:cs typeface="Calibri"/>
              </a:rPr>
              <a:t> re-</a:t>
            </a:r>
            <a:r>
              <a:rPr dirty="0" sz="2200" spc="-10">
                <a:latin typeface="Calibri"/>
                <a:cs typeface="Calibri"/>
              </a:rPr>
              <a:t>translated</a:t>
            </a:r>
            <a:endParaRPr sz="2200">
              <a:latin typeface="Calibri"/>
              <a:cs typeface="Calibri"/>
            </a:endParaRPr>
          </a:p>
          <a:p>
            <a:pPr lvl="1" marL="812165" indent="-342265">
              <a:lnSpc>
                <a:spcPct val="100000"/>
              </a:lnSpc>
              <a:spcBef>
                <a:spcPts val="1130"/>
              </a:spcBef>
              <a:buSzPct val="81818"/>
              <a:buFont typeface="Arial"/>
              <a:buChar char="•"/>
              <a:tabLst>
                <a:tab pos="812165" algn="l"/>
              </a:tabLst>
            </a:pPr>
            <a:r>
              <a:rPr dirty="0" sz="2200">
                <a:latin typeface="Calibri"/>
                <a:cs typeface="Calibri"/>
              </a:rPr>
              <a:t>Keep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track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branch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addresses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73011" y="1624941"/>
            <a:ext cx="4633696" cy="325683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90109" y="5036058"/>
            <a:ext cx="6936105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libri"/>
                <a:cs typeface="Calibri"/>
              </a:rPr>
              <a:t>Each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translator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invocation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consumes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Translation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Unit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(TU)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and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latin typeface="Calibri"/>
                <a:cs typeface="Calibri"/>
              </a:rPr>
              <a:t>produces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compiled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code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fragment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(CCF)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0842" y="6325920"/>
            <a:ext cx="486854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Arial"/>
                <a:cs typeface="Arial"/>
                <a:hlinkClick r:id="rId2"/>
              </a:rPr>
              <a:t>https://systems-seminar-uiuc.github.io/fall20/content/VMM.pdf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97955" y="6280200"/>
            <a:ext cx="531495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latin typeface="Arial"/>
                <a:cs typeface="Arial"/>
                <a:hlinkClick r:id="rId4"/>
              </a:rPr>
              <a:t>http://www.cs.toronto.edu/~demke/2227/S.14/Papers/p2-adams.pdf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0842" y="223580"/>
            <a:ext cx="9513570" cy="291211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455"/>
              </a:spcBef>
            </a:pP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CLOUD</a:t>
            </a:r>
            <a:r>
              <a:rPr dirty="0" sz="2400" spc="-3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395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Additional</a:t>
            </a:r>
            <a:r>
              <a:rPr dirty="0" sz="2400" spc="-4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references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90"/>
              </a:spcBef>
            </a:pPr>
            <a:endParaRPr sz="2400">
              <a:latin typeface="Arial"/>
              <a:cs typeface="Arial"/>
            </a:endParaRPr>
          </a:p>
          <a:p>
            <a:pPr marL="43815" marR="5080">
              <a:lnSpc>
                <a:spcPts val="2860"/>
              </a:lnSpc>
            </a:pPr>
            <a:r>
              <a:rPr dirty="0" sz="2400">
                <a:latin typeface="Calibri"/>
                <a:cs typeface="Calibri"/>
              </a:rPr>
              <a:t>Binary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Translation,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Trap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&amp;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Emulate </a:t>
            </a:r>
            <a:r>
              <a:rPr dirty="0" u="sng" sz="24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https://www.sciencedirect.com/topics/computer-</a:t>
            </a:r>
            <a:r>
              <a:rPr dirty="0" u="sng" sz="2400" spc="-2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science/binary-</a:t>
            </a:r>
            <a:r>
              <a:rPr dirty="0" u="sng" sz="24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translation</a:t>
            </a:r>
            <a:endParaRPr sz="2400">
              <a:latin typeface="Calibri"/>
              <a:cs typeface="Calibri"/>
            </a:endParaRPr>
          </a:p>
          <a:p>
            <a:pPr marL="43815">
              <a:lnSpc>
                <a:spcPct val="100000"/>
              </a:lnSpc>
              <a:spcBef>
                <a:spcPts val="2810"/>
              </a:spcBef>
            </a:pPr>
            <a:r>
              <a:rPr dirty="0" sz="2400" spc="-10">
                <a:latin typeface="Calibri"/>
                <a:cs typeface="Calibri"/>
                <a:hlinkClick r:id="rId3"/>
              </a:rPr>
              <a:t>http://www.cs.cmu.edu/~410-f06/lectures/L31_Virtualization.pdf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765536" y="348995"/>
            <a:ext cx="1066800" cy="1079500"/>
          </a:xfrm>
          <a:custGeom>
            <a:avLst/>
            <a:gdLst/>
            <a:ahLst/>
            <a:cxnLst/>
            <a:rect l="l" t="t" r="r" b="b"/>
            <a:pathLst>
              <a:path w="1066800" h="1079500">
                <a:moveTo>
                  <a:pt x="1066800" y="0"/>
                </a:moveTo>
                <a:lnTo>
                  <a:pt x="0" y="0"/>
                </a:lnTo>
                <a:lnTo>
                  <a:pt x="0" y="45720"/>
                </a:lnTo>
                <a:lnTo>
                  <a:pt x="1021080" y="45720"/>
                </a:lnTo>
                <a:lnTo>
                  <a:pt x="1021080" y="1078992"/>
                </a:lnTo>
                <a:lnTo>
                  <a:pt x="1066800" y="1078992"/>
                </a:lnTo>
                <a:lnTo>
                  <a:pt x="1066800" y="45720"/>
                </a:lnTo>
                <a:lnTo>
                  <a:pt x="1066800" y="12192"/>
                </a:lnTo>
                <a:lnTo>
                  <a:pt x="1066800" y="0"/>
                </a:lnTo>
                <a:close/>
              </a:path>
            </a:pathLst>
          </a:custGeom>
          <a:solidFill>
            <a:srgbClr val="F4AF8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A logo for a university  Description automatically generated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0572" y="1171955"/>
            <a:ext cx="2461602" cy="3997452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367276" y="2089784"/>
            <a:ext cx="274256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C55A11"/>
                </a:solidFill>
                <a:latin typeface="Arial"/>
                <a:cs typeface="Arial"/>
              </a:rPr>
              <a:t>THANK</a:t>
            </a:r>
            <a:r>
              <a:rPr dirty="0" sz="3600" spc="-14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3600" spc="-25">
                <a:solidFill>
                  <a:srgbClr val="C55A11"/>
                </a:solidFill>
                <a:latin typeface="Arial"/>
                <a:cs typeface="Arial"/>
              </a:rPr>
              <a:t>YOU</a:t>
            </a:r>
            <a:endParaRPr sz="3600">
              <a:latin typeface="Arial"/>
              <a:cs typeface="Arial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4289297" y="2888742"/>
            <a:ext cx="4581525" cy="0"/>
          </a:xfrm>
          <a:custGeom>
            <a:avLst/>
            <a:gdLst/>
            <a:ahLst/>
            <a:cxnLst/>
            <a:rect l="l" t="t" r="r" b="b"/>
            <a:pathLst>
              <a:path w="4581525" h="0">
                <a:moveTo>
                  <a:pt x="0" y="0"/>
                </a:moveTo>
                <a:lnTo>
                  <a:pt x="4581398" y="0"/>
                </a:lnTo>
              </a:path>
            </a:pathLst>
          </a:custGeom>
          <a:ln w="38100">
            <a:solidFill>
              <a:srgbClr val="DFA1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367276" y="3221032"/>
            <a:ext cx="5217160" cy="123444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2400" b="1">
                <a:latin typeface="Calibri"/>
                <a:cs typeface="Calibri"/>
              </a:rPr>
              <a:t>Prafullata</a:t>
            </a:r>
            <a:r>
              <a:rPr dirty="0" sz="2400" spc="-3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Kiran</a:t>
            </a:r>
            <a:r>
              <a:rPr dirty="0" sz="2400" spc="-2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Auradkar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2000">
                <a:latin typeface="Calibri"/>
                <a:cs typeface="Calibri"/>
              </a:rPr>
              <a:t>Department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Computer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Science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Engineering</a:t>
            </a:r>
            <a:endParaRPr sz="2000">
              <a:latin typeface="Calibri"/>
              <a:cs typeface="Calibri"/>
            </a:endParaRPr>
          </a:p>
          <a:p>
            <a:pPr marL="24765">
              <a:lnSpc>
                <a:spcPct val="100000"/>
              </a:lnSpc>
              <a:spcBef>
                <a:spcPts val="745"/>
              </a:spcBef>
            </a:pPr>
            <a:r>
              <a:rPr dirty="0" sz="2400" spc="-10" b="1">
                <a:latin typeface="Calibri"/>
                <a:cs typeface="Calibri"/>
                <a:hlinkClick r:id="rId2"/>
              </a:rPr>
              <a:t>prafullatak@pes.edu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3944" y="5489447"/>
            <a:ext cx="1066800" cy="1079500"/>
          </a:xfrm>
          <a:custGeom>
            <a:avLst/>
            <a:gdLst/>
            <a:ahLst/>
            <a:cxnLst/>
            <a:rect l="l" t="t" r="r" b="b"/>
            <a:pathLst>
              <a:path w="1066800" h="1079500">
                <a:moveTo>
                  <a:pt x="1066800" y="1033272"/>
                </a:moveTo>
                <a:lnTo>
                  <a:pt x="45720" y="1033272"/>
                </a:lnTo>
                <a:lnTo>
                  <a:pt x="45720" y="0"/>
                </a:lnTo>
                <a:lnTo>
                  <a:pt x="0" y="0"/>
                </a:lnTo>
                <a:lnTo>
                  <a:pt x="0" y="1033272"/>
                </a:lnTo>
                <a:lnTo>
                  <a:pt x="0" y="1066800"/>
                </a:lnTo>
                <a:lnTo>
                  <a:pt x="0" y="1078992"/>
                </a:lnTo>
                <a:lnTo>
                  <a:pt x="1066800" y="1078992"/>
                </a:lnTo>
                <a:lnTo>
                  <a:pt x="1066800" y="1033272"/>
                </a:lnTo>
                <a:close/>
              </a:path>
            </a:pathLst>
          </a:custGeom>
          <a:solidFill>
            <a:srgbClr val="F4AF81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10855452" y="266699"/>
            <a:ext cx="1066800" cy="1077595"/>
          </a:xfrm>
          <a:custGeom>
            <a:avLst/>
            <a:gdLst/>
            <a:ahLst/>
            <a:cxnLst/>
            <a:rect l="l" t="t" r="r" b="b"/>
            <a:pathLst>
              <a:path w="1066800" h="1077595">
                <a:moveTo>
                  <a:pt x="1066800" y="0"/>
                </a:moveTo>
                <a:lnTo>
                  <a:pt x="0" y="0"/>
                </a:lnTo>
                <a:lnTo>
                  <a:pt x="0" y="45720"/>
                </a:lnTo>
                <a:lnTo>
                  <a:pt x="1021080" y="45720"/>
                </a:lnTo>
                <a:lnTo>
                  <a:pt x="1021080" y="1077468"/>
                </a:lnTo>
                <a:lnTo>
                  <a:pt x="1066800" y="1077468"/>
                </a:lnTo>
                <a:lnTo>
                  <a:pt x="1066800" y="45720"/>
                </a:lnTo>
                <a:lnTo>
                  <a:pt x="1066800" y="10668"/>
                </a:lnTo>
                <a:lnTo>
                  <a:pt x="1066800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A logo for a university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3580" y="1171955"/>
            <a:ext cx="2239644" cy="3637788"/>
          </a:xfrm>
          <a:prstGeom prst="rect">
            <a:avLst/>
          </a:prstGeom>
        </p:spPr>
      </p:pic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61052" y="1695399"/>
            <a:ext cx="3887470" cy="5746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C55A11"/>
                </a:solidFill>
              </a:rPr>
              <a:t>CLOUD</a:t>
            </a:r>
            <a:r>
              <a:rPr dirty="0" sz="3600" spc="-145">
                <a:solidFill>
                  <a:srgbClr val="C55A11"/>
                </a:solidFill>
              </a:rPr>
              <a:t> </a:t>
            </a:r>
            <a:r>
              <a:rPr dirty="0" sz="3600" spc="-10">
                <a:solidFill>
                  <a:srgbClr val="C55A11"/>
                </a:solidFill>
              </a:rPr>
              <a:t>COMPUTING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4846701" y="2818257"/>
            <a:ext cx="30410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496"/>
                </a:solidFill>
                <a:latin typeface="Calibri"/>
                <a:cs typeface="Calibri"/>
              </a:rPr>
              <a:t>Hardware</a:t>
            </a:r>
            <a:r>
              <a:rPr dirty="0" sz="2400" spc="-135" b="1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496"/>
                </a:solidFill>
                <a:latin typeface="Calibri"/>
                <a:cs typeface="Calibri"/>
              </a:rPr>
              <a:t>Virtualization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83073" y="4112514"/>
            <a:ext cx="4581525" cy="0"/>
          </a:xfrm>
          <a:custGeom>
            <a:avLst/>
            <a:gdLst/>
            <a:ahLst/>
            <a:cxnLst/>
            <a:rect l="l" t="t" r="r" b="b"/>
            <a:pathLst>
              <a:path w="4581525" h="0">
                <a:moveTo>
                  <a:pt x="0" y="0"/>
                </a:moveTo>
                <a:lnTo>
                  <a:pt x="4581398" y="0"/>
                </a:lnTo>
              </a:path>
            </a:pathLst>
          </a:custGeom>
          <a:ln w="38100">
            <a:solidFill>
              <a:srgbClr val="C55A1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846701" y="4304036"/>
            <a:ext cx="6262370" cy="915035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dirty="0" sz="2000" spc="-10" b="1">
                <a:latin typeface="Arial"/>
                <a:cs typeface="Arial"/>
              </a:rPr>
              <a:t>Dr.</a:t>
            </a:r>
            <a:r>
              <a:rPr dirty="0" sz="2000" spc="-6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Prafullata</a:t>
            </a:r>
            <a:r>
              <a:rPr dirty="0" sz="2000" spc="-7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Kiran</a:t>
            </a:r>
            <a:r>
              <a:rPr dirty="0" sz="2000" spc="-12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Auradkar</a:t>
            </a:r>
            <a:endParaRPr sz="2000">
              <a:latin typeface="Arial"/>
              <a:cs typeface="Arial"/>
            </a:endParaRPr>
          </a:p>
          <a:p>
            <a:pPr marL="26670">
              <a:lnSpc>
                <a:spcPct val="100000"/>
              </a:lnSpc>
              <a:spcBef>
                <a:spcPts val="940"/>
              </a:spcBef>
            </a:pPr>
            <a:r>
              <a:rPr dirty="0" sz="2400">
                <a:latin typeface="Calibri"/>
                <a:cs typeface="Calibri"/>
              </a:rPr>
              <a:t>Department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Computer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Science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Engineering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3944" y="5489447"/>
            <a:ext cx="1066800" cy="1079500"/>
          </a:xfrm>
          <a:custGeom>
            <a:avLst/>
            <a:gdLst/>
            <a:ahLst/>
            <a:cxnLst/>
            <a:rect l="l" t="t" r="r" b="b"/>
            <a:pathLst>
              <a:path w="1066800" h="1079500">
                <a:moveTo>
                  <a:pt x="1066800" y="1033272"/>
                </a:moveTo>
                <a:lnTo>
                  <a:pt x="45720" y="1033272"/>
                </a:lnTo>
                <a:lnTo>
                  <a:pt x="45720" y="0"/>
                </a:lnTo>
                <a:lnTo>
                  <a:pt x="0" y="0"/>
                </a:lnTo>
                <a:lnTo>
                  <a:pt x="0" y="1033272"/>
                </a:lnTo>
                <a:lnTo>
                  <a:pt x="0" y="1066800"/>
                </a:lnTo>
                <a:lnTo>
                  <a:pt x="0" y="1078992"/>
                </a:lnTo>
                <a:lnTo>
                  <a:pt x="1066800" y="1078992"/>
                </a:lnTo>
                <a:lnTo>
                  <a:pt x="1066800" y="1033272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38404" y="5442305"/>
            <a:ext cx="11408410" cy="100139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Arial"/>
                <a:cs typeface="Arial"/>
              </a:rPr>
              <a:t>Acknowledgements:</a:t>
            </a:r>
            <a:endParaRPr sz="1600">
              <a:latin typeface="Arial"/>
              <a:cs typeface="Arial"/>
            </a:endParaRPr>
          </a:p>
          <a:p>
            <a:pPr algn="just" marL="12700" marR="508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latin typeface="Arial"/>
                <a:cs typeface="Arial"/>
              </a:rPr>
              <a:t>Significant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information</a:t>
            </a:r>
            <a:r>
              <a:rPr dirty="0" sz="1200" spc="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slide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deck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presented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through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Unit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2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of</a:t>
            </a:r>
            <a:r>
              <a:rPr dirty="0" sz="1200" spc="9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course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have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been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created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by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Dr.</a:t>
            </a:r>
            <a:r>
              <a:rPr dirty="0" sz="1200" spc="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H.L.</a:t>
            </a:r>
            <a:r>
              <a:rPr dirty="0" sz="1200" spc="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Phalachandra</a:t>
            </a:r>
            <a:r>
              <a:rPr dirty="0" sz="1200" spc="70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would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like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acknowledge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and </a:t>
            </a:r>
            <a:r>
              <a:rPr dirty="0" sz="1200">
                <a:latin typeface="Arial"/>
                <a:cs typeface="Arial"/>
              </a:rPr>
              <a:t>thank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him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for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same.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There have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been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some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information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which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might have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leveraged from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content of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Dr.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K.V.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Subramaniam’s </a:t>
            </a:r>
            <a:r>
              <a:rPr dirty="0" sz="1200">
                <a:latin typeface="Arial"/>
                <a:cs typeface="Arial"/>
              </a:rPr>
              <a:t>lecture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contents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too.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may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have </a:t>
            </a:r>
            <a:r>
              <a:rPr dirty="0" sz="1200">
                <a:latin typeface="Arial"/>
                <a:cs typeface="Arial"/>
              </a:rPr>
              <a:t>supplemented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same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with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contents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from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books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other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sources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from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Internet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would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like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sincerely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thank,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acknowledge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reiterate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that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credit/rights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for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same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remain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with the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original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authors/publishers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only.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These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are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intended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for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classroom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presentation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only.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32638" y="231901"/>
            <a:ext cx="8161655" cy="4768850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152400">
              <a:lnSpc>
                <a:spcPct val="100000"/>
              </a:lnSpc>
              <a:spcBef>
                <a:spcPts val="365"/>
              </a:spcBef>
            </a:pPr>
            <a:r>
              <a:rPr dirty="0" sz="2400" b="1">
                <a:solidFill>
                  <a:srgbClr val="2E5496"/>
                </a:solidFill>
                <a:latin typeface="Calibri"/>
                <a:cs typeface="Calibri"/>
              </a:rPr>
              <a:t>CLOUD</a:t>
            </a:r>
            <a:r>
              <a:rPr dirty="0" sz="2400" spc="-80" b="1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496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130175">
              <a:lnSpc>
                <a:spcPct val="100000"/>
              </a:lnSpc>
              <a:spcBef>
                <a:spcPts val="270"/>
              </a:spcBef>
            </a:pPr>
            <a:r>
              <a:rPr dirty="0" sz="2400" b="1">
                <a:solidFill>
                  <a:srgbClr val="C55A11"/>
                </a:solidFill>
                <a:latin typeface="Calibri"/>
                <a:cs typeface="Calibri"/>
              </a:rPr>
              <a:t>Slides</a:t>
            </a:r>
            <a:r>
              <a:rPr dirty="0" sz="2400" spc="-60" b="1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55A11"/>
                </a:solidFill>
                <a:latin typeface="Calibri"/>
                <a:cs typeface="Calibri"/>
              </a:rPr>
              <a:t>Credits</a:t>
            </a:r>
            <a:r>
              <a:rPr dirty="0" sz="2400" spc="-50" b="1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55A11"/>
                </a:solidFill>
                <a:latin typeface="Calibri"/>
                <a:cs typeface="Calibri"/>
              </a:rPr>
              <a:t>for</a:t>
            </a:r>
            <a:r>
              <a:rPr dirty="0" sz="2400" spc="-70" b="1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55A11"/>
                </a:solidFill>
                <a:latin typeface="Calibri"/>
                <a:cs typeface="Calibri"/>
              </a:rPr>
              <a:t>all</a:t>
            </a:r>
            <a:r>
              <a:rPr dirty="0" sz="2400" spc="-60" b="1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dirty="0" sz="2400" spc="-25" b="1">
                <a:solidFill>
                  <a:srgbClr val="C55A11"/>
                </a:solidFill>
                <a:latin typeface="Calibri"/>
                <a:cs typeface="Calibri"/>
              </a:rPr>
              <a:t>PPTs</a:t>
            </a:r>
            <a:r>
              <a:rPr dirty="0" sz="2400" spc="-50" b="1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55A11"/>
                </a:solidFill>
                <a:latin typeface="Calibri"/>
                <a:cs typeface="Calibri"/>
              </a:rPr>
              <a:t>of</a:t>
            </a:r>
            <a:r>
              <a:rPr dirty="0" sz="2400" spc="-70" b="1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55A11"/>
                </a:solidFill>
                <a:latin typeface="Calibri"/>
                <a:cs typeface="Calibri"/>
              </a:rPr>
              <a:t>this</a:t>
            </a:r>
            <a:r>
              <a:rPr dirty="0" sz="2400" spc="-55" b="1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Calibri"/>
                <a:cs typeface="Calibri"/>
              </a:rPr>
              <a:t>course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95"/>
              </a:spcBef>
            </a:pPr>
            <a:endParaRPr sz="2400">
              <a:latin typeface="Calibri"/>
              <a:cs typeface="Calibri"/>
            </a:endParaRPr>
          </a:p>
          <a:p>
            <a:pPr marL="355600" marR="5080" indent="-343535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2400">
                <a:solidFill>
                  <a:srgbClr val="006FC0"/>
                </a:solidFill>
                <a:latin typeface="Calibri"/>
                <a:cs typeface="Calibri"/>
              </a:rPr>
              <a:t>The</a:t>
            </a:r>
            <a:r>
              <a:rPr dirty="0" sz="2400" spc="-4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006FC0"/>
                </a:solidFill>
                <a:latin typeface="Calibri"/>
                <a:cs typeface="Calibri"/>
              </a:rPr>
              <a:t>slides/diagrams</a:t>
            </a:r>
            <a:r>
              <a:rPr dirty="0" sz="2400" spc="-6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006FC0"/>
                </a:solidFill>
                <a:latin typeface="Calibri"/>
                <a:cs typeface="Calibri"/>
              </a:rPr>
              <a:t>in</a:t>
            </a:r>
            <a:r>
              <a:rPr dirty="0" sz="2400" spc="-6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006FC0"/>
                </a:solidFill>
                <a:latin typeface="Calibri"/>
                <a:cs typeface="Calibri"/>
              </a:rPr>
              <a:t>this</a:t>
            </a:r>
            <a:r>
              <a:rPr dirty="0" sz="2400" spc="-5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006FC0"/>
                </a:solidFill>
                <a:latin typeface="Calibri"/>
                <a:cs typeface="Calibri"/>
              </a:rPr>
              <a:t>course</a:t>
            </a:r>
            <a:r>
              <a:rPr dirty="0" sz="2400" spc="-6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006FC0"/>
                </a:solidFill>
                <a:latin typeface="Calibri"/>
                <a:cs typeface="Calibri"/>
              </a:rPr>
              <a:t>are</a:t>
            </a:r>
            <a:r>
              <a:rPr dirty="0" sz="2400" spc="-4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006FC0"/>
                </a:solidFill>
                <a:latin typeface="Calibri"/>
                <a:cs typeface="Calibri"/>
              </a:rPr>
              <a:t>an</a:t>
            </a:r>
            <a:r>
              <a:rPr dirty="0" sz="2400" spc="-4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006FC0"/>
                </a:solidFill>
                <a:latin typeface="Calibri"/>
                <a:cs typeface="Calibri"/>
              </a:rPr>
              <a:t>adaptation</a:t>
            </a:r>
            <a:r>
              <a:rPr dirty="0" sz="2400" spc="-10">
                <a:solidFill>
                  <a:srgbClr val="006FC0"/>
                </a:solidFill>
                <a:latin typeface="Calibri"/>
                <a:cs typeface="Calibri"/>
              </a:rPr>
              <a:t>, </a:t>
            </a:r>
            <a:r>
              <a:rPr dirty="0" sz="2400" b="1">
                <a:solidFill>
                  <a:srgbClr val="006FC0"/>
                </a:solidFill>
                <a:latin typeface="Calibri"/>
                <a:cs typeface="Calibri"/>
              </a:rPr>
              <a:t>combination</a:t>
            </a:r>
            <a:r>
              <a:rPr dirty="0" sz="2400">
                <a:solidFill>
                  <a:srgbClr val="006FC0"/>
                </a:solidFill>
                <a:latin typeface="Calibri"/>
                <a:cs typeface="Calibri"/>
              </a:rPr>
              <a:t>,</a:t>
            </a:r>
            <a:r>
              <a:rPr dirty="0" sz="2400" spc="-7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dirty="0" sz="2400" spc="-7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006FC0"/>
                </a:solidFill>
                <a:latin typeface="Calibri"/>
                <a:cs typeface="Calibri"/>
              </a:rPr>
              <a:t>enhancement</a:t>
            </a:r>
            <a:r>
              <a:rPr dirty="0" sz="2400" spc="-7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006FC0"/>
                </a:solidFill>
                <a:latin typeface="Calibri"/>
                <a:cs typeface="Calibri"/>
              </a:rPr>
              <a:t>of</a:t>
            </a:r>
            <a:r>
              <a:rPr dirty="0" sz="2400" spc="-7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006FC0"/>
                </a:solidFill>
                <a:latin typeface="Calibri"/>
                <a:cs typeface="Calibri"/>
              </a:rPr>
              <a:t>material</a:t>
            </a:r>
            <a:r>
              <a:rPr dirty="0" sz="2400" spc="-8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006FC0"/>
                </a:solidFill>
                <a:latin typeface="Calibri"/>
                <a:cs typeface="Calibri"/>
              </a:rPr>
              <a:t>from</a:t>
            </a:r>
            <a:r>
              <a:rPr dirty="0" sz="2400" spc="-6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006FC0"/>
                </a:solidFill>
                <a:latin typeface="Calibri"/>
                <a:cs typeface="Calibri"/>
              </a:rPr>
              <a:t>the</a:t>
            </a:r>
            <a:r>
              <a:rPr dirty="0" sz="2400" spc="-7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006FC0"/>
                </a:solidFill>
                <a:latin typeface="Calibri"/>
                <a:cs typeface="Calibri"/>
              </a:rPr>
              <a:t>following resources</a:t>
            </a:r>
            <a:r>
              <a:rPr dirty="0" sz="2400" spc="-6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dirty="0" sz="2400" spc="-6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006FC0"/>
                </a:solidFill>
                <a:latin typeface="Calibri"/>
                <a:cs typeface="Calibri"/>
              </a:rPr>
              <a:t>persons:</a:t>
            </a:r>
            <a:endParaRPr sz="24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2885"/>
              </a:spcBef>
              <a:buAutoNum type="arabicPeriod"/>
              <a:tabLst>
                <a:tab pos="469900" algn="l"/>
              </a:tabLst>
            </a:pPr>
            <a:r>
              <a:rPr dirty="0" sz="2400">
                <a:solidFill>
                  <a:srgbClr val="006FC0"/>
                </a:solidFill>
                <a:latin typeface="Calibri"/>
                <a:cs typeface="Calibri"/>
              </a:rPr>
              <a:t>Slides</a:t>
            </a:r>
            <a:r>
              <a:rPr dirty="0" sz="2400" spc="-6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006FC0"/>
                </a:solidFill>
                <a:latin typeface="Calibri"/>
                <a:cs typeface="Calibri"/>
              </a:rPr>
              <a:t>of</a:t>
            </a:r>
            <a:r>
              <a:rPr dirty="0" sz="2400" spc="43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006FC0"/>
                </a:solidFill>
                <a:latin typeface="Calibri"/>
                <a:cs typeface="Calibri"/>
              </a:rPr>
              <a:t>Prof</a:t>
            </a:r>
            <a:r>
              <a:rPr dirty="0" sz="2400" spc="-6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006FC0"/>
                </a:solidFill>
                <a:latin typeface="Calibri"/>
                <a:cs typeface="Calibri"/>
              </a:rPr>
              <a:t>Arkaprava</a:t>
            </a:r>
            <a:r>
              <a:rPr dirty="0" sz="2400" spc="-7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006FC0"/>
                </a:solidFill>
                <a:latin typeface="Calibri"/>
                <a:cs typeface="Calibri"/>
              </a:rPr>
              <a:t>Basu</a:t>
            </a:r>
            <a:r>
              <a:rPr dirty="0" sz="2400" spc="-6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dirty="0" sz="2400" spc="-5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006FC0"/>
                </a:solidFill>
                <a:latin typeface="Calibri"/>
                <a:cs typeface="Calibri"/>
              </a:rPr>
              <a:t>Prof</a:t>
            </a:r>
            <a:r>
              <a:rPr dirty="0" sz="2400" spc="-5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006FC0"/>
                </a:solidFill>
                <a:latin typeface="Calibri"/>
                <a:cs typeface="Calibri"/>
              </a:rPr>
              <a:t>Sorav</a:t>
            </a:r>
            <a:r>
              <a:rPr dirty="0" sz="2400" spc="-8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006FC0"/>
                </a:solidFill>
                <a:latin typeface="Calibri"/>
                <a:cs typeface="Calibri"/>
              </a:rPr>
              <a:t>Bansal</a:t>
            </a:r>
            <a:endParaRPr sz="2400">
              <a:latin typeface="Calibri"/>
              <a:cs typeface="Calibri"/>
            </a:endParaRPr>
          </a:p>
          <a:p>
            <a:pPr marL="469900" marR="127635" indent="-457834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dirty="0" sz="2400">
                <a:solidFill>
                  <a:srgbClr val="006FC0"/>
                </a:solidFill>
                <a:latin typeface="Calibri"/>
                <a:cs typeface="Calibri"/>
              </a:rPr>
              <a:t>Some</a:t>
            </a:r>
            <a:r>
              <a:rPr dirty="0" sz="2400" spc="42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006FC0"/>
                </a:solidFill>
                <a:latin typeface="Calibri"/>
                <a:cs typeface="Calibri"/>
              </a:rPr>
              <a:t>slides,</a:t>
            </a:r>
            <a:r>
              <a:rPr dirty="0" sz="2400" spc="-5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006FC0"/>
                </a:solidFill>
                <a:latin typeface="Calibri"/>
                <a:cs typeface="Calibri"/>
              </a:rPr>
              <a:t>conceptual</a:t>
            </a:r>
            <a:r>
              <a:rPr dirty="0" sz="2400" spc="-6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006FC0"/>
                </a:solidFill>
                <a:latin typeface="Calibri"/>
                <a:cs typeface="Calibri"/>
              </a:rPr>
              <a:t>text</a:t>
            </a:r>
            <a:r>
              <a:rPr dirty="0" sz="2400" spc="-7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dirty="0" sz="2400" spc="-5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006FC0"/>
                </a:solidFill>
                <a:latin typeface="Calibri"/>
                <a:cs typeface="Calibri"/>
              </a:rPr>
              <a:t>diagram</a:t>
            </a:r>
            <a:r>
              <a:rPr dirty="0" sz="2400" spc="-7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006FC0"/>
                </a:solidFill>
                <a:latin typeface="Calibri"/>
                <a:cs typeface="Calibri"/>
              </a:rPr>
              <a:t>from</a:t>
            </a:r>
            <a:r>
              <a:rPr dirty="0" sz="2400" spc="-6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006FC0"/>
                </a:solidFill>
                <a:latin typeface="Calibri"/>
                <a:cs typeface="Calibri"/>
              </a:rPr>
              <a:t>Scott</a:t>
            </a:r>
            <a:r>
              <a:rPr dirty="0" sz="2400" spc="-6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006FC0"/>
                </a:solidFill>
                <a:latin typeface="Calibri"/>
                <a:cs typeface="Calibri"/>
              </a:rPr>
              <a:t>Devine, Vmware</a:t>
            </a:r>
            <a:endParaRPr sz="24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dirty="0" sz="2400" spc="-55">
                <a:solidFill>
                  <a:srgbClr val="006FC0"/>
                </a:solidFill>
                <a:latin typeface="Calibri"/>
                <a:cs typeface="Calibri"/>
              </a:rPr>
              <a:t>Text</a:t>
            </a:r>
            <a:r>
              <a:rPr dirty="0" sz="2400" spc="-5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006FC0"/>
                </a:solidFill>
                <a:latin typeface="Calibri"/>
                <a:cs typeface="Calibri"/>
              </a:rPr>
              <a:t>book</a:t>
            </a:r>
            <a:r>
              <a:rPr dirty="0" sz="2400" spc="-4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dirty="0" sz="2400" spc="-5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006FC0"/>
                </a:solidFill>
                <a:latin typeface="Calibri"/>
                <a:cs typeface="Calibri"/>
              </a:rPr>
              <a:t>Reference</a:t>
            </a:r>
            <a:r>
              <a:rPr dirty="0" sz="2400" spc="-5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006FC0"/>
                </a:solidFill>
                <a:latin typeface="Calibri"/>
                <a:cs typeface="Calibri"/>
              </a:rPr>
              <a:t>books</a:t>
            </a:r>
            <a:r>
              <a:rPr dirty="0" sz="2400" spc="-5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006FC0"/>
                </a:solidFill>
                <a:latin typeface="Calibri"/>
                <a:cs typeface="Calibri"/>
              </a:rPr>
              <a:t>prescribed</a:t>
            </a:r>
            <a:r>
              <a:rPr dirty="0" sz="2400" spc="-4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006FC0"/>
                </a:solidFill>
                <a:latin typeface="Calibri"/>
                <a:cs typeface="Calibri"/>
              </a:rPr>
              <a:t>in</a:t>
            </a:r>
            <a:r>
              <a:rPr dirty="0" sz="2400" spc="-4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006FC0"/>
                </a:solidFill>
                <a:latin typeface="Calibri"/>
                <a:cs typeface="Calibri"/>
              </a:rPr>
              <a:t>the</a:t>
            </a:r>
            <a:r>
              <a:rPr dirty="0" sz="2400" spc="-5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006FC0"/>
                </a:solidFill>
                <a:latin typeface="Calibri"/>
                <a:cs typeface="Calibri"/>
              </a:rPr>
              <a:t>syllabus</a:t>
            </a:r>
            <a:endParaRPr sz="24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dirty="0" sz="2400">
                <a:solidFill>
                  <a:srgbClr val="006FC0"/>
                </a:solidFill>
                <a:latin typeface="Calibri"/>
                <a:cs typeface="Calibri"/>
              </a:rPr>
              <a:t>Other</a:t>
            </a:r>
            <a:r>
              <a:rPr dirty="0" sz="2400" spc="-8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006FC0"/>
                </a:solidFill>
                <a:latin typeface="Calibri"/>
                <a:cs typeface="Calibri"/>
              </a:rPr>
              <a:t>Internet</a:t>
            </a:r>
            <a:r>
              <a:rPr dirty="0" sz="2400" spc="-10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006FC0"/>
                </a:solidFill>
                <a:latin typeface="Calibri"/>
                <a:cs typeface="Calibri"/>
              </a:rPr>
              <a:t>sources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 descr="A logo for a university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76052" y="0"/>
            <a:ext cx="756161" cy="1390513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27431" y="230717"/>
            <a:ext cx="9214485" cy="554672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57785">
              <a:lnSpc>
                <a:spcPct val="100000"/>
              </a:lnSpc>
              <a:spcBef>
                <a:spcPts val="375"/>
              </a:spcBef>
            </a:pPr>
            <a:r>
              <a:rPr dirty="0" sz="2400" b="1">
                <a:solidFill>
                  <a:srgbClr val="2E5496"/>
                </a:solidFill>
                <a:latin typeface="Calibri"/>
                <a:cs typeface="Calibri"/>
              </a:rPr>
              <a:t>CLOUD</a:t>
            </a:r>
            <a:r>
              <a:rPr dirty="0" sz="2400" spc="-80" b="1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496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26034">
              <a:lnSpc>
                <a:spcPct val="100000"/>
              </a:lnSpc>
              <a:spcBef>
                <a:spcPts val="280"/>
              </a:spcBef>
            </a:pPr>
            <a:r>
              <a:rPr dirty="0" sz="2400" spc="-20" b="1">
                <a:solidFill>
                  <a:srgbClr val="C55A11"/>
                </a:solidFill>
                <a:latin typeface="Calibri"/>
                <a:cs typeface="Calibri"/>
              </a:rPr>
              <a:t>Techniques</a:t>
            </a:r>
            <a:r>
              <a:rPr dirty="0" sz="2400" spc="-75" b="1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55A11"/>
                </a:solidFill>
                <a:latin typeface="Calibri"/>
                <a:cs typeface="Calibri"/>
              </a:rPr>
              <a:t>to</a:t>
            </a:r>
            <a:r>
              <a:rPr dirty="0" sz="2400" spc="-70" b="1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55A11"/>
                </a:solidFill>
                <a:latin typeface="Calibri"/>
                <a:cs typeface="Calibri"/>
              </a:rPr>
              <a:t>virtualize</a:t>
            </a:r>
            <a:r>
              <a:rPr dirty="0" sz="2400" spc="-75" b="1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dirty="0" sz="2400" spc="-25" b="1">
                <a:solidFill>
                  <a:srgbClr val="C55A11"/>
                </a:solidFill>
                <a:latin typeface="Calibri"/>
                <a:cs typeface="Calibri"/>
              </a:rPr>
              <a:t>x86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2725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 spc="-20">
                <a:solidFill>
                  <a:srgbClr val="006EC0"/>
                </a:solidFill>
                <a:latin typeface="Calibri"/>
                <a:cs typeface="Calibri"/>
              </a:rPr>
              <a:t>Paravirtualization:</a:t>
            </a:r>
            <a:r>
              <a:rPr dirty="0" sz="2400" spc="-90">
                <a:solidFill>
                  <a:srgbClr val="006EC0"/>
                </a:solidFill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rewrite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guest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code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virtualizable</a:t>
            </a:r>
            <a:endParaRPr sz="2400">
              <a:latin typeface="Calibri"/>
              <a:cs typeface="Calibri"/>
            </a:endParaRPr>
          </a:p>
          <a:p>
            <a:pPr lvl="1" marL="697230" marR="219710" indent="-227329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2400">
                <a:latin typeface="Calibri"/>
                <a:cs typeface="Calibri"/>
              </a:rPr>
              <a:t>Guest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OS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won’t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invoke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privileged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operations,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makes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“hypercalls”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to 	VMM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alibri"/>
                <a:cs typeface="Calibri"/>
              </a:rPr>
              <a:t>Needs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source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code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changes,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cannot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work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unmodified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OS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 spc="-10">
                <a:latin typeface="Calibri"/>
                <a:cs typeface="Calibri"/>
              </a:rPr>
              <a:t>Example: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006EC0"/>
                </a:solidFill>
                <a:latin typeface="Calibri"/>
                <a:cs typeface="Calibri"/>
              </a:rPr>
              <a:t>Xen</a:t>
            </a:r>
            <a:r>
              <a:rPr dirty="0" sz="2400" spc="-65">
                <a:solidFill>
                  <a:srgbClr val="006EC0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hypervisor</a:t>
            </a:r>
            <a:endParaRPr sz="2400">
              <a:latin typeface="Calibri"/>
              <a:cs typeface="Calibri"/>
            </a:endParaRPr>
          </a:p>
          <a:p>
            <a:pPr marL="240029" marR="688340" indent="-227329">
              <a:lnSpc>
                <a:spcPct val="104200"/>
              </a:lnSpc>
              <a:spcBef>
                <a:spcPts val="87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400">
                <a:solidFill>
                  <a:srgbClr val="006EC0"/>
                </a:solidFill>
                <a:latin typeface="Calibri"/>
                <a:cs typeface="Calibri"/>
              </a:rPr>
              <a:t>Full</a:t>
            </a:r>
            <a:r>
              <a:rPr dirty="0" sz="2400" spc="-50">
                <a:solidFill>
                  <a:srgbClr val="006EC0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006EC0"/>
                </a:solidFill>
                <a:latin typeface="Calibri"/>
                <a:cs typeface="Calibri"/>
              </a:rPr>
              <a:t>virtualization:</a:t>
            </a:r>
            <a:r>
              <a:rPr dirty="0" sz="2400" spc="-65">
                <a:solidFill>
                  <a:srgbClr val="006EC0"/>
                </a:solidFill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CPU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instructions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guest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translated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be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virtualizable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alibri"/>
                <a:cs typeface="Calibri"/>
              </a:rPr>
              <a:t>Sensitive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instructions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translated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trap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VMM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190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alibri"/>
                <a:cs typeface="Calibri"/>
              </a:rPr>
              <a:t>Dynamic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(on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fly)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binary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translation,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so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works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unmodified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OS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09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alibri"/>
                <a:cs typeface="Calibri"/>
              </a:rPr>
              <a:t>Higher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overhead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than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paravirtualization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 spc="-10">
                <a:latin typeface="Calibri"/>
                <a:cs typeface="Calibri"/>
              </a:rPr>
              <a:t>Example: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006EC0"/>
                </a:solidFill>
                <a:latin typeface="Calibri"/>
                <a:cs typeface="Calibri"/>
              </a:rPr>
              <a:t>VMWare</a:t>
            </a:r>
            <a:r>
              <a:rPr dirty="0" sz="2400" spc="-70">
                <a:solidFill>
                  <a:srgbClr val="006EC0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006EC0"/>
                </a:solidFill>
                <a:latin typeface="Calibri"/>
                <a:cs typeface="Calibri"/>
              </a:rPr>
              <a:t>workstation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 descr="A logo for a university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76052" y="0"/>
            <a:ext cx="756161" cy="1390513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7625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375"/>
              </a:spcBef>
            </a:pPr>
            <a:r>
              <a:rPr dirty="0"/>
              <a:t>CLOUD</a:t>
            </a:r>
            <a:r>
              <a:rPr dirty="0" spc="-80"/>
              <a:t> </a:t>
            </a:r>
            <a:r>
              <a:rPr dirty="0" spc="-10"/>
              <a:t>COMPUTING</a:t>
            </a:r>
          </a:p>
          <a:p>
            <a:pPr marL="201295">
              <a:lnSpc>
                <a:spcPct val="100000"/>
              </a:lnSpc>
              <a:spcBef>
                <a:spcPts val="280"/>
              </a:spcBef>
            </a:pPr>
            <a:r>
              <a:rPr dirty="0" spc="-20">
                <a:solidFill>
                  <a:srgbClr val="C55A11"/>
                </a:solidFill>
              </a:rPr>
              <a:t>Techniques</a:t>
            </a:r>
            <a:r>
              <a:rPr dirty="0" spc="-55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to</a:t>
            </a:r>
            <a:r>
              <a:rPr dirty="0" spc="-55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virtualize</a:t>
            </a:r>
            <a:r>
              <a:rPr dirty="0" spc="-55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x86</a:t>
            </a:r>
            <a:r>
              <a:rPr dirty="0" spc="-65">
                <a:solidFill>
                  <a:srgbClr val="C55A11"/>
                </a:solidFill>
              </a:rPr>
              <a:t> </a:t>
            </a:r>
            <a:r>
              <a:rPr dirty="0" spc="-10">
                <a:solidFill>
                  <a:srgbClr val="C55A11"/>
                </a:solidFill>
              </a:rPr>
              <a:t>(Cont.)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 descr="A logo for a university  Description automatically generated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76052" y="0"/>
            <a:ext cx="756161" cy="139051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9312" y="4063082"/>
            <a:ext cx="4164341" cy="265015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37159" y="1470541"/>
            <a:ext cx="9464675" cy="4736465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29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200" spc="-35">
                <a:solidFill>
                  <a:srgbClr val="006EC0"/>
                </a:solidFill>
                <a:latin typeface="Calibri"/>
                <a:cs typeface="Calibri"/>
              </a:rPr>
              <a:t>Hardware</a:t>
            </a:r>
            <a:r>
              <a:rPr dirty="0" sz="2200" spc="-45">
                <a:solidFill>
                  <a:srgbClr val="006EC0"/>
                </a:solidFill>
                <a:latin typeface="Calibri"/>
                <a:cs typeface="Calibri"/>
              </a:rPr>
              <a:t> </a:t>
            </a:r>
            <a:r>
              <a:rPr dirty="0" sz="2200" spc="-20">
                <a:solidFill>
                  <a:srgbClr val="006EC0"/>
                </a:solidFill>
                <a:latin typeface="Calibri"/>
                <a:cs typeface="Calibri"/>
              </a:rPr>
              <a:t>assisted</a:t>
            </a:r>
            <a:r>
              <a:rPr dirty="0" sz="2200" spc="-75">
                <a:solidFill>
                  <a:srgbClr val="006EC0"/>
                </a:solidFill>
                <a:latin typeface="Calibri"/>
                <a:cs typeface="Calibri"/>
              </a:rPr>
              <a:t> </a:t>
            </a:r>
            <a:r>
              <a:rPr dirty="0" sz="2200" spc="-20">
                <a:solidFill>
                  <a:srgbClr val="006EC0"/>
                </a:solidFill>
                <a:latin typeface="Calibri"/>
                <a:cs typeface="Calibri"/>
              </a:rPr>
              <a:t>virtualization:</a:t>
            </a:r>
            <a:r>
              <a:rPr dirty="0" sz="2200" spc="-30">
                <a:solidFill>
                  <a:srgbClr val="006EC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006EC0"/>
                </a:solidFill>
                <a:latin typeface="Calibri"/>
                <a:cs typeface="Calibri"/>
              </a:rPr>
              <a:t>Eg.</a:t>
            </a:r>
            <a:r>
              <a:rPr dirty="0" sz="2200" spc="-25">
                <a:solidFill>
                  <a:srgbClr val="006EC0"/>
                </a:solidFill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KVM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9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Linux</a:t>
            </a:r>
            <a:endParaRPr sz="2200">
              <a:latin typeface="Calibri"/>
              <a:cs typeface="Calibri"/>
            </a:endParaRPr>
          </a:p>
          <a:p>
            <a:pPr lvl="1" marL="697865" indent="-227965">
              <a:lnSpc>
                <a:spcPct val="100000"/>
              </a:lnSpc>
              <a:spcBef>
                <a:spcPts val="195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2200">
                <a:latin typeface="Calibri"/>
                <a:cs typeface="Calibri"/>
              </a:rPr>
              <a:t>CPU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special</a:t>
            </a:r>
            <a:r>
              <a:rPr dirty="0" sz="2200" spc="-80"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006EC0"/>
                </a:solidFill>
                <a:latin typeface="Calibri"/>
                <a:cs typeface="Calibri"/>
              </a:rPr>
              <a:t>VMX</a:t>
            </a:r>
            <a:r>
              <a:rPr dirty="0" sz="2200" spc="-30">
                <a:solidFill>
                  <a:srgbClr val="006EC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006EC0"/>
                </a:solidFill>
                <a:latin typeface="Calibri"/>
                <a:cs typeface="Calibri"/>
              </a:rPr>
              <a:t>mode</a:t>
            </a:r>
            <a:r>
              <a:rPr dirty="0" sz="2200" spc="-35">
                <a:solidFill>
                  <a:srgbClr val="006EC0"/>
                </a:solidFill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execution</a:t>
            </a:r>
            <a:endParaRPr sz="2200">
              <a:latin typeface="Calibri"/>
              <a:cs typeface="Calibri"/>
            </a:endParaRPr>
          </a:p>
          <a:p>
            <a:pPr lvl="1" marL="697865" indent="-227965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2200" spc="-20">
                <a:latin typeface="Calibri"/>
                <a:cs typeface="Calibri"/>
              </a:rPr>
              <a:t>Two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kinds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VMX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transitions:</a:t>
            </a:r>
            <a:r>
              <a:rPr dirty="0" sz="2200" spc="-8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VMX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Root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VMX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Non-</a:t>
            </a:r>
            <a:r>
              <a:rPr dirty="0" sz="2200" spc="-20">
                <a:latin typeface="Calibri"/>
                <a:cs typeface="Calibri"/>
              </a:rPr>
              <a:t>Root</a:t>
            </a:r>
            <a:endParaRPr sz="2200">
              <a:latin typeface="Calibri"/>
              <a:cs typeface="Calibri"/>
            </a:endParaRPr>
          </a:p>
          <a:p>
            <a:pPr lvl="2" marL="1217930" indent="-290830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1217930" algn="l"/>
              </a:tabLst>
            </a:pPr>
            <a:r>
              <a:rPr dirty="0" sz="2200">
                <a:latin typeface="Calibri"/>
                <a:cs typeface="Calibri"/>
              </a:rPr>
              <a:t>X86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4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rings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both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VMX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root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Non-</a:t>
            </a:r>
            <a:r>
              <a:rPr dirty="0" sz="2200">
                <a:latin typeface="Calibri"/>
                <a:cs typeface="Calibri"/>
              </a:rPr>
              <a:t>root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modes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200">
                <a:latin typeface="Calibri"/>
                <a:cs typeface="Calibri"/>
              </a:rPr>
              <a:t>VMM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 spc="-35">
                <a:latin typeface="Calibri"/>
                <a:cs typeface="Calibri"/>
              </a:rPr>
              <a:t>enters</a:t>
            </a:r>
            <a:r>
              <a:rPr dirty="0" sz="2200" spc="-8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VMX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mode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guest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(special)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ring</a:t>
            </a:r>
            <a:r>
              <a:rPr dirty="0" sz="2200" spc="120">
                <a:latin typeface="Calibri"/>
                <a:cs typeface="Calibri"/>
              </a:rPr>
              <a:t> </a:t>
            </a:r>
            <a:r>
              <a:rPr dirty="0" sz="2200" spc="-50">
                <a:latin typeface="Calibri"/>
                <a:cs typeface="Calibri"/>
              </a:rPr>
              <a:t>0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0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200">
                <a:latin typeface="Calibri"/>
                <a:cs typeface="Calibri"/>
              </a:rPr>
              <a:t>Exit</a:t>
            </a:r>
            <a:r>
              <a:rPr dirty="0" sz="2200" spc="-8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back</a:t>
            </a:r>
            <a:r>
              <a:rPr dirty="0" sz="2200" spc="-8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VMM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triggers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(VMM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retains</a:t>
            </a:r>
            <a:r>
              <a:rPr dirty="0" sz="2200" spc="1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control)</a:t>
            </a:r>
            <a:endParaRPr sz="2200">
              <a:latin typeface="Calibri"/>
              <a:cs typeface="Calibri"/>
            </a:endParaRPr>
          </a:p>
          <a:p>
            <a:pPr marL="5140960" marR="5080">
              <a:lnSpc>
                <a:spcPct val="100000"/>
              </a:lnSpc>
              <a:spcBef>
                <a:spcPts val="1875"/>
              </a:spcBef>
            </a:pPr>
            <a:r>
              <a:rPr dirty="0" sz="1600">
                <a:latin typeface="Calibri"/>
                <a:cs typeface="Calibri"/>
              </a:rPr>
              <a:t>Processor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behavior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VMX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non-</a:t>
            </a:r>
            <a:r>
              <a:rPr dirty="0" sz="1600">
                <a:latin typeface="Calibri"/>
                <a:cs typeface="Calibri"/>
              </a:rPr>
              <a:t>root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operation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is </a:t>
            </a:r>
            <a:r>
              <a:rPr dirty="0" sz="1600" spc="-10">
                <a:latin typeface="Calibri"/>
                <a:cs typeface="Calibri"/>
              </a:rPr>
              <a:t>restricted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modified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facilitate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virtualization. </a:t>
            </a:r>
            <a:r>
              <a:rPr dirty="0" sz="1600">
                <a:latin typeface="Calibri"/>
                <a:cs typeface="Calibri"/>
              </a:rPr>
              <a:t>Instead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their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ordinary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operation,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certain </a:t>
            </a:r>
            <a:r>
              <a:rPr dirty="0" sz="1600">
                <a:latin typeface="Calibri"/>
                <a:cs typeface="Calibri"/>
              </a:rPr>
              <a:t>instructions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(such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as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new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VMCALL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instruction)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events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cause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VM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exits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VMM.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Because </a:t>
            </a:r>
            <a:r>
              <a:rPr dirty="0" sz="1600">
                <a:latin typeface="Calibri"/>
                <a:cs typeface="Calibri"/>
              </a:rPr>
              <a:t>these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VM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exits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replace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ordinary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behavior,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the </a:t>
            </a:r>
            <a:r>
              <a:rPr dirty="0" sz="1600" spc="-10">
                <a:latin typeface="Calibri"/>
                <a:cs typeface="Calibri"/>
              </a:rPr>
              <a:t>functionality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software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VMX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non-</a:t>
            </a:r>
            <a:r>
              <a:rPr dirty="0" sz="1600">
                <a:latin typeface="Calibri"/>
                <a:cs typeface="Calibri"/>
              </a:rPr>
              <a:t>root</a:t>
            </a:r>
            <a:r>
              <a:rPr dirty="0" sz="1600" spc="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operation </a:t>
            </a:r>
            <a:r>
              <a:rPr dirty="0" sz="1600">
                <a:latin typeface="Calibri"/>
                <a:cs typeface="Calibri"/>
              </a:rPr>
              <a:t>is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limited.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It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this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limitation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that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allows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VMM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to </a:t>
            </a:r>
            <a:r>
              <a:rPr dirty="0" sz="1600">
                <a:latin typeface="Calibri"/>
                <a:cs typeface="Calibri"/>
              </a:rPr>
              <a:t>retain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control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processor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resources.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72541" y="265938"/>
            <a:ext cx="25971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496"/>
                </a:solidFill>
                <a:latin typeface="Calibri"/>
                <a:cs typeface="Calibri"/>
              </a:rPr>
              <a:t>CLOUD</a:t>
            </a:r>
            <a:r>
              <a:rPr dirty="0" sz="2400" spc="-80" b="1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496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0842" y="666953"/>
            <a:ext cx="5338445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solidFill>
                  <a:srgbClr val="C55A11"/>
                </a:solidFill>
              </a:rPr>
              <a:t>Workaround</a:t>
            </a:r>
            <a:r>
              <a:rPr dirty="0" spc="-85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for</a:t>
            </a:r>
            <a:r>
              <a:rPr dirty="0" spc="-45">
                <a:solidFill>
                  <a:srgbClr val="C55A11"/>
                </a:solidFill>
              </a:rPr>
              <a:t> </a:t>
            </a:r>
            <a:r>
              <a:rPr dirty="0" spc="-10">
                <a:solidFill>
                  <a:srgbClr val="C55A11"/>
                </a:solidFill>
              </a:rPr>
              <a:t>x86-</a:t>
            </a:r>
            <a:r>
              <a:rPr dirty="0">
                <a:solidFill>
                  <a:srgbClr val="C55A11"/>
                </a:solidFill>
              </a:rPr>
              <a:t>32:</a:t>
            </a:r>
            <a:r>
              <a:rPr dirty="0" spc="-40">
                <a:solidFill>
                  <a:srgbClr val="C55A11"/>
                </a:solidFill>
              </a:rPr>
              <a:t> </a:t>
            </a:r>
            <a:r>
              <a:rPr dirty="0" spc="-10">
                <a:solidFill>
                  <a:srgbClr val="C55A11"/>
                </a:solidFill>
              </a:rPr>
              <a:t>Paravirtualization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 descr="A logo for a university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76052" y="0"/>
            <a:ext cx="756161" cy="139051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93139" y="1716126"/>
            <a:ext cx="7149465" cy="4304665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800" spc="-10">
                <a:latin typeface="Calibri"/>
                <a:cs typeface="Calibri"/>
              </a:rPr>
              <a:t>Co-</a:t>
            </a:r>
            <a:r>
              <a:rPr dirty="0" sz="2800">
                <a:latin typeface="Calibri"/>
                <a:cs typeface="Calibri"/>
              </a:rPr>
              <a:t>design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guest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OS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hypervisor</a:t>
            </a:r>
            <a:endParaRPr sz="28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 spc="-10">
                <a:latin typeface="Calibri"/>
                <a:cs typeface="Calibri"/>
              </a:rPr>
              <a:t>Advantage: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Simplicity,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work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around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corner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cases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 spc="-10">
                <a:latin typeface="Calibri"/>
                <a:cs typeface="Calibri"/>
              </a:rPr>
              <a:t>Disadvantage: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Need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modified</a:t>
            </a:r>
            <a:r>
              <a:rPr dirty="0" sz="2400" spc="-85" b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guest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OS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alibri"/>
                <a:cs typeface="Calibri"/>
              </a:rPr>
              <a:t>Example: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Xen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hypervisor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305"/>
              </a:spcBef>
              <a:buFont typeface="Arial"/>
              <a:buChar char="•"/>
            </a:pP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800" spc="-20">
                <a:latin typeface="Calibri"/>
                <a:cs typeface="Calibri"/>
              </a:rPr>
              <a:t>Trick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virtualize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x86-32:</a:t>
            </a:r>
            <a:endParaRPr sz="2800">
              <a:latin typeface="Calibri"/>
              <a:cs typeface="Calibri"/>
            </a:endParaRPr>
          </a:p>
          <a:p>
            <a:pPr lvl="1" marL="697230" marR="353695" indent="-227329">
              <a:lnSpc>
                <a:spcPts val="2590"/>
              </a:lnSpc>
              <a:spcBef>
                <a:spcPts val="560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2400">
                <a:latin typeface="Calibri"/>
                <a:cs typeface="Calibri"/>
              </a:rPr>
              <a:t>Block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all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17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instructions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sensitive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but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not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privileged</a:t>
            </a:r>
            <a:endParaRPr sz="2400">
              <a:latin typeface="Calibri"/>
              <a:cs typeface="Calibri"/>
            </a:endParaRPr>
          </a:p>
          <a:p>
            <a:pPr lvl="2" marL="1153795" indent="-226695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1153795" algn="l"/>
              </a:tabLst>
            </a:pPr>
            <a:r>
              <a:rPr dirty="0" sz="2000">
                <a:latin typeface="Calibri"/>
                <a:cs typeface="Calibri"/>
              </a:rPr>
              <a:t>Just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modify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guest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#undef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them</a:t>
            </a:r>
            <a:endParaRPr sz="20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190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alibri"/>
                <a:cs typeface="Calibri"/>
              </a:rPr>
              <a:t>Instead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provide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b="1" i="1">
                <a:latin typeface="Calibri"/>
                <a:cs typeface="Calibri"/>
              </a:rPr>
              <a:t>hypercalls</a:t>
            </a:r>
            <a:r>
              <a:rPr dirty="0" sz="2400" spc="-70" b="1" i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from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guest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OS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VMM</a:t>
            </a:r>
            <a:endParaRPr sz="2400">
              <a:latin typeface="Calibri"/>
              <a:cs typeface="Calibri"/>
            </a:endParaRPr>
          </a:p>
          <a:p>
            <a:pPr lvl="2" marL="1153795" indent="-226695">
              <a:lnSpc>
                <a:spcPct val="100000"/>
              </a:lnSpc>
              <a:spcBef>
                <a:spcPts val="280"/>
              </a:spcBef>
              <a:buFont typeface="Arial"/>
              <a:buChar char="•"/>
              <a:tabLst>
                <a:tab pos="1153795" algn="l"/>
              </a:tabLst>
            </a:pPr>
            <a:r>
              <a:rPr dirty="0" sz="2000">
                <a:latin typeface="Calibri"/>
                <a:cs typeface="Calibri"/>
              </a:rPr>
              <a:t>Hypercalls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like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system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calls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but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guest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VMM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0842" y="230717"/>
            <a:ext cx="7793355" cy="82804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375"/>
              </a:spcBef>
            </a:pPr>
            <a:r>
              <a:rPr dirty="0" sz="2400" b="1">
                <a:solidFill>
                  <a:srgbClr val="2E5496"/>
                </a:solidFill>
                <a:latin typeface="Calibri"/>
                <a:cs typeface="Calibri"/>
              </a:rPr>
              <a:t>CLOUD</a:t>
            </a:r>
            <a:r>
              <a:rPr dirty="0" sz="2400" spc="-80" b="1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496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2400" spc="-10" b="1">
                <a:solidFill>
                  <a:srgbClr val="C55A11"/>
                </a:solidFill>
                <a:latin typeface="Calibri"/>
                <a:cs typeface="Calibri"/>
              </a:rPr>
              <a:t>Hardware</a:t>
            </a:r>
            <a:r>
              <a:rPr dirty="0" sz="2400" spc="-40" b="1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Calibri"/>
                <a:cs typeface="Calibri"/>
              </a:rPr>
              <a:t>assisted</a:t>
            </a:r>
            <a:r>
              <a:rPr dirty="0" sz="2400" spc="-25" b="1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Calibri"/>
                <a:cs typeface="Calibri"/>
              </a:rPr>
              <a:t>virtualization:</a:t>
            </a:r>
            <a:r>
              <a:rPr dirty="0" sz="2400" spc="-35" b="1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55A11"/>
                </a:solidFill>
                <a:latin typeface="Calibri"/>
                <a:cs typeface="Calibri"/>
              </a:rPr>
              <a:t>Intel</a:t>
            </a:r>
            <a:r>
              <a:rPr dirty="0" sz="2400" spc="-20" b="1">
                <a:solidFill>
                  <a:srgbClr val="C55A11"/>
                </a:solidFill>
                <a:latin typeface="Calibri"/>
                <a:cs typeface="Calibri"/>
              </a:rPr>
              <a:t> VT-</a:t>
            </a:r>
            <a:r>
              <a:rPr dirty="0" sz="2400" spc="-35" b="1">
                <a:solidFill>
                  <a:srgbClr val="C55A11"/>
                </a:solidFill>
                <a:latin typeface="Calibri"/>
                <a:cs typeface="Calibri"/>
              </a:rPr>
              <a:t>x/AMD-</a:t>
            </a:r>
            <a:r>
              <a:rPr dirty="0" sz="2400" b="1">
                <a:solidFill>
                  <a:srgbClr val="C55A11"/>
                </a:solidFill>
                <a:latin typeface="Calibri"/>
                <a:cs typeface="Calibri"/>
              </a:rPr>
              <a:t>v</a:t>
            </a:r>
            <a:r>
              <a:rPr dirty="0" sz="2400" spc="-15" b="1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55A11"/>
                </a:solidFill>
                <a:latin typeface="Calibri"/>
                <a:cs typeface="Calibri"/>
              </a:rPr>
              <a:t>for</a:t>
            </a:r>
            <a:r>
              <a:rPr dirty="0" sz="2400" spc="-30" b="1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Calibri"/>
                <a:cs typeface="Calibri"/>
              </a:rPr>
              <a:t>x86-</a:t>
            </a:r>
            <a:r>
              <a:rPr dirty="0" sz="2400" spc="-25" b="1">
                <a:solidFill>
                  <a:srgbClr val="C55A11"/>
                </a:solidFill>
                <a:latin typeface="Calibri"/>
                <a:cs typeface="Calibri"/>
              </a:rPr>
              <a:t>64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A logo for a university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76052" y="0"/>
            <a:ext cx="756161" cy="139051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6939" y="1953514"/>
            <a:ext cx="5879465" cy="2220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marR="288925" indent="-457834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Calibri"/>
                <a:cs typeface="Calibri"/>
              </a:rPr>
              <a:t>Two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challenges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virtualizing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x86-</a:t>
            </a:r>
            <a:r>
              <a:rPr dirty="0" sz="2400">
                <a:latin typeface="Calibri"/>
                <a:cs typeface="Calibri"/>
              </a:rPr>
              <a:t>64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ISA: </a:t>
            </a:r>
            <a:r>
              <a:rPr dirty="0" sz="2400">
                <a:latin typeface="Calibri"/>
                <a:cs typeface="Calibri"/>
              </a:rPr>
              <a:t>How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hide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system/privileged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state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from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VM?</a:t>
            </a:r>
            <a:endParaRPr sz="2400">
              <a:latin typeface="Calibri"/>
              <a:cs typeface="Calibri"/>
            </a:endParaRPr>
          </a:p>
          <a:p>
            <a:pPr marL="469900" marR="5080">
              <a:lnSpc>
                <a:spcPct val="100000"/>
              </a:lnSpc>
            </a:pPr>
            <a:r>
              <a:rPr dirty="0" sz="2400">
                <a:latin typeface="Calibri"/>
                <a:cs typeface="Calibri"/>
              </a:rPr>
              <a:t>How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ensure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VM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cannot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directly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change system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state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(e.g.,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interrupt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flags)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the </a:t>
            </a:r>
            <a:r>
              <a:rPr dirty="0" sz="2400" spc="-10">
                <a:latin typeface="Calibri"/>
                <a:cs typeface="Calibri"/>
              </a:rPr>
              <a:t>processor?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72541" y="265938"/>
            <a:ext cx="25971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496"/>
                </a:solidFill>
                <a:latin typeface="Calibri"/>
                <a:cs typeface="Calibri"/>
              </a:rPr>
              <a:t>CLOUD</a:t>
            </a:r>
            <a:r>
              <a:rPr dirty="0" sz="2400" spc="-80" b="1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496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0842" y="666953"/>
            <a:ext cx="5013325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solidFill>
                  <a:srgbClr val="C55A11"/>
                </a:solidFill>
              </a:rPr>
              <a:t>Hardware</a:t>
            </a:r>
            <a:r>
              <a:rPr dirty="0" spc="-95">
                <a:solidFill>
                  <a:srgbClr val="C55A11"/>
                </a:solidFill>
              </a:rPr>
              <a:t> </a:t>
            </a:r>
            <a:r>
              <a:rPr dirty="0" spc="-10">
                <a:solidFill>
                  <a:srgbClr val="C55A11"/>
                </a:solidFill>
              </a:rPr>
              <a:t>assisted</a:t>
            </a:r>
            <a:r>
              <a:rPr dirty="0" spc="-75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virtualization</a:t>
            </a:r>
            <a:r>
              <a:rPr dirty="0" spc="-75">
                <a:solidFill>
                  <a:srgbClr val="C55A11"/>
                </a:solidFill>
              </a:rPr>
              <a:t> </a:t>
            </a:r>
            <a:r>
              <a:rPr dirty="0" spc="-10">
                <a:solidFill>
                  <a:srgbClr val="C55A11"/>
                </a:solidFill>
              </a:rPr>
              <a:t>(Cont.)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 descr="A logo for a university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76052" y="0"/>
            <a:ext cx="756161" cy="139051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63041" y="1690990"/>
            <a:ext cx="7477125" cy="3726179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75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800">
                <a:latin typeface="Calibri"/>
                <a:cs typeface="Calibri"/>
              </a:rPr>
              <a:t>Solution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idea:</a:t>
            </a:r>
            <a:endParaRPr sz="28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 spc="-20">
                <a:latin typeface="Calibri"/>
                <a:cs typeface="Calibri"/>
              </a:rPr>
              <a:t>Two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new</a:t>
            </a:r>
            <a:r>
              <a:rPr dirty="0" sz="2400" spc="-35" i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modes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operation: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C00000"/>
                </a:solidFill>
                <a:latin typeface="Calibri"/>
                <a:cs typeface="Calibri"/>
              </a:rPr>
              <a:t>root</a:t>
            </a:r>
            <a:r>
              <a:rPr dirty="0" sz="2400" spc="-4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C00000"/>
                </a:solidFill>
                <a:latin typeface="Calibri"/>
                <a:cs typeface="Calibri"/>
              </a:rPr>
              <a:t>non-root</a:t>
            </a:r>
            <a:endParaRPr sz="2400">
              <a:latin typeface="Calibri"/>
              <a:cs typeface="Calibri"/>
            </a:endParaRPr>
          </a:p>
          <a:p>
            <a:pPr lvl="2" marL="1153795" indent="-226695">
              <a:lnSpc>
                <a:spcPct val="100000"/>
              </a:lnSpc>
              <a:spcBef>
                <a:spcPts val="284"/>
              </a:spcBef>
              <a:buFont typeface="Arial"/>
              <a:buChar char="•"/>
              <a:tabLst>
                <a:tab pos="1153795" algn="l"/>
              </a:tabLst>
            </a:pPr>
            <a:r>
              <a:rPr dirty="0" sz="2000">
                <a:latin typeface="Calibri"/>
                <a:cs typeface="Calibri"/>
              </a:rPr>
              <a:t>Each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mode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complete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execution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rings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(0-</a:t>
            </a:r>
            <a:r>
              <a:rPr dirty="0" sz="2000" spc="-25">
                <a:latin typeface="Calibri"/>
                <a:cs typeface="Calibri"/>
              </a:rPr>
              <a:t>3)</a:t>
            </a:r>
            <a:endParaRPr sz="2000">
              <a:latin typeface="Calibri"/>
              <a:cs typeface="Calibri"/>
            </a:endParaRPr>
          </a:p>
          <a:p>
            <a:pPr lvl="2" marL="1153795" indent="-226695">
              <a:lnSpc>
                <a:spcPct val="100000"/>
              </a:lnSpc>
              <a:spcBef>
                <a:spcPts val="260"/>
              </a:spcBef>
              <a:buFont typeface="Arial"/>
              <a:buChar char="•"/>
              <a:tabLst>
                <a:tab pos="1153795" algn="l"/>
              </a:tabLst>
            </a:pPr>
            <a:r>
              <a:rPr dirty="0" sz="2000">
                <a:latin typeface="Calibri"/>
                <a:cs typeface="Calibri"/>
              </a:rPr>
              <a:t>New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instructions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switch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between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modes</a:t>
            </a:r>
            <a:endParaRPr sz="20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190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alibri"/>
                <a:cs typeface="Calibri"/>
              </a:rPr>
              <a:t>H/W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state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duplicated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each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operation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mode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ts val="2735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alibri"/>
                <a:cs typeface="Calibri"/>
              </a:rPr>
              <a:t>Hypervisor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runs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root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mode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VMs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non-root</a:t>
            </a:r>
            <a:endParaRPr sz="2400">
              <a:latin typeface="Calibri"/>
              <a:cs typeface="Calibri"/>
            </a:endParaRPr>
          </a:p>
          <a:p>
            <a:pPr marL="698500">
              <a:lnSpc>
                <a:spcPts val="2735"/>
              </a:lnSpc>
            </a:pPr>
            <a:r>
              <a:rPr dirty="0" sz="2400" spc="-20">
                <a:latin typeface="Calibri"/>
                <a:cs typeface="Calibri"/>
              </a:rPr>
              <a:t>mode</a:t>
            </a:r>
            <a:endParaRPr sz="2400">
              <a:latin typeface="Calibri"/>
              <a:cs typeface="Calibri"/>
            </a:endParaRPr>
          </a:p>
          <a:p>
            <a:pPr algn="just" lvl="1" marL="696595" marR="5080" indent="-227329">
              <a:lnSpc>
                <a:spcPts val="2590"/>
              </a:lnSpc>
              <a:spcBef>
                <a:spcPts val="535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2400">
                <a:latin typeface="Calibri"/>
                <a:cs typeface="Calibri"/>
              </a:rPr>
              <a:t>When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any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“sensitive”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instruction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executed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non-</a:t>
            </a:r>
            <a:r>
              <a:rPr dirty="0" sz="2400" spc="-20">
                <a:latin typeface="Calibri"/>
                <a:cs typeface="Calibri"/>
              </a:rPr>
              <a:t>root </a:t>
            </a:r>
            <a:r>
              <a:rPr dirty="0" sz="2400" spc="-2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mode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either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(1)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executed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by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processor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duplicated 	state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(2)</a:t>
            </a:r>
            <a:r>
              <a:rPr dirty="0" sz="2400" spc="4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trap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hypervisor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7625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375"/>
              </a:spcBef>
            </a:pPr>
            <a:r>
              <a:rPr dirty="0"/>
              <a:t>CLOUD</a:t>
            </a:r>
            <a:r>
              <a:rPr dirty="0" spc="-80"/>
              <a:t> </a:t>
            </a:r>
            <a:r>
              <a:rPr dirty="0" spc="-10"/>
              <a:t>COMPUTING</a:t>
            </a:r>
          </a:p>
          <a:p>
            <a:pPr marL="201295">
              <a:lnSpc>
                <a:spcPct val="100000"/>
              </a:lnSpc>
              <a:spcBef>
                <a:spcPts val="280"/>
              </a:spcBef>
            </a:pPr>
            <a:r>
              <a:rPr dirty="0" spc="-10">
                <a:solidFill>
                  <a:srgbClr val="C55A11"/>
                </a:solidFill>
              </a:rPr>
              <a:t>Hardware</a:t>
            </a:r>
            <a:r>
              <a:rPr dirty="0" spc="-95">
                <a:solidFill>
                  <a:srgbClr val="C55A11"/>
                </a:solidFill>
              </a:rPr>
              <a:t> </a:t>
            </a:r>
            <a:r>
              <a:rPr dirty="0" spc="-10">
                <a:solidFill>
                  <a:srgbClr val="C55A11"/>
                </a:solidFill>
              </a:rPr>
              <a:t>assisted</a:t>
            </a:r>
            <a:r>
              <a:rPr dirty="0" spc="-75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virtualization</a:t>
            </a:r>
            <a:r>
              <a:rPr dirty="0" spc="-75">
                <a:solidFill>
                  <a:srgbClr val="C55A11"/>
                </a:solidFill>
              </a:rPr>
              <a:t> </a:t>
            </a:r>
            <a:r>
              <a:rPr dirty="0" spc="-10">
                <a:solidFill>
                  <a:srgbClr val="C55A11"/>
                </a:solidFill>
              </a:rPr>
              <a:t>(Cont.)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5" name="object 35" descr="A logo for a university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76052" y="0"/>
            <a:ext cx="756161" cy="1390513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2822194" y="1489709"/>
            <a:ext cx="5283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alibri"/>
                <a:cs typeface="Calibri"/>
              </a:rPr>
              <a:t>VM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spc="-50" b="1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110476" y="1386585"/>
            <a:ext cx="5283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alibri"/>
                <a:cs typeface="Calibri"/>
              </a:rPr>
              <a:t>VM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spc="-50" b="1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114932" y="1905501"/>
            <a:ext cx="254000" cy="154559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z="1800" b="1">
                <a:latin typeface="Calibri"/>
                <a:cs typeface="Calibri"/>
              </a:rPr>
              <a:t>Non-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root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mode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437894" y="1948433"/>
            <a:ext cx="304800" cy="1828800"/>
          </a:xfrm>
          <a:custGeom>
            <a:avLst/>
            <a:gdLst/>
            <a:ahLst/>
            <a:cxnLst/>
            <a:rect l="l" t="t" r="r" b="b"/>
            <a:pathLst>
              <a:path w="304800" h="1828800">
                <a:moveTo>
                  <a:pt x="304800" y="1828799"/>
                </a:moveTo>
                <a:lnTo>
                  <a:pt x="245465" y="1826795"/>
                </a:lnTo>
                <a:lnTo>
                  <a:pt x="197024" y="1821338"/>
                </a:lnTo>
                <a:lnTo>
                  <a:pt x="164371" y="1813262"/>
                </a:lnTo>
                <a:lnTo>
                  <a:pt x="152400" y="1803399"/>
                </a:lnTo>
                <a:lnTo>
                  <a:pt x="152400" y="939800"/>
                </a:lnTo>
                <a:lnTo>
                  <a:pt x="140428" y="929937"/>
                </a:lnTo>
                <a:lnTo>
                  <a:pt x="107775" y="921861"/>
                </a:lnTo>
                <a:lnTo>
                  <a:pt x="59334" y="916404"/>
                </a:lnTo>
                <a:lnTo>
                  <a:pt x="0" y="914400"/>
                </a:lnTo>
                <a:lnTo>
                  <a:pt x="59334" y="912395"/>
                </a:lnTo>
                <a:lnTo>
                  <a:pt x="107775" y="906938"/>
                </a:lnTo>
                <a:lnTo>
                  <a:pt x="140428" y="898862"/>
                </a:lnTo>
                <a:lnTo>
                  <a:pt x="152400" y="889000"/>
                </a:lnTo>
                <a:lnTo>
                  <a:pt x="152400" y="25400"/>
                </a:lnTo>
                <a:lnTo>
                  <a:pt x="164371" y="15537"/>
                </a:lnTo>
                <a:lnTo>
                  <a:pt x="197024" y="7461"/>
                </a:lnTo>
                <a:lnTo>
                  <a:pt x="245465" y="2004"/>
                </a:lnTo>
                <a:lnTo>
                  <a:pt x="3048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2" name="object 22"/>
          <p:cNvGrpSpPr/>
          <p:nvPr/>
        </p:nvGrpSpPr>
        <p:grpSpPr>
          <a:xfrm>
            <a:off x="1891029" y="1836166"/>
            <a:ext cx="2565400" cy="2146300"/>
            <a:chOff x="1891029" y="1836166"/>
            <a:chExt cx="2565400" cy="2146300"/>
          </a:xfrm>
        </p:grpSpPr>
        <p:sp>
          <p:nvSpPr>
            <p:cNvPr id="23" name="object 23"/>
            <p:cNvSpPr/>
            <p:nvPr/>
          </p:nvSpPr>
          <p:spPr>
            <a:xfrm>
              <a:off x="1897379" y="1842516"/>
              <a:ext cx="2552700" cy="2133600"/>
            </a:xfrm>
            <a:custGeom>
              <a:avLst/>
              <a:gdLst/>
              <a:ahLst/>
              <a:cxnLst/>
              <a:rect l="l" t="t" r="r" b="b"/>
              <a:pathLst>
                <a:path w="2552700" h="2133600">
                  <a:moveTo>
                    <a:pt x="2197099" y="0"/>
                  </a:moveTo>
                  <a:lnTo>
                    <a:pt x="355600" y="0"/>
                  </a:lnTo>
                  <a:lnTo>
                    <a:pt x="307357" y="3247"/>
                  </a:lnTo>
                  <a:lnTo>
                    <a:pt x="261084" y="12705"/>
                  </a:lnTo>
                  <a:lnTo>
                    <a:pt x="217205" y="27951"/>
                  </a:lnTo>
                  <a:lnTo>
                    <a:pt x="176144" y="48561"/>
                  </a:lnTo>
                  <a:lnTo>
                    <a:pt x="138324" y="74109"/>
                  </a:lnTo>
                  <a:lnTo>
                    <a:pt x="104171" y="104171"/>
                  </a:lnTo>
                  <a:lnTo>
                    <a:pt x="74109" y="138324"/>
                  </a:lnTo>
                  <a:lnTo>
                    <a:pt x="48561" y="176144"/>
                  </a:lnTo>
                  <a:lnTo>
                    <a:pt x="27951" y="217205"/>
                  </a:lnTo>
                  <a:lnTo>
                    <a:pt x="12705" y="261084"/>
                  </a:lnTo>
                  <a:lnTo>
                    <a:pt x="3247" y="307357"/>
                  </a:lnTo>
                  <a:lnTo>
                    <a:pt x="0" y="355600"/>
                  </a:lnTo>
                  <a:lnTo>
                    <a:pt x="0" y="1778000"/>
                  </a:lnTo>
                  <a:lnTo>
                    <a:pt x="3247" y="1826242"/>
                  </a:lnTo>
                  <a:lnTo>
                    <a:pt x="12705" y="1872515"/>
                  </a:lnTo>
                  <a:lnTo>
                    <a:pt x="27951" y="1916394"/>
                  </a:lnTo>
                  <a:lnTo>
                    <a:pt x="48561" y="1957455"/>
                  </a:lnTo>
                  <a:lnTo>
                    <a:pt x="74109" y="1995275"/>
                  </a:lnTo>
                  <a:lnTo>
                    <a:pt x="104171" y="2029428"/>
                  </a:lnTo>
                  <a:lnTo>
                    <a:pt x="138324" y="2059490"/>
                  </a:lnTo>
                  <a:lnTo>
                    <a:pt x="176144" y="2085038"/>
                  </a:lnTo>
                  <a:lnTo>
                    <a:pt x="217205" y="2105648"/>
                  </a:lnTo>
                  <a:lnTo>
                    <a:pt x="261084" y="2120894"/>
                  </a:lnTo>
                  <a:lnTo>
                    <a:pt x="307357" y="2130352"/>
                  </a:lnTo>
                  <a:lnTo>
                    <a:pt x="355600" y="2133600"/>
                  </a:lnTo>
                  <a:lnTo>
                    <a:pt x="2197099" y="2133600"/>
                  </a:lnTo>
                  <a:lnTo>
                    <a:pt x="2245342" y="2130352"/>
                  </a:lnTo>
                  <a:lnTo>
                    <a:pt x="2291615" y="2120894"/>
                  </a:lnTo>
                  <a:lnTo>
                    <a:pt x="2335494" y="2105648"/>
                  </a:lnTo>
                  <a:lnTo>
                    <a:pt x="2376555" y="2085038"/>
                  </a:lnTo>
                  <a:lnTo>
                    <a:pt x="2414375" y="2059490"/>
                  </a:lnTo>
                  <a:lnTo>
                    <a:pt x="2448528" y="2029428"/>
                  </a:lnTo>
                  <a:lnTo>
                    <a:pt x="2478590" y="1995275"/>
                  </a:lnTo>
                  <a:lnTo>
                    <a:pt x="2504138" y="1957455"/>
                  </a:lnTo>
                  <a:lnTo>
                    <a:pt x="2524748" y="1916394"/>
                  </a:lnTo>
                  <a:lnTo>
                    <a:pt x="2539994" y="1872515"/>
                  </a:lnTo>
                  <a:lnTo>
                    <a:pt x="2549452" y="1826242"/>
                  </a:lnTo>
                  <a:lnTo>
                    <a:pt x="2552699" y="1778000"/>
                  </a:lnTo>
                  <a:lnTo>
                    <a:pt x="2552699" y="355600"/>
                  </a:lnTo>
                  <a:lnTo>
                    <a:pt x="2549452" y="307357"/>
                  </a:lnTo>
                  <a:lnTo>
                    <a:pt x="2539994" y="261084"/>
                  </a:lnTo>
                  <a:lnTo>
                    <a:pt x="2524748" y="217205"/>
                  </a:lnTo>
                  <a:lnTo>
                    <a:pt x="2504138" y="176144"/>
                  </a:lnTo>
                  <a:lnTo>
                    <a:pt x="2478590" y="138324"/>
                  </a:lnTo>
                  <a:lnTo>
                    <a:pt x="2448528" y="104171"/>
                  </a:lnTo>
                  <a:lnTo>
                    <a:pt x="2414375" y="74109"/>
                  </a:lnTo>
                  <a:lnTo>
                    <a:pt x="2376555" y="48561"/>
                  </a:lnTo>
                  <a:lnTo>
                    <a:pt x="2335494" y="27951"/>
                  </a:lnTo>
                  <a:lnTo>
                    <a:pt x="2291615" y="12705"/>
                  </a:lnTo>
                  <a:lnTo>
                    <a:pt x="2245342" y="3247"/>
                  </a:lnTo>
                  <a:lnTo>
                    <a:pt x="2197099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897379" y="1842516"/>
              <a:ext cx="2552700" cy="2133600"/>
            </a:xfrm>
            <a:custGeom>
              <a:avLst/>
              <a:gdLst/>
              <a:ahLst/>
              <a:cxnLst/>
              <a:rect l="l" t="t" r="r" b="b"/>
              <a:pathLst>
                <a:path w="2552700" h="2133600">
                  <a:moveTo>
                    <a:pt x="0" y="355600"/>
                  </a:moveTo>
                  <a:lnTo>
                    <a:pt x="3247" y="307357"/>
                  </a:lnTo>
                  <a:lnTo>
                    <a:pt x="12705" y="261084"/>
                  </a:lnTo>
                  <a:lnTo>
                    <a:pt x="27951" y="217205"/>
                  </a:lnTo>
                  <a:lnTo>
                    <a:pt x="48561" y="176144"/>
                  </a:lnTo>
                  <a:lnTo>
                    <a:pt x="74109" y="138324"/>
                  </a:lnTo>
                  <a:lnTo>
                    <a:pt x="104171" y="104171"/>
                  </a:lnTo>
                  <a:lnTo>
                    <a:pt x="138324" y="74109"/>
                  </a:lnTo>
                  <a:lnTo>
                    <a:pt x="176144" y="48561"/>
                  </a:lnTo>
                  <a:lnTo>
                    <a:pt x="217205" y="27951"/>
                  </a:lnTo>
                  <a:lnTo>
                    <a:pt x="261084" y="12705"/>
                  </a:lnTo>
                  <a:lnTo>
                    <a:pt x="307357" y="3247"/>
                  </a:lnTo>
                  <a:lnTo>
                    <a:pt x="355600" y="0"/>
                  </a:lnTo>
                  <a:lnTo>
                    <a:pt x="2197099" y="0"/>
                  </a:lnTo>
                  <a:lnTo>
                    <a:pt x="2245342" y="3247"/>
                  </a:lnTo>
                  <a:lnTo>
                    <a:pt x="2291615" y="12705"/>
                  </a:lnTo>
                  <a:lnTo>
                    <a:pt x="2335494" y="27951"/>
                  </a:lnTo>
                  <a:lnTo>
                    <a:pt x="2376555" y="48561"/>
                  </a:lnTo>
                  <a:lnTo>
                    <a:pt x="2414375" y="74109"/>
                  </a:lnTo>
                  <a:lnTo>
                    <a:pt x="2448528" y="104171"/>
                  </a:lnTo>
                  <a:lnTo>
                    <a:pt x="2478590" y="138324"/>
                  </a:lnTo>
                  <a:lnTo>
                    <a:pt x="2504138" y="176144"/>
                  </a:lnTo>
                  <a:lnTo>
                    <a:pt x="2524748" y="217205"/>
                  </a:lnTo>
                  <a:lnTo>
                    <a:pt x="2539994" y="261084"/>
                  </a:lnTo>
                  <a:lnTo>
                    <a:pt x="2549452" y="307357"/>
                  </a:lnTo>
                  <a:lnTo>
                    <a:pt x="2552699" y="355600"/>
                  </a:lnTo>
                  <a:lnTo>
                    <a:pt x="2552699" y="1778000"/>
                  </a:lnTo>
                  <a:lnTo>
                    <a:pt x="2549452" y="1826242"/>
                  </a:lnTo>
                  <a:lnTo>
                    <a:pt x="2539994" y="1872515"/>
                  </a:lnTo>
                  <a:lnTo>
                    <a:pt x="2524748" y="1916394"/>
                  </a:lnTo>
                  <a:lnTo>
                    <a:pt x="2504138" y="1957455"/>
                  </a:lnTo>
                  <a:lnTo>
                    <a:pt x="2478590" y="1995275"/>
                  </a:lnTo>
                  <a:lnTo>
                    <a:pt x="2448528" y="2029428"/>
                  </a:lnTo>
                  <a:lnTo>
                    <a:pt x="2414375" y="2059490"/>
                  </a:lnTo>
                  <a:lnTo>
                    <a:pt x="2376555" y="2085038"/>
                  </a:lnTo>
                  <a:lnTo>
                    <a:pt x="2335494" y="2105648"/>
                  </a:lnTo>
                  <a:lnTo>
                    <a:pt x="2291615" y="2120894"/>
                  </a:lnTo>
                  <a:lnTo>
                    <a:pt x="2245342" y="2130352"/>
                  </a:lnTo>
                  <a:lnTo>
                    <a:pt x="2197099" y="2133600"/>
                  </a:lnTo>
                  <a:lnTo>
                    <a:pt x="355600" y="2133600"/>
                  </a:lnTo>
                  <a:lnTo>
                    <a:pt x="307357" y="2130352"/>
                  </a:lnTo>
                  <a:lnTo>
                    <a:pt x="261084" y="2120894"/>
                  </a:lnTo>
                  <a:lnTo>
                    <a:pt x="217205" y="2105648"/>
                  </a:lnTo>
                  <a:lnTo>
                    <a:pt x="176144" y="2085038"/>
                  </a:lnTo>
                  <a:lnTo>
                    <a:pt x="138324" y="2059490"/>
                  </a:lnTo>
                  <a:lnTo>
                    <a:pt x="104171" y="2029428"/>
                  </a:lnTo>
                  <a:lnTo>
                    <a:pt x="74109" y="1995275"/>
                  </a:lnTo>
                  <a:lnTo>
                    <a:pt x="48561" y="1957455"/>
                  </a:lnTo>
                  <a:lnTo>
                    <a:pt x="27951" y="1916394"/>
                  </a:lnTo>
                  <a:lnTo>
                    <a:pt x="12705" y="1872515"/>
                  </a:lnTo>
                  <a:lnTo>
                    <a:pt x="3247" y="1826242"/>
                  </a:lnTo>
                  <a:lnTo>
                    <a:pt x="0" y="1778000"/>
                  </a:lnTo>
                  <a:lnTo>
                    <a:pt x="0" y="355600"/>
                  </a:lnTo>
                  <a:close/>
                </a:path>
                <a:path w="2552700" h="2133600">
                  <a:moveTo>
                    <a:pt x="152400" y="2013204"/>
                  </a:moveTo>
                  <a:lnTo>
                    <a:pt x="1219200" y="2013204"/>
                  </a:lnTo>
                  <a:lnTo>
                    <a:pt x="1219200" y="108204"/>
                  </a:lnTo>
                  <a:lnTo>
                    <a:pt x="152400" y="108204"/>
                  </a:lnTo>
                  <a:lnTo>
                    <a:pt x="152400" y="2013204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2142744" y="2034539"/>
            <a:ext cx="914400" cy="379730"/>
          </a:xfrm>
          <a:prstGeom prst="rect">
            <a:avLst/>
          </a:prstGeom>
          <a:ln w="12700">
            <a:solidFill>
              <a:srgbClr val="2E528F"/>
            </a:solidFill>
          </a:ln>
        </p:spPr>
        <p:txBody>
          <a:bodyPr wrap="square" lIns="0" tIns="38100" rIns="0" bIns="0" rtlCol="0" vert="horz">
            <a:spAutoFit/>
          </a:bodyPr>
          <a:lstStyle/>
          <a:p>
            <a:pPr marL="170180">
              <a:lnSpc>
                <a:spcPct val="100000"/>
              </a:lnSpc>
              <a:spcBef>
                <a:spcPts val="300"/>
              </a:spcBef>
            </a:pPr>
            <a:r>
              <a:rPr dirty="0" sz="1800">
                <a:latin typeface="Calibri"/>
                <a:cs typeface="Calibri"/>
              </a:rPr>
              <a:t>Ring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50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224910" y="2080640"/>
            <a:ext cx="9690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Guest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app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013450" y="1785873"/>
            <a:ext cx="2565400" cy="2146300"/>
            <a:chOff x="6013450" y="1785873"/>
            <a:chExt cx="2565400" cy="2146300"/>
          </a:xfrm>
        </p:grpSpPr>
        <p:sp>
          <p:nvSpPr>
            <p:cNvPr id="14" name="object 14"/>
            <p:cNvSpPr/>
            <p:nvPr/>
          </p:nvSpPr>
          <p:spPr>
            <a:xfrm>
              <a:off x="6019800" y="1792223"/>
              <a:ext cx="2552700" cy="2133600"/>
            </a:xfrm>
            <a:custGeom>
              <a:avLst/>
              <a:gdLst/>
              <a:ahLst/>
              <a:cxnLst/>
              <a:rect l="l" t="t" r="r" b="b"/>
              <a:pathLst>
                <a:path w="2552700" h="2133600">
                  <a:moveTo>
                    <a:pt x="2197100" y="0"/>
                  </a:moveTo>
                  <a:lnTo>
                    <a:pt x="355600" y="0"/>
                  </a:lnTo>
                  <a:lnTo>
                    <a:pt x="307357" y="3247"/>
                  </a:lnTo>
                  <a:lnTo>
                    <a:pt x="261084" y="12705"/>
                  </a:lnTo>
                  <a:lnTo>
                    <a:pt x="217205" y="27951"/>
                  </a:lnTo>
                  <a:lnTo>
                    <a:pt x="176144" y="48561"/>
                  </a:lnTo>
                  <a:lnTo>
                    <a:pt x="138324" y="74109"/>
                  </a:lnTo>
                  <a:lnTo>
                    <a:pt x="104171" y="104171"/>
                  </a:lnTo>
                  <a:lnTo>
                    <a:pt x="74109" y="138324"/>
                  </a:lnTo>
                  <a:lnTo>
                    <a:pt x="48561" y="176144"/>
                  </a:lnTo>
                  <a:lnTo>
                    <a:pt x="27951" y="217205"/>
                  </a:lnTo>
                  <a:lnTo>
                    <a:pt x="12705" y="261084"/>
                  </a:lnTo>
                  <a:lnTo>
                    <a:pt x="3247" y="307357"/>
                  </a:lnTo>
                  <a:lnTo>
                    <a:pt x="0" y="355600"/>
                  </a:lnTo>
                  <a:lnTo>
                    <a:pt x="0" y="1778000"/>
                  </a:lnTo>
                  <a:lnTo>
                    <a:pt x="3247" y="1826242"/>
                  </a:lnTo>
                  <a:lnTo>
                    <a:pt x="12705" y="1872515"/>
                  </a:lnTo>
                  <a:lnTo>
                    <a:pt x="27951" y="1916394"/>
                  </a:lnTo>
                  <a:lnTo>
                    <a:pt x="48561" y="1957455"/>
                  </a:lnTo>
                  <a:lnTo>
                    <a:pt x="74109" y="1995275"/>
                  </a:lnTo>
                  <a:lnTo>
                    <a:pt x="104171" y="2029428"/>
                  </a:lnTo>
                  <a:lnTo>
                    <a:pt x="138324" y="2059490"/>
                  </a:lnTo>
                  <a:lnTo>
                    <a:pt x="176144" y="2085038"/>
                  </a:lnTo>
                  <a:lnTo>
                    <a:pt x="217205" y="2105648"/>
                  </a:lnTo>
                  <a:lnTo>
                    <a:pt x="261084" y="2120894"/>
                  </a:lnTo>
                  <a:lnTo>
                    <a:pt x="307357" y="2130352"/>
                  </a:lnTo>
                  <a:lnTo>
                    <a:pt x="355600" y="2133600"/>
                  </a:lnTo>
                  <a:lnTo>
                    <a:pt x="2197100" y="2133600"/>
                  </a:lnTo>
                  <a:lnTo>
                    <a:pt x="2245342" y="2130352"/>
                  </a:lnTo>
                  <a:lnTo>
                    <a:pt x="2291615" y="2120894"/>
                  </a:lnTo>
                  <a:lnTo>
                    <a:pt x="2335494" y="2105648"/>
                  </a:lnTo>
                  <a:lnTo>
                    <a:pt x="2376555" y="2085038"/>
                  </a:lnTo>
                  <a:lnTo>
                    <a:pt x="2414375" y="2059490"/>
                  </a:lnTo>
                  <a:lnTo>
                    <a:pt x="2448528" y="2029428"/>
                  </a:lnTo>
                  <a:lnTo>
                    <a:pt x="2478590" y="1995275"/>
                  </a:lnTo>
                  <a:lnTo>
                    <a:pt x="2504138" y="1957455"/>
                  </a:lnTo>
                  <a:lnTo>
                    <a:pt x="2524748" y="1916394"/>
                  </a:lnTo>
                  <a:lnTo>
                    <a:pt x="2539994" y="1872515"/>
                  </a:lnTo>
                  <a:lnTo>
                    <a:pt x="2549452" y="1826242"/>
                  </a:lnTo>
                  <a:lnTo>
                    <a:pt x="2552700" y="1778000"/>
                  </a:lnTo>
                  <a:lnTo>
                    <a:pt x="2552700" y="355600"/>
                  </a:lnTo>
                  <a:lnTo>
                    <a:pt x="2549452" y="307357"/>
                  </a:lnTo>
                  <a:lnTo>
                    <a:pt x="2539994" y="261084"/>
                  </a:lnTo>
                  <a:lnTo>
                    <a:pt x="2524748" y="217205"/>
                  </a:lnTo>
                  <a:lnTo>
                    <a:pt x="2504138" y="176144"/>
                  </a:lnTo>
                  <a:lnTo>
                    <a:pt x="2478590" y="138324"/>
                  </a:lnTo>
                  <a:lnTo>
                    <a:pt x="2448528" y="104171"/>
                  </a:lnTo>
                  <a:lnTo>
                    <a:pt x="2414375" y="74109"/>
                  </a:lnTo>
                  <a:lnTo>
                    <a:pt x="2376555" y="48561"/>
                  </a:lnTo>
                  <a:lnTo>
                    <a:pt x="2335494" y="27951"/>
                  </a:lnTo>
                  <a:lnTo>
                    <a:pt x="2291615" y="12705"/>
                  </a:lnTo>
                  <a:lnTo>
                    <a:pt x="2245342" y="3247"/>
                  </a:lnTo>
                  <a:lnTo>
                    <a:pt x="219710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019800" y="1792223"/>
              <a:ext cx="2552700" cy="2133600"/>
            </a:xfrm>
            <a:custGeom>
              <a:avLst/>
              <a:gdLst/>
              <a:ahLst/>
              <a:cxnLst/>
              <a:rect l="l" t="t" r="r" b="b"/>
              <a:pathLst>
                <a:path w="2552700" h="2133600">
                  <a:moveTo>
                    <a:pt x="0" y="355600"/>
                  </a:moveTo>
                  <a:lnTo>
                    <a:pt x="3247" y="307357"/>
                  </a:lnTo>
                  <a:lnTo>
                    <a:pt x="12705" y="261084"/>
                  </a:lnTo>
                  <a:lnTo>
                    <a:pt x="27951" y="217205"/>
                  </a:lnTo>
                  <a:lnTo>
                    <a:pt x="48561" y="176144"/>
                  </a:lnTo>
                  <a:lnTo>
                    <a:pt x="74109" y="138324"/>
                  </a:lnTo>
                  <a:lnTo>
                    <a:pt x="104171" y="104171"/>
                  </a:lnTo>
                  <a:lnTo>
                    <a:pt x="138324" y="74109"/>
                  </a:lnTo>
                  <a:lnTo>
                    <a:pt x="176144" y="48561"/>
                  </a:lnTo>
                  <a:lnTo>
                    <a:pt x="217205" y="27951"/>
                  </a:lnTo>
                  <a:lnTo>
                    <a:pt x="261084" y="12705"/>
                  </a:lnTo>
                  <a:lnTo>
                    <a:pt x="307357" y="3247"/>
                  </a:lnTo>
                  <a:lnTo>
                    <a:pt x="355600" y="0"/>
                  </a:lnTo>
                  <a:lnTo>
                    <a:pt x="2197100" y="0"/>
                  </a:lnTo>
                  <a:lnTo>
                    <a:pt x="2245342" y="3247"/>
                  </a:lnTo>
                  <a:lnTo>
                    <a:pt x="2291615" y="12705"/>
                  </a:lnTo>
                  <a:lnTo>
                    <a:pt x="2335494" y="27951"/>
                  </a:lnTo>
                  <a:lnTo>
                    <a:pt x="2376555" y="48561"/>
                  </a:lnTo>
                  <a:lnTo>
                    <a:pt x="2414375" y="74109"/>
                  </a:lnTo>
                  <a:lnTo>
                    <a:pt x="2448528" y="104171"/>
                  </a:lnTo>
                  <a:lnTo>
                    <a:pt x="2478590" y="138324"/>
                  </a:lnTo>
                  <a:lnTo>
                    <a:pt x="2504138" y="176144"/>
                  </a:lnTo>
                  <a:lnTo>
                    <a:pt x="2524748" y="217205"/>
                  </a:lnTo>
                  <a:lnTo>
                    <a:pt x="2539994" y="261084"/>
                  </a:lnTo>
                  <a:lnTo>
                    <a:pt x="2549452" y="307357"/>
                  </a:lnTo>
                  <a:lnTo>
                    <a:pt x="2552700" y="355600"/>
                  </a:lnTo>
                  <a:lnTo>
                    <a:pt x="2552700" y="1778000"/>
                  </a:lnTo>
                  <a:lnTo>
                    <a:pt x="2549452" y="1826242"/>
                  </a:lnTo>
                  <a:lnTo>
                    <a:pt x="2539994" y="1872515"/>
                  </a:lnTo>
                  <a:lnTo>
                    <a:pt x="2524748" y="1916394"/>
                  </a:lnTo>
                  <a:lnTo>
                    <a:pt x="2504138" y="1957455"/>
                  </a:lnTo>
                  <a:lnTo>
                    <a:pt x="2478590" y="1995275"/>
                  </a:lnTo>
                  <a:lnTo>
                    <a:pt x="2448528" y="2029428"/>
                  </a:lnTo>
                  <a:lnTo>
                    <a:pt x="2414375" y="2059490"/>
                  </a:lnTo>
                  <a:lnTo>
                    <a:pt x="2376555" y="2085038"/>
                  </a:lnTo>
                  <a:lnTo>
                    <a:pt x="2335494" y="2105648"/>
                  </a:lnTo>
                  <a:lnTo>
                    <a:pt x="2291615" y="2120894"/>
                  </a:lnTo>
                  <a:lnTo>
                    <a:pt x="2245342" y="2130352"/>
                  </a:lnTo>
                  <a:lnTo>
                    <a:pt x="2197100" y="2133600"/>
                  </a:lnTo>
                  <a:lnTo>
                    <a:pt x="355600" y="2133600"/>
                  </a:lnTo>
                  <a:lnTo>
                    <a:pt x="307357" y="2130352"/>
                  </a:lnTo>
                  <a:lnTo>
                    <a:pt x="261084" y="2120894"/>
                  </a:lnTo>
                  <a:lnTo>
                    <a:pt x="217205" y="2105648"/>
                  </a:lnTo>
                  <a:lnTo>
                    <a:pt x="176144" y="2085038"/>
                  </a:lnTo>
                  <a:lnTo>
                    <a:pt x="138324" y="2059490"/>
                  </a:lnTo>
                  <a:lnTo>
                    <a:pt x="104171" y="2029428"/>
                  </a:lnTo>
                  <a:lnTo>
                    <a:pt x="74109" y="1995275"/>
                  </a:lnTo>
                  <a:lnTo>
                    <a:pt x="48561" y="1957455"/>
                  </a:lnTo>
                  <a:lnTo>
                    <a:pt x="27951" y="1916394"/>
                  </a:lnTo>
                  <a:lnTo>
                    <a:pt x="12705" y="1872515"/>
                  </a:lnTo>
                  <a:lnTo>
                    <a:pt x="3247" y="1826242"/>
                  </a:lnTo>
                  <a:lnTo>
                    <a:pt x="0" y="1778000"/>
                  </a:lnTo>
                  <a:lnTo>
                    <a:pt x="0" y="355600"/>
                  </a:lnTo>
                  <a:close/>
                </a:path>
                <a:path w="2552700" h="2133600">
                  <a:moveTo>
                    <a:pt x="152400" y="2013203"/>
                  </a:moveTo>
                  <a:lnTo>
                    <a:pt x="1219200" y="2013203"/>
                  </a:lnTo>
                  <a:lnTo>
                    <a:pt x="1219200" y="108203"/>
                  </a:lnTo>
                  <a:lnTo>
                    <a:pt x="152400" y="108203"/>
                  </a:lnTo>
                  <a:lnTo>
                    <a:pt x="152400" y="2013203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265164" y="1984248"/>
            <a:ext cx="914400" cy="379730"/>
          </a:xfrm>
          <a:prstGeom prst="rect">
            <a:avLst/>
          </a:prstGeom>
          <a:ln w="12700">
            <a:solidFill>
              <a:srgbClr val="2E528F"/>
            </a:solidFill>
          </a:ln>
        </p:spPr>
        <p:txBody>
          <a:bodyPr wrap="square" lIns="0" tIns="37465" rIns="0" bIns="0" rtlCol="0" vert="horz">
            <a:spAutoFit/>
          </a:bodyPr>
          <a:lstStyle/>
          <a:p>
            <a:pPr marL="170815">
              <a:lnSpc>
                <a:spcPct val="100000"/>
              </a:lnSpc>
              <a:spcBef>
                <a:spcPts val="295"/>
              </a:spcBef>
            </a:pPr>
            <a:r>
              <a:rPr dirty="0" sz="1800">
                <a:latin typeface="Calibri"/>
                <a:cs typeface="Calibri"/>
              </a:rPr>
              <a:t>Ring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50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347966" y="2029714"/>
            <a:ext cx="9690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Guest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app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142744" y="2487167"/>
            <a:ext cx="914400" cy="379730"/>
          </a:xfrm>
          <a:prstGeom prst="rect">
            <a:avLst/>
          </a:prstGeom>
          <a:ln w="12700">
            <a:solidFill>
              <a:srgbClr val="2E528F"/>
            </a:solidFill>
          </a:ln>
        </p:spPr>
        <p:txBody>
          <a:bodyPr wrap="square" lIns="0" tIns="38100" rIns="0" bIns="0" rtlCol="0" vert="horz">
            <a:spAutoFit/>
          </a:bodyPr>
          <a:lstStyle/>
          <a:p>
            <a:pPr marL="170180">
              <a:lnSpc>
                <a:spcPct val="100000"/>
              </a:lnSpc>
              <a:spcBef>
                <a:spcPts val="300"/>
              </a:spcBef>
            </a:pPr>
            <a:r>
              <a:rPr dirty="0" sz="1800">
                <a:latin typeface="Calibri"/>
                <a:cs typeface="Calibri"/>
              </a:rPr>
              <a:t>Ring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5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65164" y="2436876"/>
            <a:ext cx="914400" cy="379730"/>
          </a:xfrm>
          <a:prstGeom prst="rect">
            <a:avLst/>
          </a:prstGeom>
          <a:ln w="12700">
            <a:solidFill>
              <a:srgbClr val="2E528F"/>
            </a:solidFill>
          </a:ln>
        </p:spPr>
        <p:txBody>
          <a:bodyPr wrap="square" lIns="0" tIns="37465" rIns="0" bIns="0" rtlCol="0" vert="horz">
            <a:spAutoFit/>
          </a:bodyPr>
          <a:lstStyle/>
          <a:p>
            <a:pPr marL="170815">
              <a:lnSpc>
                <a:spcPct val="100000"/>
              </a:lnSpc>
              <a:spcBef>
                <a:spcPts val="295"/>
              </a:spcBef>
            </a:pPr>
            <a:r>
              <a:rPr dirty="0" sz="1800">
                <a:latin typeface="Calibri"/>
                <a:cs typeface="Calibri"/>
              </a:rPr>
              <a:t>Ring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5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142744" y="2918460"/>
            <a:ext cx="914400" cy="379730"/>
          </a:xfrm>
          <a:prstGeom prst="rect">
            <a:avLst/>
          </a:prstGeom>
          <a:ln w="12700">
            <a:solidFill>
              <a:srgbClr val="2E528F"/>
            </a:solidFill>
          </a:ln>
        </p:spPr>
        <p:txBody>
          <a:bodyPr wrap="square" lIns="0" tIns="36830" rIns="0" bIns="0" rtlCol="0" vert="horz">
            <a:spAutoFit/>
          </a:bodyPr>
          <a:lstStyle/>
          <a:p>
            <a:pPr marL="170180">
              <a:lnSpc>
                <a:spcPct val="100000"/>
              </a:lnSpc>
              <a:spcBef>
                <a:spcPts val="290"/>
              </a:spcBef>
            </a:pPr>
            <a:r>
              <a:rPr dirty="0" sz="1800">
                <a:latin typeface="Calibri"/>
                <a:cs typeface="Calibri"/>
              </a:rPr>
              <a:t>Ring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5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65164" y="2866644"/>
            <a:ext cx="914400" cy="379730"/>
          </a:xfrm>
          <a:prstGeom prst="rect">
            <a:avLst/>
          </a:prstGeom>
          <a:ln w="12700">
            <a:solidFill>
              <a:srgbClr val="2E528F"/>
            </a:solidFill>
          </a:ln>
        </p:spPr>
        <p:txBody>
          <a:bodyPr wrap="square" lIns="0" tIns="38100" rIns="0" bIns="0" rtlCol="0" vert="horz">
            <a:spAutoFit/>
          </a:bodyPr>
          <a:lstStyle/>
          <a:p>
            <a:pPr marL="170815">
              <a:lnSpc>
                <a:spcPct val="100000"/>
              </a:lnSpc>
              <a:spcBef>
                <a:spcPts val="300"/>
              </a:spcBef>
            </a:pPr>
            <a:r>
              <a:rPr dirty="0" sz="1800">
                <a:latin typeface="Calibri"/>
                <a:cs typeface="Calibri"/>
              </a:rPr>
              <a:t>Ring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5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25979" y="3400044"/>
            <a:ext cx="914400" cy="379730"/>
          </a:xfrm>
          <a:prstGeom prst="rect">
            <a:avLst/>
          </a:prstGeom>
          <a:solidFill>
            <a:srgbClr val="FF0000"/>
          </a:solidFill>
          <a:ln w="12700">
            <a:solidFill>
              <a:srgbClr val="2E528F"/>
            </a:solidFill>
          </a:ln>
        </p:spPr>
        <p:txBody>
          <a:bodyPr wrap="square" lIns="0" tIns="38100" rIns="0" bIns="0" rtlCol="0" vert="horz">
            <a:spAutoFit/>
          </a:bodyPr>
          <a:lstStyle/>
          <a:p>
            <a:pPr marL="169545">
              <a:lnSpc>
                <a:spcPct val="100000"/>
              </a:lnSpc>
              <a:spcBef>
                <a:spcPts val="30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Ring</a:t>
            </a:r>
            <a:r>
              <a:rPr dirty="0" sz="18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271520" y="3428492"/>
            <a:ext cx="8756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Guest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48400" y="3349752"/>
            <a:ext cx="914400" cy="379730"/>
          </a:xfrm>
          <a:prstGeom prst="rect">
            <a:avLst/>
          </a:prstGeom>
          <a:solidFill>
            <a:srgbClr val="FF0000"/>
          </a:solidFill>
          <a:ln w="12700">
            <a:solidFill>
              <a:srgbClr val="2E528F"/>
            </a:solidFill>
          </a:ln>
        </p:spPr>
        <p:txBody>
          <a:bodyPr wrap="square" lIns="0" tIns="37465" rIns="0" bIns="0" rtlCol="0" vert="horz">
            <a:spAutoFit/>
          </a:bodyPr>
          <a:lstStyle/>
          <a:p>
            <a:pPr marL="170180">
              <a:lnSpc>
                <a:spcPct val="100000"/>
              </a:lnSpc>
              <a:spcBef>
                <a:spcPts val="295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Ring</a:t>
            </a:r>
            <a:r>
              <a:rPr dirty="0" sz="18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94829" y="3377565"/>
            <a:ext cx="8756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Guest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51153" y="4493514"/>
            <a:ext cx="304800" cy="1828800"/>
          </a:xfrm>
          <a:custGeom>
            <a:avLst/>
            <a:gdLst/>
            <a:ahLst/>
            <a:cxnLst/>
            <a:rect l="l" t="t" r="r" b="b"/>
            <a:pathLst>
              <a:path w="304800" h="1828800">
                <a:moveTo>
                  <a:pt x="304800" y="1828800"/>
                </a:moveTo>
                <a:lnTo>
                  <a:pt x="245481" y="1826804"/>
                </a:lnTo>
                <a:lnTo>
                  <a:pt x="197038" y="1821362"/>
                </a:lnTo>
                <a:lnTo>
                  <a:pt x="164377" y="1813289"/>
                </a:lnTo>
                <a:lnTo>
                  <a:pt x="152400" y="1803400"/>
                </a:lnTo>
                <a:lnTo>
                  <a:pt x="152400" y="939800"/>
                </a:lnTo>
                <a:lnTo>
                  <a:pt x="140422" y="929937"/>
                </a:lnTo>
                <a:lnTo>
                  <a:pt x="107761" y="921861"/>
                </a:lnTo>
                <a:lnTo>
                  <a:pt x="59318" y="916404"/>
                </a:lnTo>
                <a:lnTo>
                  <a:pt x="0" y="914400"/>
                </a:lnTo>
                <a:lnTo>
                  <a:pt x="59318" y="912395"/>
                </a:lnTo>
                <a:lnTo>
                  <a:pt x="107761" y="906938"/>
                </a:lnTo>
                <a:lnTo>
                  <a:pt x="140422" y="898862"/>
                </a:lnTo>
                <a:lnTo>
                  <a:pt x="152400" y="889000"/>
                </a:lnTo>
                <a:lnTo>
                  <a:pt x="152400" y="25400"/>
                </a:lnTo>
                <a:lnTo>
                  <a:pt x="164377" y="15537"/>
                </a:lnTo>
                <a:lnTo>
                  <a:pt x="197038" y="7461"/>
                </a:lnTo>
                <a:lnTo>
                  <a:pt x="245481" y="2004"/>
                </a:lnTo>
                <a:lnTo>
                  <a:pt x="3048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307591" y="4416552"/>
            <a:ext cx="1066800" cy="1905000"/>
          </a:xfrm>
          <a:custGeom>
            <a:avLst/>
            <a:gdLst/>
            <a:ahLst/>
            <a:cxnLst/>
            <a:rect l="l" t="t" r="r" b="b"/>
            <a:pathLst>
              <a:path w="1066800" h="1905000">
                <a:moveTo>
                  <a:pt x="0" y="1905000"/>
                </a:moveTo>
                <a:lnTo>
                  <a:pt x="1066799" y="1905000"/>
                </a:lnTo>
                <a:lnTo>
                  <a:pt x="1066799" y="0"/>
                </a:lnTo>
                <a:lnTo>
                  <a:pt x="0" y="0"/>
                </a:lnTo>
                <a:lnTo>
                  <a:pt x="0" y="1905000"/>
                </a:lnTo>
                <a:close/>
              </a:path>
            </a:pathLst>
          </a:custGeom>
          <a:ln w="12700">
            <a:solidFill>
              <a:srgbClr val="2E528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402080" y="4500371"/>
            <a:ext cx="914400" cy="379730"/>
          </a:xfrm>
          <a:prstGeom prst="rect">
            <a:avLst/>
          </a:prstGeom>
          <a:ln w="12700">
            <a:solidFill>
              <a:srgbClr val="2E528F"/>
            </a:solidFill>
          </a:ln>
        </p:spPr>
        <p:txBody>
          <a:bodyPr wrap="square" lIns="0" tIns="38100" rIns="0" bIns="0" rtlCol="0" vert="horz">
            <a:spAutoFit/>
          </a:bodyPr>
          <a:lstStyle/>
          <a:p>
            <a:pPr marL="169545">
              <a:lnSpc>
                <a:spcPct val="100000"/>
              </a:lnSpc>
              <a:spcBef>
                <a:spcPts val="300"/>
              </a:spcBef>
            </a:pPr>
            <a:r>
              <a:rPr dirty="0" sz="1800">
                <a:latin typeface="Calibri"/>
                <a:cs typeface="Calibri"/>
              </a:rPr>
              <a:t>Ring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50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30220" y="4501337"/>
            <a:ext cx="348297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Calibri"/>
                <a:cs typeface="Calibri"/>
              </a:rPr>
              <a:t>(Legacy/un-</a:t>
            </a:r>
            <a:r>
              <a:rPr dirty="0" sz="1800">
                <a:latin typeface="Calibri"/>
                <a:cs typeface="Calibri"/>
              </a:rPr>
              <a:t>virtualized)</a:t>
            </a:r>
            <a:r>
              <a:rPr dirty="0" sz="1800" spc="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User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program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9081" y="4921726"/>
            <a:ext cx="254000" cy="107505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z="1800" b="1">
                <a:latin typeface="Calibri"/>
                <a:cs typeface="Calibri"/>
              </a:rPr>
              <a:t>Root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mode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2080" y="4954523"/>
            <a:ext cx="914400" cy="378460"/>
          </a:xfrm>
          <a:prstGeom prst="rect">
            <a:avLst/>
          </a:prstGeom>
          <a:ln w="12700">
            <a:solidFill>
              <a:srgbClr val="2E528F"/>
            </a:solidFill>
          </a:ln>
        </p:spPr>
        <p:txBody>
          <a:bodyPr wrap="square" lIns="0" tIns="37465" rIns="0" bIns="0" rtlCol="0" vert="horz">
            <a:spAutoFit/>
          </a:bodyPr>
          <a:lstStyle/>
          <a:p>
            <a:pPr marL="169545">
              <a:lnSpc>
                <a:spcPct val="100000"/>
              </a:lnSpc>
              <a:spcBef>
                <a:spcPts val="295"/>
              </a:spcBef>
            </a:pPr>
            <a:r>
              <a:rPr dirty="0" sz="1800">
                <a:latin typeface="Calibri"/>
                <a:cs typeface="Calibri"/>
              </a:rPr>
              <a:t>Ring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5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2080" y="5384291"/>
            <a:ext cx="914400" cy="379730"/>
          </a:xfrm>
          <a:prstGeom prst="rect">
            <a:avLst/>
          </a:prstGeom>
          <a:ln w="12700">
            <a:solidFill>
              <a:srgbClr val="2E528F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marL="169545">
              <a:lnSpc>
                <a:spcPct val="100000"/>
              </a:lnSpc>
              <a:spcBef>
                <a:spcPts val="305"/>
              </a:spcBef>
            </a:pPr>
            <a:r>
              <a:rPr dirty="0" sz="1800">
                <a:latin typeface="Calibri"/>
                <a:cs typeface="Calibri"/>
              </a:rPr>
              <a:t>Ring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5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83791" y="5865876"/>
            <a:ext cx="914400" cy="379730"/>
          </a:xfrm>
          <a:prstGeom prst="rect">
            <a:avLst/>
          </a:prstGeom>
          <a:solidFill>
            <a:srgbClr val="FF0000"/>
          </a:solidFill>
          <a:ln w="12700">
            <a:solidFill>
              <a:srgbClr val="2E528F"/>
            </a:solidFill>
          </a:ln>
        </p:spPr>
        <p:txBody>
          <a:bodyPr wrap="square" lIns="0" tIns="38100" rIns="0" bIns="0" rtlCol="0" vert="horz">
            <a:spAutoFit/>
          </a:bodyPr>
          <a:lstStyle/>
          <a:p>
            <a:pPr marL="170180">
              <a:lnSpc>
                <a:spcPct val="100000"/>
              </a:lnSpc>
              <a:spcBef>
                <a:spcPts val="30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Ring</a:t>
            </a:r>
            <a:r>
              <a:rPr dirty="0" sz="18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50592" y="5864352"/>
            <a:ext cx="5867400" cy="457200"/>
          </a:xfrm>
          <a:prstGeom prst="rect">
            <a:avLst/>
          </a:prstGeom>
          <a:solidFill>
            <a:srgbClr val="8496AF"/>
          </a:solidFill>
          <a:ln w="12700">
            <a:solidFill>
              <a:srgbClr val="2E528F"/>
            </a:solidFill>
          </a:ln>
        </p:spPr>
        <p:txBody>
          <a:bodyPr wrap="square" lIns="0" tIns="77470" rIns="0" bIns="0" rtlCol="0" vert="horz">
            <a:spAutoFit/>
          </a:bodyPr>
          <a:lstStyle/>
          <a:p>
            <a:pPr algn="ctr" marL="3175">
              <a:lnSpc>
                <a:spcPct val="100000"/>
              </a:lnSpc>
              <a:spcBef>
                <a:spcPts val="61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Hypervisor/VMM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7625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375"/>
              </a:spcBef>
            </a:pPr>
            <a:r>
              <a:rPr dirty="0"/>
              <a:t>CLOUD</a:t>
            </a:r>
            <a:r>
              <a:rPr dirty="0" spc="-80"/>
              <a:t> </a:t>
            </a:r>
            <a:r>
              <a:rPr dirty="0" spc="-10"/>
              <a:t>COMPUTING</a:t>
            </a:r>
          </a:p>
          <a:p>
            <a:pPr marL="201295">
              <a:lnSpc>
                <a:spcPct val="100000"/>
              </a:lnSpc>
              <a:spcBef>
                <a:spcPts val="280"/>
              </a:spcBef>
            </a:pPr>
            <a:r>
              <a:rPr dirty="0">
                <a:solidFill>
                  <a:srgbClr val="C55A11"/>
                </a:solidFill>
              </a:rPr>
              <a:t>Using</a:t>
            </a:r>
            <a:r>
              <a:rPr dirty="0" spc="-55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Intel</a:t>
            </a:r>
            <a:r>
              <a:rPr dirty="0" spc="-35">
                <a:solidFill>
                  <a:srgbClr val="C55A11"/>
                </a:solidFill>
              </a:rPr>
              <a:t> </a:t>
            </a:r>
            <a:r>
              <a:rPr dirty="0" spc="-25">
                <a:solidFill>
                  <a:srgbClr val="C55A11"/>
                </a:solidFill>
              </a:rPr>
              <a:t>VT-</a:t>
            </a:r>
            <a:r>
              <a:rPr dirty="0" spc="-30">
                <a:solidFill>
                  <a:srgbClr val="C55A11"/>
                </a:solidFill>
              </a:rPr>
              <a:t>x/AMD-</a:t>
            </a:r>
            <a:r>
              <a:rPr dirty="0">
                <a:solidFill>
                  <a:srgbClr val="C55A11"/>
                </a:solidFill>
              </a:rPr>
              <a:t>v</a:t>
            </a:r>
            <a:r>
              <a:rPr dirty="0" spc="-3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(KVM</a:t>
            </a:r>
            <a:r>
              <a:rPr dirty="0" spc="-25">
                <a:solidFill>
                  <a:srgbClr val="C55A11"/>
                </a:solidFill>
              </a:rPr>
              <a:t> </a:t>
            </a:r>
            <a:r>
              <a:rPr dirty="0" spc="-20">
                <a:solidFill>
                  <a:srgbClr val="C55A11"/>
                </a:solidFill>
              </a:rPr>
              <a:t>way)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0" name="object 30" descr="A logo for a university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76052" y="0"/>
            <a:ext cx="756161" cy="139051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069082" y="1593850"/>
            <a:ext cx="2565400" cy="2146300"/>
            <a:chOff x="3069082" y="1593850"/>
            <a:chExt cx="2565400" cy="2146300"/>
          </a:xfrm>
        </p:grpSpPr>
        <p:sp>
          <p:nvSpPr>
            <p:cNvPr id="5" name="object 5"/>
            <p:cNvSpPr/>
            <p:nvPr/>
          </p:nvSpPr>
          <p:spPr>
            <a:xfrm>
              <a:off x="3075432" y="1600200"/>
              <a:ext cx="2552700" cy="2133600"/>
            </a:xfrm>
            <a:custGeom>
              <a:avLst/>
              <a:gdLst/>
              <a:ahLst/>
              <a:cxnLst/>
              <a:rect l="l" t="t" r="r" b="b"/>
              <a:pathLst>
                <a:path w="2552700" h="2133600">
                  <a:moveTo>
                    <a:pt x="2197100" y="0"/>
                  </a:moveTo>
                  <a:lnTo>
                    <a:pt x="355600" y="0"/>
                  </a:lnTo>
                  <a:lnTo>
                    <a:pt x="307357" y="3247"/>
                  </a:lnTo>
                  <a:lnTo>
                    <a:pt x="261084" y="12705"/>
                  </a:lnTo>
                  <a:lnTo>
                    <a:pt x="217205" y="27951"/>
                  </a:lnTo>
                  <a:lnTo>
                    <a:pt x="176144" y="48561"/>
                  </a:lnTo>
                  <a:lnTo>
                    <a:pt x="138324" y="74109"/>
                  </a:lnTo>
                  <a:lnTo>
                    <a:pt x="104171" y="104171"/>
                  </a:lnTo>
                  <a:lnTo>
                    <a:pt x="74109" y="138324"/>
                  </a:lnTo>
                  <a:lnTo>
                    <a:pt x="48561" y="176144"/>
                  </a:lnTo>
                  <a:lnTo>
                    <a:pt x="27951" y="217205"/>
                  </a:lnTo>
                  <a:lnTo>
                    <a:pt x="12705" y="261084"/>
                  </a:lnTo>
                  <a:lnTo>
                    <a:pt x="3247" y="307357"/>
                  </a:lnTo>
                  <a:lnTo>
                    <a:pt x="0" y="355600"/>
                  </a:lnTo>
                  <a:lnTo>
                    <a:pt x="0" y="1778000"/>
                  </a:lnTo>
                  <a:lnTo>
                    <a:pt x="3247" y="1826242"/>
                  </a:lnTo>
                  <a:lnTo>
                    <a:pt x="12705" y="1872515"/>
                  </a:lnTo>
                  <a:lnTo>
                    <a:pt x="27951" y="1916394"/>
                  </a:lnTo>
                  <a:lnTo>
                    <a:pt x="48561" y="1957455"/>
                  </a:lnTo>
                  <a:lnTo>
                    <a:pt x="74109" y="1995275"/>
                  </a:lnTo>
                  <a:lnTo>
                    <a:pt x="104171" y="2029428"/>
                  </a:lnTo>
                  <a:lnTo>
                    <a:pt x="138324" y="2059490"/>
                  </a:lnTo>
                  <a:lnTo>
                    <a:pt x="176144" y="2085038"/>
                  </a:lnTo>
                  <a:lnTo>
                    <a:pt x="217205" y="2105648"/>
                  </a:lnTo>
                  <a:lnTo>
                    <a:pt x="261084" y="2120894"/>
                  </a:lnTo>
                  <a:lnTo>
                    <a:pt x="307357" y="2130352"/>
                  </a:lnTo>
                  <a:lnTo>
                    <a:pt x="355600" y="2133600"/>
                  </a:lnTo>
                  <a:lnTo>
                    <a:pt x="2197100" y="2133600"/>
                  </a:lnTo>
                  <a:lnTo>
                    <a:pt x="2245342" y="2130352"/>
                  </a:lnTo>
                  <a:lnTo>
                    <a:pt x="2291615" y="2120894"/>
                  </a:lnTo>
                  <a:lnTo>
                    <a:pt x="2335494" y="2105648"/>
                  </a:lnTo>
                  <a:lnTo>
                    <a:pt x="2376555" y="2085038"/>
                  </a:lnTo>
                  <a:lnTo>
                    <a:pt x="2414375" y="2059490"/>
                  </a:lnTo>
                  <a:lnTo>
                    <a:pt x="2448528" y="2029428"/>
                  </a:lnTo>
                  <a:lnTo>
                    <a:pt x="2478590" y="1995275"/>
                  </a:lnTo>
                  <a:lnTo>
                    <a:pt x="2504138" y="1957455"/>
                  </a:lnTo>
                  <a:lnTo>
                    <a:pt x="2524748" y="1916394"/>
                  </a:lnTo>
                  <a:lnTo>
                    <a:pt x="2539994" y="1872515"/>
                  </a:lnTo>
                  <a:lnTo>
                    <a:pt x="2549452" y="1826242"/>
                  </a:lnTo>
                  <a:lnTo>
                    <a:pt x="2552700" y="1778000"/>
                  </a:lnTo>
                  <a:lnTo>
                    <a:pt x="2552700" y="355600"/>
                  </a:lnTo>
                  <a:lnTo>
                    <a:pt x="2549452" y="307357"/>
                  </a:lnTo>
                  <a:lnTo>
                    <a:pt x="2539994" y="261084"/>
                  </a:lnTo>
                  <a:lnTo>
                    <a:pt x="2524748" y="217205"/>
                  </a:lnTo>
                  <a:lnTo>
                    <a:pt x="2504138" y="176144"/>
                  </a:lnTo>
                  <a:lnTo>
                    <a:pt x="2478590" y="138324"/>
                  </a:lnTo>
                  <a:lnTo>
                    <a:pt x="2448528" y="104171"/>
                  </a:lnTo>
                  <a:lnTo>
                    <a:pt x="2414375" y="74109"/>
                  </a:lnTo>
                  <a:lnTo>
                    <a:pt x="2376555" y="48561"/>
                  </a:lnTo>
                  <a:lnTo>
                    <a:pt x="2335494" y="27951"/>
                  </a:lnTo>
                  <a:lnTo>
                    <a:pt x="2291615" y="12705"/>
                  </a:lnTo>
                  <a:lnTo>
                    <a:pt x="2245342" y="3247"/>
                  </a:lnTo>
                  <a:lnTo>
                    <a:pt x="219710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075432" y="1600200"/>
              <a:ext cx="2552700" cy="2133600"/>
            </a:xfrm>
            <a:custGeom>
              <a:avLst/>
              <a:gdLst/>
              <a:ahLst/>
              <a:cxnLst/>
              <a:rect l="l" t="t" r="r" b="b"/>
              <a:pathLst>
                <a:path w="2552700" h="2133600">
                  <a:moveTo>
                    <a:pt x="0" y="355600"/>
                  </a:moveTo>
                  <a:lnTo>
                    <a:pt x="3247" y="307357"/>
                  </a:lnTo>
                  <a:lnTo>
                    <a:pt x="12705" y="261084"/>
                  </a:lnTo>
                  <a:lnTo>
                    <a:pt x="27951" y="217205"/>
                  </a:lnTo>
                  <a:lnTo>
                    <a:pt x="48561" y="176144"/>
                  </a:lnTo>
                  <a:lnTo>
                    <a:pt x="74109" y="138324"/>
                  </a:lnTo>
                  <a:lnTo>
                    <a:pt x="104171" y="104171"/>
                  </a:lnTo>
                  <a:lnTo>
                    <a:pt x="138324" y="74109"/>
                  </a:lnTo>
                  <a:lnTo>
                    <a:pt x="176144" y="48561"/>
                  </a:lnTo>
                  <a:lnTo>
                    <a:pt x="217205" y="27951"/>
                  </a:lnTo>
                  <a:lnTo>
                    <a:pt x="261084" y="12705"/>
                  </a:lnTo>
                  <a:lnTo>
                    <a:pt x="307357" y="3247"/>
                  </a:lnTo>
                  <a:lnTo>
                    <a:pt x="355600" y="0"/>
                  </a:lnTo>
                  <a:lnTo>
                    <a:pt x="2197100" y="0"/>
                  </a:lnTo>
                  <a:lnTo>
                    <a:pt x="2245342" y="3247"/>
                  </a:lnTo>
                  <a:lnTo>
                    <a:pt x="2291615" y="12705"/>
                  </a:lnTo>
                  <a:lnTo>
                    <a:pt x="2335494" y="27951"/>
                  </a:lnTo>
                  <a:lnTo>
                    <a:pt x="2376555" y="48561"/>
                  </a:lnTo>
                  <a:lnTo>
                    <a:pt x="2414375" y="74109"/>
                  </a:lnTo>
                  <a:lnTo>
                    <a:pt x="2448528" y="104171"/>
                  </a:lnTo>
                  <a:lnTo>
                    <a:pt x="2478590" y="138324"/>
                  </a:lnTo>
                  <a:lnTo>
                    <a:pt x="2504138" y="176144"/>
                  </a:lnTo>
                  <a:lnTo>
                    <a:pt x="2524748" y="217205"/>
                  </a:lnTo>
                  <a:lnTo>
                    <a:pt x="2539994" y="261084"/>
                  </a:lnTo>
                  <a:lnTo>
                    <a:pt x="2549452" y="307357"/>
                  </a:lnTo>
                  <a:lnTo>
                    <a:pt x="2552700" y="355600"/>
                  </a:lnTo>
                  <a:lnTo>
                    <a:pt x="2552700" y="1778000"/>
                  </a:lnTo>
                  <a:lnTo>
                    <a:pt x="2549452" y="1826242"/>
                  </a:lnTo>
                  <a:lnTo>
                    <a:pt x="2539994" y="1872515"/>
                  </a:lnTo>
                  <a:lnTo>
                    <a:pt x="2524748" y="1916394"/>
                  </a:lnTo>
                  <a:lnTo>
                    <a:pt x="2504138" y="1957455"/>
                  </a:lnTo>
                  <a:lnTo>
                    <a:pt x="2478590" y="1995275"/>
                  </a:lnTo>
                  <a:lnTo>
                    <a:pt x="2448528" y="2029428"/>
                  </a:lnTo>
                  <a:lnTo>
                    <a:pt x="2414375" y="2059490"/>
                  </a:lnTo>
                  <a:lnTo>
                    <a:pt x="2376555" y="2085038"/>
                  </a:lnTo>
                  <a:lnTo>
                    <a:pt x="2335494" y="2105648"/>
                  </a:lnTo>
                  <a:lnTo>
                    <a:pt x="2291615" y="2120894"/>
                  </a:lnTo>
                  <a:lnTo>
                    <a:pt x="2245342" y="2130352"/>
                  </a:lnTo>
                  <a:lnTo>
                    <a:pt x="2197100" y="2133600"/>
                  </a:lnTo>
                  <a:lnTo>
                    <a:pt x="355600" y="2133600"/>
                  </a:lnTo>
                  <a:lnTo>
                    <a:pt x="307357" y="2130352"/>
                  </a:lnTo>
                  <a:lnTo>
                    <a:pt x="261084" y="2120894"/>
                  </a:lnTo>
                  <a:lnTo>
                    <a:pt x="217205" y="2105648"/>
                  </a:lnTo>
                  <a:lnTo>
                    <a:pt x="176144" y="2085038"/>
                  </a:lnTo>
                  <a:lnTo>
                    <a:pt x="138324" y="2059490"/>
                  </a:lnTo>
                  <a:lnTo>
                    <a:pt x="104171" y="2029428"/>
                  </a:lnTo>
                  <a:lnTo>
                    <a:pt x="74109" y="1995275"/>
                  </a:lnTo>
                  <a:lnTo>
                    <a:pt x="48561" y="1957455"/>
                  </a:lnTo>
                  <a:lnTo>
                    <a:pt x="27951" y="1916394"/>
                  </a:lnTo>
                  <a:lnTo>
                    <a:pt x="12705" y="1872515"/>
                  </a:lnTo>
                  <a:lnTo>
                    <a:pt x="3247" y="1826242"/>
                  </a:lnTo>
                  <a:lnTo>
                    <a:pt x="0" y="1778000"/>
                  </a:lnTo>
                  <a:lnTo>
                    <a:pt x="0" y="355600"/>
                  </a:lnTo>
                  <a:close/>
                </a:path>
                <a:path w="2552700" h="2133600">
                  <a:moveTo>
                    <a:pt x="152400" y="2013204"/>
                  </a:moveTo>
                  <a:lnTo>
                    <a:pt x="1219199" y="2013204"/>
                  </a:lnTo>
                  <a:lnTo>
                    <a:pt x="1219199" y="108203"/>
                  </a:lnTo>
                  <a:lnTo>
                    <a:pt x="152400" y="108203"/>
                  </a:lnTo>
                  <a:lnTo>
                    <a:pt x="152400" y="2013204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3320796" y="1792223"/>
            <a:ext cx="914400" cy="379730"/>
          </a:xfrm>
          <a:prstGeom prst="rect">
            <a:avLst/>
          </a:prstGeom>
          <a:ln w="12700">
            <a:solidFill>
              <a:srgbClr val="2E528F"/>
            </a:solidFill>
          </a:ln>
        </p:spPr>
        <p:txBody>
          <a:bodyPr wrap="square" lIns="0" tIns="37465" rIns="0" bIns="0" rtlCol="0" vert="horz">
            <a:spAutoFit/>
          </a:bodyPr>
          <a:lstStyle/>
          <a:p>
            <a:pPr marL="170180">
              <a:lnSpc>
                <a:spcPct val="100000"/>
              </a:lnSpc>
              <a:spcBef>
                <a:spcPts val="295"/>
              </a:spcBef>
            </a:pPr>
            <a:r>
              <a:rPr dirty="0" sz="1800">
                <a:latin typeface="Calibri"/>
                <a:cs typeface="Calibri"/>
              </a:rPr>
              <a:t>Ring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50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02963" y="1837690"/>
            <a:ext cx="9690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Guest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app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20796" y="2244851"/>
            <a:ext cx="914400" cy="379730"/>
          </a:xfrm>
          <a:prstGeom prst="rect">
            <a:avLst/>
          </a:prstGeom>
          <a:ln w="12700">
            <a:solidFill>
              <a:srgbClr val="2E528F"/>
            </a:solidFill>
          </a:ln>
        </p:spPr>
        <p:txBody>
          <a:bodyPr wrap="square" lIns="0" tIns="37465" rIns="0" bIns="0" rtlCol="0" vert="horz">
            <a:spAutoFit/>
          </a:bodyPr>
          <a:lstStyle/>
          <a:p>
            <a:pPr marL="170180">
              <a:lnSpc>
                <a:spcPct val="100000"/>
              </a:lnSpc>
              <a:spcBef>
                <a:spcPts val="295"/>
              </a:spcBef>
            </a:pPr>
            <a:r>
              <a:rPr dirty="0" sz="1800">
                <a:latin typeface="Calibri"/>
                <a:cs typeface="Calibri"/>
              </a:rPr>
              <a:t>Ring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5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20796" y="2674620"/>
            <a:ext cx="914400" cy="379730"/>
          </a:xfrm>
          <a:prstGeom prst="rect">
            <a:avLst/>
          </a:prstGeom>
          <a:ln w="12700">
            <a:solidFill>
              <a:srgbClr val="2E528F"/>
            </a:solidFill>
          </a:ln>
        </p:spPr>
        <p:txBody>
          <a:bodyPr wrap="square" lIns="0" tIns="38100" rIns="0" bIns="0" rtlCol="0" vert="horz">
            <a:spAutoFit/>
          </a:bodyPr>
          <a:lstStyle/>
          <a:p>
            <a:pPr marL="170180">
              <a:lnSpc>
                <a:spcPct val="100000"/>
              </a:lnSpc>
              <a:spcBef>
                <a:spcPts val="300"/>
              </a:spcBef>
            </a:pPr>
            <a:r>
              <a:rPr dirty="0" sz="1800">
                <a:latin typeface="Calibri"/>
                <a:cs typeface="Calibri"/>
              </a:rPr>
              <a:t>Ring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5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04032" y="3157727"/>
            <a:ext cx="914400" cy="379730"/>
          </a:xfrm>
          <a:prstGeom prst="rect">
            <a:avLst/>
          </a:prstGeom>
          <a:solidFill>
            <a:srgbClr val="FF0000"/>
          </a:solidFill>
          <a:ln w="12700">
            <a:solidFill>
              <a:srgbClr val="2E528F"/>
            </a:solidFill>
          </a:ln>
        </p:spPr>
        <p:txBody>
          <a:bodyPr wrap="square" lIns="0" tIns="37465" rIns="0" bIns="0" rtlCol="0" vert="horz">
            <a:spAutoFit/>
          </a:bodyPr>
          <a:lstStyle/>
          <a:p>
            <a:pPr marL="169545">
              <a:lnSpc>
                <a:spcPct val="100000"/>
              </a:lnSpc>
              <a:spcBef>
                <a:spcPts val="295"/>
              </a:spcBef>
            </a:pPr>
            <a:r>
              <a:rPr dirty="0" sz="1800">
                <a:latin typeface="Calibri"/>
                <a:cs typeface="Calibri"/>
              </a:rPr>
              <a:t>Ring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5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49571" y="3185540"/>
            <a:ext cx="8756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Guest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OS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272286" y="1693417"/>
            <a:ext cx="6197600" cy="4711065"/>
            <a:chOff x="1272286" y="1693417"/>
            <a:chExt cx="6197600" cy="4711065"/>
          </a:xfrm>
        </p:grpSpPr>
        <p:sp>
          <p:nvSpPr>
            <p:cNvPr id="14" name="object 14"/>
            <p:cNvSpPr/>
            <p:nvPr/>
          </p:nvSpPr>
          <p:spPr>
            <a:xfrm>
              <a:off x="2617469" y="1706117"/>
              <a:ext cx="304800" cy="1828800"/>
            </a:xfrm>
            <a:custGeom>
              <a:avLst/>
              <a:gdLst/>
              <a:ahLst/>
              <a:cxnLst/>
              <a:rect l="l" t="t" r="r" b="b"/>
              <a:pathLst>
                <a:path w="304800" h="1828800">
                  <a:moveTo>
                    <a:pt x="304800" y="1828800"/>
                  </a:moveTo>
                  <a:lnTo>
                    <a:pt x="245465" y="1826795"/>
                  </a:lnTo>
                  <a:lnTo>
                    <a:pt x="197024" y="1821338"/>
                  </a:lnTo>
                  <a:lnTo>
                    <a:pt x="164371" y="1813262"/>
                  </a:lnTo>
                  <a:lnTo>
                    <a:pt x="152400" y="1803400"/>
                  </a:lnTo>
                  <a:lnTo>
                    <a:pt x="152400" y="939800"/>
                  </a:lnTo>
                  <a:lnTo>
                    <a:pt x="140428" y="929937"/>
                  </a:lnTo>
                  <a:lnTo>
                    <a:pt x="107775" y="921861"/>
                  </a:lnTo>
                  <a:lnTo>
                    <a:pt x="59334" y="916404"/>
                  </a:lnTo>
                  <a:lnTo>
                    <a:pt x="0" y="914400"/>
                  </a:lnTo>
                  <a:lnTo>
                    <a:pt x="59334" y="912395"/>
                  </a:lnTo>
                  <a:lnTo>
                    <a:pt x="107775" y="906938"/>
                  </a:lnTo>
                  <a:lnTo>
                    <a:pt x="140428" y="898862"/>
                  </a:lnTo>
                  <a:lnTo>
                    <a:pt x="152400" y="889000"/>
                  </a:lnTo>
                  <a:lnTo>
                    <a:pt x="152400" y="25400"/>
                  </a:lnTo>
                  <a:lnTo>
                    <a:pt x="164371" y="15537"/>
                  </a:lnTo>
                  <a:lnTo>
                    <a:pt x="197024" y="7461"/>
                  </a:lnTo>
                  <a:lnTo>
                    <a:pt x="245465" y="2004"/>
                  </a:lnTo>
                  <a:lnTo>
                    <a:pt x="30480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278636" y="4953000"/>
              <a:ext cx="6184900" cy="1445260"/>
            </a:xfrm>
            <a:custGeom>
              <a:avLst/>
              <a:gdLst/>
              <a:ahLst/>
              <a:cxnLst/>
              <a:rect l="l" t="t" r="r" b="b"/>
              <a:pathLst>
                <a:path w="6184900" h="1445260">
                  <a:moveTo>
                    <a:pt x="6184392" y="0"/>
                  </a:moveTo>
                  <a:lnTo>
                    <a:pt x="0" y="0"/>
                  </a:lnTo>
                  <a:lnTo>
                    <a:pt x="0" y="1444752"/>
                  </a:lnTo>
                  <a:lnTo>
                    <a:pt x="6184392" y="1444752"/>
                  </a:lnTo>
                  <a:lnTo>
                    <a:pt x="618439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278636" y="4953000"/>
              <a:ext cx="6184900" cy="1445260"/>
            </a:xfrm>
            <a:custGeom>
              <a:avLst/>
              <a:gdLst/>
              <a:ahLst/>
              <a:cxnLst/>
              <a:rect l="l" t="t" r="r" b="b"/>
              <a:pathLst>
                <a:path w="6184900" h="1445260">
                  <a:moveTo>
                    <a:pt x="0" y="1444752"/>
                  </a:moveTo>
                  <a:lnTo>
                    <a:pt x="6184392" y="1444752"/>
                  </a:lnTo>
                  <a:lnTo>
                    <a:pt x="6184392" y="0"/>
                  </a:lnTo>
                  <a:lnTo>
                    <a:pt x="0" y="0"/>
                  </a:lnTo>
                  <a:lnTo>
                    <a:pt x="0" y="1444752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380231" y="5152644"/>
              <a:ext cx="1524000" cy="990600"/>
            </a:xfrm>
            <a:custGeom>
              <a:avLst/>
              <a:gdLst/>
              <a:ahLst/>
              <a:cxnLst/>
              <a:rect l="l" t="t" r="r" b="b"/>
              <a:pathLst>
                <a:path w="1524000" h="990600">
                  <a:moveTo>
                    <a:pt x="1358900" y="0"/>
                  </a:moveTo>
                  <a:lnTo>
                    <a:pt x="165100" y="0"/>
                  </a:lnTo>
                  <a:lnTo>
                    <a:pt x="121208" y="5897"/>
                  </a:lnTo>
                  <a:lnTo>
                    <a:pt x="81769" y="22540"/>
                  </a:lnTo>
                  <a:lnTo>
                    <a:pt x="48355" y="48355"/>
                  </a:lnTo>
                  <a:lnTo>
                    <a:pt x="22540" y="81769"/>
                  </a:lnTo>
                  <a:lnTo>
                    <a:pt x="5897" y="121208"/>
                  </a:lnTo>
                  <a:lnTo>
                    <a:pt x="0" y="165099"/>
                  </a:lnTo>
                  <a:lnTo>
                    <a:pt x="0" y="825499"/>
                  </a:lnTo>
                  <a:lnTo>
                    <a:pt x="5897" y="869391"/>
                  </a:lnTo>
                  <a:lnTo>
                    <a:pt x="22540" y="908830"/>
                  </a:lnTo>
                  <a:lnTo>
                    <a:pt x="48355" y="942244"/>
                  </a:lnTo>
                  <a:lnTo>
                    <a:pt x="81769" y="968059"/>
                  </a:lnTo>
                  <a:lnTo>
                    <a:pt x="121208" y="984702"/>
                  </a:lnTo>
                  <a:lnTo>
                    <a:pt x="165100" y="990599"/>
                  </a:lnTo>
                  <a:lnTo>
                    <a:pt x="1358900" y="990599"/>
                  </a:lnTo>
                  <a:lnTo>
                    <a:pt x="1402791" y="984702"/>
                  </a:lnTo>
                  <a:lnTo>
                    <a:pt x="1442230" y="968059"/>
                  </a:lnTo>
                  <a:lnTo>
                    <a:pt x="1475644" y="942244"/>
                  </a:lnTo>
                  <a:lnTo>
                    <a:pt x="1501459" y="908830"/>
                  </a:lnTo>
                  <a:lnTo>
                    <a:pt x="1518102" y="869391"/>
                  </a:lnTo>
                  <a:lnTo>
                    <a:pt x="1524000" y="825499"/>
                  </a:lnTo>
                  <a:lnTo>
                    <a:pt x="1524000" y="165099"/>
                  </a:lnTo>
                  <a:lnTo>
                    <a:pt x="1518102" y="121208"/>
                  </a:lnTo>
                  <a:lnTo>
                    <a:pt x="1501459" y="81769"/>
                  </a:lnTo>
                  <a:lnTo>
                    <a:pt x="1475644" y="48355"/>
                  </a:lnTo>
                  <a:lnTo>
                    <a:pt x="1442230" y="22540"/>
                  </a:lnTo>
                  <a:lnTo>
                    <a:pt x="1402791" y="5897"/>
                  </a:lnTo>
                  <a:lnTo>
                    <a:pt x="13589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380231" y="5152644"/>
              <a:ext cx="1524000" cy="990600"/>
            </a:xfrm>
            <a:custGeom>
              <a:avLst/>
              <a:gdLst/>
              <a:ahLst/>
              <a:cxnLst/>
              <a:rect l="l" t="t" r="r" b="b"/>
              <a:pathLst>
                <a:path w="1524000" h="990600">
                  <a:moveTo>
                    <a:pt x="0" y="165099"/>
                  </a:moveTo>
                  <a:lnTo>
                    <a:pt x="5897" y="121208"/>
                  </a:lnTo>
                  <a:lnTo>
                    <a:pt x="22540" y="81769"/>
                  </a:lnTo>
                  <a:lnTo>
                    <a:pt x="48355" y="48355"/>
                  </a:lnTo>
                  <a:lnTo>
                    <a:pt x="81769" y="22540"/>
                  </a:lnTo>
                  <a:lnTo>
                    <a:pt x="121208" y="5897"/>
                  </a:lnTo>
                  <a:lnTo>
                    <a:pt x="165100" y="0"/>
                  </a:lnTo>
                  <a:lnTo>
                    <a:pt x="1358900" y="0"/>
                  </a:lnTo>
                  <a:lnTo>
                    <a:pt x="1402791" y="5897"/>
                  </a:lnTo>
                  <a:lnTo>
                    <a:pt x="1442230" y="22540"/>
                  </a:lnTo>
                  <a:lnTo>
                    <a:pt x="1475644" y="48355"/>
                  </a:lnTo>
                  <a:lnTo>
                    <a:pt x="1501459" y="81769"/>
                  </a:lnTo>
                  <a:lnTo>
                    <a:pt x="1518102" y="121208"/>
                  </a:lnTo>
                  <a:lnTo>
                    <a:pt x="1524000" y="165099"/>
                  </a:lnTo>
                  <a:lnTo>
                    <a:pt x="1524000" y="825499"/>
                  </a:lnTo>
                  <a:lnTo>
                    <a:pt x="1518102" y="869391"/>
                  </a:lnTo>
                  <a:lnTo>
                    <a:pt x="1501459" y="908830"/>
                  </a:lnTo>
                  <a:lnTo>
                    <a:pt x="1475644" y="942244"/>
                  </a:lnTo>
                  <a:lnTo>
                    <a:pt x="1442230" y="968059"/>
                  </a:lnTo>
                  <a:lnTo>
                    <a:pt x="1402791" y="984702"/>
                  </a:lnTo>
                  <a:lnTo>
                    <a:pt x="1358900" y="990599"/>
                  </a:lnTo>
                  <a:lnTo>
                    <a:pt x="165100" y="990599"/>
                  </a:lnTo>
                  <a:lnTo>
                    <a:pt x="121208" y="984702"/>
                  </a:lnTo>
                  <a:lnTo>
                    <a:pt x="81769" y="968059"/>
                  </a:lnTo>
                  <a:lnTo>
                    <a:pt x="48355" y="942244"/>
                  </a:lnTo>
                  <a:lnTo>
                    <a:pt x="22540" y="908830"/>
                  </a:lnTo>
                  <a:lnTo>
                    <a:pt x="5897" y="869391"/>
                  </a:lnTo>
                  <a:lnTo>
                    <a:pt x="0" y="825499"/>
                  </a:lnTo>
                  <a:lnTo>
                    <a:pt x="0" y="165099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2294508" y="1662550"/>
            <a:ext cx="254000" cy="154559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z="1800" b="1">
                <a:latin typeface="Calibri"/>
                <a:cs typeface="Calibri"/>
              </a:rPr>
              <a:t>Non-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root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mode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69745" y="3961892"/>
            <a:ext cx="6508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libri"/>
                <a:cs typeface="Calibri"/>
              </a:rPr>
              <a:t>vmexit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986021" y="4057269"/>
            <a:ext cx="101790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libri"/>
                <a:cs typeface="Calibri"/>
              </a:rPr>
              <a:t>vmlaunch/ vmresume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709029" y="1485137"/>
            <a:ext cx="3196590" cy="3042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3695" marR="5080" indent="-340995">
              <a:lnSpc>
                <a:spcPct val="100000"/>
              </a:lnSpc>
              <a:spcBef>
                <a:spcPts val="95"/>
              </a:spcBef>
              <a:buAutoNum type="arabicParenBoth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VMM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initializes/modifies </a:t>
            </a:r>
            <a:r>
              <a:rPr dirty="0" sz="2200" spc="-10">
                <a:latin typeface="Calibri"/>
                <a:cs typeface="Calibri"/>
              </a:rPr>
              <a:t>	</a:t>
            </a:r>
            <a:r>
              <a:rPr dirty="0" sz="2200" spc="-20">
                <a:latin typeface="Calibri"/>
                <a:cs typeface="Calibri"/>
              </a:rPr>
              <a:t>VMCS</a:t>
            </a:r>
            <a:endParaRPr sz="2200">
              <a:latin typeface="Calibri"/>
              <a:cs typeface="Calibri"/>
            </a:endParaRPr>
          </a:p>
          <a:p>
            <a:pPr marL="354330" marR="419734" indent="-341630">
              <a:lnSpc>
                <a:spcPct val="100000"/>
              </a:lnSpc>
              <a:buAutoNum type="arabicParenBoth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VMM</a:t>
            </a:r>
            <a:r>
              <a:rPr dirty="0" sz="2200" spc="-10">
                <a:latin typeface="Calibri"/>
                <a:cs typeface="Calibri"/>
              </a:rPr>
              <a:t> executes 	vmlaunch/vmresume 	instr.</a:t>
            </a:r>
            <a:endParaRPr sz="2200">
              <a:latin typeface="Calibri"/>
              <a:cs typeface="Calibri"/>
            </a:endParaRPr>
          </a:p>
          <a:p>
            <a:pPr marL="353695" marR="116839" indent="-340995">
              <a:lnSpc>
                <a:spcPct val="100000"/>
              </a:lnSpc>
              <a:buAutoNum type="arabicParenBoth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until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hits </a:t>
            </a:r>
            <a:r>
              <a:rPr dirty="0" sz="2200" spc="-20">
                <a:latin typeface="Calibri"/>
                <a:cs typeface="Calibri"/>
              </a:rPr>
              <a:t>	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vmexit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condition</a:t>
            </a:r>
            <a:endParaRPr sz="2200">
              <a:latin typeface="Calibri"/>
              <a:cs typeface="Calibri"/>
            </a:endParaRPr>
          </a:p>
          <a:p>
            <a:pPr marL="354330" indent="-341630">
              <a:lnSpc>
                <a:spcPct val="100000"/>
              </a:lnSpc>
              <a:buAutoNum type="arabicParenBoth"/>
              <a:tabLst>
                <a:tab pos="354330" algn="l"/>
              </a:tabLst>
            </a:pPr>
            <a:r>
              <a:rPr dirty="0" sz="2200">
                <a:latin typeface="Calibri"/>
                <a:cs typeface="Calibri"/>
              </a:rPr>
              <a:t>VMM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analyzes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takes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dirty="0" sz="2200">
                <a:latin typeface="Calibri"/>
                <a:cs typeface="Calibri"/>
              </a:rPr>
              <a:t>action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vmexit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891535" y="3582796"/>
            <a:ext cx="1017269" cy="1660525"/>
          </a:xfrm>
          <a:custGeom>
            <a:avLst/>
            <a:gdLst/>
            <a:ahLst/>
            <a:cxnLst/>
            <a:rect l="l" t="t" r="r" b="b"/>
            <a:pathLst>
              <a:path w="1017270" h="1660525">
                <a:moveTo>
                  <a:pt x="910463" y="1627123"/>
                </a:moveTo>
                <a:lnTo>
                  <a:pt x="905637" y="1630807"/>
                </a:lnTo>
                <a:lnTo>
                  <a:pt x="905001" y="1636014"/>
                </a:lnTo>
                <a:lnTo>
                  <a:pt x="904239" y="1641220"/>
                </a:lnTo>
                <a:lnTo>
                  <a:pt x="907923" y="1646046"/>
                </a:lnTo>
                <a:lnTo>
                  <a:pt x="913129" y="1646682"/>
                </a:lnTo>
                <a:lnTo>
                  <a:pt x="1016762" y="1660525"/>
                </a:lnTo>
                <a:lnTo>
                  <a:pt x="1015134" y="1656461"/>
                </a:lnTo>
                <a:lnTo>
                  <a:pt x="996061" y="1656461"/>
                </a:lnTo>
                <a:lnTo>
                  <a:pt x="968134" y="1634764"/>
                </a:lnTo>
                <a:lnTo>
                  <a:pt x="915669" y="1627758"/>
                </a:lnTo>
                <a:lnTo>
                  <a:pt x="910463" y="1627123"/>
                </a:lnTo>
                <a:close/>
              </a:path>
              <a:path w="1017270" h="1660525">
                <a:moveTo>
                  <a:pt x="968134" y="1634764"/>
                </a:moveTo>
                <a:lnTo>
                  <a:pt x="996061" y="1656461"/>
                </a:lnTo>
                <a:lnTo>
                  <a:pt x="999130" y="1652524"/>
                </a:lnTo>
                <a:lnTo>
                  <a:pt x="993013" y="1652524"/>
                </a:lnTo>
                <a:lnTo>
                  <a:pt x="986887" y="1637268"/>
                </a:lnTo>
                <a:lnTo>
                  <a:pt x="968134" y="1634764"/>
                </a:lnTo>
                <a:close/>
              </a:path>
              <a:path w="1017270" h="1660525">
                <a:moveTo>
                  <a:pt x="970406" y="1556258"/>
                </a:moveTo>
                <a:lnTo>
                  <a:pt x="965453" y="1558289"/>
                </a:lnTo>
                <a:lnTo>
                  <a:pt x="960627" y="1560195"/>
                </a:lnTo>
                <a:lnTo>
                  <a:pt x="958214" y="1565783"/>
                </a:lnTo>
                <a:lnTo>
                  <a:pt x="960119" y="1570608"/>
                </a:lnTo>
                <a:lnTo>
                  <a:pt x="979866" y="1619784"/>
                </a:lnTo>
                <a:lnTo>
                  <a:pt x="1007744" y="1641475"/>
                </a:lnTo>
                <a:lnTo>
                  <a:pt x="996061" y="1656461"/>
                </a:lnTo>
                <a:lnTo>
                  <a:pt x="1015134" y="1656461"/>
                </a:lnTo>
                <a:lnTo>
                  <a:pt x="977900" y="1563496"/>
                </a:lnTo>
                <a:lnTo>
                  <a:pt x="975867" y="1558670"/>
                </a:lnTo>
                <a:lnTo>
                  <a:pt x="970406" y="1556258"/>
                </a:lnTo>
                <a:close/>
              </a:path>
              <a:path w="1017270" h="1660525">
                <a:moveTo>
                  <a:pt x="986887" y="1637268"/>
                </a:moveTo>
                <a:lnTo>
                  <a:pt x="993013" y="1652524"/>
                </a:lnTo>
                <a:lnTo>
                  <a:pt x="1003173" y="1639442"/>
                </a:lnTo>
                <a:lnTo>
                  <a:pt x="986887" y="1637268"/>
                </a:lnTo>
                <a:close/>
              </a:path>
              <a:path w="1017270" h="1660525">
                <a:moveTo>
                  <a:pt x="979866" y="1619784"/>
                </a:moveTo>
                <a:lnTo>
                  <a:pt x="986887" y="1637268"/>
                </a:lnTo>
                <a:lnTo>
                  <a:pt x="1003173" y="1639442"/>
                </a:lnTo>
                <a:lnTo>
                  <a:pt x="993013" y="1652524"/>
                </a:lnTo>
                <a:lnTo>
                  <a:pt x="999130" y="1652524"/>
                </a:lnTo>
                <a:lnTo>
                  <a:pt x="1007744" y="1641475"/>
                </a:lnTo>
                <a:lnTo>
                  <a:pt x="979866" y="1619784"/>
                </a:lnTo>
                <a:close/>
              </a:path>
              <a:path w="1017270" h="1660525">
                <a:moveTo>
                  <a:pt x="589279" y="0"/>
                </a:moveTo>
                <a:lnTo>
                  <a:pt x="499490" y="83438"/>
                </a:lnTo>
                <a:lnTo>
                  <a:pt x="411861" y="166115"/>
                </a:lnTo>
                <a:lnTo>
                  <a:pt x="369315" y="207009"/>
                </a:lnTo>
                <a:lnTo>
                  <a:pt x="328040" y="247395"/>
                </a:lnTo>
                <a:lnTo>
                  <a:pt x="288163" y="287146"/>
                </a:lnTo>
                <a:lnTo>
                  <a:pt x="250062" y="326389"/>
                </a:lnTo>
                <a:lnTo>
                  <a:pt x="213868" y="364744"/>
                </a:lnTo>
                <a:lnTo>
                  <a:pt x="179831" y="402335"/>
                </a:lnTo>
                <a:lnTo>
                  <a:pt x="148336" y="439038"/>
                </a:lnTo>
                <a:lnTo>
                  <a:pt x="119506" y="474852"/>
                </a:lnTo>
                <a:lnTo>
                  <a:pt x="93725" y="509396"/>
                </a:lnTo>
                <a:lnTo>
                  <a:pt x="70993" y="542925"/>
                </a:lnTo>
                <a:lnTo>
                  <a:pt x="43433" y="590803"/>
                </a:lnTo>
                <a:lnTo>
                  <a:pt x="23875" y="634364"/>
                </a:lnTo>
                <a:lnTo>
                  <a:pt x="10159" y="671448"/>
                </a:lnTo>
                <a:lnTo>
                  <a:pt x="762" y="713994"/>
                </a:lnTo>
                <a:lnTo>
                  <a:pt x="0" y="723772"/>
                </a:lnTo>
                <a:lnTo>
                  <a:pt x="126" y="733425"/>
                </a:lnTo>
                <a:lnTo>
                  <a:pt x="657" y="741171"/>
                </a:lnTo>
                <a:lnTo>
                  <a:pt x="762" y="742695"/>
                </a:lnTo>
                <a:lnTo>
                  <a:pt x="15112" y="787780"/>
                </a:lnTo>
                <a:lnTo>
                  <a:pt x="39243" y="824229"/>
                </a:lnTo>
                <a:lnTo>
                  <a:pt x="64388" y="854328"/>
                </a:lnTo>
                <a:lnTo>
                  <a:pt x="95757" y="888745"/>
                </a:lnTo>
                <a:lnTo>
                  <a:pt x="107695" y="901319"/>
                </a:lnTo>
                <a:lnTo>
                  <a:pt x="178181" y="976629"/>
                </a:lnTo>
                <a:lnTo>
                  <a:pt x="212851" y="1011682"/>
                </a:lnTo>
                <a:lnTo>
                  <a:pt x="251332" y="1048639"/>
                </a:lnTo>
                <a:lnTo>
                  <a:pt x="315594" y="1107439"/>
                </a:lnTo>
                <a:lnTo>
                  <a:pt x="362458" y="1148588"/>
                </a:lnTo>
                <a:lnTo>
                  <a:pt x="438023" y="1212977"/>
                </a:lnTo>
                <a:lnTo>
                  <a:pt x="491616" y="1257553"/>
                </a:lnTo>
                <a:lnTo>
                  <a:pt x="576072" y="1326388"/>
                </a:lnTo>
                <a:lnTo>
                  <a:pt x="695071" y="1421383"/>
                </a:lnTo>
                <a:lnTo>
                  <a:pt x="968134" y="1634764"/>
                </a:lnTo>
                <a:lnTo>
                  <a:pt x="986887" y="1637268"/>
                </a:lnTo>
                <a:lnTo>
                  <a:pt x="979866" y="1619784"/>
                </a:lnTo>
                <a:lnTo>
                  <a:pt x="706881" y="1406525"/>
                </a:lnTo>
                <a:lnTo>
                  <a:pt x="531367" y="1265554"/>
                </a:lnTo>
                <a:lnTo>
                  <a:pt x="476758" y="1220470"/>
                </a:lnTo>
                <a:lnTo>
                  <a:pt x="424561" y="1176654"/>
                </a:lnTo>
                <a:lnTo>
                  <a:pt x="375030" y="1134236"/>
                </a:lnTo>
                <a:lnTo>
                  <a:pt x="328421" y="1093342"/>
                </a:lnTo>
                <a:lnTo>
                  <a:pt x="284861" y="1053845"/>
                </a:lnTo>
                <a:lnTo>
                  <a:pt x="226313" y="998219"/>
                </a:lnTo>
                <a:lnTo>
                  <a:pt x="192024" y="963548"/>
                </a:lnTo>
                <a:lnTo>
                  <a:pt x="121538" y="888238"/>
                </a:lnTo>
                <a:lnTo>
                  <a:pt x="109727" y="875791"/>
                </a:lnTo>
                <a:lnTo>
                  <a:pt x="78739" y="841755"/>
                </a:lnTo>
                <a:lnTo>
                  <a:pt x="47878" y="804036"/>
                </a:lnTo>
                <a:lnTo>
                  <a:pt x="25272" y="764032"/>
                </a:lnTo>
                <a:lnTo>
                  <a:pt x="19074" y="733425"/>
                </a:lnTo>
                <a:lnTo>
                  <a:pt x="19125" y="723772"/>
                </a:lnTo>
                <a:lnTo>
                  <a:pt x="28193" y="677544"/>
                </a:lnTo>
                <a:lnTo>
                  <a:pt x="47116" y="628395"/>
                </a:lnTo>
                <a:lnTo>
                  <a:pt x="68199" y="584707"/>
                </a:lnTo>
                <a:lnTo>
                  <a:pt x="97536" y="537209"/>
                </a:lnTo>
                <a:lnTo>
                  <a:pt x="121284" y="503808"/>
                </a:lnTo>
                <a:lnTo>
                  <a:pt x="148336" y="469138"/>
                </a:lnTo>
                <a:lnTo>
                  <a:pt x="178181" y="433323"/>
                </a:lnTo>
                <a:lnTo>
                  <a:pt x="210693" y="396620"/>
                </a:lnTo>
                <a:lnTo>
                  <a:pt x="263651" y="339597"/>
                </a:lnTo>
                <a:lnTo>
                  <a:pt x="301625" y="300608"/>
                </a:lnTo>
                <a:lnTo>
                  <a:pt x="341375" y="260984"/>
                </a:lnTo>
                <a:lnTo>
                  <a:pt x="382524" y="220725"/>
                </a:lnTo>
                <a:lnTo>
                  <a:pt x="424941" y="179958"/>
                </a:lnTo>
                <a:lnTo>
                  <a:pt x="468375" y="138810"/>
                </a:lnTo>
                <a:lnTo>
                  <a:pt x="602234" y="13969"/>
                </a:lnTo>
                <a:lnTo>
                  <a:pt x="589279" y="0"/>
                </a:lnTo>
                <a:close/>
              </a:path>
            </a:pathLst>
          </a:custGeom>
          <a:solidFill>
            <a:srgbClr val="5C99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405757" y="3665982"/>
            <a:ext cx="788035" cy="1545590"/>
          </a:xfrm>
          <a:custGeom>
            <a:avLst/>
            <a:gdLst/>
            <a:ahLst/>
            <a:cxnLst/>
            <a:rect l="l" t="t" r="r" b="b"/>
            <a:pathLst>
              <a:path w="788035" h="1545589">
                <a:moveTo>
                  <a:pt x="453690" y="30516"/>
                </a:moveTo>
                <a:lnTo>
                  <a:pt x="455634" y="49173"/>
                </a:lnTo>
                <a:lnTo>
                  <a:pt x="461390" y="57023"/>
                </a:lnTo>
                <a:lnTo>
                  <a:pt x="498601" y="108331"/>
                </a:lnTo>
                <a:lnTo>
                  <a:pt x="535051" y="159766"/>
                </a:lnTo>
                <a:lnTo>
                  <a:pt x="570356" y="210947"/>
                </a:lnTo>
                <a:lnTo>
                  <a:pt x="604012" y="261874"/>
                </a:lnTo>
                <a:lnTo>
                  <a:pt x="635634" y="312674"/>
                </a:lnTo>
                <a:lnTo>
                  <a:pt x="664717" y="363347"/>
                </a:lnTo>
                <a:lnTo>
                  <a:pt x="691133" y="413639"/>
                </a:lnTo>
                <a:lnTo>
                  <a:pt x="714247" y="463550"/>
                </a:lnTo>
                <a:lnTo>
                  <a:pt x="733805" y="513334"/>
                </a:lnTo>
                <a:lnTo>
                  <a:pt x="749426" y="562610"/>
                </a:lnTo>
                <a:lnTo>
                  <a:pt x="760602" y="611505"/>
                </a:lnTo>
                <a:lnTo>
                  <a:pt x="766954" y="658749"/>
                </a:lnTo>
                <a:lnTo>
                  <a:pt x="768476" y="683895"/>
                </a:lnTo>
                <a:lnTo>
                  <a:pt x="768410" y="708914"/>
                </a:lnTo>
                <a:lnTo>
                  <a:pt x="764413" y="755269"/>
                </a:lnTo>
                <a:lnTo>
                  <a:pt x="754506" y="802386"/>
                </a:lnTo>
                <a:lnTo>
                  <a:pt x="738504" y="849249"/>
                </a:lnTo>
                <a:lnTo>
                  <a:pt x="716533" y="895858"/>
                </a:lnTo>
                <a:lnTo>
                  <a:pt x="688975" y="942213"/>
                </a:lnTo>
                <a:lnTo>
                  <a:pt x="656081" y="988441"/>
                </a:lnTo>
                <a:lnTo>
                  <a:pt x="618489" y="1034415"/>
                </a:lnTo>
                <a:lnTo>
                  <a:pt x="576326" y="1080262"/>
                </a:lnTo>
                <a:lnTo>
                  <a:pt x="530225" y="1125728"/>
                </a:lnTo>
                <a:lnTo>
                  <a:pt x="480567" y="1171194"/>
                </a:lnTo>
                <a:lnTo>
                  <a:pt x="427608" y="1216406"/>
                </a:lnTo>
                <a:lnTo>
                  <a:pt x="371855" y="1261364"/>
                </a:lnTo>
                <a:lnTo>
                  <a:pt x="313563" y="1306322"/>
                </a:lnTo>
                <a:lnTo>
                  <a:pt x="253364" y="1351153"/>
                </a:lnTo>
                <a:lnTo>
                  <a:pt x="191515" y="1395857"/>
                </a:lnTo>
                <a:lnTo>
                  <a:pt x="128269" y="1440561"/>
                </a:lnTo>
                <a:lnTo>
                  <a:pt x="0" y="1529842"/>
                </a:lnTo>
                <a:lnTo>
                  <a:pt x="10921" y="1545590"/>
                </a:lnTo>
                <a:lnTo>
                  <a:pt x="202564" y="1411478"/>
                </a:lnTo>
                <a:lnTo>
                  <a:pt x="264540" y="1366647"/>
                </a:lnTo>
                <a:lnTo>
                  <a:pt x="324992" y="1321562"/>
                </a:lnTo>
                <a:lnTo>
                  <a:pt x="383539" y="1276477"/>
                </a:lnTo>
                <a:lnTo>
                  <a:pt x="439673" y="1231138"/>
                </a:lnTo>
                <a:lnTo>
                  <a:pt x="493140" y="1185545"/>
                </a:lnTo>
                <a:lnTo>
                  <a:pt x="543305" y="1139698"/>
                </a:lnTo>
                <a:lnTo>
                  <a:pt x="589914" y="1093597"/>
                </a:lnTo>
                <a:lnTo>
                  <a:pt x="632587" y="1047115"/>
                </a:lnTo>
                <a:lnTo>
                  <a:pt x="671067" y="1000252"/>
                </a:lnTo>
                <a:lnTo>
                  <a:pt x="704595" y="953008"/>
                </a:lnTo>
                <a:lnTo>
                  <a:pt x="733043" y="905256"/>
                </a:lnTo>
                <a:lnTo>
                  <a:pt x="755903" y="856869"/>
                </a:lnTo>
                <a:lnTo>
                  <a:pt x="772794" y="808101"/>
                </a:lnTo>
                <a:lnTo>
                  <a:pt x="783208" y="758571"/>
                </a:lnTo>
                <a:lnTo>
                  <a:pt x="787526" y="708914"/>
                </a:lnTo>
                <a:lnTo>
                  <a:pt x="787526" y="683895"/>
                </a:lnTo>
                <a:lnTo>
                  <a:pt x="786193" y="659892"/>
                </a:lnTo>
                <a:lnTo>
                  <a:pt x="786129" y="658749"/>
                </a:lnTo>
                <a:lnTo>
                  <a:pt x="779398" y="608457"/>
                </a:lnTo>
                <a:lnTo>
                  <a:pt x="767841" y="557911"/>
                </a:lnTo>
                <a:lnTo>
                  <a:pt x="751966" y="507238"/>
                </a:lnTo>
                <a:lnTo>
                  <a:pt x="731901" y="456311"/>
                </a:lnTo>
                <a:lnTo>
                  <a:pt x="708278" y="405384"/>
                </a:lnTo>
                <a:lnTo>
                  <a:pt x="681608" y="354330"/>
                </a:lnTo>
                <a:lnTo>
                  <a:pt x="652017" y="303022"/>
                </a:lnTo>
                <a:lnTo>
                  <a:pt x="620013" y="251714"/>
                </a:lnTo>
                <a:lnTo>
                  <a:pt x="586231" y="200406"/>
                </a:lnTo>
                <a:lnTo>
                  <a:pt x="550798" y="148844"/>
                </a:lnTo>
                <a:lnTo>
                  <a:pt x="514095" y="97409"/>
                </a:lnTo>
                <a:lnTo>
                  <a:pt x="476757" y="45847"/>
                </a:lnTo>
                <a:lnTo>
                  <a:pt x="471051" y="38038"/>
                </a:lnTo>
                <a:lnTo>
                  <a:pt x="453690" y="30516"/>
                </a:lnTo>
                <a:close/>
              </a:path>
              <a:path w="788035" h="1545589">
                <a:moveTo>
                  <a:pt x="431291" y="0"/>
                </a:moveTo>
                <a:lnTo>
                  <a:pt x="442213" y="103886"/>
                </a:lnTo>
                <a:lnTo>
                  <a:pt x="442528" y="107188"/>
                </a:lnTo>
                <a:lnTo>
                  <a:pt x="442637" y="108331"/>
                </a:lnTo>
                <a:lnTo>
                  <a:pt x="442721" y="109220"/>
                </a:lnTo>
                <a:lnTo>
                  <a:pt x="447420" y="112903"/>
                </a:lnTo>
                <a:lnTo>
                  <a:pt x="457962" y="111887"/>
                </a:lnTo>
                <a:lnTo>
                  <a:pt x="461771" y="107188"/>
                </a:lnTo>
                <a:lnTo>
                  <a:pt x="461137" y="101981"/>
                </a:lnTo>
                <a:lnTo>
                  <a:pt x="455658" y="49403"/>
                </a:lnTo>
                <a:lnTo>
                  <a:pt x="455634" y="49173"/>
                </a:lnTo>
                <a:lnTo>
                  <a:pt x="434847" y="20828"/>
                </a:lnTo>
                <a:lnTo>
                  <a:pt x="450214" y="9525"/>
                </a:lnTo>
                <a:lnTo>
                  <a:pt x="453216" y="9525"/>
                </a:lnTo>
                <a:lnTo>
                  <a:pt x="431291" y="0"/>
                </a:lnTo>
                <a:close/>
              </a:path>
              <a:path w="788035" h="1545589">
                <a:moveTo>
                  <a:pt x="453216" y="9525"/>
                </a:moveTo>
                <a:lnTo>
                  <a:pt x="450214" y="9525"/>
                </a:lnTo>
                <a:lnTo>
                  <a:pt x="471051" y="38038"/>
                </a:lnTo>
                <a:lnTo>
                  <a:pt x="519556" y="59055"/>
                </a:lnTo>
                <a:lnTo>
                  <a:pt x="524382" y="61214"/>
                </a:lnTo>
                <a:lnTo>
                  <a:pt x="529660" y="59055"/>
                </a:lnTo>
                <a:lnTo>
                  <a:pt x="529912" y="59055"/>
                </a:lnTo>
                <a:lnTo>
                  <a:pt x="532129" y="54229"/>
                </a:lnTo>
                <a:lnTo>
                  <a:pt x="534162" y="49403"/>
                </a:lnTo>
                <a:lnTo>
                  <a:pt x="532002" y="43688"/>
                </a:lnTo>
                <a:lnTo>
                  <a:pt x="527176" y="41656"/>
                </a:lnTo>
                <a:lnTo>
                  <a:pt x="453216" y="9525"/>
                </a:lnTo>
                <a:close/>
              </a:path>
              <a:path w="788035" h="1545589">
                <a:moveTo>
                  <a:pt x="450214" y="9525"/>
                </a:moveTo>
                <a:lnTo>
                  <a:pt x="434847" y="20828"/>
                </a:lnTo>
                <a:lnTo>
                  <a:pt x="455634" y="49173"/>
                </a:lnTo>
                <a:lnTo>
                  <a:pt x="453690" y="30516"/>
                </a:lnTo>
                <a:lnTo>
                  <a:pt x="438657" y="24003"/>
                </a:lnTo>
                <a:lnTo>
                  <a:pt x="451992" y="14224"/>
                </a:lnTo>
                <a:lnTo>
                  <a:pt x="453648" y="14224"/>
                </a:lnTo>
                <a:lnTo>
                  <a:pt x="450214" y="9525"/>
                </a:lnTo>
                <a:close/>
              </a:path>
              <a:path w="788035" h="1545589">
                <a:moveTo>
                  <a:pt x="453648" y="14224"/>
                </a:moveTo>
                <a:lnTo>
                  <a:pt x="451992" y="14224"/>
                </a:lnTo>
                <a:lnTo>
                  <a:pt x="453690" y="30516"/>
                </a:lnTo>
                <a:lnTo>
                  <a:pt x="471051" y="38038"/>
                </a:lnTo>
                <a:lnTo>
                  <a:pt x="453648" y="14224"/>
                </a:lnTo>
                <a:close/>
              </a:path>
              <a:path w="788035" h="1545589">
                <a:moveTo>
                  <a:pt x="451992" y="14224"/>
                </a:moveTo>
                <a:lnTo>
                  <a:pt x="438657" y="24003"/>
                </a:lnTo>
                <a:lnTo>
                  <a:pt x="453690" y="30516"/>
                </a:lnTo>
                <a:lnTo>
                  <a:pt x="451992" y="14224"/>
                </a:lnTo>
                <a:close/>
              </a:path>
            </a:pathLst>
          </a:custGeom>
          <a:solidFill>
            <a:srgbClr val="5C99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05867" y="5276850"/>
            <a:ext cx="110998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Root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mode, </a:t>
            </a:r>
            <a:r>
              <a:rPr dirty="0" sz="1800">
                <a:latin typeface="Calibri"/>
                <a:cs typeface="Calibri"/>
              </a:rPr>
              <a:t>ring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5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060194" y="5600496"/>
            <a:ext cx="8223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libri"/>
                <a:cs typeface="Calibri"/>
              </a:rPr>
              <a:t>Memory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47846" y="5484367"/>
            <a:ext cx="5899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latin typeface="Calibri"/>
                <a:cs typeface="Calibri"/>
              </a:rPr>
              <a:t>VMCS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84775" y="5290515"/>
            <a:ext cx="79184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libri"/>
                <a:cs typeface="Calibri"/>
              </a:rPr>
              <a:t>vmread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Calibri"/>
                <a:cs typeface="Calibri"/>
              </a:rPr>
              <a:t>vmwrite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704201" y="5324347"/>
            <a:ext cx="546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libri"/>
                <a:cs typeface="Calibri"/>
              </a:rPr>
              <a:t>VMM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0842" y="230717"/>
            <a:ext cx="3573779" cy="82804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375"/>
              </a:spcBef>
            </a:pPr>
            <a:r>
              <a:rPr dirty="0" sz="2400" b="1">
                <a:solidFill>
                  <a:srgbClr val="2E5496"/>
                </a:solidFill>
                <a:latin typeface="Calibri"/>
                <a:cs typeface="Calibri"/>
              </a:rPr>
              <a:t>CLOUD</a:t>
            </a:r>
            <a:r>
              <a:rPr dirty="0" sz="2400" spc="-80" b="1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496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2400" b="1">
                <a:solidFill>
                  <a:srgbClr val="C55A11"/>
                </a:solidFill>
                <a:latin typeface="Calibri"/>
                <a:cs typeface="Calibri"/>
              </a:rPr>
              <a:t>Current</a:t>
            </a:r>
            <a:r>
              <a:rPr dirty="0" sz="2400" spc="-65" b="1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Calibri"/>
                <a:cs typeface="Calibri"/>
              </a:rPr>
              <a:t>status</a:t>
            </a:r>
            <a:r>
              <a:rPr dirty="0" sz="2400" spc="-45" b="1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55A11"/>
                </a:solidFill>
                <a:latin typeface="Calibri"/>
                <a:cs typeface="Calibri"/>
              </a:rPr>
              <a:t>of</a:t>
            </a:r>
            <a:r>
              <a:rPr dirty="0" sz="2400" spc="-65" b="1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55A11"/>
                </a:solidFill>
                <a:latin typeface="Calibri"/>
                <a:cs typeface="Calibri"/>
              </a:rPr>
              <a:t>H/W</a:t>
            </a:r>
            <a:r>
              <a:rPr dirty="0" sz="2400" spc="-70" b="1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Calibri"/>
                <a:cs typeface="Calibri"/>
              </a:rPr>
              <a:t>assist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A logo for a university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76052" y="0"/>
            <a:ext cx="756161" cy="139051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37743" y="1953514"/>
            <a:ext cx="6533515" cy="1489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libri"/>
                <a:cs typeface="Calibri"/>
              </a:rPr>
              <a:t>Almost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all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VMMs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make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h/w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assist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today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2400">
                <a:latin typeface="Calibri"/>
                <a:cs typeface="Calibri"/>
              </a:rPr>
              <a:t>KVM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integrated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part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Linux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makes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heavy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use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h/w</a:t>
            </a:r>
            <a:r>
              <a:rPr dirty="0" sz="2400" spc="-10">
                <a:latin typeface="Calibri"/>
                <a:cs typeface="Calibri"/>
              </a:rPr>
              <a:t> assist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Calibri"/>
                <a:cs typeface="Calibri"/>
              </a:rPr>
              <a:t>Even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Xen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VMWare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workstation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uses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it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91464" y="230717"/>
            <a:ext cx="5297170" cy="644461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375"/>
              </a:spcBef>
            </a:pPr>
            <a:r>
              <a:rPr dirty="0" sz="2400" b="1">
                <a:solidFill>
                  <a:srgbClr val="2E5496"/>
                </a:solidFill>
                <a:latin typeface="Calibri"/>
                <a:cs typeface="Calibri"/>
              </a:rPr>
              <a:t>CLOUD</a:t>
            </a:r>
            <a:r>
              <a:rPr dirty="0" sz="2400" spc="-80" b="1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496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61594">
              <a:lnSpc>
                <a:spcPct val="100000"/>
              </a:lnSpc>
              <a:spcBef>
                <a:spcPts val="280"/>
              </a:spcBef>
            </a:pPr>
            <a:r>
              <a:rPr dirty="0" sz="2400" b="1">
                <a:solidFill>
                  <a:srgbClr val="C55A11"/>
                </a:solidFill>
                <a:latin typeface="Calibri"/>
                <a:cs typeface="Calibri"/>
              </a:rPr>
              <a:t>Xen</a:t>
            </a:r>
            <a:r>
              <a:rPr dirty="0" sz="2400" spc="-90" b="1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Calibri"/>
                <a:cs typeface="Calibri"/>
              </a:rPr>
              <a:t>architecture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dirty="0" sz="2400" spc="-10">
                <a:latin typeface="Calibri"/>
                <a:cs typeface="Calibri"/>
              </a:rPr>
              <a:t>Paravirtualization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hypervisor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alibri"/>
                <a:cs typeface="Calibri"/>
              </a:rPr>
              <a:t>VMs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called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 i="1">
                <a:latin typeface="Calibri"/>
                <a:cs typeface="Calibri"/>
              </a:rPr>
              <a:t>domains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 spc="-20">
                <a:latin typeface="Calibri"/>
                <a:cs typeface="Calibri"/>
              </a:rPr>
              <a:t>Dom0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alibri"/>
                <a:cs typeface="Calibri"/>
              </a:rPr>
              <a:t>Special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domain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alibri"/>
                <a:cs typeface="Calibri"/>
              </a:rPr>
              <a:t>Based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upon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Linux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alibri"/>
                <a:cs typeface="Calibri"/>
              </a:rPr>
              <a:t>Handles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all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I/O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alibri"/>
                <a:cs typeface="Calibri"/>
              </a:rPr>
              <a:t>Windows: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uses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filter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drivers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alibri"/>
                <a:cs typeface="Calibri"/>
              </a:rPr>
              <a:t>Xen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hypervisor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alibri"/>
                <a:cs typeface="Calibri"/>
              </a:rPr>
              <a:t>All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functions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other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than</a:t>
            </a:r>
            <a:r>
              <a:rPr dirty="0" sz="2400" spc="-25">
                <a:latin typeface="Calibri"/>
                <a:cs typeface="Calibri"/>
              </a:rPr>
              <a:t> I/O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 spc="-45">
                <a:latin typeface="Calibri"/>
                <a:cs typeface="Calibri"/>
              </a:rPr>
              <a:t>Trap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emulate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20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alibri"/>
                <a:cs typeface="Calibri"/>
              </a:rPr>
              <a:t>Binary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translation</a:t>
            </a:r>
            <a:endParaRPr sz="2400">
              <a:latin typeface="Calibri"/>
              <a:cs typeface="Calibri"/>
            </a:endParaRPr>
          </a:p>
          <a:p>
            <a:pPr lvl="2" marL="1154430" indent="-227329">
              <a:lnSpc>
                <a:spcPts val="2735"/>
              </a:lnSpc>
              <a:spcBef>
                <a:spcPts val="215"/>
              </a:spcBef>
              <a:buFont typeface="Arial"/>
              <a:buChar char="•"/>
              <a:tabLst>
                <a:tab pos="1154430" algn="l"/>
              </a:tabLst>
            </a:pPr>
            <a:r>
              <a:rPr dirty="0" sz="2400">
                <a:latin typeface="Calibri"/>
                <a:cs typeface="Calibri"/>
              </a:rPr>
              <a:t>Sensitive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instructions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replaced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by</a:t>
            </a:r>
            <a:endParaRPr sz="2400">
              <a:latin typeface="Calibri"/>
              <a:cs typeface="Calibri"/>
            </a:endParaRPr>
          </a:p>
          <a:p>
            <a:pPr marL="1155700">
              <a:lnSpc>
                <a:spcPts val="2735"/>
              </a:lnSpc>
            </a:pPr>
            <a:r>
              <a:rPr dirty="0" sz="2400">
                <a:latin typeface="Calibri"/>
                <a:cs typeface="Calibri"/>
              </a:rPr>
              <a:t>hypervisor</a:t>
            </a:r>
            <a:r>
              <a:rPr dirty="0" sz="2400" spc="-1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calls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 descr="A logo for a university  Description automatically generated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76052" y="0"/>
            <a:ext cx="756161" cy="139051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32875" y="1967111"/>
            <a:ext cx="6599354" cy="2568963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0842" y="230717"/>
            <a:ext cx="4869815" cy="413766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375"/>
              </a:spcBef>
            </a:pPr>
            <a:r>
              <a:rPr dirty="0" sz="2400" b="1">
                <a:solidFill>
                  <a:srgbClr val="2E5496"/>
                </a:solidFill>
                <a:latin typeface="Calibri"/>
                <a:cs typeface="Calibri"/>
              </a:rPr>
              <a:t>CLOUD</a:t>
            </a:r>
            <a:r>
              <a:rPr dirty="0" sz="2400" spc="-80" b="1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496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2400" b="1">
                <a:solidFill>
                  <a:srgbClr val="C55A11"/>
                </a:solidFill>
                <a:latin typeface="Calibri"/>
                <a:cs typeface="Calibri"/>
              </a:rPr>
              <a:t>KVM</a:t>
            </a:r>
            <a:r>
              <a:rPr dirty="0" sz="2400" spc="-55" b="1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Calibri"/>
                <a:cs typeface="Calibri"/>
              </a:rPr>
              <a:t>Architecture</a:t>
            </a:r>
            <a:r>
              <a:rPr dirty="0" sz="2400" spc="-50" b="1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55A11"/>
                </a:solidFill>
                <a:latin typeface="Calibri"/>
                <a:cs typeface="Calibri"/>
              </a:rPr>
              <a:t>–</a:t>
            </a:r>
            <a:r>
              <a:rPr dirty="0" sz="2400" spc="-70" b="1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55A11"/>
                </a:solidFill>
                <a:latin typeface="Calibri"/>
                <a:cs typeface="Calibri"/>
              </a:rPr>
              <a:t>Processor</a:t>
            </a:r>
            <a:r>
              <a:rPr dirty="0" sz="2400" spc="-80" b="1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Calibri"/>
                <a:cs typeface="Calibri"/>
              </a:rPr>
              <a:t>Support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2400">
              <a:latin typeface="Calibri"/>
              <a:cs typeface="Calibri"/>
            </a:endParaRPr>
          </a:p>
          <a:p>
            <a:pPr marL="342900" marR="1127125" indent="-227329">
              <a:lnSpc>
                <a:spcPts val="2590"/>
              </a:lnSpc>
              <a:spcBef>
                <a:spcPts val="5"/>
              </a:spcBef>
              <a:buFont typeface="Arial"/>
              <a:buChar char="•"/>
              <a:tabLst>
                <a:tab pos="344170" algn="l"/>
              </a:tabLst>
            </a:pPr>
            <a:r>
              <a:rPr dirty="0" sz="2400">
                <a:latin typeface="Calibri"/>
                <a:cs typeface="Calibri"/>
              </a:rPr>
              <a:t>Extends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Linux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kernel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add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hypervisor</a:t>
            </a:r>
            <a:r>
              <a:rPr dirty="0" sz="2400" spc="-1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functionality</a:t>
            </a:r>
            <a:endParaRPr sz="2400">
              <a:latin typeface="Calibri"/>
              <a:cs typeface="Calibri"/>
            </a:endParaRPr>
          </a:p>
          <a:p>
            <a:pPr lvl="1" marL="800100" marR="1144905" indent="-227965">
              <a:lnSpc>
                <a:spcPts val="2590"/>
              </a:lnSpc>
              <a:spcBef>
                <a:spcPts val="505"/>
              </a:spcBef>
              <a:buFont typeface="Arial"/>
              <a:buChar char="•"/>
              <a:tabLst>
                <a:tab pos="801370" algn="l"/>
              </a:tabLst>
            </a:pPr>
            <a:r>
              <a:rPr dirty="0" sz="2400" spc="-10">
                <a:latin typeface="Calibri"/>
                <a:cs typeface="Calibri"/>
              </a:rPr>
              <a:t>Leverage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Linux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code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for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scheduling, paging,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 spc="-50">
                <a:latin typeface="Calibri"/>
                <a:cs typeface="Calibri"/>
              </a:rPr>
              <a:t>…</a:t>
            </a:r>
            <a:endParaRPr sz="2400">
              <a:latin typeface="Calibri"/>
              <a:cs typeface="Calibri"/>
            </a:endParaRPr>
          </a:p>
          <a:p>
            <a:pPr lvl="1" marL="800735" indent="-227965">
              <a:lnSpc>
                <a:spcPct val="100000"/>
              </a:lnSpc>
              <a:spcBef>
                <a:spcPts val="185"/>
              </a:spcBef>
              <a:buFont typeface="Arial"/>
              <a:buChar char="•"/>
              <a:tabLst>
                <a:tab pos="800735" algn="l"/>
              </a:tabLst>
            </a:pPr>
            <a:r>
              <a:rPr dirty="0" sz="2400">
                <a:latin typeface="Calibri"/>
                <a:cs typeface="Calibri"/>
              </a:rPr>
              <a:t>Uses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VT-</a:t>
            </a:r>
            <a:r>
              <a:rPr dirty="0" sz="2400">
                <a:latin typeface="Calibri"/>
                <a:cs typeface="Calibri"/>
              </a:rPr>
              <a:t>x, </a:t>
            </a:r>
            <a:r>
              <a:rPr dirty="0" sz="2400" spc="-25">
                <a:latin typeface="Calibri"/>
                <a:cs typeface="Calibri"/>
              </a:rPr>
              <a:t>EPT</a:t>
            </a:r>
            <a:endParaRPr sz="2400">
              <a:latin typeface="Calibri"/>
              <a:cs typeface="Calibri"/>
            </a:endParaRPr>
          </a:p>
          <a:p>
            <a:pPr marL="342900" marR="1115695" indent="-227329">
              <a:lnSpc>
                <a:spcPts val="2590"/>
              </a:lnSpc>
              <a:spcBef>
                <a:spcPts val="1035"/>
              </a:spcBef>
              <a:buFont typeface="Arial"/>
              <a:buChar char="•"/>
              <a:tabLst>
                <a:tab pos="344170" algn="l"/>
              </a:tabLst>
            </a:pPr>
            <a:r>
              <a:rPr dirty="0" sz="2400">
                <a:latin typeface="Calibri"/>
                <a:cs typeface="Calibri"/>
              </a:rPr>
              <a:t>Each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VM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appears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Linux 	process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 descr="A logo for a university  Description automatically generated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76052" y="0"/>
            <a:ext cx="756161" cy="139051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41391" y="1769364"/>
            <a:ext cx="3267456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7625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375"/>
              </a:spcBef>
            </a:pPr>
            <a:r>
              <a:rPr dirty="0"/>
              <a:t>CLOUD</a:t>
            </a:r>
            <a:r>
              <a:rPr dirty="0" spc="-80"/>
              <a:t> </a:t>
            </a:r>
            <a:r>
              <a:rPr dirty="0" spc="-10"/>
              <a:t>COMPUTING</a:t>
            </a:r>
          </a:p>
          <a:p>
            <a:pPr marL="201295">
              <a:lnSpc>
                <a:spcPct val="100000"/>
              </a:lnSpc>
              <a:spcBef>
                <a:spcPts val="280"/>
              </a:spcBef>
            </a:pPr>
            <a:r>
              <a:rPr dirty="0">
                <a:solidFill>
                  <a:srgbClr val="C55A11"/>
                </a:solidFill>
              </a:rPr>
              <a:t>Additional</a:t>
            </a:r>
            <a:r>
              <a:rPr dirty="0" spc="-55">
                <a:solidFill>
                  <a:srgbClr val="C55A11"/>
                </a:solidFill>
              </a:rPr>
              <a:t> </a:t>
            </a:r>
            <a:r>
              <a:rPr dirty="0" spc="-10">
                <a:solidFill>
                  <a:srgbClr val="C55A11"/>
                </a:solidFill>
              </a:rPr>
              <a:t>Reading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A logo for a university  Description automatically generated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276052" y="0"/>
            <a:ext cx="756161" cy="139051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66343" y="1828038"/>
            <a:ext cx="5892165" cy="1671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u="sng" sz="18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www.vmware.com/pdf/asplos235_adams.pdf</a:t>
            </a:r>
            <a:r>
              <a:rPr dirty="0" sz="1800" spc="-1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dirty="0" u="sng" sz="1800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https://www.cse.iitb.ac.in/~cs695/slides_pdf/04-</a:t>
            </a:r>
            <a:r>
              <a:rPr dirty="0" u="sng" sz="18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hwvirt-</a:t>
            </a:r>
            <a:r>
              <a:rPr dirty="0" u="sng" sz="18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kvmqemu.pdf</a:t>
            </a:r>
            <a:r>
              <a:rPr dirty="0" sz="1800" spc="-1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dirty="0" u="sng" sz="18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https://www.intel.com/content/dam/www/public/us/en/docu</a:t>
            </a:r>
            <a:r>
              <a:rPr dirty="0" sz="1800" spc="-1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dirty="0" u="sng" sz="1800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ments/white-papers/virtualization-tech-</a:t>
            </a:r>
            <a:r>
              <a:rPr dirty="0" u="sng" sz="1800" spc="-2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converged-</a:t>
            </a:r>
            <a:r>
              <a:rPr dirty="0" u="sng" sz="18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application-</a:t>
            </a:r>
            <a:r>
              <a:rPr dirty="0" u="sng" sz="18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platforms-paper.pdf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765536" y="348995"/>
            <a:ext cx="1066800" cy="1079500"/>
          </a:xfrm>
          <a:custGeom>
            <a:avLst/>
            <a:gdLst/>
            <a:ahLst/>
            <a:cxnLst/>
            <a:rect l="l" t="t" r="r" b="b"/>
            <a:pathLst>
              <a:path w="1066800" h="1079500">
                <a:moveTo>
                  <a:pt x="1066800" y="0"/>
                </a:moveTo>
                <a:lnTo>
                  <a:pt x="0" y="0"/>
                </a:lnTo>
                <a:lnTo>
                  <a:pt x="0" y="45720"/>
                </a:lnTo>
                <a:lnTo>
                  <a:pt x="1021080" y="45720"/>
                </a:lnTo>
                <a:lnTo>
                  <a:pt x="1021080" y="1078992"/>
                </a:lnTo>
                <a:lnTo>
                  <a:pt x="1066800" y="1078992"/>
                </a:lnTo>
                <a:lnTo>
                  <a:pt x="1066800" y="45720"/>
                </a:lnTo>
                <a:lnTo>
                  <a:pt x="1066800" y="12192"/>
                </a:lnTo>
                <a:lnTo>
                  <a:pt x="1066800" y="0"/>
                </a:lnTo>
                <a:close/>
              </a:path>
            </a:pathLst>
          </a:custGeom>
          <a:solidFill>
            <a:srgbClr val="F4AF8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A logo for a university  Description automatically generated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0572" y="1171955"/>
            <a:ext cx="2461602" cy="3997452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367276" y="2089784"/>
            <a:ext cx="273494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C55A11"/>
                </a:solidFill>
                <a:latin typeface="Arial"/>
                <a:cs typeface="Arial"/>
              </a:rPr>
              <a:t>THANK</a:t>
            </a:r>
            <a:r>
              <a:rPr dirty="0" sz="3600" spc="-20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3600" spc="-25">
                <a:solidFill>
                  <a:srgbClr val="C55A11"/>
                </a:solidFill>
                <a:latin typeface="Arial"/>
                <a:cs typeface="Arial"/>
              </a:rPr>
              <a:t>YOU</a:t>
            </a:r>
            <a:endParaRPr sz="3600">
              <a:latin typeface="Arial"/>
              <a:cs typeface="Arial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4289297" y="2888742"/>
            <a:ext cx="4581525" cy="0"/>
          </a:xfrm>
          <a:custGeom>
            <a:avLst/>
            <a:gdLst/>
            <a:ahLst/>
            <a:cxnLst/>
            <a:rect l="l" t="t" r="r" b="b"/>
            <a:pathLst>
              <a:path w="4581525" h="0">
                <a:moveTo>
                  <a:pt x="0" y="0"/>
                </a:moveTo>
                <a:lnTo>
                  <a:pt x="4581398" y="0"/>
                </a:lnTo>
              </a:path>
            </a:pathLst>
          </a:custGeom>
          <a:ln w="38100">
            <a:solidFill>
              <a:srgbClr val="DFA1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367276" y="3221032"/>
            <a:ext cx="5211445" cy="123444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2400" spc="-10" b="1">
                <a:latin typeface="Calibri"/>
                <a:cs typeface="Calibri"/>
              </a:rPr>
              <a:t>Prafullata</a:t>
            </a:r>
            <a:r>
              <a:rPr dirty="0" sz="2400" spc="-8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Kiran</a:t>
            </a:r>
            <a:r>
              <a:rPr dirty="0" sz="2400" spc="-9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Auradkar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2000">
                <a:latin typeface="Calibri"/>
                <a:cs typeface="Calibri"/>
              </a:rPr>
              <a:t>Department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Computer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Science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Engineering</a:t>
            </a:r>
            <a:endParaRPr sz="2000">
              <a:latin typeface="Calibri"/>
              <a:cs typeface="Calibri"/>
            </a:endParaRPr>
          </a:p>
          <a:p>
            <a:pPr marL="24765">
              <a:lnSpc>
                <a:spcPct val="100000"/>
              </a:lnSpc>
              <a:spcBef>
                <a:spcPts val="745"/>
              </a:spcBef>
            </a:pPr>
            <a:r>
              <a:rPr dirty="0" sz="2400" spc="-10" b="1">
                <a:latin typeface="Calibri"/>
                <a:cs typeface="Calibri"/>
                <a:hlinkClick r:id="rId2"/>
              </a:rPr>
              <a:t>prafullatak@pes.edu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3944" y="5489447"/>
            <a:ext cx="1066800" cy="1079500"/>
          </a:xfrm>
          <a:custGeom>
            <a:avLst/>
            <a:gdLst/>
            <a:ahLst/>
            <a:cxnLst/>
            <a:rect l="l" t="t" r="r" b="b"/>
            <a:pathLst>
              <a:path w="1066800" h="1079500">
                <a:moveTo>
                  <a:pt x="1066800" y="1033272"/>
                </a:moveTo>
                <a:lnTo>
                  <a:pt x="45720" y="1033272"/>
                </a:lnTo>
                <a:lnTo>
                  <a:pt x="45720" y="0"/>
                </a:lnTo>
                <a:lnTo>
                  <a:pt x="0" y="0"/>
                </a:lnTo>
                <a:lnTo>
                  <a:pt x="0" y="1033272"/>
                </a:lnTo>
                <a:lnTo>
                  <a:pt x="0" y="1066800"/>
                </a:lnTo>
                <a:lnTo>
                  <a:pt x="0" y="1078992"/>
                </a:lnTo>
                <a:lnTo>
                  <a:pt x="1066800" y="1078992"/>
                </a:lnTo>
                <a:lnTo>
                  <a:pt x="1066800" y="1033272"/>
                </a:lnTo>
                <a:close/>
              </a:path>
            </a:pathLst>
          </a:custGeom>
          <a:solidFill>
            <a:srgbClr val="F4AF81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10855452" y="266699"/>
            <a:ext cx="1066800" cy="1077595"/>
          </a:xfrm>
          <a:custGeom>
            <a:avLst/>
            <a:gdLst/>
            <a:ahLst/>
            <a:cxnLst/>
            <a:rect l="l" t="t" r="r" b="b"/>
            <a:pathLst>
              <a:path w="1066800" h="1077595">
                <a:moveTo>
                  <a:pt x="1066800" y="0"/>
                </a:moveTo>
                <a:lnTo>
                  <a:pt x="0" y="0"/>
                </a:lnTo>
                <a:lnTo>
                  <a:pt x="0" y="45720"/>
                </a:lnTo>
                <a:lnTo>
                  <a:pt x="1021080" y="45720"/>
                </a:lnTo>
                <a:lnTo>
                  <a:pt x="1021080" y="1077468"/>
                </a:lnTo>
                <a:lnTo>
                  <a:pt x="1066800" y="1077468"/>
                </a:lnTo>
                <a:lnTo>
                  <a:pt x="1066800" y="45720"/>
                </a:lnTo>
                <a:lnTo>
                  <a:pt x="1066800" y="10668"/>
                </a:lnTo>
                <a:lnTo>
                  <a:pt x="1066800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A logo for a university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3580" y="1171955"/>
            <a:ext cx="2239644" cy="3637788"/>
          </a:xfrm>
          <a:prstGeom prst="rect">
            <a:avLst/>
          </a:prstGeom>
        </p:spPr>
      </p:pic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74184" y="1698497"/>
            <a:ext cx="3894454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C55A11"/>
                </a:solidFill>
              </a:rPr>
              <a:t>CLOUD</a:t>
            </a:r>
            <a:r>
              <a:rPr dirty="0" sz="3600" spc="-130">
                <a:solidFill>
                  <a:srgbClr val="C55A11"/>
                </a:solidFill>
              </a:rPr>
              <a:t> </a:t>
            </a:r>
            <a:r>
              <a:rPr dirty="0" sz="3600" spc="-10">
                <a:solidFill>
                  <a:srgbClr val="C55A11"/>
                </a:solidFill>
              </a:rPr>
              <a:t>COMPUTING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4846701" y="2821304"/>
            <a:ext cx="41433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Virtualization</a:t>
            </a:r>
            <a:r>
              <a:rPr dirty="0" sz="2400" spc="-4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–</a:t>
            </a:r>
            <a:r>
              <a:rPr dirty="0" sz="2400" spc="-4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Memory</a:t>
            </a:r>
            <a:r>
              <a:rPr dirty="0" sz="2400" spc="-70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and</a:t>
            </a:r>
            <a:r>
              <a:rPr dirty="0" sz="2400" spc="-5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spc="-25" b="1">
                <a:solidFill>
                  <a:srgbClr val="2E5395"/>
                </a:solidFill>
                <a:latin typeface="Calibri"/>
                <a:cs typeface="Calibri"/>
              </a:rPr>
              <a:t>I/O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83073" y="4112514"/>
            <a:ext cx="4581525" cy="0"/>
          </a:xfrm>
          <a:custGeom>
            <a:avLst/>
            <a:gdLst/>
            <a:ahLst/>
            <a:cxnLst/>
            <a:rect l="l" t="t" r="r" b="b"/>
            <a:pathLst>
              <a:path w="4581525" h="0">
                <a:moveTo>
                  <a:pt x="0" y="0"/>
                </a:moveTo>
                <a:lnTo>
                  <a:pt x="4581398" y="0"/>
                </a:lnTo>
              </a:path>
            </a:pathLst>
          </a:custGeom>
          <a:ln w="38100">
            <a:solidFill>
              <a:srgbClr val="C55A1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846701" y="4285563"/>
            <a:ext cx="6245860" cy="918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08585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Arial"/>
                <a:cs typeface="Arial"/>
              </a:rPr>
              <a:t>Dr.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Prafullata</a:t>
            </a:r>
            <a:r>
              <a:rPr dirty="0" sz="2000" spc="-4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Kiran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Auradkar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dirty="0" sz="2400">
                <a:latin typeface="Calibri"/>
                <a:cs typeface="Calibri"/>
              </a:rPr>
              <a:t>Department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Computer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Science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Engineering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3944" y="5489447"/>
            <a:ext cx="1066800" cy="1079500"/>
          </a:xfrm>
          <a:custGeom>
            <a:avLst/>
            <a:gdLst/>
            <a:ahLst/>
            <a:cxnLst/>
            <a:rect l="l" t="t" r="r" b="b"/>
            <a:pathLst>
              <a:path w="1066800" h="1079500">
                <a:moveTo>
                  <a:pt x="1066800" y="1033272"/>
                </a:moveTo>
                <a:lnTo>
                  <a:pt x="45720" y="1033272"/>
                </a:lnTo>
                <a:lnTo>
                  <a:pt x="45720" y="0"/>
                </a:lnTo>
                <a:lnTo>
                  <a:pt x="0" y="0"/>
                </a:lnTo>
                <a:lnTo>
                  <a:pt x="0" y="1033272"/>
                </a:lnTo>
                <a:lnTo>
                  <a:pt x="0" y="1066800"/>
                </a:lnTo>
                <a:lnTo>
                  <a:pt x="0" y="1078992"/>
                </a:lnTo>
                <a:lnTo>
                  <a:pt x="1066800" y="1078992"/>
                </a:lnTo>
                <a:lnTo>
                  <a:pt x="1066800" y="1033272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38404" y="5442305"/>
            <a:ext cx="11408410" cy="100139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Arial"/>
                <a:cs typeface="Arial"/>
              </a:rPr>
              <a:t>Acknowledgements:</a:t>
            </a:r>
            <a:endParaRPr sz="1600">
              <a:latin typeface="Arial"/>
              <a:cs typeface="Arial"/>
            </a:endParaRPr>
          </a:p>
          <a:p>
            <a:pPr algn="just" marL="12700" marR="508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latin typeface="Arial"/>
                <a:cs typeface="Arial"/>
              </a:rPr>
              <a:t>Significant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information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slide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deck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presented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through</a:t>
            </a:r>
            <a:r>
              <a:rPr dirty="0" sz="1200" spc="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Unit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2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of</a:t>
            </a:r>
            <a:r>
              <a:rPr dirty="0" sz="1200" spc="9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course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have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been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created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by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Dr.</a:t>
            </a:r>
            <a:r>
              <a:rPr dirty="0" sz="1200" spc="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H.L.</a:t>
            </a:r>
            <a:r>
              <a:rPr dirty="0" sz="1200" spc="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Phalachandra</a:t>
            </a:r>
            <a:r>
              <a:rPr dirty="0" sz="1200" spc="70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would</a:t>
            </a:r>
            <a:r>
              <a:rPr dirty="0" sz="1200" spc="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like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acknowledge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and </a:t>
            </a:r>
            <a:r>
              <a:rPr dirty="0" sz="1200">
                <a:latin typeface="Arial"/>
                <a:cs typeface="Arial"/>
              </a:rPr>
              <a:t>thank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him for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same.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There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have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been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some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information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which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might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have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leveraged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from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content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of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Dr.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K.V.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Subramaniam’s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lecture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contents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too. I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may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have </a:t>
            </a:r>
            <a:r>
              <a:rPr dirty="0" sz="1200">
                <a:latin typeface="Arial"/>
                <a:cs typeface="Arial"/>
              </a:rPr>
              <a:t>supplemented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same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with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contents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from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books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other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sources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from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Internet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would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like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sincerely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thank,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acknowledge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reiterate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that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credit/rights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for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same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remain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with the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original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authors/publishers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only. These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are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intended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for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classroom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presentation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only.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32343" y="0"/>
            <a:ext cx="754907" cy="139051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84785">
              <a:lnSpc>
                <a:spcPct val="100000"/>
              </a:lnSpc>
              <a:spcBef>
                <a:spcPts val="484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0660">
              <a:lnSpc>
                <a:spcPct val="100000"/>
              </a:lnSpc>
              <a:spcBef>
                <a:spcPts val="350"/>
              </a:spcBef>
            </a:pP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Recap</a:t>
            </a:r>
            <a:r>
              <a:rPr dirty="0" sz="2200" spc="-5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of</a:t>
            </a:r>
            <a:r>
              <a:rPr dirty="0" sz="2200" spc="-5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Virtualization</a:t>
            </a:r>
            <a:r>
              <a:rPr dirty="0" sz="2200" spc="-5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in</a:t>
            </a:r>
            <a:r>
              <a:rPr dirty="0" sz="2200" spc="-5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spc="-20">
                <a:solidFill>
                  <a:srgbClr val="C55A11"/>
                </a:solidFill>
                <a:latin typeface="Arial"/>
                <a:cs typeface="Arial"/>
              </a:rPr>
              <a:t>Un-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virtualized</a:t>
            </a:r>
            <a:r>
              <a:rPr dirty="0" sz="2200" spc="-5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C55A11"/>
                </a:solidFill>
                <a:latin typeface="Arial"/>
                <a:cs typeface="Arial"/>
              </a:rPr>
              <a:t>system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0" name="object 230"/>
          <p:cNvSpPr txBox="1"/>
          <p:nvPr/>
        </p:nvSpPr>
        <p:spPr>
          <a:xfrm>
            <a:off x="1736851" y="1596008"/>
            <a:ext cx="383794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Arial"/>
                <a:cs typeface="Arial"/>
              </a:rPr>
              <a:t>Process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A’s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virtual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address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space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1" name="object 231"/>
          <p:cNvSpPr txBox="1"/>
          <p:nvPr/>
        </p:nvSpPr>
        <p:spPr>
          <a:xfrm>
            <a:off x="6525006" y="1596008"/>
            <a:ext cx="384175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Arial"/>
                <a:cs typeface="Arial"/>
              </a:rPr>
              <a:t>Process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B’s</a:t>
            </a:r>
            <a:r>
              <a:rPr dirty="0" sz="2000" spc="-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virtual</a:t>
            </a:r>
            <a:r>
              <a:rPr dirty="0" sz="2000" spc="-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address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space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9915" y="2237485"/>
            <a:ext cx="10989945" cy="3515360"/>
            <a:chOff x="89915" y="2237485"/>
            <a:chExt cx="10989945" cy="3515360"/>
          </a:xfrm>
        </p:grpSpPr>
        <p:sp>
          <p:nvSpPr>
            <p:cNvPr id="6" name="object 6"/>
            <p:cNvSpPr/>
            <p:nvPr/>
          </p:nvSpPr>
          <p:spPr>
            <a:xfrm>
              <a:off x="1703069" y="2250185"/>
              <a:ext cx="3988435" cy="485140"/>
            </a:xfrm>
            <a:custGeom>
              <a:avLst/>
              <a:gdLst/>
              <a:ahLst/>
              <a:cxnLst/>
              <a:rect l="l" t="t" r="r" b="b"/>
              <a:pathLst>
                <a:path w="3988435" h="485139">
                  <a:moveTo>
                    <a:pt x="3907535" y="0"/>
                  </a:moveTo>
                  <a:lnTo>
                    <a:pt x="80772" y="0"/>
                  </a:lnTo>
                  <a:lnTo>
                    <a:pt x="49345" y="6351"/>
                  </a:lnTo>
                  <a:lnTo>
                    <a:pt x="23669" y="23669"/>
                  </a:lnTo>
                  <a:lnTo>
                    <a:pt x="6351" y="49345"/>
                  </a:lnTo>
                  <a:lnTo>
                    <a:pt x="0" y="80772"/>
                  </a:lnTo>
                  <a:lnTo>
                    <a:pt x="0" y="403860"/>
                  </a:lnTo>
                  <a:lnTo>
                    <a:pt x="6351" y="435286"/>
                  </a:lnTo>
                  <a:lnTo>
                    <a:pt x="23669" y="460962"/>
                  </a:lnTo>
                  <a:lnTo>
                    <a:pt x="49345" y="478280"/>
                  </a:lnTo>
                  <a:lnTo>
                    <a:pt x="80772" y="484631"/>
                  </a:lnTo>
                  <a:lnTo>
                    <a:pt x="3907535" y="484631"/>
                  </a:lnTo>
                  <a:lnTo>
                    <a:pt x="3938962" y="478280"/>
                  </a:lnTo>
                  <a:lnTo>
                    <a:pt x="3964638" y="460962"/>
                  </a:lnTo>
                  <a:lnTo>
                    <a:pt x="3981956" y="435286"/>
                  </a:lnTo>
                  <a:lnTo>
                    <a:pt x="3988307" y="403860"/>
                  </a:lnTo>
                  <a:lnTo>
                    <a:pt x="3988307" y="80772"/>
                  </a:lnTo>
                  <a:lnTo>
                    <a:pt x="3981956" y="49345"/>
                  </a:lnTo>
                  <a:lnTo>
                    <a:pt x="3964638" y="23669"/>
                  </a:lnTo>
                  <a:lnTo>
                    <a:pt x="3938962" y="6351"/>
                  </a:lnTo>
                  <a:lnTo>
                    <a:pt x="3907535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703069" y="2250185"/>
              <a:ext cx="3988435" cy="485140"/>
            </a:xfrm>
            <a:custGeom>
              <a:avLst/>
              <a:gdLst/>
              <a:ahLst/>
              <a:cxnLst/>
              <a:rect l="l" t="t" r="r" b="b"/>
              <a:pathLst>
                <a:path w="3988435" h="485139">
                  <a:moveTo>
                    <a:pt x="0" y="80772"/>
                  </a:moveTo>
                  <a:lnTo>
                    <a:pt x="6351" y="49345"/>
                  </a:lnTo>
                  <a:lnTo>
                    <a:pt x="23669" y="23669"/>
                  </a:lnTo>
                  <a:lnTo>
                    <a:pt x="49345" y="6351"/>
                  </a:lnTo>
                  <a:lnTo>
                    <a:pt x="80772" y="0"/>
                  </a:lnTo>
                  <a:lnTo>
                    <a:pt x="3907535" y="0"/>
                  </a:lnTo>
                  <a:lnTo>
                    <a:pt x="3938962" y="6351"/>
                  </a:lnTo>
                  <a:lnTo>
                    <a:pt x="3964638" y="23669"/>
                  </a:lnTo>
                  <a:lnTo>
                    <a:pt x="3981956" y="49345"/>
                  </a:lnTo>
                  <a:lnTo>
                    <a:pt x="3988307" y="80772"/>
                  </a:lnTo>
                  <a:lnTo>
                    <a:pt x="3988307" y="403860"/>
                  </a:lnTo>
                  <a:lnTo>
                    <a:pt x="3981956" y="435286"/>
                  </a:lnTo>
                  <a:lnTo>
                    <a:pt x="3964638" y="460962"/>
                  </a:lnTo>
                  <a:lnTo>
                    <a:pt x="3938962" y="478280"/>
                  </a:lnTo>
                  <a:lnTo>
                    <a:pt x="3907535" y="484631"/>
                  </a:lnTo>
                  <a:lnTo>
                    <a:pt x="80772" y="484631"/>
                  </a:lnTo>
                  <a:lnTo>
                    <a:pt x="49345" y="478280"/>
                  </a:lnTo>
                  <a:lnTo>
                    <a:pt x="23669" y="460962"/>
                  </a:lnTo>
                  <a:lnTo>
                    <a:pt x="6351" y="435286"/>
                  </a:lnTo>
                  <a:lnTo>
                    <a:pt x="0" y="403860"/>
                  </a:lnTo>
                  <a:lnTo>
                    <a:pt x="0" y="80772"/>
                  </a:lnTo>
                  <a:close/>
                </a:path>
              </a:pathLst>
            </a:custGeom>
            <a:ln w="254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445757" y="2250185"/>
              <a:ext cx="3990340" cy="485140"/>
            </a:xfrm>
            <a:custGeom>
              <a:avLst/>
              <a:gdLst/>
              <a:ahLst/>
              <a:cxnLst/>
              <a:rect l="l" t="t" r="r" b="b"/>
              <a:pathLst>
                <a:path w="3990340" h="485139">
                  <a:moveTo>
                    <a:pt x="3909060" y="0"/>
                  </a:moveTo>
                  <a:lnTo>
                    <a:pt x="80771" y="0"/>
                  </a:lnTo>
                  <a:lnTo>
                    <a:pt x="49345" y="6351"/>
                  </a:lnTo>
                  <a:lnTo>
                    <a:pt x="23669" y="23669"/>
                  </a:lnTo>
                  <a:lnTo>
                    <a:pt x="6351" y="49345"/>
                  </a:lnTo>
                  <a:lnTo>
                    <a:pt x="0" y="80772"/>
                  </a:lnTo>
                  <a:lnTo>
                    <a:pt x="0" y="403860"/>
                  </a:lnTo>
                  <a:lnTo>
                    <a:pt x="6351" y="435286"/>
                  </a:lnTo>
                  <a:lnTo>
                    <a:pt x="23669" y="460962"/>
                  </a:lnTo>
                  <a:lnTo>
                    <a:pt x="49345" y="478280"/>
                  </a:lnTo>
                  <a:lnTo>
                    <a:pt x="80771" y="484631"/>
                  </a:lnTo>
                  <a:lnTo>
                    <a:pt x="3909060" y="484631"/>
                  </a:lnTo>
                  <a:lnTo>
                    <a:pt x="3940486" y="478280"/>
                  </a:lnTo>
                  <a:lnTo>
                    <a:pt x="3966162" y="460962"/>
                  </a:lnTo>
                  <a:lnTo>
                    <a:pt x="3983480" y="435286"/>
                  </a:lnTo>
                  <a:lnTo>
                    <a:pt x="3989832" y="403860"/>
                  </a:lnTo>
                  <a:lnTo>
                    <a:pt x="3989832" y="80772"/>
                  </a:lnTo>
                  <a:lnTo>
                    <a:pt x="3983480" y="49345"/>
                  </a:lnTo>
                  <a:lnTo>
                    <a:pt x="3966162" y="23669"/>
                  </a:lnTo>
                  <a:lnTo>
                    <a:pt x="3940486" y="6351"/>
                  </a:lnTo>
                  <a:lnTo>
                    <a:pt x="390906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445757" y="2250185"/>
              <a:ext cx="3990340" cy="485140"/>
            </a:xfrm>
            <a:custGeom>
              <a:avLst/>
              <a:gdLst/>
              <a:ahLst/>
              <a:cxnLst/>
              <a:rect l="l" t="t" r="r" b="b"/>
              <a:pathLst>
                <a:path w="3990340" h="485139">
                  <a:moveTo>
                    <a:pt x="0" y="80772"/>
                  </a:moveTo>
                  <a:lnTo>
                    <a:pt x="6351" y="49345"/>
                  </a:lnTo>
                  <a:lnTo>
                    <a:pt x="23669" y="23669"/>
                  </a:lnTo>
                  <a:lnTo>
                    <a:pt x="49345" y="6351"/>
                  </a:lnTo>
                  <a:lnTo>
                    <a:pt x="80771" y="0"/>
                  </a:lnTo>
                  <a:lnTo>
                    <a:pt x="3909060" y="0"/>
                  </a:lnTo>
                  <a:lnTo>
                    <a:pt x="3940486" y="6351"/>
                  </a:lnTo>
                  <a:lnTo>
                    <a:pt x="3966162" y="23669"/>
                  </a:lnTo>
                  <a:lnTo>
                    <a:pt x="3983480" y="49345"/>
                  </a:lnTo>
                  <a:lnTo>
                    <a:pt x="3989832" y="80772"/>
                  </a:lnTo>
                  <a:lnTo>
                    <a:pt x="3989832" y="403860"/>
                  </a:lnTo>
                  <a:lnTo>
                    <a:pt x="3983480" y="435286"/>
                  </a:lnTo>
                  <a:lnTo>
                    <a:pt x="3966162" y="460962"/>
                  </a:lnTo>
                  <a:lnTo>
                    <a:pt x="3940486" y="478280"/>
                  </a:lnTo>
                  <a:lnTo>
                    <a:pt x="3909060" y="484631"/>
                  </a:lnTo>
                  <a:lnTo>
                    <a:pt x="80771" y="484631"/>
                  </a:lnTo>
                  <a:lnTo>
                    <a:pt x="49345" y="478280"/>
                  </a:lnTo>
                  <a:lnTo>
                    <a:pt x="23669" y="460962"/>
                  </a:lnTo>
                  <a:lnTo>
                    <a:pt x="6351" y="435286"/>
                  </a:lnTo>
                  <a:lnTo>
                    <a:pt x="0" y="403860"/>
                  </a:lnTo>
                  <a:lnTo>
                    <a:pt x="0" y="80772"/>
                  </a:lnTo>
                  <a:close/>
                </a:path>
              </a:pathLst>
            </a:custGeom>
            <a:ln w="254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454145" y="5255513"/>
              <a:ext cx="4488180" cy="485140"/>
            </a:xfrm>
            <a:custGeom>
              <a:avLst/>
              <a:gdLst/>
              <a:ahLst/>
              <a:cxnLst/>
              <a:rect l="l" t="t" r="r" b="b"/>
              <a:pathLst>
                <a:path w="4488180" h="485139">
                  <a:moveTo>
                    <a:pt x="4407408" y="0"/>
                  </a:moveTo>
                  <a:lnTo>
                    <a:pt x="80771" y="0"/>
                  </a:lnTo>
                  <a:lnTo>
                    <a:pt x="49345" y="6351"/>
                  </a:lnTo>
                  <a:lnTo>
                    <a:pt x="23669" y="23669"/>
                  </a:lnTo>
                  <a:lnTo>
                    <a:pt x="6351" y="49345"/>
                  </a:lnTo>
                  <a:lnTo>
                    <a:pt x="0" y="80772"/>
                  </a:lnTo>
                  <a:lnTo>
                    <a:pt x="0" y="403860"/>
                  </a:lnTo>
                  <a:lnTo>
                    <a:pt x="6351" y="435302"/>
                  </a:lnTo>
                  <a:lnTo>
                    <a:pt x="23669" y="460976"/>
                  </a:lnTo>
                  <a:lnTo>
                    <a:pt x="49345" y="478285"/>
                  </a:lnTo>
                  <a:lnTo>
                    <a:pt x="80771" y="484632"/>
                  </a:lnTo>
                  <a:lnTo>
                    <a:pt x="4407408" y="484632"/>
                  </a:lnTo>
                  <a:lnTo>
                    <a:pt x="4438834" y="478285"/>
                  </a:lnTo>
                  <a:lnTo>
                    <a:pt x="4464510" y="460976"/>
                  </a:lnTo>
                  <a:lnTo>
                    <a:pt x="4481828" y="435302"/>
                  </a:lnTo>
                  <a:lnTo>
                    <a:pt x="4488180" y="403860"/>
                  </a:lnTo>
                  <a:lnTo>
                    <a:pt x="4488180" y="80772"/>
                  </a:lnTo>
                  <a:lnTo>
                    <a:pt x="4481828" y="49345"/>
                  </a:lnTo>
                  <a:lnTo>
                    <a:pt x="4464510" y="23669"/>
                  </a:lnTo>
                  <a:lnTo>
                    <a:pt x="4438834" y="6351"/>
                  </a:lnTo>
                  <a:lnTo>
                    <a:pt x="4407408" y="0"/>
                  </a:lnTo>
                  <a:close/>
                </a:path>
              </a:pathLst>
            </a:custGeom>
            <a:solidFill>
              <a:srgbClr val="A8D0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454145" y="5255513"/>
              <a:ext cx="4488180" cy="485140"/>
            </a:xfrm>
            <a:custGeom>
              <a:avLst/>
              <a:gdLst/>
              <a:ahLst/>
              <a:cxnLst/>
              <a:rect l="l" t="t" r="r" b="b"/>
              <a:pathLst>
                <a:path w="4488180" h="485139">
                  <a:moveTo>
                    <a:pt x="0" y="80772"/>
                  </a:moveTo>
                  <a:lnTo>
                    <a:pt x="6351" y="49345"/>
                  </a:lnTo>
                  <a:lnTo>
                    <a:pt x="23669" y="23669"/>
                  </a:lnTo>
                  <a:lnTo>
                    <a:pt x="49345" y="6351"/>
                  </a:lnTo>
                  <a:lnTo>
                    <a:pt x="80771" y="0"/>
                  </a:lnTo>
                  <a:lnTo>
                    <a:pt x="4407408" y="0"/>
                  </a:lnTo>
                  <a:lnTo>
                    <a:pt x="4438834" y="6351"/>
                  </a:lnTo>
                  <a:lnTo>
                    <a:pt x="4464510" y="23669"/>
                  </a:lnTo>
                  <a:lnTo>
                    <a:pt x="4481828" y="49345"/>
                  </a:lnTo>
                  <a:lnTo>
                    <a:pt x="4488180" y="80772"/>
                  </a:lnTo>
                  <a:lnTo>
                    <a:pt x="4488180" y="403860"/>
                  </a:lnTo>
                  <a:lnTo>
                    <a:pt x="4481828" y="435302"/>
                  </a:lnTo>
                  <a:lnTo>
                    <a:pt x="4464510" y="460976"/>
                  </a:lnTo>
                  <a:lnTo>
                    <a:pt x="4438834" y="478285"/>
                  </a:lnTo>
                  <a:lnTo>
                    <a:pt x="4407408" y="484632"/>
                  </a:lnTo>
                  <a:lnTo>
                    <a:pt x="80771" y="484632"/>
                  </a:lnTo>
                  <a:lnTo>
                    <a:pt x="49345" y="478285"/>
                  </a:lnTo>
                  <a:lnTo>
                    <a:pt x="23669" y="460976"/>
                  </a:lnTo>
                  <a:lnTo>
                    <a:pt x="6351" y="435302"/>
                  </a:lnTo>
                  <a:lnTo>
                    <a:pt x="0" y="403860"/>
                  </a:lnTo>
                  <a:lnTo>
                    <a:pt x="0" y="80772"/>
                  </a:lnTo>
                  <a:close/>
                </a:path>
              </a:pathLst>
            </a:custGeom>
            <a:ln w="254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850390" y="2701416"/>
              <a:ext cx="7969884" cy="2566035"/>
            </a:xfrm>
            <a:custGeom>
              <a:avLst/>
              <a:gdLst/>
              <a:ahLst/>
              <a:cxnLst/>
              <a:rect l="l" t="t" r="r" b="b"/>
              <a:pathLst>
                <a:path w="7969884" h="2566035">
                  <a:moveTo>
                    <a:pt x="7969504" y="56007"/>
                  </a:moveTo>
                  <a:lnTo>
                    <a:pt x="7954899" y="35179"/>
                  </a:lnTo>
                  <a:lnTo>
                    <a:pt x="7191311" y="574802"/>
                  </a:lnTo>
                  <a:lnTo>
                    <a:pt x="7748143" y="18034"/>
                  </a:lnTo>
                  <a:lnTo>
                    <a:pt x="7730236" y="0"/>
                  </a:lnTo>
                  <a:lnTo>
                    <a:pt x="7068871" y="661339"/>
                  </a:lnTo>
                  <a:lnTo>
                    <a:pt x="6962559" y="736473"/>
                  </a:lnTo>
                  <a:lnTo>
                    <a:pt x="6962559" y="767638"/>
                  </a:lnTo>
                  <a:lnTo>
                    <a:pt x="6464655" y="1265529"/>
                  </a:lnTo>
                  <a:lnTo>
                    <a:pt x="6687871" y="961771"/>
                  </a:lnTo>
                  <a:lnTo>
                    <a:pt x="6962559" y="767638"/>
                  </a:lnTo>
                  <a:lnTo>
                    <a:pt x="6962559" y="736473"/>
                  </a:lnTo>
                  <a:lnTo>
                    <a:pt x="6735546" y="896899"/>
                  </a:lnTo>
                  <a:lnTo>
                    <a:pt x="7382510" y="16510"/>
                  </a:lnTo>
                  <a:lnTo>
                    <a:pt x="7362063" y="1524"/>
                  </a:lnTo>
                  <a:lnTo>
                    <a:pt x="6669913" y="943279"/>
                  </a:lnTo>
                  <a:lnTo>
                    <a:pt x="4569447" y="2427681"/>
                  </a:lnTo>
                  <a:lnTo>
                    <a:pt x="3595865" y="1871103"/>
                  </a:lnTo>
                  <a:lnTo>
                    <a:pt x="5944108" y="37338"/>
                  </a:lnTo>
                  <a:lnTo>
                    <a:pt x="5928487" y="17272"/>
                  </a:lnTo>
                  <a:lnTo>
                    <a:pt x="3572091" y="1857514"/>
                  </a:lnTo>
                  <a:lnTo>
                    <a:pt x="3550424" y="1845132"/>
                  </a:lnTo>
                  <a:lnTo>
                    <a:pt x="3550424" y="1874431"/>
                  </a:lnTo>
                  <a:lnTo>
                    <a:pt x="2856560" y="2416302"/>
                  </a:lnTo>
                  <a:lnTo>
                    <a:pt x="2710459" y="2293239"/>
                  </a:lnTo>
                  <a:lnTo>
                    <a:pt x="3379495" y="1776717"/>
                  </a:lnTo>
                  <a:lnTo>
                    <a:pt x="3550424" y="1874431"/>
                  </a:lnTo>
                  <a:lnTo>
                    <a:pt x="3550424" y="1845132"/>
                  </a:lnTo>
                  <a:lnTo>
                    <a:pt x="3401301" y="1759877"/>
                  </a:lnTo>
                  <a:lnTo>
                    <a:pt x="5632450" y="37338"/>
                  </a:lnTo>
                  <a:lnTo>
                    <a:pt x="5616956" y="17272"/>
                  </a:lnTo>
                  <a:lnTo>
                    <a:pt x="3377400" y="1746211"/>
                  </a:lnTo>
                  <a:lnTo>
                    <a:pt x="3355594" y="1733753"/>
                  </a:lnTo>
                  <a:lnTo>
                    <a:pt x="3355594" y="1763052"/>
                  </a:lnTo>
                  <a:lnTo>
                    <a:pt x="2690558" y="2276462"/>
                  </a:lnTo>
                  <a:lnTo>
                    <a:pt x="2385288" y="2019325"/>
                  </a:lnTo>
                  <a:lnTo>
                    <a:pt x="2696768" y="1386433"/>
                  </a:lnTo>
                  <a:lnTo>
                    <a:pt x="3355594" y="1763052"/>
                  </a:lnTo>
                  <a:lnTo>
                    <a:pt x="3355594" y="1733753"/>
                  </a:lnTo>
                  <a:lnTo>
                    <a:pt x="2708033" y="1363560"/>
                  </a:lnTo>
                  <a:lnTo>
                    <a:pt x="3353943" y="51181"/>
                  </a:lnTo>
                  <a:lnTo>
                    <a:pt x="3331210" y="40005"/>
                  </a:lnTo>
                  <a:lnTo>
                    <a:pt x="2685999" y="1350962"/>
                  </a:lnTo>
                  <a:lnTo>
                    <a:pt x="2674734" y="1344523"/>
                  </a:lnTo>
                  <a:lnTo>
                    <a:pt x="2674734" y="1373847"/>
                  </a:lnTo>
                  <a:lnTo>
                    <a:pt x="2365324" y="2002523"/>
                  </a:lnTo>
                  <a:lnTo>
                    <a:pt x="2169884" y="1837880"/>
                  </a:lnTo>
                  <a:lnTo>
                    <a:pt x="2458974" y="1250492"/>
                  </a:lnTo>
                  <a:lnTo>
                    <a:pt x="2674734" y="1373847"/>
                  </a:lnTo>
                  <a:lnTo>
                    <a:pt x="2674734" y="1344523"/>
                  </a:lnTo>
                  <a:lnTo>
                    <a:pt x="2470239" y="1227607"/>
                  </a:lnTo>
                  <a:lnTo>
                    <a:pt x="3055239" y="38989"/>
                  </a:lnTo>
                  <a:lnTo>
                    <a:pt x="3032506" y="27813"/>
                  </a:lnTo>
                  <a:lnTo>
                    <a:pt x="2448204" y="1215021"/>
                  </a:lnTo>
                  <a:lnTo>
                    <a:pt x="351282" y="16256"/>
                  </a:lnTo>
                  <a:lnTo>
                    <a:pt x="338582" y="38354"/>
                  </a:lnTo>
                  <a:lnTo>
                    <a:pt x="2436939" y="1237907"/>
                  </a:lnTo>
                  <a:lnTo>
                    <a:pt x="2149932" y="1821065"/>
                  </a:lnTo>
                  <a:lnTo>
                    <a:pt x="16256" y="23749"/>
                  </a:lnTo>
                  <a:lnTo>
                    <a:pt x="0" y="43053"/>
                  </a:lnTo>
                  <a:lnTo>
                    <a:pt x="2138413" y="1844459"/>
                  </a:lnTo>
                  <a:lnTo>
                    <a:pt x="1825663" y="2479929"/>
                  </a:lnTo>
                  <a:lnTo>
                    <a:pt x="1802892" y="2468753"/>
                  </a:lnTo>
                  <a:lnTo>
                    <a:pt x="1803400" y="2553843"/>
                  </a:lnTo>
                  <a:lnTo>
                    <a:pt x="1870875" y="2502535"/>
                  </a:lnTo>
                  <a:lnTo>
                    <a:pt x="1871218" y="2502293"/>
                  </a:lnTo>
                  <a:lnTo>
                    <a:pt x="1848396" y="2491092"/>
                  </a:lnTo>
                  <a:lnTo>
                    <a:pt x="2158377" y="1861273"/>
                  </a:lnTo>
                  <a:lnTo>
                    <a:pt x="2353805" y="2025916"/>
                  </a:lnTo>
                  <a:lnTo>
                    <a:pt x="2124367" y="2492121"/>
                  </a:lnTo>
                  <a:lnTo>
                    <a:pt x="2101596" y="2480945"/>
                  </a:lnTo>
                  <a:lnTo>
                    <a:pt x="2102104" y="2566035"/>
                  </a:lnTo>
                  <a:lnTo>
                    <a:pt x="2169579" y="2514727"/>
                  </a:lnTo>
                  <a:lnTo>
                    <a:pt x="2169922" y="2514473"/>
                  </a:lnTo>
                  <a:lnTo>
                    <a:pt x="2147100" y="2503284"/>
                  </a:lnTo>
                  <a:lnTo>
                    <a:pt x="2373769" y="2042731"/>
                  </a:lnTo>
                  <a:lnTo>
                    <a:pt x="2670035" y="2292299"/>
                  </a:lnTo>
                  <a:lnTo>
                    <a:pt x="2404592" y="2497226"/>
                  </a:lnTo>
                  <a:lnTo>
                    <a:pt x="2389124" y="2477135"/>
                  </a:lnTo>
                  <a:lnTo>
                    <a:pt x="2352040" y="2553843"/>
                  </a:lnTo>
                  <a:lnTo>
                    <a:pt x="2435606" y="2537460"/>
                  </a:lnTo>
                  <a:lnTo>
                    <a:pt x="2426106" y="2525141"/>
                  </a:lnTo>
                  <a:lnTo>
                    <a:pt x="2420124" y="2517381"/>
                  </a:lnTo>
                  <a:lnTo>
                    <a:pt x="2689949" y="2309063"/>
                  </a:lnTo>
                  <a:lnTo>
                    <a:pt x="2836164" y="2432240"/>
                  </a:lnTo>
                  <a:lnTo>
                    <a:pt x="2753296" y="2496947"/>
                  </a:lnTo>
                  <a:lnTo>
                    <a:pt x="2737612" y="2476881"/>
                  </a:lnTo>
                  <a:lnTo>
                    <a:pt x="2701036" y="2553843"/>
                  </a:lnTo>
                  <a:lnTo>
                    <a:pt x="2784602" y="2536952"/>
                  </a:lnTo>
                  <a:lnTo>
                    <a:pt x="2775064" y="2524760"/>
                  </a:lnTo>
                  <a:lnTo>
                    <a:pt x="2768904" y="2516886"/>
                  </a:lnTo>
                  <a:lnTo>
                    <a:pt x="2855950" y="2448915"/>
                  </a:lnTo>
                  <a:lnTo>
                    <a:pt x="2933814" y="2514485"/>
                  </a:lnTo>
                  <a:lnTo>
                    <a:pt x="2917444" y="2533904"/>
                  </a:lnTo>
                  <a:lnTo>
                    <a:pt x="3000248" y="2553843"/>
                  </a:lnTo>
                  <a:lnTo>
                    <a:pt x="2986862" y="2522728"/>
                  </a:lnTo>
                  <a:lnTo>
                    <a:pt x="2966593" y="2475611"/>
                  </a:lnTo>
                  <a:lnTo>
                    <a:pt x="2950146" y="2495118"/>
                  </a:lnTo>
                  <a:lnTo>
                    <a:pt x="2876359" y="2432977"/>
                  </a:lnTo>
                  <a:lnTo>
                    <a:pt x="3574199" y="1888032"/>
                  </a:lnTo>
                  <a:lnTo>
                    <a:pt x="4546536" y="2443873"/>
                  </a:lnTo>
                  <a:lnTo>
                    <a:pt x="4450588" y="2511679"/>
                  </a:lnTo>
                  <a:lnTo>
                    <a:pt x="4435983" y="2490978"/>
                  </a:lnTo>
                  <a:lnTo>
                    <a:pt x="4395724" y="2566035"/>
                  </a:lnTo>
                  <a:lnTo>
                    <a:pt x="4479925" y="2553208"/>
                  </a:lnTo>
                  <a:lnTo>
                    <a:pt x="4470501" y="2539873"/>
                  </a:lnTo>
                  <a:lnTo>
                    <a:pt x="4465307" y="2532519"/>
                  </a:lnTo>
                  <a:lnTo>
                    <a:pt x="4570971" y="2457843"/>
                  </a:lnTo>
                  <a:lnTo>
                    <a:pt x="4692167" y="2527109"/>
                  </a:lnTo>
                  <a:lnTo>
                    <a:pt x="4679556" y="2549144"/>
                  </a:lnTo>
                  <a:lnTo>
                    <a:pt x="4764659" y="2553843"/>
                  </a:lnTo>
                  <a:lnTo>
                    <a:pt x="4751019" y="2533396"/>
                  </a:lnTo>
                  <a:lnTo>
                    <a:pt x="4717415" y="2482977"/>
                  </a:lnTo>
                  <a:lnTo>
                    <a:pt x="4704791" y="2505037"/>
                  </a:lnTo>
                  <a:lnTo>
                    <a:pt x="4593895" y="2441651"/>
                  </a:lnTo>
                  <a:lnTo>
                    <a:pt x="6622224" y="1008164"/>
                  </a:lnTo>
                  <a:lnTo>
                    <a:pt x="6345555" y="1384617"/>
                  </a:lnTo>
                  <a:lnTo>
                    <a:pt x="5239194" y="2490927"/>
                  </a:lnTo>
                  <a:lnTo>
                    <a:pt x="5221224" y="2472944"/>
                  </a:lnTo>
                  <a:lnTo>
                    <a:pt x="5194300" y="2553716"/>
                  </a:lnTo>
                  <a:lnTo>
                    <a:pt x="5275072" y="2526792"/>
                  </a:lnTo>
                  <a:lnTo>
                    <a:pt x="5266055" y="2517787"/>
                  </a:lnTo>
                  <a:lnTo>
                    <a:pt x="5257101" y="2508834"/>
                  </a:lnTo>
                  <a:lnTo>
                    <a:pt x="6246126" y="1519910"/>
                  </a:lnTo>
                  <a:lnTo>
                    <a:pt x="5537009" y="2484755"/>
                  </a:lnTo>
                  <a:lnTo>
                    <a:pt x="5516626" y="2469769"/>
                  </a:lnTo>
                  <a:lnTo>
                    <a:pt x="5502148" y="2553716"/>
                  </a:lnTo>
                  <a:lnTo>
                    <a:pt x="5577967" y="2514854"/>
                  </a:lnTo>
                  <a:lnTo>
                    <a:pt x="5571566" y="2510167"/>
                  </a:lnTo>
                  <a:lnTo>
                    <a:pt x="5557571" y="2499880"/>
                  </a:lnTo>
                  <a:lnTo>
                    <a:pt x="6365240" y="1400797"/>
                  </a:lnTo>
                  <a:lnTo>
                    <a:pt x="7084987" y="681113"/>
                  </a:lnTo>
                  <a:lnTo>
                    <a:pt x="7969504" y="56007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4173" y="3878576"/>
              <a:ext cx="484995" cy="24542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202435" y="3893819"/>
              <a:ext cx="413384" cy="173990"/>
            </a:xfrm>
            <a:custGeom>
              <a:avLst/>
              <a:gdLst/>
              <a:ahLst/>
              <a:cxnLst/>
              <a:rect l="l" t="t" r="r" b="b"/>
              <a:pathLst>
                <a:path w="413384" h="173989">
                  <a:moveTo>
                    <a:pt x="413004" y="0"/>
                  </a:moveTo>
                  <a:lnTo>
                    <a:pt x="0" y="0"/>
                  </a:lnTo>
                  <a:lnTo>
                    <a:pt x="0" y="173735"/>
                  </a:lnTo>
                  <a:lnTo>
                    <a:pt x="413004" y="173735"/>
                  </a:lnTo>
                  <a:lnTo>
                    <a:pt x="413004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202435" y="3893819"/>
              <a:ext cx="413384" cy="173990"/>
            </a:xfrm>
            <a:custGeom>
              <a:avLst/>
              <a:gdLst/>
              <a:ahLst/>
              <a:cxnLst/>
              <a:rect l="l" t="t" r="r" b="b"/>
              <a:pathLst>
                <a:path w="413384" h="173989">
                  <a:moveTo>
                    <a:pt x="0" y="173735"/>
                  </a:moveTo>
                  <a:lnTo>
                    <a:pt x="413004" y="173735"/>
                  </a:lnTo>
                  <a:lnTo>
                    <a:pt x="413004" y="0"/>
                  </a:lnTo>
                  <a:lnTo>
                    <a:pt x="0" y="0"/>
                  </a:lnTo>
                  <a:lnTo>
                    <a:pt x="0" y="17373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03928" y="3884672"/>
              <a:ext cx="88847" cy="23633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550669" y="3897629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27728" y="3884672"/>
              <a:ext cx="88847" cy="23633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474469" y="3897629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25036" y="3884672"/>
              <a:ext cx="88847" cy="23633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271777" y="3897629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90568" y="3881624"/>
              <a:ext cx="88847" cy="236332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337310" y="3894581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43099" y="4294682"/>
              <a:ext cx="502958" cy="265252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990343" y="4319015"/>
              <a:ext cx="413384" cy="175260"/>
            </a:xfrm>
            <a:custGeom>
              <a:avLst/>
              <a:gdLst/>
              <a:ahLst/>
              <a:cxnLst/>
              <a:rect l="l" t="t" r="r" b="b"/>
              <a:pathLst>
                <a:path w="413385" h="175260">
                  <a:moveTo>
                    <a:pt x="413004" y="0"/>
                  </a:moveTo>
                  <a:lnTo>
                    <a:pt x="0" y="0"/>
                  </a:lnTo>
                  <a:lnTo>
                    <a:pt x="0" y="175260"/>
                  </a:lnTo>
                  <a:lnTo>
                    <a:pt x="413004" y="175260"/>
                  </a:lnTo>
                  <a:lnTo>
                    <a:pt x="413004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990343" y="4319015"/>
              <a:ext cx="413384" cy="175260"/>
            </a:xfrm>
            <a:custGeom>
              <a:avLst/>
              <a:gdLst/>
              <a:ahLst/>
              <a:cxnLst/>
              <a:rect l="l" t="t" r="r" b="b"/>
              <a:pathLst>
                <a:path w="413385" h="175260">
                  <a:moveTo>
                    <a:pt x="0" y="175260"/>
                  </a:moveTo>
                  <a:lnTo>
                    <a:pt x="413004" y="175260"/>
                  </a:lnTo>
                  <a:lnTo>
                    <a:pt x="413004" y="0"/>
                  </a:lnTo>
                  <a:lnTo>
                    <a:pt x="0" y="0"/>
                  </a:lnTo>
                  <a:lnTo>
                    <a:pt x="0" y="17526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91836" y="4309868"/>
              <a:ext cx="88847" cy="236332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338577" y="4322825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15636" y="4309868"/>
              <a:ext cx="88847" cy="236332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2262377" y="4322825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14468" y="4311392"/>
              <a:ext cx="88847" cy="236332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061210" y="4324350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78476" y="4308344"/>
              <a:ext cx="88847" cy="236332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2125217" y="4321301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4673" y="4308344"/>
              <a:ext cx="484995" cy="245421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392935" y="4323587"/>
              <a:ext cx="413384" cy="173990"/>
            </a:xfrm>
            <a:custGeom>
              <a:avLst/>
              <a:gdLst/>
              <a:ahLst/>
              <a:cxnLst/>
              <a:rect l="l" t="t" r="r" b="b"/>
              <a:pathLst>
                <a:path w="413385" h="173989">
                  <a:moveTo>
                    <a:pt x="413004" y="0"/>
                  </a:moveTo>
                  <a:lnTo>
                    <a:pt x="0" y="0"/>
                  </a:lnTo>
                  <a:lnTo>
                    <a:pt x="0" y="173736"/>
                  </a:lnTo>
                  <a:lnTo>
                    <a:pt x="413004" y="173736"/>
                  </a:lnTo>
                  <a:lnTo>
                    <a:pt x="413004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1392935" y="4323587"/>
              <a:ext cx="413384" cy="173990"/>
            </a:xfrm>
            <a:custGeom>
              <a:avLst/>
              <a:gdLst/>
              <a:ahLst/>
              <a:cxnLst/>
              <a:rect l="l" t="t" r="r" b="b"/>
              <a:pathLst>
                <a:path w="413385" h="173989">
                  <a:moveTo>
                    <a:pt x="0" y="173736"/>
                  </a:moveTo>
                  <a:lnTo>
                    <a:pt x="413004" y="173736"/>
                  </a:lnTo>
                  <a:lnTo>
                    <a:pt x="413004" y="0"/>
                  </a:lnTo>
                  <a:lnTo>
                    <a:pt x="0" y="0"/>
                  </a:lnTo>
                  <a:lnTo>
                    <a:pt x="0" y="17373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94428" y="4312916"/>
              <a:ext cx="88847" cy="236332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1741170" y="4325873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18228" y="4314440"/>
              <a:ext cx="88847" cy="236332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664969" y="4327397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15536" y="4314440"/>
              <a:ext cx="88847" cy="236332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462277" y="4327397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81068" y="4311392"/>
              <a:ext cx="88847" cy="236332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1527810" y="4324350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9068" y="4328156"/>
              <a:ext cx="486452" cy="245421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527303" y="4343400"/>
              <a:ext cx="414655" cy="173990"/>
            </a:xfrm>
            <a:custGeom>
              <a:avLst/>
              <a:gdLst/>
              <a:ahLst/>
              <a:cxnLst/>
              <a:rect l="l" t="t" r="r" b="b"/>
              <a:pathLst>
                <a:path w="414655" h="173989">
                  <a:moveTo>
                    <a:pt x="414527" y="0"/>
                  </a:moveTo>
                  <a:lnTo>
                    <a:pt x="0" y="0"/>
                  </a:lnTo>
                  <a:lnTo>
                    <a:pt x="0" y="173736"/>
                  </a:lnTo>
                  <a:lnTo>
                    <a:pt x="414527" y="173736"/>
                  </a:lnTo>
                  <a:lnTo>
                    <a:pt x="414527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527303" y="4343400"/>
              <a:ext cx="414655" cy="173990"/>
            </a:xfrm>
            <a:custGeom>
              <a:avLst/>
              <a:gdLst/>
              <a:ahLst/>
              <a:cxnLst/>
              <a:rect l="l" t="t" r="r" b="b"/>
              <a:pathLst>
                <a:path w="414655" h="173989">
                  <a:moveTo>
                    <a:pt x="0" y="173736"/>
                  </a:moveTo>
                  <a:lnTo>
                    <a:pt x="414527" y="173736"/>
                  </a:lnTo>
                  <a:lnTo>
                    <a:pt x="414527" y="0"/>
                  </a:lnTo>
                  <a:lnTo>
                    <a:pt x="0" y="0"/>
                  </a:lnTo>
                  <a:lnTo>
                    <a:pt x="0" y="17373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0320" y="4334252"/>
              <a:ext cx="88847" cy="236332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877061" y="4347209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4120" y="4334252"/>
              <a:ext cx="88847" cy="236332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800861" y="4347209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1428" y="4334252"/>
              <a:ext cx="88847" cy="236332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598170" y="4347209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6960" y="4331204"/>
              <a:ext cx="88847" cy="236332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663702" y="4344161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79320" y="4706162"/>
              <a:ext cx="504469" cy="263601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2226564" y="4730495"/>
              <a:ext cx="414655" cy="173990"/>
            </a:xfrm>
            <a:custGeom>
              <a:avLst/>
              <a:gdLst/>
              <a:ahLst/>
              <a:cxnLst/>
              <a:rect l="l" t="t" r="r" b="b"/>
              <a:pathLst>
                <a:path w="414655" h="173989">
                  <a:moveTo>
                    <a:pt x="414527" y="0"/>
                  </a:moveTo>
                  <a:lnTo>
                    <a:pt x="0" y="0"/>
                  </a:lnTo>
                  <a:lnTo>
                    <a:pt x="0" y="173735"/>
                  </a:lnTo>
                  <a:lnTo>
                    <a:pt x="414527" y="173735"/>
                  </a:lnTo>
                  <a:lnTo>
                    <a:pt x="414527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2226564" y="4730495"/>
              <a:ext cx="414655" cy="173990"/>
            </a:xfrm>
            <a:custGeom>
              <a:avLst/>
              <a:gdLst/>
              <a:ahLst/>
              <a:cxnLst/>
              <a:rect l="l" t="t" r="r" b="b"/>
              <a:pathLst>
                <a:path w="414655" h="173989">
                  <a:moveTo>
                    <a:pt x="0" y="173735"/>
                  </a:moveTo>
                  <a:lnTo>
                    <a:pt x="414527" y="173735"/>
                  </a:lnTo>
                  <a:lnTo>
                    <a:pt x="414527" y="0"/>
                  </a:lnTo>
                  <a:lnTo>
                    <a:pt x="0" y="0"/>
                  </a:lnTo>
                  <a:lnTo>
                    <a:pt x="0" y="17373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29580" y="4721348"/>
              <a:ext cx="88847" cy="236332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2576321" y="4734305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51856" y="4721348"/>
              <a:ext cx="88847" cy="236332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2498598" y="4734305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50688" y="4721348"/>
              <a:ext cx="88847" cy="236332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2297430" y="4734305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6" name="object 6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16220" y="4718300"/>
              <a:ext cx="88847" cy="236332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2362961" y="4731257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8" name="object 6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59635" y="4709210"/>
              <a:ext cx="502958" cy="263601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1706879" y="4733543"/>
              <a:ext cx="413384" cy="173990"/>
            </a:xfrm>
            <a:custGeom>
              <a:avLst/>
              <a:gdLst/>
              <a:ahLst/>
              <a:cxnLst/>
              <a:rect l="l" t="t" r="r" b="b"/>
              <a:pathLst>
                <a:path w="413385" h="173989">
                  <a:moveTo>
                    <a:pt x="413004" y="0"/>
                  </a:moveTo>
                  <a:lnTo>
                    <a:pt x="0" y="0"/>
                  </a:lnTo>
                  <a:lnTo>
                    <a:pt x="0" y="173735"/>
                  </a:lnTo>
                  <a:lnTo>
                    <a:pt x="413004" y="173735"/>
                  </a:lnTo>
                  <a:lnTo>
                    <a:pt x="413004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1706879" y="4733543"/>
              <a:ext cx="413384" cy="173990"/>
            </a:xfrm>
            <a:custGeom>
              <a:avLst/>
              <a:gdLst/>
              <a:ahLst/>
              <a:cxnLst/>
              <a:rect l="l" t="t" r="r" b="b"/>
              <a:pathLst>
                <a:path w="413385" h="173989">
                  <a:moveTo>
                    <a:pt x="0" y="173735"/>
                  </a:moveTo>
                  <a:lnTo>
                    <a:pt x="413004" y="173735"/>
                  </a:lnTo>
                  <a:lnTo>
                    <a:pt x="413004" y="0"/>
                  </a:lnTo>
                  <a:lnTo>
                    <a:pt x="0" y="0"/>
                  </a:lnTo>
                  <a:lnTo>
                    <a:pt x="0" y="17373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08372" y="4724396"/>
              <a:ext cx="88847" cy="236332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2055114" y="4737353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3" name="object 7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32172" y="4724396"/>
              <a:ext cx="88847" cy="236332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1978914" y="4737353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9480" y="4724396"/>
              <a:ext cx="88847" cy="236332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1776221" y="4737353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95012" y="4721348"/>
              <a:ext cx="88847" cy="236332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1841754" y="4734305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0176" y="4721100"/>
              <a:ext cx="486452" cy="247568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248411" y="4736591"/>
              <a:ext cx="414655" cy="175260"/>
            </a:xfrm>
            <a:custGeom>
              <a:avLst/>
              <a:gdLst/>
              <a:ahLst/>
              <a:cxnLst/>
              <a:rect l="l" t="t" r="r" b="b"/>
              <a:pathLst>
                <a:path w="414655" h="175260">
                  <a:moveTo>
                    <a:pt x="414528" y="0"/>
                  </a:moveTo>
                  <a:lnTo>
                    <a:pt x="0" y="0"/>
                  </a:lnTo>
                  <a:lnTo>
                    <a:pt x="0" y="175260"/>
                  </a:lnTo>
                  <a:lnTo>
                    <a:pt x="414528" y="175260"/>
                  </a:lnTo>
                  <a:lnTo>
                    <a:pt x="414528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248411" y="4736591"/>
              <a:ext cx="414655" cy="175260"/>
            </a:xfrm>
            <a:custGeom>
              <a:avLst/>
              <a:gdLst/>
              <a:ahLst/>
              <a:cxnLst/>
              <a:rect l="l" t="t" r="r" b="b"/>
              <a:pathLst>
                <a:path w="414655" h="175260">
                  <a:moveTo>
                    <a:pt x="0" y="175260"/>
                  </a:moveTo>
                  <a:lnTo>
                    <a:pt x="414528" y="175260"/>
                  </a:lnTo>
                  <a:lnTo>
                    <a:pt x="414528" y="0"/>
                  </a:lnTo>
                  <a:lnTo>
                    <a:pt x="0" y="0"/>
                  </a:lnTo>
                  <a:lnTo>
                    <a:pt x="0" y="17526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2" name="object 8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1428" y="4727444"/>
              <a:ext cx="88847" cy="236332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598170" y="4740401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4" name="object 8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5228" y="4727444"/>
              <a:ext cx="88847" cy="236332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521970" y="4740401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6" name="object 8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2536" y="4727444"/>
              <a:ext cx="88847" cy="236332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319277" y="4740401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8" name="object 8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8068" y="4724396"/>
              <a:ext cx="88847" cy="236332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384809" y="4737353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0" name="object 9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15177" y="4721100"/>
              <a:ext cx="484995" cy="247568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853439" y="4736591"/>
              <a:ext cx="413384" cy="175260"/>
            </a:xfrm>
            <a:custGeom>
              <a:avLst/>
              <a:gdLst/>
              <a:ahLst/>
              <a:cxnLst/>
              <a:rect l="l" t="t" r="r" b="b"/>
              <a:pathLst>
                <a:path w="413384" h="175260">
                  <a:moveTo>
                    <a:pt x="413003" y="0"/>
                  </a:moveTo>
                  <a:lnTo>
                    <a:pt x="0" y="0"/>
                  </a:lnTo>
                  <a:lnTo>
                    <a:pt x="0" y="175260"/>
                  </a:lnTo>
                  <a:lnTo>
                    <a:pt x="413003" y="175260"/>
                  </a:lnTo>
                  <a:lnTo>
                    <a:pt x="413003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853439" y="4736591"/>
              <a:ext cx="413384" cy="175260"/>
            </a:xfrm>
            <a:custGeom>
              <a:avLst/>
              <a:gdLst/>
              <a:ahLst/>
              <a:cxnLst/>
              <a:rect l="l" t="t" r="r" b="b"/>
              <a:pathLst>
                <a:path w="413384" h="175260">
                  <a:moveTo>
                    <a:pt x="0" y="175260"/>
                  </a:moveTo>
                  <a:lnTo>
                    <a:pt x="413003" y="175260"/>
                  </a:lnTo>
                  <a:lnTo>
                    <a:pt x="413003" y="0"/>
                  </a:lnTo>
                  <a:lnTo>
                    <a:pt x="0" y="0"/>
                  </a:lnTo>
                  <a:lnTo>
                    <a:pt x="0" y="17526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3" name="object 9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54932" y="4727444"/>
              <a:ext cx="88847" cy="236332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1201674" y="4740401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5" name="object 9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8732" y="4727444"/>
              <a:ext cx="88847" cy="236332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1125474" y="4740401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7" name="object 9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6040" y="4727444"/>
              <a:ext cx="88847" cy="236332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922782" y="4740401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9" name="object 9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1572" y="4724396"/>
              <a:ext cx="88847" cy="236332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988313" y="4737353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1" name="object 10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65403" y="4034002"/>
              <a:ext cx="819899" cy="495325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735329" y="4056760"/>
              <a:ext cx="612140" cy="292100"/>
            </a:xfrm>
            <a:custGeom>
              <a:avLst/>
              <a:gdLst/>
              <a:ahLst/>
              <a:cxnLst/>
              <a:rect l="l" t="t" r="r" b="b"/>
              <a:pathLst>
                <a:path w="612140" h="292100">
                  <a:moveTo>
                    <a:pt x="89458" y="176275"/>
                  </a:moveTo>
                  <a:lnTo>
                    <a:pt x="0" y="286512"/>
                  </a:lnTo>
                  <a:lnTo>
                    <a:pt x="141884" y="291972"/>
                  </a:lnTo>
                  <a:lnTo>
                    <a:pt x="123296" y="250951"/>
                  </a:lnTo>
                  <a:lnTo>
                    <a:pt x="109347" y="250951"/>
                  </a:lnTo>
                  <a:lnTo>
                    <a:pt x="98869" y="227837"/>
                  </a:lnTo>
                  <a:lnTo>
                    <a:pt x="110445" y="222590"/>
                  </a:lnTo>
                  <a:lnTo>
                    <a:pt x="89458" y="176275"/>
                  </a:lnTo>
                  <a:close/>
                </a:path>
                <a:path w="612140" h="292100">
                  <a:moveTo>
                    <a:pt x="110445" y="222590"/>
                  </a:moveTo>
                  <a:lnTo>
                    <a:pt x="98869" y="227837"/>
                  </a:lnTo>
                  <a:lnTo>
                    <a:pt x="109347" y="250951"/>
                  </a:lnTo>
                  <a:lnTo>
                    <a:pt x="120919" y="245706"/>
                  </a:lnTo>
                  <a:lnTo>
                    <a:pt x="110445" y="222590"/>
                  </a:lnTo>
                  <a:close/>
                </a:path>
                <a:path w="612140" h="292100">
                  <a:moveTo>
                    <a:pt x="120919" y="245706"/>
                  </a:moveTo>
                  <a:lnTo>
                    <a:pt x="109347" y="250951"/>
                  </a:lnTo>
                  <a:lnTo>
                    <a:pt x="123296" y="250951"/>
                  </a:lnTo>
                  <a:lnTo>
                    <a:pt x="120919" y="245706"/>
                  </a:lnTo>
                  <a:close/>
                </a:path>
                <a:path w="612140" h="292100">
                  <a:moveTo>
                    <a:pt x="601472" y="0"/>
                  </a:moveTo>
                  <a:lnTo>
                    <a:pt x="110445" y="222590"/>
                  </a:lnTo>
                  <a:lnTo>
                    <a:pt x="120919" y="245706"/>
                  </a:lnTo>
                  <a:lnTo>
                    <a:pt x="612013" y="23113"/>
                  </a:lnTo>
                  <a:lnTo>
                    <a:pt x="60147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3" name="object 10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69719" y="4033977"/>
              <a:ext cx="883907" cy="420674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1612010" y="4056379"/>
              <a:ext cx="727075" cy="274955"/>
            </a:xfrm>
            <a:custGeom>
              <a:avLst/>
              <a:gdLst/>
              <a:ahLst/>
              <a:cxnLst/>
              <a:rect l="l" t="t" r="r" b="b"/>
              <a:pathLst>
                <a:path w="727075" h="274954">
                  <a:moveTo>
                    <a:pt x="666556" y="256060"/>
                  </a:moveTo>
                  <a:lnTo>
                    <a:pt x="642238" y="274447"/>
                  </a:lnTo>
                  <a:lnTo>
                    <a:pt x="726694" y="263525"/>
                  </a:lnTo>
                  <a:lnTo>
                    <a:pt x="722112" y="258826"/>
                  </a:lnTo>
                  <a:lnTo>
                    <a:pt x="674496" y="258826"/>
                  </a:lnTo>
                  <a:lnTo>
                    <a:pt x="666556" y="256060"/>
                  </a:lnTo>
                  <a:close/>
                </a:path>
                <a:path w="727075" h="274954">
                  <a:moveTo>
                    <a:pt x="678665" y="246888"/>
                  </a:moveTo>
                  <a:lnTo>
                    <a:pt x="666556" y="256060"/>
                  </a:lnTo>
                  <a:lnTo>
                    <a:pt x="674496" y="258826"/>
                  </a:lnTo>
                  <a:lnTo>
                    <a:pt x="678665" y="246888"/>
                  </a:lnTo>
                  <a:close/>
                </a:path>
                <a:path w="727075" h="274954">
                  <a:moveTo>
                    <a:pt x="667257" y="202565"/>
                  </a:moveTo>
                  <a:lnTo>
                    <a:pt x="674856" y="232029"/>
                  </a:lnTo>
                  <a:lnTo>
                    <a:pt x="682878" y="234823"/>
                  </a:lnTo>
                  <a:lnTo>
                    <a:pt x="674496" y="258826"/>
                  </a:lnTo>
                  <a:lnTo>
                    <a:pt x="722112" y="258826"/>
                  </a:lnTo>
                  <a:lnTo>
                    <a:pt x="667257" y="202565"/>
                  </a:lnTo>
                  <a:close/>
                </a:path>
                <a:path w="727075" h="274954">
                  <a:moveTo>
                    <a:pt x="8381" y="0"/>
                  </a:moveTo>
                  <a:lnTo>
                    <a:pt x="0" y="23876"/>
                  </a:lnTo>
                  <a:lnTo>
                    <a:pt x="666556" y="256060"/>
                  </a:lnTo>
                  <a:lnTo>
                    <a:pt x="678688" y="246888"/>
                  </a:lnTo>
                  <a:lnTo>
                    <a:pt x="674856" y="232029"/>
                  </a:lnTo>
                  <a:lnTo>
                    <a:pt x="8381" y="0"/>
                  </a:lnTo>
                  <a:close/>
                </a:path>
                <a:path w="727075" h="274954">
                  <a:moveTo>
                    <a:pt x="674856" y="232029"/>
                  </a:moveTo>
                  <a:lnTo>
                    <a:pt x="678688" y="246888"/>
                  </a:lnTo>
                  <a:lnTo>
                    <a:pt x="682878" y="234823"/>
                  </a:lnTo>
                  <a:lnTo>
                    <a:pt x="674856" y="232029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5" name="object 10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49324" y="4037088"/>
              <a:ext cx="373341" cy="417563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1492123" y="4060316"/>
              <a:ext cx="215265" cy="259715"/>
            </a:xfrm>
            <a:custGeom>
              <a:avLst/>
              <a:gdLst/>
              <a:ahLst/>
              <a:cxnLst/>
              <a:rect l="l" t="t" r="r" b="b"/>
              <a:pathLst>
                <a:path w="215264" h="259714">
                  <a:moveTo>
                    <a:pt x="167870" y="221778"/>
                  </a:moveTo>
                  <a:lnTo>
                    <a:pt x="137414" y="224662"/>
                  </a:lnTo>
                  <a:lnTo>
                    <a:pt x="215138" y="259587"/>
                  </a:lnTo>
                  <a:lnTo>
                    <a:pt x="208115" y="228345"/>
                  </a:lnTo>
                  <a:lnTo>
                    <a:pt x="173228" y="228345"/>
                  </a:lnTo>
                  <a:lnTo>
                    <a:pt x="167870" y="221778"/>
                  </a:lnTo>
                  <a:close/>
                </a:path>
                <a:path w="215264" h="259714">
                  <a:moveTo>
                    <a:pt x="182993" y="220344"/>
                  </a:moveTo>
                  <a:lnTo>
                    <a:pt x="167870" y="221778"/>
                  </a:lnTo>
                  <a:lnTo>
                    <a:pt x="173228" y="228345"/>
                  </a:lnTo>
                  <a:lnTo>
                    <a:pt x="182993" y="220344"/>
                  </a:lnTo>
                  <a:close/>
                </a:path>
                <a:path w="215264" h="259714">
                  <a:moveTo>
                    <a:pt x="196469" y="176529"/>
                  </a:moveTo>
                  <a:lnTo>
                    <a:pt x="187529" y="205626"/>
                  </a:lnTo>
                  <a:lnTo>
                    <a:pt x="192913" y="212216"/>
                  </a:lnTo>
                  <a:lnTo>
                    <a:pt x="173228" y="228345"/>
                  </a:lnTo>
                  <a:lnTo>
                    <a:pt x="208115" y="228345"/>
                  </a:lnTo>
                  <a:lnTo>
                    <a:pt x="196469" y="176529"/>
                  </a:lnTo>
                  <a:close/>
                </a:path>
                <a:path w="215264" h="259714">
                  <a:moveTo>
                    <a:pt x="19558" y="0"/>
                  </a:moveTo>
                  <a:lnTo>
                    <a:pt x="0" y="16001"/>
                  </a:lnTo>
                  <a:lnTo>
                    <a:pt x="167870" y="221778"/>
                  </a:lnTo>
                  <a:lnTo>
                    <a:pt x="183007" y="220344"/>
                  </a:lnTo>
                  <a:lnTo>
                    <a:pt x="187529" y="205626"/>
                  </a:lnTo>
                  <a:lnTo>
                    <a:pt x="19558" y="0"/>
                  </a:lnTo>
                  <a:close/>
                </a:path>
                <a:path w="215264" h="259714">
                  <a:moveTo>
                    <a:pt x="187529" y="205626"/>
                  </a:moveTo>
                  <a:lnTo>
                    <a:pt x="183007" y="220344"/>
                  </a:lnTo>
                  <a:lnTo>
                    <a:pt x="192913" y="212216"/>
                  </a:lnTo>
                  <a:lnTo>
                    <a:pt x="187529" y="205626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7" name="object 10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299715" y="4447070"/>
              <a:ext cx="463283" cy="419061"/>
            </a:xfrm>
            <a:prstGeom prst="rect">
              <a:avLst/>
            </a:prstGeom>
          </p:spPr>
        </p:pic>
        <p:sp>
          <p:nvSpPr>
            <p:cNvPr id="108" name="object 108"/>
            <p:cNvSpPr/>
            <p:nvPr/>
          </p:nvSpPr>
          <p:spPr>
            <a:xfrm>
              <a:off x="2342514" y="4470145"/>
              <a:ext cx="306070" cy="261620"/>
            </a:xfrm>
            <a:custGeom>
              <a:avLst/>
              <a:gdLst/>
              <a:ahLst/>
              <a:cxnLst/>
              <a:rect l="l" t="t" r="r" b="b"/>
              <a:pathLst>
                <a:path w="306069" h="261620">
                  <a:moveTo>
                    <a:pt x="252171" y="232708"/>
                  </a:moveTo>
                  <a:lnTo>
                    <a:pt x="222885" y="241172"/>
                  </a:lnTo>
                  <a:lnTo>
                    <a:pt x="305562" y="261238"/>
                  </a:lnTo>
                  <a:lnTo>
                    <a:pt x="295656" y="238124"/>
                  </a:lnTo>
                  <a:lnTo>
                    <a:pt x="258572" y="238124"/>
                  </a:lnTo>
                  <a:lnTo>
                    <a:pt x="252171" y="232708"/>
                  </a:lnTo>
                  <a:close/>
                </a:path>
                <a:path w="306069" h="261620">
                  <a:moveTo>
                    <a:pt x="266827" y="228472"/>
                  </a:moveTo>
                  <a:lnTo>
                    <a:pt x="252171" y="232708"/>
                  </a:lnTo>
                  <a:lnTo>
                    <a:pt x="258572" y="238124"/>
                  </a:lnTo>
                  <a:lnTo>
                    <a:pt x="266827" y="228472"/>
                  </a:lnTo>
                  <a:close/>
                </a:path>
                <a:path w="306069" h="261620">
                  <a:moveTo>
                    <a:pt x="272034" y="183006"/>
                  </a:moveTo>
                  <a:lnTo>
                    <a:pt x="268564" y="213305"/>
                  </a:lnTo>
                  <a:lnTo>
                    <a:pt x="275082" y="218820"/>
                  </a:lnTo>
                  <a:lnTo>
                    <a:pt x="258572" y="238124"/>
                  </a:lnTo>
                  <a:lnTo>
                    <a:pt x="295656" y="238124"/>
                  </a:lnTo>
                  <a:lnTo>
                    <a:pt x="272034" y="183006"/>
                  </a:lnTo>
                  <a:close/>
                </a:path>
                <a:path w="306069" h="261620">
                  <a:moveTo>
                    <a:pt x="16510" y="0"/>
                  </a:moveTo>
                  <a:lnTo>
                    <a:pt x="0" y="19303"/>
                  </a:lnTo>
                  <a:lnTo>
                    <a:pt x="252171" y="232708"/>
                  </a:lnTo>
                  <a:lnTo>
                    <a:pt x="266827" y="228472"/>
                  </a:lnTo>
                  <a:lnTo>
                    <a:pt x="268564" y="213305"/>
                  </a:lnTo>
                  <a:lnTo>
                    <a:pt x="16510" y="0"/>
                  </a:lnTo>
                  <a:close/>
                </a:path>
                <a:path w="306069" h="261620">
                  <a:moveTo>
                    <a:pt x="268564" y="213305"/>
                  </a:moveTo>
                  <a:lnTo>
                    <a:pt x="266827" y="228472"/>
                  </a:lnTo>
                  <a:lnTo>
                    <a:pt x="275082" y="218820"/>
                  </a:lnTo>
                  <a:lnTo>
                    <a:pt x="268564" y="213305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9" name="object 10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956815" y="4457712"/>
              <a:ext cx="234670" cy="408419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038349" y="4479797"/>
              <a:ext cx="76200" cy="251587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73252" y="4485131"/>
              <a:ext cx="509003" cy="379475"/>
            </a:xfrm>
            <a:prstGeom prst="rect">
              <a:avLst/>
            </a:prstGeom>
          </p:spPr>
        </p:pic>
        <p:sp>
          <p:nvSpPr>
            <p:cNvPr id="112" name="object 112"/>
            <p:cNvSpPr/>
            <p:nvPr/>
          </p:nvSpPr>
          <p:spPr>
            <a:xfrm>
              <a:off x="916101" y="4507102"/>
              <a:ext cx="351155" cy="223520"/>
            </a:xfrm>
            <a:custGeom>
              <a:avLst/>
              <a:gdLst/>
              <a:ahLst/>
              <a:cxnLst/>
              <a:rect l="l" t="t" r="r" b="b"/>
              <a:pathLst>
                <a:path w="351155" h="223520">
                  <a:moveTo>
                    <a:pt x="293906" y="203073"/>
                  </a:moveTo>
                  <a:lnTo>
                    <a:pt x="266153" y="215773"/>
                  </a:lnTo>
                  <a:lnTo>
                    <a:pt x="351002" y="223393"/>
                  </a:lnTo>
                  <a:lnTo>
                    <a:pt x="341174" y="207518"/>
                  </a:lnTo>
                  <a:lnTo>
                    <a:pt x="301104" y="207518"/>
                  </a:lnTo>
                  <a:lnTo>
                    <a:pt x="293906" y="203073"/>
                  </a:lnTo>
                  <a:close/>
                </a:path>
                <a:path w="351155" h="223520">
                  <a:moveTo>
                    <a:pt x="307778" y="196723"/>
                  </a:moveTo>
                  <a:lnTo>
                    <a:pt x="293906" y="203073"/>
                  </a:lnTo>
                  <a:lnTo>
                    <a:pt x="301104" y="207518"/>
                  </a:lnTo>
                  <a:lnTo>
                    <a:pt x="307778" y="196723"/>
                  </a:lnTo>
                  <a:close/>
                </a:path>
                <a:path w="351155" h="223520">
                  <a:moveTo>
                    <a:pt x="306184" y="151003"/>
                  </a:moveTo>
                  <a:lnTo>
                    <a:pt x="307251" y="181481"/>
                  </a:lnTo>
                  <a:lnTo>
                    <a:pt x="314452" y="185928"/>
                  </a:lnTo>
                  <a:lnTo>
                    <a:pt x="301104" y="207518"/>
                  </a:lnTo>
                  <a:lnTo>
                    <a:pt x="341174" y="207518"/>
                  </a:lnTo>
                  <a:lnTo>
                    <a:pt x="306184" y="151003"/>
                  </a:lnTo>
                  <a:close/>
                </a:path>
                <a:path w="351155" h="223520">
                  <a:moveTo>
                    <a:pt x="13347" y="0"/>
                  </a:moveTo>
                  <a:lnTo>
                    <a:pt x="0" y="21590"/>
                  </a:lnTo>
                  <a:lnTo>
                    <a:pt x="293906" y="203073"/>
                  </a:lnTo>
                  <a:lnTo>
                    <a:pt x="307784" y="196723"/>
                  </a:lnTo>
                  <a:lnTo>
                    <a:pt x="307251" y="181481"/>
                  </a:lnTo>
                  <a:lnTo>
                    <a:pt x="13347" y="0"/>
                  </a:lnTo>
                  <a:close/>
                </a:path>
                <a:path w="351155" h="223520">
                  <a:moveTo>
                    <a:pt x="307251" y="181481"/>
                  </a:moveTo>
                  <a:lnTo>
                    <a:pt x="307784" y="196723"/>
                  </a:lnTo>
                  <a:lnTo>
                    <a:pt x="314452" y="185928"/>
                  </a:lnTo>
                  <a:lnTo>
                    <a:pt x="307251" y="181481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3" name="object 11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44067" y="4491177"/>
              <a:ext cx="242315" cy="374954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52043" y="4513833"/>
              <a:ext cx="95745" cy="216916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9915" y="3837431"/>
              <a:ext cx="2763012" cy="1185671"/>
            </a:xfrm>
            <a:prstGeom prst="rect">
              <a:avLst/>
            </a:prstGeom>
          </p:spPr>
        </p:pic>
        <p:sp>
          <p:nvSpPr>
            <p:cNvPr id="116" name="object 116"/>
            <p:cNvSpPr/>
            <p:nvPr/>
          </p:nvSpPr>
          <p:spPr>
            <a:xfrm>
              <a:off x="137159" y="3861815"/>
              <a:ext cx="2673350" cy="1096010"/>
            </a:xfrm>
            <a:custGeom>
              <a:avLst/>
              <a:gdLst/>
              <a:ahLst/>
              <a:cxnLst/>
              <a:rect l="l" t="t" r="r" b="b"/>
              <a:pathLst>
                <a:path w="2673350" h="1096010">
                  <a:moveTo>
                    <a:pt x="2399157" y="0"/>
                  </a:moveTo>
                  <a:lnTo>
                    <a:pt x="273938" y="0"/>
                  </a:lnTo>
                  <a:lnTo>
                    <a:pt x="0" y="1095755"/>
                  </a:lnTo>
                  <a:lnTo>
                    <a:pt x="2673096" y="1095755"/>
                  </a:lnTo>
                  <a:lnTo>
                    <a:pt x="2399157" y="0"/>
                  </a:lnTo>
                  <a:close/>
                </a:path>
              </a:pathLst>
            </a:custGeom>
            <a:solidFill>
              <a:srgbClr val="A4A4A4">
                <a:alpha val="16862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137159" y="3861815"/>
              <a:ext cx="2673350" cy="1096010"/>
            </a:xfrm>
            <a:custGeom>
              <a:avLst/>
              <a:gdLst/>
              <a:ahLst/>
              <a:cxnLst/>
              <a:rect l="l" t="t" r="r" b="b"/>
              <a:pathLst>
                <a:path w="2673350" h="1096010">
                  <a:moveTo>
                    <a:pt x="0" y="1095755"/>
                  </a:moveTo>
                  <a:lnTo>
                    <a:pt x="273938" y="0"/>
                  </a:lnTo>
                  <a:lnTo>
                    <a:pt x="2399157" y="0"/>
                  </a:lnTo>
                  <a:lnTo>
                    <a:pt x="2673096" y="1095755"/>
                  </a:lnTo>
                  <a:lnTo>
                    <a:pt x="0" y="1095755"/>
                  </a:lnTo>
                  <a:close/>
                </a:path>
              </a:pathLst>
            </a:custGeom>
            <a:ln w="9525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8" name="object 11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191768" y="3191243"/>
              <a:ext cx="1274064" cy="934224"/>
            </a:xfrm>
            <a:prstGeom prst="rect">
              <a:avLst/>
            </a:prstGeom>
          </p:spPr>
        </p:pic>
        <p:sp>
          <p:nvSpPr>
            <p:cNvPr id="119" name="object 119"/>
            <p:cNvSpPr/>
            <p:nvPr/>
          </p:nvSpPr>
          <p:spPr>
            <a:xfrm>
              <a:off x="1474469" y="3212337"/>
              <a:ext cx="954405" cy="615315"/>
            </a:xfrm>
            <a:custGeom>
              <a:avLst/>
              <a:gdLst/>
              <a:ahLst/>
              <a:cxnLst/>
              <a:rect l="l" t="t" r="r" b="b"/>
              <a:pathLst>
                <a:path w="954405" h="615314">
                  <a:moveTo>
                    <a:pt x="8763" y="348869"/>
                  </a:moveTo>
                  <a:lnTo>
                    <a:pt x="0" y="614934"/>
                  </a:lnTo>
                  <a:lnTo>
                    <a:pt x="154472" y="506856"/>
                  </a:lnTo>
                  <a:lnTo>
                    <a:pt x="84201" y="506856"/>
                  </a:lnTo>
                  <a:lnTo>
                    <a:pt x="51943" y="471805"/>
                  </a:lnTo>
                  <a:lnTo>
                    <a:pt x="57658" y="466470"/>
                  </a:lnTo>
                  <a:lnTo>
                    <a:pt x="58222" y="466004"/>
                  </a:lnTo>
                  <a:lnTo>
                    <a:pt x="8763" y="348869"/>
                  </a:lnTo>
                  <a:close/>
                </a:path>
                <a:path w="954405" h="615314">
                  <a:moveTo>
                    <a:pt x="116854" y="480540"/>
                  </a:moveTo>
                  <a:lnTo>
                    <a:pt x="68072" y="489331"/>
                  </a:lnTo>
                  <a:lnTo>
                    <a:pt x="84201" y="506856"/>
                  </a:lnTo>
                  <a:lnTo>
                    <a:pt x="88265" y="503047"/>
                  </a:lnTo>
                  <a:lnTo>
                    <a:pt x="100203" y="493013"/>
                  </a:lnTo>
                  <a:lnTo>
                    <a:pt x="113157" y="483107"/>
                  </a:lnTo>
                  <a:lnTo>
                    <a:pt x="116854" y="480540"/>
                  </a:lnTo>
                  <a:close/>
                </a:path>
                <a:path w="954405" h="615314">
                  <a:moveTo>
                    <a:pt x="218186" y="462280"/>
                  </a:moveTo>
                  <a:lnTo>
                    <a:pt x="116854" y="480540"/>
                  </a:lnTo>
                  <a:lnTo>
                    <a:pt x="84201" y="506856"/>
                  </a:lnTo>
                  <a:lnTo>
                    <a:pt x="154472" y="506856"/>
                  </a:lnTo>
                  <a:lnTo>
                    <a:pt x="218186" y="462280"/>
                  </a:lnTo>
                  <a:close/>
                </a:path>
                <a:path w="954405" h="615314">
                  <a:moveTo>
                    <a:pt x="58222" y="466004"/>
                  </a:moveTo>
                  <a:lnTo>
                    <a:pt x="57658" y="466470"/>
                  </a:lnTo>
                  <a:lnTo>
                    <a:pt x="51943" y="471805"/>
                  </a:lnTo>
                  <a:lnTo>
                    <a:pt x="68072" y="489331"/>
                  </a:lnTo>
                  <a:lnTo>
                    <a:pt x="58222" y="466004"/>
                  </a:lnTo>
                  <a:close/>
                </a:path>
                <a:path w="954405" h="615314">
                  <a:moveTo>
                    <a:pt x="906399" y="0"/>
                  </a:moveTo>
                  <a:lnTo>
                    <a:pt x="900938" y="45592"/>
                  </a:lnTo>
                  <a:lnTo>
                    <a:pt x="885317" y="89408"/>
                  </a:lnTo>
                  <a:lnTo>
                    <a:pt x="860298" y="132334"/>
                  </a:lnTo>
                  <a:lnTo>
                    <a:pt x="826643" y="173482"/>
                  </a:lnTo>
                  <a:lnTo>
                    <a:pt x="785368" y="211836"/>
                  </a:lnTo>
                  <a:lnTo>
                    <a:pt x="754253" y="235331"/>
                  </a:lnTo>
                  <a:lnTo>
                    <a:pt x="720471" y="256794"/>
                  </a:lnTo>
                  <a:lnTo>
                    <a:pt x="684657" y="275844"/>
                  </a:lnTo>
                  <a:lnTo>
                    <a:pt x="646811" y="292481"/>
                  </a:lnTo>
                  <a:lnTo>
                    <a:pt x="607694" y="306324"/>
                  </a:lnTo>
                  <a:lnTo>
                    <a:pt x="567563" y="316864"/>
                  </a:lnTo>
                  <a:lnTo>
                    <a:pt x="526542" y="324231"/>
                  </a:lnTo>
                  <a:lnTo>
                    <a:pt x="485140" y="327913"/>
                  </a:lnTo>
                  <a:lnTo>
                    <a:pt x="442849" y="328802"/>
                  </a:lnTo>
                  <a:lnTo>
                    <a:pt x="420369" y="329946"/>
                  </a:lnTo>
                  <a:lnTo>
                    <a:pt x="375538" y="334517"/>
                  </a:lnTo>
                  <a:lnTo>
                    <a:pt x="331597" y="341757"/>
                  </a:lnTo>
                  <a:lnTo>
                    <a:pt x="288671" y="351663"/>
                  </a:lnTo>
                  <a:lnTo>
                    <a:pt x="247142" y="363982"/>
                  </a:lnTo>
                  <a:lnTo>
                    <a:pt x="207644" y="378333"/>
                  </a:lnTo>
                  <a:lnTo>
                    <a:pt x="169418" y="394969"/>
                  </a:lnTo>
                  <a:lnTo>
                    <a:pt x="133985" y="413385"/>
                  </a:lnTo>
                  <a:lnTo>
                    <a:pt x="101346" y="433324"/>
                  </a:lnTo>
                  <a:lnTo>
                    <a:pt x="58222" y="466004"/>
                  </a:lnTo>
                  <a:lnTo>
                    <a:pt x="68072" y="489331"/>
                  </a:lnTo>
                  <a:lnTo>
                    <a:pt x="116854" y="480540"/>
                  </a:lnTo>
                  <a:lnTo>
                    <a:pt x="126873" y="473582"/>
                  </a:lnTo>
                  <a:lnTo>
                    <a:pt x="141478" y="464312"/>
                  </a:lnTo>
                  <a:lnTo>
                    <a:pt x="189230" y="438276"/>
                  </a:lnTo>
                  <a:lnTo>
                    <a:pt x="261238" y="409448"/>
                  </a:lnTo>
                  <a:lnTo>
                    <a:pt x="299974" y="397891"/>
                  </a:lnTo>
                  <a:lnTo>
                    <a:pt x="340106" y="388620"/>
                  </a:lnTo>
                  <a:lnTo>
                    <a:pt x="381127" y="381762"/>
                  </a:lnTo>
                  <a:lnTo>
                    <a:pt x="422782" y="377444"/>
                  </a:lnTo>
                  <a:lnTo>
                    <a:pt x="488442" y="375538"/>
                  </a:lnTo>
                  <a:lnTo>
                    <a:pt x="511302" y="373888"/>
                  </a:lnTo>
                  <a:lnTo>
                    <a:pt x="556513" y="367664"/>
                  </a:lnTo>
                  <a:lnTo>
                    <a:pt x="600963" y="357759"/>
                  </a:lnTo>
                  <a:lnTo>
                    <a:pt x="644144" y="344297"/>
                  </a:lnTo>
                  <a:lnTo>
                    <a:pt x="686054" y="327660"/>
                  </a:lnTo>
                  <a:lnTo>
                    <a:pt x="726186" y="308228"/>
                  </a:lnTo>
                  <a:lnTo>
                    <a:pt x="764032" y="285876"/>
                  </a:lnTo>
                  <a:lnTo>
                    <a:pt x="799592" y="261238"/>
                  </a:lnTo>
                  <a:lnTo>
                    <a:pt x="832357" y="234187"/>
                  </a:lnTo>
                  <a:lnTo>
                    <a:pt x="862203" y="205232"/>
                  </a:lnTo>
                  <a:lnTo>
                    <a:pt x="888365" y="174371"/>
                  </a:lnTo>
                  <a:lnTo>
                    <a:pt x="910844" y="141986"/>
                  </a:lnTo>
                  <a:lnTo>
                    <a:pt x="929132" y="107950"/>
                  </a:lnTo>
                  <a:lnTo>
                    <a:pt x="947674" y="54863"/>
                  </a:lnTo>
                  <a:lnTo>
                    <a:pt x="954024" y="2032"/>
                  </a:lnTo>
                  <a:lnTo>
                    <a:pt x="90639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0" name="object 12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381744" y="4006646"/>
              <a:ext cx="504469" cy="263601"/>
            </a:xfrm>
            <a:prstGeom prst="rect">
              <a:avLst/>
            </a:prstGeom>
          </p:spPr>
        </p:pic>
        <p:sp>
          <p:nvSpPr>
            <p:cNvPr id="121" name="object 121"/>
            <p:cNvSpPr/>
            <p:nvPr/>
          </p:nvSpPr>
          <p:spPr>
            <a:xfrm>
              <a:off x="9428987" y="4030979"/>
              <a:ext cx="414655" cy="173990"/>
            </a:xfrm>
            <a:custGeom>
              <a:avLst/>
              <a:gdLst/>
              <a:ahLst/>
              <a:cxnLst/>
              <a:rect l="l" t="t" r="r" b="b"/>
              <a:pathLst>
                <a:path w="414654" h="173989">
                  <a:moveTo>
                    <a:pt x="414527" y="0"/>
                  </a:moveTo>
                  <a:lnTo>
                    <a:pt x="0" y="0"/>
                  </a:lnTo>
                  <a:lnTo>
                    <a:pt x="0" y="173736"/>
                  </a:lnTo>
                  <a:lnTo>
                    <a:pt x="414527" y="173736"/>
                  </a:lnTo>
                  <a:lnTo>
                    <a:pt x="414527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9428987" y="4030979"/>
              <a:ext cx="414655" cy="173990"/>
            </a:xfrm>
            <a:custGeom>
              <a:avLst/>
              <a:gdLst/>
              <a:ahLst/>
              <a:cxnLst/>
              <a:rect l="l" t="t" r="r" b="b"/>
              <a:pathLst>
                <a:path w="414654" h="173989">
                  <a:moveTo>
                    <a:pt x="0" y="173736"/>
                  </a:moveTo>
                  <a:lnTo>
                    <a:pt x="414527" y="173736"/>
                  </a:lnTo>
                  <a:lnTo>
                    <a:pt x="414527" y="0"/>
                  </a:lnTo>
                  <a:lnTo>
                    <a:pt x="0" y="0"/>
                  </a:lnTo>
                  <a:lnTo>
                    <a:pt x="0" y="17373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3" name="object 1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32004" y="4021832"/>
              <a:ext cx="88847" cy="236332"/>
            </a:xfrm>
            <a:prstGeom prst="rect">
              <a:avLst/>
            </a:prstGeom>
          </p:spPr>
        </p:pic>
        <p:sp>
          <p:nvSpPr>
            <p:cNvPr id="124" name="object 124"/>
            <p:cNvSpPr/>
            <p:nvPr/>
          </p:nvSpPr>
          <p:spPr>
            <a:xfrm>
              <a:off x="9778746" y="4034789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5" name="object 1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54281" y="4021832"/>
              <a:ext cx="88847" cy="236332"/>
            </a:xfrm>
            <a:prstGeom prst="rect">
              <a:avLst/>
            </a:prstGeom>
          </p:spPr>
        </p:pic>
        <p:sp>
          <p:nvSpPr>
            <p:cNvPr id="126" name="object 126"/>
            <p:cNvSpPr/>
            <p:nvPr/>
          </p:nvSpPr>
          <p:spPr>
            <a:xfrm>
              <a:off x="9701022" y="4034789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7" name="object 1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53112" y="4021832"/>
              <a:ext cx="88847" cy="236332"/>
            </a:xfrm>
            <a:prstGeom prst="rect">
              <a:avLst/>
            </a:prstGeom>
          </p:spPr>
        </p:pic>
        <p:sp>
          <p:nvSpPr>
            <p:cNvPr id="128" name="object 128"/>
            <p:cNvSpPr/>
            <p:nvPr/>
          </p:nvSpPr>
          <p:spPr>
            <a:xfrm>
              <a:off x="9499854" y="4034789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9" name="object 1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18644" y="4018784"/>
              <a:ext cx="88847" cy="236332"/>
            </a:xfrm>
            <a:prstGeom prst="rect">
              <a:avLst/>
            </a:prstGeom>
          </p:spPr>
        </p:pic>
        <p:sp>
          <p:nvSpPr>
            <p:cNvPr id="130" name="object 130"/>
            <p:cNvSpPr/>
            <p:nvPr/>
          </p:nvSpPr>
          <p:spPr>
            <a:xfrm>
              <a:off x="9565385" y="4031741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49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1" name="object 1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178660" y="4442456"/>
              <a:ext cx="486452" cy="245421"/>
            </a:xfrm>
            <a:prstGeom prst="rect">
              <a:avLst/>
            </a:prstGeom>
          </p:spPr>
        </p:pic>
        <p:sp>
          <p:nvSpPr>
            <p:cNvPr id="132" name="object 132"/>
            <p:cNvSpPr/>
            <p:nvPr/>
          </p:nvSpPr>
          <p:spPr>
            <a:xfrm>
              <a:off x="10216896" y="4457700"/>
              <a:ext cx="414655" cy="173990"/>
            </a:xfrm>
            <a:custGeom>
              <a:avLst/>
              <a:gdLst/>
              <a:ahLst/>
              <a:cxnLst/>
              <a:rect l="l" t="t" r="r" b="b"/>
              <a:pathLst>
                <a:path w="414654" h="173989">
                  <a:moveTo>
                    <a:pt x="414527" y="0"/>
                  </a:moveTo>
                  <a:lnTo>
                    <a:pt x="0" y="0"/>
                  </a:lnTo>
                  <a:lnTo>
                    <a:pt x="0" y="173736"/>
                  </a:lnTo>
                  <a:lnTo>
                    <a:pt x="414527" y="173736"/>
                  </a:lnTo>
                  <a:lnTo>
                    <a:pt x="414527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10216896" y="4457700"/>
              <a:ext cx="414655" cy="173990"/>
            </a:xfrm>
            <a:custGeom>
              <a:avLst/>
              <a:gdLst/>
              <a:ahLst/>
              <a:cxnLst/>
              <a:rect l="l" t="t" r="r" b="b"/>
              <a:pathLst>
                <a:path w="414654" h="173989">
                  <a:moveTo>
                    <a:pt x="0" y="173736"/>
                  </a:moveTo>
                  <a:lnTo>
                    <a:pt x="414527" y="173736"/>
                  </a:lnTo>
                  <a:lnTo>
                    <a:pt x="414527" y="0"/>
                  </a:lnTo>
                  <a:lnTo>
                    <a:pt x="0" y="0"/>
                  </a:lnTo>
                  <a:lnTo>
                    <a:pt x="0" y="17373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4" name="object 1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19912" y="4448552"/>
              <a:ext cx="88847" cy="236332"/>
            </a:xfrm>
            <a:prstGeom prst="rect">
              <a:avLst/>
            </a:prstGeom>
          </p:spPr>
        </p:pic>
        <p:sp>
          <p:nvSpPr>
            <p:cNvPr id="135" name="object 135"/>
            <p:cNvSpPr/>
            <p:nvPr/>
          </p:nvSpPr>
          <p:spPr>
            <a:xfrm>
              <a:off x="10566654" y="4461509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6" name="object 1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42188" y="4448552"/>
              <a:ext cx="88847" cy="236332"/>
            </a:xfrm>
            <a:prstGeom prst="rect">
              <a:avLst/>
            </a:prstGeom>
          </p:spPr>
        </p:pic>
        <p:sp>
          <p:nvSpPr>
            <p:cNvPr id="137" name="object 137"/>
            <p:cNvSpPr/>
            <p:nvPr/>
          </p:nvSpPr>
          <p:spPr>
            <a:xfrm>
              <a:off x="10488930" y="4461509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8" name="object 1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41020" y="4448552"/>
              <a:ext cx="88847" cy="236332"/>
            </a:xfrm>
            <a:prstGeom prst="rect">
              <a:avLst/>
            </a:prstGeom>
          </p:spPr>
        </p:pic>
        <p:sp>
          <p:nvSpPr>
            <p:cNvPr id="139" name="object 139"/>
            <p:cNvSpPr/>
            <p:nvPr/>
          </p:nvSpPr>
          <p:spPr>
            <a:xfrm>
              <a:off x="10287761" y="4461509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0" name="object 14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06552" y="4445504"/>
              <a:ext cx="88847" cy="236332"/>
            </a:xfrm>
            <a:prstGeom prst="rect">
              <a:avLst/>
            </a:prstGeom>
          </p:spPr>
        </p:pic>
        <p:sp>
          <p:nvSpPr>
            <p:cNvPr id="141" name="object 141"/>
            <p:cNvSpPr/>
            <p:nvPr/>
          </p:nvSpPr>
          <p:spPr>
            <a:xfrm>
              <a:off x="10353294" y="4458461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2" name="object 14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572244" y="4436414"/>
              <a:ext cx="502958" cy="263601"/>
            </a:xfrm>
            <a:prstGeom prst="rect">
              <a:avLst/>
            </a:prstGeom>
          </p:spPr>
        </p:pic>
        <p:sp>
          <p:nvSpPr>
            <p:cNvPr id="143" name="object 143"/>
            <p:cNvSpPr/>
            <p:nvPr/>
          </p:nvSpPr>
          <p:spPr>
            <a:xfrm>
              <a:off x="9619487" y="4460747"/>
              <a:ext cx="413384" cy="173990"/>
            </a:xfrm>
            <a:custGeom>
              <a:avLst/>
              <a:gdLst/>
              <a:ahLst/>
              <a:cxnLst/>
              <a:rect l="l" t="t" r="r" b="b"/>
              <a:pathLst>
                <a:path w="413384" h="173989">
                  <a:moveTo>
                    <a:pt x="413003" y="0"/>
                  </a:moveTo>
                  <a:lnTo>
                    <a:pt x="0" y="0"/>
                  </a:lnTo>
                  <a:lnTo>
                    <a:pt x="0" y="173735"/>
                  </a:lnTo>
                  <a:lnTo>
                    <a:pt x="413003" y="173735"/>
                  </a:lnTo>
                  <a:lnTo>
                    <a:pt x="413003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9619487" y="4460747"/>
              <a:ext cx="413384" cy="173990"/>
            </a:xfrm>
            <a:custGeom>
              <a:avLst/>
              <a:gdLst/>
              <a:ahLst/>
              <a:cxnLst/>
              <a:rect l="l" t="t" r="r" b="b"/>
              <a:pathLst>
                <a:path w="413384" h="173989">
                  <a:moveTo>
                    <a:pt x="0" y="173735"/>
                  </a:moveTo>
                  <a:lnTo>
                    <a:pt x="413003" y="173735"/>
                  </a:lnTo>
                  <a:lnTo>
                    <a:pt x="413003" y="0"/>
                  </a:lnTo>
                  <a:lnTo>
                    <a:pt x="0" y="0"/>
                  </a:lnTo>
                  <a:lnTo>
                    <a:pt x="0" y="17373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5" name="object 14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20981" y="4451600"/>
              <a:ext cx="88847" cy="236332"/>
            </a:xfrm>
            <a:prstGeom prst="rect">
              <a:avLst/>
            </a:prstGeom>
          </p:spPr>
        </p:pic>
        <p:sp>
          <p:nvSpPr>
            <p:cNvPr id="146" name="object 146"/>
            <p:cNvSpPr/>
            <p:nvPr/>
          </p:nvSpPr>
          <p:spPr>
            <a:xfrm>
              <a:off x="9967722" y="4464557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7" name="object 14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44781" y="4451600"/>
              <a:ext cx="88847" cy="236332"/>
            </a:xfrm>
            <a:prstGeom prst="rect">
              <a:avLst/>
            </a:prstGeom>
          </p:spPr>
        </p:pic>
        <p:sp>
          <p:nvSpPr>
            <p:cNvPr id="148" name="object 148"/>
            <p:cNvSpPr/>
            <p:nvPr/>
          </p:nvSpPr>
          <p:spPr>
            <a:xfrm>
              <a:off x="9891522" y="4464557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9" name="object 14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42088" y="4451600"/>
              <a:ext cx="88847" cy="236332"/>
            </a:xfrm>
            <a:prstGeom prst="rect">
              <a:avLst/>
            </a:prstGeom>
          </p:spPr>
        </p:pic>
        <p:sp>
          <p:nvSpPr>
            <p:cNvPr id="150" name="object 150"/>
            <p:cNvSpPr/>
            <p:nvPr/>
          </p:nvSpPr>
          <p:spPr>
            <a:xfrm>
              <a:off x="9688830" y="4464557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1" name="object 15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07620" y="4448552"/>
              <a:ext cx="88847" cy="236332"/>
            </a:xfrm>
            <a:prstGeom prst="rect">
              <a:avLst/>
            </a:prstGeom>
          </p:spPr>
        </p:pic>
        <p:sp>
          <p:nvSpPr>
            <p:cNvPr id="152" name="object 152"/>
            <p:cNvSpPr/>
            <p:nvPr/>
          </p:nvSpPr>
          <p:spPr>
            <a:xfrm>
              <a:off x="9754361" y="4461509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3" name="object 15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706611" y="4456226"/>
              <a:ext cx="504469" cy="263601"/>
            </a:xfrm>
            <a:prstGeom prst="rect">
              <a:avLst/>
            </a:prstGeom>
          </p:spPr>
        </p:pic>
        <p:sp>
          <p:nvSpPr>
            <p:cNvPr id="154" name="object 154"/>
            <p:cNvSpPr/>
            <p:nvPr/>
          </p:nvSpPr>
          <p:spPr>
            <a:xfrm>
              <a:off x="8753856" y="4480559"/>
              <a:ext cx="414655" cy="173990"/>
            </a:xfrm>
            <a:custGeom>
              <a:avLst/>
              <a:gdLst/>
              <a:ahLst/>
              <a:cxnLst/>
              <a:rect l="l" t="t" r="r" b="b"/>
              <a:pathLst>
                <a:path w="414654" h="173989">
                  <a:moveTo>
                    <a:pt x="414527" y="0"/>
                  </a:moveTo>
                  <a:lnTo>
                    <a:pt x="0" y="0"/>
                  </a:lnTo>
                  <a:lnTo>
                    <a:pt x="0" y="173736"/>
                  </a:lnTo>
                  <a:lnTo>
                    <a:pt x="414527" y="173736"/>
                  </a:lnTo>
                  <a:lnTo>
                    <a:pt x="414527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8753856" y="4480559"/>
              <a:ext cx="414655" cy="173990"/>
            </a:xfrm>
            <a:custGeom>
              <a:avLst/>
              <a:gdLst/>
              <a:ahLst/>
              <a:cxnLst/>
              <a:rect l="l" t="t" r="r" b="b"/>
              <a:pathLst>
                <a:path w="414654" h="173989">
                  <a:moveTo>
                    <a:pt x="0" y="173736"/>
                  </a:moveTo>
                  <a:lnTo>
                    <a:pt x="414527" y="173736"/>
                  </a:lnTo>
                  <a:lnTo>
                    <a:pt x="414527" y="0"/>
                  </a:lnTo>
                  <a:lnTo>
                    <a:pt x="0" y="0"/>
                  </a:lnTo>
                  <a:lnTo>
                    <a:pt x="0" y="17373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6" name="object 15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56872" y="4471412"/>
              <a:ext cx="88847" cy="236332"/>
            </a:xfrm>
            <a:prstGeom prst="rect">
              <a:avLst/>
            </a:prstGeom>
          </p:spPr>
        </p:pic>
        <p:sp>
          <p:nvSpPr>
            <p:cNvPr id="157" name="object 157"/>
            <p:cNvSpPr/>
            <p:nvPr/>
          </p:nvSpPr>
          <p:spPr>
            <a:xfrm>
              <a:off x="9103613" y="4484369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49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8" name="object 15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80672" y="4471412"/>
              <a:ext cx="88847" cy="236332"/>
            </a:xfrm>
            <a:prstGeom prst="rect">
              <a:avLst/>
            </a:prstGeom>
          </p:spPr>
        </p:pic>
        <p:sp>
          <p:nvSpPr>
            <p:cNvPr id="159" name="object 159"/>
            <p:cNvSpPr/>
            <p:nvPr/>
          </p:nvSpPr>
          <p:spPr>
            <a:xfrm>
              <a:off x="9027413" y="4484369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49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0" name="object 16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77981" y="4471412"/>
              <a:ext cx="88847" cy="236332"/>
            </a:xfrm>
            <a:prstGeom prst="rect">
              <a:avLst/>
            </a:prstGeom>
          </p:spPr>
        </p:pic>
        <p:sp>
          <p:nvSpPr>
            <p:cNvPr id="161" name="object 161"/>
            <p:cNvSpPr/>
            <p:nvPr/>
          </p:nvSpPr>
          <p:spPr>
            <a:xfrm>
              <a:off x="8824722" y="4484369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49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2" name="object 16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43512" y="4468364"/>
              <a:ext cx="88847" cy="236332"/>
            </a:xfrm>
            <a:prstGeom prst="rect">
              <a:avLst/>
            </a:prstGeom>
          </p:spPr>
        </p:pic>
        <p:sp>
          <p:nvSpPr>
            <p:cNvPr id="163" name="object 163"/>
            <p:cNvSpPr/>
            <p:nvPr/>
          </p:nvSpPr>
          <p:spPr>
            <a:xfrm>
              <a:off x="8890254" y="4481321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4" name="object 16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0414880" y="4852164"/>
              <a:ext cx="486452" cy="247568"/>
            </a:xfrm>
            <a:prstGeom prst="rect">
              <a:avLst/>
            </a:prstGeom>
          </p:spPr>
        </p:pic>
        <p:sp>
          <p:nvSpPr>
            <p:cNvPr id="165" name="object 165"/>
            <p:cNvSpPr/>
            <p:nvPr/>
          </p:nvSpPr>
          <p:spPr>
            <a:xfrm>
              <a:off x="10453115" y="4867655"/>
              <a:ext cx="414655" cy="175260"/>
            </a:xfrm>
            <a:custGeom>
              <a:avLst/>
              <a:gdLst/>
              <a:ahLst/>
              <a:cxnLst/>
              <a:rect l="l" t="t" r="r" b="b"/>
              <a:pathLst>
                <a:path w="414654" h="175260">
                  <a:moveTo>
                    <a:pt x="414527" y="0"/>
                  </a:moveTo>
                  <a:lnTo>
                    <a:pt x="0" y="0"/>
                  </a:lnTo>
                  <a:lnTo>
                    <a:pt x="0" y="175260"/>
                  </a:lnTo>
                  <a:lnTo>
                    <a:pt x="414527" y="175260"/>
                  </a:lnTo>
                  <a:lnTo>
                    <a:pt x="414527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10453115" y="4867655"/>
              <a:ext cx="414655" cy="175260"/>
            </a:xfrm>
            <a:custGeom>
              <a:avLst/>
              <a:gdLst/>
              <a:ahLst/>
              <a:cxnLst/>
              <a:rect l="l" t="t" r="r" b="b"/>
              <a:pathLst>
                <a:path w="414654" h="175260">
                  <a:moveTo>
                    <a:pt x="0" y="175260"/>
                  </a:moveTo>
                  <a:lnTo>
                    <a:pt x="414527" y="175260"/>
                  </a:lnTo>
                  <a:lnTo>
                    <a:pt x="414527" y="0"/>
                  </a:lnTo>
                  <a:lnTo>
                    <a:pt x="0" y="0"/>
                  </a:lnTo>
                  <a:lnTo>
                    <a:pt x="0" y="17526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7" name="object 16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56132" y="4858508"/>
              <a:ext cx="88847" cy="236332"/>
            </a:xfrm>
            <a:prstGeom prst="rect">
              <a:avLst/>
            </a:prstGeom>
          </p:spPr>
        </p:pic>
        <p:sp>
          <p:nvSpPr>
            <p:cNvPr id="168" name="object 168"/>
            <p:cNvSpPr/>
            <p:nvPr/>
          </p:nvSpPr>
          <p:spPr>
            <a:xfrm>
              <a:off x="10802873" y="4871465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49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9" name="object 16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79932" y="4858508"/>
              <a:ext cx="88847" cy="236332"/>
            </a:xfrm>
            <a:prstGeom prst="rect">
              <a:avLst/>
            </a:prstGeom>
          </p:spPr>
        </p:pic>
        <p:sp>
          <p:nvSpPr>
            <p:cNvPr id="170" name="object 170"/>
            <p:cNvSpPr/>
            <p:nvPr/>
          </p:nvSpPr>
          <p:spPr>
            <a:xfrm>
              <a:off x="10726673" y="4871465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49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1" name="object 17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77240" y="4858508"/>
              <a:ext cx="88847" cy="236332"/>
            </a:xfrm>
            <a:prstGeom prst="rect">
              <a:avLst/>
            </a:prstGeom>
          </p:spPr>
        </p:pic>
        <p:sp>
          <p:nvSpPr>
            <p:cNvPr id="172" name="object 172"/>
            <p:cNvSpPr/>
            <p:nvPr/>
          </p:nvSpPr>
          <p:spPr>
            <a:xfrm>
              <a:off x="10523982" y="4871465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49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3" name="object 17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42772" y="4855460"/>
              <a:ext cx="88847" cy="236332"/>
            </a:xfrm>
            <a:prstGeom prst="rect">
              <a:avLst/>
            </a:prstGeom>
          </p:spPr>
        </p:pic>
        <p:sp>
          <p:nvSpPr>
            <p:cNvPr id="174" name="object 174"/>
            <p:cNvSpPr/>
            <p:nvPr/>
          </p:nvSpPr>
          <p:spPr>
            <a:xfrm>
              <a:off x="10589513" y="4868417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49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5" name="object 17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895169" y="4855212"/>
              <a:ext cx="484995" cy="247568"/>
            </a:xfrm>
            <a:prstGeom prst="rect">
              <a:avLst/>
            </a:prstGeom>
          </p:spPr>
        </p:pic>
        <p:sp>
          <p:nvSpPr>
            <p:cNvPr id="176" name="object 176"/>
            <p:cNvSpPr/>
            <p:nvPr/>
          </p:nvSpPr>
          <p:spPr>
            <a:xfrm>
              <a:off x="9933432" y="4870703"/>
              <a:ext cx="413384" cy="175260"/>
            </a:xfrm>
            <a:custGeom>
              <a:avLst/>
              <a:gdLst/>
              <a:ahLst/>
              <a:cxnLst/>
              <a:rect l="l" t="t" r="r" b="b"/>
              <a:pathLst>
                <a:path w="413384" h="175260">
                  <a:moveTo>
                    <a:pt x="413003" y="0"/>
                  </a:moveTo>
                  <a:lnTo>
                    <a:pt x="0" y="0"/>
                  </a:lnTo>
                  <a:lnTo>
                    <a:pt x="0" y="175260"/>
                  </a:lnTo>
                  <a:lnTo>
                    <a:pt x="413003" y="175260"/>
                  </a:lnTo>
                  <a:lnTo>
                    <a:pt x="413003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/>
            <p:cNvSpPr/>
            <p:nvPr/>
          </p:nvSpPr>
          <p:spPr>
            <a:xfrm>
              <a:off x="9933432" y="4870703"/>
              <a:ext cx="413384" cy="175260"/>
            </a:xfrm>
            <a:custGeom>
              <a:avLst/>
              <a:gdLst/>
              <a:ahLst/>
              <a:cxnLst/>
              <a:rect l="l" t="t" r="r" b="b"/>
              <a:pathLst>
                <a:path w="413384" h="175260">
                  <a:moveTo>
                    <a:pt x="0" y="175260"/>
                  </a:moveTo>
                  <a:lnTo>
                    <a:pt x="413003" y="175260"/>
                  </a:lnTo>
                  <a:lnTo>
                    <a:pt x="413003" y="0"/>
                  </a:lnTo>
                  <a:lnTo>
                    <a:pt x="0" y="0"/>
                  </a:lnTo>
                  <a:lnTo>
                    <a:pt x="0" y="17526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8" name="object 17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34924" y="4861556"/>
              <a:ext cx="88847" cy="236332"/>
            </a:xfrm>
            <a:prstGeom prst="rect">
              <a:avLst/>
            </a:prstGeom>
          </p:spPr>
        </p:pic>
        <p:sp>
          <p:nvSpPr>
            <p:cNvPr id="179" name="object 179"/>
            <p:cNvSpPr/>
            <p:nvPr/>
          </p:nvSpPr>
          <p:spPr>
            <a:xfrm>
              <a:off x="10281665" y="4874513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0" name="object 18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158724" y="4861556"/>
              <a:ext cx="88847" cy="236332"/>
            </a:xfrm>
            <a:prstGeom prst="rect">
              <a:avLst/>
            </a:prstGeom>
          </p:spPr>
        </p:pic>
        <p:sp>
          <p:nvSpPr>
            <p:cNvPr id="181" name="object 181"/>
            <p:cNvSpPr/>
            <p:nvPr/>
          </p:nvSpPr>
          <p:spPr>
            <a:xfrm>
              <a:off x="10205465" y="4874513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2" name="object 18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57556" y="4861556"/>
              <a:ext cx="88847" cy="236332"/>
            </a:xfrm>
            <a:prstGeom prst="rect">
              <a:avLst/>
            </a:prstGeom>
          </p:spPr>
        </p:pic>
        <p:sp>
          <p:nvSpPr>
            <p:cNvPr id="183" name="object 183"/>
            <p:cNvSpPr/>
            <p:nvPr/>
          </p:nvSpPr>
          <p:spPr>
            <a:xfrm>
              <a:off x="10004297" y="4874513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4" name="object 18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23088" y="4858508"/>
              <a:ext cx="88847" cy="236332"/>
            </a:xfrm>
            <a:prstGeom prst="rect">
              <a:avLst/>
            </a:prstGeom>
          </p:spPr>
        </p:pic>
        <p:sp>
          <p:nvSpPr>
            <p:cNvPr id="185" name="object 185"/>
            <p:cNvSpPr/>
            <p:nvPr/>
          </p:nvSpPr>
          <p:spPr>
            <a:xfrm>
              <a:off x="10069830" y="4871465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49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6" name="object 18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29244" y="4849418"/>
              <a:ext cx="502958" cy="265252"/>
            </a:xfrm>
            <a:prstGeom prst="rect">
              <a:avLst/>
            </a:prstGeom>
          </p:spPr>
        </p:pic>
        <p:sp>
          <p:nvSpPr>
            <p:cNvPr id="187" name="object 187"/>
            <p:cNvSpPr/>
            <p:nvPr/>
          </p:nvSpPr>
          <p:spPr>
            <a:xfrm>
              <a:off x="8476487" y="4873751"/>
              <a:ext cx="413384" cy="175260"/>
            </a:xfrm>
            <a:custGeom>
              <a:avLst/>
              <a:gdLst/>
              <a:ahLst/>
              <a:cxnLst/>
              <a:rect l="l" t="t" r="r" b="b"/>
              <a:pathLst>
                <a:path w="413384" h="175260">
                  <a:moveTo>
                    <a:pt x="413003" y="0"/>
                  </a:moveTo>
                  <a:lnTo>
                    <a:pt x="0" y="0"/>
                  </a:lnTo>
                  <a:lnTo>
                    <a:pt x="0" y="175260"/>
                  </a:lnTo>
                  <a:lnTo>
                    <a:pt x="413003" y="175260"/>
                  </a:lnTo>
                  <a:lnTo>
                    <a:pt x="413003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8476487" y="4873751"/>
              <a:ext cx="413384" cy="175260"/>
            </a:xfrm>
            <a:custGeom>
              <a:avLst/>
              <a:gdLst/>
              <a:ahLst/>
              <a:cxnLst/>
              <a:rect l="l" t="t" r="r" b="b"/>
              <a:pathLst>
                <a:path w="413384" h="175260">
                  <a:moveTo>
                    <a:pt x="0" y="175260"/>
                  </a:moveTo>
                  <a:lnTo>
                    <a:pt x="413003" y="175260"/>
                  </a:lnTo>
                  <a:lnTo>
                    <a:pt x="413003" y="0"/>
                  </a:lnTo>
                  <a:lnTo>
                    <a:pt x="0" y="0"/>
                  </a:lnTo>
                  <a:lnTo>
                    <a:pt x="0" y="17526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9" name="object 18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77981" y="4864604"/>
              <a:ext cx="88847" cy="236332"/>
            </a:xfrm>
            <a:prstGeom prst="rect">
              <a:avLst/>
            </a:prstGeom>
          </p:spPr>
        </p:pic>
        <p:sp>
          <p:nvSpPr>
            <p:cNvPr id="190" name="object 190"/>
            <p:cNvSpPr/>
            <p:nvPr/>
          </p:nvSpPr>
          <p:spPr>
            <a:xfrm>
              <a:off x="8824722" y="4877561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1" name="object 19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01781" y="4864604"/>
              <a:ext cx="88847" cy="236332"/>
            </a:xfrm>
            <a:prstGeom prst="rect">
              <a:avLst/>
            </a:prstGeom>
          </p:spPr>
        </p:pic>
        <p:sp>
          <p:nvSpPr>
            <p:cNvPr id="192" name="object 192"/>
            <p:cNvSpPr/>
            <p:nvPr/>
          </p:nvSpPr>
          <p:spPr>
            <a:xfrm>
              <a:off x="8748522" y="4877561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3" name="object 19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99088" y="4864604"/>
              <a:ext cx="88847" cy="236332"/>
            </a:xfrm>
            <a:prstGeom prst="rect">
              <a:avLst/>
            </a:prstGeom>
          </p:spPr>
        </p:pic>
        <p:sp>
          <p:nvSpPr>
            <p:cNvPr id="194" name="object 194"/>
            <p:cNvSpPr/>
            <p:nvPr/>
          </p:nvSpPr>
          <p:spPr>
            <a:xfrm>
              <a:off x="8545830" y="4877561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5" name="object 19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64620" y="4863080"/>
              <a:ext cx="88847" cy="236332"/>
            </a:xfrm>
            <a:prstGeom prst="rect">
              <a:avLst/>
            </a:prstGeom>
          </p:spPr>
        </p:pic>
        <p:sp>
          <p:nvSpPr>
            <p:cNvPr id="196" name="object 196"/>
            <p:cNvSpPr/>
            <p:nvPr/>
          </p:nvSpPr>
          <p:spPr>
            <a:xfrm>
              <a:off x="8611361" y="4876037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7" name="object 19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032747" y="4850942"/>
              <a:ext cx="502958" cy="263601"/>
            </a:xfrm>
            <a:prstGeom prst="rect">
              <a:avLst/>
            </a:prstGeom>
          </p:spPr>
        </p:pic>
        <p:sp>
          <p:nvSpPr>
            <p:cNvPr id="198" name="object 198"/>
            <p:cNvSpPr/>
            <p:nvPr/>
          </p:nvSpPr>
          <p:spPr>
            <a:xfrm>
              <a:off x="9079992" y="4875275"/>
              <a:ext cx="413384" cy="173990"/>
            </a:xfrm>
            <a:custGeom>
              <a:avLst/>
              <a:gdLst/>
              <a:ahLst/>
              <a:cxnLst/>
              <a:rect l="l" t="t" r="r" b="b"/>
              <a:pathLst>
                <a:path w="413384" h="173989">
                  <a:moveTo>
                    <a:pt x="413003" y="0"/>
                  </a:moveTo>
                  <a:lnTo>
                    <a:pt x="0" y="0"/>
                  </a:lnTo>
                  <a:lnTo>
                    <a:pt x="0" y="173736"/>
                  </a:lnTo>
                  <a:lnTo>
                    <a:pt x="413003" y="173736"/>
                  </a:lnTo>
                  <a:lnTo>
                    <a:pt x="413003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/>
            <p:cNvSpPr/>
            <p:nvPr/>
          </p:nvSpPr>
          <p:spPr>
            <a:xfrm>
              <a:off x="9079992" y="4875275"/>
              <a:ext cx="413384" cy="173990"/>
            </a:xfrm>
            <a:custGeom>
              <a:avLst/>
              <a:gdLst/>
              <a:ahLst/>
              <a:cxnLst/>
              <a:rect l="l" t="t" r="r" b="b"/>
              <a:pathLst>
                <a:path w="413384" h="173989">
                  <a:moveTo>
                    <a:pt x="0" y="173736"/>
                  </a:moveTo>
                  <a:lnTo>
                    <a:pt x="413003" y="173736"/>
                  </a:lnTo>
                  <a:lnTo>
                    <a:pt x="413003" y="0"/>
                  </a:lnTo>
                  <a:lnTo>
                    <a:pt x="0" y="0"/>
                  </a:lnTo>
                  <a:lnTo>
                    <a:pt x="0" y="17373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0" name="object 20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81484" y="4866128"/>
              <a:ext cx="88847" cy="236332"/>
            </a:xfrm>
            <a:prstGeom prst="rect">
              <a:avLst/>
            </a:prstGeom>
          </p:spPr>
        </p:pic>
        <p:sp>
          <p:nvSpPr>
            <p:cNvPr id="201" name="object 201"/>
            <p:cNvSpPr/>
            <p:nvPr/>
          </p:nvSpPr>
          <p:spPr>
            <a:xfrm>
              <a:off x="9428225" y="4879085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2" name="object 20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05284" y="4866128"/>
              <a:ext cx="88847" cy="236332"/>
            </a:xfrm>
            <a:prstGeom prst="rect">
              <a:avLst/>
            </a:prstGeom>
          </p:spPr>
        </p:pic>
        <p:sp>
          <p:nvSpPr>
            <p:cNvPr id="203" name="object 203"/>
            <p:cNvSpPr/>
            <p:nvPr/>
          </p:nvSpPr>
          <p:spPr>
            <a:xfrm>
              <a:off x="9352025" y="4879085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4" name="object 20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02593" y="4866128"/>
              <a:ext cx="88847" cy="236332"/>
            </a:xfrm>
            <a:prstGeom prst="rect">
              <a:avLst/>
            </a:prstGeom>
          </p:spPr>
        </p:pic>
        <p:sp>
          <p:nvSpPr>
            <p:cNvPr id="205" name="object 205"/>
            <p:cNvSpPr/>
            <p:nvPr/>
          </p:nvSpPr>
          <p:spPr>
            <a:xfrm>
              <a:off x="9149334" y="4879085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6" name="object 20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68124" y="4863080"/>
              <a:ext cx="88847" cy="236332"/>
            </a:xfrm>
            <a:prstGeom prst="rect">
              <a:avLst/>
            </a:prstGeom>
          </p:spPr>
        </p:pic>
        <p:sp>
          <p:nvSpPr>
            <p:cNvPr id="207" name="object 207"/>
            <p:cNvSpPr/>
            <p:nvPr/>
          </p:nvSpPr>
          <p:spPr>
            <a:xfrm>
              <a:off x="9214865" y="4876037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w="0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8" name="object 20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791956" y="4172686"/>
              <a:ext cx="819899" cy="495325"/>
            </a:xfrm>
            <a:prstGeom prst="rect">
              <a:avLst/>
            </a:prstGeom>
          </p:spPr>
        </p:pic>
        <p:sp>
          <p:nvSpPr>
            <p:cNvPr id="209" name="object 209"/>
            <p:cNvSpPr/>
            <p:nvPr/>
          </p:nvSpPr>
          <p:spPr>
            <a:xfrm>
              <a:off x="8961882" y="4195444"/>
              <a:ext cx="612140" cy="292100"/>
            </a:xfrm>
            <a:custGeom>
              <a:avLst/>
              <a:gdLst/>
              <a:ahLst/>
              <a:cxnLst/>
              <a:rect l="l" t="t" r="r" b="b"/>
              <a:pathLst>
                <a:path w="612140" h="292100">
                  <a:moveTo>
                    <a:pt x="89408" y="176275"/>
                  </a:moveTo>
                  <a:lnTo>
                    <a:pt x="0" y="286511"/>
                  </a:lnTo>
                  <a:lnTo>
                    <a:pt x="141859" y="291972"/>
                  </a:lnTo>
                  <a:lnTo>
                    <a:pt x="123262" y="250951"/>
                  </a:lnTo>
                  <a:lnTo>
                    <a:pt x="109347" y="250951"/>
                  </a:lnTo>
                  <a:lnTo>
                    <a:pt x="98806" y="227837"/>
                  </a:lnTo>
                  <a:lnTo>
                    <a:pt x="110400" y="222582"/>
                  </a:lnTo>
                  <a:lnTo>
                    <a:pt x="89408" y="176275"/>
                  </a:lnTo>
                  <a:close/>
                </a:path>
                <a:path w="612140" h="292100">
                  <a:moveTo>
                    <a:pt x="110400" y="222582"/>
                  </a:moveTo>
                  <a:lnTo>
                    <a:pt x="98806" y="227837"/>
                  </a:lnTo>
                  <a:lnTo>
                    <a:pt x="109347" y="250951"/>
                  </a:lnTo>
                  <a:lnTo>
                    <a:pt x="120890" y="245719"/>
                  </a:lnTo>
                  <a:lnTo>
                    <a:pt x="110400" y="222582"/>
                  </a:lnTo>
                  <a:close/>
                </a:path>
                <a:path w="612140" h="292100">
                  <a:moveTo>
                    <a:pt x="120890" y="245719"/>
                  </a:moveTo>
                  <a:lnTo>
                    <a:pt x="109347" y="250951"/>
                  </a:lnTo>
                  <a:lnTo>
                    <a:pt x="123262" y="250951"/>
                  </a:lnTo>
                  <a:lnTo>
                    <a:pt x="120890" y="245719"/>
                  </a:lnTo>
                  <a:close/>
                </a:path>
                <a:path w="612140" h="292100">
                  <a:moveTo>
                    <a:pt x="601472" y="0"/>
                  </a:moveTo>
                  <a:lnTo>
                    <a:pt x="110400" y="222582"/>
                  </a:lnTo>
                  <a:lnTo>
                    <a:pt x="120890" y="245719"/>
                  </a:lnTo>
                  <a:lnTo>
                    <a:pt x="612013" y="23113"/>
                  </a:lnTo>
                  <a:lnTo>
                    <a:pt x="60147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0" name="object 21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797796" y="4172661"/>
              <a:ext cx="883907" cy="420674"/>
            </a:xfrm>
            <a:prstGeom prst="rect">
              <a:avLst/>
            </a:prstGeom>
          </p:spPr>
        </p:pic>
        <p:sp>
          <p:nvSpPr>
            <p:cNvPr id="211" name="object 211"/>
            <p:cNvSpPr/>
            <p:nvPr/>
          </p:nvSpPr>
          <p:spPr>
            <a:xfrm>
              <a:off x="9840086" y="4195063"/>
              <a:ext cx="727075" cy="274955"/>
            </a:xfrm>
            <a:custGeom>
              <a:avLst/>
              <a:gdLst/>
              <a:ahLst/>
              <a:cxnLst/>
              <a:rect l="l" t="t" r="r" b="b"/>
              <a:pathLst>
                <a:path w="727075" h="274954">
                  <a:moveTo>
                    <a:pt x="666556" y="256060"/>
                  </a:moveTo>
                  <a:lnTo>
                    <a:pt x="642239" y="274447"/>
                  </a:lnTo>
                  <a:lnTo>
                    <a:pt x="726694" y="263525"/>
                  </a:lnTo>
                  <a:lnTo>
                    <a:pt x="722112" y="258825"/>
                  </a:lnTo>
                  <a:lnTo>
                    <a:pt x="674497" y="258825"/>
                  </a:lnTo>
                  <a:lnTo>
                    <a:pt x="666556" y="256060"/>
                  </a:lnTo>
                  <a:close/>
                </a:path>
                <a:path w="727075" h="274954">
                  <a:moveTo>
                    <a:pt x="678665" y="246887"/>
                  </a:moveTo>
                  <a:lnTo>
                    <a:pt x="666556" y="256060"/>
                  </a:lnTo>
                  <a:lnTo>
                    <a:pt x="674497" y="258825"/>
                  </a:lnTo>
                  <a:lnTo>
                    <a:pt x="678665" y="246887"/>
                  </a:lnTo>
                  <a:close/>
                </a:path>
                <a:path w="727075" h="274954">
                  <a:moveTo>
                    <a:pt x="667258" y="202565"/>
                  </a:moveTo>
                  <a:lnTo>
                    <a:pt x="674856" y="232029"/>
                  </a:lnTo>
                  <a:lnTo>
                    <a:pt x="682879" y="234823"/>
                  </a:lnTo>
                  <a:lnTo>
                    <a:pt x="674497" y="258825"/>
                  </a:lnTo>
                  <a:lnTo>
                    <a:pt x="722112" y="258825"/>
                  </a:lnTo>
                  <a:lnTo>
                    <a:pt x="667258" y="202565"/>
                  </a:lnTo>
                  <a:close/>
                </a:path>
                <a:path w="727075" h="274954">
                  <a:moveTo>
                    <a:pt x="8382" y="0"/>
                  </a:moveTo>
                  <a:lnTo>
                    <a:pt x="0" y="23875"/>
                  </a:lnTo>
                  <a:lnTo>
                    <a:pt x="666556" y="256060"/>
                  </a:lnTo>
                  <a:lnTo>
                    <a:pt x="678688" y="246887"/>
                  </a:lnTo>
                  <a:lnTo>
                    <a:pt x="674856" y="232029"/>
                  </a:lnTo>
                  <a:lnTo>
                    <a:pt x="8382" y="0"/>
                  </a:lnTo>
                  <a:close/>
                </a:path>
                <a:path w="727075" h="274954">
                  <a:moveTo>
                    <a:pt x="674856" y="232029"/>
                  </a:moveTo>
                  <a:lnTo>
                    <a:pt x="678688" y="246887"/>
                  </a:lnTo>
                  <a:lnTo>
                    <a:pt x="682879" y="234823"/>
                  </a:lnTo>
                  <a:lnTo>
                    <a:pt x="674856" y="232029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2" name="object 21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675875" y="4175772"/>
              <a:ext cx="373341" cy="417563"/>
            </a:xfrm>
            <a:prstGeom prst="rect">
              <a:avLst/>
            </a:prstGeom>
          </p:spPr>
        </p:pic>
        <p:sp>
          <p:nvSpPr>
            <p:cNvPr id="213" name="object 213"/>
            <p:cNvSpPr/>
            <p:nvPr/>
          </p:nvSpPr>
          <p:spPr>
            <a:xfrm>
              <a:off x="9718674" y="4199000"/>
              <a:ext cx="215265" cy="259715"/>
            </a:xfrm>
            <a:custGeom>
              <a:avLst/>
              <a:gdLst/>
              <a:ahLst/>
              <a:cxnLst/>
              <a:rect l="l" t="t" r="r" b="b"/>
              <a:pathLst>
                <a:path w="215265" h="259714">
                  <a:moveTo>
                    <a:pt x="167870" y="221778"/>
                  </a:moveTo>
                  <a:lnTo>
                    <a:pt x="137414" y="224662"/>
                  </a:lnTo>
                  <a:lnTo>
                    <a:pt x="215138" y="259587"/>
                  </a:lnTo>
                  <a:lnTo>
                    <a:pt x="208115" y="228346"/>
                  </a:lnTo>
                  <a:lnTo>
                    <a:pt x="173227" y="228346"/>
                  </a:lnTo>
                  <a:lnTo>
                    <a:pt x="167870" y="221778"/>
                  </a:lnTo>
                  <a:close/>
                </a:path>
                <a:path w="215265" h="259714">
                  <a:moveTo>
                    <a:pt x="182993" y="220344"/>
                  </a:moveTo>
                  <a:lnTo>
                    <a:pt x="167870" y="221778"/>
                  </a:lnTo>
                  <a:lnTo>
                    <a:pt x="173227" y="228346"/>
                  </a:lnTo>
                  <a:lnTo>
                    <a:pt x="182993" y="220344"/>
                  </a:lnTo>
                  <a:close/>
                </a:path>
                <a:path w="215265" h="259714">
                  <a:moveTo>
                    <a:pt x="196469" y="176530"/>
                  </a:moveTo>
                  <a:lnTo>
                    <a:pt x="187529" y="205626"/>
                  </a:lnTo>
                  <a:lnTo>
                    <a:pt x="192913" y="212217"/>
                  </a:lnTo>
                  <a:lnTo>
                    <a:pt x="173227" y="228346"/>
                  </a:lnTo>
                  <a:lnTo>
                    <a:pt x="208115" y="228346"/>
                  </a:lnTo>
                  <a:lnTo>
                    <a:pt x="196469" y="176530"/>
                  </a:lnTo>
                  <a:close/>
                </a:path>
                <a:path w="215265" h="259714">
                  <a:moveTo>
                    <a:pt x="19557" y="0"/>
                  </a:moveTo>
                  <a:lnTo>
                    <a:pt x="0" y="16001"/>
                  </a:lnTo>
                  <a:lnTo>
                    <a:pt x="167870" y="221778"/>
                  </a:lnTo>
                  <a:lnTo>
                    <a:pt x="183006" y="220344"/>
                  </a:lnTo>
                  <a:lnTo>
                    <a:pt x="187529" y="205626"/>
                  </a:lnTo>
                  <a:lnTo>
                    <a:pt x="19557" y="0"/>
                  </a:lnTo>
                  <a:close/>
                </a:path>
                <a:path w="215265" h="259714">
                  <a:moveTo>
                    <a:pt x="187529" y="205626"/>
                  </a:moveTo>
                  <a:lnTo>
                    <a:pt x="183006" y="220344"/>
                  </a:lnTo>
                  <a:lnTo>
                    <a:pt x="192913" y="212217"/>
                  </a:lnTo>
                  <a:lnTo>
                    <a:pt x="187529" y="205626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4" name="object 21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526268" y="4584230"/>
              <a:ext cx="463283" cy="419061"/>
            </a:xfrm>
            <a:prstGeom prst="rect">
              <a:avLst/>
            </a:prstGeom>
          </p:spPr>
        </p:pic>
        <p:sp>
          <p:nvSpPr>
            <p:cNvPr id="215" name="object 215"/>
            <p:cNvSpPr/>
            <p:nvPr/>
          </p:nvSpPr>
          <p:spPr>
            <a:xfrm>
              <a:off x="10569067" y="4607305"/>
              <a:ext cx="306070" cy="261620"/>
            </a:xfrm>
            <a:custGeom>
              <a:avLst/>
              <a:gdLst/>
              <a:ahLst/>
              <a:cxnLst/>
              <a:rect l="l" t="t" r="r" b="b"/>
              <a:pathLst>
                <a:path w="306070" h="261620">
                  <a:moveTo>
                    <a:pt x="252171" y="232708"/>
                  </a:moveTo>
                  <a:lnTo>
                    <a:pt x="222884" y="241173"/>
                  </a:lnTo>
                  <a:lnTo>
                    <a:pt x="305561" y="261239"/>
                  </a:lnTo>
                  <a:lnTo>
                    <a:pt x="295655" y="238125"/>
                  </a:lnTo>
                  <a:lnTo>
                    <a:pt x="258572" y="238125"/>
                  </a:lnTo>
                  <a:lnTo>
                    <a:pt x="252171" y="232708"/>
                  </a:lnTo>
                  <a:close/>
                </a:path>
                <a:path w="306070" h="261620">
                  <a:moveTo>
                    <a:pt x="266826" y="228473"/>
                  </a:moveTo>
                  <a:lnTo>
                    <a:pt x="252171" y="232708"/>
                  </a:lnTo>
                  <a:lnTo>
                    <a:pt x="258572" y="238125"/>
                  </a:lnTo>
                  <a:lnTo>
                    <a:pt x="266826" y="228473"/>
                  </a:lnTo>
                  <a:close/>
                </a:path>
                <a:path w="306070" h="261620">
                  <a:moveTo>
                    <a:pt x="272033" y="183007"/>
                  </a:moveTo>
                  <a:lnTo>
                    <a:pt x="268564" y="213305"/>
                  </a:lnTo>
                  <a:lnTo>
                    <a:pt x="275081" y="218821"/>
                  </a:lnTo>
                  <a:lnTo>
                    <a:pt x="258572" y="238125"/>
                  </a:lnTo>
                  <a:lnTo>
                    <a:pt x="295655" y="238125"/>
                  </a:lnTo>
                  <a:lnTo>
                    <a:pt x="272033" y="183007"/>
                  </a:lnTo>
                  <a:close/>
                </a:path>
                <a:path w="306070" h="261620">
                  <a:moveTo>
                    <a:pt x="16509" y="0"/>
                  </a:moveTo>
                  <a:lnTo>
                    <a:pt x="0" y="19304"/>
                  </a:lnTo>
                  <a:lnTo>
                    <a:pt x="252171" y="232708"/>
                  </a:lnTo>
                  <a:lnTo>
                    <a:pt x="266826" y="228473"/>
                  </a:lnTo>
                  <a:lnTo>
                    <a:pt x="268564" y="213305"/>
                  </a:lnTo>
                  <a:lnTo>
                    <a:pt x="16509" y="0"/>
                  </a:lnTo>
                  <a:close/>
                </a:path>
                <a:path w="306070" h="261620">
                  <a:moveTo>
                    <a:pt x="268564" y="213305"/>
                  </a:moveTo>
                  <a:lnTo>
                    <a:pt x="266826" y="228473"/>
                  </a:lnTo>
                  <a:lnTo>
                    <a:pt x="275081" y="218821"/>
                  </a:lnTo>
                  <a:lnTo>
                    <a:pt x="268564" y="213305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6" name="object 21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183368" y="4594872"/>
              <a:ext cx="234670" cy="408419"/>
            </a:xfrm>
            <a:prstGeom prst="rect">
              <a:avLst/>
            </a:prstGeom>
          </p:spPr>
        </p:pic>
        <p:pic>
          <p:nvPicPr>
            <p:cNvPr id="217" name="object 217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0264901" y="4616957"/>
              <a:ext cx="76200" cy="251587"/>
            </a:xfrm>
            <a:prstGeom prst="rect">
              <a:avLst/>
            </a:prstGeom>
          </p:spPr>
        </p:pic>
        <p:pic>
          <p:nvPicPr>
            <p:cNvPr id="218" name="object 21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099804" y="4623815"/>
              <a:ext cx="509003" cy="379475"/>
            </a:xfrm>
            <a:prstGeom prst="rect">
              <a:avLst/>
            </a:prstGeom>
          </p:spPr>
        </p:pic>
        <p:sp>
          <p:nvSpPr>
            <p:cNvPr id="219" name="object 219"/>
            <p:cNvSpPr/>
            <p:nvPr/>
          </p:nvSpPr>
          <p:spPr>
            <a:xfrm>
              <a:off x="9142602" y="4645786"/>
              <a:ext cx="351155" cy="223520"/>
            </a:xfrm>
            <a:custGeom>
              <a:avLst/>
              <a:gdLst/>
              <a:ahLst/>
              <a:cxnLst/>
              <a:rect l="l" t="t" r="r" b="b"/>
              <a:pathLst>
                <a:path w="351154" h="223520">
                  <a:moveTo>
                    <a:pt x="293937" y="203084"/>
                  </a:moveTo>
                  <a:lnTo>
                    <a:pt x="266192" y="215773"/>
                  </a:lnTo>
                  <a:lnTo>
                    <a:pt x="351027" y="223393"/>
                  </a:lnTo>
                  <a:lnTo>
                    <a:pt x="341196" y="207518"/>
                  </a:lnTo>
                  <a:lnTo>
                    <a:pt x="301117" y="207518"/>
                  </a:lnTo>
                  <a:lnTo>
                    <a:pt x="293937" y="203084"/>
                  </a:lnTo>
                  <a:close/>
                </a:path>
                <a:path w="351154" h="223520">
                  <a:moveTo>
                    <a:pt x="307759" y="196763"/>
                  </a:moveTo>
                  <a:lnTo>
                    <a:pt x="293937" y="203084"/>
                  </a:lnTo>
                  <a:lnTo>
                    <a:pt x="301117" y="207518"/>
                  </a:lnTo>
                  <a:lnTo>
                    <a:pt x="307759" y="196763"/>
                  </a:lnTo>
                  <a:close/>
                </a:path>
                <a:path w="351154" h="223520">
                  <a:moveTo>
                    <a:pt x="306197" y="151002"/>
                  </a:moveTo>
                  <a:lnTo>
                    <a:pt x="307298" y="181509"/>
                  </a:lnTo>
                  <a:lnTo>
                    <a:pt x="314451" y="185927"/>
                  </a:lnTo>
                  <a:lnTo>
                    <a:pt x="301117" y="207518"/>
                  </a:lnTo>
                  <a:lnTo>
                    <a:pt x="341196" y="207518"/>
                  </a:lnTo>
                  <a:lnTo>
                    <a:pt x="306197" y="151002"/>
                  </a:lnTo>
                  <a:close/>
                </a:path>
                <a:path w="351154" h="223520">
                  <a:moveTo>
                    <a:pt x="13462" y="0"/>
                  </a:moveTo>
                  <a:lnTo>
                    <a:pt x="0" y="21589"/>
                  </a:lnTo>
                  <a:lnTo>
                    <a:pt x="293937" y="203084"/>
                  </a:lnTo>
                  <a:lnTo>
                    <a:pt x="307759" y="196763"/>
                  </a:lnTo>
                  <a:lnTo>
                    <a:pt x="307458" y="185927"/>
                  </a:lnTo>
                  <a:lnTo>
                    <a:pt x="307298" y="181509"/>
                  </a:lnTo>
                  <a:lnTo>
                    <a:pt x="13462" y="0"/>
                  </a:lnTo>
                  <a:close/>
                </a:path>
                <a:path w="351154" h="223520">
                  <a:moveTo>
                    <a:pt x="307298" y="181509"/>
                  </a:moveTo>
                  <a:lnTo>
                    <a:pt x="307849" y="196763"/>
                  </a:lnTo>
                  <a:lnTo>
                    <a:pt x="314451" y="185927"/>
                  </a:lnTo>
                  <a:lnTo>
                    <a:pt x="307298" y="181509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0" name="object 22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770620" y="4628337"/>
              <a:ext cx="242316" cy="374954"/>
            </a:xfrm>
            <a:prstGeom prst="rect">
              <a:avLst/>
            </a:prstGeom>
          </p:spPr>
        </p:pic>
        <p:pic>
          <p:nvPicPr>
            <p:cNvPr id="221" name="object 22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8878570" y="4650993"/>
              <a:ext cx="95757" cy="216916"/>
            </a:xfrm>
            <a:prstGeom prst="rect">
              <a:avLst/>
            </a:prstGeom>
          </p:spPr>
        </p:pic>
        <p:pic>
          <p:nvPicPr>
            <p:cNvPr id="222" name="object 22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316468" y="3974591"/>
              <a:ext cx="2763012" cy="1185672"/>
            </a:xfrm>
            <a:prstGeom prst="rect">
              <a:avLst/>
            </a:prstGeom>
          </p:spPr>
        </p:pic>
        <p:sp>
          <p:nvSpPr>
            <p:cNvPr id="223" name="object 223"/>
            <p:cNvSpPr/>
            <p:nvPr/>
          </p:nvSpPr>
          <p:spPr>
            <a:xfrm>
              <a:off x="8363711" y="3998975"/>
              <a:ext cx="2673350" cy="1096010"/>
            </a:xfrm>
            <a:custGeom>
              <a:avLst/>
              <a:gdLst/>
              <a:ahLst/>
              <a:cxnLst/>
              <a:rect l="l" t="t" r="r" b="b"/>
              <a:pathLst>
                <a:path w="2673350" h="1096010">
                  <a:moveTo>
                    <a:pt x="2399157" y="0"/>
                  </a:moveTo>
                  <a:lnTo>
                    <a:pt x="273939" y="0"/>
                  </a:lnTo>
                  <a:lnTo>
                    <a:pt x="0" y="1095756"/>
                  </a:lnTo>
                  <a:lnTo>
                    <a:pt x="2673096" y="1095756"/>
                  </a:lnTo>
                  <a:lnTo>
                    <a:pt x="2399157" y="0"/>
                  </a:lnTo>
                  <a:close/>
                </a:path>
              </a:pathLst>
            </a:custGeom>
            <a:solidFill>
              <a:srgbClr val="A4A4A4">
                <a:alpha val="16862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/>
            <p:cNvSpPr/>
            <p:nvPr/>
          </p:nvSpPr>
          <p:spPr>
            <a:xfrm>
              <a:off x="8363711" y="3998975"/>
              <a:ext cx="2673350" cy="1096010"/>
            </a:xfrm>
            <a:custGeom>
              <a:avLst/>
              <a:gdLst/>
              <a:ahLst/>
              <a:cxnLst/>
              <a:rect l="l" t="t" r="r" b="b"/>
              <a:pathLst>
                <a:path w="2673350" h="1096010">
                  <a:moveTo>
                    <a:pt x="0" y="1095756"/>
                  </a:moveTo>
                  <a:lnTo>
                    <a:pt x="273939" y="0"/>
                  </a:lnTo>
                  <a:lnTo>
                    <a:pt x="2399157" y="0"/>
                  </a:lnTo>
                  <a:lnTo>
                    <a:pt x="2673096" y="1095756"/>
                  </a:lnTo>
                  <a:lnTo>
                    <a:pt x="0" y="1095756"/>
                  </a:lnTo>
                  <a:close/>
                </a:path>
              </a:pathLst>
            </a:custGeom>
            <a:ln w="9525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5" name="object 22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961120" y="3284194"/>
              <a:ext cx="1018044" cy="978433"/>
            </a:xfrm>
            <a:prstGeom prst="rect">
              <a:avLst/>
            </a:prstGeom>
          </p:spPr>
        </p:pic>
        <p:sp>
          <p:nvSpPr>
            <p:cNvPr id="226" name="object 226"/>
            <p:cNvSpPr/>
            <p:nvPr/>
          </p:nvSpPr>
          <p:spPr>
            <a:xfrm>
              <a:off x="9003664" y="3305301"/>
              <a:ext cx="774065" cy="659765"/>
            </a:xfrm>
            <a:custGeom>
              <a:avLst/>
              <a:gdLst/>
              <a:ahLst/>
              <a:cxnLst/>
              <a:rect l="l" t="t" r="r" b="b"/>
              <a:pathLst>
                <a:path w="774065" h="659764">
                  <a:moveTo>
                    <a:pt x="539114" y="446024"/>
                  </a:moveTo>
                  <a:lnTo>
                    <a:pt x="698373" y="659384"/>
                  </a:lnTo>
                  <a:lnTo>
                    <a:pt x="737441" y="526669"/>
                  </a:lnTo>
                  <a:lnTo>
                    <a:pt x="650620" y="526669"/>
                  </a:lnTo>
                  <a:lnTo>
                    <a:pt x="647318" y="517144"/>
                  </a:lnTo>
                  <a:lnTo>
                    <a:pt x="640795" y="501249"/>
                  </a:lnTo>
                  <a:lnTo>
                    <a:pt x="539114" y="446024"/>
                  </a:lnTo>
                  <a:close/>
                </a:path>
                <a:path w="774065" h="659764">
                  <a:moveTo>
                    <a:pt x="640795" y="501249"/>
                  </a:moveTo>
                  <a:lnTo>
                    <a:pt x="647318" y="517144"/>
                  </a:lnTo>
                  <a:lnTo>
                    <a:pt x="650620" y="526669"/>
                  </a:lnTo>
                  <a:lnTo>
                    <a:pt x="672920" y="518795"/>
                  </a:lnTo>
                  <a:lnTo>
                    <a:pt x="673100" y="518795"/>
                  </a:lnTo>
                  <a:lnTo>
                    <a:pt x="640795" y="501249"/>
                  </a:lnTo>
                  <a:close/>
                </a:path>
                <a:path w="774065" h="659764">
                  <a:moveTo>
                    <a:pt x="773556" y="403987"/>
                  </a:moveTo>
                  <a:lnTo>
                    <a:pt x="691047" y="498283"/>
                  </a:lnTo>
                  <a:lnTo>
                    <a:pt x="691387" y="499110"/>
                  </a:lnTo>
                  <a:lnTo>
                    <a:pt x="695578" y="510794"/>
                  </a:lnTo>
                  <a:lnTo>
                    <a:pt x="650620" y="526669"/>
                  </a:lnTo>
                  <a:lnTo>
                    <a:pt x="737441" y="526669"/>
                  </a:lnTo>
                  <a:lnTo>
                    <a:pt x="773556" y="403987"/>
                  </a:lnTo>
                  <a:close/>
                </a:path>
                <a:path w="774065" h="659764">
                  <a:moveTo>
                    <a:pt x="47498" y="0"/>
                  </a:moveTo>
                  <a:lnTo>
                    <a:pt x="0" y="2032"/>
                  </a:lnTo>
                  <a:lnTo>
                    <a:pt x="314" y="11557"/>
                  </a:lnTo>
                  <a:lnTo>
                    <a:pt x="380" y="13588"/>
                  </a:lnTo>
                  <a:lnTo>
                    <a:pt x="8508" y="53721"/>
                  </a:lnTo>
                  <a:lnTo>
                    <a:pt x="25145" y="91694"/>
                  </a:lnTo>
                  <a:lnTo>
                    <a:pt x="49021" y="127253"/>
                  </a:lnTo>
                  <a:lnTo>
                    <a:pt x="79248" y="159893"/>
                  </a:lnTo>
                  <a:lnTo>
                    <a:pt x="114426" y="189102"/>
                  </a:lnTo>
                  <a:lnTo>
                    <a:pt x="168528" y="222758"/>
                  </a:lnTo>
                  <a:lnTo>
                    <a:pt x="228600" y="248538"/>
                  </a:lnTo>
                  <a:lnTo>
                    <a:pt x="277113" y="262127"/>
                  </a:lnTo>
                  <a:lnTo>
                    <a:pt x="326898" y="269748"/>
                  </a:lnTo>
                  <a:lnTo>
                    <a:pt x="366013" y="271399"/>
                  </a:lnTo>
                  <a:lnTo>
                    <a:pt x="363524" y="271399"/>
                  </a:lnTo>
                  <a:lnTo>
                    <a:pt x="404113" y="276225"/>
                  </a:lnTo>
                  <a:lnTo>
                    <a:pt x="445896" y="290068"/>
                  </a:lnTo>
                  <a:lnTo>
                    <a:pt x="487425" y="312293"/>
                  </a:lnTo>
                  <a:lnTo>
                    <a:pt x="526795" y="341884"/>
                  </a:lnTo>
                  <a:lnTo>
                    <a:pt x="563371" y="378206"/>
                  </a:lnTo>
                  <a:lnTo>
                    <a:pt x="596391" y="420243"/>
                  </a:lnTo>
                  <a:lnTo>
                    <a:pt x="624585" y="466979"/>
                  </a:lnTo>
                  <a:lnTo>
                    <a:pt x="640795" y="501249"/>
                  </a:lnTo>
                  <a:lnTo>
                    <a:pt x="673100" y="518795"/>
                  </a:lnTo>
                  <a:lnTo>
                    <a:pt x="691047" y="498283"/>
                  </a:lnTo>
                  <a:lnTo>
                    <a:pt x="683640" y="480314"/>
                  </a:lnTo>
                  <a:lnTo>
                    <a:pt x="675258" y="461899"/>
                  </a:lnTo>
                  <a:lnTo>
                    <a:pt x="656335" y="426212"/>
                  </a:lnTo>
                  <a:lnTo>
                    <a:pt x="634873" y="392303"/>
                  </a:lnTo>
                  <a:lnTo>
                    <a:pt x="611124" y="360806"/>
                  </a:lnTo>
                  <a:lnTo>
                    <a:pt x="584961" y="331470"/>
                  </a:lnTo>
                  <a:lnTo>
                    <a:pt x="557021" y="305181"/>
                  </a:lnTo>
                  <a:lnTo>
                    <a:pt x="511809" y="271399"/>
                  </a:lnTo>
                  <a:lnTo>
                    <a:pt x="463550" y="245745"/>
                  </a:lnTo>
                  <a:lnTo>
                    <a:pt x="412623" y="229362"/>
                  </a:lnTo>
                  <a:lnTo>
                    <a:pt x="346836" y="223393"/>
                  </a:lnTo>
                  <a:lnTo>
                    <a:pt x="332104" y="222376"/>
                  </a:lnTo>
                  <a:lnTo>
                    <a:pt x="288162" y="215773"/>
                  </a:lnTo>
                  <a:lnTo>
                    <a:pt x="245744" y="204215"/>
                  </a:lnTo>
                  <a:lnTo>
                    <a:pt x="192024" y="181228"/>
                  </a:lnTo>
                  <a:lnTo>
                    <a:pt x="144017" y="151764"/>
                  </a:lnTo>
                  <a:lnTo>
                    <a:pt x="112649" y="125984"/>
                  </a:lnTo>
                  <a:lnTo>
                    <a:pt x="79755" y="88900"/>
                  </a:lnTo>
                  <a:lnTo>
                    <a:pt x="57911" y="50292"/>
                  </a:lnTo>
                  <a:lnTo>
                    <a:pt x="48005" y="11557"/>
                  </a:lnTo>
                  <a:lnTo>
                    <a:pt x="47587" y="2032"/>
                  </a:lnTo>
                  <a:lnTo>
                    <a:pt x="47498" y="0"/>
                  </a:lnTo>
                  <a:close/>
                </a:path>
                <a:path w="774065" h="659764">
                  <a:moveTo>
                    <a:pt x="691047" y="498283"/>
                  </a:moveTo>
                  <a:lnTo>
                    <a:pt x="673100" y="518795"/>
                  </a:lnTo>
                  <a:lnTo>
                    <a:pt x="672920" y="518795"/>
                  </a:lnTo>
                  <a:lnTo>
                    <a:pt x="695578" y="510794"/>
                  </a:lnTo>
                  <a:lnTo>
                    <a:pt x="691387" y="499110"/>
                  </a:lnTo>
                  <a:lnTo>
                    <a:pt x="691047" y="498283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227" name="object 227"/>
          <p:cNvGraphicFramePr>
            <a:graphicFrameLocks noGrp="1"/>
          </p:cNvGraphicFramePr>
          <p:nvPr/>
        </p:nvGraphicFramePr>
        <p:xfrm>
          <a:off x="1703070" y="2250185"/>
          <a:ext cx="4064635" cy="4845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4635"/>
                <a:gridCol w="300355"/>
                <a:gridCol w="299084"/>
                <a:gridCol w="2195195"/>
                <a:gridCol w="299084"/>
                <a:gridCol w="299085"/>
                <a:gridCol w="343535"/>
              </a:tblGrid>
              <a:tr h="4845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</a:tcPr>
                </a:tc>
              </a:tr>
            </a:tbl>
          </a:graphicData>
        </a:graphic>
      </p:graphicFrame>
      <p:graphicFrame>
        <p:nvGraphicFramePr>
          <p:cNvPr id="228" name="object 228"/>
          <p:cNvGraphicFramePr>
            <a:graphicFrameLocks noGrp="1"/>
          </p:cNvGraphicFramePr>
          <p:nvPr/>
        </p:nvGraphicFramePr>
        <p:xfrm>
          <a:off x="6445758" y="2250185"/>
          <a:ext cx="4066540" cy="4845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7890"/>
                <a:gridCol w="300354"/>
                <a:gridCol w="299084"/>
                <a:gridCol w="996949"/>
                <a:gridCol w="399414"/>
                <a:gridCol w="300355"/>
                <a:gridCol w="299084"/>
                <a:gridCol w="498475"/>
              </a:tblGrid>
              <a:tr h="4845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</a:tcPr>
                </a:tc>
              </a:tr>
            </a:tbl>
          </a:graphicData>
        </a:graphic>
      </p:graphicFrame>
      <p:sp>
        <p:nvSpPr>
          <p:cNvPr id="233" name="object 233"/>
          <p:cNvSpPr txBox="1"/>
          <p:nvPr/>
        </p:nvSpPr>
        <p:spPr>
          <a:xfrm>
            <a:off x="676148" y="3040456"/>
            <a:ext cx="124015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Arial"/>
                <a:cs typeface="Arial"/>
              </a:rPr>
              <a:t>Page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table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4" name="object 234"/>
          <p:cNvSpPr txBox="1"/>
          <p:nvPr/>
        </p:nvSpPr>
        <p:spPr>
          <a:xfrm>
            <a:off x="9608057" y="3114497"/>
            <a:ext cx="124015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Arial"/>
                <a:cs typeface="Arial"/>
              </a:rPr>
              <a:t>Page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table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5" name="object 235"/>
          <p:cNvSpPr txBox="1"/>
          <p:nvPr/>
        </p:nvSpPr>
        <p:spPr>
          <a:xfrm>
            <a:off x="200355" y="5224398"/>
            <a:ext cx="22828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Managed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by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OS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229" name="object 229"/>
          <p:cNvGraphicFramePr>
            <a:graphicFrameLocks noGrp="1"/>
          </p:cNvGraphicFramePr>
          <p:nvPr/>
        </p:nvGraphicFramePr>
        <p:xfrm>
          <a:off x="3454146" y="5255514"/>
          <a:ext cx="4564380" cy="4845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8450"/>
                <a:gridCol w="299720"/>
                <a:gridCol w="298449"/>
                <a:gridCol w="298450"/>
                <a:gridCol w="299719"/>
                <a:gridCol w="298450"/>
                <a:gridCol w="298450"/>
                <a:gridCol w="499744"/>
                <a:gridCol w="397510"/>
                <a:gridCol w="398780"/>
                <a:gridCol w="398779"/>
                <a:gridCol w="298450"/>
                <a:gridCol w="398779"/>
              </a:tblGrid>
              <a:tr h="4845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</a:tcPr>
                </a:tc>
              </a:tr>
            </a:tbl>
          </a:graphicData>
        </a:graphic>
      </p:graphicFrame>
      <p:sp>
        <p:nvSpPr>
          <p:cNvPr id="232" name="object 232"/>
          <p:cNvSpPr txBox="1"/>
          <p:nvPr/>
        </p:nvSpPr>
        <p:spPr>
          <a:xfrm>
            <a:off x="4297171" y="6056172"/>
            <a:ext cx="21145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Arial"/>
                <a:cs typeface="Arial"/>
              </a:rPr>
              <a:t>Physical</a:t>
            </a:r>
            <a:r>
              <a:rPr dirty="0" sz="2000" spc="-4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memory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4383" y="219431"/>
            <a:ext cx="8795385" cy="820419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CLOUD</a:t>
            </a:r>
            <a:r>
              <a:rPr dirty="0" sz="2400" spc="-3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395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28575">
              <a:lnSpc>
                <a:spcPct val="100000"/>
              </a:lnSpc>
              <a:spcBef>
                <a:spcPts val="350"/>
              </a:spcBef>
            </a:pPr>
            <a:r>
              <a:rPr dirty="0" sz="2200" b="1">
                <a:solidFill>
                  <a:srgbClr val="C55A11"/>
                </a:solidFill>
                <a:latin typeface="Arial"/>
                <a:cs typeface="Arial"/>
              </a:rPr>
              <a:t>Recap</a:t>
            </a:r>
            <a:r>
              <a:rPr dirty="0" sz="2200" spc="-7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C55A11"/>
                </a:solidFill>
                <a:latin typeface="Arial"/>
                <a:cs typeface="Arial"/>
              </a:rPr>
              <a:t>of</a:t>
            </a:r>
            <a:r>
              <a:rPr dirty="0" sz="2200" spc="-7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C55A11"/>
                </a:solidFill>
                <a:latin typeface="Arial"/>
                <a:cs typeface="Arial"/>
              </a:rPr>
              <a:t>Performing</a:t>
            </a:r>
            <a:r>
              <a:rPr dirty="0" sz="2200" spc="-8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C55A11"/>
                </a:solidFill>
                <a:latin typeface="Arial"/>
                <a:cs typeface="Arial"/>
              </a:rPr>
              <a:t>address</a:t>
            </a:r>
            <a:r>
              <a:rPr dirty="0" sz="2200" spc="-7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C55A11"/>
                </a:solidFill>
                <a:latin typeface="Arial"/>
                <a:cs typeface="Arial"/>
              </a:rPr>
              <a:t>translation</a:t>
            </a:r>
            <a:r>
              <a:rPr dirty="0" sz="2200" spc="-5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C55A11"/>
                </a:solidFill>
                <a:latin typeface="Arial"/>
                <a:cs typeface="Arial"/>
              </a:rPr>
              <a:t>in</a:t>
            </a:r>
            <a:r>
              <a:rPr dirty="0" sz="2200" spc="-7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C55A11"/>
                </a:solidFill>
                <a:latin typeface="Arial"/>
                <a:cs typeface="Arial"/>
              </a:rPr>
              <a:t>unvirtualized</a:t>
            </a:r>
            <a:r>
              <a:rPr dirty="0" sz="2200" spc="-6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C55A11"/>
                </a:solidFill>
                <a:latin typeface="Arial"/>
                <a:cs typeface="Arial"/>
              </a:rPr>
              <a:t>machine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32343" y="0"/>
            <a:ext cx="754907" cy="1390513"/>
          </a:xfrm>
          <a:prstGeom prst="rect">
            <a:avLst/>
          </a:prstGeom>
        </p:spPr>
      </p:pic>
      <p:sp>
        <p:nvSpPr>
          <p:cNvPr id="70" name="object 70"/>
          <p:cNvSpPr txBox="1"/>
          <p:nvPr/>
        </p:nvSpPr>
        <p:spPr>
          <a:xfrm>
            <a:off x="2174494" y="1697863"/>
            <a:ext cx="190373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C00000"/>
                </a:solidFill>
                <a:latin typeface="Arial"/>
                <a:cs typeface="Arial"/>
              </a:rPr>
              <a:t>Virtual</a:t>
            </a:r>
            <a:r>
              <a:rPr dirty="0" sz="2000" spc="-4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Arial"/>
                <a:cs typeface="Arial"/>
              </a:rPr>
              <a:t>Address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140961" y="1435861"/>
            <a:ext cx="1068070" cy="863600"/>
            <a:chOff x="4140961" y="1435861"/>
            <a:chExt cx="1068070" cy="863600"/>
          </a:xfrm>
        </p:grpSpPr>
        <p:sp>
          <p:nvSpPr>
            <p:cNvPr id="6" name="object 6"/>
            <p:cNvSpPr/>
            <p:nvPr/>
          </p:nvSpPr>
          <p:spPr>
            <a:xfrm>
              <a:off x="4153661" y="1448561"/>
              <a:ext cx="1042669" cy="838200"/>
            </a:xfrm>
            <a:custGeom>
              <a:avLst/>
              <a:gdLst/>
              <a:ahLst/>
              <a:cxnLst/>
              <a:rect l="l" t="t" r="r" b="b"/>
              <a:pathLst>
                <a:path w="1042670" h="838200">
                  <a:moveTo>
                    <a:pt x="521208" y="0"/>
                  </a:moveTo>
                  <a:lnTo>
                    <a:pt x="467908" y="2163"/>
                  </a:lnTo>
                  <a:lnTo>
                    <a:pt x="416150" y="8512"/>
                  </a:lnTo>
                  <a:lnTo>
                    <a:pt x="366196" y="18836"/>
                  </a:lnTo>
                  <a:lnTo>
                    <a:pt x="318307" y="32926"/>
                  </a:lnTo>
                  <a:lnTo>
                    <a:pt x="272745" y="50571"/>
                  </a:lnTo>
                  <a:lnTo>
                    <a:pt x="229772" y="71560"/>
                  </a:lnTo>
                  <a:lnTo>
                    <a:pt x="189648" y="95683"/>
                  </a:lnTo>
                  <a:lnTo>
                    <a:pt x="152638" y="122729"/>
                  </a:lnTo>
                  <a:lnTo>
                    <a:pt x="119001" y="152489"/>
                  </a:lnTo>
                  <a:lnTo>
                    <a:pt x="88999" y="184751"/>
                  </a:lnTo>
                  <a:lnTo>
                    <a:pt x="62896" y="219306"/>
                  </a:lnTo>
                  <a:lnTo>
                    <a:pt x="40951" y="255942"/>
                  </a:lnTo>
                  <a:lnTo>
                    <a:pt x="23427" y="294450"/>
                  </a:lnTo>
                  <a:lnTo>
                    <a:pt x="10586" y="334619"/>
                  </a:lnTo>
                  <a:lnTo>
                    <a:pt x="2690" y="376239"/>
                  </a:lnTo>
                  <a:lnTo>
                    <a:pt x="0" y="419100"/>
                  </a:lnTo>
                  <a:lnTo>
                    <a:pt x="2690" y="461960"/>
                  </a:lnTo>
                  <a:lnTo>
                    <a:pt x="10586" y="503580"/>
                  </a:lnTo>
                  <a:lnTo>
                    <a:pt x="23427" y="543749"/>
                  </a:lnTo>
                  <a:lnTo>
                    <a:pt x="40951" y="582257"/>
                  </a:lnTo>
                  <a:lnTo>
                    <a:pt x="62896" y="618893"/>
                  </a:lnTo>
                  <a:lnTo>
                    <a:pt x="88999" y="653448"/>
                  </a:lnTo>
                  <a:lnTo>
                    <a:pt x="119001" y="685710"/>
                  </a:lnTo>
                  <a:lnTo>
                    <a:pt x="152638" y="715470"/>
                  </a:lnTo>
                  <a:lnTo>
                    <a:pt x="189648" y="742516"/>
                  </a:lnTo>
                  <a:lnTo>
                    <a:pt x="229772" y="766639"/>
                  </a:lnTo>
                  <a:lnTo>
                    <a:pt x="272745" y="787628"/>
                  </a:lnTo>
                  <a:lnTo>
                    <a:pt x="318307" y="805273"/>
                  </a:lnTo>
                  <a:lnTo>
                    <a:pt x="366196" y="819363"/>
                  </a:lnTo>
                  <a:lnTo>
                    <a:pt x="416150" y="829687"/>
                  </a:lnTo>
                  <a:lnTo>
                    <a:pt x="467908" y="836036"/>
                  </a:lnTo>
                  <a:lnTo>
                    <a:pt x="521208" y="838200"/>
                  </a:lnTo>
                  <a:lnTo>
                    <a:pt x="574507" y="836036"/>
                  </a:lnTo>
                  <a:lnTo>
                    <a:pt x="626265" y="829687"/>
                  </a:lnTo>
                  <a:lnTo>
                    <a:pt x="676219" y="819363"/>
                  </a:lnTo>
                  <a:lnTo>
                    <a:pt x="724108" y="805273"/>
                  </a:lnTo>
                  <a:lnTo>
                    <a:pt x="769670" y="787628"/>
                  </a:lnTo>
                  <a:lnTo>
                    <a:pt x="812643" y="766639"/>
                  </a:lnTo>
                  <a:lnTo>
                    <a:pt x="852767" y="742516"/>
                  </a:lnTo>
                  <a:lnTo>
                    <a:pt x="889777" y="715470"/>
                  </a:lnTo>
                  <a:lnTo>
                    <a:pt x="923414" y="685710"/>
                  </a:lnTo>
                  <a:lnTo>
                    <a:pt x="953416" y="653448"/>
                  </a:lnTo>
                  <a:lnTo>
                    <a:pt x="979519" y="618893"/>
                  </a:lnTo>
                  <a:lnTo>
                    <a:pt x="1001464" y="582257"/>
                  </a:lnTo>
                  <a:lnTo>
                    <a:pt x="1018988" y="543749"/>
                  </a:lnTo>
                  <a:lnTo>
                    <a:pt x="1031829" y="503580"/>
                  </a:lnTo>
                  <a:lnTo>
                    <a:pt x="1039725" y="461960"/>
                  </a:lnTo>
                  <a:lnTo>
                    <a:pt x="1042415" y="419100"/>
                  </a:lnTo>
                  <a:lnTo>
                    <a:pt x="1039725" y="376239"/>
                  </a:lnTo>
                  <a:lnTo>
                    <a:pt x="1031829" y="334619"/>
                  </a:lnTo>
                  <a:lnTo>
                    <a:pt x="1018988" y="294450"/>
                  </a:lnTo>
                  <a:lnTo>
                    <a:pt x="1001464" y="255942"/>
                  </a:lnTo>
                  <a:lnTo>
                    <a:pt x="979519" y="219306"/>
                  </a:lnTo>
                  <a:lnTo>
                    <a:pt x="953416" y="184751"/>
                  </a:lnTo>
                  <a:lnTo>
                    <a:pt x="923414" y="152489"/>
                  </a:lnTo>
                  <a:lnTo>
                    <a:pt x="889777" y="122729"/>
                  </a:lnTo>
                  <a:lnTo>
                    <a:pt x="852767" y="95683"/>
                  </a:lnTo>
                  <a:lnTo>
                    <a:pt x="812643" y="71560"/>
                  </a:lnTo>
                  <a:lnTo>
                    <a:pt x="769670" y="50571"/>
                  </a:lnTo>
                  <a:lnTo>
                    <a:pt x="724108" y="32926"/>
                  </a:lnTo>
                  <a:lnTo>
                    <a:pt x="676219" y="18836"/>
                  </a:lnTo>
                  <a:lnTo>
                    <a:pt x="626265" y="8512"/>
                  </a:lnTo>
                  <a:lnTo>
                    <a:pt x="574507" y="2163"/>
                  </a:lnTo>
                  <a:lnTo>
                    <a:pt x="521208" y="0"/>
                  </a:lnTo>
                  <a:close/>
                </a:path>
              </a:pathLst>
            </a:custGeom>
            <a:solidFill>
              <a:srgbClr val="0C0C0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153661" y="1448561"/>
              <a:ext cx="1042669" cy="838200"/>
            </a:xfrm>
            <a:custGeom>
              <a:avLst/>
              <a:gdLst/>
              <a:ahLst/>
              <a:cxnLst/>
              <a:rect l="l" t="t" r="r" b="b"/>
              <a:pathLst>
                <a:path w="1042670" h="838200">
                  <a:moveTo>
                    <a:pt x="0" y="419100"/>
                  </a:moveTo>
                  <a:lnTo>
                    <a:pt x="2690" y="376239"/>
                  </a:lnTo>
                  <a:lnTo>
                    <a:pt x="10586" y="334619"/>
                  </a:lnTo>
                  <a:lnTo>
                    <a:pt x="23427" y="294450"/>
                  </a:lnTo>
                  <a:lnTo>
                    <a:pt x="40951" y="255942"/>
                  </a:lnTo>
                  <a:lnTo>
                    <a:pt x="62896" y="219306"/>
                  </a:lnTo>
                  <a:lnTo>
                    <a:pt x="88999" y="184751"/>
                  </a:lnTo>
                  <a:lnTo>
                    <a:pt x="119001" y="152489"/>
                  </a:lnTo>
                  <a:lnTo>
                    <a:pt x="152638" y="122729"/>
                  </a:lnTo>
                  <a:lnTo>
                    <a:pt x="189648" y="95683"/>
                  </a:lnTo>
                  <a:lnTo>
                    <a:pt x="229772" y="71560"/>
                  </a:lnTo>
                  <a:lnTo>
                    <a:pt x="272745" y="50571"/>
                  </a:lnTo>
                  <a:lnTo>
                    <a:pt x="318307" y="32926"/>
                  </a:lnTo>
                  <a:lnTo>
                    <a:pt x="366196" y="18836"/>
                  </a:lnTo>
                  <a:lnTo>
                    <a:pt x="416150" y="8512"/>
                  </a:lnTo>
                  <a:lnTo>
                    <a:pt x="467908" y="2163"/>
                  </a:lnTo>
                  <a:lnTo>
                    <a:pt x="521208" y="0"/>
                  </a:lnTo>
                  <a:lnTo>
                    <a:pt x="574507" y="2163"/>
                  </a:lnTo>
                  <a:lnTo>
                    <a:pt x="626265" y="8512"/>
                  </a:lnTo>
                  <a:lnTo>
                    <a:pt x="676219" y="18836"/>
                  </a:lnTo>
                  <a:lnTo>
                    <a:pt x="724108" y="32926"/>
                  </a:lnTo>
                  <a:lnTo>
                    <a:pt x="769670" y="50571"/>
                  </a:lnTo>
                  <a:lnTo>
                    <a:pt x="812643" y="71560"/>
                  </a:lnTo>
                  <a:lnTo>
                    <a:pt x="852767" y="95683"/>
                  </a:lnTo>
                  <a:lnTo>
                    <a:pt x="889777" y="122729"/>
                  </a:lnTo>
                  <a:lnTo>
                    <a:pt x="923414" y="152489"/>
                  </a:lnTo>
                  <a:lnTo>
                    <a:pt x="953416" y="184751"/>
                  </a:lnTo>
                  <a:lnTo>
                    <a:pt x="979519" y="219306"/>
                  </a:lnTo>
                  <a:lnTo>
                    <a:pt x="1001464" y="255942"/>
                  </a:lnTo>
                  <a:lnTo>
                    <a:pt x="1018988" y="294450"/>
                  </a:lnTo>
                  <a:lnTo>
                    <a:pt x="1031829" y="334619"/>
                  </a:lnTo>
                  <a:lnTo>
                    <a:pt x="1039725" y="376239"/>
                  </a:lnTo>
                  <a:lnTo>
                    <a:pt x="1042415" y="419100"/>
                  </a:lnTo>
                  <a:lnTo>
                    <a:pt x="1039725" y="461960"/>
                  </a:lnTo>
                  <a:lnTo>
                    <a:pt x="1031829" y="503580"/>
                  </a:lnTo>
                  <a:lnTo>
                    <a:pt x="1018988" y="543749"/>
                  </a:lnTo>
                  <a:lnTo>
                    <a:pt x="1001464" y="582257"/>
                  </a:lnTo>
                  <a:lnTo>
                    <a:pt x="979519" y="618893"/>
                  </a:lnTo>
                  <a:lnTo>
                    <a:pt x="953416" y="653448"/>
                  </a:lnTo>
                  <a:lnTo>
                    <a:pt x="923414" y="685710"/>
                  </a:lnTo>
                  <a:lnTo>
                    <a:pt x="889777" y="715470"/>
                  </a:lnTo>
                  <a:lnTo>
                    <a:pt x="852767" y="742516"/>
                  </a:lnTo>
                  <a:lnTo>
                    <a:pt x="812643" y="766639"/>
                  </a:lnTo>
                  <a:lnTo>
                    <a:pt x="769670" y="787628"/>
                  </a:lnTo>
                  <a:lnTo>
                    <a:pt x="724108" y="805273"/>
                  </a:lnTo>
                  <a:lnTo>
                    <a:pt x="676219" y="819363"/>
                  </a:lnTo>
                  <a:lnTo>
                    <a:pt x="626265" y="829687"/>
                  </a:lnTo>
                  <a:lnTo>
                    <a:pt x="574507" y="836036"/>
                  </a:lnTo>
                  <a:lnTo>
                    <a:pt x="521208" y="838200"/>
                  </a:lnTo>
                  <a:lnTo>
                    <a:pt x="467908" y="836036"/>
                  </a:lnTo>
                  <a:lnTo>
                    <a:pt x="416150" y="829687"/>
                  </a:lnTo>
                  <a:lnTo>
                    <a:pt x="366196" y="819363"/>
                  </a:lnTo>
                  <a:lnTo>
                    <a:pt x="318307" y="805273"/>
                  </a:lnTo>
                  <a:lnTo>
                    <a:pt x="272745" y="787628"/>
                  </a:lnTo>
                  <a:lnTo>
                    <a:pt x="229772" y="766639"/>
                  </a:lnTo>
                  <a:lnTo>
                    <a:pt x="189648" y="742516"/>
                  </a:lnTo>
                  <a:lnTo>
                    <a:pt x="152638" y="715470"/>
                  </a:lnTo>
                  <a:lnTo>
                    <a:pt x="119001" y="685710"/>
                  </a:lnTo>
                  <a:lnTo>
                    <a:pt x="88999" y="653448"/>
                  </a:lnTo>
                  <a:lnTo>
                    <a:pt x="62896" y="618893"/>
                  </a:lnTo>
                  <a:lnTo>
                    <a:pt x="40951" y="582257"/>
                  </a:lnTo>
                  <a:lnTo>
                    <a:pt x="23427" y="543749"/>
                  </a:lnTo>
                  <a:lnTo>
                    <a:pt x="10586" y="503580"/>
                  </a:lnTo>
                  <a:lnTo>
                    <a:pt x="2690" y="461960"/>
                  </a:lnTo>
                  <a:lnTo>
                    <a:pt x="0" y="419100"/>
                  </a:lnTo>
                  <a:close/>
                </a:path>
              </a:pathLst>
            </a:custGeom>
            <a:ln w="254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4390135" y="1598117"/>
            <a:ext cx="56832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25">
                <a:solidFill>
                  <a:srgbClr val="FFFFFF"/>
                </a:solidFill>
                <a:latin typeface="Arial"/>
                <a:cs typeface="Arial"/>
              </a:rPr>
              <a:t>VA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493005" y="1659889"/>
            <a:ext cx="1350010" cy="901700"/>
            <a:chOff x="4493005" y="1659889"/>
            <a:chExt cx="1350010" cy="901700"/>
          </a:xfrm>
        </p:grpSpPr>
        <p:sp>
          <p:nvSpPr>
            <p:cNvPr id="14" name="object 14"/>
            <p:cNvSpPr/>
            <p:nvPr/>
          </p:nvSpPr>
          <p:spPr>
            <a:xfrm>
              <a:off x="4505705" y="2286761"/>
              <a:ext cx="190500" cy="262255"/>
            </a:xfrm>
            <a:custGeom>
              <a:avLst/>
              <a:gdLst/>
              <a:ahLst/>
              <a:cxnLst/>
              <a:rect l="l" t="t" r="r" b="b"/>
              <a:pathLst>
                <a:path w="190500" h="262255">
                  <a:moveTo>
                    <a:pt x="142875" y="0"/>
                  </a:moveTo>
                  <a:lnTo>
                    <a:pt x="47625" y="0"/>
                  </a:lnTo>
                  <a:lnTo>
                    <a:pt x="47625" y="166877"/>
                  </a:lnTo>
                  <a:lnTo>
                    <a:pt x="0" y="166877"/>
                  </a:lnTo>
                  <a:lnTo>
                    <a:pt x="95250" y="262127"/>
                  </a:lnTo>
                  <a:lnTo>
                    <a:pt x="190500" y="166877"/>
                  </a:lnTo>
                  <a:lnTo>
                    <a:pt x="142875" y="166877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505705" y="2286761"/>
              <a:ext cx="190500" cy="262255"/>
            </a:xfrm>
            <a:custGeom>
              <a:avLst/>
              <a:gdLst/>
              <a:ahLst/>
              <a:cxnLst/>
              <a:rect l="l" t="t" r="r" b="b"/>
              <a:pathLst>
                <a:path w="190500" h="262255">
                  <a:moveTo>
                    <a:pt x="0" y="166877"/>
                  </a:moveTo>
                  <a:lnTo>
                    <a:pt x="47625" y="166877"/>
                  </a:lnTo>
                  <a:lnTo>
                    <a:pt x="47625" y="0"/>
                  </a:lnTo>
                  <a:lnTo>
                    <a:pt x="142875" y="0"/>
                  </a:lnTo>
                  <a:lnTo>
                    <a:pt x="142875" y="166877"/>
                  </a:lnTo>
                  <a:lnTo>
                    <a:pt x="190500" y="166877"/>
                  </a:lnTo>
                  <a:lnTo>
                    <a:pt x="95250" y="262127"/>
                  </a:lnTo>
                  <a:lnTo>
                    <a:pt x="0" y="166877"/>
                  </a:lnTo>
                  <a:close/>
                </a:path>
              </a:pathLst>
            </a:custGeom>
            <a:ln w="254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220461" y="1672589"/>
              <a:ext cx="609600" cy="233679"/>
            </a:xfrm>
            <a:custGeom>
              <a:avLst/>
              <a:gdLst/>
              <a:ahLst/>
              <a:cxnLst/>
              <a:rect l="l" t="t" r="r" b="b"/>
              <a:pathLst>
                <a:path w="609600" h="233680">
                  <a:moveTo>
                    <a:pt x="493013" y="0"/>
                  </a:moveTo>
                  <a:lnTo>
                    <a:pt x="493013" y="58293"/>
                  </a:lnTo>
                  <a:lnTo>
                    <a:pt x="116586" y="58293"/>
                  </a:lnTo>
                  <a:lnTo>
                    <a:pt x="116586" y="0"/>
                  </a:lnTo>
                  <a:lnTo>
                    <a:pt x="0" y="116586"/>
                  </a:lnTo>
                  <a:lnTo>
                    <a:pt x="116586" y="233172"/>
                  </a:lnTo>
                  <a:lnTo>
                    <a:pt x="116586" y="174879"/>
                  </a:lnTo>
                  <a:lnTo>
                    <a:pt x="493013" y="174879"/>
                  </a:lnTo>
                  <a:lnTo>
                    <a:pt x="493013" y="233172"/>
                  </a:lnTo>
                  <a:lnTo>
                    <a:pt x="609600" y="116586"/>
                  </a:lnTo>
                  <a:lnTo>
                    <a:pt x="49301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220461" y="1672589"/>
              <a:ext cx="609600" cy="233679"/>
            </a:xfrm>
            <a:custGeom>
              <a:avLst/>
              <a:gdLst/>
              <a:ahLst/>
              <a:cxnLst/>
              <a:rect l="l" t="t" r="r" b="b"/>
              <a:pathLst>
                <a:path w="609600" h="233680">
                  <a:moveTo>
                    <a:pt x="0" y="116586"/>
                  </a:moveTo>
                  <a:lnTo>
                    <a:pt x="116586" y="0"/>
                  </a:lnTo>
                  <a:lnTo>
                    <a:pt x="116586" y="58293"/>
                  </a:lnTo>
                  <a:lnTo>
                    <a:pt x="493013" y="58293"/>
                  </a:lnTo>
                  <a:lnTo>
                    <a:pt x="493013" y="0"/>
                  </a:lnTo>
                  <a:lnTo>
                    <a:pt x="609600" y="116586"/>
                  </a:lnTo>
                  <a:lnTo>
                    <a:pt x="493013" y="233172"/>
                  </a:lnTo>
                  <a:lnTo>
                    <a:pt x="493013" y="174879"/>
                  </a:lnTo>
                  <a:lnTo>
                    <a:pt x="116586" y="174879"/>
                  </a:lnTo>
                  <a:lnTo>
                    <a:pt x="116586" y="233172"/>
                  </a:lnTo>
                  <a:lnTo>
                    <a:pt x="0" y="116586"/>
                  </a:lnTo>
                  <a:close/>
                </a:path>
              </a:pathLst>
            </a:custGeom>
            <a:ln w="254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2" name="object 72"/>
          <p:cNvSpPr txBox="1"/>
          <p:nvPr/>
        </p:nvSpPr>
        <p:spPr>
          <a:xfrm>
            <a:off x="5868161" y="1494282"/>
            <a:ext cx="914400" cy="661670"/>
          </a:xfrm>
          <a:prstGeom prst="rect">
            <a:avLst/>
          </a:prstGeom>
          <a:solidFill>
            <a:srgbClr val="4471C4"/>
          </a:solidFill>
          <a:ln w="25400">
            <a:solidFill>
              <a:srgbClr val="30528F"/>
            </a:solidFill>
          </a:ln>
        </p:spPr>
        <p:txBody>
          <a:bodyPr wrap="square" lIns="0" tIns="170815" rIns="0" bIns="0" rtlCol="0" vert="horz">
            <a:spAutoFit/>
          </a:bodyPr>
          <a:lstStyle/>
          <a:p>
            <a:pPr marL="208915">
              <a:lnSpc>
                <a:spcPct val="100000"/>
              </a:lnSpc>
              <a:spcBef>
                <a:spcPts val="1345"/>
              </a:spcBef>
            </a:pPr>
            <a:r>
              <a:rPr dirty="0" sz="2000" spc="-25" b="1">
                <a:solidFill>
                  <a:srgbClr val="FFFFFF"/>
                </a:solidFill>
                <a:latin typeface="Arial"/>
                <a:cs typeface="Arial"/>
              </a:rPr>
              <a:t>TLB</a:t>
            </a:r>
            <a:endParaRPr sz="200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344414" y="2027682"/>
            <a:ext cx="4699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latin typeface="Arial"/>
                <a:cs typeface="Arial"/>
              </a:rPr>
              <a:t>Hit?</a:t>
            </a:r>
            <a:endParaRPr sz="18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3241294" y="2270505"/>
            <a:ext cx="6724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Arial"/>
                <a:cs typeface="Arial"/>
              </a:rPr>
              <a:t>Miss?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994658" y="5666485"/>
            <a:ext cx="1156335" cy="863600"/>
            <a:chOff x="3994658" y="5666485"/>
            <a:chExt cx="1156335" cy="863600"/>
          </a:xfrm>
        </p:grpSpPr>
        <p:sp>
          <p:nvSpPr>
            <p:cNvPr id="10" name="object 10"/>
            <p:cNvSpPr/>
            <p:nvPr/>
          </p:nvSpPr>
          <p:spPr>
            <a:xfrm>
              <a:off x="4007358" y="5679185"/>
              <a:ext cx="1130935" cy="838200"/>
            </a:xfrm>
            <a:custGeom>
              <a:avLst/>
              <a:gdLst/>
              <a:ahLst/>
              <a:cxnLst/>
              <a:rect l="l" t="t" r="r" b="b"/>
              <a:pathLst>
                <a:path w="1130935" h="838200">
                  <a:moveTo>
                    <a:pt x="565403" y="0"/>
                  </a:moveTo>
                  <a:lnTo>
                    <a:pt x="510947" y="1918"/>
                  </a:lnTo>
                  <a:lnTo>
                    <a:pt x="457956" y="7557"/>
                  </a:lnTo>
                  <a:lnTo>
                    <a:pt x="406667" y="16740"/>
                  </a:lnTo>
                  <a:lnTo>
                    <a:pt x="357317" y="29291"/>
                  </a:lnTo>
                  <a:lnTo>
                    <a:pt x="310144" y="45036"/>
                  </a:lnTo>
                  <a:lnTo>
                    <a:pt x="265383" y="63799"/>
                  </a:lnTo>
                  <a:lnTo>
                    <a:pt x="223272" y="85403"/>
                  </a:lnTo>
                  <a:lnTo>
                    <a:pt x="184047" y="109673"/>
                  </a:lnTo>
                  <a:lnTo>
                    <a:pt x="147946" y="136434"/>
                  </a:lnTo>
                  <a:lnTo>
                    <a:pt x="115205" y="165509"/>
                  </a:lnTo>
                  <a:lnTo>
                    <a:pt x="86062" y="196724"/>
                  </a:lnTo>
                  <a:lnTo>
                    <a:pt x="60752" y="229902"/>
                  </a:lnTo>
                  <a:lnTo>
                    <a:pt x="39512" y="264869"/>
                  </a:lnTo>
                  <a:lnTo>
                    <a:pt x="22581" y="301447"/>
                  </a:lnTo>
                  <a:lnTo>
                    <a:pt x="10194" y="339462"/>
                  </a:lnTo>
                  <a:lnTo>
                    <a:pt x="2587" y="378738"/>
                  </a:lnTo>
                  <a:lnTo>
                    <a:pt x="0" y="419099"/>
                  </a:lnTo>
                  <a:lnTo>
                    <a:pt x="2587" y="459461"/>
                  </a:lnTo>
                  <a:lnTo>
                    <a:pt x="10194" y="498737"/>
                  </a:lnTo>
                  <a:lnTo>
                    <a:pt x="22581" y="536752"/>
                  </a:lnTo>
                  <a:lnTo>
                    <a:pt x="39512" y="573330"/>
                  </a:lnTo>
                  <a:lnTo>
                    <a:pt x="60752" y="608297"/>
                  </a:lnTo>
                  <a:lnTo>
                    <a:pt x="86062" y="641475"/>
                  </a:lnTo>
                  <a:lnTo>
                    <a:pt x="115205" y="672690"/>
                  </a:lnTo>
                  <a:lnTo>
                    <a:pt x="147946" y="701765"/>
                  </a:lnTo>
                  <a:lnTo>
                    <a:pt x="184047" y="728526"/>
                  </a:lnTo>
                  <a:lnTo>
                    <a:pt x="223272" y="752796"/>
                  </a:lnTo>
                  <a:lnTo>
                    <a:pt x="265383" y="774400"/>
                  </a:lnTo>
                  <a:lnTo>
                    <a:pt x="310144" y="793163"/>
                  </a:lnTo>
                  <a:lnTo>
                    <a:pt x="357317" y="808908"/>
                  </a:lnTo>
                  <a:lnTo>
                    <a:pt x="406667" y="821459"/>
                  </a:lnTo>
                  <a:lnTo>
                    <a:pt x="457956" y="830642"/>
                  </a:lnTo>
                  <a:lnTo>
                    <a:pt x="510947" y="836281"/>
                  </a:lnTo>
                  <a:lnTo>
                    <a:pt x="565403" y="838200"/>
                  </a:lnTo>
                  <a:lnTo>
                    <a:pt x="619860" y="836281"/>
                  </a:lnTo>
                  <a:lnTo>
                    <a:pt x="672851" y="830642"/>
                  </a:lnTo>
                  <a:lnTo>
                    <a:pt x="724140" y="821459"/>
                  </a:lnTo>
                  <a:lnTo>
                    <a:pt x="773490" y="808908"/>
                  </a:lnTo>
                  <a:lnTo>
                    <a:pt x="820663" y="793163"/>
                  </a:lnTo>
                  <a:lnTo>
                    <a:pt x="865424" y="774400"/>
                  </a:lnTo>
                  <a:lnTo>
                    <a:pt x="907535" y="752796"/>
                  </a:lnTo>
                  <a:lnTo>
                    <a:pt x="946760" y="728526"/>
                  </a:lnTo>
                  <a:lnTo>
                    <a:pt x="982861" y="701765"/>
                  </a:lnTo>
                  <a:lnTo>
                    <a:pt x="1015602" y="672690"/>
                  </a:lnTo>
                  <a:lnTo>
                    <a:pt x="1044745" y="641475"/>
                  </a:lnTo>
                  <a:lnTo>
                    <a:pt x="1070055" y="608297"/>
                  </a:lnTo>
                  <a:lnTo>
                    <a:pt x="1091295" y="573330"/>
                  </a:lnTo>
                  <a:lnTo>
                    <a:pt x="1108226" y="536752"/>
                  </a:lnTo>
                  <a:lnTo>
                    <a:pt x="1120613" y="498737"/>
                  </a:lnTo>
                  <a:lnTo>
                    <a:pt x="1128220" y="459461"/>
                  </a:lnTo>
                  <a:lnTo>
                    <a:pt x="1130807" y="419099"/>
                  </a:lnTo>
                  <a:lnTo>
                    <a:pt x="1128220" y="378738"/>
                  </a:lnTo>
                  <a:lnTo>
                    <a:pt x="1120613" y="339462"/>
                  </a:lnTo>
                  <a:lnTo>
                    <a:pt x="1108226" y="301447"/>
                  </a:lnTo>
                  <a:lnTo>
                    <a:pt x="1091295" y="264869"/>
                  </a:lnTo>
                  <a:lnTo>
                    <a:pt x="1070055" y="229902"/>
                  </a:lnTo>
                  <a:lnTo>
                    <a:pt x="1044745" y="196724"/>
                  </a:lnTo>
                  <a:lnTo>
                    <a:pt x="1015602" y="165509"/>
                  </a:lnTo>
                  <a:lnTo>
                    <a:pt x="982861" y="136434"/>
                  </a:lnTo>
                  <a:lnTo>
                    <a:pt x="946760" y="109673"/>
                  </a:lnTo>
                  <a:lnTo>
                    <a:pt x="907535" y="85403"/>
                  </a:lnTo>
                  <a:lnTo>
                    <a:pt x="865424" y="63799"/>
                  </a:lnTo>
                  <a:lnTo>
                    <a:pt x="820663" y="45036"/>
                  </a:lnTo>
                  <a:lnTo>
                    <a:pt x="773490" y="29291"/>
                  </a:lnTo>
                  <a:lnTo>
                    <a:pt x="724140" y="16740"/>
                  </a:lnTo>
                  <a:lnTo>
                    <a:pt x="672851" y="7557"/>
                  </a:lnTo>
                  <a:lnTo>
                    <a:pt x="619860" y="1918"/>
                  </a:lnTo>
                  <a:lnTo>
                    <a:pt x="565403" y="0"/>
                  </a:lnTo>
                  <a:close/>
                </a:path>
              </a:pathLst>
            </a:custGeom>
            <a:solidFill>
              <a:srgbClr val="0C0C0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007358" y="5679185"/>
              <a:ext cx="1130935" cy="838200"/>
            </a:xfrm>
            <a:custGeom>
              <a:avLst/>
              <a:gdLst/>
              <a:ahLst/>
              <a:cxnLst/>
              <a:rect l="l" t="t" r="r" b="b"/>
              <a:pathLst>
                <a:path w="1130935" h="838200">
                  <a:moveTo>
                    <a:pt x="0" y="419099"/>
                  </a:moveTo>
                  <a:lnTo>
                    <a:pt x="2587" y="378738"/>
                  </a:lnTo>
                  <a:lnTo>
                    <a:pt x="10194" y="339462"/>
                  </a:lnTo>
                  <a:lnTo>
                    <a:pt x="22581" y="301447"/>
                  </a:lnTo>
                  <a:lnTo>
                    <a:pt x="39512" y="264869"/>
                  </a:lnTo>
                  <a:lnTo>
                    <a:pt x="60752" y="229902"/>
                  </a:lnTo>
                  <a:lnTo>
                    <a:pt x="86062" y="196724"/>
                  </a:lnTo>
                  <a:lnTo>
                    <a:pt x="115205" y="165509"/>
                  </a:lnTo>
                  <a:lnTo>
                    <a:pt x="147946" y="136434"/>
                  </a:lnTo>
                  <a:lnTo>
                    <a:pt x="184047" y="109673"/>
                  </a:lnTo>
                  <a:lnTo>
                    <a:pt x="223272" y="85403"/>
                  </a:lnTo>
                  <a:lnTo>
                    <a:pt x="265383" y="63799"/>
                  </a:lnTo>
                  <a:lnTo>
                    <a:pt x="310144" y="45036"/>
                  </a:lnTo>
                  <a:lnTo>
                    <a:pt x="357317" y="29291"/>
                  </a:lnTo>
                  <a:lnTo>
                    <a:pt x="406667" y="16740"/>
                  </a:lnTo>
                  <a:lnTo>
                    <a:pt x="457956" y="7557"/>
                  </a:lnTo>
                  <a:lnTo>
                    <a:pt x="510947" y="1918"/>
                  </a:lnTo>
                  <a:lnTo>
                    <a:pt x="565403" y="0"/>
                  </a:lnTo>
                  <a:lnTo>
                    <a:pt x="619860" y="1918"/>
                  </a:lnTo>
                  <a:lnTo>
                    <a:pt x="672851" y="7557"/>
                  </a:lnTo>
                  <a:lnTo>
                    <a:pt x="724140" y="16740"/>
                  </a:lnTo>
                  <a:lnTo>
                    <a:pt x="773490" y="29291"/>
                  </a:lnTo>
                  <a:lnTo>
                    <a:pt x="820663" y="45036"/>
                  </a:lnTo>
                  <a:lnTo>
                    <a:pt x="865424" y="63799"/>
                  </a:lnTo>
                  <a:lnTo>
                    <a:pt x="907535" y="85403"/>
                  </a:lnTo>
                  <a:lnTo>
                    <a:pt x="946760" y="109673"/>
                  </a:lnTo>
                  <a:lnTo>
                    <a:pt x="982861" y="136434"/>
                  </a:lnTo>
                  <a:lnTo>
                    <a:pt x="1015602" y="165509"/>
                  </a:lnTo>
                  <a:lnTo>
                    <a:pt x="1044745" y="196724"/>
                  </a:lnTo>
                  <a:lnTo>
                    <a:pt x="1070055" y="229902"/>
                  </a:lnTo>
                  <a:lnTo>
                    <a:pt x="1091295" y="264869"/>
                  </a:lnTo>
                  <a:lnTo>
                    <a:pt x="1108226" y="301447"/>
                  </a:lnTo>
                  <a:lnTo>
                    <a:pt x="1120613" y="339462"/>
                  </a:lnTo>
                  <a:lnTo>
                    <a:pt x="1128220" y="378738"/>
                  </a:lnTo>
                  <a:lnTo>
                    <a:pt x="1130807" y="419099"/>
                  </a:lnTo>
                  <a:lnTo>
                    <a:pt x="1128220" y="459461"/>
                  </a:lnTo>
                  <a:lnTo>
                    <a:pt x="1120613" y="498737"/>
                  </a:lnTo>
                  <a:lnTo>
                    <a:pt x="1108226" y="536752"/>
                  </a:lnTo>
                  <a:lnTo>
                    <a:pt x="1091295" y="573330"/>
                  </a:lnTo>
                  <a:lnTo>
                    <a:pt x="1070055" y="608297"/>
                  </a:lnTo>
                  <a:lnTo>
                    <a:pt x="1044745" y="641475"/>
                  </a:lnTo>
                  <a:lnTo>
                    <a:pt x="1015602" y="672690"/>
                  </a:lnTo>
                  <a:lnTo>
                    <a:pt x="982861" y="701765"/>
                  </a:lnTo>
                  <a:lnTo>
                    <a:pt x="946760" y="728526"/>
                  </a:lnTo>
                  <a:lnTo>
                    <a:pt x="907535" y="752796"/>
                  </a:lnTo>
                  <a:lnTo>
                    <a:pt x="865424" y="774400"/>
                  </a:lnTo>
                  <a:lnTo>
                    <a:pt x="820663" y="793163"/>
                  </a:lnTo>
                  <a:lnTo>
                    <a:pt x="773490" y="808908"/>
                  </a:lnTo>
                  <a:lnTo>
                    <a:pt x="724140" y="821459"/>
                  </a:lnTo>
                  <a:lnTo>
                    <a:pt x="672851" y="830642"/>
                  </a:lnTo>
                  <a:lnTo>
                    <a:pt x="619860" y="836281"/>
                  </a:lnTo>
                  <a:lnTo>
                    <a:pt x="565403" y="838200"/>
                  </a:lnTo>
                  <a:lnTo>
                    <a:pt x="510947" y="836281"/>
                  </a:lnTo>
                  <a:lnTo>
                    <a:pt x="457956" y="830642"/>
                  </a:lnTo>
                  <a:lnTo>
                    <a:pt x="406667" y="821459"/>
                  </a:lnTo>
                  <a:lnTo>
                    <a:pt x="357317" y="808908"/>
                  </a:lnTo>
                  <a:lnTo>
                    <a:pt x="310144" y="793163"/>
                  </a:lnTo>
                  <a:lnTo>
                    <a:pt x="265383" y="774400"/>
                  </a:lnTo>
                  <a:lnTo>
                    <a:pt x="223272" y="752796"/>
                  </a:lnTo>
                  <a:lnTo>
                    <a:pt x="184047" y="728526"/>
                  </a:lnTo>
                  <a:lnTo>
                    <a:pt x="147946" y="701765"/>
                  </a:lnTo>
                  <a:lnTo>
                    <a:pt x="115205" y="672690"/>
                  </a:lnTo>
                  <a:lnTo>
                    <a:pt x="86062" y="641475"/>
                  </a:lnTo>
                  <a:lnTo>
                    <a:pt x="60752" y="608297"/>
                  </a:lnTo>
                  <a:lnTo>
                    <a:pt x="39512" y="573330"/>
                  </a:lnTo>
                  <a:lnTo>
                    <a:pt x="22581" y="536752"/>
                  </a:lnTo>
                  <a:lnTo>
                    <a:pt x="10194" y="498737"/>
                  </a:lnTo>
                  <a:lnTo>
                    <a:pt x="2587" y="459461"/>
                  </a:lnTo>
                  <a:lnTo>
                    <a:pt x="0" y="419099"/>
                  </a:lnTo>
                  <a:close/>
                </a:path>
              </a:pathLst>
            </a:custGeom>
            <a:ln w="254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/>
          <p:cNvGrpSpPr/>
          <p:nvPr/>
        </p:nvGrpSpPr>
        <p:grpSpPr>
          <a:xfrm>
            <a:off x="1324355" y="3009900"/>
            <a:ext cx="6414770" cy="2671445"/>
            <a:chOff x="1324355" y="3009900"/>
            <a:chExt cx="6414770" cy="2671445"/>
          </a:xfrm>
        </p:grpSpPr>
        <p:sp>
          <p:nvSpPr>
            <p:cNvPr id="19" name="object 19"/>
            <p:cNvSpPr/>
            <p:nvPr/>
          </p:nvSpPr>
          <p:spPr>
            <a:xfrm>
              <a:off x="4505705" y="5135117"/>
              <a:ext cx="190500" cy="533400"/>
            </a:xfrm>
            <a:custGeom>
              <a:avLst/>
              <a:gdLst/>
              <a:ahLst/>
              <a:cxnLst/>
              <a:rect l="l" t="t" r="r" b="b"/>
              <a:pathLst>
                <a:path w="190500" h="533400">
                  <a:moveTo>
                    <a:pt x="142875" y="0"/>
                  </a:moveTo>
                  <a:lnTo>
                    <a:pt x="47625" y="0"/>
                  </a:lnTo>
                  <a:lnTo>
                    <a:pt x="47625" y="438149"/>
                  </a:lnTo>
                  <a:lnTo>
                    <a:pt x="0" y="438149"/>
                  </a:lnTo>
                  <a:lnTo>
                    <a:pt x="95250" y="533399"/>
                  </a:lnTo>
                  <a:lnTo>
                    <a:pt x="190500" y="438149"/>
                  </a:lnTo>
                  <a:lnTo>
                    <a:pt x="142875" y="438149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505705" y="5135117"/>
              <a:ext cx="190500" cy="533400"/>
            </a:xfrm>
            <a:custGeom>
              <a:avLst/>
              <a:gdLst/>
              <a:ahLst/>
              <a:cxnLst/>
              <a:rect l="l" t="t" r="r" b="b"/>
              <a:pathLst>
                <a:path w="190500" h="533400">
                  <a:moveTo>
                    <a:pt x="0" y="438149"/>
                  </a:moveTo>
                  <a:lnTo>
                    <a:pt x="47625" y="438149"/>
                  </a:lnTo>
                  <a:lnTo>
                    <a:pt x="47625" y="0"/>
                  </a:lnTo>
                  <a:lnTo>
                    <a:pt x="142875" y="0"/>
                  </a:lnTo>
                  <a:lnTo>
                    <a:pt x="142875" y="438149"/>
                  </a:lnTo>
                  <a:lnTo>
                    <a:pt x="190500" y="438149"/>
                  </a:lnTo>
                  <a:lnTo>
                    <a:pt x="95250" y="533399"/>
                  </a:lnTo>
                  <a:lnTo>
                    <a:pt x="0" y="438149"/>
                  </a:lnTo>
                  <a:close/>
                </a:path>
              </a:pathLst>
            </a:custGeom>
            <a:ln w="254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24355" y="3009900"/>
              <a:ext cx="6414516" cy="239877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71599" y="3037332"/>
              <a:ext cx="6324600" cy="230885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371599" y="3037332"/>
              <a:ext cx="6324600" cy="2308860"/>
            </a:xfrm>
            <a:custGeom>
              <a:avLst/>
              <a:gdLst/>
              <a:ahLst/>
              <a:cxnLst/>
              <a:rect l="l" t="t" r="r" b="b"/>
              <a:pathLst>
                <a:path w="6324600" h="2308860">
                  <a:moveTo>
                    <a:pt x="0" y="384809"/>
                  </a:moveTo>
                  <a:lnTo>
                    <a:pt x="2999" y="336550"/>
                  </a:lnTo>
                  <a:lnTo>
                    <a:pt x="11755" y="290077"/>
                  </a:lnTo>
                  <a:lnTo>
                    <a:pt x="25908" y="245751"/>
                  </a:lnTo>
                  <a:lnTo>
                    <a:pt x="45097" y="203932"/>
                  </a:lnTo>
                  <a:lnTo>
                    <a:pt x="68959" y="164983"/>
                  </a:lnTo>
                  <a:lnTo>
                    <a:pt x="97135" y="129263"/>
                  </a:lnTo>
                  <a:lnTo>
                    <a:pt x="129263" y="97135"/>
                  </a:lnTo>
                  <a:lnTo>
                    <a:pt x="164983" y="68959"/>
                  </a:lnTo>
                  <a:lnTo>
                    <a:pt x="203932" y="45097"/>
                  </a:lnTo>
                  <a:lnTo>
                    <a:pt x="245751" y="25908"/>
                  </a:lnTo>
                  <a:lnTo>
                    <a:pt x="290077" y="11755"/>
                  </a:lnTo>
                  <a:lnTo>
                    <a:pt x="336550" y="2999"/>
                  </a:lnTo>
                  <a:lnTo>
                    <a:pt x="384810" y="0"/>
                  </a:lnTo>
                  <a:lnTo>
                    <a:pt x="5939790" y="0"/>
                  </a:lnTo>
                  <a:lnTo>
                    <a:pt x="5988049" y="2999"/>
                  </a:lnTo>
                  <a:lnTo>
                    <a:pt x="6034522" y="11755"/>
                  </a:lnTo>
                  <a:lnTo>
                    <a:pt x="6078848" y="25908"/>
                  </a:lnTo>
                  <a:lnTo>
                    <a:pt x="6120667" y="45097"/>
                  </a:lnTo>
                  <a:lnTo>
                    <a:pt x="6159616" y="68959"/>
                  </a:lnTo>
                  <a:lnTo>
                    <a:pt x="6195336" y="97135"/>
                  </a:lnTo>
                  <a:lnTo>
                    <a:pt x="6227464" y="129263"/>
                  </a:lnTo>
                  <a:lnTo>
                    <a:pt x="6255640" y="164983"/>
                  </a:lnTo>
                  <a:lnTo>
                    <a:pt x="6279502" y="203932"/>
                  </a:lnTo>
                  <a:lnTo>
                    <a:pt x="6298691" y="245751"/>
                  </a:lnTo>
                  <a:lnTo>
                    <a:pt x="6312844" y="290077"/>
                  </a:lnTo>
                  <a:lnTo>
                    <a:pt x="6321600" y="336550"/>
                  </a:lnTo>
                  <a:lnTo>
                    <a:pt x="6324600" y="384809"/>
                  </a:lnTo>
                  <a:lnTo>
                    <a:pt x="6324600" y="1924049"/>
                  </a:lnTo>
                  <a:lnTo>
                    <a:pt x="6321600" y="1972309"/>
                  </a:lnTo>
                  <a:lnTo>
                    <a:pt x="6312844" y="2018782"/>
                  </a:lnTo>
                  <a:lnTo>
                    <a:pt x="6298691" y="2063108"/>
                  </a:lnTo>
                  <a:lnTo>
                    <a:pt x="6279502" y="2104927"/>
                  </a:lnTo>
                  <a:lnTo>
                    <a:pt x="6255640" y="2143876"/>
                  </a:lnTo>
                  <a:lnTo>
                    <a:pt x="6227464" y="2179596"/>
                  </a:lnTo>
                  <a:lnTo>
                    <a:pt x="6195336" y="2211724"/>
                  </a:lnTo>
                  <a:lnTo>
                    <a:pt x="6159616" y="2239900"/>
                  </a:lnTo>
                  <a:lnTo>
                    <a:pt x="6120667" y="2263762"/>
                  </a:lnTo>
                  <a:lnTo>
                    <a:pt x="6078848" y="2282951"/>
                  </a:lnTo>
                  <a:lnTo>
                    <a:pt x="6034522" y="2297104"/>
                  </a:lnTo>
                  <a:lnTo>
                    <a:pt x="5988049" y="2305860"/>
                  </a:lnTo>
                  <a:lnTo>
                    <a:pt x="5939790" y="2308859"/>
                  </a:lnTo>
                  <a:lnTo>
                    <a:pt x="384810" y="2308859"/>
                  </a:lnTo>
                  <a:lnTo>
                    <a:pt x="336550" y="2305860"/>
                  </a:lnTo>
                  <a:lnTo>
                    <a:pt x="290077" y="2297104"/>
                  </a:lnTo>
                  <a:lnTo>
                    <a:pt x="245751" y="2282951"/>
                  </a:lnTo>
                  <a:lnTo>
                    <a:pt x="203932" y="2263762"/>
                  </a:lnTo>
                  <a:lnTo>
                    <a:pt x="164983" y="2239900"/>
                  </a:lnTo>
                  <a:lnTo>
                    <a:pt x="129263" y="2211724"/>
                  </a:lnTo>
                  <a:lnTo>
                    <a:pt x="97135" y="2179596"/>
                  </a:lnTo>
                  <a:lnTo>
                    <a:pt x="68959" y="2143876"/>
                  </a:lnTo>
                  <a:lnTo>
                    <a:pt x="45097" y="2104927"/>
                  </a:lnTo>
                  <a:lnTo>
                    <a:pt x="25908" y="2063108"/>
                  </a:lnTo>
                  <a:lnTo>
                    <a:pt x="11755" y="2018782"/>
                  </a:lnTo>
                  <a:lnTo>
                    <a:pt x="2999" y="1972309"/>
                  </a:lnTo>
                  <a:lnTo>
                    <a:pt x="0" y="1924049"/>
                  </a:lnTo>
                  <a:lnTo>
                    <a:pt x="0" y="384809"/>
                  </a:lnTo>
                  <a:close/>
                </a:path>
              </a:pathLst>
            </a:custGeom>
            <a:ln w="9524">
              <a:solidFill>
                <a:srgbClr val="6CAB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096261" y="3262122"/>
              <a:ext cx="5410200" cy="304800"/>
            </a:xfrm>
            <a:custGeom>
              <a:avLst/>
              <a:gdLst/>
              <a:ahLst/>
              <a:cxnLst/>
              <a:rect l="l" t="t" r="r" b="b"/>
              <a:pathLst>
                <a:path w="5410200" h="304800">
                  <a:moveTo>
                    <a:pt x="5410199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5410199" y="304800"/>
                  </a:lnTo>
                  <a:lnTo>
                    <a:pt x="54101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096261" y="3262122"/>
              <a:ext cx="5410200" cy="304800"/>
            </a:xfrm>
            <a:custGeom>
              <a:avLst/>
              <a:gdLst/>
              <a:ahLst/>
              <a:cxnLst/>
              <a:rect l="l" t="t" r="r" b="b"/>
              <a:pathLst>
                <a:path w="5410200" h="304800">
                  <a:moveTo>
                    <a:pt x="0" y="304800"/>
                  </a:moveTo>
                  <a:lnTo>
                    <a:pt x="5410199" y="304800"/>
                  </a:lnTo>
                  <a:lnTo>
                    <a:pt x="5410199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3" name="object 73"/>
          <p:cNvSpPr txBox="1"/>
          <p:nvPr/>
        </p:nvSpPr>
        <p:spPr>
          <a:xfrm>
            <a:off x="4110990" y="2570226"/>
            <a:ext cx="1000125" cy="463550"/>
          </a:xfrm>
          <a:prstGeom prst="rect">
            <a:avLst/>
          </a:prstGeom>
          <a:solidFill>
            <a:srgbClr val="4471C4"/>
          </a:solidFill>
          <a:ln w="25400">
            <a:solidFill>
              <a:srgbClr val="30528F"/>
            </a:solidFill>
          </a:ln>
        </p:spPr>
        <p:txBody>
          <a:bodyPr wrap="square" lIns="0" tIns="71755" rIns="0" bIns="0" rtlCol="0" vert="horz">
            <a:spAutoFit/>
          </a:bodyPr>
          <a:lstStyle/>
          <a:p>
            <a:pPr marL="215900">
              <a:lnSpc>
                <a:spcPct val="100000"/>
              </a:lnSpc>
              <a:spcBef>
                <a:spcPts val="565"/>
              </a:spcBef>
            </a:pPr>
            <a:r>
              <a:rPr dirty="0" sz="2000" spc="-25" b="1">
                <a:solidFill>
                  <a:srgbClr val="FFFFFF"/>
                </a:solidFill>
                <a:latin typeface="Arial"/>
                <a:cs typeface="Arial"/>
              </a:rPr>
              <a:t>PTW</a:t>
            </a:r>
            <a:endParaRPr sz="200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5419471" y="2553716"/>
            <a:ext cx="25755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Arial"/>
                <a:cs typeface="Arial"/>
              </a:rPr>
              <a:t>PTW</a:t>
            </a:r>
            <a:r>
              <a:rPr dirty="0" sz="1600" spc="-4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(Page</a:t>
            </a:r>
            <a:r>
              <a:rPr dirty="0" sz="1600" spc="-3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Table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Walking)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488694" y="4127119"/>
            <a:ext cx="38100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"/>
                <a:cs typeface="Arial"/>
              </a:rPr>
              <a:t>CR3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473961" y="3256597"/>
            <a:ext cx="6045200" cy="2124710"/>
            <a:chOff x="1473961" y="3256597"/>
            <a:chExt cx="6045200" cy="2124710"/>
          </a:xfrm>
        </p:grpSpPr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53055" y="3767340"/>
              <a:ext cx="775703" cy="1004303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00300" y="3794759"/>
              <a:ext cx="685800" cy="91440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2400300" y="3794759"/>
              <a:ext cx="685800" cy="914400"/>
            </a:xfrm>
            <a:custGeom>
              <a:avLst/>
              <a:gdLst/>
              <a:ahLst/>
              <a:cxnLst/>
              <a:rect l="l" t="t" r="r" b="b"/>
              <a:pathLst>
                <a:path w="685800" h="914400">
                  <a:moveTo>
                    <a:pt x="0" y="914400"/>
                  </a:moveTo>
                  <a:lnTo>
                    <a:pt x="685800" y="914400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892299" y="3795521"/>
              <a:ext cx="509270" cy="505459"/>
            </a:xfrm>
            <a:custGeom>
              <a:avLst/>
              <a:gdLst/>
              <a:ahLst/>
              <a:cxnLst/>
              <a:rect l="l" t="t" r="r" b="b"/>
              <a:pathLst>
                <a:path w="509269" h="505460">
                  <a:moveTo>
                    <a:pt x="432279" y="49109"/>
                  </a:moveTo>
                  <a:lnTo>
                    <a:pt x="0" y="478154"/>
                  </a:lnTo>
                  <a:lnTo>
                    <a:pt x="26924" y="505205"/>
                  </a:lnTo>
                  <a:lnTo>
                    <a:pt x="459065" y="76173"/>
                  </a:lnTo>
                  <a:lnTo>
                    <a:pt x="454742" y="53753"/>
                  </a:lnTo>
                  <a:lnTo>
                    <a:pt x="455194" y="53753"/>
                  </a:lnTo>
                  <a:lnTo>
                    <a:pt x="432279" y="49109"/>
                  </a:lnTo>
                  <a:close/>
                </a:path>
                <a:path w="509269" h="505460">
                  <a:moveTo>
                    <a:pt x="495202" y="40131"/>
                  </a:moveTo>
                  <a:lnTo>
                    <a:pt x="441325" y="40131"/>
                  </a:lnTo>
                  <a:lnTo>
                    <a:pt x="468122" y="67182"/>
                  </a:lnTo>
                  <a:lnTo>
                    <a:pt x="459065" y="76173"/>
                  </a:lnTo>
                  <a:lnTo>
                    <a:pt x="467868" y="121030"/>
                  </a:lnTo>
                  <a:lnTo>
                    <a:pt x="495202" y="40131"/>
                  </a:lnTo>
                  <a:close/>
                </a:path>
                <a:path w="509269" h="505460">
                  <a:moveTo>
                    <a:pt x="454818" y="53753"/>
                  </a:moveTo>
                  <a:lnTo>
                    <a:pt x="457332" y="67182"/>
                  </a:lnTo>
                  <a:lnTo>
                    <a:pt x="459065" y="76173"/>
                  </a:lnTo>
                  <a:lnTo>
                    <a:pt x="468122" y="67182"/>
                  </a:lnTo>
                  <a:lnTo>
                    <a:pt x="454818" y="53753"/>
                  </a:lnTo>
                  <a:close/>
                </a:path>
                <a:path w="509269" h="505460">
                  <a:moveTo>
                    <a:pt x="441325" y="40131"/>
                  </a:moveTo>
                  <a:lnTo>
                    <a:pt x="432279" y="49109"/>
                  </a:lnTo>
                  <a:lnTo>
                    <a:pt x="455194" y="53753"/>
                  </a:lnTo>
                  <a:lnTo>
                    <a:pt x="454818" y="53753"/>
                  </a:lnTo>
                  <a:lnTo>
                    <a:pt x="441325" y="40131"/>
                  </a:lnTo>
                  <a:close/>
                </a:path>
                <a:path w="509269" h="505460">
                  <a:moveTo>
                    <a:pt x="508762" y="0"/>
                  </a:moveTo>
                  <a:lnTo>
                    <a:pt x="387350" y="40004"/>
                  </a:lnTo>
                  <a:lnTo>
                    <a:pt x="432279" y="49109"/>
                  </a:lnTo>
                  <a:lnTo>
                    <a:pt x="441325" y="40131"/>
                  </a:lnTo>
                  <a:lnTo>
                    <a:pt x="495202" y="40131"/>
                  </a:lnTo>
                  <a:lnTo>
                    <a:pt x="50876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086100" y="3261359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w="0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2096261" y="3566921"/>
              <a:ext cx="990600" cy="76200"/>
            </a:xfrm>
            <a:custGeom>
              <a:avLst/>
              <a:gdLst/>
              <a:ahLst/>
              <a:cxnLst/>
              <a:rect l="l" t="t" r="r" b="b"/>
              <a:pathLst>
                <a:path w="990600" h="76200">
                  <a:moveTo>
                    <a:pt x="0" y="0"/>
                  </a:moveTo>
                  <a:lnTo>
                    <a:pt x="0" y="76200"/>
                  </a:lnTo>
                </a:path>
                <a:path w="990600" h="76200">
                  <a:moveTo>
                    <a:pt x="0" y="76200"/>
                  </a:moveTo>
                  <a:lnTo>
                    <a:pt x="990600" y="76200"/>
                  </a:lnTo>
                </a:path>
                <a:path w="990600" h="76200">
                  <a:moveTo>
                    <a:pt x="990600" y="76200"/>
                  </a:moveTo>
                  <a:lnTo>
                    <a:pt x="99060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172461" y="3643121"/>
              <a:ext cx="0" cy="850265"/>
            </a:xfrm>
            <a:custGeom>
              <a:avLst/>
              <a:gdLst/>
              <a:ahLst/>
              <a:cxnLst/>
              <a:rect l="l" t="t" r="r" b="b"/>
              <a:pathLst>
                <a:path w="0" h="850264">
                  <a:moveTo>
                    <a:pt x="0" y="0"/>
                  </a:moveTo>
                  <a:lnTo>
                    <a:pt x="0" y="849757"/>
                  </a:lnTo>
                </a:path>
              </a:pathLst>
            </a:custGeom>
            <a:ln w="3810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72461" y="4436363"/>
              <a:ext cx="228600" cy="11430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2401061" y="4405121"/>
              <a:ext cx="685800" cy="165100"/>
            </a:xfrm>
            <a:custGeom>
              <a:avLst/>
              <a:gdLst/>
              <a:ahLst/>
              <a:cxnLst/>
              <a:rect l="l" t="t" r="r" b="b"/>
              <a:pathLst>
                <a:path w="685800" h="165100">
                  <a:moveTo>
                    <a:pt x="685800" y="0"/>
                  </a:moveTo>
                  <a:lnTo>
                    <a:pt x="0" y="0"/>
                  </a:lnTo>
                  <a:lnTo>
                    <a:pt x="0" y="164591"/>
                  </a:lnTo>
                  <a:lnTo>
                    <a:pt x="685800" y="164591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2401061" y="4405121"/>
              <a:ext cx="685800" cy="165100"/>
            </a:xfrm>
            <a:custGeom>
              <a:avLst/>
              <a:gdLst/>
              <a:ahLst/>
              <a:cxnLst/>
              <a:rect l="l" t="t" r="r" b="b"/>
              <a:pathLst>
                <a:path w="685800" h="165100">
                  <a:moveTo>
                    <a:pt x="0" y="164591"/>
                  </a:moveTo>
                  <a:lnTo>
                    <a:pt x="685800" y="164591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164591"/>
                  </a:lnTo>
                  <a:close/>
                </a:path>
              </a:pathLst>
            </a:custGeom>
            <a:ln w="25400">
              <a:solidFill>
                <a:srgbClr val="AC5B2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72255" y="3995915"/>
              <a:ext cx="775703" cy="99823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19500" y="4023359"/>
              <a:ext cx="685800" cy="908303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3619500" y="4023359"/>
              <a:ext cx="685800" cy="908685"/>
            </a:xfrm>
            <a:custGeom>
              <a:avLst/>
              <a:gdLst/>
              <a:ahLst/>
              <a:cxnLst/>
              <a:rect l="l" t="t" r="r" b="b"/>
              <a:pathLst>
                <a:path w="685800" h="908685">
                  <a:moveTo>
                    <a:pt x="0" y="908303"/>
                  </a:moveTo>
                  <a:lnTo>
                    <a:pt x="685800" y="908303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90830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3620261" y="4545329"/>
              <a:ext cx="685800" cy="165100"/>
            </a:xfrm>
            <a:custGeom>
              <a:avLst/>
              <a:gdLst/>
              <a:ahLst/>
              <a:cxnLst/>
              <a:rect l="l" t="t" r="r" b="b"/>
              <a:pathLst>
                <a:path w="685800" h="165100">
                  <a:moveTo>
                    <a:pt x="685800" y="0"/>
                  </a:moveTo>
                  <a:lnTo>
                    <a:pt x="0" y="0"/>
                  </a:lnTo>
                  <a:lnTo>
                    <a:pt x="0" y="164592"/>
                  </a:lnTo>
                  <a:lnTo>
                    <a:pt x="685800" y="164592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3620261" y="4545329"/>
              <a:ext cx="685800" cy="165100"/>
            </a:xfrm>
            <a:custGeom>
              <a:avLst/>
              <a:gdLst/>
              <a:ahLst/>
              <a:cxnLst/>
              <a:rect l="l" t="t" r="r" b="b"/>
              <a:pathLst>
                <a:path w="685800" h="165100">
                  <a:moveTo>
                    <a:pt x="0" y="164592"/>
                  </a:moveTo>
                  <a:lnTo>
                    <a:pt x="685800" y="164592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164592"/>
                  </a:lnTo>
                  <a:close/>
                </a:path>
              </a:pathLst>
            </a:custGeom>
            <a:ln w="25400">
              <a:solidFill>
                <a:srgbClr val="AC5B2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3074288" y="4024121"/>
              <a:ext cx="546100" cy="483234"/>
            </a:xfrm>
            <a:custGeom>
              <a:avLst/>
              <a:gdLst/>
              <a:ahLst/>
              <a:cxnLst/>
              <a:rect l="l" t="t" r="r" b="b"/>
              <a:pathLst>
                <a:path w="546100" h="483235">
                  <a:moveTo>
                    <a:pt x="466551" y="44352"/>
                  </a:moveTo>
                  <a:lnTo>
                    <a:pt x="0" y="454405"/>
                  </a:lnTo>
                  <a:lnTo>
                    <a:pt x="25146" y="483107"/>
                  </a:lnTo>
                  <a:lnTo>
                    <a:pt x="491747" y="73011"/>
                  </a:lnTo>
                  <a:lnTo>
                    <a:pt x="488696" y="50291"/>
                  </a:lnTo>
                  <a:lnTo>
                    <a:pt x="466551" y="44352"/>
                  </a:lnTo>
                  <a:close/>
                </a:path>
                <a:path w="546100" h="483235">
                  <a:moveTo>
                    <a:pt x="531357" y="35940"/>
                  </a:moveTo>
                  <a:lnTo>
                    <a:pt x="476123" y="35940"/>
                  </a:lnTo>
                  <a:lnTo>
                    <a:pt x="501269" y="64642"/>
                  </a:lnTo>
                  <a:lnTo>
                    <a:pt x="491747" y="73011"/>
                  </a:lnTo>
                  <a:lnTo>
                    <a:pt x="497839" y="118363"/>
                  </a:lnTo>
                  <a:lnTo>
                    <a:pt x="531357" y="35940"/>
                  </a:lnTo>
                  <a:close/>
                </a:path>
                <a:path w="546100" h="483235">
                  <a:moveTo>
                    <a:pt x="488696" y="50291"/>
                  </a:moveTo>
                  <a:lnTo>
                    <a:pt x="491747" y="73011"/>
                  </a:lnTo>
                  <a:lnTo>
                    <a:pt x="501269" y="64642"/>
                  </a:lnTo>
                  <a:lnTo>
                    <a:pt x="488696" y="50291"/>
                  </a:lnTo>
                  <a:close/>
                </a:path>
                <a:path w="546100" h="483235">
                  <a:moveTo>
                    <a:pt x="476123" y="35940"/>
                  </a:moveTo>
                  <a:lnTo>
                    <a:pt x="466551" y="44352"/>
                  </a:lnTo>
                  <a:lnTo>
                    <a:pt x="488696" y="50291"/>
                  </a:lnTo>
                  <a:lnTo>
                    <a:pt x="476123" y="35940"/>
                  </a:lnTo>
                  <a:close/>
                </a:path>
                <a:path w="546100" h="483235">
                  <a:moveTo>
                    <a:pt x="545973" y="0"/>
                  </a:moveTo>
                  <a:lnTo>
                    <a:pt x="422401" y="32511"/>
                  </a:lnTo>
                  <a:lnTo>
                    <a:pt x="466551" y="44352"/>
                  </a:lnTo>
                  <a:lnTo>
                    <a:pt x="476123" y="35940"/>
                  </a:lnTo>
                  <a:lnTo>
                    <a:pt x="531357" y="35940"/>
                  </a:lnTo>
                  <a:lnTo>
                    <a:pt x="545973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4152900" y="3261359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w="0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3163061" y="3566921"/>
              <a:ext cx="990600" cy="76200"/>
            </a:xfrm>
            <a:custGeom>
              <a:avLst/>
              <a:gdLst/>
              <a:ahLst/>
              <a:cxnLst/>
              <a:rect l="l" t="t" r="r" b="b"/>
              <a:pathLst>
                <a:path w="990600" h="76200">
                  <a:moveTo>
                    <a:pt x="0" y="0"/>
                  </a:moveTo>
                  <a:lnTo>
                    <a:pt x="0" y="76200"/>
                  </a:lnTo>
                </a:path>
                <a:path w="990600" h="76200">
                  <a:moveTo>
                    <a:pt x="0" y="76200"/>
                  </a:moveTo>
                  <a:lnTo>
                    <a:pt x="990600" y="76200"/>
                  </a:lnTo>
                </a:path>
                <a:path w="990600" h="76200">
                  <a:moveTo>
                    <a:pt x="990600" y="76200"/>
                  </a:moveTo>
                  <a:lnTo>
                    <a:pt x="99060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3391661" y="3643121"/>
              <a:ext cx="0" cy="979169"/>
            </a:xfrm>
            <a:custGeom>
              <a:avLst/>
              <a:gdLst/>
              <a:ahLst/>
              <a:cxnLst/>
              <a:rect l="l" t="t" r="r" b="b"/>
              <a:pathLst>
                <a:path w="0" h="979170">
                  <a:moveTo>
                    <a:pt x="0" y="0"/>
                  </a:moveTo>
                  <a:lnTo>
                    <a:pt x="0" y="979042"/>
                  </a:lnTo>
                </a:path>
              </a:pathLst>
            </a:custGeom>
            <a:ln w="3810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91661" y="4564379"/>
              <a:ext cx="228600" cy="11430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91455" y="4148340"/>
              <a:ext cx="775703" cy="1004303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38700" y="4175759"/>
              <a:ext cx="685800" cy="914400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4838700" y="4175759"/>
              <a:ext cx="685800" cy="914400"/>
            </a:xfrm>
            <a:custGeom>
              <a:avLst/>
              <a:gdLst/>
              <a:ahLst/>
              <a:cxnLst/>
              <a:rect l="l" t="t" r="r" b="b"/>
              <a:pathLst>
                <a:path w="685800" h="914400">
                  <a:moveTo>
                    <a:pt x="0" y="914400"/>
                  </a:moveTo>
                  <a:lnTo>
                    <a:pt x="685800" y="914400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4839461" y="4766309"/>
              <a:ext cx="685800" cy="165100"/>
            </a:xfrm>
            <a:custGeom>
              <a:avLst/>
              <a:gdLst/>
              <a:ahLst/>
              <a:cxnLst/>
              <a:rect l="l" t="t" r="r" b="b"/>
              <a:pathLst>
                <a:path w="685800" h="165100">
                  <a:moveTo>
                    <a:pt x="685800" y="0"/>
                  </a:moveTo>
                  <a:lnTo>
                    <a:pt x="0" y="0"/>
                  </a:lnTo>
                  <a:lnTo>
                    <a:pt x="0" y="164592"/>
                  </a:lnTo>
                  <a:lnTo>
                    <a:pt x="685800" y="164592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4839461" y="4766309"/>
              <a:ext cx="685800" cy="165100"/>
            </a:xfrm>
            <a:custGeom>
              <a:avLst/>
              <a:gdLst/>
              <a:ahLst/>
              <a:cxnLst/>
              <a:rect l="l" t="t" r="r" b="b"/>
              <a:pathLst>
                <a:path w="685800" h="165100">
                  <a:moveTo>
                    <a:pt x="0" y="164592"/>
                  </a:moveTo>
                  <a:lnTo>
                    <a:pt x="685800" y="164592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164592"/>
                  </a:lnTo>
                  <a:close/>
                </a:path>
              </a:pathLst>
            </a:custGeom>
            <a:ln w="25400">
              <a:solidFill>
                <a:srgbClr val="AC5B2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4293488" y="4176521"/>
              <a:ext cx="546100" cy="483234"/>
            </a:xfrm>
            <a:custGeom>
              <a:avLst/>
              <a:gdLst/>
              <a:ahLst/>
              <a:cxnLst/>
              <a:rect l="l" t="t" r="r" b="b"/>
              <a:pathLst>
                <a:path w="546100" h="483235">
                  <a:moveTo>
                    <a:pt x="466551" y="44352"/>
                  </a:moveTo>
                  <a:lnTo>
                    <a:pt x="0" y="454405"/>
                  </a:lnTo>
                  <a:lnTo>
                    <a:pt x="25146" y="483107"/>
                  </a:lnTo>
                  <a:lnTo>
                    <a:pt x="491747" y="73011"/>
                  </a:lnTo>
                  <a:lnTo>
                    <a:pt x="488696" y="50291"/>
                  </a:lnTo>
                  <a:lnTo>
                    <a:pt x="466551" y="44352"/>
                  </a:lnTo>
                  <a:close/>
                </a:path>
                <a:path w="546100" h="483235">
                  <a:moveTo>
                    <a:pt x="531357" y="35940"/>
                  </a:moveTo>
                  <a:lnTo>
                    <a:pt x="476123" y="35940"/>
                  </a:lnTo>
                  <a:lnTo>
                    <a:pt x="501269" y="64642"/>
                  </a:lnTo>
                  <a:lnTo>
                    <a:pt x="491747" y="73011"/>
                  </a:lnTo>
                  <a:lnTo>
                    <a:pt x="497839" y="118363"/>
                  </a:lnTo>
                  <a:lnTo>
                    <a:pt x="531357" y="35940"/>
                  </a:lnTo>
                  <a:close/>
                </a:path>
                <a:path w="546100" h="483235">
                  <a:moveTo>
                    <a:pt x="488696" y="50291"/>
                  </a:moveTo>
                  <a:lnTo>
                    <a:pt x="491747" y="73011"/>
                  </a:lnTo>
                  <a:lnTo>
                    <a:pt x="501269" y="64642"/>
                  </a:lnTo>
                  <a:lnTo>
                    <a:pt x="488696" y="50291"/>
                  </a:lnTo>
                  <a:close/>
                </a:path>
                <a:path w="546100" h="483235">
                  <a:moveTo>
                    <a:pt x="476123" y="35940"/>
                  </a:moveTo>
                  <a:lnTo>
                    <a:pt x="466551" y="44352"/>
                  </a:lnTo>
                  <a:lnTo>
                    <a:pt x="488696" y="50291"/>
                  </a:lnTo>
                  <a:lnTo>
                    <a:pt x="476123" y="35940"/>
                  </a:lnTo>
                  <a:close/>
                </a:path>
                <a:path w="546100" h="483235">
                  <a:moveTo>
                    <a:pt x="545973" y="0"/>
                  </a:moveTo>
                  <a:lnTo>
                    <a:pt x="422401" y="32511"/>
                  </a:lnTo>
                  <a:lnTo>
                    <a:pt x="466551" y="44352"/>
                  </a:lnTo>
                  <a:lnTo>
                    <a:pt x="476123" y="35940"/>
                  </a:lnTo>
                  <a:lnTo>
                    <a:pt x="531357" y="35940"/>
                  </a:lnTo>
                  <a:lnTo>
                    <a:pt x="545973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5295900" y="3261359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w="0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4229861" y="3566921"/>
              <a:ext cx="2209800" cy="76200"/>
            </a:xfrm>
            <a:custGeom>
              <a:avLst/>
              <a:gdLst/>
              <a:ahLst/>
              <a:cxnLst/>
              <a:rect l="l" t="t" r="r" b="b"/>
              <a:pathLst>
                <a:path w="2209800" h="76200">
                  <a:moveTo>
                    <a:pt x="0" y="0"/>
                  </a:moveTo>
                  <a:lnTo>
                    <a:pt x="0" y="76200"/>
                  </a:lnTo>
                </a:path>
                <a:path w="2209800" h="76200">
                  <a:moveTo>
                    <a:pt x="0" y="76200"/>
                  </a:moveTo>
                  <a:lnTo>
                    <a:pt x="1066800" y="76200"/>
                  </a:lnTo>
                </a:path>
                <a:path w="2209800" h="76200">
                  <a:moveTo>
                    <a:pt x="1066800" y="76200"/>
                  </a:moveTo>
                  <a:lnTo>
                    <a:pt x="1066800" y="0"/>
                  </a:lnTo>
                </a:path>
                <a:path w="2209800" h="76200">
                  <a:moveTo>
                    <a:pt x="1143000" y="0"/>
                  </a:moveTo>
                  <a:lnTo>
                    <a:pt x="1143000" y="76200"/>
                  </a:lnTo>
                </a:path>
                <a:path w="2209800" h="76200">
                  <a:moveTo>
                    <a:pt x="1143000" y="76200"/>
                  </a:moveTo>
                  <a:lnTo>
                    <a:pt x="2209800" y="76200"/>
                  </a:lnTo>
                </a:path>
                <a:path w="2209800" h="76200">
                  <a:moveTo>
                    <a:pt x="2209800" y="76200"/>
                  </a:moveTo>
                  <a:lnTo>
                    <a:pt x="220980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6434327" y="3261359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w="0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4610861" y="3643121"/>
              <a:ext cx="0" cy="1223645"/>
            </a:xfrm>
            <a:custGeom>
              <a:avLst/>
              <a:gdLst/>
              <a:ahLst/>
              <a:cxnLst/>
              <a:rect l="l" t="t" r="r" b="b"/>
              <a:pathLst>
                <a:path w="0" h="1223645">
                  <a:moveTo>
                    <a:pt x="0" y="0"/>
                  </a:moveTo>
                  <a:lnTo>
                    <a:pt x="0" y="1223264"/>
                  </a:lnTo>
                </a:path>
              </a:pathLst>
            </a:custGeom>
            <a:ln w="3810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10861" y="4809743"/>
              <a:ext cx="228600" cy="114300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5512689" y="4397501"/>
              <a:ext cx="546100" cy="483234"/>
            </a:xfrm>
            <a:custGeom>
              <a:avLst/>
              <a:gdLst/>
              <a:ahLst/>
              <a:cxnLst/>
              <a:rect l="l" t="t" r="r" b="b"/>
              <a:pathLst>
                <a:path w="546100" h="483235">
                  <a:moveTo>
                    <a:pt x="466551" y="44352"/>
                  </a:moveTo>
                  <a:lnTo>
                    <a:pt x="0" y="454406"/>
                  </a:lnTo>
                  <a:lnTo>
                    <a:pt x="25146" y="483108"/>
                  </a:lnTo>
                  <a:lnTo>
                    <a:pt x="491747" y="73011"/>
                  </a:lnTo>
                  <a:lnTo>
                    <a:pt x="488696" y="50292"/>
                  </a:lnTo>
                  <a:lnTo>
                    <a:pt x="466551" y="44352"/>
                  </a:lnTo>
                  <a:close/>
                </a:path>
                <a:path w="546100" h="483235">
                  <a:moveTo>
                    <a:pt x="531357" y="35941"/>
                  </a:moveTo>
                  <a:lnTo>
                    <a:pt x="476123" y="35941"/>
                  </a:lnTo>
                  <a:lnTo>
                    <a:pt x="501269" y="64643"/>
                  </a:lnTo>
                  <a:lnTo>
                    <a:pt x="491747" y="73011"/>
                  </a:lnTo>
                  <a:lnTo>
                    <a:pt x="497839" y="118364"/>
                  </a:lnTo>
                  <a:lnTo>
                    <a:pt x="531357" y="35941"/>
                  </a:lnTo>
                  <a:close/>
                </a:path>
                <a:path w="546100" h="483235">
                  <a:moveTo>
                    <a:pt x="488696" y="50292"/>
                  </a:moveTo>
                  <a:lnTo>
                    <a:pt x="491747" y="73011"/>
                  </a:lnTo>
                  <a:lnTo>
                    <a:pt x="501269" y="64643"/>
                  </a:lnTo>
                  <a:lnTo>
                    <a:pt x="488696" y="50292"/>
                  </a:lnTo>
                  <a:close/>
                </a:path>
                <a:path w="546100" h="483235">
                  <a:moveTo>
                    <a:pt x="476123" y="35941"/>
                  </a:moveTo>
                  <a:lnTo>
                    <a:pt x="466551" y="44352"/>
                  </a:lnTo>
                  <a:lnTo>
                    <a:pt x="488696" y="50292"/>
                  </a:lnTo>
                  <a:lnTo>
                    <a:pt x="476123" y="35941"/>
                  </a:lnTo>
                  <a:close/>
                </a:path>
                <a:path w="546100" h="483235">
                  <a:moveTo>
                    <a:pt x="545973" y="0"/>
                  </a:moveTo>
                  <a:lnTo>
                    <a:pt x="422401" y="32512"/>
                  </a:lnTo>
                  <a:lnTo>
                    <a:pt x="466551" y="44352"/>
                  </a:lnTo>
                  <a:lnTo>
                    <a:pt x="476123" y="35941"/>
                  </a:lnTo>
                  <a:lnTo>
                    <a:pt x="531357" y="35941"/>
                  </a:lnTo>
                  <a:lnTo>
                    <a:pt x="545973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10655" y="4383011"/>
              <a:ext cx="775703" cy="998232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57900" y="4410455"/>
              <a:ext cx="685800" cy="908304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6057900" y="4410455"/>
              <a:ext cx="685800" cy="908685"/>
            </a:xfrm>
            <a:custGeom>
              <a:avLst/>
              <a:gdLst/>
              <a:ahLst/>
              <a:cxnLst/>
              <a:rect l="l" t="t" r="r" b="b"/>
              <a:pathLst>
                <a:path w="685800" h="908685">
                  <a:moveTo>
                    <a:pt x="0" y="908304"/>
                  </a:moveTo>
                  <a:lnTo>
                    <a:pt x="685800" y="908304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90830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6058661" y="4926329"/>
              <a:ext cx="685800" cy="165100"/>
            </a:xfrm>
            <a:custGeom>
              <a:avLst/>
              <a:gdLst/>
              <a:ahLst/>
              <a:cxnLst/>
              <a:rect l="l" t="t" r="r" b="b"/>
              <a:pathLst>
                <a:path w="685800" h="165100">
                  <a:moveTo>
                    <a:pt x="685799" y="0"/>
                  </a:moveTo>
                  <a:lnTo>
                    <a:pt x="0" y="0"/>
                  </a:lnTo>
                  <a:lnTo>
                    <a:pt x="0" y="164592"/>
                  </a:lnTo>
                  <a:lnTo>
                    <a:pt x="685799" y="164592"/>
                  </a:lnTo>
                  <a:lnTo>
                    <a:pt x="68579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6058661" y="4926329"/>
              <a:ext cx="685800" cy="165100"/>
            </a:xfrm>
            <a:custGeom>
              <a:avLst/>
              <a:gdLst/>
              <a:ahLst/>
              <a:cxnLst/>
              <a:rect l="l" t="t" r="r" b="b"/>
              <a:pathLst>
                <a:path w="685800" h="165100">
                  <a:moveTo>
                    <a:pt x="0" y="164592"/>
                  </a:moveTo>
                  <a:lnTo>
                    <a:pt x="685799" y="164592"/>
                  </a:lnTo>
                  <a:lnTo>
                    <a:pt x="685799" y="0"/>
                  </a:lnTo>
                  <a:lnTo>
                    <a:pt x="0" y="0"/>
                  </a:lnTo>
                  <a:lnTo>
                    <a:pt x="0" y="164592"/>
                  </a:lnTo>
                  <a:close/>
                </a:path>
              </a:pathLst>
            </a:custGeom>
            <a:ln w="25400">
              <a:solidFill>
                <a:srgbClr val="AC5B2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5830061" y="3629405"/>
              <a:ext cx="0" cy="1379220"/>
            </a:xfrm>
            <a:custGeom>
              <a:avLst/>
              <a:gdLst/>
              <a:ahLst/>
              <a:cxnLst/>
              <a:rect l="l" t="t" r="r" b="b"/>
              <a:pathLst>
                <a:path w="0" h="1379220">
                  <a:moveTo>
                    <a:pt x="0" y="0"/>
                  </a:moveTo>
                  <a:lnTo>
                    <a:pt x="0" y="1379093"/>
                  </a:lnTo>
                </a:path>
              </a:pathLst>
            </a:custGeom>
            <a:ln w="3810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6" name="object 6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30061" y="4951475"/>
              <a:ext cx="228600" cy="114300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1486661" y="4176521"/>
              <a:ext cx="419100" cy="220979"/>
            </a:xfrm>
            <a:custGeom>
              <a:avLst/>
              <a:gdLst/>
              <a:ahLst/>
              <a:cxnLst/>
              <a:rect l="l" t="t" r="r" b="b"/>
              <a:pathLst>
                <a:path w="419100" h="220979">
                  <a:moveTo>
                    <a:pt x="0" y="36829"/>
                  </a:moveTo>
                  <a:lnTo>
                    <a:pt x="2897" y="22502"/>
                  </a:lnTo>
                  <a:lnTo>
                    <a:pt x="10795" y="10794"/>
                  </a:lnTo>
                  <a:lnTo>
                    <a:pt x="22502" y="2897"/>
                  </a:lnTo>
                  <a:lnTo>
                    <a:pt x="36829" y="0"/>
                  </a:lnTo>
                  <a:lnTo>
                    <a:pt x="382269" y="0"/>
                  </a:lnTo>
                  <a:lnTo>
                    <a:pt x="396597" y="2897"/>
                  </a:lnTo>
                  <a:lnTo>
                    <a:pt x="408305" y="10794"/>
                  </a:lnTo>
                  <a:lnTo>
                    <a:pt x="416202" y="22502"/>
                  </a:lnTo>
                  <a:lnTo>
                    <a:pt x="419100" y="36829"/>
                  </a:lnTo>
                  <a:lnTo>
                    <a:pt x="419100" y="184150"/>
                  </a:lnTo>
                  <a:lnTo>
                    <a:pt x="416202" y="198477"/>
                  </a:lnTo>
                  <a:lnTo>
                    <a:pt x="408304" y="210184"/>
                  </a:lnTo>
                  <a:lnTo>
                    <a:pt x="396597" y="218082"/>
                  </a:lnTo>
                  <a:lnTo>
                    <a:pt x="382269" y="220979"/>
                  </a:lnTo>
                  <a:lnTo>
                    <a:pt x="36829" y="220979"/>
                  </a:lnTo>
                  <a:lnTo>
                    <a:pt x="22502" y="218082"/>
                  </a:lnTo>
                  <a:lnTo>
                    <a:pt x="10794" y="210184"/>
                  </a:lnTo>
                  <a:lnTo>
                    <a:pt x="2897" y="198477"/>
                  </a:lnTo>
                  <a:lnTo>
                    <a:pt x="0" y="184150"/>
                  </a:lnTo>
                  <a:lnTo>
                    <a:pt x="0" y="36829"/>
                  </a:lnTo>
                  <a:close/>
                </a:path>
              </a:pathLst>
            </a:custGeom>
            <a:ln w="253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2096261" y="3330701"/>
              <a:ext cx="5410200" cy="152400"/>
            </a:xfrm>
            <a:custGeom>
              <a:avLst/>
              <a:gdLst/>
              <a:ahLst/>
              <a:cxnLst/>
              <a:rect l="l" t="t" r="r" b="b"/>
              <a:pathLst>
                <a:path w="5410200" h="152400">
                  <a:moveTo>
                    <a:pt x="5333999" y="0"/>
                  </a:moveTo>
                  <a:lnTo>
                    <a:pt x="76200" y="0"/>
                  </a:lnTo>
                  <a:lnTo>
                    <a:pt x="46559" y="5994"/>
                  </a:lnTo>
                  <a:lnTo>
                    <a:pt x="22336" y="22336"/>
                  </a:lnTo>
                  <a:lnTo>
                    <a:pt x="5994" y="46559"/>
                  </a:lnTo>
                  <a:lnTo>
                    <a:pt x="0" y="76200"/>
                  </a:lnTo>
                  <a:lnTo>
                    <a:pt x="5994" y="105840"/>
                  </a:lnTo>
                  <a:lnTo>
                    <a:pt x="22336" y="130063"/>
                  </a:lnTo>
                  <a:lnTo>
                    <a:pt x="46559" y="146405"/>
                  </a:lnTo>
                  <a:lnTo>
                    <a:pt x="76200" y="152400"/>
                  </a:lnTo>
                  <a:lnTo>
                    <a:pt x="5333999" y="152400"/>
                  </a:lnTo>
                  <a:lnTo>
                    <a:pt x="5363640" y="146405"/>
                  </a:lnTo>
                  <a:lnTo>
                    <a:pt x="5387863" y="130063"/>
                  </a:lnTo>
                  <a:lnTo>
                    <a:pt x="5404205" y="105840"/>
                  </a:lnTo>
                  <a:lnTo>
                    <a:pt x="5410199" y="76200"/>
                  </a:lnTo>
                  <a:lnTo>
                    <a:pt x="5404205" y="46559"/>
                  </a:lnTo>
                  <a:lnTo>
                    <a:pt x="5387863" y="22336"/>
                  </a:lnTo>
                  <a:lnTo>
                    <a:pt x="5363640" y="5994"/>
                  </a:lnTo>
                  <a:lnTo>
                    <a:pt x="533399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2096261" y="3330701"/>
              <a:ext cx="5410200" cy="152400"/>
            </a:xfrm>
            <a:custGeom>
              <a:avLst/>
              <a:gdLst/>
              <a:ahLst/>
              <a:cxnLst/>
              <a:rect l="l" t="t" r="r" b="b"/>
              <a:pathLst>
                <a:path w="5410200" h="152400">
                  <a:moveTo>
                    <a:pt x="0" y="76200"/>
                  </a:moveTo>
                  <a:lnTo>
                    <a:pt x="5994" y="46559"/>
                  </a:lnTo>
                  <a:lnTo>
                    <a:pt x="22336" y="22336"/>
                  </a:lnTo>
                  <a:lnTo>
                    <a:pt x="46559" y="5994"/>
                  </a:lnTo>
                  <a:lnTo>
                    <a:pt x="76200" y="0"/>
                  </a:lnTo>
                  <a:lnTo>
                    <a:pt x="5333999" y="0"/>
                  </a:lnTo>
                  <a:lnTo>
                    <a:pt x="5363640" y="5994"/>
                  </a:lnTo>
                  <a:lnTo>
                    <a:pt x="5387863" y="22336"/>
                  </a:lnTo>
                  <a:lnTo>
                    <a:pt x="5404205" y="46559"/>
                  </a:lnTo>
                  <a:lnTo>
                    <a:pt x="5410199" y="76200"/>
                  </a:lnTo>
                  <a:lnTo>
                    <a:pt x="5404205" y="105840"/>
                  </a:lnTo>
                  <a:lnTo>
                    <a:pt x="5387863" y="130063"/>
                  </a:lnTo>
                  <a:lnTo>
                    <a:pt x="5363640" y="146405"/>
                  </a:lnTo>
                  <a:lnTo>
                    <a:pt x="5333999" y="152400"/>
                  </a:lnTo>
                  <a:lnTo>
                    <a:pt x="76200" y="152400"/>
                  </a:lnTo>
                  <a:lnTo>
                    <a:pt x="46559" y="146405"/>
                  </a:lnTo>
                  <a:lnTo>
                    <a:pt x="22336" y="130063"/>
                  </a:lnTo>
                  <a:lnTo>
                    <a:pt x="5994" y="105840"/>
                  </a:lnTo>
                  <a:lnTo>
                    <a:pt x="0" y="76200"/>
                  </a:lnTo>
                  <a:close/>
                </a:path>
              </a:pathLst>
            </a:custGeom>
            <a:ln w="254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6" name="object 76"/>
          <p:cNvGrpSpPr/>
          <p:nvPr/>
        </p:nvGrpSpPr>
        <p:grpSpPr>
          <a:xfrm>
            <a:off x="1359661" y="3034538"/>
            <a:ext cx="6350000" cy="2311400"/>
            <a:chOff x="1359661" y="3034538"/>
            <a:chExt cx="6350000" cy="2311400"/>
          </a:xfrm>
        </p:grpSpPr>
        <p:sp>
          <p:nvSpPr>
            <p:cNvPr id="77" name="object 77"/>
            <p:cNvSpPr/>
            <p:nvPr/>
          </p:nvSpPr>
          <p:spPr>
            <a:xfrm>
              <a:off x="1372361" y="3047238"/>
              <a:ext cx="6324600" cy="2286000"/>
            </a:xfrm>
            <a:custGeom>
              <a:avLst/>
              <a:gdLst/>
              <a:ahLst/>
              <a:cxnLst/>
              <a:rect l="l" t="t" r="r" b="b"/>
              <a:pathLst>
                <a:path w="6324600" h="2286000">
                  <a:moveTo>
                    <a:pt x="5943599" y="0"/>
                  </a:moveTo>
                  <a:lnTo>
                    <a:pt x="381000" y="0"/>
                  </a:lnTo>
                  <a:lnTo>
                    <a:pt x="333204" y="2968"/>
                  </a:lnTo>
                  <a:lnTo>
                    <a:pt x="287181" y="11634"/>
                  </a:lnTo>
                  <a:lnTo>
                    <a:pt x="243288" y="25643"/>
                  </a:lnTo>
                  <a:lnTo>
                    <a:pt x="201881" y="44636"/>
                  </a:lnTo>
                  <a:lnTo>
                    <a:pt x="163318" y="68257"/>
                  </a:lnTo>
                  <a:lnTo>
                    <a:pt x="127955" y="96149"/>
                  </a:lnTo>
                  <a:lnTo>
                    <a:pt x="96149" y="127955"/>
                  </a:lnTo>
                  <a:lnTo>
                    <a:pt x="68257" y="163318"/>
                  </a:lnTo>
                  <a:lnTo>
                    <a:pt x="44636" y="201881"/>
                  </a:lnTo>
                  <a:lnTo>
                    <a:pt x="25643" y="243288"/>
                  </a:lnTo>
                  <a:lnTo>
                    <a:pt x="11634" y="287181"/>
                  </a:lnTo>
                  <a:lnTo>
                    <a:pt x="2968" y="333204"/>
                  </a:lnTo>
                  <a:lnTo>
                    <a:pt x="0" y="381000"/>
                  </a:lnTo>
                  <a:lnTo>
                    <a:pt x="0" y="1905000"/>
                  </a:lnTo>
                  <a:lnTo>
                    <a:pt x="2968" y="1952795"/>
                  </a:lnTo>
                  <a:lnTo>
                    <a:pt x="11634" y="1998818"/>
                  </a:lnTo>
                  <a:lnTo>
                    <a:pt x="25643" y="2042711"/>
                  </a:lnTo>
                  <a:lnTo>
                    <a:pt x="44636" y="2084118"/>
                  </a:lnTo>
                  <a:lnTo>
                    <a:pt x="68257" y="2122681"/>
                  </a:lnTo>
                  <a:lnTo>
                    <a:pt x="96149" y="2158044"/>
                  </a:lnTo>
                  <a:lnTo>
                    <a:pt x="127955" y="2189850"/>
                  </a:lnTo>
                  <a:lnTo>
                    <a:pt x="163318" y="2217742"/>
                  </a:lnTo>
                  <a:lnTo>
                    <a:pt x="201881" y="2241363"/>
                  </a:lnTo>
                  <a:lnTo>
                    <a:pt x="243288" y="2260356"/>
                  </a:lnTo>
                  <a:lnTo>
                    <a:pt x="287181" y="2274365"/>
                  </a:lnTo>
                  <a:lnTo>
                    <a:pt x="333204" y="2283031"/>
                  </a:lnTo>
                  <a:lnTo>
                    <a:pt x="381000" y="2286000"/>
                  </a:lnTo>
                  <a:lnTo>
                    <a:pt x="5943599" y="2286000"/>
                  </a:lnTo>
                  <a:lnTo>
                    <a:pt x="5991395" y="2283031"/>
                  </a:lnTo>
                  <a:lnTo>
                    <a:pt x="6037418" y="2274365"/>
                  </a:lnTo>
                  <a:lnTo>
                    <a:pt x="6081311" y="2260356"/>
                  </a:lnTo>
                  <a:lnTo>
                    <a:pt x="6122718" y="2241363"/>
                  </a:lnTo>
                  <a:lnTo>
                    <a:pt x="6161281" y="2217742"/>
                  </a:lnTo>
                  <a:lnTo>
                    <a:pt x="6196644" y="2189850"/>
                  </a:lnTo>
                  <a:lnTo>
                    <a:pt x="6228450" y="2158044"/>
                  </a:lnTo>
                  <a:lnTo>
                    <a:pt x="6256342" y="2122681"/>
                  </a:lnTo>
                  <a:lnTo>
                    <a:pt x="6279963" y="2084118"/>
                  </a:lnTo>
                  <a:lnTo>
                    <a:pt x="6298956" y="2042711"/>
                  </a:lnTo>
                  <a:lnTo>
                    <a:pt x="6312965" y="1998818"/>
                  </a:lnTo>
                  <a:lnTo>
                    <a:pt x="6321631" y="1952795"/>
                  </a:lnTo>
                  <a:lnTo>
                    <a:pt x="6324599" y="1905000"/>
                  </a:lnTo>
                  <a:lnTo>
                    <a:pt x="6324599" y="381000"/>
                  </a:lnTo>
                  <a:lnTo>
                    <a:pt x="6321631" y="333204"/>
                  </a:lnTo>
                  <a:lnTo>
                    <a:pt x="6312965" y="287181"/>
                  </a:lnTo>
                  <a:lnTo>
                    <a:pt x="6298956" y="243288"/>
                  </a:lnTo>
                  <a:lnTo>
                    <a:pt x="6279963" y="201881"/>
                  </a:lnTo>
                  <a:lnTo>
                    <a:pt x="6256342" y="163318"/>
                  </a:lnTo>
                  <a:lnTo>
                    <a:pt x="6228450" y="127955"/>
                  </a:lnTo>
                  <a:lnTo>
                    <a:pt x="6196644" y="96149"/>
                  </a:lnTo>
                  <a:lnTo>
                    <a:pt x="6161281" y="68257"/>
                  </a:lnTo>
                  <a:lnTo>
                    <a:pt x="6122718" y="44636"/>
                  </a:lnTo>
                  <a:lnTo>
                    <a:pt x="6081311" y="25643"/>
                  </a:lnTo>
                  <a:lnTo>
                    <a:pt x="6037418" y="11634"/>
                  </a:lnTo>
                  <a:lnTo>
                    <a:pt x="5991395" y="2968"/>
                  </a:lnTo>
                  <a:lnTo>
                    <a:pt x="594359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1372361" y="3047238"/>
              <a:ext cx="6324600" cy="2286000"/>
            </a:xfrm>
            <a:custGeom>
              <a:avLst/>
              <a:gdLst/>
              <a:ahLst/>
              <a:cxnLst/>
              <a:rect l="l" t="t" r="r" b="b"/>
              <a:pathLst>
                <a:path w="6324600" h="2286000">
                  <a:moveTo>
                    <a:pt x="0" y="381000"/>
                  </a:moveTo>
                  <a:lnTo>
                    <a:pt x="2968" y="333204"/>
                  </a:lnTo>
                  <a:lnTo>
                    <a:pt x="11634" y="287181"/>
                  </a:lnTo>
                  <a:lnTo>
                    <a:pt x="25643" y="243288"/>
                  </a:lnTo>
                  <a:lnTo>
                    <a:pt x="44636" y="201881"/>
                  </a:lnTo>
                  <a:lnTo>
                    <a:pt x="68257" y="163318"/>
                  </a:lnTo>
                  <a:lnTo>
                    <a:pt x="96149" y="127955"/>
                  </a:lnTo>
                  <a:lnTo>
                    <a:pt x="127955" y="96149"/>
                  </a:lnTo>
                  <a:lnTo>
                    <a:pt x="163318" y="68257"/>
                  </a:lnTo>
                  <a:lnTo>
                    <a:pt x="201881" y="44636"/>
                  </a:lnTo>
                  <a:lnTo>
                    <a:pt x="243288" y="25643"/>
                  </a:lnTo>
                  <a:lnTo>
                    <a:pt x="287181" y="11634"/>
                  </a:lnTo>
                  <a:lnTo>
                    <a:pt x="333204" y="2968"/>
                  </a:lnTo>
                  <a:lnTo>
                    <a:pt x="381000" y="0"/>
                  </a:lnTo>
                  <a:lnTo>
                    <a:pt x="5943599" y="0"/>
                  </a:lnTo>
                  <a:lnTo>
                    <a:pt x="5991395" y="2968"/>
                  </a:lnTo>
                  <a:lnTo>
                    <a:pt x="6037418" y="11634"/>
                  </a:lnTo>
                  <a:lnTo>
                    <a:pt x="6081311" y="25643"/>
                  </a:lnTo>
                  <a:lnTo>
                    <a:pt x="6122718" y="44636"/>
                  </a:lnTo>
                  <a:lnTo>
                    <a:pt x="6161281" y="68257"/>
                  </a:lnTo>
                  <a:lnTo>
                    <a:pt x="6196644" y="96149"/>
                  </a:lnTo>
                  <a:lnTo>
                    <a:pt x="6228450" y="127955"/>
                  </a:lnTo>
                  <a:lnTo>
                    <a:pt x="6256342" y="163318"/>
                  </a:lnTo>
                  <a:lnTo>
                    <a:pt x="6279963" y="201881"/>
                  </a:lnTo>
                  <a:lnTo>
                    <a:pt x="6298956" y="243288"/>
                  </a:lnTo>
                  <a:lnTo>
                    <a:pt x="6312965" y="287181"/>
                  </a:lnTo>
                  <a:lnTo>
                    <a:pt x="6321631" y="333204"/>
                  </a:lnTo>
                  <a:lnTo>
                    <a:pt x="6324599" y="381000"/>
                  </a:lnTo>
                  <a:lnTo>
                    <a:pt x="6324599" y="1905000"/>
                  </a:lnTo>
                  <a:lnTo>
                    <a:pt x="6321631" y="1952795"/>
                  </a:lnTo>
                  <a:lnTo>
                    <a:pt x="6312965" y="1998818"/>
                  </a:lnTo>
                  <a:lnTo>
                    <a:pt x="6298956" y="2042711"/>
                  </a:lnTo>
                  <a:lnTo>
                    <a:pt x="6279963" y="2084118"/>
                  </a:lnTo>
                  <a:lnTo>
                    <a:pt x="6256342" y="2122681"/>
                  </a:lnTo>
                  <a:lnTo>
                    <a:pt x="6228450" y="2158044"/>
                  </a:lnTo>
                  <a:lnTo>
                    <a:pt x="6196644" y="2189850"/>
                  </a:lnTo>
                  <a:lnTo>
                    <a:pt x="6161281" y="2217742"/>
                  </a:lnTo>
                  <a:lnTo>
                    <a:pt x="6122718" y="2241363"/>
                  </a:lnTo>
                  <a:lnTo>
                    <a:pt x="6081311" y="2260356"/>
                  </a:lnTo>
                  <a:lnTo>
                    <a:pt x="6037418" y="2274365"/>
                  </a:lnTo>
                  <a:lnTo>
                    <a:pt x="5991395" y="2283031"/>
                  </a:lnTo>
                  <a:lnTo>
                    <a:pt x="5943599" y="2286000"/>
                  </a:lnTo>
                  <a:lnTo>
                    <a:pt x="381000" y="2286000"/>
                  </a:lnTo>
                  <a:lnTo>
                    <a:pt x="333204" y="2283031"/>
                  </a:lnTo>
                  <a:lnTo>
                    <a:pt x="287181" y="2274365"/>
                  </a:lnTo>
                  <a:lnTo>
                    <a:pt x="243288" y="2260356"/>
                  </a:lnTo>
                  <a:lnTo>
                    <a:pt x="201881" y="2241363"/>
                  </a:lnTo>
                  <a:lnTo>
                    <a:pt x="163318" y="2217742"/>
                  </a:lnTo>
                  <a:lnTo>
                    <a:pt x="127955" y="2189850"/>
                  </a:lnTo>
                  <a:lnTo>
                    <a:pt x="96149" y="2158044"/>
                  </a:lnTo>
                  <a:lnTo>
                    <a:pt x="68257" y="2122681"/>
                  </a:lnTo>
                  <a:lnTo>
                    <a:pt x="44636" y="2084118"/>
                  </a:lnTo>
                  <a:lnTo>
                    <a:pt x="25643" y="2042711"/>
                  </a:lnTo>
                  <a:lnTo>
                    <a:pt x="11634" y="1998818"/>
                  </a:lnTo>
                  <a:lnTo>
                    <a:pt x="2968" y="1952795"/>
                  </a:lnTo>
                  <a:lnTo>
                    <a:pt x="0" y="1905000"/>
                  </a:lnTo>
                  <a:lnTo>
                    <a:pt x="0" y="381000"/>
                  </a:lnTo>
                  <a:close/>
                </a:path>
              </a:pathLst>
            </a:custGeom>
            <a:ln w="254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3090163" y="3047238"/>
              <a:ext cx="1458595" cy="1059815"/>
            </a:xfrm>
            <a:custGeom>
              <a:avLst/>
              <a:gdLst/>
              <a:ahLst/>
              <a:cxnLst/>
              <a:rect l="l" t="t" r="r" b="b"/>
              <a:pathLst>
                <a:path w="1458595" h="1059814">
                  <a:moveTo>
                    <a:pt x="1338961" y="973836"/>
                  </a:moveTo>
                  <a:lnTo>
                    <a:pt x="1338961" y="1059561"/>
                  </a:lnTo>
                  <a:lnTo>
                    <a:pt x="1396195" y="1030986"/>
                  </a:lnTo>
                  <a:lnTo>
                    <a:pt x="1353185" y="1030986"/>
                  </a:lnTo>
                  <a:lnTo>
                    <a:pt x="1353185" y="1002411"/>
                  </a:lnTo>
                  <a:lnTo>
                    <a:pt x="1396026" y="1002411"/>
                  </a:lnTo>
                  <a:lnTo>
                    <a:pt x="1338961" y="973836"/>
                  </a:lnTo>
                  <a:close/>
                </a:path>
                <a:path w="1458595" h="1059814">
                  <a:moveTo>
                    <a:pt x="1429639" y="353440"/>
                  </a:moveTo>
                  <a:lnTo>
                    <a:pt x="6477" y="353440"/>
                  </a:lnTo>
                  <a:lnTo>
                    <a:pt x="0" y="359917"/>
                  </a:lnTo>
                  <a:lnTo>
                    <a:pt x="0" y="1024636"/>
                  </a:lnTo>
                  <a:lnTo>
                    <a:pt x="6477" y="1030986"/>
                  </a:lnTo>
                  <a:lnTo>
                    <a:pt x="1338961" y="1030986"/>
                  </a:lnTo>
                  <a:lnTo>
                    <a:pt x="1338961" y="1016762"/>
                  </a:lnTo>
                  <a:lnTo>
                    <a:pt x="28575" y="1016762"/>
                  </a:lnTo>
                  <a:lnTo>
                    <a:pt x="14350" y="1002411"/>
                  </a:lnTo>
                  <a:lnTo>
                    <a:pt x="28575" y="1002411"/>
                  </a:lnTo>
                  <a:lnTo>
                    <a:pt x="28575" y="382015"/>
                  </a:lnTo>
                  <a:lnTo>
                    <a:pt x="14350" y="382015"/>
                  </a:lnTo>
                  <a:lnTo>
                    <a:pt x="28575" y="367791"/>
                  </a:lnTo>
                  <a:lnTo>
                    <a:pt x="1429639" y="367791"/>
                  </a:lnTo>
                  <a:lnTo>
                    <a:pt x="1429639" y="353440"/>
                  </a:lnTo>
                  <a:close/>
                </a:path>
                <a:path w="1458595" h="1059814">
                  <a:moveTo>
                    <a:pt x="1396026" y="1002411"/>
                  </a:moveTo>
                  <a:lnTo>
                    <a:pt x="1353185" y="1002411"/>
                  </a:lnTo>
                  <a:lnTo>
                    <a:pt x="1353185" y="1030986"/>
                  </a:lnTo>
                  <a:lnTo>
                    <a:pt x="1396195" y="1030986"/>
                  </a:lnTo>
                  <a:lnTo>
                    <a:pt x="1424686" y="1016762"/>
                  </a:lnTo>
                  <a:lnTo>
                    <a:pt x="1396026" y="1002411"/>
                  </a:lnTo>
                  <a:close/>
                </a:path>
                <a:path w="1458595" h="1059814">
                  <a:moveTo>
                    <a:pt x="28575" y="1002411"/>
                  </a:moveTo>
                  <a:lnTo>
                    <a:pt x="14350" y="1002411"/>
                  </a:lnTo>
                  <a:lnTo>
                    <a:pt x="28575" y="1016762"/>
                  </a:lnTo>
                  <a:lnTo>
                    <a:pt x="28575" y="1002411"/>
                  </a:lnTo>
                  <a:close/>
                </a:path>
                <a:path w="1458595" h="1059814">
                  <a:moveTo>
                    <a:pt x="1338961" y="1002411"/>
                  </a:moveTo>
                  <a:lnTo>
                    <a:pt x="28575" y="1002411"/>
                  </a:lnTo>
                  <a:lnTo>
                    <a:pt x="28575" y="1016762"/>
                  </a:lnTo>
                  <a:lnTo>
                    <a:pt x="1338961" y="1016762"/>
                  </a:lnTo>
                  <a:lnTo>
                    <a:pt x="1338961" y="1002411"/>
                  </a:lnTo>
                  <a:close/>
                </a:path>
                <a:path w="1458595" h="1059814">
                  <a:moveTo>
                    <a:pt x="28575" y="367791"/>
                  </a:moveTo>
                  <a:lnTo>
                    <a:pt x="14350" y="382015"/>
                  </a:lnTo>
                  <a:lnTo>
                    <a:pt x="28575" y="382015"/>
                  </a:lnTo>
                  <a:lnTo>
                    <a:pt x="28575" y="367791"/>
                  </a:lnTo>
                  <a:close/>
                </a:path>
                <a:path w="1458595" h="1059814">
                  <a:moveTo>
                    <a:pt x="1458214" y="353440"/>
                  </a:moveTo>
                  <a:lnTo>
                    <a:pt x="1443863" y="353440"/>
                  </a:lnTo>
                  <a:lnTo>
                    <a:pt x="1429639" y="367791"/>
                  </a:lnTo>
                  <a:lnTo>
                    <a:pt x="28575" y="367791"/>
                  </a:lnTo>
                  <a:lnTo>
                    <a:pt x="28575" y="382015"/>
                  </a:lnTo>
                  <a:lnTo>
                    <a:pt x="1451737" y="382015"/>
                  </a:lnTo>
                  <a:lnTo>
                    <a:pt x="1458214" y="375665"/>
                  </a:lnTo>
                  <a:lnTo>
                    <a:pt x="1458214" y="353440"/>
                  </a:lnTo>
                  <a:close/>
                </a:path>
                <a:path w="1458595" h="1059814">
                  <a:moveTo>
                    <a:pt x="1458214" y="0"/>
                  </a:moveTo>
                  <a:lnTo>
                    <a:pt x="1429639" y="0"/>
                  </a:lnTo>
                  <a:lnTo>
                    <a:pt x="1429639" y="367791"/>
                  </a:lnTo>
                  <a:lnTo>
                    <a:pt x="1443863" y="353440"/>
                  </a:lnTo>
                  <a:lnTo>
                    <a:pt x="1458214" y="353440"/>
                  </a:lnTo>
                  <a:lnTo>
                    <a:pt x="1458214" y="0"/>
                  </a:lnTo>
                  <a:close/>
                </a:path>
              </a:pathLst>
            </a:custGeom>
            <a:solidFill>
              <a:srgbClr val="D7E1F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1" name="object 81"/>
          <p:cNvGrpSpPr/>
          <p:nvPr/>
        </p:nvGrpSpPr>
        <p:grpSpPr>
          <a:xfrm>
            <a:off x="4468367" y="3578364"/>
            <a:ext cx="775970" cy="1644014"/>
            <a:chOff x="4468367" y="3578364"/>
            <a:chExt cx="775970" cy="1644014"/>
          </a:xfrm>
        </p:grpSpPr>
        <p:sp>
          <p:nvSpPr>
            <p:cNvPr id="82" name="object 82"/>
            <p:cNvSpPr/>
            <p:nvPr/>
          </p:nvSpPr>
          <p:spPr>
            <a:xfrm>
              <a:off x="4609210" y="4520945"/>
              <a:ext cx="263525" cy="701675"/>
            </a:xfrm>
            <a:custGeom>
              <a:avLst/>
              <a:gdLst/>
              <a:ahLst/>
              <a:cxnLst/>
              <a:rect l="l" t="t" r="r" b="b"/>
              <a:pathLst>
                <a:path w="263525" h="701675">
                  <a:moveTo>
                    <a:pt x="28575" y="615695"/>
                  </a:moveTo>
                  <a:lnTo>
                    <a:pt x="0" y="615695"/>
                  </a:lnTo>
                  <a:lnTo>
                    <a:pt x="42799" y="701420"/>
                  </a:lnTo>
                  <a:lnTo>
                    <a:pt x="78602" y="629919"/>
                  </a:lnTo>
                  <a:lnTo>
                    <a:pt x="28575" y="629919"/>
                  </a:lnTo>
                  <a:lnTo>
                    <a:pt x="28575" y="615695"/>
                  </a:lnTo>
                  <a:close/>
                </a:path>
                <a:path w="263525" h="701675">
                  <a:moveTo>
                    <a:pt x="234568" y="336295"/>
                  </a:moveTo>
                  <a:lnTo>
                    <a:pt x="34925" y="336295"/>
                  </a:lnTo>
                  <a:lnTo>
                    <a:pt x="28575" y="342772"/>
                  </a:lnTo>
                  <a:lnTo>
                    <a:pt x="28575" y="629919"/>
                  </a:lnTo>
                  <a:lnTo>
                    <a:pt x="57150" y="629919"/>
                  </a:lnTo>
                  <a:lnTo>
                    <a:pt x="57150" y="364870"/>
                  </a:lnTo>
                  <a:lnTo>
                    <a:pt x="42799" y="364870"/>
                  </a:lnTo>
                  <a:lnTo>
                    <a:pt x="57150" y="350646"/>
                  </a:lnTo>
                  <a:lnTo>
                    <a:pt x="234568" y="350646"/>
                  </a:lnTo>
                  <a:lnTo>
                    <a:pt x="234568" y="336295"/>
                  </a:lnTo>
                  <a:close/>
                </a:path>
                <a:path w="263525" h="701675">
                  <a:moveTo>
                    <a:pt x="85725" y="615695"/>
                  </a:moveTo>
                  <a:lnTo>
                    <a:pt x="57150" y="615695"/>
                  </a:lnTo>
                  <a:lnTo>
                    <a:pt x="57150" y="629919"/>
                  </a:lnTo>
                  <a:lnTo>
                    <a:pt x="78602" y="629919"/>
                  </a:lnTo>
                  <a:lnTo>
                    <a:pt x="85725" y="615695"/>
                  </a:lnTo>
                  <a:close/>
                </a:path>
                <a:path w="263525" h="701675">
                  <a:moveTo>
                    <a:pt x="57150" y="350646"/>
                  </a:moveTo>
                  <a:lnTo>
                    <a:pt x="42799" y="364870"/>
                  </a:lnTo>
                  <a:lnTo>
                    <a:pt x="57150" y="364870"/>
                  </a:lnTo>
                  <a:lnTo>
                    <a:pt x="57150" y="350646"/>
                  </a:lnTo>
                  <a:close/>
                </a:path>
                <a:path w="263525" h="701675">
                  <a:moveTo>
                    <a:pt x="263143" y="336295"/>
                  </a:moveTo>
                  <a:lnTo>
                    <a:pt x="248919" y="336295"/>
                  </a:lnTo>
                  <a:lnTo>
                    <a:pt x="234568" y="350646"/>
                  </a:lnTo>
                  <a:lnTo>
                    <a:pt x="57150" y="350646"/>
                  </a:lnTo>
                  <a:lnTo>
                    <a:pt x="57150" y="364870"/>
                  </a:lnTo>
                  <a:lnTo>
                    <a:pt x="256793" y="364870"/>
                  </a:lnTo>
                  <a:lnTo>
                    <a:pt x="263143" y="358520"/>
                  </a:lnTo>
                  <a:lnTo>
                    <a:pt x="263143" y="336295"/>
                  </a:lnTo>
                  <a:close/>
                </a:path>
                <a:path w="263525" h="701675">
                  <a:moveTo>
                    <a:pt x="263143" y="0"/>
                  </a:moveTo>
                  <a:lnTo>
                    <a:pt x="234568" y="0"/>
                  </a:lnTo>
                  <a:lnTo>
                    <a:pt x="234568" y="350646"/>
                  </a:lnTo>
                  <a:lnTo>
                    <a:pt x="248919" y="336295"/>
                  </a:lnTo>
                  <a:lnTo>
                    <a:pt x="263143" y="336295"/>
                  </a:lnTo>
                  <a:lnTo>
                    <a:pt x="263143" y="0"/>
                  </a:lnTo>
                  <a:close/>
                </a:path>
              </a:pathLst>
            </a:custGeom>
            <a:solidFill>
              <a:srgbClr val="D7E1F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3" name="object 8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68367" y="3578364"/>
              <a:ext cx="775703" cy="1004303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15611" y="3605783"/>
              <a:ext cx="685800" cy="914400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4515611" y="3605783"/>
              <a:ext cx="685800" cy="914400"/>
            </a:xfrm>
            <a:custGeom>
              <a:avLst/>
              <a:gdLst/>
              <a:ahLst/>
              <a:cxnLst/>
              <a:rect l="l" t="t" r="r" b="b"/>
              <a:pathLst>
                <a:path w="685800" h="914400">
                  <a:moveTo>
                    <a:pt x="0" y="914400"/>
                  </a:moveTo>
                  <a:lnTo>
                    <a:pt x="685800" y="914400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4505705" y="3975353"/>
              <a:ext cx="715010" cy="157480"/>
            </a:xfrm>
            <a:custGeom>
              <a:avLst/>
              <a:gdLst/>
              <a:ahLst/>
              <a:cxnLst/>
              <a:rect l="l" t="t" r="r" b="b"/>
              <a:pathLst>
                <a:path w="715010" h="157479">
                  <a:moveTo>
                    <a:pt x="714755" y="0"/>
                  </a:moveTo>
                  <a:lnTo>
                    <a:pt x="0" y="0"/>
                  </a:lnTo>
                  <a:lnTo>
                    <a:pt x="0" y="156972"/>
                  </a:lnTo>
                  <a:lnTo>
                    <a:pt x="714755" y="156972"/>
                  </a:lnTo>
                  <a:lnTo>
                    <a:pt x="714755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4505705" y="3975353"/>
              <a:ext cx="715010" cy="157480"/>
            </a:xfrm>
            <a:custGeom>
              <a:avLst/>
              <a:gdLst/>
              <a:ahLst/>
              <a:cxnLst/>
              <a:rect l="l" t="t" r="r" b="b"/>
              <a:pathLst>
                <a:path w="715010" h="157479">
                  <a:moveTo>
                    <a:pt x="0" y="156972"/>
                  </a:moveTo>
                  <a:lnTo>
                    <a:pt x="714755" y="156972"/>
                  </a:lnTo>
                  <a:lnTo>
                    <a:pt x="714755" y="0"/>
                  </a:lnTo>
                  <a:lnTo>
                    <a:pt x="0" y="0"/>
                  </a:lnTo>
                  <a:lnTo>
                    <a:pt x="0" y="156972"/>
                  </a:lnTo>
                  <a:close/>
                </a:path>
              </a:pathLst>
            </a:custGeom>
            <a:ln w="25399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0" name="object 80"/>
          <p:cNvSpPr txBox="1"/>
          <p:nvPr/>
        </p:nvSpPr>
        <p:spPr>
          <a:xfrm>
            <a:off x="5413375" y="4001770"/>
            <a:ext cx="9340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Page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Table</a:t>
            </a:r>
            <a:endParaRPr sz="140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979422" y="5927242"/>
            <a:ext cx="19240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Physical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Address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88282" y="5830011"/>
            <a:ext cx="56832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25">
                <a:solidFill>
                  <a:srgbClr val="FFFFFF"/>
                </a:solidFill>
                <a:latin typeface="Arial"/>
                <a:cs typeface="Arial"/>
              </a:rPr>
              <a:t>PA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32343" y="0"/>
            <a:ext cx="754907" cy="139051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484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350"/>
              </a:spcBef>
            </a:pP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Page</a:t>
            </a:r>
            <a:r>
              <a:rPr dirty="0" sz="2200" spc="-7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Walking</a:t>
            </a:r>
            <a:r>
              <a:rPr dirty="0" sz="2200" spc="-6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C55A11"/>
                </a:solidFill>
                <a:latin typeface="Arial"/>
                <a:cs typeface="Arial"/>
              </a:rPr>
              <a:t>(Recap)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50240" y="1379880"/>
            <a:ext cx="10709275" cy="4986020"/>
          </a:xfrm>
          <a:prstGeom prst="rect">
            <a:avLst/>
          </a:prstGeom>
        </p:spPr>
        <p:txBody>
          <a:bodyPr wrap="square" lIns="0" tIns="15557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225"/>
              </a:spcBef>
              <a:buSzPct val="81818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Software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walker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handler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walks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table</a:t>
            </a:r>
            <a:endParaRPr sz="2200">
              <a:latin typeface="Calibri"/>
              <a:cs typeface="Calibri"/>
            </a:endParaRPr>
          </a:p>
          <a:p>
            <a:pPr lvl="1" marL="812800" indent="-342900">
              <a:lnSpc>
                <a:spcPct val="100000"/>
              </a:lnSpc>
              <a:spcBef>
                <a:spcPts val="1130"/>
              </a:spcBef>
              <a:buSzPct val="81818"/>
              <a:buFont typeface="Arial"/>
              <a:buChar char="•"/>
              <a:tabLst>
                <a:tab pos="812800" algn="l"/>
              </a:tabLst>
            </a:pPr>
            <a:r>
              <a:rPr dirty="0" sz="2200">
                <a:latin typeface="Calibri"/>
                <a:cs typeface="Calibri"/>
              </a:rPr>
              <a:t>slower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hardware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table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walker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due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large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address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translation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overhead</a:t>
            </a:r>
            <a:endParaRPr sz="2200">
              <a:latin typeface="Calibri"/>
              <a:cs typeface="Calibri"/>
            </a:endParaRPr>
          </a:p>
          <a:p>
            <a:pPr lvl="1" marL="812800" indent="-342900">
              <a:lnSpc>
                <a:spcPct val="100000"/>
              </a:lnSpc>
              <a:spcBef>
                <a:spcPts val="1130"/>
              </a:spcBef>
              <a:buSzPct val="81818"/>
              <a:buFont typeface="Arial"/>
              <a:buChar char="•"/>
              <a:tabLst>
                <a:tab pos="812800" algn="l"/>
              </a:tabLst>
            </a:pPr>
            <a:r>
              <a:rPr dirty="0" sz="2200">
                <a:latin typeface="Calibri"/>
                <a:cs typeface="Calibri"/>
              </a:rPr>
              <a:t>Example: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SPARC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(Sun/Oracle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Machines)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130"/>
              </a:spcBef>
              <a:buSzPct val="81818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Hardware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walker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generates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load-like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“instructions”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access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table</a:t>
            </a:r>
            <a:endParaRPr sz="2200">
              <a:latin typeface="Calibri"/>
              <a:cs typeface="Calibri"/>
            </a:endParaRPr>
          </a:p>
          <a:p>
            <a:pPr lvl="1" marL="812800" indent="-342900">
              <a:lnSpc>
                <a:spcPct val="100000"/>
              </a:lnSpc>
              <a:spcBef>
                <a:spcPts val="1125"/>
              </a:spcBef>
              <a:buSzPct val="81818"/>
              <a:buFont typeface="Arial"/>
              <a:buChar char="•"/>
              <a:tabLst>
                <a:tab pos="812800" algn="l"/>
              </a:tabLst>
            </a:pPr>
            <a:r>
              <a:rPr dirty="0" sz="2200">
                <a:latin typeface="Calibri"/>
                <a:cs typeface="Calibri"/>
              </a:rPr>
              <a:t>Example: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x86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ARM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processors</a:t>
            </a:r>
            <a:endParaRPr sz="2200">
              <a:latin typeface="Calibri"/>
              <a:cs typeface="Calibri"/>
            </a:endParaRPr>
          </a:p>
          <a:p>
            <a:pPr marL="355600" marR="5080" indent="-342900">
              <a:lnSpc>
                <a:spcPct val="120000"/>
              </a:lnSpc>
              <a:spcBef>
                <a:spcPts val="600"/>
              </a:spcBef>
              <a:buSzPct val="81818"/>
              <a:buFont typeface="Arial"/>
              <a:buChar char="•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During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walk,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walker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encounters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physical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addresses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CR3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register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in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table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entries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point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next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level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walk.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walk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ends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when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the </a:t>
            </a:r>
            <a:r>
              <a:rPr dirty="0" sz="2200">
                <a:latin typeface="Calibri"/>
                <a:cs typeface="Calibri"/>
              </a:rPr>
              <a:t>data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leaf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reached.</a:t>
            </a:r>
            <a:endParaRPr sz="2200">
              <a:latin typeface="Calibri"/>
              <a:cs typeface="Calibri"/>
            </a:endParaRPr>
          </a:p>
          <a:p>
            <a:pPr marL="355600" marR="295910" indent="-342900">
              <a:lnSpc>
                <a:spcPct val="120000"/>
              </a:lnSpc>
              <a:spcBef>
                <a:spcPts val="600"/>
              </a:spcBef>
              <a:buChar char="•"/>
              <a:tabLst>
                <a:tab pos="355600" algn="l"/>
                <a:tab pos="419100" algn="l"/>
              </a:tabLst>
            </a:pPr>
            <a:r>
              <a:rPr dirty="0" sz="1800">
                <a:latin typeface="Arial"/>
                <a:cs typeface="Arial"/>
              </a:rPr>
              <a:t>	</a:t>
            </a:r>
            <a:r>
              <a:rPr dirty="0" sz="2200">
                <a:latin typeface="Calibri"/>
                <a:cs typeface="Calibri"/>
              </a:rPr>
              <a:t>Address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translation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very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memory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intensive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operation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because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walker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must </a:t>
            </a:r>
            <a:r>
              <a:rPr dirty="0" sz="2200">
                <a:latin typeface="Calibri"/>
                <a:cs typeface="Calibri"/>
              </a:rPr>
              <a:t>access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memory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hierarchy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many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times.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reduce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overhead,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processors </a:t>
            </a:r>
            <a:r>
              <a:rPr dirty="0" sz="2200">
                <a:latin typeface="Calibri"/>
                <a:cs typeface="Calibri"/>
              </a:rPr>
              <a:t>automatically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store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recent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translations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internal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translation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look-</a:t>
            </a:r>
            <a:r>
              <a:rPr dirty="0" sz="2200">
                <a:latin typeface="Calibri"/>
                <a:cs typeface="Calibri"/>
              </a:rPr>
              <a:t>aside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buffer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(TLB).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32343" y="0"/>
            <a:ext cx="754907" cy="139051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484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350"/>
              </a:spcBef>
            </a:pP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Requirement</a:t>
            </a:r>
            <a:r>
              <a:rPr dirty="0" sz="2200" spc="-4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for</a:t>
            </a:r>
            <a:r>
              <a:rPr dirty="0" sz="2200" spc="-6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memory</a:t>
            </a:r>
            <a:r>
              <a:rPr dirty="0" sz="2200" spc="-7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C55A11"/>
                </a:solidFill>
                <a:latin typeface="Arial"/>
                <a:cs typeface="Arial"/>
              </a:rPr>
              <a:t>virtualization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85038" y="1724405"/>
            <a:ext cx="11135995" cy="2409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75000"/>
              <a:buFont typeface="Arial"/>
              <a:buChar char="•"/>
              <a:tabLst>
                <a:tab pos="355600" algn="l"/>
              </a:tabLst>
            </a:pPr>
            <a:r>
              <a:rPr dirty="0" sz="2400" b="1">
                <a:latin typeface="Calibri"/>
                <a:cs typeface="Calibri"/>
              </a:rPr>
              <a:t>VMs</a:t>
            </a:r>
            <a:r>
              <a:rPr dirty="0" sz="2400" spc="-3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or</a:t>
            </a:r>
            <a:r>
              <a:rPr dirty="0" sz="2400" spc="-4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Guest</a:t>
            </a:r>
            <a:r>
              <a:rPr dirty="0" sz="2400" spc="-2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OSes</a:t>
            </a:r>
            <a:r>
              <a:rPr dirty="0" sz="2400" spc="-25" b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VMs</a:t>
            </a:r>
            <a:r>
              <a:rPr dirty="0" sz="2400" spc="-20" b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should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not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have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direct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access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physical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memory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69"/>
              </a:spcBef>
              <a:buFont typeface="Arial"/>
              <a:buChar char="•"/>
            </a:pP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75000"/>
              <a:buFont typeface="Arial"/>
              <a:buChar char="•"/>
              <a:tabLst>
                <a:tab pos="355600" algn="l"/>
              </a:tabLst>
            </a:pPr>
            <a:r>
              <a:rPr dirty="0" sz="2400" b="1">
                <a:latin typeface="Calibri"/>
                <a:cs typeface="Calibri"/>
              </a:rPr>
              <a:t>Hypervisor</a:t>
            </a:r>
            <a:r>
              <a:rPr dirty="0" sz="2400" spc="-40" b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VMM</a:t>
            </a:r>
            <a:r>
              <a:rPr dirty="0" sz="2400" spc="-15" b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should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only</a:t>
            </a:r>
            <a:r>
              <a:rPr dirty="0" sz="2400" spc="-3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manage</a:t>
            </a:r>
            <a:r>
              <a:rPr dirty="0" sz="2400" spc="-20" b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Host</a:t>
            </a:r>
            <a:r>
              <a:rPr dirty="0" sz="2400" spc="-3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Physical</a:t>
            </a:r>
            <a:r>
              <a:rPr dirty="0" sz="2400" spc="-3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memory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30"/>
              </a:spcBef>
              <a:buFont typeface="Arial"/>
              <a:buChar char="•"/>
            </a:pPr>
            <a:endParaRPr sz="2400">
              <a:latin typeface="Calibri"/>
              <a:cs typeface="Calibri"/>
            </a:endParaRPr>
          </a:p>
          <a:p>
            <a:pPr marL="355600" marR="5080" indent="-343535">
              <a:lnSpc>
                <a:spcPts val="2590"/>
              </a:lnSpc>
              <a:buSzPct val="75000"/>
              <a:buFont typeface="Arial"/>
              <a:buChar char="•"/>
              <a:tabLst>
                <a:tab pos="355600" algn="l"/>
              </a:tabLst>
            </a:pPr>
            <a:r>
              <a:rPr dirty="0" sz="2400" b="1">
                <a:latin typeface="Calibri"/>
                <a:cs typeface="Calibri"/>
              </a:rPr>
              <a:t>Guest</a:t>
            </a:r>
            <a:r>
              <a:rPr dirty="0" sz="2400" spc="-2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OS</a:t>
            </a:r>
            <a:r>
              <a:rPr dirty="0" sz="2400" spc="-35" b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should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fooled</a:t>
            </a:r>
            <a:r>
              <a:rPr dirty="0" sz="2400">
                <a:latin typeface="Calibri"/>
                <a:cs typeface="Calibri"/>
              </a:rPr>
              <a:t>/or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should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made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believe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accessing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physical memory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32343" y="0"/>
            <a:ext cx="754907" cy="139051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484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350"/>
              </a:spcBef>
            </a:pP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Virtualizing</a:t>
            </a:r>
            <a:r>
              <a:rPr dirty="0" sz="2200" spc="-7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virtual</a:t>
            </a:r>
            <a:r>
              <a:rPr dirty="0" sz="2200" spc="-8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C55A11"/>
                </a:solidFill>
                <a:latin typeface="Arial"/>
                <a:cs typeface="Arial"/>
              </a:rPr>
              <a:t>memory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194" y="1302258"/>
            <a:ext cx="8299450" cy="0"/>
          </a:xfrm>
          <a:custGeom>
            <a:avLst/>
            <a:gdLst/>
            <a:ahLst/>
            <a:cxnLst/>
            <a:rect l="l" t="t" r="r" b="b"/>
            <a:pathLst>
              <a:path w="8299450" h="0">
                <a:moveTo>
                  <a:pt x="0" y="0"/>
                </a:moveTo>
                <a:lnTo>
                  <a:pt x="8299450" y="0"/>
                </a:lnTo>
              </a:path>
            </a:pathLst>
          </a:custGeom>
          <a:ln w="38100">
            <a:solidFill>
              <a:srgbClr val="C55A1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3" name="object 263"/>
          <p:cNvSpPr txBox="1"/>
          <p:nvPr/>
        </p:nvSpPr>
        <p:spPr>
          <a:xfrm>
            <a:off x="169875" y="1825498"/>
            <a:ext cx="231648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Calibri"/>
                <a:cs typeface="Calibri"/>
              </a:rPr>
              <a:t>Managed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by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guest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OS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8" name="object 148"/>
          <p:cNvSpPr txBox="1"/>
          <p:nvPr/>
        </p:nvSpPr>
        <p:spPr>
          <a:xfrm>
            <a:off x="2933445" y="1731391"/>
            <a:ext cx="190182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Calibri"/>
                <a:cs typeface="Calibri"/>
              </a:rPr>
              <a:t>Virtual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Machine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spc="-50" b="1"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9" name="object 149"/>
          <p:cNvSpPr txBox="1"/>
          <p:nvPr/>
        </p:nvSpPr>
        <p:spPr>
          <a:xfrm>
            <a:off x="6624066" y="1742948"/>
            <a:ext cx="1901189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Calibri"/>
                <a:cs typeface="Calibri"/>
              </a:rPr>
              <a:t>Virtual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Machine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spc="-50" b="1">
                <a:latin typeface="Calibri"/>
                <a:cs typeface="Calibri"/>
              </a:rPr>
              <a:t>2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373124" y="2254250"/>
            <a:ext cx="6074410" cy="3643629"/>
            <a:chOff x="1373124" y="2254250"/>
            <a:chExt cx="6074410" cy="3643629"/>
          </a:xfrm>
        </p:grpSpPr>
        <p:sp>
          <p:nvSpPr>
            <p:cNvPr id="6" name="object 6"/>
            <p:cNvSpPr/>
            <p:nvPr/>
          </p:nvSpPr>
          <p:spPr>
            <a:xfrm>
              <a:off x="2330958" y="2266950"/>
              <a:ext cx="3389629" cy="1828800"/>
            </a:xfrm>
            <a:custGeom>
              <a:avLst/>
              <a:gdLst/>
              <a:ahLst/>
              <a:cxnLst/>
              <a:rect l="l" t="t" r="r" b="b"/>
              <a:pathLst>
                <a:path w="3389629" h="1828800">
                  <a:moveTo>
                    <a:pt x="3084576" y="0"/>
                  </a:moveTo>
                  <a:lnTo>
                    <a:pt x="304800" y="0"/>
                  </a:lnTo>
                  <a:lnTo>
                    <a:pt x="255374" y="3990"/>
                  </a:lnTo>
                  <a:lnTo>
                    <a:pt x="208483" y="15544"/>
                  </a:lnTo>
                  <a:lnTo>
                    <a:pt x="164753" y="34032"/>
                  </a:lnTo>
                  <a:lnTo>
                    <a:pt x="124815" y="58826"/>
                  </a:lnTo>
                  <a:lnTo>
                    <a:pt x="89296" y="89296"/>
                  </a:lnTo>
                  <a:lnTo>
                    <a:pt x="58826" y="124815"/>
                  </a:lnTo>
                  <a:lnTo>
                    <a:pt x="34032" y="164753"/>
                  </a:lnTo>
                  <a:lnTo>
                    <a:pt x="15544" y="208483"/>
                  </a:lnTo>
                  <a:lnTo>
                    <a:pt x="3990" y="255374"/>
                  </a:lnTo>
                  <a:lnTo>
                    <a:pt x="0" y="304800"/>
                  </a:lnTo>
                  <a:lnTo>
                    <a:pt x="0" y="1524000"/>
                  </a:lnTo>
                  <a:lnTo>
                    <a:pt x="3990" y="1573425"/>
                  </a:lnTo>
                  <a:lnTo>
                    <a:pt x="15544" y="1620316"/>
                  </a:lnTo>
                  <a:lnTo>
                    <a:pt x="34032" y="1664046"/>
                  </a:lnTo>
                  <a:lnTo>
                    <a:pt x="58826" y="1703984"/>
                  </a:lnTo>
                  <a:lnTo>
                    <a:pt x="89296" y="1739503"/>
                  </a:lnTo>
                  <a:lnTo>
                    <a:pt x="124815" y="1769973"/>
                  </a:lnTo>
                  <a:lnTo>
                    <a:pt x="164753" y="1794767"/>
                  </a:lnTo>
                  <a:lnTo>
                    <a:pt x="208483" y="1813255"/>
                  </a:lnTo>
                  <a:lnTo>
                    <a:pt x="255374" y="1824809"/>
                  </a:lnTo>
                  <a:lnTo>
                    <a:pt x="304800" y="1828800"/>
                  </a:lnTo>
                  <a:lnTo>
                    <a:pt x="3084576" y="1828800"/>
                  </a:lnTo>
                  <a:lnTo>
                    <a:pt x="3134001" y="1824809"/>
                  </a:lnTo>
                  <a:lnTo>
                    <a:pt x="3180892" y="1813255"/>
                  </a:lnTo>
                  <a:lnTo>
                    <a:pt x="3224622" y="1794767"/>
                  </a:lnTo>
                  <a:lnTo>
                    <a:pt x="3264560" y="1769973"/>
                  </a:lnTo>
                  <a:lnTo>
                    <a:pt x="3300079" y="1739503"/>
                  </a:lnTo>
                  <a:lnTo>
                    <a:pt x="3330549" y="1703984"/>
                  </a:lnTo>
                  <a:lnTo>
                    <a:pt x="3355343" y="1664046"/>
                  </a:lnTo>
                  <a:lnTo>
                    <a:pt x="3373831" y="1620316"/>
                  </a:lnTo>
                  <a:lnTo>
                    <a:pt x="3385385" y="1573425"/>
                  </a:lnTo>
                  <a:lnTo>
                    <a:pt x="3389376" y="1524000"/>
                  </a:lnTo>
                  <a:lnTo>
                    <a:pt x="3389376" y="304800"/>
                  </a:lnTo>
                  <a:lnTo>
                    <a:pt x="3385385" y="255374"/>
                  </a:lnTo>
                  <a:lnTo>
                    <a:pt x="3373831" y="208483"/>
                  </a:lnTo>
                  <a:lnTo>
                    <a:pt x="3355343" y="164753"/>
                  </a:lnTo>
                  <a:lnTo>
                    <a:pt x="3330549" y="124815"/>
                  </a:lnTo>
                  <a:lnTo>
                    <a:pt x="3300079" y="89296"/>
                  </a:lnTo>
                  <a:lnTo>
                    <a:pt x="3264560" y="58826"/>
                  </a:lnTo>
                  <a:lnTo>
                    <a:pt x="3224622" y="34032"/>
                  </a:lnTo>
                  <a:lnTo>
                    <a:pt x="3180892" y="15544"/>
                  </a:lnTo>
                  <a:lnTo>
                    <a:pt x="3134001" y="3990"/>
                  </a:lnTo>
                  <a:lnTo>
                    <a:pt x="3084576" y="0"/>
                  </a:lnTo>
                  <a:close/>
                </a:path>
              </a:pathLst>
            </a:custGeom>
            <a:solidFill>
              <a:srgbClr val="BAD5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330958" y="2266950"/>
              <a:ext cx="3389629" cy="1828800"/>
            </a:xfrm>
            <a:custGeom>
              <a:avLst/>
              <a:gdLst/>
              <a:ahLst/>
              <a:cxnLst/>
              <a:rect l="l" t="t" r="r" b="b"/>
              <a:pathLst>
                <a:path w="3389629" h="1828800">
                  <a:moveTo>
                    <a:pt x="0" y="304800"/>
                  </a:moveTo>
                  <a:lnTo>
                    <a:pt x="3990" y="255374"/>
                  </a:lnTo>
                  <a:lnTo>
                    <a:pt x="15544" y="208483"/>
                  </a:lnTo>
                  <a:lnTo>
                    <a:pt x="34032" y="164753"/>
                  </a:lnTo>
                  <a:lnTo>
                    <a:pt x="58826" y="124815"/>
                  </a:lnTo>
                  <a:lnTo>
                    <a:pt x="89296" y="89296"/>
                  </a:lnTo>
                  <a:lnTo>
                    <a:pt x="124815" y="58826"/>
                  </a:lnTo>
                  <a:lnTo>
                    <a:pt x="164753" y="34032"/>
                  </a:lnTo>
                  <a:lnTo>
                    <a:pt x="208483" y="15544"/>
                  </a:lnTo>
                  <a:lnTo>
                    <a:pt x="255374" y="3990"/>
                  </a:lnTo>
                  <a:lnTo>
                    <a:pt x="304800" y="0"/>
                  </a:lnTo>
                  <a:lnTo>
                    <a:pt x="3084576" y="0"/>
                  </a:lnTo>
                  <a:lnTo>
                    <a:pt x="3134001" y="3990"/>
                  </a:lnTo>
                  <a:lnTo>
                    <a:pt x="3180892" y="15544"/>
                  </a:lnTo>
                  <a:lnTo>
                    <a:pt x="3224622" y="34032"/>
                  </a:lnTo>
                  <a:lnTo>
                    <a:pt x="3264560" y="58826"/>
                  </a:lnTo>
                  <a:lnTo>
                    <a:pt x="3300079" y="89296"/>
                  </a:lnTo>
                  <a:lnTo>
                    <a:pt x="3330549" y="124815"/>
                  </a:lnTo>
                  <a:lnTo>
                    <a:pt x="3355343" y="164753"/>
                  </a:lnTo>
                  <a:lnTo>
                    <a:pt x="3373831" y="208483"/>
                  </a:lnTo>
                  <a:lnTo>
                    <a:pt x="3385385" y="255374"/>
                  </a:lnTo>
                  <a:lnTo>
                    <a:pt x="3389376" y="304800"/>
                  </a:lnTo>
                  <a:lnTo>
                    <a:pt x="3389376" y="1524000"/>
                  </a:lnTo>
                  <a:lnTo>
                    <a:pt x="3385385" y="1573425"/>
                  </a:lnTo>
                  <a:lnTo>
                    <a:pt x="3373831" y="1620316"/>
                  </a:lnTo>
                  <a:lnTo>
                    <a:pt x="3355343" y="1664046"/>
                  </a:lnTo>
                  <a:lnTo>
                    <a:pt x="3330549" y="1703984"/>
                  </a:lnTo>
                  <a:lnTo>
                    <a:pt x="3300079" y="1739503"/>
                  </a:lnTo>
                  <a:lnTo>
                    <a:pt x="3264560" y="1769973"/>
                  </a:lnTo>
                  <a:lnTo>
                    <a:pt x="3224622" y="1794767"/>
                  </a:lnTo>
                  <a:lnTo>
                    <a:pt x="3180892" y="1813255"/>
                  </a:lnTo>
                  <a:lnTo>
                    <a:pt x="3134001" y="1824809"/>
                  </a:lnTo>
                  <a:lnTo>
                    <a:pt x="3084576" y="1828800"/>
                  </a:lnTo>
                  <a:lnTo>
                    <a:pt x="304800" y="1828800"/>
                  </a:lnTo>
                  <a:lnTo>
                    <a:pt x="255374" y="1824809"/>
                  </a:lnTo>
                  <a:lnTo>
                    <a:pt x="208483" y="1813255"/>
                  </a:lnTo>
                  <a:lnTo>
                    <a:pt x="164753" y="1794767"/>
                  </a:lnTo>
                  <a:lnTo>
                    <a:pt x="124815" y="1769973"/>
                  </a:lnTo>
                  <a:lnTo>
                    <a:pt x="89296" y="1739503"/>
                  </a:lnTo>
                  <a:lnTo>
                    <a:pt x="58826" y="1703984"/>
                  </a:lnTo>
                  <a:lnTo>
                    <a:pt x="34032" y="1664046"/>
                  </a:lnTo>
                  <a:lnTo>
                    <a:pt x="15544" y="1620316"/>
                  </a:lnTo>
                  <a:lnTo>
                    <a:pt x="3990" y="1573425"/>
                  </a:lnTo>
                  <a:lnTo>
                    <a:pt x="0" y="1524000"/>
                  </a:lnTo>
                  <a:lnTo>
                    <a:pt x="0" y="304800"/>
                  </a:lnTo>
                  <a:close/>
                </a:path>
              </a:pathLst>
            </a:custGeom>
            <a:ln w="254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558034" y="2535174"/>
              <a:ext cx="1397635" cy="381000"/>
            </a:xfrm>
            <a:custGeom>
              <a:avLst/>
              <a:gdLst/>
              <a:ahLst/>
              <a:cxnLst/>
              <a:rect l="l" t="t" r="r" b="b"/>
              <a:pathLst>
                <a:path w="1397635" h="381000">
                  <a:moveTo>
                    <a:pt x="1334008" y="0"/>
                  </a:moveTo>
                  <a:lnTo>
                    <a:pt x="63500" y="0"/>
                  </a:lnTo>
                  <a:lnTo>
                    <a:pt x="38790" y="4992"/>
                  </a:lnTo>
                  <a:lnTo>
                    <a:pt x="18605" y="18605"/>
                  </a:lnTo>
                  <a:lnTo>
                    <a:pt x="4992" y="38790"/>
                  </a:lnTo>
                  <a:lnTo>
                    <a:pt x="0" y="63500"/>
                  </a:lnTo>
                  <a:lnTo>
                    <a:pt x="0" y="317500"/>
                  </a:lnTo>
                  <a:lnTo>
                    <a:pt x="4992" y="342209"/>
                  </a:lnTo>
                  <a:lnTo>
                    <a:pt x="18605" y="362394"/>
                  </a:lnTo>
                  <a:lnTo>
                    <a:pt x="38790" y="376007"/>
                  </a:lnTo>
                  <a:lnTo>
                    <a:pt x="63500" y="381000"/>
                  </a:lnTo>
                  <a:lnTo>
                    <a:pt x="1334008" y="381000"/>
                  </a:lnTo>
                  <a:lnTo>
                    <a:pt x="1358717" y="376007"/>
                  </a:lnTo>
                  <a:lnTo>
                    <a:pt x="1378902" y="362394"/>
                  </a:lnTo>
                  <a:lnTo>
                    <a:pt x="1392515" y="342209"/>
                  </a:lnTo>
                  <a:lnTo>
                    <a:pt x="1397508" y="317500"/>
                  </a:lnTo>
                  <a:lnTo>
                    <a:pt x="1397508" y="63500"/>
                  </a:lnTo>
                  <a:lnTo>
                    <a:pt x="1392515" y="38790"/>
                  </a:lnTo>
                  <a:lnTo>
                    <a:pt x="1378902" y="18605"/>
                  </a:lnTo>
                  <a:lnTo>
                    <a:pt x="1358717" y="4992"/>
                  </a:lnTo>
                  <a:lnTo>
                    <a:pt x="1334008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558034" y="2535174"/>
              <a:ext cx="1397635" cy="381000"/>
            </a:xfrm>
            <a:custGeom>
              <a:avLst/>
              <a:gdLst/>
              <a:ahLst/>
              <a:cxnLst/>
              <a:rect l="l" t="t" r="r" b="b"/>
              <a:pathLst>
                <a:path w="1397635" h="381000">
                  <a:moveTo>
                    <a:pt x="0" y="63500"/>
                  </a:moveTo>
                  <a:lnTo>
                    <a:pt x="4992" y="38790"/>
                  </a:lnTo>
                  <a:lnTo>
                    <a:pt x="18605" y="18605"/>
                  </a:lnTo>
                  <a:lnTo>
                    <a:pt x="38790" y="4992"/>
                  </a:lnTo>
                  <a:lnTo>
                    <a:pt x="63500" y="0"/>
                  </a:lnTo>
                  <a:lnTo>
                    <a:pt x="1334008" y="0"/>
                  </a:lnTo>
                  <a:lnTo>
                    <a:pt x="1358717" y="4992"/>
                  </a:lnTo>
                  <a:lnTo>
                    <a:pt x="1378902" y="18605"/>
                  </a:lnTo>
                  <a:lnTo>
                    <a:pt x="1392515" y="38790"/>
                  </a:lnTo>
                  <a:lnTo>
                    <a:pt x="1397508" y="63500"/>
                  </a:lnTo>
                  <a:lnTo>
                    <a:pt x="1397508" y="317500"/>
                  </a:lnTo>
                  <a:lnTo>
                    <a:pt x="1392515" y="342209"/>
                  </a:lnTo>
                  <a:lnTo>
                    <a:pt x="1378902" y="362394"/>
                  </a:lnTo>
                  <a:lnTo>
                    <a:pt x="1358717" y="376007"/>
                  </a:lnTo>
                  <a:lnTo>
                    <a:pt x="1334008" y="381000"/>
                  </a:lnTo>
                  <a:lnTo>
                    <a:pt x="63500" y="381000"/>
                  </a:lnTo>
                  <a:lnTo>
                    <a:pt x="38790" y="376007"/>
                  </a:lnTo>
                  <a:lnTo>
                    <a:pt x="18605" y="362394"/>
                  </a:lnTo>
                  <a:lnTo>
                    <a:pt x="4992" y="342209"/>
                  </a:lnTo>
                  <a:lnTo>
                    <a:pt x="0" y="317500"/>
                  </a:lnTo>
                  <a:lnTo>
                    <a:pt x="0" y="63500"/>
                  </a:lnTo>
                  <a:close/>
                </a:path>
              </a:pathLst>
            </a:custGeom>
            <a:ln w="254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005834" y="5503926"/>
              <a:ext cx="3429000" cy="381000"/>
            </a:xfrm>
            <a:custGeom>
              <a:avLst/>
              <a:gdLst/>
              <a:ahLst/>
              <a:cxnLst/>
              <a:rect l="l" t="t" r="r" b="b"/>
              <a:pathLst>
                <a:path w="3429000" h="381000">
                  <a:moveTo>
                    <a:pt x="3365499" y="0"/>
                  </a:moveTo>
                  <a:lnTo>
                    <a:pt x="63500" y="0"/>
                  </a:lnTo>
                  <a:lnTo>
                    <a:pt x="38790" y="4992"/>
                  </a:lnTo>
                  <a:lnTo>
                    <a:pt x="18605" y="18605"/>
                  </a:lnTo>
                  <a:lnTo>
                    <a:pt x="4992" y="38790"/>
                  </a:lnTo>
                  <a:lnTo>
                    <a:pt x="0" y="63500"/>
                  </a:lnTo>
                  <a:lnTo>
                    <a:pt x="0" y="317500"/>
                  </a:lnTo>
                  <a:lnTo>
                    <a:pt x="4992" y="342214"/>
                  </a:lnTo>
                  <a:lnTo>
                    <a:pt x="18605" y="362399"/>
                  </a:lnTo>
                  <a:lnTo>
                    <a:pt x="38790" y="376009"/>
                  </a:lnTo>
                  <a:lnTo>
                    <a:pt x="63500" y="381000"/>
                  </a:lnTo>
                  <a:lnTo>
                    <a:pt x="3365499" y="381000"/>
                  </a:lnTo>
                  <a:lnTo>
                    <a:pt x="3390209" y="376009"/>
                  </a:lnTo>
                  <a:lnTo>
                    <a:pt x="3410394" y="362399"/>
                  </a:lnTo>
                  <a:lnTo>
                    <a:pt x="3424007" y="342214"/>
                  </a:lnTo>
                  <a:lnTo>
                    <a:pt x="3428999" y="317500"/>
                  </a:lnTo>
                  <a:lnTo>
                    <a:pt x="3428999" y="63500"/>
                  </a:lnTo>
                  <a:lnTo>
                    <a:pt x="3424007" y="38790"/>
                  </a:lnTo>
                  <a:lnTo>
                    <a:pt x="3410394" y="18605"/>
                  </a:lnTo>
                  <a:lnTo>
                    <a:pt x="3390209" y="4992"/>
                  </a:lnTo>
                  <a:lnTo>
                    <a:pt x="3365499" y="0"/>
                  </a:lnTo>
                  <a:close/>
                </a:path>
              </a:pathLst>
            </a:custGeom>
            <a:solidFill>
              <a:srgbClr val="A8D0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005834" y="5503926"/>
              <a:ext cx="3429000" cy="381000"/>
            </a:xfrm>
            <a:custGeom>
              <a:avLst/>
              <a:gdLst/>
              <a:ahLst/>
              <a:cxnLst/>
              <a:rect l="l" t="t" r="r" b="b"/>
              <a:pathLst>
                <a:path w="3429000" h="381000">
                  <a:moveTo>
                    <a:pt x="0" y="63500"/>
                  </a:moveTo>
                  <a:lnTo>
                    <a:pt x="4992" y="38790"/>
                  </a:lnTo>
                  <a:lnTo>
                    <a:pt x="18605" y="18605"/>
                  </a:lnTo>
                  <a:lnTo>
                    <a:pt x="38790" y="4992"/>
                  </a:lnTo>
                  <a:lnTo>
                    <a:pt x="63500" y="0"/>
                  </a:lnTo>
                  <a:lnTo>
                    <a:pt x="3365499" y="0"/>
                  </a:lnTo>
                  <a:lnTo>
                    <a:pt x="3390209" y="4992"/>
                  </a:lnTo>
                  <a:lnTo>
                    <a:pt x="3410394" y="18605"/>
                  </a:lnTo>
                  <a:lnTo>
                    <a:pt x="3424007" y="38790"/>
                  </a:lnTo>
                  <a:lnTo>
                    <a:pt x="3428999" y="63500"/>
                  </a:lnTo>
                  <a:lnTo>
                    <a:pt x="3428999" y="317500"/>
                  </a:lnTo>
                  <a:lnTo>
                    <a:pt x="3424007" y="342214"/>
                  </a:lnTo>
                  <a:lnTo>
                    <a:pt x="3410394" y="362399"/>
                  </a:lnTo>
                  <a:lnTo>
                    <a:pt x="3390209" y="376009"/>
                  </a:lnTo>
                  <a:lnTo>
                    <a:pt x="3365499" y="381000"/>
                  </a:lnTo>
                  <a:lnTo>
                    <a:pt x="63500" y="381000"/>
                  </a:lnTo>
                  <a:lnTo>
                    <a:pt x="38790" y="376009"/>
                  </a:lnTo>
                  <a:lnTo>
                    <a:pt x="18605" y="362399"/>
                  </a:lnTo>
                  <a:lnTo>
                    <a:pt x="4992" y="342214"/>
                  </a:lnTo>
                  <a:lnTo>
                    <a:pt x="0" y="317500"/>
                  </a:lnTo>
                  <a:lnTo>
                    <a:pt x="0" y="63500"/>
                  </a:lnTo>
                  <a:close/>
                </a:path>
              </a:pathLst>
            </a:custGeom>
            <a:ln w="254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710434" y="2535174"/>
              <a:ext cx="1066800" cy="390525"/>
            </a:xfrm>
            <a:custGeom>
              <a:avLst/>
              <a:gdLst/>
              <a:ahLst/>
              <a:cxnLst/>
              <a:rect l="l" t="t" r="r" b="b"/>
              <a:pathLst>
                <a:path w="1066800" h="390525">
                  <a:moveTo>
                    <a:pt x="228600" y="0"/>
                  </a:moveTo>
                  <a:lnTo>
                    <a:pt x="228600" y="381000"/>
                  </a:lnTo>
                </a:path>
                <a:path w="1066800" h="390525">
                  <a:moveTo>
                    <a:pt x="457200" y="0"/>
                  </a:moveTo>
                  <a:lnTo>
                    <a:pt x="457200" y="381000"/>
                  </a:lnTo>
                </a:path>
                <a:path w="1066800" h="390525">
                  <a:moveTo>
                    <a:pt x="685800" y="0"/>
                  </a:moveTo>
                  <a:lnTo>
                    <a:pt x="685800" y="381000"/>
                  </a:lnTo>
                </a:path>
                <a:path w="1066800" h="390525">
                  <a:moveTo>
                    <a:pt x="0" y="0"/>
                  </a:moveTo>
                  <a:lnTo>
                    <a:pt x="0" y="381000"/>
                  </a:lnTo>
                </a:path>
                <a:path w="1066800" h="390525">
                  <a:moveTo>
                    <a:pt x="1066800" y="9143"/>
                  </a:moveTo>
                  <a:lnTo>
                    <a:pt x="1066800" y="390143"/>
                  </a:lnTo>
                </a:path>
                <a:path w="1066800" h="390525">
                  <a:moveTo>
                    <a:pt x="914400" y="9143"/>
                  </a:moveTo>
                  <a:lnTo>
                    <a:pt x="914400" y="390143"/>
                  </a:lnTo>
                </a:path>
              </a:pathLst>
            </a:custGeom>
            <a:ln w="31750">
              <a:solidFill>
                <a:srgbClr val="3D6DC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852928" y="2852673"/>
              <a:ext cx="2514600" cy="2653665"/>
            </a:xfrm>
            <a:custGeom>
              <a:avLst/>
              <a:gdLst/>
              <a:ahLst/>
              <a:cxnLst/>
              <a:rect l="l" t="t" r="r" b="b"/>
              <a:pathLst>
                <a:path w="2514600" h="2653665">
                  <a:moveTo>
                    <a:pt x="601980" y="792099"/>
                  </a:moveTo>
                  <a:lnTo>
                    <a:pt x="592848" y="750951"/>
                  </a:lnTo>
                  <a:lnTo>
                    <a:pt x="583565" y="709041"/>
                  </a:lnTo>
                  <a:lnTo>
                    <a:pt x="563892" y="725004"/>
                  </a:lnTo>
                  <a:lnTo>
                    <a:pt x="19812" y="55499"/>
                  </a:lnTo>
                  <a:lnTo>
                    <a:pt x="0" y="71501"/>
                  </a:lnTo>
                  <a:lnTo>
                    <a:pt x="544118" y="741032"/>
                  </a:lnTo>
                  <a:lnTo>
                    <a:pt x="524383" y="757047"/>
                  </a:lnTo>
                  <a:lnTo>
                    <a:pt x="601980" y="792099"/>
                  </a:lnTo>
                  <a:close/>
                </a:path>
                <a:path w="2514600" h="2653665">
                  <a:moveTo>
                    <a:pt x="1542669" y="2653157"/>
                  </a:moveTo>
                  <a:lnTo>
                    <a:pt x="1539798" y="2606294"/>
                  </a:lnTo>
                  <a:lnTo>
                    <a:pt x="1539697" y="2604643"/>
                  </a:lnTo>
                  <a:lnTo>
                    <a:pt x="1537462" y="2568067"/>
                  </a:lnTo>
                  <a:lnTo>
                    <a:pt x="1515465" y="2580830"/>
                  </a:lnTo>
                  <a:lnTo>
                    <a:pt x="686943" y="1151382"/>
                  </a:lnTo>
                  <a:lnTo>
                    <a:pt x="664845" y="1164082"/>
                  </a:lnTo>
                  <a:lnTo>
                    <a:pt x="1493456" y="2593594"/>
                  </a:lnTo>
                  <a:lnTo>
                    <a:pt x="1471549" y="2606294"/>
                  </a:lnTo>
                  <a:lnTo>
                    <a:pt x="1542669" y="2653157"/>
                  </a:lnTo>
                  <a:close/>
                </a:path>
                <a:path w="2514600" h="2653665">
                  <a:moveTo>
                    <a:pt x="2241296" y="41148"/>
                  </a:moveTo>
                  <a:lnTo>
                    <a:pt x="2229104" y="18796"/>
                  </a:lnTo>
                  <a:lnTo>
                    <a:pt x="1073327" y="648550"/>
                  </a:lnTo>
                  <a:lnTo>
                    <a:pt x="275082" y="48768"/>
                  </a:lnTo>
                  <a:lnTo>
                    <a:pt x="259842" y="69088"/>
                  </a:lnTo>
                  <a:lnTo>
                    <a:pt x="1048816" y="661898"/>
                  </a:lnTo>
                  <a:lnTo>
                    <a:pt x="879970" y="753897"/>
                  </a:lnTo>
                  <a:lnTo>
                    <a:pt x="867791" y="731532"/>
                  </a:lnTo>
                  <a:lnTo>
                    <a:pt x="819150" y="801497"/>
                  </a:lnTo>
                  <a:lnTo>
                    <a:pt x="904240" y="798449"/>
                  </a:lnTo>
                  <a:lnTo>
                    <a:pt x="895451" y="782320"/>
                  </a:lnTo>
                  <a:lnTo>
                    <a:pt x="892136" y="776249"/>
                  </a:lnTo>
                  <a:lnTo>
                    <a:pt x="1071181" y="678700"/>
                  </a:lnTo>
                  <a:lnTo>
                    <a:pt x="1175131" y="756793"/>
                  </a:lnTo>
                  <a:lnTo>
                    <a:pt x="1159891" y="777113"/>
                  </a:lnTo>
                  <a:lnTo>
                    <a:pt x="1243711" y="792480"/>
                  </a:lnTo>
                  <a:lnTo>
                    <a:pt x="1229690" y="764413"/>
                  </a:lnTo>
                  <a:lnTo>
                    <a:pt x="1205611" y="716153"/>
                  </a:lnTo>
                  <a:lnTo>
                    <a:pt x="1190371" y="736473"/>
                  </a:lnTo>
                  <a:lnTo>
                    <a:pt x="1095692" y="665340"/>
                  </a:lnTo>
                  <a:lnTo>
                    <a:pt x="2241296" y="41148"/>
                  </a:lnTo>
                  <a:close/>
                </a:path>
                <a:path w="2514600" h="2653665">
                  <a:moveTo>
                    <a:pt x="2401697" y="2567051"/>
                  </a:moveTo>
                  <a:lnTo>
                    <a:pt x="2377414" y="2574785"/>
                  </a:lnTo>
                  <a:lnTo>
                    <a:pt x="1917827" y="1123442"/>
                  </a:lnTo>
                  <a:lnTo>
                    <a:pt x="1893697" y="1131062"/>
                  </a:lnTo>
                  <a:lnTo>
                    <a:pt x="2353272" y="2582468"/>
                  </a:lnTo>
                  <a:lnTo>
                    <a:pt x="2329053" y="2590165"/>
                  </a:lnTo>
                  <a:lnTo>
                    <a:pt x="2388362" y="2651252"/>
                  </a:lnTo>
                  <a:lnTo>
                    <a:pt x="2397328" y="2594610"/>
                  </a:lnTo>
                  <a:lnTo>
                    <a:pt x="2401697" y="2567051"/>
                  </a:lnTo>
                  <a:close/>
                </a:path>
                <a:path w="2514600" h="2653665">
                  <a:moveTo>
                    <a:pt x="2514346" y="20320"/>
                  </a:moveTo>
                  <a:lnTo>
                    <a:pt x="2498852" y="0"/>
                  </a:lnTo>
                  <a:lnTo>
                    <a:pt x="1521333" y="744486"/>
                  </a:lnTo>
                  <a:lnTo>
                    <a:pt x="1505966" y="724281"/>
                  </a:lnTo>
                  <a:lnTo>
                    <a:pt x="1468374" y="800735"/>
                  </a:lnTo>
                  <a:lnTo>
                    <a:pt x="1552067" y="784860"/>
                  </a:lnTo>
                  <a:lnTo>
                    <a:pt x="1542592" y="772414"/>
                  </a:lnTo>
                  <a:lnTo>
                    <a:pt x="1536700" y="764679"/>
                  </a:lnTo>
                  <a:lnTo>
                    <a:pt x="2514346" y="2032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65604" y="3457981"/>
              <a:ext cx="397763" cy="22552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212848" y="3482339"/>
              <a:ext cx="307975" cy="135890"/>
            </a:xfrm>
            <a:custGeom>
              <a:avLst/>
              <a:gdLst/>
              <a:ahLst/>
              <a:cxnLst/>
              <a:rect l="l" t="t" r="r" b="b"/>
              <a:pathLst>
                <a:path w="307975" h="135889">
                  <a:moveTo>
                    <a:pt x="307848" y="0"/>
                  </a:moveTo>
                  <a:lnTo>
                    <a:pt x="0" y="0"/>
                  </a:lnTo>
                  <a:lnTo>
                    <a:pt x="0" y="135636"/>
                  </a:lnTo>
                  <a:lnTo>
                    <a:pt x="307848" y="135636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212848" y="3482339"/>
              <a:ext cx="307975" cy="135890"/>
            </a:xfrm>
            <a:custGeom>
              <a:avLst/>
              <a:gdLst/>
              <a:ahLst/>
              <a:cxnLst/>
              <a:rect l="l" t="t" r="r" b="b"/>
              <a:pathLst>
                <a:path w="307975" h="135889">
                  <a:moveTo>
                    <a:pt x="0" y="135636"/>
                  </a:moveTo>
                  <a:lnTo>
                    <a:pt x="307848" y="135636"/>
                  </a:lnTo>
                  <a:lnTo>
                    <a:pt x="307848" y="0"/>
                  </a:lnTo>
                  <a:lnTo>
                    <a:pt x="0" y="0"/>
                  </a:lnTo>
                  <a:lnTo>
                    <a:pt x="0" y="13563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17063" y="3462591"/>
              <a:ext cx="106616" cy="22701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472690" y="3484625"/>
              <a:ext cx="0" cy="135255"/>
            </a:xfrm>
            <a:custGeom>
              <a:avLst/>
              <a:gdLst/>
              <a:ahLst/>
              <a:cxnLst/>
              <a:rect l="l" t="t" r="r" b="b"/>
              <a:pathLst>
                <a:path w="0" h="135254">
                  <a:moveTo>
                    <a:pt x="0" y="0"/>
                  </a:moveTo>
                  <a:lnTo>
                    <a:pt x="0" y="13500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59152" y="3462591"/>
              <a:ext cx="106616" cy="22701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414777" y="3484625"/>
              <a:ext cx="0" cy="135255"/>
            </a:xfrm>
            <a:custGeom>
              <a:avLst/>
              <a:gdLst/>
              <a:ahLst/>
              <a:cxnLst/>
              <a:rect l="l" t="t" r="r" b="b"/>
              <a:pathLst>
                <a:path w="0" h="135254">
                  <a:moveTo>
                    <a:pt x="0" y="0"/>
                  </a:moveTo>
                  <a:lnTo>
                    <a:pt x="0" y="13500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09800" y="3464077"/>
              <a:ext cx="106616" cy="22552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265426" y="3486150"/>
              <a:ext cx="0" cy="133350"/>
            </a:xfrm>
            <a:custGeom>
              <a:avLst/>
              <a:gdLst/>
              <a:ahLst/>
              <a:cxnLst/>
              <a:rect l="l" t="t" r="r" b="b"/>
              <a:pathLst>
                <a:path w="0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58568" y="3461067"/>
              <a:ext cx="106616" cy="22701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314194" y="3483102"/>
              <a:ext cx="0" cy="135255"/>
            </a:xfrm>
            <a:custGeom>
              <a:avLst/>
              <a:gdLst/>
              <a:ahLst/>
              <a:cxnLst/>
              <a:rect l="l" t="t" r="r" b="b"/>
              <a:pathLst>
                <a:path w="0" h="135254">
                  <a:moveTo>
                    <a:pt x="0" y="0"/>
                  </a:moveTo>
                  <a:lnTo>
                    <a:pt x="0" y="13500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53868" y="3791775"/>
              <a:ext cx="397763" cy="227012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801112" y="3816096"/>
              <a:ext cx="307975" cy="137160"/>
            </a:xfrm>
            <a:custGeom>
              <a:avLst/>
              <a:gdLst/>
              <a:ahLst/>
              <a:cxnLst/>
              <a:rect l="l" t="t" r="r" b="b"/>
              <a:pathLst>
                <a:path w="307975" h="137160">
                  <a:moveTo>
                    <a:pt x="307848" y="0"/>
                  </a:moveTo>
                  <a:lnTo>
                    <a:pt x="0" y="0"/>
                  </a:lnTo>
                  <a:lnTo>
                    <a:pt x="0" y="137159"/>
                  </a:lnTo>
                  <a:lnTo>
                    <a:pt x="307848" y="137159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801112" y="3816096"/>
              <a:ext cx="307975" cy="137160"/>
            </a:xfrm>
            <a:custGeom>
              <a:avLst/>
              <a:gdLst/>
              <a:ahLst/>
              <a:cxnLst/>
              <a:rect l="l" t="t" r="r" b="b"/>
              <a:pathLst>
                <a:path w="307975" h="137160">
                  <a:moveTo>
                    <a:pt x="0" y="137159"/>
                  </a:moveTo>
                  <a:lnTo>
                    <a:pt x="307848" y="137159"/>
                  </a:lnTo>
                  <a:lnTo>
                    <a:pt x="307848" y="0"/>
                  </a:lnTo>
                  <a:lnTo>
                    <a:pt x="0" y="0"/>
                  </a:lnTo>
                  <a:lnTo>
                    <a:pt x="0" y="13715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03803" y="3796347"/>
              <a:ext cx="106616" cy="227012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059430" y="3818382"/>
              <a:ext cx="0" cy="135255"/>
            </a:xfrm>
            <a:custGeom>
              <a:avLst/>
              <a:gdLst/>
              <a:ahLst/>
              <a:cxnLst/>
              <a:rect l="l" t="t" r="r" b="b"/>
              <a:pathLst>
                <a:path w="0" h="135254">
                  <a:moveTo>
                    <a:pt x="0" y="0"/>
                  </a:moveTo>
                  <a:lnTo>
                    <a:pt x="0" y="134874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47416" y="3796347"/>
              <a:ext cx="106616" cy="227012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3003041" y="3818382"/>
              <a:ext cx="0" cy="135255"/>
            </a:xfrm>
            <a:custGeom>
              <a:avLst/>
              <a:gdLst/>
              <a:ahLst/>
              <a:cxnLst/>
              <a:rect l="l" t="t" r="r" b="b"/>
              <a:pathLst>
                <a:path w="0" h="135254">
                  <a:moveTo>
                    <a:pt x="0" y="0"/>
                  </a:moveTo>
                  <a:lnTo>
                    <a:pt x="0" y="134874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98063" y="3797833"/>
              <a:ext cx="106616" cy="22552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853690" y="3819905"/>
              <a:ext cx="0" cy="133350"/>
            </a:xfrm>
            <a:custGeom>
              <a:avLst/>
              <a:gdLst/>
              <a:ahLst/>
              <a:cxnLst/>
              <a:rect l="l" t="t" r="r" b="b"/>
              <a:pathLst>
                <a:path w="0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45308" y="3794823"/>
              <a:ext cx="106616" cy="227012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2900934" y="3816858"/>
              <a:ext cx="0" cy="135255"/>
            </a:xfrm>
            <a:custGeom>
              <a:avLst/>
              <a:gdLst/>
              <a:ahLst/>
              <a:cxnLst/>
              <a:rect l="l" t="t" r="r" b="b"/>
              <a:pathLst>
                <a:path w="0" h="135254">
                  <a:moveTo>
                    <a:pt x="0" y="0"/>
                  </a:moveTo>
                  <a:lnTo>
                    <a:pt x="0" y="135001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07336" y="3793274"/>
              <a:ext cx="397763" cy="228688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2354580" y="3817619"/>
              <a:ext cx="307975" cy="139065"/>
            </a:xfrm>
            <a:custGeom>
              <a:avLst/>
              <a:gdLst/>
              <a:ahLst/>
              <a:cxnLst/>
              <a:rect l="l" t="t" r="r" b="b"/>
              <a:pathLst>
                <a:path w="307975" h="139064">
                  <a:moveTo>
                    <a:pt x="307848" y="0"/>
                  </a:moveTo>
                  <a:lnTo>
                    <a:pt x="0" y="0"/>
                  </a:lnTo>
                  <a:lnTo>
                    <a:pt x="0" y="138683"/>
                  </a:lnTo>
                  <a:lnTo>
                    <a:pt x="307848" y="138683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2354580" y="3817619"/>
              <a:ext cx="307975" cy="139065"/>
            </a:xfrm>
            <a:custGeom>
              <a:avLst/>
              <a:gdLst/>
              <a:ahLst/>
              <a:cxnLst/>
              <a:rect l="l" t="t" r="r" b="b"/>
              <a:pathLst>
                <a:path w="307975" h="139064">
                  <a:moveTo>
                    <a:pt x="0" y="138683"/>
                  </a:moveTo>
                  <a:lnTo>
                    <a:pt x="307848" y="138683"/>
                  </a:lnTo>
                  <a:lnTo>
                    <a:pt x="307848" y="0"/>
                  </a:lnTo>
                  <a:lnTo>
                    <a:pt x="0" y="0"/>
                  </a:lnTo>
                  <a:lnTo>
                    <a:pt x="0" y="138683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558796" y="3797744"/>
              <a:ext cx="106616" cy="230187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2614422" y="3819905"/>
              <a:ext cx="0" cy="136525"/>
            </a:xfrm>
            <a:custGeom>
              <a:avLst/>
              <a:gdLst/>
              <a:ahLst/>
              <a:cxnLst/>
              <a:rect l="l" t="t" r="r" b="b"/>
              <a:pathLst>
                <a:path w="0" h="136525">
                  <a:moveTo>
                    <a:pt x="0" y="0"/>
                  </a:moveTo>
                  <a:lnTo>
                    <a:pt x="0" y="136525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00884" y="3800919"/>
              <a:ext cx="106616" cy="227012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2556510" y="3822953"/>
              <a:ext cx="0" cy="135255"/>
            </a:xfrm>
            <a:custGeom>
              <a:avLst/>
              <a:gdLst/>
              <a:ahLst/>
              <a:cxnLst/>
              <a:rect l="l" t="t" r="r" b="b"/>
              <a:pathLst>
                <a:path w="0" h="135254">
                  <a:moveTo>
                    <a:pt x="0" y="0"/>
                  </a:moveTo>
                  <a:lnTo>
                    <a:pt x="0" y="134874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51532" y="3800919"/>
              <a:ext cx="106616" cy="227012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2407158" y="3822953"/>
              <a:ext cx="0" cy="135255"/>
            </a:xfrm>
            <a:custGeom>
              <a:avLst/>
              <a:gdLst/>
              <a:ahLst/>
              <a:cxnLst/>
              <a:rect l="l" t="t" r="r" b="b"/>
              <a:pathLst>
                <a:path w="0" h="135254">
                  <a:moveTo>
                    <a:pt x="0" y="0"/>
                  </a:moveTo>
                  <a:lnTo>
                    <a:pt x="0" y="134874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98776" y="3796220"/>
              <a:ext cx="106616" cy="230187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2454402" y="3818382"/>
              <a:ext cx="0" cy="136525"/>
            </a:xfrm>
            <a:custGeom>
              <a:avLst/>
              <a:gdLst/>
              <a:ahLst/>
              <a:cxnLst/>
              <a:rect l="l" t="t" r="r" b="b"/>
              <a:pathLst>
                <a:path w="0" h="136525">
                  <a:moveTo>
                    <a:pt x="0" y="0"/>
                  </a:moveTo>
                  <a:lnTo>
                    <a:pt x="0" y="136525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73248" y="3819144"/>
              <a:ext cx="379683" cy="208851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1711452" y="3834383"/>
              <a:ext cx="307975" cy="137160"/>
            </a:xfrm>
            <a:custGeom>
              <a:avLst/>
              <a:gdLst/>
              <a:ahLst/>
              <a:cxnLst/>
              <a:rect l="l" t="t" r="r" b="b"/>
              <a:pathLst>
                <a:path w="307975" h="137160">
                  <a:moveTo>
                    <a:pt x="307848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07848" y="137160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1711452" y="3834383"/>
              <a:ext cx="307975" cy="137160"/>
            </a:xfrm>
            <a:custGeom>
              <a:avLst/>
              <a:gdLst/>
              <a:ahLst/>
              <a:cxnLst/>
              <a:rect l="l" t="t" r="r" b="b"/>
              <a:pathLst>
                <a:path w="307975" h="137160">
                  <a:moveTo>
                    <a:pt x="0" y="137160"/>
                  </a:moveTo>
                  <a:lnTo>
                    <a:pt x="307848" y="137160"/>
                  </a:lnTo>
                  <a:lnTo>
                    <a:pt x="307848" y="0"/>
                  </a:lnTo>
                  <a:lnTo>
                    <a:pt x="0" y="0"/>
                  </a:lnTo>
                  <a:lnTo>
                    <a:pt x="0" y="13716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15668" y="3814508"/>
              <a:ext cx="106616" cy="230187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1971294" y="3836669"/>
              <a:ext cx="0" cy="136525"/>
            </a:xfrm>
            <a:custGeom>
              <a:avLst/>
              <a:gdLst/>
              <a:ahLst/>
              <a:cxnLst/>
              <a:rect l="l" t="t" r="r" b="b"/>
              <a:pathLst>
                <a:path w="0" h="136525">
                  <a:moveTo>
                    <a:pt x="0" y="0"/>
                  </a:moveTo>
                  <a:lnTo>
                    <a:pt x="0" y="136524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57756" y="3816159"/>
              <a:ext cx="106616" cy="227012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1913382" y="3838194"/>
              <a:ext cx="0" cy="135255"/>
            </a:xfrm>
            <a:custGeom>
              <a:avLst/>
              <a:gdLst/>
              <a:ahLst/>
              <a:cxnLst/>
              <a:rect l="l" t="t" r="r" b="b"/>
              <a:pathLst>
                <a:path w="0" h="135254">
                  <a:moveTo>
                    <a:pt x="0" y="0"/>
                  </a:moveTo>
                  <a:lnTo>
                    <a:pt x="0" y="134873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08404" y="3816159"/>
              <a:ext cx="106616" cy="227012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1764030" y="3838194"/>
              <a:ext cx="0" cy="135255"/>
            </a:xfrm>
            <a:custGeom>
              <a:avLst/>
              <a:gdLst/>
              <a:ahLst/>
              <a:cxnLst/>
              <a:rect l="l" t="t" r="r" b="b"/>
              <a:pathLst>
                <a:path w="0" h="135254">
                  <a:moveTo>
                    <a:pt x="0" y="0"/>
                  </a:moveTo>
                  <a:lnTo>
                    <a:pt x="0" y="134873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57172" y="3812984"/>
              <a:ext cx="106616" cy="230187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1812798" y="3835146"/>
              <a:ext cx="0" cy="136525"/>
            </a:xfrm>
            <a:custGeom>
              <a:avLst/>
              <a:gdLst/>
              <a:ahLst/>
              <a:cxnLst/>
              <a:rect l="l" t="t" r="r" b="b"/>
              <a:pathLst>
                <a:path w="0" h="136525">
                  <a:moveTo>
                    <a:pt x="0" y="0"/>
                  </a:moveTo>
                  <a:lnTo>
                    <a:pt x="0" y="136524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938168" y="4123944"/>
              <a:ext cx="379683" cy="208851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2976372" y="4139183"/>
              <a:ext cx="307975" cy="137160"/>
            </a:xfrm>
            <a:custGeom>
              <a:avLst/>
              <a:gdLst/>
              <a:ahLst/>
              <a:cxnLst/>
              <a:rect l="l" t="t" r="r" b="b"/>
              <a:pathLst>
                <a:path w="307975" h="137160">
                  <a:moveTo>
                    <a:pt x="307848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07848" y="137160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2976372" y="4139183"/>
              <a:ext cx="307975" cy="137160"/>
            </a:xfrm>
            <a:custGeom>
              <a:avLst/>
              <a:gdLst/>
              <a:ahLst/>
              <a:cxnLst/>
              <a:rect l="l" t="t" r="r" b="b"/>
              <a:pathLst>
                <a:path w="307975" h="137160">
                  <a:moveTo>
                    <a:pt x="0" y="137160"/>
                  </a:moveTo>
                  <a:lnTo>
                    <a:pt x="307848" y="137160"/>
                  </a:lnTo>
                  <a:lnTo>
                    <a:pt x="307848" y="0"/>
                  </a:lnTo>
                  <a:lnTo>
                    <a:pt x="0" y="0"/>
                  </a:lnTo>
                  <a:lnTo>
                    <a:pt x="0" y="13716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80588" y="4119308"/>
              <a:ext cx="106616" cy="230187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3236213" y="4141470"/>
              <a:ext cx="0" cy="136525"/>
            </a:xfrm>
            <a:custGeom>
              <a:avLst/>
              <a:gdLst/>
              <a:ahLst/>
              <a:cxnLst/>
              <a:rect l="l" t="t" r="r" b="b"/>
              <a:pathLst>
                <a:path w="0" h="136525">
                  <a:moveTo>
                    <a:pt x="0" y="0"/>
                  </a:moveTo>
                  <a:lnTo>
                    <a:pt x="0" y="136524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22675" y="4120959"/>
              <a:ext cx="106616" cy="227012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3178302" y="4142994"/>
              <a:ext cx="0" cy="135255"/>
            </a:xfrm>
            <a:custGeom>
              <a:avLst/>
              <a:gdLst/>
              <a:ahLst/>
              <a:cxnLst/>
              <a:rect l="l" t="t" r="r" b="b"/>
              <a:pathLst>
                <a:path w="0" h="135254">
                  <a:moveTo>
                    <a:pt x="0" y="0"/>
                  </a:moveTo>
                  <a:lnTo>
                    <a:pt x="0" y="134873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973324" y="4120959"/>
              <a:ext cx="106616" cy="227012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3028950" y="4142994"/>
              <a:ext cx="0" cy="135255"/>
            </a:xfrm>
            <a:custGeom>
              <a:avLst/>
              <a:gdLst/>
              <a:ahLst/>
              <a:cxnLst/>
              <a:rect l="l" t="t" r="r" b="b"/>
              <a:pathLst>
                <a:path w="0" h="135254">
                  <a:moveTo>
                    <a:pt x="0" y="0"/>
                  </a:moveTo>
                  <a:lnTo>
                    <a:pt x="0" y="134873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022091" y="4117784"/>
              <a:ext cx="106616" cy="230187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3077718" y="4139945"/>
              <a:ext cx="0" cy="136525"/>
            </a:xfrm>
            <a:custGeom>
              <a:avLst/>
              <a:gdLst/>
              <a:ahLst/>
              <a:cxnLst/>
              <a:rect l="l" t="t" r="r" b="b"/>
              <a:pathLst>
                <a:path w="0" h="136525">
                  <a:moveTo>
                    <a:pt x="0" y="0"/>
                  </a:moveTo>
                  <a:lnTo>
                    <a:pt x="0" y="136524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551072" y="4126992"/>
              <a:ext cx="379683" cy="208851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2589276" y="4142232"/>
              <a:ext cx="307975" cy="137160"/>
            </a:xfrm>
            <a:custGeom>
              <a:avLst/>
              <a:gdLst/>
              <a:ahLst/>
              <a:cxnLst/>
              <a:rect l="l" t="t" r="r" b="b"/>
              <a:pathLst>
                <a:path w="307975" h="137160">
                  <a:moveTo>
                    <a:pt x="307848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07848" y="137160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2589276" y="4142232"/>
              <a:ext cx="307975" cy="137160"/>
            </a:xfrm>
            <a:custGeom>
              <a:avLst/>
              <a:gdLst/>
              <a:ahLst/>
              <a:cxnLst/>
              <a:rect l="l" t="t" r="r" b="b"/>
              <a:pathLst>
                <a:path w="307975" h="137160">
                  <a:moveTo>
                    <a:pt x="0" y="137160"/>
                  </a:moveTo>
                  <a:lnTo>
                    <a:pt x="307848" y="137160"/>
                  </a:lnTo>
                  <a:lnTo>
                    <a:pt x="307848" y="0"/>
                  </a:lnTo>
                  <a:lnTo>
                    <a:pt x="0" y="0"/>
                  </a:lnTo>
                  <a:lnTo>
                    <a:pt x="0" y="13716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93491" y="4122483"/>
              <a:ext cx="106616" cy="227012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2849118" y="4144517"/>
              <a:ext cx="0" cy="135255"/>
            </a:xfrm>
            <a:custGeom>
              <a:avLst/>
              <a:gdLst/>
              <a:ahLst/>
              <a:cxnLst/>
              <a:rect l="l" t="t" r="r" b="b"/>
              <a:pathLst>
                <a:path w="0" h="135254">
                  <a:moveTo>
                    <a:pt x="0" y="0"/>
                  </a:moveTo>
                  <a:lnTo>
                    <a:pt x="0" y="13500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4" name="object 7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35580" y="4122483"/>
              <a:ext cx="106616" cy="227012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2791206" y="4144517"/>
              <a:ext cx="0" cy="135255"/>
            </a:xfrm>
            <a:custGeom>
              <a:avLst/>
              <a:gdLst/>
              <a:ahLst/>
              <a:cxnLst/>
              <a:rect l="l" t="t" r="r" b="b"/>
              <a:pathLst>
                <a:path w="0" h="135254">
                  <a:moveTo>
                    <a:pt x="0" y="0"/>
                  </a:moveTo>
                  <a:lnTo>
                    <a:pt x="0" y="13500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586227" y="4123969"/>
              <a:ext cx="106616" cy="225526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2641854" y="4146042"/>
              <a:ext cx="0" cy="133350"/>
            </a:xfrm>
            <a:custGeom>
              <a:avLst/>
              <a:gdLst/>
              <a:ahLst/>
              <a:cxnLst/>
              <a:rect l="l" t="t" r="r" b="b"/>
              <a:pathLst>
                <a:path w="0" h="133350">
                  <a:moveTo>
                    <a:pt x="0" y="0"/>
                  </a:moveTo>
                  <a:lnTo>
                    <a:pt x="0" y="133349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8" name="object 7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634996" y="4120959"/>
              <a:ext cx="106616" cy="227012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2690622" y="4142994"/>
              <a:ext cx="0" cy="135255"/>
            </a:xfrm>
            <a:custGeom>
              <a:avLst/>
              <a:gdLst/>
              <a:ahLst/>
              <a:cxnLst/>
              <a:rect l="l" t="t" r="r" b="b"/>
              <a:pathLst>
                <a:path w="0" h="135254">
                  <a:moveTo>
                    <a:pt x="0" y="0"/>
                  </a:moveTo>
                  <a:lnTo>
                    <a:pt x="0" y="134873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0" name="object 8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64494" y="4128205"/>
              <a:ext cx="381126" cy="211097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1502664" y="4143755"/>
              <a:ext cx="309880" cy="139065"/>
            </a:xfrm>
            <a:custGeom>
              <a:avLst/>
              <a:gdLst/>
              <a:ahLst/>
              <a:cxnLst/>
              <a:rect l="l" t="t" r="r" b="b"/>
              <a:pathLst>
                <a:path w="309880" h="139064">
                  <a:moveTo>
                    <a:pt x="309372" y="0"/>
                  </a:moveTo>
                  <a:lnTo>
                    <a:pt x="0" y="0"/>
                  </a:lnTo>
                  <a:lnTo>
                    <a:pt x="0" y="138684"/>
                  </a:lnTo>
                  <a:lnTo>
                    <a:pt x="309372" y="138684"/>
                  </a:lnTo>
                  <a:lnTo>
                    <a:pt x="309372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1502664" y="4143755"/>
              <a:ext cx="309880" cy="139065"/>
            </a:xfrm>
            <a:custGeom>
              <a:avLst/>
              <a:gdLst/>
              <a:ahLst/>
              <a:cxnLst/>
              <a:rect l="l" t="t" r="r" b="b"/>
              <a:pathLst>
                <a:path w="309880" h="139064">
                  <a:moveTo>
                    <a:pt x="0" y="138684"/>
                  </a:moveTo>
                  <a:lnTo>
                    <a:pt x="309372" y="138684"/>
                  </a:lnTo>
                  <a:lnTo>
                    <a:pt x="309372" y="0"/>
                  </a:lnTo>
                  <a:lnTo>
                    <a:pt x="0" y="0"/>
                  </a:lnTo>
                  <a:lnTo>
                    <a:pt x="0" y="138684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3" name="object 8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06880" y="4123880"/>
              <a:ext cx="106616" cy="230187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1762506" y="4146042"/>
              <a:ext cx="0" cy="136525"/>
            </a:xfrm>
            <a:custGeom>
              <a:avLst/>
              <a:gdLst/>
              <a:ahLst/>
              <a:cxnLst/>
              <a:rect l="l" t="t" r="r" b="b"/>
              <a:pathLst>
                <a:path w="0" h="136525">
                  <a:moveTo>
                    <a:pt x="0" y="0"/>
                  </a:moveTo>
                  <a:lnTo>
                    <a:pt x="0" y="136524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5" name="object 8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50492" y="4125531"/>
              <a:ext cx="106616" cy="227012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1706118" y="4147566"/>
              <a:ext cx="0" cy="135255"/>
            </a:xfrm>
            <a:custGeom>
              <a:avLst/>
              <a:gdLst/>
              <a:ahLst/>
              <a:cxnLst/>
              <a:rect l="l" t="t" r="r" b="b"/>
              <a:pathLst>
                <a:path w="0" h="135254">
                  <a:moveTo>
                    <a:pt x="0" y="0"/>
                  </a:moveTo>
                  <a:lnTo>
                    <a:pt x="0" y="13500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7" name="object 8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01140" y="4125531"/>
              <a:ext cx="106616" cy="227012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1556766" y="4147566"/>
              <a:ext cx="0" cy="135255"/>
            </a:xfrm>
            <a:custGeom>
              <a:avLst/>
              <a:gdLst/>
              <a:ahLst/>
              <a:cxnLst/>
              <a:rect l="l" t="t" r="r" b="b"/>
              <a:pathLst>
                <a:path w="0" h="135254">
                  <a:moveTo>
                    <a:pt x="0" y="0"/>
                  </a:moveTo>
                  <a:lnTo>
                    <a:pt x="0" y="13500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48384" y="4122356"/>
              <a:ext cx="106616" cy="230187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1604010" y="4144517"/>
              <a:ext cx="0" cy="136525"/>
            </a:xfrm>
            <a:custGeom>
              <a:avLst/>
              <a:gdLst/>
              <a:ahLst/>
              <a:cxnLst/>
              <a:rect l="l" t="t" r="r" b="b"/>
              <a:pathLst>
                <a:path w="0" h="136525">
                  <a:moveTo>
                    <a:pt x="0" y="0"/>
                  </a:moveTo>
                  <a:lnTo>
                    <a:pt x="0" y="136524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1" name="object 9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915564" y="4128205"/>
              <a:ext cx="379683" cy="211097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1953768" y="4143755"/>
              <a:ext cx="307975" cy="139065"/>
            </a:xfrm>
            <a:custGeom>
              <a:avLst/>
              <a:gdLst/>
              <a:ahLst/>
              <a:cxnLst/>
              <a:rect l="l" t="t" r="r" b="b"/>
              <a:pathLst>
                <a:path w="307975" h="139064">
                  <a:moveTo>
                    <a:pt x="307848" y="0"/>
                  </a:moveTo>
                  <a:lnTo>
                    <a:pt x="0" y="0"/>
                  </a:lnTo>
                  <a:lnTo>
                    <a:pt x="0" y="138684"/>
                  </a:lnTo>
                  <a:lnTo>
                    <a:pt x="307848" y="138684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1953768" y="4143755"/>
              <a:ext cx="307975" cy="139065"/>
            </a:xfrm>
            <a:custGeom>
              <a:avLst/>
              <a:gdLst/>
              <a:ahLst/>
              <a:cxnLst/>
              <a:rect l="l" t="t" r="r" b="b"/>
              <a:pathLst>
                <a:path w="307975" h="139064">
                  <a:moveTo>
                    <a:pt x="0" y="138684"/>
                  </a:moveTo>
                  <a:lnTo>
                    <a:pt x="307848" y="138684"/>
                  </a:lnTo>
                  <a:lnTo>
                    <a:pt x="307848" y="0"/>
                  </a:lnTo>
                  <a:lnTo>
                    <a:pt x="0" y="0"/>
                  </a:lnTo>
                  <a:lnTo>
                    <a:pt x="0" y="138684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4" name="object 9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157984" y="4123880"/>
              <a:ext cx="106616" cy="230187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2213610" y="4146042"/>
              <a:ext cx="0" cy="136525"/>
            </a:xfrm>
            <a:custGeom>
              <a:avLst/>
              <a:gdLst/>
              <a:ahLst/>
              <a:cxnLst/>
              <a:rect l="l" t="t" r="r" b="b"/>
              <a:pathLst>
                <a:path w="0" h="136525">
                  <a:moveTo>
                    <a:pt x="0" y="0"/>
                  </a:moveTo>
                  <a:lnTo>
                    <a:pt x="0" y="136524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101596" y="4125531"/>
              <a:ext cx="106616" cy="227012"/>
            </a:xfrm>
            <a:prstGeom prst="rect">
              <a:avLst/>
            </a:prstGeom>
          </p:spPr>
        </p:pic>
        <p:sp>
          <p:nvSpPr>
            <p:cNvPr id="97" name="object 97"/>
            <p:cNvSpPr/>
            <p:nvPr/>
          </p:nvSpPr>
          <p:spPr>
            <a:xfrm>
              <a:off x="2157222" y="4147566"/>
              <a:ext cx="0" cy="135255"/>
            </a:xfrm>
            <a:custGeom>
              <a:avLst/>
              <a:gdLst/>
              <a:ahLst/>
              <a:cxnLst/>
              <a:rect l="l" t="t" r="r" b="b"/>
              <a:pathLst>
                <a:path w="0" h="135254">
                  <a:moveTo>
                    <a:pt x="0" y="0"/>
                  </a:moveTo>
                  <a:lnTo>
                    <a:pt x="0" y="13500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8" name="object 9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952244" y="4125531"/>
              <a:ext cx="106616" cy="227012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2007870" y="4147566"/>
              <a:ext cx="0" cy="135255"/>
            </a:xfrm>
            <a:custGeom>
              <a:avLst/>
              <a:gdLst/>
              <a:ahLst/>
              <a:cxnLst/>
              <a:rect l="l" t="t" r="r" b="b"/>
              <a:pathLst>
                <a:path w="0" h="135254">
                  <a:moveTo>
                    <a:pt x="0" y="0"/>
                  </a:moveTo>
                  <a:lnTo>
                    <a:pt x="0" y="13500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0" name="object 10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99488" y="4122356"/>
              <a:ext cx="106616" cy="230187"/>
            </a:xfrm>
            <a:prstGeom prst="rect">
              <a:avLst/>
            </a:prstGeom>
          </p:spPr>
        </p:pic>
        <p:sp>
          <p:nvSpPr>
            <p:cNvPr id="101" name="object 101"/>
            <p:cNvSpPr/>
            <p:nvPr/>
          </p:nvSpPr>
          <p:spPr>
            <a:xfrm>
              <a:off x="2055114" y="4144517"/>
              <a:ext cx="0" cy="136525"/>
            </a:xfrm>
            <a:custGeom>
              <a:avLst/>
              <a:gdLst/>
              <a:ahLst/>
              <a:cxnLst/>
              <a:rect l="l" t="t" r="r" b="b"/>
              <a:pathLst>
                <a:path w="0" h="136525">
                  <a:moveTo>
                    <a:pt x="0" y="0"/>
                  </a:moveTo>
                  <a:lnTo>
                    <a:pt x="0" y="136524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2" name="object 10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696212" y="3584460"/>
              <a:ext cx="665962" cy="435851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1866138" y="3607308"/>
              <a:ext cx="457834" cy="230504"/>
            </a:xfrm>
            <a:custGeom>
              <a:avLst/>
              <a:gdLst/>
              <a:ahLst/>
              <a:cxnLst/>
              <a:rect l="l" t="t" r="r" b="b"/>
              <a:pathLst>
                <a:path w="457835" h="230504">
                  <a:moveTo>
                    <a:pt x="87249" y="115316"/>
                  </a:moveTo>
                  <a:lnTo>
                    <a:pt x="0" y="227330"/>
                  </a:lnTo>
                  <a:lnTo>
                    <a:pt x="141986" y="229997"/>
                  </a:lnTo>
                  <a:lnTo>
                    <a:pt x="122709" y="189611"/>
                  </a:lnTo>
                  <a:lnTo>
                    <a:pt x="108585" y="189611"/>
                  </a:lnTo>
                  <a:lnTo>
                    <a:pt x="97662" y="166751"/>
                  </a:lnTo>
                  <a:lnTo>
                    <a:pt x="109175" y="161254"/>
                  </a:lnTo>
                  <a:lnTo>
                    <a:pt x="87249" y="115316"/>
                  </a:lnTo>
                  <a:close/>
                </a:path>
                <a:path w="457835" h="230504">
                  <a:moveTo>
                    <a:pt x="109175" y="161254"/>
                  </a:moveTo>
                  <a:lnTo>
                    <a:pt x="97662" y="166751"/>
                  </a:lnTo>
                  <a:lnTo>
                    <a:pt x="108585" y="189611"/>
                  </a:lnTo>
                  <a:lnTo>
                    <a:pt x="120088" y="184118"/>
                  </a:lnTo>
                  <a:lnTo>
                    <a:pt x="109175" y="161254"/>
                  </a:lnTo>
                  <a:close/>
                </a:path>
                <a:path w="457835" h="230504">
                  <a:moveTo>
                    <a:pt x="120088" y="184118"/>
                  </a:moveTo>
                  <a:lnTo>
                    <a:pt x="108585" y="189611"/>
                  </a:lnTo>
                  <a:lnTo>
                    <a:pt x="122709" y="189611"/>
                  </a:lnTo>
                  <a:lnTo>
                    <a:pt x="120088" y="184118"/>
                  </a:lnTo>
                  <a:close/>
                </a:path>
                <a:path w="457835" h="230504">
                  <a:moveTo>
                    <a:pt x="446913" y="0"/>
                  </a:moveTo>
                  <a:lnTo>
                    <a:pt x="109175" y="161254"/>
                  </a:lnTo>
                  <a:lnTo>
                    <a:pt x="120088" y="184118"/>
                  </a:lnTo>
                  <a:lnTo>
                    <a:pt x="457835" y="22860"/>
                  </a:lnTo>
                  <a:lnTo>
                    <a:pt x="44691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4" name="object 10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465832" y="3584409"/>
              <a:ext cx="699516" cy="367322"/>
            </a:xfrm>
            <a:prstGeom prst="rect">
              <a:avLst/>
            </a:prstGeom>
          </p:spPr>
        </p:pic>
        <p:sp>
          <p:nvSpPr>
            <p:cNvPr id="105" name="object 105"/>
            <p:cNvSpPr/>
            <p:nvPr/>
          </p:nvSpPr>
          <p:spPr>
            <a:xfrm>
              <a:off x="2507869" y="3606800"/>
              <a:ext cx="542925" cy="219710"/>
            </a:xfrm>
            <a:custGeom>
              <a:avLst/>
              <a:gdLst/>
              <a:ahLst/>
              <a:cxnLst/>
              <a:rect l="l" t="t" r="r" b="b"/>
              <a:pathLst>
                <a:path w="542925" h="219710">
                  <a:moveTo>
                    <a:pt x="482587" y="201769"/>
                  </a:moveTo>
                  <a:lnTo>
                    <a:pt x="457962" y="219710"/>
                  </a:lnTo>
                  <a:lnTo>
                    <a:pt x="542670" y="210312"/>
                  </a:lnTo>
                  <a:lnTo>
                    <a:pt x="537414" y="204724"/>
                  </a:lnTo>
                  <a:lnTo>
                    <a:pt x="490600" y="204724"/>
                  </a:lnTo>
                  <a:lnTo>
                    <a:pt x="482587" y="201769"/>
                  </a:lnTo>
                  <a:close/>
                </a:path>
                <a:path w="542925" h="219710">
                  <a:moveTo>
                    <a:pt x="494944" y="192890"/>
                  </a:moveTo>
                  <a:lnTo>
                    <a:pt x="494775" y="192890"/>
                  </a:lnTo>
                  <a:lnTo>
                    <a:pt x="482587" y="201769"/>
                  </a:lnTo>
                  <a:lnTo>
                    <a:pt x="490600" y="204724"/>
                  </a:lnTo>
                  <a:lnTo>
                    <a:pt x="494944" y="192890"/>
                  </a:lnTo>
                  <a:close/>
                </a:path>
                <a:path w="542925" h="219710">
                  <a:moveTo>
                    <a:pt x="484250" y="148208"/>
                  </a:moveTo>
                  <a:lnTo>
                    <a:pt x="491355" y="177895"/>
                  </a:lnTo>
                  <a:lnTo>
                    <a:pt x="499363" y="180848"/>
                  </a:lnTo>
                  <a:lnTo>
                    <a:pt x="490600" y="204724"/>
                  </a:lnTo>
                  <a:lnTo>
                    <a:pt x="537414" y="204724"/>
                  </a:lnTo>
                  <a:lnTo>
                    <a:pt x="484250" y="148208"/>
                  </a:lnTo>
                  <a:close/>
                </a:path>
                <a:path w="542925" h="219710">
                  <a:moveTo>
                    <a:pt x="8889" y="0"/>
                  </a:moveTo>
                  <a:lnTo>
                    <a:pt x="0" y="23875"/>
                  </a:lnTo>
                  <a:lnTo>
                    <a:pt x="482587" y="201769"/>
                  </a:lnTo>
                  <a:lnTo>
                    <a:pt x="494775" y="192890"/>
                  </a:lnTo>
                  <a:lnTo>
                    <a:pt x="494944" y="192890"/>
                  </a:lnTo>
                  <a:lnTo>
                    <a:pt x="491355" y="177895"/>
                  </a:lnTo>
                  <a:lnTo>
                    <a:pt x="8889" y="0"/>
                  </a:lnTo>
                  <a:close/>
                </a:path>
                <a:path w="542925" h="219710">
                  <a:moveTo>
                    <a:pt x="491355" y="177895"/>
                  </a:moveTo>
                  <a:lnTo>
                    <a:pt x="494944" y="192890"/>
                  </a:lnTo>
                  <a:lnTo>
                    <a:pt x="499363" y="180848"/>
                  </a:lnTo>
                  <a:lnTo>
                    <a:pt x="491355" y="177895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6" name="object 10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385060" y="3589045"/>
              <a:ext cx="320103" cy="362686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427605" y="3610991"/>
              <a:ext cx="162432" cy="206120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017519" y="3909009"/>
              <a:ext cx="388619" cy="365810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060065" y="3932301"/>
              <a:ext cx="230759" cy="207899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744724" y="3919766"/>
              <a:ext cx="234670" cy="355053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826258" y="3941826"/>
              <a:ext cx="76200" cy="198374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956816" y="3939539"/>
              <a:ext cx="422186" cy="333756"/>
            </a:xfrm>
            <a:prstGeom prst="rect">
              <a:avLst/>
            </a:prstGeom>
          </p:spPr>
        </p:pic>
        <p:sp>
          <p:nvSpPr>
            <p:cNvPr id="113" name="object 113"/>
            <p:cNvSpPr/>
            <p:nvPr/>
          </p:nvSpPr>
          <p:spPr>
            <a:xfrm>
              <a:off x="1999488" y="3961638"/>
              <a:ext cx="264160" cy="177800"/>
            </a:xfrm>
            <a:custGeom>
              <a:avLst/>
              <a:gdLst/>
              <a:ahLst/>
              <a:cxnLst/>
              <a:rect l="l" t="t" r="r" b="b"/>
              <a:pathLst>
                <a:path w="264160" h="177800">
                  <a:moveTo>
                    <a:pt x="207370" y="155777"/>
                  </a:moveTo>
                  <a:lnTo>
                    <a:pt x="179324" y="167894"/>
                  </a:lnTo>
                  <a:lnTo>
                    <a:pt x="264032" y="177292"/>
                  </a:lnTo>
                  <a:lnTo>
                    <a:pt x="254097" y="160400"/>
                  </a:lnTo>
                  <a:lnTo>
                    <a:pt x="214503" y="160400"/>
                  </a:lnTo>
                  <a:lnTo>
                    <a:pt x="207370" y="155777"/>
                  </a:lnTo>
                  <a:close/>
                </a:path>
                <a:path w="264160" h="177800">
                  <a:moveTo>
                    <a:pt x="221362" y="149829"/>
                  </a:moveTo>
                  <a:lnTo>
                    <a:pt x="221138" y="149829"/>
                  </a:lnTo>
                  <a:lnTo>
                    <a:pt x="207370" y="155777"/>
                  </a:lnTo>
                  <a:lnTo>
                    <a:pt x="214503" y="160400"/>
                  </a:lnTo>
                  <a:lnTo>
                    <a:pt x="221362" y="149829"/>
                  </a:lnTo>
                  <a:close/>
                </a:path>
                <a:path w="264160" h="177800">
                  <a:moveTo>
                    <a:pt x="220853" y="103886"/>
                  </a:moveTo>
                  <a:lnTo>
                    <a:pt x="221191" y="134429"/>
                  </a:lnTo>
                  <a:lnTo>
                    <a:pt x="228345" y="139064"/>
                  </a:lnTo>
                  <a:lnTo>
                    <a:pt x="214503" y="160400"/>
                  </a:lnTo>
                  <a:lnTo>
                    <a:pt x="254097" y="160400"/>
                  </a:lnTo>
                  <a:lnTo>
                    <a:pt x="220853" y="103886"/>
                  </a:lnTo>
                  <a:close/>
                </a:path>
                <a:path w="264160" h="177800">
                  <a:moveTo>
                    <a:pt x="13716" y="0"/>
                  </a:moveTo>
                  <a:lnTo>
                    <a:pt x="0" y="21336"/>
                  </a:lnTo>
                  <a:lnTo>
                    <a:pt x="207370" y="155777"/>
                  </a:lnTo>
                  <a:lnTo>
                    <a:pt x="221138" y="149829"/>
                  </a:lnTo>
                  <a:lnTo>
                    <a:pt x="221191" y="134429"/>
                  </a:lnTo>
                  <a:lnTo>
                    <a:pt x="13716" y="0"/>
                  </a:lnTo>
                  <a:close/>
                </a:path>
                <a:path w="264160" h="177800">
                  <a:moveTo>
                    <a:pt x="221191" y="134429"/>
                  </a:moveTo>
                  <a:lnTo>
                    <a:pt x="221242" y="139064"/>
                  </a:lnTo>
                  <a:lnTo>
                    <a:pt x="221362" y="149829"/>
                  </a:lnTo>
                  <a:lnTo>
                    <a:pt x="228345" y="139064"/>
                  </a:lnTo>
                  <a:lnTo>
                    <a:pt x="221191" y="134429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4" name="object 11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693164" y="3945674"/>
              <a:ext cx="234670" cy="327621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799971" y="3968369"/>
              <a:ext cx="78740" cy="170561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73124" y="3430511"/>
              <a:ext cx="2049779" cy="908316"/>
            </a:xfrm>
            <a:prstGeom prst="rect">
              <a:avLst/>
            </a:prstGeom>
          </p:spPr>
        </p:pic>
        <p:sp>
          <p:nvSpPr>
            <p:cNvPr id="117" name="object 117"/>
            <p:cNvSpPr/>
            <p:nvPr/>
          </p:nvSpPr>
          <p:spPr>
            <a:xfrm>
              <a:off x="1420368" y="3454908"/>
              <a:ext cx="1960245" cy="818515"/>
            </a:xfrm>
            <a:custGeom>
              <a:avLst/>
              <a:gdLst/>
              <a:ahLst/>
              <a:cxnLst/>
              <a:rect l="l" t="t" r="r" b="b"/>
              <a:pathLst>
                <a:path w="1960245" h="818514">
                  <a:moveTo>
                    <a:pt x="1755267" y="0"/>
                  </a:moveTo>
                  <a:lnTo>
                    <a:pt x="204597" y="0"/>
                  </a:lnTo>
                  <a:lnTo>
                    <a:pt x="0" y="818387"/>
                  </a:lnTo>
                  <a:lnTo>
                    <a:pt x="1959864" y="818387"/>
                  </a:lnTo>
                  <a:lnTo>
                    <a:pt x="1755267" y="0"/>
                  </a:lnTo>
                  <a:close/>
                </a:path>
              </a:pathLst>
            </a:custGeom>
            <a:solidFill>
              <a:srgbClr val="D7E1F3">
                <a:alpha val="16862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1420368" y="3454908"/>
              <a:ext cx="1960245" cy="818515"/>
            </a:xfrm>
            <a:custGeom>
              <a:avLst/>
              <a:gdLst/>
              <a:ahLst/>
              <a:cxnLst/>
              <a:rect l="l" t="t" r="r" b="b"/>
              <a:pathLst>
                <a:path w="1960245" h="818514">
                  <a:moveTo>
                    <a:pt x="0" y="818387"/>
                  </a:moveTo>
                  <a:lnTo>
                    <a:pt x="204597" y="0"/>
                  </a:lnTo>
                  <a:lnTo>
                    <a:pt x="1755267" y="0"/>
                  </a:lnTo>
                  <a:lnTo>
                    <a:pt x="1959864" y="818387"/>
                  </a:lnTo>
                  <a:lnTo>
                    <a:pt x="0" y="818387"/>
                  </a:lnTo>
                  <a:close/>
                </a:path>
              </a:pathLst>
            </a:custGeom>
            <a:ln w="9525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9" name="object 11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124456" y="2958058"/>
              <a:ext cx="859561" cy="768121"/>
            </a:xfrm>
            <a:prstGeom prst="rect">
              <a:avLst/>
            </a:prstGeom>
          </p:spPr>
        </p:pic>
        <p:sp>
          <p:nvSpPr>
            <p:cNvPr id="120" name="object 120"/>
            <p:cNvSpPr/>
            <p:nvPr/>
          </p:nvSpPr>
          <p:spPr>
            <a:xfrm>
              <a:off x="2308733" y="2980816"/>
              <a:ext cx="636905" cy="447675"/>
            </a:xfrm>
            <a:custGeom>
              <a:avLst/>
              <a:gdLst/>
              <a:ahLst/>
              <a:cxnLst/>
              <a:rect l="l" t="t" r="r" b="b"/>
              <a:pathLst>
                <a:path w="636905" h="447675">
                  <a:moveTo>
                    <a:pt x="0" y="200279"/>
                  </a:moveTo>
                  <a:lnTo>
                    <a:pt x="98425" y="447548"/>
                  </a:lnTo>
                  <a:lnTo>
                    <a:pt x="185065" y="305816"/>
                  </a:lnTo>
                  <a:lnTo>
                    <a:pt x="134366" y="305816"/>
                  </a:lnTo>
                  <a:lnTo>
                    <a:pt x="86741" y="304673"/>
                  </a:lnTo>
                  <a:lnTo>
                    <a:pt x="86970" y="295148"/>
                  </a:lnTo>
                  <a:lnTo>
                    <a:pt x="87096" y="289078"/>
                  </a:lnTo>
                  <a:lnTo>
                    <a:pt x="87213" y="283182"/>
                  </a:lnTo>
                  <a:lnTo>
                    <a:pt x="0" y="200279"/>
                  </a:lnTo>
                  <a:close/>
                </a:path>
                <a:path w="636905" h="447675">
                  <a:moveTo>
                    <a:pt x="87213" y="283182"/>
                  </a:moveTo>
                  <a:lnTo>
                    <a:pt x="86741" y="304673"/>
                  </a:lnTo>
                  <a:lnTo>
                    <a:pt x="134366" y="305816"/>
                  </a:lnTo>
                  <a:lnTo>
                    <a:pt x="134378" y="305308"/>
                  </a:lnTo>
                  <a:lnTo>
                    <a:pt x="110490" y="305308"/>
                  </a:lnTo>
                  <a:lnTo>
                    <a:pt x="87213" y="283182"/>
                  </a:lnTo>
                  <a:close/>
                </a:path>
                <a:path w="636905" h="447675">
                  <a:moveTo>
                    <a:pt x="237236" y="220472"/>
                  </a:moveTo>
                  <a:lnTo>
                    <a:pt x="134736" y="289078"/>
                  </a:lnTo>
                  <a:lnTo>
                    <a:pt x="134619" y="295148"/>
                  </a:lnTo>
                  <a:lnTo>
                    <a:pt x="134393" y="304673"/>
                  </a:lnTo>
                  <a:lnTo>
                    <a:pt x="134366" y="305816"/>
                  </a:lnTo>
                  <a:lnTo>
                    <a:pt x="185065" y="305816"/>
                  </a:lnTo>
                  <a:lnTo>
                    <a:pt x="237236" y="220472"/>
                  </a:lnTo>
                  <a:close/>
                </a:path>
                <a:path w="636905" h="447675">
                  <a:moveTo>
                    <a:pt x="636269" y="0"/>
                  </a:moveTo>
                  <a:lnTo>
                    <a:pt x="586486" y="1143"/>
                  </a:lnTo>
                  <a:lnTo>
                    <a:pt x="536575" y="4825"/>
                  </a:lnTo>
                  <a:lnTo>
                    <a:pt x="487806" y="10541"/>
                  </a:lnTo>
                  <a:lnTo>
                    <a:pt x="439928" y="18415"/>
                  </a:lnTo>
                  <a:lnTo>
                    <a:pt x="393573" y="28321"/>
                  </a:lnTo>
                  <a:lnTo>
                    <a:pt x="348742" y="39878"/>
                  </a:lnTo>
                  <a:lnTo>
                    <a:pt x="306578" y="53086"/>
                  </a:lnTo>
                  <a:lnTo>
                    <a:pt x="267081" y="67691"/>
                  </a:lnTo>
                  <a:lnTo>
                    <a:pt x="230378" y="83820"/>
                  </a:lnTo>
                  <a:lnTo>
                    <a:pt x="181737" y="110236"/>
                  </a:lnTo>
                  <a:lnTo>
                    <a:pt x="141605" y="139446"/>
                  </a:lnTo>
                  <a:lnTo>
                    <a:pt x="111125" y="171450"/>
                  </a:lnTo>
                  <a:lnTo>
                    <a:pt x="92202" y="207645"/>
                  </a:lnTo>
                  <a:lnTo>
                    <a:pt x="87375" y="275082"/>
                  </a:lnTo>
                  <a:lnTo>
                    <a:pt x="87213" y="283182"/>
                  </a:lnTo>
                  <a:lnTo>
                    <a:pt x="110490" y="305308"/>
                  </a:lnTo>
                  <a:lnTo>
                    <a:pt x="134736" y="289078"/>
                  </a:lnTo>
                  <a:lnTo>
                    <a:pt x="135000" y="275336"/>
                  </a:lnTo>
                  <a:lnTo>
                    <a:pt x="135255" y="237490"/>
                  </a:lnTo>
                  <a:lnTo>
                    <a:pt x="135743" y="231140"/>
                  </a:lnTo>
                  <a:lnTo>
                    <a:pt x="135381" y="231140"/>
                  </a:lnTo>
                  <a:lnTo>
                    <a:pt x="136017" y="227584"/>
                  </a:lnTo>
                  <a:lnTo>
                    <a:pt x="136144" y="227584"/>
                  </a:lnTo>
                  <a:lnTo>
                    <a:pt x="136906" y="224028"/>
                  </a:lnTo>
                  <a:lnTo>
                    <a:pt x="162560" y="184785"/>
                  </a:lnTo>
                  <a:lnTo>
                    <a:pt x="193548" y="159512"/>
                  </a:lnTo>
                  <a:lnTo>
                    <a:pt x="234569" y="135000"/>
                  </a:lnTo>
                  <a:lnTo>
                    <a:pt x="284099" y="112141"/>
                  </a:lnTo>
                  <a:lnTo>
                    <a:pt x="321437" y="98425"/>
                  </a:lnTo>
                  <a:lnTo>
                    <a:pt x="361442" y="85852"/>
                  </a:lnTo>
                  <a:lnTo>
                    <a:pt x="403352" y="74803"/>
                  </a:lnTo>
                  <a:lnTo>
                    <a:pt x="447675" y="65405"/>
                  </a:lnTo>
                  <a:lnTo>
                    <a:pt x="493522" y="57912"/>
                  </a:lnTo>
                  <a:lnTo>
                    <a:pt x="540766" y="52197"/>
                  </a:lnTo>
                  <a:lnTo>
                    <a:pt x="588391" y="48768"/>
                  </a:lnTo>
                  <a:lnTo>
                    <a:pt x="636905" y="47498"/>
                  </a:lnTo>
                  <a:lnTo>
                    <a:pt x="636516" y="18415"/>
                  </a:lnTo>
                  <a:lnTo>
                    <a:pt x="636410" y="10541"/>
                  </a:lnTo>
                  <a:lnTo>
                    <a:pt x="636285" y="1143"/>
                  </a:lnTo>
                  <a:lnTo>
                    <a:pt x="636269" y="0"/>
                  </a:lnTo>
                  <a:close/>
                </a:path>
                <a:path w="636905" h="447675">
                  <a:moveTo>
                    <a:pt x="134736" y="289078"/>
                  </a:moveTo>
                  <a:lnTo>
                    <a:pt x="110490" y="305308"/>
                  </a:lnTo>
                  <a:lnTo>
                    <a:pt x="134378" y="305308"/>
                  </a:lnTo>
                  <a:lnTo>
                    <a:pt x="134619" y="295148"/>
                  </a:lnTo>
                  <a:lnTo>
                    <a:pt x="134736" y="289078"/>
                  </a:lnTo>
                  <a:close/>
                </a:path>
                <a:path w="636905" h="447675">
                  <a:moveTo>
                    <a:pt x="135945" y="228508"/>
                  </a:moveTo>
                  <a:lnTo>
                    <a:pt x="135381" y="231140"/>
                  </a:lnTo>
                  <a:lnTo>
                    <a:pt x="135743" y="231140"/>
                  </a:lnTo>
                  <a:lnTo>
                    <a:pt x="135945" y="228508"/>
                  </a:lnTo>
                  <a:close/>
                </a:path>
                <a:path w="636905" h="447675">
                  <a:moveTo>
                    <a:pt x="136144" y="227584"/>
                  </a:moveTo>
                  <a:lnTo>
                    <a:pt x="136017" y="227584"/>
                  </a:lnTo>
                  <a:lnTo>
                    <a:pt x="135945" y="228508"/>
                  </a:lnTo>
                  <a:lnTo>
                    <a:pt x="136144" y="227584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9" name="object 139"/>
          <p:cNvSpPr txBox="1"/>
          <p:nvPr/>
        </p:nvSpPr>
        <p:spPr>
          <a:xfrm>
            <a:off x="2835020" y="2237613"/>
            <a:ext cx="44704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Calibri"/>
                <a:cs typeface="Calibri"/>
              </a:rPr>
              <a:t>App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 spc="-50"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23" name="object 123"/>
          <p:cNvGrpSpPr/>
          <p:nvPr/>
        </p:nvGrpSpPr>
        <p:grpSpPr>
          <a:xfrm>
            <a:off x="4124197" y="2479801"/>
            <a:ext cx="1419860" cy="406400"/>
            <a:chOff x="4124197" y="2479801"/>
            <a:chExt cx="1419860" cy="406400"/>
          </a:xfrm>
        </p:grpSpPr>
        <p:sp>
          <p:nvSpPr>
            <p:cNvPr id="124" name="object 124"/>
            <p:cNvSpPr/>
            <p:nvPr/>
          </p:nvSpPr>
          <p:spPr>
            <a:xfrm>
              <a:off x="4136897" y="2492501"/>
              <a:ext cx="1394460" cy="381000"/>
            </a:xfrm>
            <a:custGeom>
              <a:avLst/>
              <a:gdLst/>
              <a:ahLst/>
              <a:cxnLst/>
              <a:rect l="l" t="t" r="r" b="b"/>
              <a:pathLst>
                <a:path w="1394460" h="381000">
                  <a:moveTo>
                    <a:pt x="1330960" y="0"/>
                  </a:moveTo>
                  <a:lnTo>
                    <a:pt x="63500" y="0"/>
                  </a:lnTo>
                  <a:lnTo>
                    <a:pt x="38790" y="4992"/>
                  </a:lnTo>
                  <a:lnTo>
                    <a:pt x="18605" y="18605"/>
                  </a:lnTo>
                  <a:lnTo>
                    <a:pt x="4992" y="38790"/>
                  </a:lnTo>
                  <a:lnTo>
                    <a:pt x="0" y="63500"/>
                  </a:lnTo>
                  <a:lnTo>
                    <a:pt x="0" y="317500"/>
                  </a:lnTo>
                  <a:lnTo>
                    <a:pt x="4992" y="342209"/>
                  </a:lnTo>
                  <a:lnTo>
                    <a:pt x="18605" y="362394"/>
                  </a:lnTo>
                  <a:lnTo>
                    <a:pt x="38790" y="376007"/>
                  </a:lnTo>
                  <a:lnTo>
                    <a:pt x="63500" y="381000"/>
                  </a:lnTo>
                  <a:lnTo>
                    <a:pt x="1330960" y="381000"/>
                  </a:lnTo>
                  <a:lnTo>
                    <a:pt x="1355669" y="376007"/>
                  </a:lnTo>
                  <a:lnTo>
                    <a:pt x="1375854" y="362394"/>
                  </a:lnTo>
                  <a:lnTo>
                    <a:pt x="1389467" y="342209"/>
                  </a:lnTo>
                  <a:lnTo>
                    <a:pt x="1394460" y="317500"/>
                  </a:lnTo>
                  <a:lnTo>
                    <a:pt x="1394460" y="63500"/>
                  </a:lnTo>
                  <a:lnTo>
                    <a:pt x="1389467" y="38790"/>
                  </a:lnTo>
                  <a:lnTo>
                    <a:pt x="1375854" y="18605"/>
                  </a:lnTo>
                  <a:lnTo>
                    <a:pt x="1355669" y="4992"/>
                  </a:lnTo>
                  <a:lnTo>
                    <a:pt x="133096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4136897" y="2492501"/>
              <a:ext cx="1394460" cy="381000"/>
            </a:xfrm>
            <a:custGeom>
              <a:avLst/>
              <a:gdLst/>
              <a:ahLst/>
              <a:cxnLst/>
              <a:rect l="l" t="t" r="r" b="b"/>
              <a:pathLst>
                <a:path w="1394460" h="381000">
                  <a:moveTo>
                    <a:pt x="0" y="63500"/>
                  </a:moveTo>
                  <a:lnTo>
                    <a:pt x="4992" y="38790"/>
                  </a:lnTo>
                  <a:lnTo>
                    <a:pt x="18605" y="18605"/>
                  </a:lnTo>
                  <a:lnTo>
                    <a:pt x="38790" y="4992"/>
                  </a:lnTo>
                  <a:lnTo>
                    <a:pt x="63500" y="0"/>
                  </a:lnTo>
                  <a:lnTo>
                    <a:pt x="1330960" y="0"/>
                  </a:lnTo>
                  <a:lnTo>
                    <a:pt x="1355669" y="4992"/>
                  </a:lnTo>
                  <a:lnTo>
                    <a:pt x="1375854" y="18605"/>
                  </a:lnTo>
                  <a:lnTo>
                    <a:pt x="1389467" y="38790"/>
                  </a:lnTo>
                  <a:lnTo>
                    <a:pt x="1394460" y="63500"/>
                  </a:lnTo>
                  <a:lnTo>
                    <a:pt x="1394460" y="317500"/>
                  </a:lnTo>
                  <a:lnTo>
                    <a:pt x="1389467" y="342209"/>
                  </a:lnTo>
                  <a:lnTo>
                    <a:pt x="1375854" y="362394"/>
                  </a:lnTo>
                  <a:lnTo>
                    <a:pt x="1355669" y="376007"/>
                  </a:lnTo>
                  <a:lnTo>
                    <a:pt x="1330960" y="381000"/>
                  </a:lnTo>
                  <a:lnTo>
                    <a:pt x="63500" y="381000"/>
                  </a:lnTo>
                  <a:lnTo>
                    <a:pt x="38790" y="376007"/>
                  </a:lnTo>
                  <a:lnTo>
                    <a:pt x="18605" y="362394"/>
                  </a:lnTo>
                  <a:lnTo>
                    <a:pt x="4992" y="342209"/>
                  </a:lnTo>
                  <a:lnTo>
                    <a:pt x="0" y="317500"/>
                  </a:lnTo>
                  <a:lnTo>
                    <a:pt x="0" y="63500"/>
                  </a:lnTo>
                  <a:close/>
                </a:path>
              </a:pathLst>
            </a:custGeom>
            <a:ln w="254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26" name="object 126"/>
          <p:cNvGraphicFramePr>
            <a:graphicFrameLocks noGrp="1"/>
          </p:cNvGraphicFramePr>
          <p:nvPr/>
        </p:nvGraphicFramePr>
        <p:xfrm>
          <a:off x="4136897" y="2492501"/>
          <a:ext cx="147066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"/>
                <a:gridCol w="228600"/>
                <a:gridCol w="228600"/>
                <a:gridCol w="228600"/>
                <a:gridCol w="228600"/>
                <a:gridCol w="173990"/>
                <a:gridCol w="154305"/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</a:tcPr>
                </a:tc>
              </a:tr>
            </a:tbl>
          </a:graphicData>
        </a:graphic>
      </p:graphicFrame>
      <p:sp>
        <p:nvSpPr>
          <p:cNvPr id="122" name="object 122"/>
          <p:cNvSpPr txBox="1"/>
          <p:nvPr/>
        </p:nvSpPr>
        <p:spPr>
          <a:xfrm>
            <a:off x="963269" y="3177920"/>
            <a:ext cx="127063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Calibri"/>
                <a:cs typeface="Calibri"/>
              </a:rPr>
              <a:t>Guest</a:t>
            </a:r>
            <a:r>
              <a:rPr dirty="0" sz="1400" spc="-5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Page</a:t>
            </a:r>
            <a:r>
              <a:rPr dirty="0" sz="1400" spc="-10" b="1">
                <a:latin typeface="Calibri"/>
                <a:cs typeface="Calibri"/>
              </a:rPr>
              <a:t> table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27" name="object 127"/>
          <p:cNvGrpSpPr/>
          <p:nvPr/>
        </p:nvGrpSpPr>
        <p:grpSpPr>
          <a:xfrm>
            <a:off x="3319526" y="2219198"/>
            <a:ext cx="6181090" cy="1854200"/>
            <a:chOff x="3319526" y="2219198"/>
            <a:chExt cx="6181090" cy="1854200"/>
          </a:xfrm>
        </p:grpSpPr>
        <p:sp>
          <p:nvSpPr>
            <p:cNvPr id="128" name="object 128"/>
            <p:cNvSpPr/>
            <p:nvPr/>
          </p:nvSpPr>
          <p:spPr>
            <a:xfrm>
              <a:off x="3332226" y="3644646"/>
              <a:ext cx="1529080" cy="381000"/>
            </a:xfrm>
            <a:custGeom>
              <a:avLst/>
              <a:gdLst/>
              <a:ahLst/>
              <a:cxnLst/>
              <a:rect l="l" t="t" r="r" b="b"/>
              <a:pathLst>
                <a:path w="1529079" h="381000">
                  <a:moveTo>
                    <a:pt x="1465072" y="0"/>
                  </a:moveTo>
                  <a:lnTo>
                    <a:pt x="63500" y="0"/>
                  </a:lnTo>
                  <a:lnTo>
                    <a:pt x="38790" y="4992"/>
                  </a:lnTo>
                  <a:lnTo>
                    <a:pt x="18605" y="18605"/>
                  </a:lnTo>
                  <a:lnTo>
                    <a:pt x="4992" y="38790"/>
                  </a:lnTo>
                  <a:lnTo>
                    <a:pt x="0" y="63499"/>
                  </a:lnTo>
                  <a:lnTo>
                    <a:pt x="0" y="317499"/>
                  </a:lnTo>
                  <a:lnTo>
                    <a:pt x="4992" y="342209"/>
                  </a:lnTo>
                  <a:lnTo>
                    <a:pt x="18605" y="362394"/>
                  </a:lnTo>
                  <a:lnTo>
                    <a:pt x="38790" y="376007"/>
                  </a:lnTo>
                  <a:lnTo>
                    <a:pt x="63500" y="380999"/>
                  </a:lnTo>
                  <a:lnTo>
                    <a:pt x="1465072" y="380999"/>
                  </a:lnTo>
                  <a:lnTo>
                    <a:pt x="1489781" y="376007"/>
                  </a:lnTo>
                  <a:lnTo>
                    <a:pt x="1509966" y="362394"/>
                  </a:lnTo>
                  <a:lnTo>
                    <a:pt x="1523579" y="342209"/>
                  </a:lnTo>
                  <a:lnTo>
                    <a:pt x="1528572" y="317499"/>
                  </a:lnTo>
                  <a:lnTo>
                    <a:pt x="1528572" y="63499"/>
                  </a:lnTo>
                  <a:lnTo>
                    <a:pt x="1523579" y="38790"/>
                  </a:lnTo>
                  <a:lnTo>
                    <a:pt x="1509966" y="18605"/>
                  </a:lnTo>
                  <a:lnTo>
                    <a:pt x="1489781" y="4992"/>
                  </a:lnTo>
                  <a:lnTo>
                    <a:pt x="1465072" y="0"/>
                  </a:lnTo>
                  <a:close/>
                </a:path>
              </a:pathLst>
            </a:custGeom>
            <a:solidFill>
              <a:srgbClr val="C4DF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3332226" y="3644646"/>
              <a:ext cx="1529080" cy="381000"/>
            </a:xfrm>
            <a:custGeom>
              <a:avLst/>
              <a:gdLst/>
              <a:ahLst/>
              <a:cxnLst/>
              <a:rect l="l" t="t" r="r" b="b"/>
              <a:pathLst>
                <a:path w="1529079" h="381000">
                  <a:moveTo>
                    <a:pt x="0" y="63499"/>
                  </a:moveTo>
                  <a:lnTo>
                    <a:pt x="4992" y="38790"/>
                  </a:lnTo>
                  <a:lnTo>
                    <a:pt x="18605" y="18605"/>
                  </a:lnTo>
                  <a:lnTo>
                    <a:pt x="38790" y="4992"/>
                  </a:lnTo>
                  <a:lnTo>
                    <a:pt x="63500" y="0"/>
                  </a:lnTo>
                  <a:lnTo>
                    <a:pt x="1465072" y="0"/>
                  </a:lnTo>
                  <a:lnTo>
                    <a:pt x="1489781" y="4992"/>
                  </a:lnTo>
                  <a:lnTo>
                    <a:pt x="1509966" y="18605"/>
                  </a:lnTo>
                  <a:lnTo>
                    <a:pt x="1523579" y="38790"/>
                  </a:lnTo>
                  <a:lnTo>
                    <a:pt x="1528572" y="63499"/>
                  </a:lnTo>
                  <a:lnTo>
                    <a:pt x="1528572" y="317499"/>
                  </a:lnTo>
                  <a:lnTo>
                    <a:pt x="1523579" y="342209"/>
                  </a:lnTo>
                  <a:lnTo>
                    <a:pt x="1509966" y="362394"/>
                  </a:lnTo>
                  <a:lnTo>
                    <a:pt x="1489781" y="376007"/>
                  </a:lnTo>
                  <a:lnTo>
                    <a:pt x="1465072" y="380999"/>
                  </a:lnTo>
                  <a:lnTo>
                    <a:pt x="63500" y="380999"/>
                  </a:lnTo>
                  <a:lnTo>
                    <a:pt x="38790" y="376007"/>
                  </a:lnTo>
                  <a:lnTo>
                    <a:pt x="18605" y="362394"/>
                  </a:lnTo>
                  <a:lnTo>
                    <a:pt x="4992" y="342209"/>
                  </a:lnTo>
                  <a:lnTo>
                    <a:pt x="0" y="317499"/>
                  </a:lnTo>
                  <a:lnTo>
                    <a:pt x="0" y="63499"/>
                  </a:lnTo>
                  <a:close/>
                </a:path>
              </a:pathLst>
            </a:custGeom>
            <a:ln w="254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3548634" y="3644646"/>
              <a:ext cx="1143000" cy="390525"/>
            </a:xfrm>
            <a:custGeom>
              <a:avLst/>
              <a:gdLst/>
              <a:ahLst/>
              <a:cxnLst/>
              <a:rect l="l" t="t" r="r" b="b"/>
              <a:pathLst>
                <a:path w="1143000" h="390525">
                  <a:moveTo>
                    <a:pt x="228600" y="0"/>
                  </a:moveTo>
                  <a:lnTo>
                    <a:pt x="228600" y="380999"/>
                  </a:lnTo>
                </a:path>
                <a:path w="1143000" h="390525">
                  <a:moveTo>
                    <a:pt x="457200" y="0"/>
                  </a:moveTo>
                  <a:lnTo>
                    <a:pt x="457200" y="380999"/>
                  </a:lnTo>
                </a:path>
                <a:path w="1143000" h="390525">
                  <a:moveTo>
                    <a:pt x="685800" y="0"/>
                  </a:moveTo>
                  <a:lnTo>
                    <a:pt x="685800" y="380999"/>
                  </a:lnTo>
                </a:path>
                <a:path w="1143000" h="390525">
                  <a:moveTo>
                    <a:pt x="0" y="0"/>
                  </a:moveTo>
                  <a:lnTo>
                    <a:pt x="0" y="380999"/>
                  </a:lnTo>
                </a:path>
                <a:path w="1143000" h="390525">
                  <a:moveTo>
                    <a:pt x="1143000" y="9143"/>
                  </a:moveTo>
                  <a:lnTo>
                    <a:pt x="1143000" y="390143"/>
                  </a:lnTo>
                </a:path>
                <a:path w="1143000" h="390525">
                  <a:moveTo>
                    <a:pt x="914400" y="9143"/>
                  </a:moveTo>
                  <a:lnTo>
                    <a:pt x="914400" y="390143"/>
                  </a:lnTo>
                </a:path>
              </a:pathLst>
            </a:custGeom>
            <a:ln w="31750">
              <a:solidFill>
                <a:srgbClr val="3D6DC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6121146" y="2231898"/>
              <a:ext cx="3366770" cy="1828800"/>
            </a:xfrm>
            <a:custGeom>
              <a:avLst/>
              <a:gdLst/>
              <a:ahLst/>
              <a:cxnLst/>
              <a:rect l="l" t="t" r="r" b="b"/>
              <a:pathLst>
                <a:path w="3366770" h="1828800">
                  <a:moveTo>
                    <a:pt x="3061715" y="0"/>
                  </a:moveTo>
                  <a:lnTo>
                    <a:pt x="304800" y="0"/>
                  </a:lnTo>
                  <a:lnTo>
                    <a:pt x="255374" y="3990"/>
                  </a:lnTo>
                  <a:lnTo>
                    <a:pt x="208483" y="15544"/>
                  </a:lnTo>
                  <a:lnTo>
                    <a:pt x="164753" y="34032"/>
                  </a:lnTo>
                  <a:lnTo>
                    <a:pt x="124815" y="58826"/>
                  </a:lnTo>
                  <a:lnTo>
                    <a:pt x="89296" y="89296"/>
                  </a:lnTo>
                  <a:lnTo>
                    <a:pt x="58826" y="124815"/>
                  </a:lnTo>
                  <a:lnTo>
                    <a:pt x="34032" y="164753"/>
                  </a:lnTo>
                  <a:lnTo>
                    <a:pt x="15544" y="208483"/>
                  </a:lnTo>
                  <a:lnTo>
                    <a:pt x="3990" y="255374"/>
                  </a:lnTo>
                  <a:lnTo>
                    <a:pt x="0" y="304800"/>
                  </a:lnTo>
                  <a:lnTo>
                    <a:pt x="0" y="1524000"/>
                  </a:lnTo>
                  <a:lnTo>
                    <a:pt x="3990" y="1573425"/>
                  </a:lnTo>
                  <a:lnTo>
                    <a:pt x="15544" y="1620316"/>
                  </a:lnTo>
                  <a:lnTo>
                    <a:pt x="34032" y="1664046"/>
                  </a:lnTo>
                  <a:lnTo>
                    <a:pt x="58826" y="1703984"/>
                  </a:lnTo>
                  <a:lnTo>
                    <a:pt x="89296" y="1739503"/>
                  </a:lnTo>
                  <a:lnTo>
                    <a:pt x="124815" y="1769973"/>
                  </a:lnTo>
                  <a:lnTo>
                    <a:pt x="164753" y="1794767"/>
                  </a:lnTo>
                  <a:lnTo>
                    <a:pt x="208483" y="1813255"/>
                  </a:lnTo>
                  <a:lnTo>
                    <a:pt x="255374" y="1824809"/>
                  </a:lnTo>
                  <a:lnTo>
                    <a:pt x="304800" y="1828800"/>
                  </a:lnTo>
                  <a:lnTo>
                    <a:pt x="3061715" y="1828800"/>
                  </a:lnTo>
                  <a:lnTo>
                    <a:pt x="3111141" y="1824809"/>
                  </a:lnTo>
                  <a:lnTo>
                    <a:pt x="3158032" y="1813255"/>
                  </a:lnTo>
                  <a:lnTo>
                    <a:pt x="3201762" y="1794767"/>
                  </a:lnTo>
                  <a:lnTo>
                    <a:pt x="3241700" y="1769973"/>
                  </a:lnTo>
                  <a:lnTo>
                    <a:pt x="3277219" y="1739503"/>
                  </a:lnTo>
                  <a:lnTo>
                    <a:pt x="3307689" y="1703984"/>
                  </a:lnTo>
                  <a:lnTo>
                    <a:pt x="3332483" y="1664046"/>
                  </a:lnTo>
                  <a:lnTo>
                    <a:pt x="3350971" y="1620316"/>
                  </a:lnTo>
                  <a:lnTo>
                    <a:pt x="3362525" y="1573425"/>
                  </a:lnTo>
                  <a:lnTo>
                    <a:pt x="3366515" y="1524000"/>
                  </a:lnTo>
                  <a:lnTo>
                    <a:pt x="3366515" y="304800"/>
                  </a:lnTo>
                  <a:lnTo>
                    <a:pt x="3362525" y="255374"/>
                  </a:lnTo>
                  <a:lnTo>
                    <a:pt x="3350971" y="208483"/>
                  </a:lnTo>
                  <a:lnTo>
                    <a:pt x="3332483" y="164753"/>
                  </a:lnTo>
                  <a:lnTo>
                    <a:pt x="3307689" y="124815"/>
                  </a:lnTo>
                  <a:lnTo>
                    <a:pt x="3277219" y="89296"/>
                  </a:lnTo>
                  <a:lnTo>
                    <a:pt x="3241700" y="58826"/>
                  </a:lnTo>
                  <a:lnTo>
                    <a:pt x="3201762" y="34032"/>
                  </a:lnTo>
                  <a:lnTo>
                    <a:pt x="3158032" y="15544"/>
                  </a:lnTo>
                  <a:lnTo>
                    <a:pt x="3111141" y="3990"/>
                  </a:lnTo>
                  <a:lnTo>
                    <a:pt x="3061715" y="0"/>
                  </a:lnTo>
                  <a:close/>
                </a:path>
              </a:pathLst>
            </a:custGeom>
            <a:solidFill>
              <a:srgbClr val="BAD5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6121146" y="2231898"/>
              <a:ext cx="3366770" cy="1828800"/>
            </a:xfrm>
            <a:custGeom>
              <a:avLst/>
              <a:gdLst/>
              <a:ahLst/>
              <a:cxnLst/>
              <a:rect l="l" t="t" r="r" b="b"/>
              <a:pathLst>
                <a:path w="3366770" h="1828800">
                  <a:moveTo>
                    <a:pt x="0" y="304800"/>
                  </a:moveTo>
                  <a:lnTo>
                    <a:pt x="3990" y="255374"/>
                  </a:lnTo>
                  <a:lnTo>
                    <a:pt x="15544" y="208483"/>
                  </a:lnTo>
                  <a:lnTo>
                    <a:pt x="34032" y="164753"/>
                  </a:lnTo>
                  <a:lnTo>
                    <a:pt x="58826" y="124815"/>
                  </a:lnTo>
                  <a:lnTo>
                    <a:pt x="89296" y="89296"/>
                  </a:lnTo>
                  <a:lnTo>
                    <a:pt x="124815" y="58826"/>
                  </a:lnTo>
                  <a:lnTo>
                    <a:pt x="164753" y="34032"/>
                  </a:lnTo>
                  <a:lnTo>
                    <a:pt x="208483" y="15544"/>
                  </a:lnTo>
                  <a:lnTo>
                    <a:pt x="255374" y="3990"/>
                  </a:lnTo>
                  <a:lnTo>
                    <a:pt x="304800" y="0"/>
                  </a:lnTo>
                  <a:lnTo>
                    <a:pt x="3061715" y="0"/>
                  </a:lnTo>
                  <a:lnTo>
                    <a:pt x="3111141" y="3990"/>
                  </a:lnTo>
                  <a:lnTo>
                    <a:pt x="3158032" y="15544"/>
                  </a:lnTo>
                  <a:lnTo>
                    <a:pt x="3201762" y="34032"/>
                  </a:lnTo>
                  <a:lnTo>
                    <a:pt x="3241700" y="58826"/>
                  </a:lnTo>
                  <a:lnTo>
                    <a:pt x="3277219" y="89296"/>
                  </a:lnTo>
                  <a:lnTo>
                    <a:pt x="3307689" y="124815"/>
                  </a:lnTo>
                  <a:lnTo>
                    <a:pt x="3332483" y="164753"/>
                  </a:lnTo>
                  <a:lnTo>
                    <a:pt x="3350971" y="208483"/>
                  </a:lnTo>
                  <a:lnTo>
                    <a:pt x="3362525" y="255374"/>
                  </a:lnTo>
                  <a:lnTo>
                    <a:pt x="3366515" y="304800"/>
                  </a:lnTo>
                  <a:lnTo>
                    <a:pt x="3366515" y="1524000"/>
                  </a:lnTo>
                  <a:lnTo>
                    <a:pt x="3362525" y="1573425"/>
                  </a:lnTo>
                  <a:lnTo>
                    <a:pt x="3350971" y="1620316"/>
                  </a:lnTo>
                  <a:lnTo>
                    <a:pt x="3332483" y="1664046"/>
                  </a:lnTo>
                  <a:lnTo>
                    <a:pt x="3307689" y="1703984"/>
                  </a:lnTo>
                  <a:lnTo>
                    <a:pt x="3277219" y="1739503"/>
                  </a:lnTo>
                  <a:lnTo>
                    <a:pt x="3241700" y="1769973"/>
                  </a:lnTo>
                  <a:lnTo>
                    <a:pt x="3201762" y="1794767"/>
                  </a:lnTo>
                  <a:lnTo>
                    <a:pt x="3158032" y="1813255"/>
                  </a:lnTo>
                  <a:lnTo>
                    <a:pt x="3111141" y="1824809"/>
                  </a:lnTo>
                  <a:lnTo>
                    <a:pt x="3061715" y="1828800"/>
                  </a:lnTo>
                  <a:lnTo>
                    <a:pt x="304800" y="1828800"/>
                  </a:lnTo>
                  <a:lnTo>
                    <a:pt x="255374" y="1824809"/>
                  </a:lnTo>
                  <a:lnTo>
                    <a:pt x="208483" y="1813255"/>
                  </a:lnTo>
                  <a:lnTo>
                    <a:pt x="164753" y="1794767"/>
                  </a:lnTo>
                  <a:lnTo>
                    <a:pt x="124815" y="1769973"/>
                  </a:lnTo>
                  <a:lnTo>
                    <a:pt x="89296" y="1739503"/>
                  </a:lnTo>
                  <a:lnTo>
                    <a:pt x="58826" y="1703984"/>
                  </a:lnTo>
                  <a:lnTo>
                    <a:pt x="34032" y="1664046"/>
                  </a:lnTo>
                  <a:lnTo>
                    <a:pt x="15544" y="1620316"/>
                  </a:lnTo>
                  <a:lnTo>
                    <a:pt x="3990" y="1573425"/>
                  </a:lnTo>
                  <a:lnTo>
                    <a:pt x="0" y="1524000"/>
                  </a:lnTo>
                  <a:lnTo>
                    <a:pt x="0" y="304800"/>
                  </a:lnTo>
                  <a:close/>
                </a:path>
              </a:pathLst>
            </a:custGeom>
            <a:ln w="254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6240018" y="2498598"/>
              <a:ext cx="1396365" cy="381000"/>
            </a:xfrm>
            <a:custGeom>
              <a:avLst/>
              <a:gdLst/>
              <a:ahLst/>
              <a:cxnLst/>
              <a:rect l="l" t="t" r="r" b="b"/>
              <a:pathLst>
                <a:path w="1396365" h="381000">
                  <a:moveTo>
                    <a:pt x="1332484" y="0"/>
                  </a:moveTo>
                  <a:lnTo>
                    <a:pt x="63500" y="0"/>
                  </a:lnTo>
                  <a:lnTo>
                    <a:pt x="38790" y="4992"/>
                  </a:lnTo>
                  <a:lnTo>
                    <a:pt x="18605" y="18605"/>
                  </a:lnTo>
                  <a:lnTo>
                    <a:pt x="4992" y="38790"/>
                  </a:lnTo>
                  <a:lnTo>
                    <a:pt x="0" y="63500"/>
                  </a:lnTo>
                  <a:lnTo>
                    <a:pt x="0" y="317500"/>
                  </a:lnTo>
                  <a:lnTo>
                    <a:pt x="4992" y="342209"/>
                  </a:lnTo>
                  <a:lnTo>
                    <a:pt x="18605" y="362394"/>
                  </a:lnTo>
                  <a:lnTo>
                    <a:pt x="38790" y="376007"/>
                  </a:lnTo>
                  <a:lnTo>
                    <a:pt x="63500" y="381000"/>
                  </a:lnTo>
                  <a:lnTo>
                    <a:pt x="1332484" y="381000"/>
                  </a:lnTo>
                  <a:lnTo>
                    <a:pt x="1357193" y="376007"/>
                  </a:lnTo>
                  <a:lnTo>
                    <a:pt x="1377378" y="362394"/>
                  </a:lnTo>
                  <a:lnTo>
                    <a:pt x="1390991" y="342209"/>
                  </a:lnTo>
                  <a:lnTo>
                    <a:pt x="1395984" y="317500"/>
                  </a:lnTo>
                  <a:lnTo>
                    <a:pt x="1395984" y="63500"/>
                  </a:lnTo>
                  <a:lnTo>
                    <a:pt x="1390991" y="38790"/>
                  </a:lnTo>
                  <a:lnTo>
                    <a:pt x="1377378" y="18605"/>
                  </a:lnTo>
                  <a:lnTo>
                    <a:pt x="1357193" y="4992"/>
                  </a:lnTo>
                  <a:lnTo>
                    <a:pt x="1332484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6240018" y="2498598"/>
              <a:ext cx="1396365" cy="381000"/>
            </a:xfrm>
            <a:custGeom>
              <a:avLst/>
              <a:gdLst/>
              <a:ahLst/>
              <a:cxnLst/>
              <a:rect l="l" t="t" r="r" b="b"/>
              <a:pathLst>
                <a:path w="1396365" h="381000">
                  <a:moveTo>
                    <a:pt x="0" y="63500"/>
                  </a:moveTo>
                  <a:lnTo>
                    <a:pt x="4992" y="38790"/>
                  </a:lnTo>
                  <a:lnTo>
                    <a:pt x="18605" y="18605"/>
                  </a:lnTo>
                  <a:lnTo>
                    <a:pt x="38790" y="4992"/>
                  </a:lnTo>
                  <a:lnTo>
                    <a:pt x="63500" y="0"/>
                  </a:lnTo>
                  <a:lnTo>
                    <a:pt x="1332484" y="0"/>
                  </a:lnTo>
                  <a:lnTo>
                    <a:pt x="1357193" y="4992"/>
                  </a:lnTo>
                  <a:lnTo>
                    <a:pt x="1377378" y="18605"/>
                  </a:lnTo>
                  <a:lnTo>
                    <a:pt x="1390991" y="38790"/>
                  </a:lnTo>
                  <a:lnTo>
                    <a:pt x="1395984" y="63500"/>
                  </a:lnTo>
                  <a:lnTo>
                    <a:pt x="1395984" y="317500"/>
                  </a:lnTo>
                  <a:lnTo>
                    <a:pt x="1390991" y="342209"/>
                  </a:lnTo>
                  <a:lnTo>
                    <a:pt x="1377378" y="362394"/>
                  </a:lnTo>
                  <a:lnTo>
                    <a:pt x="1357193" y="376007"/>
                  </a:lnTo>
                  <a:lnTo>
                    <a:pt x="1332484" y="381000"/>
                  </a:lnTo>
                  <a:lnTo>
                    <a:pt x="63500" y="381000"/>
                  </a:lnTo>
                  <a:lnTo>
                    <a:pt x="38790" y="376007"/>
                  </a:lnTo>
                  <a:lnTo>
                    <a:pt x="18605" y="362394"/>
                  </a:lnTo>
                  <a:lnTo>
                    <a:pt x="4992" y="342209"/>
                  </a:lnTo>
                  <a:lnTo>
                    <a:pt x="0" y="317500"/>
                  </a:lnTo>
                  <a:lnTo>
                    <a:pt x="0" y="63500"/>
                  </a:lnTo>
                  <a:close/>
                </a:path>
              </a:pathLst>
            </a:custGeom>
            <a:ln w="254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6534899" y="2816097"/>
              <a:ext cx="2516505" cy="802005"/>
            </a:xfrm>
            <a:custGeom>
              <a:avLst/>
              <a:gdLst/>
              <a:ahLst/>
              <a:cxnLst/>
              <a:rect l="l" t="t" r="r" b="b"/>
              <a:pathLst>
                <a:path w="2516504" h="802004">
                  <a:moveTo>
                    <a:pt x="601992" y="792099"/>
                  </a:moveTo>
                  <a:lnTo>
                    <a:pt x="592861" y="750951"/>
                  </a:lnTo>
                  <a:lnTo>
                    <a:pt x="583577" y="709041"/>
                  </a:lnTo>
                  <a:lnTo>
                    <a:pt x="563905" y="725004"/>
                  </a:lnTo>
                  <a:lnTo>
                    <a:pt x="19824" y="55499"/>
                  </a:lnTo>
                  <a:lnTo>
                    <a:pt x="0" y="71501"/>
                  </a:lnTo>
                  <a:lnTo>
                    <a:pt x="544131" y="741032"/>
                  </a:lnTo>
                  <a:lnTo>
                    <a:pt x="524395" y="757059"/>
                  </a:lnTo>
                  <a:lnTo>
                    <a:pt x="601992" y="792099"/>
                  </a:lnTo>
                  <a:close/>
                </a:path>
                <a:path w="2516504" h="802004">
                  <a:moveTo>
                    <a:pt x="2242832" y="41148"/>
                  </a:moveTo>
                  <a:lnTo>
                    <a:pt x="2230640" y="18796"/>
                  </a:lnTo>
                  <a:lnTo>
                    <a:pt x="1073988" y="649020"/>
                  </a:lnTo>
                  <a:lnTo>
                    <a:pt x="275094" y="48768"/>
                  </a:lnTo>
                  <a:lnTo>
                    <a:pt x="259854" y="69088"/>
                  </a:lnTo>
                  <a:lnTo>
                    <a:pt x="1049477" y="662381"/>
                  </a:lnTo>
                  <a:lnTo>
                    <a:pt x="881507" y="753897"/>
                  </a:lnTo>
                  <a:lnTo>
                    <a:pt x="869327" y="731520"/>
                  </a:lnTo>
                  <a:lnTo>
                    <a:pt x="820686" y="801497"/>
                  </a:lnTo>
                  <a:lnTo>
                    <a:pt x="905776" y="798449"/>
                  </a:lnTo>
                  <a:lnTo>
                    <a:pt x="896988" y="782320"/>
                  </a:lnTo>
                  <a:lnTo>
                    <a:pt x="893673" y="776249"/>
                  </a:lnTo>
                  <a:lnTo>
                    <a:pt x="1071829" y="679183"/>
                  </a:lnTo>
                  <a:lnTo>
                    <a:pt x="1175143" y="756793"/>
                  </a:lnTo>
                  <a:lnTo>
                    <a:pt x="1159903" y="777113"/>
                  </a:lnTo>
                  <a:lnTo>
                    <a:pt x="1243723" y="792480"/>
                  </a:lnTo>
                  <a:lnTo>
                    <a:pt x="1229702" y="764413"/>
                  </a:lnTo>
                  <a:lnTo>
                    <a:pt x="1205623" y="716153"/>
                  </a:lnTo>
                  <a:lnTo>
                    <a:pt x="1190383" y="736473"/>
                  </a:lnTo>
                  <a:lnTo>
                    <a:pt x="1096340" y="665822"/>
                  </a:lnTo>
                  <a:lnTo>
                    <a:pt x="2242832" y="41148"/>
                  </a:lnTo>
                  <a:close/>
                </a:path>
                <a:path w="2516504" h="802004">
                  <a:moveTo>
                    <a:pt x="2515882" y="20320"/>
                  </a:moveTo>
                  <a:lnTo>
                    <a:pt x="2500515" y="0"/>
                  </a:lnTo>
                  <a:lnTo>
                    <a:pt x="1521333" y="744512"/>
                  </a:lnTo>
                  <a:lnTo>
                    <a:pt x="1505978" y="724281"/>
                  </a:lnTo>
                  <a:lnTo>
                    <a:pt x="1468386" y="800735"/>
                  </a:lnTo>
                  <a:lnTo>
                    <a:pt x="1552079" y="784987"/>
                  </a:lnTo>
                  <a:lnTo>
                    <a:pt x="1542529" y="772414"/>
                  </a:lnTo>
                  <a:lnTo>
                    <a:pt x="1536725" y="764781"/>
                  </a:lnTo>
                  <a:lnTo>
                    <a:pt x="2515882" y="2032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7014210" y="3608070"/>
              <a:ext cx="1529080" cy="381000"/>
            </a:xfrm>
            <a:custGeom>
              <a:avLst/>
              <a:gdLst/>
              <a:ahLst/>
              <a:cxnLst/>
              <a:rect l="l" t="t" r="r" b="b"/>
              <a:pathLst>
                <a:path w="1529079" h="381000">
                  <a:moveTo>
                    <a:pt x="1465072" y="0"/>
                  </a:moveTo>
                  <a:lnTo>
                    <a:pt x="63500" y="0"/>
                  </a:lnTo>
                  <a:lnTo>
                    <a:pt x="38790" y="4992"/>
                  </a:lnTo>
                  <a:lnTo>
                    <a:pt x="18605" y="18605"/>
                  </a:lnTo>
                  <a:lnTo>
                    <a:pt x="4992" y="38790"/>
                  </a:lnTo>
                  <a:lnTo>
                    <a:pt x="0" y="63499"/>
                  </a:lnTo>
                  <a:lnTo>
                    <a:pt x="0" y="317499"/>
                  </a:lnTo>
                  <a:lnTo>
                    <a:pt x="4992" y="342209"/>
                  </a:lnTo>
                  <a:lnTo>
                    <a:pt x="18605" y="362394"/>
                  </a:lnTo>
                  <a:lnTo>
                    <a:pt x="38790" y="376007"/>
                  </a:lnTo>
                  <a:lnTo>
                    <a:pt x="63500" y="380999"/>
                  </a:lnTo>
                  <a:lnTo>
                    <a:pt x="1465072" y="380999"/>
                  </a:lnTo>
                  <a:lnTo>
                    <a:pt x="1489781" y="376007"/>
                  </a:lnTo>
                  <a:lnTo>
                    <a:pt x="1509966" y="362394"/>
                  </a:lnTo>
                  <a:lnTo>
                    <a:pt x="1523579" y="342209"/>
                  </a:lnTo>
                  <a:lnTo>
                    <a:pt x="1528572" y="317499"/>
                  </a:lnTo>
                  <a:lnTo>
                    <a:pt x="1528572" y="63499"/>
                  </a:lnTo>
                  <a:lnTo>
                    <a:pt x="1523579" y="38790"/>
                  </a:lnTo>
                  <a:lnTo>
                    <a:pt x="1509966" y="18605"/>
                  </a:lnTo>
                  <a:lnTo>
                    <a:pt x="1489781" y="4992"/>
                  </a:lnTo>
                  <a:lnTo>
                    <a:pt x="1465072" y="0"/>
                  </a:lnTo>
                  <a:close/>
                </a:path>
              </a:pathLst>
            </a:custGeom>
            <a:solidFill>
              <a:srgbClr val="C4DF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7014210" y="3608070"/>
              <a:ext cx="1529080" cy="381000"/>
            </a:xfrm>
            <a:custGeom>
              <a:avLst/>
              <a:gdLst/>
              <a:ahLst/>
              <a:cxnLst/>
              <a:rect l="l" t="t" r="r" b="b"/>
              <a:pathLst>
                <a:path w="1529079" h="381000">
                  <a:moveTo>
                    <a:pt x="0" y="63499"/>
                  </a:moveTo>
                  <a:lnTo>
                    <a:pt x="4992" y="38790"/>
                  </a:lnTo>
                  <a:lnTo>
                    <a:pt x="18605" y="18605"/>
                  </a:lnTo>
                  <a:lnTo>
                    <a:pt x="38790" y="4992"/>
                  </a:lnTo>
                  <a:lnTo>
                    <a:pt x="63500" y="0"/>
                  </a:lnTo>
                  <a:lnTo>
                    <a:pt x="1465072" y="0"/>
                  </a:lnTo>
                  <a:lnTo>
                    <a:pt x="1489781" y="4992"/>
                  </a:lnTo>
                  <a:lnTo>
                    <a:pt x="1509966" y="18605"/>
                  </a:lnTo>
                  <a:lnTo>
                    <a:pt x="1523579" y="38790"/>
                  </a:lnTo>
                  <a:lnTo>
                    <a:pt x="1528572" y="63499"/>
                  </a:lnTo>
                  <a:lnTo>
                    <a:pt x="1528572" y="317499"/>
                  </a:lnTo>
                  <a:lnTo>
                    <a:pt x="1523579" y="342209"/>
                  </a:lnTo>
                  <a:lnTo>
                    <a:pt x="1509966" y="362394"/>
                  </a:lnTo>
                  <a:lnTo>
                    <a:pt x="1489781" y="376007"/>
                  </a:lnTo>
                  <a:lnTo>
                    <a:pt x="1465072" y="380999"/>
                  </a:lnTo>
                  <a:lnTo>
                    <a:pt x="63500" y="380999"/>
                  </a:lnTo>
                  <a:lnTo>
                    <a:pt x="38790" y="376007"/>
                  </a:lnTo>
                  <a:lnTo>
                    <a:pt x="18605" y="362394"/>
                  </a:lnTo>
                  <a:lnTo>
                    <a:pt x="4992" y="342209"/>
                  </a:lnTo>
                  <a:lnTo>
                    <a:pt x="0" y="317499"/>
                  </a:lnTo>
                  <a:lnTo>
                    <a:pt x="0" y="63499"/>
                  </a:lnTo>
                  <a:close/>
                </a:path>
              </a:pathLst>
            </a:custGeom>
            <a:ln w="254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7230617" y="3608070"/>
              <a:ext cx="1066800" cy="390525"/>
            </a:xfrm>
            <a:custGeom>
              <a:avLst/>
              <a:gdLst/>
              <a:ahLst/>
              <a:cxnLst/>
              <a:rect l="l" t="t" r="r" b="b"/>
              <a:pathLst>
                <a:path w="1066800" h="390525">
                  <a:moveTo>
                    <a:pt x="228600" y="0"/>
                  </a:moveTo>
                  <a:lnTo>
                    <a:pt x="228600" y="380999"/>
                  </a:lnTo>
                </a:path>
                <a:path w="1066800" h="390525">
                  <a:moveTo>
                    <a:pt x="457200" y="0"/>
                  </a:moveTo>
                  <a:lnTo>
                    <a:pt x="457200" y="380999"/>
                  </a:lnTo>
                </a:path>
                <a:path w="1066800" h="390525">
                  <a:moveTo>
                    <a:pt x="685800" y="0"/>
                  </a:moveTo>
                  <a:lnTo>
                    <a:pt x="685800" y="380999"/>
                  </a:lnTo>
                </a:path>
                <a:path w="1066800" h="390525">
                  <a:moveTo>
                    <a:pt x="0" y="0"/>
                  </a:moveTo>
                  <a:lnTo>
                    <a:pt x="0" y="380999"/>
                  </a:lnTo>
                </a:path>
                <a:path w="1066800" h="390525">
                  <a:moveTo>
                    <a:pt x="1066800" y="9143"/>
                  </a:moveTo>
                  <a:lnTo>
                    <a:pt x="1066800" y="390143"/>
                  </a:lnTo>
                </a:path>
                <a:path w="1066800" h="390525">
                  <a:moveTo>
                    <a:pt x="914400" y="9143"/>
                  </a:moveTo>
                  <a:lnTo>
                    <a:pt x="914400" y="390143"/>
                  </a:lnTo>
                </a:path>
              </a:pathLst>
            </a:custGeom>
            <a:ln w="31750">
              <a:solidFill>
                <a:srgbClr val="3D6DC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0" name="object 140"/>
          <p:cNvSpPr txBox="1"/>
          <p:nvPr/>
        </p:nvSpPr>
        <p:spPr>
          <a:xfrm>
            <a:off x="4462398" y="2217166"/>
            <a:ext cx="44704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Calibri"/>
                <a:cs typeface="Calibri"/>
              </a:rPr>
              <a:t>App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 spc="-50"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6518275" y="2202942"/>
            <a:ext cx="44704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Calibri"/>
                <a:cs typeface="Calibri"/>
              </a:rPr>
              <a:t>App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 spc="-50"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8145906" y="2180589"/>
            <a:ext cx="44704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Calibri"/>
                <a:cs typeface="Calibri"/>
              </a:rPr>
              <a:t>App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 spc="-50"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  <p:graphicFrame>
        <p:nvGraphicFramePr>
          <p:cNvPr id="141" name="object 141"/>
          <p:cNvGraphicFramePr>
            <a:graphicFrameLocks noGrp="1"/>
          </p:cNvGraphicFramePr>
          <p:nvPr/>
        </p:nvGraphicFramePr>
        <p:xfrm>
          <a:off x="6240017" y="2498598"/>
          <a:ext cx="1472565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"/>
                <a:gridCol w="228600"/>
                <a:gridCol w="228600"/>
                <a:gridCol w="228600"/>
                <a:gridCol w="228600"/>
                <a:gridCol w="152400"/>
                <a:gridCol w="176530"/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</a:tcPr>
                </a:tc>
              </a:tr>
            </a:tbl>
          </a:graphicData>
        </a:graphic>
      </p:graphicFrame>
      <p:grpSp>
        <p:nvGrpSpPr>
          <p:cNvPr id="142" name="object 142"/>
          <p:cNvGrpSpPr/>
          <p:nvPr/>
        </p:nvGrpSpPr>
        <p:grpSpPr>
          <a:xfrm>
            <a:off x="7804657" y="2443226"/>
            <a:ext cx="1423035" cy="406400"/>
            <a:chOff x="7804657" y="2443226"/>
            <a:chExt cx="1423035" cy="406400"/>
          </a:xfrm>
        </p:grpSpPr>
        <p:sp>
          <p:nvSpPr>
            <p:cNvPr id="143" name="object 143"/>
            <p:cNvSpPr/>
            <p:nvPr/>
          </p:nvSpPr>
          <p:spPr>
            <a:xfrm>
              <a:off x="7817357" y="2455926"/>
              <a:ext cx="1397635" cy="381000"/>
            </a:xfrm>
            <a:custGeom>
              <a:avLst/>
              <a:gdLst/>
              <a:ahLst/>
              <a:cxnLst/>
              <a:rect l="l" t="t" r="r" b="b"/>
              <a:pathLst>
                <a:path w="1397634" h="381000">
                  <a:moveTo>
                    <a:pt x="1334008" y="0"/>
                  </a:moveTo>
                  <a:lnTo>
                    <a:pt x="63500" y="0"/>
                  </a:lnTo>
                  <a:lnTo>
                    <a:pt x="38790" y="4992"/>
                  </a:lnTo>
                  <a:lnTo>
                    <a:pt x="18605" y="18605"/>
                  </a:lnTo>
                  <a:lnTo>
                    <a:pt x="4992" y="38790"/>
                  </a:lnTo>
                  <a:lnTo>
                    <a:pt x="0" y="63500"/>
                  </a:lnTo>
                  <a:lnTo>
                    <a:pt x="0" y="317500"/>
                  </a:lnTo>
                  <a:lnTo>
                    <a:pt x="4992" y="342209"/>
                  </a:lnTo>
                  <a:lnTo>
                    <a:pt x="18605" y="362394"/>
                  </a:lnTo>
                  <a:lnTo>
                    <a:pt x="38790" y="376007"/>
                  </a:lnTo>
                  <a:lnTo>
                    <a:pt x="63500" y="381000"/>
                  </a:lnTo>
                  <a:lnTo>
                    <a:pt x="1334008" y="381000"/>
                  </a:lnTo>
                  <a:lnTo>
                    <a:pt x="1358717" y="376007"/>
                  </a:lnTo>
                  <a:lnTo>
                    <a:pt x="1378902" y="362394"/>
                  </a:lnTo>
                  <a:lnTo>
                    <a:pt x="1392515" y="342209"/>
                  </a:lnTo>
                  <a:lnTo>
                    <a:pt x="1397508" y="317500"/>
                  </a:lnTo>
                  <a:lnTo>
                    <a:pt x="1397508" y="63500"/>
                  </a:lnTo>
                  <a:lnTo>
                    <a:pt x="1392515" y="38790"/>
                  </a:lnTo>
                  <a:lnTo>
                    <a:pt x="1378902" y="18605"/>
                  </a:lnTo>
                  <a:lnTo>
                    <a:pt x="1358717" y="4992"/>
                  </a:lnTo>
                  <a:lnTo>
                    <a:pt x="1334008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7817357" y="2455926"/>
              <a:ext cx="1397635" cy="381000"/>
            </a:xfrm>
            <a:custGeom>
              <a:avLst/>
              <a:gdLst/>
              <a:ahLst/>
              <a:cxnLst/>
              <a:rect l="l" t="t" r="r" b="b"/>
              <a:pathLst>
                <a:path w="1397634" h="381000">
                  <a:moveTo>
                    <a:pt x="0" y="63500"/>
                  </a:moveTo>
                  <a:lnTo>
                    <a:pt x="4992" y="38790"/>
                  </a:lnTo>
                  <a:lnTo>
                    <a:pt x="18605" y="18605"/>
                  </a:lnTo>
                  <a:lnTo>
                    <a:pt x="38790" y="4992"/>
                  </a:lnTo>
                  <a:lnTo>
                    <a:pt x="63500" y="0"/>
                  </a:lnTo>
                  <a:lnTo>
                    <a:pt x="1334008" y="0"/>
                  </a:lnTo>
                  <a:lnTo>
                    <a:pt x="1358717" y="4992"/>
                  </a:lnTo>
                  <a:lnTo>
                    <a:pt x="1378902" y="18605"/>
                  </a:lnTo>
                  <a:lnTo>
                    <a:pt x="1392515" y="38790"/>
                  </a:lnTo>
                  <a:lnTo>
                    <a:pt x="1397508" y="63500"/>
                  </a:lnTo>
                  <a:lnTo>
                    <a:pt x="1397508" y="317500"/>
                  </a:lnTo>
                  <a:lnTo>
                    <a:pt x="1392515" y="342209"/>
                  </a:lnTo>
                  <a:lnTo>
                    <a:pt x="1378902" y="362394"/>
                  </a:lnTo>
                  <a:lnTo>
                    <a:pt x="1358717" y="376007"/>
                  </a:lnTo>
                  <a:lnTo>
                    <a:pt x="1334008" y="381000"/>
                  </a:lnTo>
                  <a:lnTo>
                    <a:pt x="63500" y="381000"/>
                  </a:lnTo>
                  <a:lnTo>
                    <a:pt x="38790" y="376007"/>
                  </a:lnTo>
                  <a:lnTo>
                    <a:pt x="18605" y="362394"/>
                  </a:lnTo>
                  <a:lnTo>
                    <a:pt x="4992" y="342209"/>
                  </a:lnTo>
                  <a:lnTo>
                    <a:pt x="0" y="317500"/>
                  </a:lnTo>
                  <a:lnTo>
                    <a:pt x="0" y="63500"/>
                  </a:lnTo>
                  <a:close/>
                </a:path>
              </a:pathLst>
            </a:custGeom>
            <a:ln w="254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45" name="object 145"/>
          <p:cNvGraphicFramePr>
            <a:graphicFrameLocks noGrp="1"/>
          </p:cNvGraphicFramePr>
          <p:nvPr/>
        </p:nvGraphicFramePr>
        <p:xfrm>
          <a:off x="7817357" y="2455926"/>
          <a:ext cx="1473835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"/>
                <a:gridCol w="228600"/>
                <a:gridCol w="228600"/>
                <a:gridCol w="228600"/>
                <a:gridCol w="228600"/>
                <a:gridCol w="175259"/>
                <a:gridCol w="155575"/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</a:tcPr>
                </a:tc>
              </a:tr>
            </a:tbl>
          </a:graphicData>
        </a:graphic>
      </p:graphicFrame>
      <p:sp>
        <p:nvSpPr>
          <p:cNvPr id="150" name="object 150"/>
          <p:cNvSpPr txBox="1"/>
          <p:nvPr/>
        </p:nvSpPr>
        <p:spPr>
          <a:xfrm>
            <a:off x="8093456" y="4039870"/>
            <a:ext cx="1755139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Calibri"/>
                <a:cs typeface="Calibri"/>
              </a:rPr>
              <a:t>Guest</a:t>
            </a:r>
            <a:r>
              <a:rPr dirty="0" sz="1400" spc="-4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physical</a:t>
            </a:r>
            <a:r>
              <a:rPr dirty="0" sz="1400" spc="-1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memory</a:t>
            </a:r>
            <a:endParaRPr sz="1400">
              <a:latin typeface="Calibri"/>
              <a:cs typeface="Calibri"/>
            </a:endParaRPr>
          </a:p>
        </p:txBody>
      </p:sp>
      <p:graphicFrame>
        <p:nvGraphicFramePr>
          <p:cNvPr id="121" name="object 121"/>
          <p:cNvGraphicFramePr>
            <a:graphicFrameLocks noGrp="1"/>
          </p:cNvGraphicFramePr>
          <p:nvPr/>
        </p:nvGraphicFramePr>
        <p:xfrm>
          <a:off x="4005834" y="5503926"/>
          <a:ext cx="35052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"/>
                <a:gridCol w="228600"/>
                <a:gridCol w="228600"/>
                <a:gridCol w="228600"/>
                <a:gridCol w="228600"/>
                <a:gridCol w="228600"/>
                <a:gridCol w="228600"/>
                <a:gridCol w="381000"/>
                <a:gridCol w="304800"/>
                <a:gridCol w="304800"/>
                <a:gridCol w="304800"/>
                <a:gridCol w="228600"/>
                <a:gridCol w="304800"/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  <a:lnR w="38100">
                      <a:solidFill>
                        <a:srgbClr val="3D6DC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3D6DC2"/>
                      </a:solidFill>
                      <a:prstDash val="solid"/>
                    </a:lnL>
                  </a:tcPr>
                </a:tc>
              </a:tr>
            </a:tbl>
          </a:graphicData>
        </a:graphic>
      </p:graphicFrame>
      <p:grpSp>
        <p:nvGrpSpPr>
          <p:cNvPr id="151" name="object 151"/>
          <p:cNvGrpSpPr/>
          <p:nvPr/>
        </p:nvGrpSpPr>
        <p:grpSpPr>
          <a:xfrm>
            <a:off x="1568162" y="3924046"/>
            <a:ext cx="6565265" cy="2080895"/>
            <a:chOff x="1568162" y="3924046"/>
            <a:chExt cx="6565265" cy="2080895"/>
          </a:xfrm>
        </p:grpSpPr>
        <p:sp>
          <p:nvSpPr>
            <p:cNvPr id="152" name="object 152"/>
            <p:cNvSpPr/>
            <p:nvPr/>
          </p:nvSpPr>
          <p:spPr>
            <a:xfrm>
              <a:off x="4046220" y="3924046"/>
              <a:ext cx="4087495" cy="1614805"/>
            </a:xfrm>
            <a:custGeom>
              <a:avLst/>
              <a:gdLst/>
              <a:ahLst/>
              <a:cxnLst/>
              <a:rect l="l" t="t" r="r" b="b"/>
              <a:pathLst>
                <a:path w="4087495" h="1614804">
                  <a:moveTo>
                    <a:pt x="545719" y="110490"/>
                  </a:moveTo>
                  <a:lnTo>
                    <a:pt x="521843" y="101854"/>
                  </a:lnTo>
                  <a:lnTo>
                    <a:pt x="23876" y="1478038"/>
                  </a:lnTo>
                  <a:lnTo>
                    <a:pt x="0" y="1469390"/>
                  </a:lnTo>
                  <a:lnTo>
                    <a:pt x="9906" y="1553972"/>
                  </a:lnTo>
                  <a:lnTo>
                    <a:pt x="68148" y="1498600"/>
                  </a:lnTo>
                  <a:lnTo>
                    <a:pt x="71628" y="1495298"/>
                  </a:lnTo>
                  <a:lnTo>
                    <a:pt x="47752" y="1486674"/>
                  </a:lnTo>
                  <a:lnTo>
                    <a:pt x="545719" y="110490"/>
                  </a:lnTo>
                  <a:close/>
                </a:path>
                <a:path w="4087495" h="1614804">
                  <a:moveTo>
                    <a:pt x="3338195" y="39243"/>
                  </a:moveTo>
                  <a:lnTo>
                    <a:pt x="3324987" y="17653"/>
                  </a:lnTo>
                  <a:lnTo>
                    <a:pt x="814908" y="1563535"/>
                  </a:lnTo>
                  <a:lnTo>
                    <a:pt x="801624" y="1541907"/>
                  </a:lnTo>
                  <a:lnTo>
                    <a:pt x="756666" y="1614297"/>
                  </a:lnTo>
                  <a:lnTo>
                    <a:pt x="841502" y="1606804"/>
                  </a:lnTo>
                  <a:lnTo>
                    <a:pt x="832281" y="1591818"/>
                  </a:lnTo>
                  <a:lnTo>
                    <a:pt x="828192" y="1585163"/>
                  </a:lnTo>
                  <a:lnTo>
                    <a:pt x="3338195" y="39243"/>
                  </a:lnTo>
                  <a:close/>
                </a:path>
                <a:path w="4087495" h="1614804">
                  <a:moveTo>
                    <a:pt x="3777234" y="20320"/>
                  </a:moveTo>
                  <a:lnTo>
                    <a:pt x="3761994" y="0"/>
                  </a:lnTo>
                  <a:lnTo>
                    <a:pt x="1727454" y="1524266"/>
                  </a:lnTo>
                  <a:lnTo>
                    <a:pt x="1712214" y="1503934"/>
                  </a:lnTo>
                  <a:lnTo>
                    <a:pt x="1674114" y="1580007"/>
                  </a:lnTo>
                  <a:lnTo>
                    <a:pt x="1757934" y="1564894"/>
                  </a:lnTo>
                  <a:lnTo>
                    <a:pt x="1748409" y="1552194"/>
                  </a:lnTo>
                  <a:lnTo>
                    <a:pt x="1742694" y="1544586"/>
                  </a:lnTo>
                  <a:lnTo>
                    <a:pt x="3777234" y="20320"/>
                  </a:lnTo>
                  <a:close/>
                </a:path>
                <a:path w="4087495" h="1614804">
                  <a:moveTo>
                    <a:pt x="4087114" y="37211"/>
                  </a:moveTo>
                  <a:lnTo>
                    <a:pt x="4066286" y="22733"/>
                  </a:lnTo>
                  <a:lnTo>
                    <a:pt x="3023451" y="1544218"/>
                  </a:lnTo>
                  <a:lnTo>
                    <a:pt x="3002534" y="1529842"/>
                  </a:lnTo>
                  <a:lnTo>
                    <a:pt x="2990850" y="1614297"/>
                  </a:lnTo>
                  <a:lnTo>
                    <a:pt x="3065399" y="1573022"/>
                  </a:lnTo>
                  <a:lnTo>
                    <a:pt x="3059658" y="1569085"/>
                  </a:lnTo>
                  <a:lnTo>
                    <a:pt x="3044393" y="1558607"/>
                  </a:lnTo>
                  <a:lnTo>
                    <a:pt x="4087114" y="37211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3" name="object 15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324066" y="5196561"/>
              <a:ext cx="400841" cy="195603"/>
            </a:xfrm>
            <a:prstGeom prst="rect">
              <a:avLst/>
            </a:prstGeom>
          </p:spPr>
        </p:pic>
        <p:sp>
          <p:nvSpPr>
            <p:cNvPr id="154" name="object 154"/>
            <p:cNvSpPr/>
            <p:nvPr/>
          </p:nvSpPr>
          <p:spPr>
            <a:xfrm>
              <a:off x="2362200" y="5212080"/>
              <a:ext cx="329565" cy="123825"/>
            </a:xfrm>
            <a:custGeom>
              <a:avLst/>
              <a:gdLst/>
              <a:ahLst/>
              <a:cxnLst/>
              <a:rect l="l" t="t" r="r" b="b"/>
              <a:pathLst>
                <a:path w="329564" h="123825">
                  <a:moveTo>
                    <a:pt x="329184" y="0"/>
                  </a:moveTo>
                  <a:lnTo>
                    <a:pt x="0" y="0"/>
                  </a:lnTo>
                  <a:lnTo>
                    <a:pt x="0" y="123444"/>
                  </a:lnTo>
                  <a:lnTo>
                    <a:pt x="329184" y="123444"/>
                  </a:lnTo>
                  <a:lnTo>
                    <a:pt x="329184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2362200" y="5212080"/>
              <a:ext cx="329565" cy="123825"/>
            </a:xfrm>
            <a:custGeom>
              <a:avLst/>
              <a:gdLst/>
              <a:ahLst/>
              <a:cxnLst/>
              <a:rect l="l" t="t" r="r" b="b"/>
              <a:pathLst>
                <a:path w="329564" h="123825">
                  <a:moveTo>
                    <a:pt x="0" y="123444"/>
                  </a:moveTo>
                  <a:lnTo>
                    <a:pt x="329184" y="123444"/>
                  </a:lnTo>
                  <a:lnTo>
                    <a:pt x="329184" y="0"/>
                  </a:lnTo>
                  <a:lnTo>
                    <a:pt x="0" y="0"/>
                  </a:lnTo>
                  <a:lnTo>
                    <a:pt x="0" y="12344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6" name="object 15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593847" y="5192268"/>
              <a:ext cx="106616" cy="214884"/>
            </a:xfrm>
            <a:prstGeom prst="rect">
              <a:avLst/>
            </a:prstGeom>
          </p:spPr>
        </p:pic>
        <p:sp>
          <p:nvSpPr>
            <p:cNvPr id="157" name="object 157"/>
            <p:cNvSpPr/>
            <p:nvPr/>
          </p:nvSpPr>
          <p:spPr>
            <a:xfrm>
              <a:off x="2649474" y="5214366"/>
              <a:ext cx="0" cy="122555"/>
            </a:xfrm>
            <a:custGeom>
              <a:avLst/>
              <a:gdLst/>
              <a:ahLst/>
              <a:cxnLst/>
              <a:rect l="l" t="t" r="r" b="b"/>
              <a:pathLst>
                <a:path w="0" h="122554">
                  <a:moveTo>
                    <a:pt x="0" y="0"/>
                  </a:moveTo>
                  <a:lnTo>
                    <a:pt x="0" y="12230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8" name="object 15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532888" y="5192268"/>
              <a:ext cx="106616" cy="214884"/>
            </a:xfrm>
            <a:prstGeom prst="rect">
              <a:avLst/>
            </a:prstGeom>
          </p:spPr>
        </p:pic>
        <p:sp>
          <p:nvSpPr>
            <p:cNvPr id="159" name="object 159"/>
            <p:cNvSpPr/>
            <p:nvPr/>
          </p:nvSpPr>
          <p:spPr>
            <a:xfrm>
              <a:off x="2588513" y="5214366"/>
              <a:ext cx="0" cy="122555"/>
            </a:xfrm>
            <a:custGeom>
              <a:avLst/>
              <a:gdLst/>
              <a:ahLst/>
              <a:cxnLst/>
              <a:rect l="l" t="t" r="r" b="b"/>
              <a:pathLst>
                <a:path w="0" h="122554">
                  <a:moveTo>
                    <a:pt x="0" y="0"/>
                  </a:moveTo>
                  <a:lnTo>
                    <a:pt x="0" y="12230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0" name="object 160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372868" y="5192268"/>
              <a:ext cx="106616" cy="214884"/>
            </a:xfrm>
            <a:prstGeom prst="rect">
              <a:avLst/>
            </a:prstGeom>
          </p:spPr>
        </p:pic>
        <p:sp>
          <p:nvSpPr>
            <p:cNvPr id="161" name="object 161"/>
            <p:cNvSpPr/>
            <p:nvPr/>
          </p:nvSpPr>
          <p:spPr>
            <a:xfrm>
              <a:off x="2428494" y="5214366"/>
              <a:ext cx="0" cy="122555"/>
            </a:xfrm>
            <a:custGeom>
              <a:avLst/>
              <a:gdLst/>
              <a:ahLst/>
              <a:cxnLst/>
              <a:rect l="l" t="t" r="r" b="b"/>
              <a:pathLst>
                <a:path w="0" h="122554">
                  <a:moveTo>
                    <a:pt x="0" y="0"/>
                  </a:moveTo>
                  <a:lnTo>
                    <a:pt x="0" y="12230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2" name="object 16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424683" y="5190744"/>
              <a:ext cx="106616" cy="214884"/>
            </a:xfrm>
            <a:prstGeom prst="rect">
              <a:avLst/>
            </a:prstGeom>
          </p:spPr>
        </p:pic>
        <p:sp>
          <p:nvSpPr>
            <p:cNvPr id="163" name="object 163"/>
            <p:cNvSpPr/>
            <p:nvPr/>
          </p:nvSpPr>
          <p:spPr>
            <a:xfrm>
              <a:off x="2480310" y="5212842"/>
              <a:ext cx="0" cy="122555"/>
            </a:xfrm>
            <a:custGeom>
              <a:avLst/>
              <a:gdLst/>
              <a:ahLst/>
              <a:cxnLst/>
              <a:rect l="l" t="t" r="r" b="b"/>
              <a:pathLst>
                <a:path w="0" h="122554">
                  <a:moveTo>
                    <a:pt x="0" y="0"/>
                  </a:moveTo>
                  <a:lnTo>
                    <a:pt x="0" y="122173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4" name="object 16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948906" y="5498339"/>
              <a:ext cx="400841" cy="195603"/>
            </a:xfrm>
            <a:prstGeom prst="rect">
              <a:avLst/>
            </a:prstGeom>
          </p:spPr>
        </p:pic>
        <p:sp>
          <p:nvSpPr>
            <p:cNvPr id="165" name="object 165"/>
            <p:cNvSpPr/>
            <p:nvPr/>
          </p:nvSpPr>
          <p:spPr>
            <a:xfrm>
              <a:off x="2987039" y="5513832"/>
              <a:ext cx="329565" cy="123825"/>
            </a:xfrm>
            <a:custGeom>
              <a:avLst/>
              <a:gdLst/>
              <a:ahLst/>
              <a:cxnLst/>
              <a:rect l="l" t="t" r="r" b="b"/>
              <a:pathLst>
                <a:path w="329564" h="123825">
                  <a:moveTo>
                    <a:pt x="329184" y="0"/>
                  </a:moveTo>
                  <a:lnTo>
                    <a:pt x="0" y="0"/>
                  </a:lnTo>
                  <a:lnTo>
                    <a:pt x="0" y="123444"/>
                  </a:lnTo>
                  <a:lnTo>
                    <a:pt x="329184" y="123444"/>
                  </a:lnTo>
                  <a:lnTo>
                    <a:pt x="329184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2987039" y="5513832"/>
              <a:ext cx="329565" cy="123825"/>
            </a:xfrm>
            <a:custGeom>
              <a:avLst/>
              <a:gdLst/>
              <a:ahLst/>
              <a:cxnLst/>
              <a:rect l="l" t="t" r="r" b="b"/>
              <a:pathLst>
                <a:path w="329564" h="123825">
                  <a:moveTo>
                    <a:pt x="0" y="123444"/>
                  </a:moveTo>
                  <a:lnTo>
                    <a:pt x="329184" y="123444"/>
                  </a:lnTo>
                  <a:lnTo>
                    <a:pt x="329184" y="0"/>
                  </a:lnTo>
                  <a:lnTo>
                    <a:pt x="0" y="0"/>
                  </a:lnTo>
                  <a:lnTo>
                    <a:pt x="0" y="12344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7" name="object 167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218688" y="5494020"/>
              <a:ext cx="106616" cy="214884"/>
            </a:xfrm>
            <a:prstGeom prst="rect">
              <a:avLst/>
            </a:prstGeom>
          </p:spPr>
        </p:pic>
        <p:sp>
          <p:nvSpPr>
            <p:cNvPr id="168" name="object 168"/>
            <p:cNvSpPr/>
            <p:nvPr/>
          </p:nvSpPr>
          <p:spPr>
            <a:xfrm>
              <a:off x="3274313" y="5516118"/>
              <a:ext cx="0" cy="122555"/>
            </a:xfrm>
            <a:custGeom>
              <a:avLst/>
              <a:gdLst/>
              <a:ahLst/>
              <a:cxnLst/>
              <a:rect l="l" t="t" r="r" b="b"/>
              <a:pathLst>
                <a:path w="0" h="122554">
                  <a:moveTo>
                    <a:pt x="0" y="0"/>
                  </a:moveTo>
                  <a:lnTo>
                    <a:pt x="0" y="122237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9" name="object 16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157727" y="5494020"/>
              <a:ext cx="106616" cy="214884"/>
            </a:xfrm>
            <a:prstGeom prst="rect">
              <a:avLst/>
            </a:prstGeom>
          </p:spPr>
        </p:pic>
        <p:sp>
          <p:nvSpPr>
            <p:cNvPr id="170" name="object 170"/>
            <p:cNvSpPr/>
            <p:nvPr/>
          </p:nvSpPr>
          <p:spPr>
            <a:xfrm>
              <a:off x="3213354" y="5516118"/>
              <a:ext cx="0" cy="122555"/>
            </a:xfrm>
            <a:custGeom>
              <a:avLst/>
              <a:gdLst/>
              <a:ahLst/>
              <a:cxnLst/>
              <a:rect l="l" t="t" r="r" b="b"/>
              <a:pathLst>
                <a:path w="0" h="122554">
                  <a:moveTo>
                    <a:pt x="0" y="0"/>
                  </a:moveTo>
                  <a:lnTo>
                    <a:pt x="0" y="122237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1" name="object 17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997708" y="5494020"/>
              <a:ext cx="106616" cy="214884"/>
            </a:xfrm>
            <a:prstGeom prst="rect">
              <a:avLst/>
            </a:prstGeom>
          </p:spPr>
        </p:pic>
        <p:sp>
          <p:nvSpPr>
            <p:cNvPr id="172" name="object 172"/>
            <p:cNvSpPr/>
            <p:nvPr/>
          </p:nvSpPr>
          <p:spPr>
            <a:xfrm>
              <a:off x="3053333" y="5516118"/>
              <a:ext cx="0" cy="122555"/>
            </a:xfrm>
            <a:custGeom>
              <a:avLst/>
              <a:gdLst/>
              <a:ahLst/>
              <a:cxnLst/>
              <a:rect l="l" t="t" r="r" b="b"/>
              <a:pathLst>
                <a:path w="0" h="122554">
                  <a:moveTo>
                    <a:pt x="0" y="0"/>
                  </a:moveTo>
                  <a:lnTo>
                    <a:pt x="0" y="122237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3" name="object 173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049524" y="5492496"/>
              <a:ext cx="106616" cy="214884"/>
            </a:xfrm>
            <a:prstGeom prst="rect">
              <a:avLst/>
            </a:prstGeom>
          </p:spPr>
        </p:pic>
        <p:sp>
          <p:nvSpPr>
            <p:cNvPr id="174" name="object 174"/>
            <p:cNvSpPr/>
            <p:nvPr/>
          </p:nvSpPr>
          <p:spPr>
            <a:xfrm>
              <a:off x="3105150" y="5514594"/>
              <a:ext cx="0" cy="122555"/>
            </a:xfrm>
            <a:custGeom>
              <a:avLst/>
              <a:gdLst/>
              <a:ahLst/>
              <a:cxnLst/>
              <a:rect l="l" t="t" r="r" b="b"/>
              <a:pathLst>
                <a:path w="0" h="122554">
                  <a:moveTo>
                    <a:pt x="0" y="0"/>
                  </a:moveTo>
                  <a:lnTo>
                    <a:pt x="0" y="122237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5" name="object 17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474942" y="5501325"/>
              <a:ext cx="400841" cy="194241"/>
            </a:xfrm>
            <a:prstGeom prst="rect">
              <a:avLst/>
            </a:prstGeom>
          </p:spPr>
        </p:pic>
        <p:sp>
          <p:nvSpPr>
            <p:cNvPr id="176" name="object 176"/>
            <p:cNvSpPr/>
            <p:nvPr/>
          </p:nvSpPr>
          <p:spPr>
            <a:xfrm>
              <a:off x="2513075" y="5516880"/>
              <a:ext cx="329565" cy="121920"/>
            </a:xfrm>
            <a:custGeom>
              <a:avLst/>
              <a:gdLst/>
              <a:ahLst/>
              <a:cxnLst/>
              <a:rect l="l" t="t" r="r" b="b"/>
              <a:pathLst>
                <a:path w="329564" h="121920">
                  <a:moveTo>
                    <a:pt x="329184" y="0"/>
                  </a:moveTo>
                  <a:lnTo>
                    <a:pt x="0" y="0"/>
                  </a:lnTo>
                  <a:lnTo>
                    <a:pt x="0" y="121920"/>
                  </a:lnTo>
                  <a:lnTo>
                    <a:pt x="329184" y="121920"/>
                  </a:lnTo>
                  <a:lnTo>
                    <a:pt x="329184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/>
            <p:cNvSpPr/>
            <p:nvPr/>
          </p:nvSpPr>
          <p:spPr>
            <a:xfrm>
              <a:off x="2513075" y="5516880"/>
              <a:ext cx="329565" cy="121920"/>
            </a:xfrm>
            <a:custGeom>
              <a:avLst/>
              <a:gdLst/>
              <a:ahLst/>
              <a:cxnLst/>
              <a:rect l="l" t="t" r="r" b="b"/>
              <a:pathLst>
                <a:path w="329564" h="121920">
                  <a:moveTo>
                    <a:pt x="0" y="121920"/>
                  </a:moveTo>
                  <a:lnTo>
                    <a:pt x="329184" y="121920"/>
                  </a:lnTo>
                  <a:lnTo>
                    <a:pt x="329184" y="0"/>
                  </a:lnTo>
                  <a:lnTo>
                    <a:pt x="0" y="0"/>
                  </a:lnTo>
                  <a:lnTo>
                    <a:pt x="0" y="12192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8" name="object 17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743200" y="5497068"/>
              <a:ext cx="106616" cy="213385"/>
            </a:xfrm>
            <a:prstGeom prst="rect">
              <a:avLst/>
            </a:prstGeom>
          </p:spPr>
        </p:pic>
        <p:sp>
          <p:nvSpPr>
            <p:cNvPr id="179" name="object 179"/>
            <p:cNvSpPr/>
            <p:nvPr/>
          </p:nvSpPr>
          <p:spPr>
            <a:xfrm>
              <a:off x="2798825" y="5519166"/>
              <a:ext cx="0" cy="120650"/>
            </a:xfrm>
            <a:custGeom>
              <a:avLst/>
              <a:gdLst/>
              <a:ahLst/>
              <a:cxnLst/>
              <a:rect l="l" t="t" r="r" b="b"/>
              <a:pathLst>
                <a:path w="0" h="120650">
                  <a:moveTo>
                    <a:pt x="0" y="0"/>
                  </a:moveTo>
                  <a:lnTo>
                    <a:pt x="0" y="1206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0" name="object 180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683763" y="5497068"/>
              <a:ext cx="106616" cy="213385"/>
            </a:xfrm>
            <a:prstGeom prst="rect">
              <a:avLst/>
            </a:prstGeom>
          </p:spPr>
        </p:pic>
        <p:sp>
          <p:nvSpPr>
            <p:cNvPr id="181" name="object 181"/>
            <p:cNvSpPr/>
            <p:nvPr/>
          </p:nvSpPr>
          <p:spPr>
            <a:xfrm>
              <a:off x="2739389" y="5519166"/>
              <a:ext cx="0" cy="120650"/>
            </a:xfrm>
            <a:custGeom>
              <a:avLst/>
              <a:gdLst/>
              <a:ahLst/>
              <a:cxnLst/>
              <a:rect l="l" t="t" r="r" b="b"/>
              <a:pathLst>
                <a:path w="0" h="120650">
                  <a:moveTo>
                    <a:pt x="0" y="0"/>
                  </a:moveTo>
                  <a:lnTo>
                    <a:pt x="0" y="1206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2" name="object 18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523744" y="5497068"/>
              <a:ext cx="106616" cy="213385"/>
            </a:xfrm>
            <a:prstGeom prst="rect">
              <a:avLst/>
            </a:prstGeom>
          </p:spPr>
        </p:pic>
        <p:sp>
          <p:nvSpPr>
            <p:cNvPr id="183" name="object 183"/>
            <p:cNvSpPr/>
            <p:nvPr/>
          </p:nvSpPr>
          <p:spPr>
            <a:xfrm>
              <a:off x="2579369" y="5519166"/>
              <a:ext cx="0" cy="120650"/>
            </a:xfrm>
            <a:custGeom>
              <a:avLst/>
              <a:gdLst/>
              <a:ahLst/>
              <a:cxnLst/>
              <a:rect l="l" t="t" r="r" b="b"/>
              <a:pathLst>
                <a:path w="0" h="120650">
                  <a:moveTo>
                    <a:pt x="0" y="0"/>
                  </a:moveTo>
                  <a:lnTo>
                    <a:pt x="0" y="1206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4" name="object 18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575560" y="5495544"/>
              <a:ext cx="106616" cy="213385"/>
            </a:xfrm>
            <a:prstGeom prst="rect">
              <a:avLst/>
            </a:prstGeom>
          </p:spPr>
        </p:pic>
        <p:sp>
          <p:nvSpPr>
            <p:cNvPr id="185" name="object 185"/>
            <p:cNvSpPr/>
            <p:nvPr/>
          </p:nvSpPr>
          <p:spPr>
            <a:xfrm>
              <a:off x="2631186" y="5517642"/>
              <a:ext cx="0" cy="120650"/>
            </a:xfrm>
            <a:custGeom>
              <a:avLst/>
              <a:gdLst/>
              <a:ahLst/>
              <a:cxnLst/>
              <a:rect l="l" t="t" r="r" b="b"/>
              <a:pathLst>
                <a:path w="0" h="120650">
                  <a:moveTo>
                    <a:pt x="0" y="0"/>
                  </a:moveTo>
                  <a:lnTo>
                    <a:pt x="0" y="1206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6" name="object 18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789142" y="5515103"/>
              <a:ext cx="400841" cy="195603"/>
            </a:xfrm>
            <a:prstGeom prst="rect">
              <a:avLst/>
            </a:prstGeom>
          </p:spPr>
        </p:pic>
        <p:sp>
          <p:nvSpPr>
            <p:cNvPr id="187" name="object 187"/>
            <p:cNvSpPr/>
            <p:nvPr/>
          </p:nvSpPr>
          <p:spPr>
            <a:xfrm>
              <a:off x="1827275" y="5530596"/>
              <a:ext cx="329565" cy="123825"/>
            </a:xfrm>
            <a:custGeom>
              <a:avLst/>
              <a:gdLst/>
              <a:ahLst/>
              <a:cxnLst/>
              <a:rect l="l" t="t" r="r" b="b"/>
              <a:pathLst>
                <a:path w="329564" h="123825">
                  <a:moveTo>
                    <a:pt x="329184" y="0"/>
                  </a:moveTo>
                  <a:lnTo>
                    <a:pt x="0" y="0"/>
                  </a:lnTo>
                  <a:lnTo>
                    <a:pt x="0" y="123443"/>
                  </a:lnTo>
                  <a:lnTo>
                    <a:pt x="329184" y="123443"/>
                  </a:lnTo>
                  <a:lnTo>
                    <a:pt x="329184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1827275" y="5530596"/>
              <a:ext cx="329565" cy="123825"/>
            </a:xfrm>
            <a:custGeom>
              <a:avLst/>
              <a:gdLst/>
              <a:ahLst/>
              <a:cxnLst/>
              <a:rect l="l" t="t" r="r" b="b"/>
              <a:pathLst>
                <a:path w="329564" h="123825">
                  <a:moveTo>
                    <a:pt x="0" y="123443"/>
                  </a:moveTo>
                  <a:lnTo>
                    <a:pt x="329184" y="123443"/>
                  </a:lnTo>
                  <a:lnTo>
                    <a:pt x="329184" y="0"/>
                  </a:lnTo>
                  <a:lnTo>
                    <a:pt x="0" y="0"/>
                  </a:lnTo>
                  <a:lnTo>
                    <a:pt x="0" y="12344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9" name="object 18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057400" y="5510784"/>
              <a:ext cx="106616" cy="213385"/>
            </a:xfrm>
            <a:prstGeom prst="rect">
              <a:avLst/>
            </a:prstGeom>
          </p:spPr>
        </p:pic>
        <p:sp>
          <p:nvSpPr>
            <p:cNvPr id="190" name="object 190"/>
            <p:cNvSpPr/>
            <p:nvPr/>
          </p:nvSpPr>
          <p:spPr>
            <a:xfrm>
              <a:off x="2113026" y="5532882"/>
              <a:ext cx="0" cy="120650"/>
            </a:xfrm>
            <a:custGeom>
              <a:avLst/>
              <a:gdLst/>
              <a:ahLst/>
              <a:cxnLst/>
              <a:rect l="l" t="t" r="r" b="b"/>
              <a:pathLst>
                <a:path w="0" h="120650">
                  <a:moveTo>
                    <a:pt x="0" y="0"/>
                  </a:moveTo>
                  <a:lnTo>
                    <a:pt x="0" y="1206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1" name="object 19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997963" y="5510784"/>
              <a:ext cx="106616" cy="213385"/>
            </a:xfrm>
            <a:prstGeom prst="rect">
              <a:avLst/>
            </a:prstGeom>
          </p:spPr>
        </p:pic>
        <p:sp>
          <p:nvSpPr>
            <p:cNvPr id="192" name="object 192"/>
            <p:cNvSpPr/>
            <p:nvPr/>
          </p:nvSpPr>
          <p:spPr>
            <a:xfrm>
              <a:off x="2053590" y="5532882"/>
              <a:ext cx="0" cy="120650"/>
            </a:xfrm>
            <a:custGeom>
              <a:avLst/>
              <a:gdLst/>
              <a:ahLst/>
              <a:cxnLst/>
              <a:rect l="l" t="t" r="r" b="b"/>
              <a:pathLst>
                <a:path w="0" h="120650">
                  <a:moveTo>
                    <a:pt x="0" y="0"/>
                  </a:moveTo>
                  <a:lnTo>
                    <a:pt x="0" y="1206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3" name="object 193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837943" y="5510784"/>
              <a:ext cx="106616" cy="213385"/>
            </a:xfrm>
            <a:prstGeom prst="rect">
              <a:avLst/>
            </a:prstGeom>
          </p:spPr>
        </p:pic>
        <p:sp>
          <p:nvSpPr>
            <p:cNvPr id="194" name="object 194"/>
            <p:cNvSpPr/>
            <p:nvPr/>
          </p:nvSpPr>
          <p:spPr>
            <a:xfrm>
              <a:off x="1893569" y="5532882"/>
              <a:ext cx="0" cy="120650"/>
            </a:xfrm>
            <a:custGeom>
              <a:avLst/>
              <a:gdLst/>
              <a:ahLst/>
              <a:cxnLst/>
              <a:rect l="l" t="t" r="r" b="b"/>
              <a:pathLst>
                <a:path w="0" h="120650">
                  <a:moveTo>
                    <a:pt x="0" y="0"/>
                  </a:moveTo>
                  <a:lnTo>
                    <a:pt x="0" y="1206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5" name="object 19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889759" y="5509260"/>
              <a:ext cx="106616" cy="213385"/>
            </a:xfrm>
            <a:prstGeom prst="rect">
              <a:avLst/>
            </a:prstGeom>
          </p:spPr>
        </p:pic>
        <p:sp>
          <p:nvSpPr>
            <p:cNvPr id="196" name="object 196"/>
            <p:cNvSpPr/>
            <p:nvPr/>
          </p:nvSpPr>
          <p:spPr>
            <a:xfrm>
              <a:off x="1945386" y="5531358"/>
              <a:ext cx="0" cy="120650"/>
            </a:xfrm>
            <a:custGeom>
              <a:avLst/>
              <a:gdLst/>
              <a:ahLst/>
              <a:cxnLst/>
              <a:rect l="l" t="t" r="r" b="b"/>
              <a:pathLst>
                <a:path w="0" h="120650">
                  <a:moveTo>
                    <a:pt x="0" y="0"/>
                  </a:moveTo>
                  <a:lnTo>
                    <a:pt x="0" y="120649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7" name="object 19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136358" y="5789423"/>
              <a:ext cx="400841" cy="195603"/>
            </a:xfrm>
            <a:prstGeom prst="rect">
              <a:avLst/>
            </a:prstGeom>
          </p:spPr>
        </p:pic>
        <p:sp>
          <p:nvSpPr>
            <p:cNvPr id="198" name="object 198"/>
            <p:cNvSpPr/>
            <p:nvPr/>
          </p:nvSpPr>
          <p:spPr>
            <a:xfrm>
              <a:off x="3174491" y="5804916"/>
              <a:ext cx="329565" cy="123825"/>
            </a:xfrm>
            <a:custGeom>
              <a:avLst/>
              <a:gdLst/>
              <a:ahLst/>
              <a:cxnLst/>
              <a:rect l="l" t="t" r="r" b="b"/>
              <a:pathLst>
                <a:path w="329564" h="123825">
                  <a:moveTo>
                    <a:pt x="329183" y="0"/>
                  </a:moveTo>
                  <a:lnTo>
                    <a:pt x="0" y="0"/>
                  </a:lnTo>
                  <a:lnTo>
                    <a:pt x="0" y="123444"/>
                  </a:lnTo>
                  <a:lnTo>
                    <a:pt x="329183" y="123444"/>
                  </a:lnTo>
                  <a:lnTo>
                    <a:pt x="329183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/>
            <p:cNvSpPr/>
            <p:nvPr/>
          </p:nvSpPr>
          <p:spPr>
            <a:xfrm>
              <a:off x="3174491" y="5804916"/>
              <a:ext cx="329565" cy="123825"/>
            </a:xfrm>
            <a:custGeom>
              <a:avLst/>
              <a:gdLst/>
              <a:ahLst/>
              <a:cxnLst/>
              <a:rect l="l" t="t" r="r" b="b"/>
              <a:pathLst>
                <a:path w="329564" h="123825">
                  <a:moveTo>
                    <a:pt x="0" y="123444"/>
                  </a:moveTo>
                  <a:lnTo>
                    <a:pt x="329183" y="123444"/>
                  </a:lnTo>
                  <a:lnTo>
                    <a:pt x="329183" y="0"/>
                  </a:lnTo>
                  <a:lnTo>
                    <a:pt x="0" y="0"/>
                  </a:lnTo>
                  <a:lnTo>
                    <a:pt x="0" y="12344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0" name="object 200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406139" y="5785104"/>
              <a:ext cx="106616" cy="214884"/>
            </a:xfrm>
            <a:prstGeom prst="rect">
              <a:avLst/>
            </a:prstGeom>
          </p:spPr>
        </p:pic>
        <p:sp>
          <p:nvSpPr>
            <p:cNvPr id="201" name="object 201"/>
            <p:cNvSpPr/>
            <p:nvPr/>
          </p:nvSpPr>
          <p:spPr>
            <a:xfrm>
              <a:off x="3461766" y="5807202"/>
              <a:ext cx="0" cy="122555"/>
            </a:xfrm>
            <a:custGeom>
              <a:avLst/>
              <a:gdLst/>
              <a:ahLst/>
              <a:cxnLst/>
              <a:rect l="l" t="t" r="r" b="b"/>
              <a:pathLst>
                <a:path w="0" h="122554">
                  <a:moveTo>
                    <a:pt x="0" y="0"/>
                  </a:moveTo>
                  <a:lnTo>
                    <a:pt x="0" y="122237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2" name="object 20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345179" y="5785104"/>
              <a:ext cx="106616" cy="214884"/>
            </a:xfrm>
            <a:prstGeom prst="rect">
              <a:avLst/>
            </a:prstGeom>
          </p:spPr>
        </p:pic>
        <p:sp>
          <p:nvSpPr>
            <p:cNvPr id="203" name="object 203"/>
            <p:cNvSpPr/>
            <p:nvPr/>
          </p:nvSpPr>
          <p:spPr>
            <a:xfrm>
              <a:off x="3400805" y="5807202"/>
              <a:ext cx="0" cy="122555"/>
            </a:xfrm>
            <a:custGeom>
              <a:avLst/>
              <a:gdLst/>
              <a:ahLst/>
              <a:cxnLst/>
              <a:rect l="l" t="t" r="r" b="b"/>
              <a:pathLst>
                <a:path w="0" h="122554">
                  <a:moveTo>
                    <a:pt x="0" y="0"/>
                  </a:moveTo>
                  <a:lnTo>
                    <a:pt x="0" y="122237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4" name="object 20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185160" y="5785104"/>
              <a:ext cx="106616" cy="214884"/>
            </a:xfrm>
            <a:prstGeom prst="rect">
              <a:avLst/>
            </a:prstGeom>
          </p:spPr>
        </p:pic>
        <p:sp>
          <p:nvSpPr>
            <p:cNvPr id="205" name="object 205"/>
            <p:cNvSpPr/>
            <p:nvPr/>
          </p:nvSpPr>
          <p:spPr>
            <a:xfrm>
              <a:off x="3240785" y="5807202"/>
              <a:ext cx="0" cy="122555"/>
            </a:xfrm>
            <a:custGeom>
              <a:avLst/>
              <a:gdLst/>
              <a:ahLst/>
              <a:cxnLst/>
              <a:rect l="l" t="t" r="r" b="b"/>
              <a:pathLst>
                <a:path w="0" h="122554">
                  <a:moveTo>
                    <a:pt x="0" y="0"/>
                  </a:moveTo>
                  <a:lnTo>
                    <a:pt x="0" y="122237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6" name="object 20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236976" y="5783580"/>
              <a:ext cx="106616" cy="214884"/>
            </a:xfrm>
            <a:prstGeom prst="rect">
              <a:avLst/>
            </a:prstGeom>
          </p:spPr>
        </p:pic>
        <p:sp>
          <p:nvSpPr>
            <p:cNvPr id="207" name="object 207"/>
            <p:cNvSpPr/>
            <p:nvPr/>
          </p:nvSpPr>
          <p:spPr>
            <a:xfrm>
              <a:off x="3292601" y="5805678"/>
              <a:ext cx="0" cy="122555"/>
            </a:xfrm>
            <a:custGeom>
              <a:avLst/>
              <a:gdLst/>
              <a:ahLst/>
              <a:cxnLst/>
              <a:rect l="l" t="t" r="r" b="b"/>
              <a:pathLst>
                <a:path w="0" h="122554">
                  <a:moveTo>
                    <a:pt x="0" y="0"/>
                  </a:moveTo>
                  <a:lnTo>
                    <a:pt x="0" y="122237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8" name="object 20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724845" y="5792409"/>
              <a:ext cx="399408" cy="194241"/>
            </a:xfrm>
            <a:prstGeom prst="rect">
              <a:avLst/>
            </a:prstGeom>
          </p:spPr>
        </p:pic>
        <p:sp>
          <p:nvSpPr>
            <p:cNvPr id="209" name="object 209"/>
            <p:cNvSpPr/>
            <p:nvPr/>
          </p:nvSpPr>
          <p:spPr>
            <a:xfrm>
              <a:off x="2763011" y="5807964"/>
              <a:ext cx="327660" cy="121920"/>
            </a:xfrm>
            <a:custGeom>
              <a:avLst/>
              <a:gdLst/>
              <a:ahLst/>
              <a:cxnLst/>
              <a:rect l="l" t="t" r="r" b="b"/>
              <a:pathLst>
                <a:path w="327660" h="121920">
                  <a:moveTo>
                    <a:pt x="327660" y="0"/>
                  </a:moveTo>
                  <a:lnTo>
                    <a:pt x="0" y="0"/>
                  </a:lnTo>
                  <a:lnTo>
                    <a:pt x="0" y="121920"/>
                  </a:lnTo>
                  <a:lnTo>
                    <a:pt x="327660" y="121920"/>
                  </a:lnTo>
                  <a:lnTo>
                    <a:pt x="327660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/>
            <p:cNvSpPr/>
            <p:nvPr/>
          </p:nvSpPr>
          <p:spPr>
            <a:xfrm>
              <a:off x="2763011" y="5807964"/>
              <a:ext cx="327660" cy="121920"/>
            </a:xfrm>
            <a:custGeom>
              <a:avLst/>
              <a:gdLst/>
              <a:ahLst/>
              <a:cxnLst/>
              <a:rect l="l" t="t" r="r" b="b"/>
              <a:pathLst>
                <a:path w="327660" h="121920">
                  <a:moveTo>
                    <a:pt x="0" y="121920"/>
                  </a:moveTo>
                  <a:lnTo>
                    <a:pt x="327660" y="121920"/>
                  </a:lnTo>
                  <a:lnTo>
                    <a:pt x="327660" y="0"/>
                  </a:lnTo>
                  <a:lnTo>
                    <a:pt x="0" y="0"/>
                  </a:lnTo>
                  <a:lnTo>
                    <a:pt x="0" y="12192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1" name="object 21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993136" y="5788152"/>
              <a:ext cx="106616" cy="213385"/>
            </a:xfrm>
            <a:prstGeom prst="rect">
              <a:avLst/>
            </a:prstGeom>
          </p:spPr>
        </p:pic>
        <p:sp>
          <p:nvSpPr>
            <p:cNvPr id="212" name="object 212"/>
            <p:cNvSpPr/>
            <p:nvPr/>
          </p:nvSpPr>
          <p:spPr>
            <a:xfrm>
              <a:off x="3048761" y="5810250"/>
              <a:ext cx="0" cy="120650"/>
            </a:xfrm>
            <a:custGeom>
              <a:avLst/>
              <a:gdLst/>
              <a:ahLst/>
              <a:cxnLst/>
              <a:rect l="l" t="t" r="r" b="b"/>
              <a:pathLst>
                <a:path w="0" h="120650">
                  <a:moveTo>
                    <a:pt x="0" y="0"/>
                  </a:moveTo>
                  <a:lnTo>
                    <a:pt x="0" y="1206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3" name="object 213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932175" y="5788152"/>
              <a:ext cx="106616" cy="213385"/>
            </a:xfrm>
            <a:prstGeom prst="rect">
              <a:avLst/>
            </a:prstGeom>
          </p:spPr>
        </p:pic>
        <p:sp>
          <p:nvSpPr>
            <p:cNvPr id="214" name="object 214"/>
            <p:cNvSpPr/>
            <p:nvPr/>
          </p:nvSpPr>
          <p:spPr>
            <a:xfrm>
              <a:off x="2987802" y="5810250"/>
              <a:ext cx="0" cy="120650"/>
            </a:xfrm>
            <a:custGeom>
              <a:avLst/>
              <a:gdLst/>
              <a:ahLst/>
              <a:cxnLst/>
              <a:rect l="l" t="t" r="r" b="b"/>
              <a:pathLst>
                <a:path w="0" h="120650">
                  <a:moveTo>
                    <a:pt x="0" y="0"/>
                  </a:moveTo>
                  <a:lnTo>
                    <a:pt x="0" y="1206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5" name="object 21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772155" y="5788152"/>
              <a:ext cx="106616" cy="213385"/>
            </a:xfrm>
            <a:prstGeom prst="rect">
              <a:avLst/>
            </a:prstGeom>
          </p:spPr>
        </p:pic>
        <p:sp>
          <p:nvSpPr>
            <p:cNvPr id="216" name="object 216"/>
            <p:cNvSpPr/>
            <p:nvPr/>
          </p:nvSpPr>
          <p:spPr>
            <a:xfrm>
              <a:off x="2827781" y="5810250"/>
              <a:ext cx="0" cy="120650"/>
            </a:xfrm>
            <a:custGeom>
              <a:avLst/>
              <a:gdLst/>
              <a:ahLst/>
              <a:cxnLst/>
              <a:rect l="l" t="t" r="r" b="b"/>
              <a:pathLst>
                <a:path w="0" h="120650">
                  <a:moveTo>
                    <a:pt x="0" y="0"/>
                  </a:moveTo>
                  <a:lnTo>
                    <a:pt x="0" y="1206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7" name="object 217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825495" y="5786628"/>
              <a:ext cx="106616" cy="213385"/>
            </a:xfrm>
            <a:prstGeom prst="rect">
              <a:avLst/>
            </a:prstGeom>
          </p:spPr>
        </p:pic>
        <p:sp>
          <p:nvSpPr>
            <p:cNvPr id="218" name="object 218"/>
            <p:cNvSpPr/>
            <p:nvPr/>
          </p:nvSpPr>
          <p:spPr>
            <a:xfrm>
              <a:off x="2881122" y="5808726"/>
              <a:ext cx="0" cy="120650"/>
            </a:xfrm>
            <a:custGeom>
              <a:avLst/>
              <a:gdLst/>
              <a:ahLst/>
              <a:cxnLst/>
              <a:rect l="l" t="t" r="r" b="b"/>
              <a:pathLst>
                <a:path w="0" h="120650">
                  <a:moveTo>
                    <a:pt x="0" y="0"/>
                  </a:moveTo>
                  <a:lnTo>
                    <a:pt x="0" y="1206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9" name="object 219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568162" y="5793995"/>
              <a:ext cx="400841" cy="195603"/>
            </a:xfrm>
            <a:prstGeom prst="rect">
              <a:avLst/>
            </a:prstGeom>
          </p:spPr>
        </p:pic>
        <p:sp>
          <p:nvSpPr>
            <p:cNvPr id="220" name="object 220"/>
            <p:cNvSpPr/>
            <p:nvPr/>
          </p:nvSpPr>
          <p:spPr>
            <a:xfrm>
              <a:off x="1606295" y="5809488"/>
              <a:ext cx="329565" cy="123825"/>
            </a:xfrm>
            <a:custGeom>
              <a:avLst/>
              <a:gdLst/>
              <a:ahLst/>
              <a:cxnLst/>
              <a:rect l="l" t="t" r="r" b="b"/>
              <a:pathLst>
                <a:path w="329564" h="123825">
                  <a:moveTo>
                    <a:pt x="329184" y="0"/>
                  </a:moveTo>
                  <a:lnTo>
                    <a:pt x="0" y="0"/>
                  </a:lnTo>
                  <a:lnTo>
                    <a:pt x="0" y="123443"/>
                  </a:lnTo>
                  <a:lnTo>
                    <a:pt x="329184" y="123443"/>
                  </a:lnTo>
                  <a:lnTo>
                    <a:pt x="329184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/>
            <p:cNvSpPr/>
            <p:nvPr/>
          </p:nvSpPr>
          <p:spPr>
            <a:xfrm>
              <a:off x="1606295" y="5809488"/>
              <a:ext cx="329565" cy="123825"/>
            </a:xfrm>
            <a:custGeom>
              <a:avLst/>
              <a:gdLst/>
              <a:ahLst/>
              <a:cxnLst/>
              <a:rect l="l" t="t" r="r" b="b"/>
              <a:pathLst>
                <a:path w="329564" h="123825">
                  <a:moveTo>
                    <a:pt x="0" y="123443"/>
                  </a:moveTo>
                  <a:lnTo>
                    <a:pt x="329184" y="123443"/>
                  </a:lnTo>
                  <a:lnTo>
                    <a:pt x="329184" y="0"/>
                  </a:lnTo>
                  <a:lnTo>
                    <a:pt x="0" y="0"/>
                  </a:lnTo>
                  <a:lnTo>
                    <a:pt x="0" y="12344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2" name="object 22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837943" y="5789676"/>
              <a:ext cx="106616" cy="214884"/>
            </a:xfrm>
            <a:prstGeom prst="rect">
              <a:avLst/>
            </a:prstGeom>
          </p:spPr>
        </p:pic>
        <p:sp>
          <p:nvSpPr>
            <p:cNvPr id="223" name="object 223"/>
            <p:cNvSpPr/>
            <p:nvPr/>
          </p:nvSpPr>
          <p:spPr>
            <a:xfrm>
              <a:off x="1893569" y="5811774"/>
              <a:ext cx="0" cy="122555"/>
            </a:xfrm>
            <a:custGeom>
              <a:avLst/>
              <a:gdLst/>
              <a:ahLst/>
              <a:cxnLst/>
              <a:rect l="l" t="t" r="r" b="b"/>
              <a:pathLst>
                <a:path w="0" h="122554">
                  <a:moveTo>
                    <a:pt x="0" y="0"/>
                  </a:moveTo>
                  <a:lnTo>
                    <a:pt x="0" y="122237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4" name="object 22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776984" y="5789676"/>
              <a:ext cx="106616" cy="214884"/>
            </a:xfrm>
            <a:prstGeom prst="rect">
              <a:avLst/>
            </a:prstGeom>
          </p:spPr>
        </p:pic>
        <p:sp>
          <p:nvSpPr>
            <p:cNvPr id="225" name="object 225"/>
            <p:cNvSpPr/>
            <p:nvPr/>
          </p:nvSpPr>
          <p:spPr>
            <a:xfrm>
              <a:off x="1832609" y="5811774"/>
              <a:ext cx="0" cy="122555"/>
            </a:xfrm>
            <a:custGeom>
              <a:avLst/>
              <a:gdLst/>
              <a:ahLst/>
              <a:cxnLst/>
              <a:rect l="l" t="t" r="r" b="b"/>
              <a:pathLst>
                <a:path w="0" h="122554">
                  <a:moveTo>
                    <a:pt x="0" y="0"/>
                  </a:moveTo>
                  <a:lnTo>
                    <a:pt x="0" y="122237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6" name="object 22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616963" y="5789676"/>
              <a:ext cx="106616" cy="214884"/>
            </a:xfrm>
            <a:prstGeom prst="rect">
              <a:avLst/>
            </a:prstGeom>
          </p:spPr>
        </p:pic>
        <p:sp>
          <p:nvSpPr>
            <p:cNvPr id="227" name="object 227"/>
            <p:cNvSpPr/>
            <p:nvPr/>
          </p:nvSpPr>
          <p:spPr>
            <a:xfrm>
              <a:off x="1672589" y="5811774"/>
              <a:ext cx="0" cy="122555"/>
            </a:xfrm>
            <a:custGeom>
              <a:avLst/>
              <a:gdLst/>
              <a:ahLst/>
              <a:cxnLst/>
              <a:rect l="l" t="t" r="r" b="b"/>
              <a:pathLst>
                <a:path w="0" h="122554">
                  <a:moveTo>
                    <a:pt x="0" y="0"/>
                  </a:moveTo>
                  <a:lnTo>
                    <a:pt x="0" y="122237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8" name="object 22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668779" y="5788152"/>
              <a:ext cx="106616" cy="214884"/>
            </a:xfrm>
            <a:prstGeom prst="rect">
              <a:avLst/>
            </a:prstGeom>
          </p:spPr>
        </p:pic>
        <p:sp>
          <p:nvSpPr>
            <p:cNvPr id="229" name="object 229"/>
            <p:cNvSpPr/>
            <p:nvPr/>
          </p:nvSpPr>
          <p:spPr>
            <a:xfrm>
              <a:off x="1724405" y="5810250"/>
              <a:ext cx="0" cy="122555"/>
            </a:xfrm>
            <a:custGeom>
              <a:avLst/>
              <a:gdLst/>
              <a:ahLst/>
              <a:cxnLst/>
              <a:rect l="l" t="t" r="r" b="b"/>
              <a:pathLst>
                <a:path w="0" h="122554">
                  <a:moveTo>
                    <a:pt x="0" y="0"/>
                  </a:moveTo>
                  <a:lnTo>
                    <a:pt x="0" y="122237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0" name="object 230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048189" y="5793995"/>
              <a:ext cx="399408" cy="195603"/>
            </a:xfrm>
            <a:prstGeom prst="rect">
              <a:avLst/>
            </a:prstGeom>
          </p:spPr>
        </p:pic>
        <p:sp>
          <p:nvSpPr>
            <p:cNvPr id="231" name="object 231"/>
            <p:cNvSpPr/>
            <p:nvPr/>
          </p:nvSpPr>
          <p:spPr>
            <a:xfrm>
              <a:off x="2086355" y="5809488"/>
              <a:ext cx="327660" cy="123825"/>
            </a:xfrm>
            <a:custGeom>
              <a:avLst/>
              <a:gdLst/>
              <a:ahLst/>
              <a:cxnLst/>
              <a:rect l="l" t="t" r="r" b="b"/>
              <a:pathLst>
                <a:path w="327660" h="123825">
                  <a:moveTo>
                    <a:pt x="327660" y="0"/>
                  </a:moveTo>
                  <a:lnTo>
                    <a:pt x="0" y="0"/>
                  </a:lnTo>
                  <a:lnTo>
                    <a:pt x="0" y="123443"/>
                  </a:lnTo>
                  <a:lnTo>
                    <a:pt x="327660" y="123443"/>
                  </a:lnTo>
                  <a:lnTo>
                    <a:pt x="327660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/>
            <p:cNvSpPr/>
            <p:nvPr/>
          </p:nvSpPr>
          <p:spPr>
            <a:xfrm>
              <a:off x="2086355" y="5809488"/>
              <a:ext cx="327660" cy="123825"/>
            </a:xfrm>
            <a:custGeom>
              <a:avLst/>
              <a:gdLst/>
              <a:ahLst/>
              <a:cxnLst/>
              <a:rect l="l" t="t" r="r" b="b"/>
              <a:pathLst>
                <a:path w="327660" h="123825">
                  <a:moveTo>
                    <a:pt x="0" y="123443"/>
                  </a:moveTo>
                  <a:lnTo>
                    <a:pt x="327660" y="123443"/>
                  </a:lnTo>
                  <a:lnTo>
                    <a:pt x="327660" y="0"/>
                  </a:lnTo>
                  <a:lnTo>
                    <a:pt x="0" y="0"/>
                  </a:lnTo>
                  <a:lnTo>
                    <a:pt x="0" y="12344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3" name="object 233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316479" y="5789676"/>
              <a:ext cx="106616" cy="214884"/>
            </a:xfrm>
            <a:prstGeom prst="rect">
              <a:avLst/>
            </a:prstGeom>
          </p:spPr>
        </p:pic>
        <p:sp>
          <p:nvSpPr>
            <p:cNvPr id="234" name="object 234"/>
            <p:cNvSpPr/>
            <p:nvPr/>
          </p:nvSpPr>
          <p:spPr>
            <a:xfrm>
              <a:off x="2372105" y="5811774"/>
              <a:ext cx="0" cy="122555"/>
            </a:xfrm>
            <a:custGeom>
              <a:avLst/>
              <a:gdLst/>
              <a:ahLst/>
              <a:cxnLst/>
              <a:rect l="l" t="t" r="r" b="b"/>
              <a:pathLst>
                <a:path w="0" h="122554">
                  <a:moveTo>
                    <a:pt x="0" y="0"/>
                  </a:moveTo>
                  <a:lnTo>
                    <a:pt x="0" y="122237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5" name="object 23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257044" y="5789676"/>
              <a:ext cx="106616" cy="214884"/>
            </a:xfrm>
            <a:prstGeom prst="rect">
              <a:avLst/>
            </a:prstGeom>
          </p:spPr>
        </p:pic>
        <p:sp>
          <p:nvSpPr>
            <p:cNvPr id="236" name="object 236"/>
            <p:cNvSpPr/>
            <p:nvPr/>
          </p:nvSpPr>
          <p:spPr>
            <a:xfrm>
              <a:off x="2312669" y="5811774"/>
              <a:ext cx="0" cy="122555"/>
            </a:xfrm>
            <a:custGeom>
              <a:avLst/>
              <a:gdLst/>
              <a:ahLst/>
              <a:cxnLst/>
              <a:rect l="l" t="t" r="r" b="b"/>
              <a:pathLst>
                <a:path w="0" h="122554">
                  <a:moveTo>
                    <a:pt x="0" y="0"/>
                  </a:moveTo>
                  <a:lnTo>
                    <a:pt x="0" y="122237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7" name="object 237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095500" y="5789676"/>
              <a:ext cx="106616" cy="214884"/>
            </a:xfrm>
            <a:prstGeom prst="rect">
              <a:avLst/>
            </a:prstGeom>
          </p:spPr>
        </p:pic>
        <p:sp>
          <p:nvSpPr>
            <p:cNvPr id="238" name="object 238"/>
            <p:cNvSpPr/>
            <p:nvPr/>
          </p:nvSpPr>
          <p:spPr>
            <a:xfrm>
              <a:off x="2151126" y="5811774"/>
              <a:ext cx="0" cy="122555"/>
            </a:xfrm>
            <a:custGeom>
              <a:avLst/>
              <a:gdLst/>
              <a:ahLst/>
              <a:cxnLst/>
              <a:rect l="l" t="t" r="r" b="b"/>
              <a:pathLst>
                <a:path w="0" h="122554">
                  <a:moveTo>
                    <a:pt x="0" y="0"/>
                  </a:moveTo>
                  <a:lnTo>
                    <a:pt x="0" y="122237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9" name="object 23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148840" y="5788152"/>
              <a:ext cx="106616" cy="214884"/>
            </a:xfrm>
            <a:prstGeom prst="rect">
              <a:avLst/>
            </a:prstGeom>
          </p:spPr>
        </p:pic>
        <p:sp>
          <p:nvSpPr>
            <p:cNvPr id="240" name="object 240"/>
            <p:cNvSpPr/>
            <p:nvPr/>
          </p:nvSpPr>
          <p:spPr>
            <a:xfrm>
              <a:off x="2204465" y="5810250"/>
              <a:ext cx="0" cy="122555"/>
            </a:xfrm>
            <a:custGeom>
              <a:avLst/>
              <a:gdLst/>
              <a:ahLst/>
              <a:cxnLst/>
              <a:rect l="l" t="t" r="r" b="b"/>
              <a:pathLst>
                <a:path w="0" h="122554">
                  <a:moveTo>
                    <a:pt x="0" y="0"/>
                  </a:moveTo>
                  <a:lnTo>
                    <a:pt x="0" y="122237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1" name="object 241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822703" y="5301996"/>
              <a:ext cx="693394" cy="416052"/>
            </a:xfrm>
            <a:prstGeom prst="rect">
              <a:avLst/>
            </a:prstGeom>
          </p:spPr>
        </p:pic>
        <p:sp>
          <p:nvSpPr>
            <p:cNvPr id="242" name="object 242"/>
            <p:cNvSpPr/>
            <p:nvPr/>
          </p:nvSpPr>
          <p:spPr>
            <a:xfrm>
              <a:off x="1992629" y="5324475"/>
              <a:ext cx="485775" cy="218440"/>
            </a:xfrm>
            <a:custGeom>
              <a:avLst/>
              <a:gdLst/>
              <a:ahLst/>
              <a:cxnLst/>
              <a:rect l="l" t="t" r="r" b="b"/>
              <a:pathLst>
                <a:path w="485775" h="218439">
                  <a:moveTo>
                    <a:pt x="93725" y="100456"/>
                  </a:moveTo>
                  <a:lnTo>
                    <a:pt x="0" y="207137"/>
                  </a:lnTo>
                  <a:lnTo>
                    <a:pt x="141605" y="218186"/>
                  </a:lnTo>
                  <a:lnTo>
                    <a:pt x="124405" y="175894"/>
                  </a:lnTo>
                  <a:lnTo>
                    <a:pt x="110743" y="175894"/>
                  </a:lnTo>
                  <a:lnTo>
                    <a:pt x="101092" y="152272"/>
                  </a:lnTo>
                  <a:lnTo>
                    <a:pt x="112856" y="147497"/>
                  </a:lnTo>
                  <a:lnTo>
                    <a:pt x="93725" y="100456"/>
                  </a:lnTo>
                  <a:close/>
                </a:path>
                <a:path w="485775" h="218439">
                  <a:moveTo>
                    <a:pt x="112856" y="147497"/>
                  </a:moveTo>
                  <a:lnTo>
                    <a:pt x="101092" y="152272"/>
                  </a:lnTo>
                  <a:lnTo>
                    <a:pt x="110743" y="175894"/>
                  </a:lnTo>
                  <a:lnTo>
                    <a:pt x="122469" y="171134"/>
                  </a:lnTo>
                  <a:lnTo>
                    <a:pt x="112856" y="147497"/>
                  </a:lnTo>
                  <a:close/>
                </a:path>
                <a:path w="485775" h="218439">
                  <a:moveTo>
                    <a:pt x="122469" y="171134"/>
                  </a:moveTo>
                  <a:lnTo>
                    <a:pt x="110743" y="175894"/>
                  </a:lnTo>
                  <a:lnTo>
                    <a:pt x="124405" y="175894"/>
                  </a:lnTo>
                  <a:lnTo>
                    <a:pt x="122469" y="171134"/>
                  </a:lnTo>
                  <a:close/>
                </a:path>
                <a:path w="485775" h="218439">
                  <a:moveTo>
                    <a:pt x="476250" y="0"/>
                  </a:moveTo>
                  <a:lnTo>
                    <a:pt x="112856" y="147497"/>
                  </a:lnTo>
                  <a:lnTo>
                    <a:pt x="122469" y="171134"/>
                  </a:lnTo>
                  <a:lnTo>
                    <a:pt x="485775" y="23621"/>
                  </a:lnTo>
                  <a:lnTo>
                    <a:pt x="47625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3" name="object 243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2645663" y="5301996"/>
              <a:ext cx="734580" cy="347535"/>
            </a:xfrm>
            <a:prstGeom prst="rect">
              <a:avLst/>
            </a:prstGeom>
          </p:spPr>
        </p:pic>
        <p:sp>
          <p:nvSpPr>
            <p:cNvPr id="244" name="object 244"/>
            <p:cNvSpPr/>
            <p:nvPr/>
          </p:nvSpPr>
          <p:spPr>
            <a:xfrm>
              <a:off x="2688336" y="5324094"/>
              <a:ext cx="577215" cy="203835"/>
            </a:xfrm>
            <a:custGeom>
              <a:avLst/>
              <a:gdLst/>
              <a:ahLst/>
              <a:cxnLst/>
              <a:rect l="l" t="t" r="r" b="b"/>
              <a:pathLst>
                <a:path w="577214" h="203835">
                  <a:moveTo>
                    <a:pt x="516491" y="184545"/>
                  </a:moveTo>
                  <a:lnTo>
                    <a:pt x="492887" y="203834"/>
                  </a:lnTo>
                  <a:lnTo>
                    <a:pt x="576834" y="189991"/>
                  </a:lnTo>
                  <a:lnTo>
                    <a:pt x="573787" y="187070"/>
                  </a:lnTo>
                  <a:lnTo>
                    <a:pt x="524637" y="187070"/>
                  </a:lnTo>
                  <a:lnTo>
                    <a:pt x="516491" y="184545"/>
                  </a:lnTo>
                  <a:close/>
                </a:path>
                <a:path w="577214" h="203835">
                  <a:moveTo>
                    <a:pt x="528360" y="175016"/>
                  </a:moveTo>
                  <a:lnTo>
                    <a:pt x="516491" y="184545"/>
                  </a:lnTo>
                  <a:lnTo>
                    <a:pt x="524637" y="187070"/>
                  </a:lnTo>
                  <a:lnTo>
                    <a:pt x="528360" y="175016"/>
                  </a:lnTo>
                  <a:close/>
                </a:path>
                <a:path w="577214" h="203835">
                  <a:moveTo>
                    <a:pt x="515365" y="131063"/>
                  </a:moveTo>
                  <a:lnTo>
                    <a:pt x="524058" y="160308"/>
                  </a:lnTo>
                  <a:lnTo>
                    <a:pt x="532130" y="162813"/>
                  </a:lnTo>
                  <a:lnTo>
                    <a:pt x="524637" y="187070"/>
                  </a:lnTo>
                  <a:lnTo>
                    <a:pt x="573787" y="187070"/>
                  </a:lnTo>
                  <a:lnTo>
                    <a:pt x="515365" y="131063"/>
                  </a:lnTo>
                  <a:close/>
                </a:path>
                <a:path w="577214" h="203835">
                  <a:moveTo>
                    <a:pt x="7619" y="0"/>
                  </a:moveTo>
                  <a:lnTo>
                    <a:pt x="0" y="24383"/>
                  </a:lnTo>
                  <a:lnTo>
                    <a:pt x="516491" y="184545"/>
                  </a:lnTo>
                  <a:lnTo>
                    <a:pt x="528255" y="175016"/>
                  </a:lnTo>
                  <a:lnTo>
                    <a:pt x="528429" y="175016"/>
                  </a:lnTo>
                  <a:lnTo>
                    <a:pt x="524058" y="160308"/>
                  </a:lnTo>
                  <a:lnTo>
                    <a:pt x="7619" y="0"/>
                  </a:lnTo>
                  <a:close/>
                </a:path>
                <a:path w="577214" h="203835">
                  <a:moveTo>
                    <a:pt x="524058" y="160308"/>
                  </a:moveTo>
                  <a:lnTo>
                    <a:pt x="528429" y="175016"/>
                  </a:lnTo>
                  <a:lnTo>
                    <a:pt x="532130" y="162813"/>
                  </a:lnTo>
                  <a:lnTo>
                    <a:pt x="524058" y="160308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5" name="object 245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558795" y="5305044"/>
              <a:ext cx="329247" cy="344398"/>
            </a:xfrm>
            <a:prstGeom prst="rect">
              <a:avLst/>
            </a:prstGeom>
          </p:spPr>
        </p:pic>
        <p:pic>
          <p:nvPicPr>
            <p:cNvPr id="246" name="object 246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2601975" y="5327777"/>
              <a:ext cx="171323" cy="186309"/>
            </a:xfrm>
            <a:prstGeom prst="rect">
              <a:avLst/>
            </a:prstGeom>
          </p:spPr>
        </p:pic>
        <p:pic>
          <p:nvPicPr>
            <p:cNvPr id="247" name="object 247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232404" y="5594604"/>
              <a:ext cx="400773" cy="345909"/>
            </a:xfrm>
            <a:prstGeom prst="rect">
              <a:avLst/>
            </a:prstGeom>
          </p:spPr>
        </p:pic>
        <p:pic>
          <p:nvPicPr>
            <p:cNvPr id="248" name="object 248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275838" y="5617248"/>
              <a:ext cx="242570" cy="187921"/>
            </a:xfrm>
            <a:prstGeom prst="rect">
              <a:avLst/>
            </a:prstGeom>
          </p:spPr>
        </p:pic>
        <p:pic>
          <p:nvPicPr>
            <p:cNvPr id="249" name="object 249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2945891" y="5605272"/>
              <a:ext cx="234670" cy="335254"/>
            </a:xfrm>
            <a:prstGeom prst="rect">
              <a:avLst/>
            </a:prstGeom>
          </p:spPr>
        </p:pic>
        <p:pic>
          <p:nvPicPr>
            <p:cNvPr id="250" name="object 250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027425" y="5627370"/>
              <a:ext cx="76200" cy="177800"/>
            </a:xfrm>
            <a:prstGeom prst="rect">
              <a:avLst/>
            </a:prstGeom>
          </p:spPr>
        </p:pic>
        <p:pic>
          <p:nvPicPr>
            <p:cNvPr id="251" name="object 251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2101595" y="5620512"/>
              <a:ext cx="437349" cy="320103"/>
            </a:xfrm>
            <a:prstGeom prst="rect">
              <a:avLst/>
            </a:prstGeom>
          </p:spPr>
        </p:pic>
        <p:sp>
          <p:nvSpPr>
            <p:cNvPr id="252" name="object 252"/>
            <p:cNvSpPr/>
            <p:nvPr/>
          </p:nvSpPr>
          <p:spPr>
            <a:xfrm>
              <a:off x="2145029" y="5643689"/>
              <a:ext cx="279400" cy="161925"/>
            </a:xfrm>
            <a:custGeom>
              <a:avLst/>
              <a:gdLst/>
              <a:ahLst/>
              <a:cxnLst/>
              <a:rect l="l" t="t" r="r" b="b"/>
              <a:pathLst>
                <a:path w="279400" h="161925">
                  <a:moveTo>
                    <a:pt x="221173" y="144373"/>
                  </a:moveTo>
                  <a:lnTo>
                    <a:pt x="194056" y="158432"/>
                  </a:lnTo>
                  <a:lnTo>
                    <a:pt x="279145" y="161925"/>
                  </a:lnTo>
                  <a:lnTo>
                    <a:pt x="269899" y="148475"/>
                  </a:lnTo>
                  <a:lnTo>
                    <a:pt x="228600" y="148475"/>
                  </a:lnTo>
                  <a:lnTo>
                    <a:pt x="221173" y="144373"/>
                  </a:lnTo>
                  <a:close/>
                </a:path>
                <a:path w="279400" h="161925">
                  <a:moveTo>
                    <a:pt x="234696" y="137363"/>
                  </a:moveTo>
                  <a:lnTo>
                    <a:pt x="221173" y="144373"/>
                  </a:lnTo>
                  <a:lnTo>
                    <a:pt x="228600" y="148475"/>
                  </a:lnTo>
                  <a:lnTo>
                    <a:pt x="234696" y="137363"/>
                  </a:lnTo>
                  <a:close/>
                </a:path>
                <a:path w="279400" h="161925">
                  <a:moveTo>
                    <a:pt x="230886" y="91732"/>
                  </a:moveTo>
                  <a:lnTo>
                    <a:pt x="233428" y="122184"/>
                  </a:lnTo>
                  <a:lnTo>
                    <a:pt x="240792" y="126250"/>
                  </a:lnTo>
                  <a:lnTo>
                    <a:pt x="228600" y="148475"/>
                  </a:lnTo>
                  <a:lnTo>
                    <a:pt x="269899" y="148475"/>
                  </a:lnTo>
                  <a:lnTo>
                    <a:pt x="230886" y="91732"/>
                  </a:lnTo>
                  <a:close/>
                </a:path>
                <a:path w="279400" h="161925">
                  <a:moveTo>
                    <a:pt x="12192" y="0"/>
                  </a:moveTo>
                  <a:lnTo>
                    <a:pt x="0" y="22225"/>
                  </a:lnTo>
                  <a:lnTo>
                    <a:pt x="221173" y="144373"/>
                  </a:lnTo>
                  <a:lnTo>
                    <a:pt x="234695" y="137363"/>
                  </a:lnTo>
                  <a:lnTo>
                    <a:pt x="233428" y="122184"/>
                  </a:lnTo>
                  <a:lnTo>
                    <a:pt x="12192" y="0"/>
                  </a:lnTo>
                  <a:close/>
                </a:path>
                <a:path w="279400" h="161925">
                  <a:moveTo>
                    <a:pt x="233428" y="122184"/>
                  </a:moveTo>
                  <a:lnTo>
                    <a:pt x="234695" y="137363"/>
                  </a:lnTo>
                  <a:lnTo>
                    <a:pt x="240792" y="126250"/>
                  </a:lnTo>
                  <a:lnTo>
                    <a:pt x="233428" y="122184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3" name="object 253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815084" y="5628132"/>
              <a:ext cx="234670" cy="312458"/>
            </a:xfrm>
            <a:prstGeom prst="rect">
              <a:avLst/>
            </a:prstGeom>
          </p:spPr>
        </p:pic>
        <p:pic>
          <p:nvPicPr>
            <p:cNvPr id="254" name="object 254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926081" y="5650293"/>
              <a:ext cx="77724" cy="155308"/>
            </a:xfrm>
            <a:prstGeom prst="rect">
              <a:avLst/>
            </a:prstGeom>
          </p:spPr>
        </p:pic>
        <p:pic>
          <p:nvPicPr>
            <p:cNvPr id="255" name="object 255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592579" y="5108448"/>
              <a:ext cx="2109216" cy="890028"/>
            </a:xfrm>
            <a:prstGeom prst="rect">
              <a:avLst/>
            </a:prstGeom>
          </p:spPr>
        </p:pic>
        <p:sp>
          <p:nvSpPr>
            <p:cNvPr id="256" name="object 256"/>
            <p:cNvSpPr/>
            <p:nvPr/>
          </p:nvSpPr>
          <p:spPr>
            <a:xfrm>
              <a:off x="1639823" y="5132832"/>
              <a:ext cx="2019300" cy="800100"/>
            </a:xfrm>
            <a:custGeom>
              <a:avLst/>
              <a:gdLst/>
              <a:ahLst/>
              <a:cxnLst/>
              <a:rect l="l" t="t" r="r" b="b"/>
              <a:pathLst>
                <a:path w="2019300" h="800100">
                  <a:moveTo>
                    <a:pt x="1819275" y="0"/>
                  </a:moveTo>
                  <a:lnTo>
                    <a:pt x="200025" y="0"/>
                  </a:lnTo>
                  <a:lnTo>
                    <a:pt x="0" y="800100"/>
                  </a:lnTo>
                  <a:lnTo>
                    <a:pt x="2019300" y="800100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D7E1F3">
                <a:alpha val="16862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/>
            <p:cNvSpPr/>
            <p:nvPr/>
          </p:nvSpPr>
          <p:spPr>
            <a:xfrm>
              <a:off x="1639823" y="5132832"/>
              <a:ext cx="2019300" cy="800100"/>
            </a:xfrm>
            <a:custGeom>
              <a:avLst/>
              <a:gdLst/>
              <a:ahLst/>
              <a:cxnLst/>
              <a:rect l="l" t="t" r="r" b="b"/>
              <a:pathLst>
                <a:path w="2019300" h="800100">
                  <a:moveTo>
                    <a:pt x="0" y="800100"/>
                  </a:moveTo>
                  <a:lnTo>
                    <a:pt x="200025" y="0"/>
                  </a:lnTo>
                  <a:lnTo>
                    <a:pt x="1819275" y="0"/>
                  </a:lnTo>
                  <a:lnTo>
                    <a:pt x="2019300" y="800100"/>
                  </a:lnTo>
                  <a:lnTo>
                    <a:pt x="0" y="800100"/>
                  </a:lnTo>
                  <a:close/>
                </a:path>
              </a:pathLst>
            </a:custGeom>
            <a:ln w="9525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8" name="object 258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2368295" y="4622292"/>
              <a:ext cx="1895856" cy="809244"/>
            </a:xfrm>
            <a:prstGeom prst="rect">
              <a:avLst/>
            </a:prstGeom>
          </p:spPr>
        </p:pic>
        <p:sp>
          <p:nvSpPr>
            <p:cNvPr id="259" name="object 259"/>
            <p:cNvSpPr/>
            <p:nvPr/>
          </p:nvSpPr>
          <p:spPr>
            <a:xfrm>
              <a:off x="2650997" y="4645025"/>
              <a:ext cx="1575435" cy="488950"/>
            </a:xfrm>
            <a:custGeom>
              <a:avLst/>
              <a:gdLst/>
              <a:ahLst/>
              <a:cxnLst/>
              <a:rect l="l" t="t" r="r" b="b"/>
              <a:pathLst>
                <a:path w="1575435" h="488950">
                  <a:moveTo>
                    <a:pt x="16382" y="223138"/>
                  </a:moveTo>
                  <a:lnTo>
                    <a:pt x="0" y="488823"/>
                  </a:lnTo>
                  <a:lnTo>
                    <a:pt x="161184" y="382777"/>
                  </a:lnTo>
                  <a:lnTo>
                    <a:pt x="87756" y="382777"/>
                  </a:lnTo>
                  <a:lnTo>
                    <a:pt x="55625" y="347599"/>
                  </a:lnTo>
                  <a:lnTo>
                    <a:pt x="62396" y="341505"/>
                  </a:lnTo>
                  <a:lnTo>
                    <a:pt x="16382" y="223138"/>
                  </a:lnTo>
                  <a:close/>
                </a:path>
                <a:path w="1575435" h="488950">
                  <a:moveTo>
                    <a:pt x="118636" y="358163"/>
                  </a:moveTo>
                  <a:lnTo>
                    <a:pt x="73163" y="365020"/>
                  </a:lnTo>
                  <a:lnTo>
                    <a:pt x="71749" y="365251"/>
                  </a:lnTo>
                  <a:lnTo>
                    <a:pt x="87756" y="382777"/>
                  </a:lnTo>
                  <a:lnTo>
                    <a:pt x="92456" y="378460"/>
                  </a:lnTo>
                  <a:lnTo>
                    <a:pt x="118109" y="358520"/>
                  </a:lnTo>
                  <a:lnTo>
                    <a:pt x="118636" y="358163"/>
                  </a:lnTo>
                  <a:close/>
                </a:path>
                <a:path w="1575435" h="488950">
                  <a:moveTo>
                    <a:pt x="222376" y="342519"/>
                  </a:moveTo>
                  <a:lnTo>
                    <a:pt x="118636" y="358163"/>
                  </a:lnTo>
                  <a:lnTo>
                    <a:pt x="118109" y="358520"/>
                  </a:lnTo>
                  <a:lnTo>
                    <a:pt x="92456" y="378460"/>
                  </a:lnTo>
                  <a:lnTo>
                    <a:pt x="87756" y="382777"/>
                  </a:lnTo>
                  <a:lnTo>
                    <a:pt x="161184" y="382777"/>
                  </a:lnTo>
                  <a:lnTo>
                    <a:pt x="222376" y="342519"/>
                  </a:lnTo>
                  <a:close/>
                </a:path>
                <a:path w="1575435" h="488950">
                  <a:moveTo>
                    <a:pt x="1574418" y="0"/>
                  </a:moveTo>
                  <a:lnTo>
                    <a:pt x="1426972" y="2667"/>
                  </a:lnTo>
                  <a:lnTo>
                    <a:pt x="1279905" y="10413"/>
                  </a:lnTo>
                  <a:lnTo>
                    <a:pt x="1134999" y="22987"/>
                  </a:lnTo>
                  <a:lnTo>
                    <a:pt x="993775" y="40131"/>
                  </a:lnTo>
                  <a:lnTo>
                    <a:pt x="856996" y="61213"/>
                  </a:lnTo>
                  <a:lnTo>
                    <a:pt x="790575" y="73279"/>
                  </a:lnTo>
                  <a:lnTo>
                    <a:pt x="725931" y="86232"/>
                  </a:lnTo>
                  <a:lnTo>
                    <a:pt x="662939" y="100075"/>
                  </a:lnTo>
                  <a:lnTo>
                    <a:pt x="601726" y="114681"/>
                  </a:lnTo>
                  <a:lnTo>
                    <a:pt x="542670" y="130048"/>
                  </a:lnTo>
                  <a:lnTo>
                    <a:pt x="485647" y="146176"/>
                  </a:lnTo>
                  <a:lnTo>
                    <a:pt x="430910" y="163068"/>
                  </a:lnTo>
                  <a:lnTo>
                    <a:pt x="378713" y="180467"/>
                  </a:lnTo>
                  <a:lnTo>
                    <a:pt x="328929" y="198627"/>
                  </a:lnTo>
                  <a:lnTo>
                    <a:pt x="281939" y="217424"/>
                  </a:lnTo>
                  <a:lnTo>
                    <a:pt x="237616" y="236727"/>
                  </a:lnTo>
                  <a:lnTo>
                    <a:pt x="196341" y="256539"/>
                  </a:lnTo>
                  <a:lnTo>
                    <a:pt x="158114" y="276860"/>
                  </a:lnTo>
                  <a:lnTo>
                    <a:pt x="123189" y="297561"/>
                  </a:lnTo>
                  <a:lnTo>
                    <a:pt x="91439" y="319024"/>
                  </a:lnTo>
                  <a:lnTo>
                    <a:pt x="62396" y="341505"/>
                  </a:lnTo>
                  <a:lnTo>
                    <a:pt x="71537" y="365020"/>
                  </a:lnTo>
                  <a:lnTo>
                    <a:pt x="71749" y="365251"/>
                  </a:lnTo>
                  <a:lnTo>
                    <a:pt x="73163" y="365020"/>
                  </a:lnTo>
                  <a:lnTo>
                    <a:pt x="118636" y="358163"/>
                  </a:lnTo>
                  <a:lnTo>
                    <a:pt x="180380" y="319024"/>
                  </a:lnTo>
                  <a:lnTo>
                    <a:pt x="217043" y="299466"/>
                  </a:lnTo>
                  <a:lnTo>
                    <a:pt x="256666" y="280416"/>
                  </a:lnTo>
                  <a:lnTo>
                    <a:pt x="299465" y="261619"/>
                  </a:lnTo>
                  <a:lnTo>
                    <a:pt x="345185" y="243331"/>
                  </a:lnTo>
                  <a:lnTo>
                    <a:pt x="393826" y="225679"/>
                  </a:lnTo>
                  <a:lnTo>
                    <a:pt x="445007" y="208533"/>
                  </a:lnTo>
                  <a:lnTo>
                    <a:pt x="498601" y="192024"/>
                  </a:lnTo>
                  <a:lnTo>
                    <a:pt x="554608" y="176149"/>
                  </a:lnTo>
                  <a:lnTo>
                    <a:pt x="612901" y="161036"/>
                  </a:lnTo>
                  <a:lnTo>
                    <a:pt x="673100" y="146557"/>
                  </a:lnTo>
                  <a:lnTo>
                    <a:pt x="735202" y="132969"/>
                  </a:lnTo>
                  <a:lnTo>
                    <a:pt x="798956" y="120142"/>
                  </a:lnTo>
                  <a:lnTo>
                    <a:pt x="864362" y="108331"/>
                  </a:lnTo>
                  <a:lnTo>
                    <a:pt x="999489" y="87375"/>
                  </a:lnTo>
                  <a:lnTo>
                    <a:pt x="1139189" y="70485"/>
                  </a:lnTo>
                  <a:lnTo>
                    <a:pt x="1282446" y="58038"/>
                  </a:lnTo>
                  <a:lnTo>
                    <a:pt x="1427861" y="50164"/>
                  </a:lnTo>
                  <a:lnTo>
                    <a:pt x="1575307" y="47498"/>
                  </a:lnTo>
                  <a:lnTo>
                    <a:pt x="1574468" y="2667"/>
                  </a:lnTo>
                  <a:lnTo>
                    <a:pt x="1574418" y="0"/>
                  </a:lnTo>
                  <a:close/>
                </a:path>
                <a:path w="1575435" h="488950">
                  <a:moveTo>
                    <a:pt x="62396" y="341505"/>
                  </a:moveTo>
                  <a:lnTo>
                    <a:pt x="55625" y="347599"/>
                  </a:lnTo>
                  <a:lnTo>
                    <a:pt x="71537" y="365020"/>
                  </a:lnTo>
                  <a:lnTo>
                    <a:pt x="62396" y="341505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1" name="object 261"/>
          <p:cNvSpPr/>
          <p:nvPr/>
        </p:nvSpPr>
        <p:spPr>
          <a:xfrm>
            <a:off x="4326635" y="4581144"/>
            <a:ext cx="2784475" cy="307975"/>
          </a:xfrm>
          <a:custGeom>
            <a:avLst/>
            <a:gdLst/>
            <a:ahLst/>
            <a:cxnLst/>
            <a:rect l="l" t="t" r="r" b="b"/>
            <a:pathLst>
              <a:path w="2784475" h="307975">
                <a:moveTo>
                  <a:pt x="2784348" y="0"/>
                </a:moveTo>
                <a:lnTo>
                  <a:pt x="0" y="0"/>
                </a:lnTo>
                <a:lnTo>
                  <a:pt x="0" y="307847"/>
                </a:lnTo>
                <a:lnTo>
                  <a:pt x="2784348" y="307847"/>
                </a:lnTo>
                <a:lnTo>
                  <a:pt x="278434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2" name="object 262"/>
          <p:cNvSpPr txBox="1"/>
          <p:nvPr/>
        </p:nvSpPr>
        <p:spPr>
          <a:xfrm>
            <a:off x="4405121" y="4604715"/>
            <a:ext cx="176657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Calibri"/>
                <a:cs typeface="Calibri"/>
              </a:rPr>
              <a:t>Managed</a:t>
            </a:r>
            <a:r>
              <a:rPr dirty="0" sz="1400" spc="-5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by</a:t>
            </a:r>
            <a:r>
              <a:rPr dirty="0" sz="1400" spc="-1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hypervisor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60" name="object 260"/>
          <p:cNvSpPr txBox="1"/>
          <p:nvPr/>
        </p:nvSpPr>
        <p:spPr>
          <a:xfrm>
            <a:off x="688340" y="5899200"/>
            <a:ext cx="6600825" cy="856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358005">
              <a:lnSpc>
                <a:spcPts val="1590"/>
              </a:lnSpc>
              <a:spcBef>
                <a:spcPts val="100"/>
              </a:spcBef>
            </a:pPr>
            <a:r>
              <a:rPr dirty="0" sz="1400" b="1">
                <a:latin typeface="Calibri"/>
                <a:cs typeface="Calibri"/>
              </a:rPr>
              <a:t>System</a:t>
            </a:r>
            <a:r>
              <a:rPr dirty="0" sz="1400" spc="-6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(real)Physical</a:t>
            </a:r>
            <a:r>
              <a:rPr dirty="0" sz="1400" spc="-5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memory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ts val="1590"/>
              </a:lnSpc>
            </a:pPr>
            <a:r>
              <a:rPr dirty="0" sz="1400" b="1">
                <a:solidFill>
                  <a:srgbClr val="C00000"/>
                </a:solidFill>
                <a:latin typeface="Arial"/>
                <a:cs typeface="Arial"/>
              </a:rPr>
              <a:t>Hardware</a:t>
            </a:r>
            <a:r>
              <a:rPr dirty="0" sz="1400" spc="-7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C00000"/>
                </a:solidFill>
                <a:latin typeface="Arial"/>
                <a:cs typeface="Arial"/>
              </a:rPr>
              <a:t>supported</a:t>
            </a:r>
            <a:r>
              <a:rPr dirty="0" sz="1400" spc="-5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C00000"/>
                </a:solidFill>
                <a:latin typeface="Arial"/>
                <a:cs typeface="Arial"/>
              </a:rPr>
              <a:t>Extended</a:t>
            </a:r>
            <a:r>
              <a:rPr dirty="0" sz="1400" spc="-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C00000"/>
                </a:solidFill>
                <a:latin typeface="Arial"/>
                <a:cs typeface="Arial"/>
              </a:rPr>
              <a:t>Page</a:t>
            </a:r>
            <a:r>
              <a:rPr dirty="0" sz="1400" spc="-4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C00000"/>
                </a:solidFill>
                <a:latin typeface="Arial"/>
                <a:cs typeface="Arial"/>
              </a:rPr>
              <a:t>Table</a:t>
            </a:r>
            <a:r>
              <a:rPr dirty="0" sz="1400" spc="-4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C00000"/>
                </a:solidFill>
                <a:latin typeface="Arial"/>
                <a:cs typeface="Arial"/>
              </a:rPr>
              <a:t>(EPT)</a:t>
            </a:r>
            <a:endParaRPr sz="1400">
              <a:latin typeface="Arial"/>
              <a:cs typeface="Arial"/>
            </a:endParaRPr>
          </a:p>
          <a:p>
            <a:pPr marL="1391920">
              <a:lnSpc>
                <a:spcPct val="100000"/>
              </a:lnSpc>
              <a:spcBef>
                <a:spcPts val="5"/>
              </a:spcBef>
            </a:pPr>
            <a:r>
              <a:rPr dirty="0" sz="1400" spc="-25" b="1">
                <a:solidFill>
                  <a:srgbClr val="C00000"/>
                </a:solidFill>
                <a:latin typeface="Arial"/>
                <a:cs typeface="Arial"/>
              </a:rPr>
              <a:t>or</a:t>
            </a:r>
            <a:endParaRPr sz="1400">
              <a:latin typeface="Arial"/>
              <a:cs typeface="Arial"/>
            </a:endParaRPr>
          </a:p>
          <a:p>
            <a:pPr marL="652145">
              <a:lnSpc>
                <a:spcPct val="100000"/>
              </a:lnSpc>
            </a:pPr>
            <a:r>
              <a:rPr dirty="0" sz="1400" b="1">
                <a:solidFill>
                  <a:srgbClr val="C00000"/>
                </a:solidFill>
                <a:latin typeface="Arial"/>
                <a:cs typeface="Arial"/>
              </a:rPr>
              <a:t>Nested</a:t>
            </a:r>
            <a:r>
              <a:rPr dirty="0" sz="1400" spc="-2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C00000"/>
                </a:solidFill>
                <a:latin typeface="Arial"/>
                <a:cs typeface="Arial"/>
              </a:rPr>
              <a:t>Page</a:t>
            </a:r>
            <a:r>
              <a:rPr dirty="0" sz="1400" spc="-20" b="1">
                <a:solidFill>
                  <a:srgbClr val="C00000"/>
                </a:solidFill>
                <a:latin typeface="Arial"/>
                <a:cs typeface="Arial"/>
              </a:rPr>
              <a:t> table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32343" y="0"/>
            <a:ext cx="754907" cy="139051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484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350"/>
              </a:spcBef>
            </a:pP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Virtualizing</a:t>
            </a:r>
            <a:r>
              <a:rPr dirty="0" sz="2200" spc="-5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virtual</a:t>
            </a:r>
            <a:r>
              <a:rPr dirty="0" sz="2200" spc="-6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memory</a:t>
            </a:r>
            <a:r>
              <a:rPr dirty="0" sz="2200" spc="-7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C55A11"/>
                </a:solidFill>
                <a:latin typeface="Arial"/>
                <a:cs typeface="Arial"/>
              </a:rPr>
              <a:t>(Cont.)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912489" y="2008758"/>
            <a:ext cx="2026920" cy="695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94030" marR="5080" indent="-481965">
              <a:lnSpc>
                <a:spcPct val="100000"/>
              </a:lnSpc>
              <a:spcBef>
                <a:spcPts val="95"/>
              </a:spcBef>
            </a:pPr>
            <a:r>
              <a:rPr dirty="0" sz="2200" b="1">
                <a:solidFill>
                  <a:srgbClr val="C00000"/>
                </a:solidFill>
                <a:latin typeface="Arial"/>
                <a:cs typeface="Arial"/>
              </a:rPr>
              <a:t>Guest</a:t>
            </a:r>
            <a:r>
              <a:rPr dirty="0" sz="2200" spc="-4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C00000"/>
                </a:solidFill>
                <a:latin typeface="Arial"/>
                <a:cs typeface="Arial"/>
              </a:rPr>
              <a:t>Physical Address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8665" y="3250945"/>
            <a:ext cx="1694180" cy="1016000"/>
            <a:chOff x="248665" y="3250945"/>
            <a:chExt cx="1694180" cy="1016000"/>
          </a:xfrm>
        </p:grpSpPr>
        <p:sp>
          <p:nvSpPr>
            <p:cNvPr id="6" name="object 6"/>
            <p:cNvSpPr/>
            <p:nvPr/>
          </p:nvSpPr>
          <p:spPr>
            <a:xfrm>
              <a:off x="1549146" y="3667505"/>
              <a:ext cx="381000" cy="190500"/>
            </a:xfrm>
            <a:custGeom>
              <a:avLst/>
              <a:gdLst/>
              <a:ahLst/>
              <a:cxnLst/>
              <a:rect l="l" t="t" r="r" b="b"/>
              <a:pathLst>
                <a:path w="381000" h="190500">
                  <a:moveTo>
                    <a:pt x="285749" y="0"/>
                  </a:moveTo>
                  <a:lnTo>
                    <a:pt x="285749" y="47625"/>
                  </a:lnTo>
                  <a:lnTo>
                    <a:pt x="0" y="47625"/>
                  </a:lnTo>
                  <a:lnTo>
                    <a:pt x="0" y="142875"/>
                  </a:lnTo>
                  <a:lnTo>
                    <a:pt x="285749" y="142875"/>
                  </a:lnTo>
                  <a:lnTo>
                    <a:pt x="285749" y="190500"/>
                  </a:lnTo>
                  <a:lnTo>
                    <a:pt x="380999" y="95250"/>
                  </a:lnTo>
                  <a:lnTo>
                    <a:pt x="28574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549146" y="3667505"/>
              <a:ext cx="381000" cy="190500"/>
            </a:xfrm>
            <a:custGeom>
              <a:avLst/>
              <a:gdLst/>
              <a:ahLst/>
              <a:cxnLst/>
              <a:rect l="l" t="t" r="r" b="b"/>
              <a:pathLst>
                <a:path w="381000" h="190500">
                  <a:moveTo>
                    <a:pt x="285749" y="190500"/>
                  </a:moveTo>
                  <a:lnTo>
                    <a:pt x="285749" y="142875"/>
                  </a:lnTo>
                  <a:lnTo>
                    <a:pt x="0" y="142875"/>
                  </a:lnTo>
                  <a:lnTo>
                    <a:pt x="0" y="47625"/>
                  </a:lnTo>
                  <a:lnTo>
                    <a:pt x="285749" y="47625"/>
                  </a:lnTo>
                  <a:lnTo>
                    <a:pt x="285749" y="0"/>
                  </a:lnTo>
                  <a:lnTo>
                    <a:pt x="380999" y="95250"/>
                  </a:lnTo>
                  <a:lnTo>
                    <a:pt x="285749" y="190500"/>
                  </a:lnTo>
                  <a:close/>
                </a:path>
              </a:pathLst>
            </a:custGeom>
            <a:ln w="254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61365" y="3263645"/>
              <a:ext cx="1309370" cy="990600"/>
            </a:xfrm>
            <a:custGeom>
              <a:avLst/>
              <a:gdLst/>
              <a:ahLst/>
              <a:cxnLst/>
              <a:rect l="l" t="t" r="r" b="b"/>
              <a:pathLst>
                <a:path w="1309370" h="990600">
                  <a:moveTo>
                    <a:pt x="654558" y="0"/>
                  </a:moveTo>
                  <a:lnTo>
                    <a:pt x="600873" y="1641"/>
                  </a:lnTo>
                  <a:lnTo>
                    <a:pt x="548384" y="6482"/>
                  </a:lnTo>
                  <a:lnTo>
                    <a:pt x="497259" y="14394"/>
                  </a:lnTo>
                  <a:lnTo>
                    <a:pt x="447665" y="25249"/>
                  </a:lnTo>
                  <a:lnTo>
                    <a:pt x="399773" y="38921"/>
                  </a:lnTo>
                  <a:lnTo>
                    <a:pt x="353749" y="55282"/>
                  </a:lnTo>
                  <a:lnTo>
                    <a:pt x="309763" y="74204"/>
                  </a:lnTo>
                  <a:lnTo>
                    <a:pt x="267983" y="95560"/>
                  </a:lnTo>
                  <a:lnTo>
                    <a:pt x="228577" y="119223"/>
                  </a:lnTo>
                  <a:lnTo>
                    <a:pt x="191714" y="145065"/>
                  </a:lnTo>
                  <a:lnTo>
                    <a:pt x="157562" y="172959"/>
                  </a:lnTo>
                  <a:lnTo>
                    <a:pt x="126290" y="202777"/>
                  </a:lnTo>
                  <a:lnTo>
                    <a:pt x="98067" y="234392"/>
                  </a:lnTo>
                  <a:lnTo>
                    <a:pt x="73059" y="267676"/>
                  </a:lnTo>
                  <a:lnTo>
                    <a:pt x="51437" y="302502"/>
                  </a:lnTo>
                  <a:lnTo>
                    <a:pt x="33369" y="338742"/>
                  </a:lnTo>
                  <a:lnTo>
                    <a:pt x="19023" y="376269"/>
                  </a:lnTo>
                  <a:lnTo>
                    <a:pt x="8566" y="414957"/>
                  </a:lnTo>
                  <a:lnTo>
                    <a:pt x="2169" y="454676"/>
                  </a:lnTo>
                  <a:lnTo>
                    <a:pt x="0" y="495299"/>
                  </a:lnTo>
                  <a:lnTo>
                    <a:pt x="2169" y="535923"/>
                  </a:lnTo>
                  <a:lnTo>
                    <a:pt x="8566" y="575642"/>
                  </a:lnTo>
                  <a:lnTo>
                    <a:pt x="19023" y="614330"/>
                  </a:lnTo>
                  <a:lnTo>
                    <a:pt x="33369" y="651857"/>
                  </a:lnTo>
                  <a:lnTo>
                    <a:pt x="51437" y="688097"/>
                  </a:lnTo>
                  <a:lnTo>
                    <a:pt x="73059" y="722923"/>
                  </a:lnTo>
                  <a:lnTo>
                    <a:pt x="98067" y="756207"/>
                  </a:lnTo>
                  <a:lnTo>
                    <a:pt x="126290" y="787822"/>
                  </a:lnTo>
                  <a:lnTo>
                    <a:pt x="157562" y="817640"/>
                  </a:lnTo>
                  <a:lnTo>
                    <a:pt x="191714" y="845534"/>
                  </a:lnTo>
                  <a:lnTo>
                    <a:pt x="228577" y="871376"/>
                  </a:lnTo>
                  <a:lnTo>
                    <a:pt x="267983" y="895039"/>
                  </a:lnTo>
                  <a:lnTo>
                    <a:pt x="309763" y="916395"/>
                  </a:lnTo>
                  <a:lnTo>
                    <a:pt x="353749" y="935317"/>
                  </a:lnTo>
                  <a:lnTo>
                    <a:pt x="399773" y="951678"/>
                  </a:lnTo>
                  <a:lnTo>
                    <a:pt x="447665" y="965350"/>
                  </a:lnTo>
                  <a:lnTo>
                    <a:pt x="497259" y="976205"/>
                  </a:lnTo>
                  <a:lnTo>
                    <a:pt x="548384" y="984117"/>
                  </a:lnTo>
                  <a:lnTo>
                    <a:pt x="600873" y="988958"/>
                  </a:lnTo>
                  <a:lnTo>
                    <a:pt x="654558" y="990599"/>
                  </a:lnTo>
                  <a:lnTo>
                    <a:pt x="708233" y="988958"/>
                  </a:lnTo>
                  <a:lnTo>
                    <a:pt x="760716" y="984117"/>
                  </a:lnTo>
                  <a:lnTo>
                    <a:pt x="811836" y="976205"/>
                  </a:lnTo>
                  <a:lnTo>
                    <a:pt x="861425" y="965350"/>
                  </a:lnTo>
                  <a:lnTo>
                    <a:pt x="909316" y="951678"/>
                  </a:lnTo>
                  <a:lnTo>
                    <a:pt x="955338" y="935317"/>
                  </a:lnTo>
                  <a:lnTo>
                    <a:pt x="999324" y="916395"/>
                  </a:lnTo>
                  <a:lnTo>
                    <a:pt x="1041105" y="895039"/>
                  </a:lnTo>
                  <a:lnTo>
                    <a:pt x="1080512" y="871376"/>
                  </a:lnTo>
                  <a:lnTo>
                    <a:pt x="1117377" y="845534"/>
                  </a:lnTo>
                  <a:lnTo>
                    <a:pt x="1151532" y="817640"/>
                  </a:lnTo>
                  <a:lnTo>
                    <a:pt x="1182806" y="787822"/>
                  </a:lnTo>
                  <a:lnTo>
                    <a:pt x="1211033" y="756207"/>
                  </a:lnTo>
                  <a:lnTo>
                    <a:pt x="1236044" y="722923"/>
                  </a:lnTo>
                  <a:lnTo>
                    <a:pt x="1257669" y="688097"/>
                  </a:lnTo>
                  <a:lnTo>
                    <a:pt x="1275740" y="651857"/>
                  </a:lnTo>
                  <a:lnTo>
                    <a:pt x="1290089" y="614330"/>
                  </a:lnTo>
                  <a:lnTo>
                    <a:pt x="1300547" y="575642"/>
                  </a:lnTo>
                  <a:lnTo>
                    <a:pt x="1306945" y="535923"/>
                  </a:lnTo>
                  <a:lnTo>
                    <a:pt x="1309116" y="495299"/>
                  </a:lnTo>
                  <a:lnTo>
                    <a:pt x="1306945" y="454676"/>
                  </a:lnTo>
                  <a:lnTo>
                    <a:pt x="1300547" y="414957"/>
                  </a:lnTo>
                  <a:lnTo>
                    <a:pt x="1290089" y="376269"/>
                  </a:lnTo>
                  <a:lnTo>
                    <a:pt x="1275740" y="338742"/>
                  </a:lnTo>
                  <a:lnTo>
                    <a:pt x="1257669" y="302502"/>
                  </a:lnTo>
                  <a:lnTo>
                    <a:pt x="1236044" y="267676"/>
                  </a:lnTo>
                  <a:lnTo>
                    <a:pt x="1211033" y="234392"/>
                  </a:lnTo>
                  <a:lnTo>
                    <a:pt x="1182806" y="202777"/>
                  </a:lnTo>
                  <a:lnTo>
                    <a:pt x="1151532" y="172959"/>
                  </a:lnTo>
                  <a:lnTo>
                    <a:pt x="1117377" y="145065"/>
                  </a:lnTo>
                  <a:lnTo>
                    <a:pt x="1080512" y="119223"/>
                  </a:lnTo>
                  <a:lnTo>
                    <a:pt x="1041105" y="95560"/>
                  </a:lnTo>
                  <a:lnTo>
                    <a:pt x="999324" y="74204"/>
                  </a:lnTo>
                  <a:lnTo>
                    <a:pt x="955338" y="55282"/>
                  </a:lnTo>
                  <a:lnTo>
                    <a:pt x="909316" y="38921"/>
                  </a:lnTo>
                  <a:lnTo>
                    <a:pt x="861425" y="25249"/>
                  </a:lnTo>
                  <a:lnTo>
                    <a:pt x="811836" y="14394"/>
                  </a:lnTo>
                  <a:lnTo>
                    <a:pt x="760716" y="6482"/>
                  </a:lnTo>
                  <a:lnTo>
                    <a:pt x="708233" y="1641"/>
                  </a:lnTo>
                  <a:lnTo>
                    <a:pt x="654558" y="0"/>
                  </a:lnTo>
                  <a:close/>
                </a:path>
              </a:pathLst>
            </a:custGeom>
            <a:solidFill>
              <a:srgbClr val="0C0C0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61365" y="3263645"/>
              <a:ext cx="1309370" cy="990600"/>
            </a:xfrm>
            <a:custGeom>
              <a:avLst/>
              <a:gdLst/>
              <a:ahLst/>
              <a:cxnLst/>
              <a:rect l="l" t="t" r="r" b="b"/>
              <a:pathLst>
                <a:path w="1309370" h="990600">
                  <a:moveTo>
                    <a:pt x="0" y="495299"/>
                  </a:moveTo>
                  <a:lnTo>
                    <a:pt x="2169" y="454676"/>
                  </a:lnTo>
                  <a:lnTo>
                    <a:pt x="8566" y="414957"/>
                  </a:lnTo>
                  <a:lnTo>
                    <a:pt x="19023" y="376269"/>
                  </a:lnTo>
                  <a:lnTo>
                    <a:pt x="33369" y="338742"/>
                  </a:lnTo>
                  <a:lnTo>
                    <a:pt x="51437" y="302502"/>
                  </a:lnTo>
                  <a:lnTo>
                    <a:pt x="73059" y="267676"/>
                  </a:lnTo>
                  <a:lnTo>
                    <a:pt x="98067" y="234392"/>
                  </a:lnTo>
                  <a:lnTo>
                    <a:pt x="126290" y="202777"/>
                  </a:lnTo>
                  <a:lnTo>
                    <a:pt x="157562" y="172959"/>
                  </a:lnTo>
                  <a:lnTo>
                    <a:pt x="191714" y="145065"/>
                  </a:lnTo>
                  <a:lnTo>
                    <a:pt x="228577" y="119223"/>
                  </a:lnTo>
                  <a:lnTo>
                    <a:pt x="267983" y="95560"/>
                  </a:lnTo>
                  <a:lnTo>
                    <a:pt x="309763" y="74204"/>
                  </a:lnTo>
                  <a:lnTo>
                    <a:pt x="353749" y="55282"/>
                  </a:lnTo>
                  <a:lnTo>
                    <a:pt x="399773" y="38921"/>
                  </a:lnTo>
                  <a:lnTo>
                    <a:pt x="447665" y="25249"/>
                  </a:lnTo>
                  <a:lnTo>
                    <a:pt x="497259" y="14394"/>
                  </a:lnTo>
                  <a:lnTo>
                    <a:pt x="548384" y="6482"/>
                  </a:lnTo>
                  <a:lnTo>
                    <a:pt x="600873" y="1641"/>
                  </a:lnTo>
                  <a:lnTo>
                    <a:pt x="654558" y="0"/>
                  </a:lnTo>
                  <a:lnTo>
                    <a:pt x="708233" y="1641"/>
                  </a:lnTo>
                  <a:lnTo>
                    <a:pt x="760716" y="6482"/>
                  </a:lnTo>
                  <a:lnTo>
                    <a:pt x="811836" y="14394"/>
                  </a:lnTo>
                  <a:lnTo>
                    <a:pt x="861425" y="25249"/>
                  </a:lnTo>
                  <a:lnTo>
                    <a:pt x="909316" y="38921"/>
                  </a:lnTo>
                  <a:lnTo>
                    <a:pt x="955338" y="55282"/>
                  </a:lnTo>
                  <a:lnTo>
                    <a:pt x="999324" y="74204"/>
                  </a:lnTo>
                  <a:lnTo>
                    <a:pt x="1041105" y="95560"/>
                  </a:lnTo>
                  <a:lnTo>
                    <a:pt x="1080512" y="119223"/>
                  </a:lnTo>
                  <a:lnTo>
                    <a:pt x="1117377" y="145065"/>
                  </a:lnTo>
                  <a:lnTo>
                    <a:pt x="1151532" y="172959"/>
                  </a:lnTo>
                  <a:lnTo>
                    <a:pt x="1182806" y="202777"/>
                  </a:lnTo>
                  <a:lnTo>
                    <a:pt x="1211033" y="234392"/>
                  </a:lnTo>
                  <a:lnTo>
                    <a:pt x="1236044" y="267676"/>
                  </a:lnTo>
                  <a:lnTo>
                    <a:pt x="1257669" y="302502"/>
                  </a:lnTo>
                  <a:lnTo>
                    <a:pt x="1275740" y="338742"/>
                  </a:lnTo>
                  <a:lnTo>
                    <a:pt x="1290089" y="376269"/>
                  </a:lnTo>
                  <a:lnTo>
                    <a:pt x="1300547" y="414957"/>
                  </a:lnTo>
                  <a:lnTo>
                    <a:pt x="1306945" y="454676"/>
                  </a:lnTo>
                  <a:lnTo>
                    <a:pt x="1309116" y="495299"/>
                  </a:lnTo>
                  <a:lnTo>
                    <a:pt x="1306945" y="535923"/>
                  </a:lnTo>
                  <a:lnTo>
                    <a:pt x="1300547" y="575642"/>
                  </a:lnTo>
                  <a:lnTo>
                    <a:pt x="1290089" y="614330"/>
                  </a:lnTo>
                  <a:lnTo>
                    <a:pt x="1275740" y="651857"/>
                  </a:lnTo>
                  <a:lnTo>
                    <a:pt x="1257669" y="688097"/>
                  </a:lnTo>
                  <a:lnTo>
                    <a:pt x="1236044" y="722923"/>
                  </a:lnTo>
                  <a:lnTo>
                    <a:pt x="1211033" y="756207"/>
                  </a:lnTo>
                  <a:lnTo>
                    <a:pt x="1182806" y="787822"/>
                  </a:lnTo>
                  <a:lnTo>
                    <a:pt x="1151532" y="817640"/>
                  </a:lnTo>
                  <a:lnTo>
                    <a:pt x="1117377" y="845534"/>
                  </a:lnTo>
                  <a:lnTo>
                    <a:pt x="1080512" y="871376"/>
                  </a:lnTo>
                  <a:lnTo>
                    <a:pt x="1041105" y="895039"/>
                  </a:lnTo>
                  <a:lnTo>
                    <a:pt x="999324" y="916395"/>
                  </a:lnTo>
                  <a:lnTo>
                    <a:pt x="955338" y="935317"/>
                  </a:lnTo>
                  <a:lnTo>
                    <a:pt x="909316" y="951678"/>
                  </a:lnTo>
                  <a:lnTo>
                    <a:pt x="861425" y="965350"/>
                  </a:lnTo>
                  <a:lnTo>
                    <a:pt x="811836" y="976205"/>
                  </a:lnTo>
                  <a:lnTo>
                    <a:pt x="760716" y="984117"/>
                  </a:lnTo>
                  <a:lnTo>
                    <a:pt x="708233" y="988958"/>
                  </a:lnTo>
                  <a:lnTo>
                    <a:pt x="654558" y="990599"/>
                  </a:lnTo>
                  <a:lnTo>
                    <a:pt x="600873" y="988958"/>
                  </a:lnTo>
                  <a:lnTo>
                    <a:pt x="548384" y="984117"/>
                  </a:lnTo>
                  <a:lnTo>
                    <a:pt x="497259" y="976205"/>
                  </a:lnTo>
                  <a:lnTo>
                    <a:pt x="447665" y="965350"/>
                  </a:lnTo>
                  <a:lnTo>
                    <a:pt x="399773" y="951678"/>
                  </a:lnTo>
                  <a:lnTo>
                    <a:pt x="353749" y="935317"/>
                  </a:lnTo>
                  <a:lnTo>
                    <a:pt x="309763" y="916395"/>
                  </a:lnTo>
                  <a:lnTo>
                    <a:pt x="267983" y="895039"/>
                  </a:lnTo>
                  <a:lnTo>
                    <a:pt x="228577" y="871376"/>
                  </a:lnTo>
                  <a:lnTo>
                    <a:pt x="191714" y="845534"/>
                  </a:lnTo>
                  <a:lnTo>
                    <a:pt x="157562" y="817640"/>
                  </a:lnTo>
                  <a:lnTo>
                    <a:pt x="126290" y="787822"/>
                  </a:lnTo>
                  <a:lnTo>
                    <a:pt x="98067" y="756207"/>
                  </a:lnTo>
                  <a:lnTo>
                    <a:pt x="73059" y="722923"/>
                  </a:lnTo>
                  <a:lnTo>
                    <a:pt x="51437" y="688097"/>
                  </a:lnTo>
                  <a:lnTo>
                    <a:pt x="33369" y="651857"/>
                  </a:lnTo>
                  <a:lnTo>
                    <a:pt x="19023" y="614330"/>
                  </a:lnTo>
                  <a:lnTo>
                    <a:pt x="8566" y="575642"/>
                  </a:lnTo>
                  <a:lnTo>
                    <a:pt x="2169" y="535923"/>
                  </a:lnTo>
                  <a:lnTo>
                    <a:pt x="0" y="495299"/>
                  </a:lnTo>
                  <a:close/>
                </a:path>
              </a:pathLst>
            </a:custGeom>
            <a:ln w="254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567334" y="3523234"/>
            <a:ext cx="6965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5">
                <a:solidFill>
                  <a:srgbClr val="FFFFFF"/>
                </a:solidFill>
                <a:latin typeface="Arial"/>
                <a:cs typeface="Arial"/>
              </a:rPr>
              <a:t>gVA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974846" y="3273805"/>
            <a:ext cx="1854200" cy="1016000"/>
            <a:chOff x="3974846" y="3273805"/>
            <a:chExt cx="1854200" cy="1016000"/>
          </a:xfrm>
        </p:grpSpPr>
        <p:sp>
          <p:nvSpPr>
            <p:cNvPr id="13" name="object 13"/>
            <p:cNvSpPr/>
            <p:nvPr/>
          </p:nvSpPr>
          <p:spPr>
            <a:xfrm>
              <a:off x="3987546" y="3667505"/>
              <a:ext cx="381000" cy="190500"/>
            </a:xfrm>
            <a:custGeom>
              <a:avLst/>
              <a:gdLst/>
              <a:ahLst/>
              <a:cxnLst/>
              <a:rect l="l" t="t" r="r" b="b"/>
              <a:pathLst>
                <a:path w="381000" h="190500">
                  <a:moveTo>
                    <a:pt x="285750" y="0"/>
                  </a:moveTo>
                  <a:lnTo>
                    <a:pt x="285750" y="47625"/>
                  </a:lnTo>
                  <a:lnTo>
                    <a:pt x="0" y="47625"/>
                  </a:lnTo>
                  <a:lnTo>
                    <a:pt x="0" y="142875"/>
                  </a:lnTo>
                  <a:lnTo>
                    <a:pt x="285750" y="142875"/>
                  </a:lnTo>
                  <a:lnTo>
                    <a:pt x="285750" y="190500"/>
                  </a:lnTo>
                  <a:lnTo>
                    <a:pt x="381000" y="95250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987546" y="3667505"/>
              <a:ext cx="381000" cy="190500"/>
            </a:xfrm>
            <a:custGeom>
              <a:avLst/>
              <a:gdLst/>
              <a:ahLst/>
              <a:cxnLst/>
              <a:rect l="l" t="t" r="r" b="b"/>
              <a:pathLst>
                <a:path w="381000" h="190500">
                  <a:moveTo>
                    <a:pt x="285750" y="190500"/>
                  </a:moveTo>
                  <a:lnTo>
                    <a:pt x="285750" y="142875"/>
                  </a:lnTo>
                  <a:lnTo>
                    <a:pt x="0" y="142875"/>
                  </a:lnTo>
                  <a:lnTo>
                    <a:pt x="0" y="47625"/>
                  </a:lnTo>
                  <a:lnTo>
                    <a:pt x="285750" y="47625"/>
                  </a:lnTo>
                  <a:lnTo>
                    <a:pt x="285750" y="0"/>
                  </a:lnTo>
                  <a:lnTo>
                    <a:pt x="381000" y="95250"/>
                  </a:lnTo>
                  <a:lnTo>
                    <a:pt x="285750" y="190500"/>
                  </a:lnTo>
                  <a:close/>
                </a:path>
              </a:pathLst>
            </a:custGeom>
            <a:ln w="254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435346" y="3667505"/>
              <a:ext cx="381000" cy="190500"/>
            </a:xfrm>
            <a:custGeom>
              <a:avLst/>
              <a:gdLst/>
              <a:ahLst/>
              <a:cxnLst/>
              <a:rect l="l" t="t" r="r" b="b"/>
              <a:pathLst>
                <a:path w="381000" h="190500">
                  <a:moveTo>
                    <a:pt x="285750" y="0"/>
                  </a:moveTo>
                  <a:lnTo>
                    <a:pt x="285750" y="47625"/>
                  </a:lnTo>
                  <a:lnTo>
                    <a:pt x="0" y="47625"/>
                  </a:lnTo>
                  <a:lnTo>
                    <a:pt x="0" y="142875"/>
                  </a:lnTo>
                  <a:lnTo>
                    <a:pt x="285750" y="142875"/>
                  </a:lnTo>
                  <a:lnTo>
                    <a:pt x="285750" y="190500"/>
                  </a:lnTo>
                  <a:lnTo>
                    <a:pt x="381000" y="95250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435346" y="3667505"/>
              <a:ext cx="381000" cy="190500"/>
            </a:xfrm>
            <a:custGeom>
              <a:avLst/>
              <a:gdLst/>
              <a:ahLst/>
              <a:cxnLst/>
              <a:rect l="l" t="t" r="r" b="b"/>
              <a:pathLst>
                <a:path w="381000" h="190500">
                  <a:moveTo>
                    <a:pt x="285750" y="190500"/>
                  </a:moveTo>
                  <a:lnTo>
                    <a:pt x="285750" y="142875"/>
                  </a:lnTo>
                  <a:lnTo>
                    <a:pt x="0" y="142875"/>
                  </a:lnTo>
                  <a:lnTo>
                    <a:pt x="0" y="47625"/>
                  </a:lnTo>
                  <a:lnTo>
                    <a:pt x="285750" y="47625"/>
                  </a:lnTo>
                  <a:lnTo>
                    <a:pt x="285750" y="0"/>
                  </a:lnTo>
                  <a:lnTo>
                    <a:pt x="381000" y="95250"/>
                  </a:lnTo>
                  <a:lnTo>
                    <a:pt x="285750" y="190500"/>
                  </a:lnTo>
                  <a:close/>
                </a:path>
              </a:pathLst>
            </a:custGeom>
            <a:ln w="254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368546" y="3286505"/>
              <a:ext cx="1252855" cy="990600"/>
            </a:xfrm>
            <a:custGeom>
              <a:avLst/>
              <a:gdLst/>
              <a:ahLst/>
              <a:cxnLst/>
              <a:rect l="l" t="t" r="r" b="b"/>
              <a:pathLst>
                <a:path w="1252854" h="990600">
                  <a:moveTo>
                    <a:pt x="626363" y="0"/>
                  </a:moveTo>
                  <a:lnTo>
                    <a:pt x="572316" y="1817"/>
                  </a:lnTo>
                  <a:lnTo>
                    <a:pt x="519546" y="7172"/>
                  </a:lnTo>
                  <a:lnTo>
                    <a:pt x="468241" y="15915"/>
                  </a:lnTo>
                  <a:lnTo>
                    <a:pt x="418588" y="27898"/>
                  </a:lnTo>
                  <a:lnTo>
                    <a:pt x="370777" y="42971"/>
                  </a:lnTo>
                  <a:lnTo>
                    <a:pt x="324995" y="60987"/>
                  </a:lnTo>
                  <a:lnTo>
                    <a:pt x="281430" y="81796"/>
                  </a:lnTo>
                  <a:lnTo>
                    <a:pt x="240270" y="105250"/>
                  </a:lnTo>
                  <a:lnTo>
                    <a:pt x="201703" y="131200"/>
                  </a:lnTo>
                  <a:lnTo>
                    <a:pt x="165917" y="159498"/>
                  </a:lnTo>
                  <a:lnTo>
                    <a:pt x="133100" y="189996"/>
                  </a:lnTo>
                  <a:lnTo>
                    <a:pt x="103440" y="222543"/>
                  </a:lnTo>
                  <a:lnTo>
                    <a:pt x="77124" y="256992"/>
                  </a:lnTo>
                  <a:lnTo>
                    <a:pt x="54342" y="293195"/>
                  </a:lnTo>
                  <a:lnTo>
                    <a:pt x="35280" y="331001"/>
                  </a:lnTo>
                  <a:lnTo>
                    <a:pt x="20127" y="370264"/>
                  </a:lnTo>
                  <a:lnTo>
                    <a:pt x="9070" y="410833"/>
                  </a:lnTo>
                  <a:lnTo>
                    <a:pt x="2298" y="452562"/>
                  </a:lnTo>
                  <a:lnTo>
                    <a:pt x="0" y="495300"/>
                  </a:lnTo>
                  <a:lnTo>
                    <a:pt x="2298" y="538037"/>
                  </a:lnTo>
                  <a:lnTo>
                    <a:pt x="9070" y="579766"/>
                  </a:lnTo>
                  <a:lnTo>
                    <a:pt x="20127" y="620335"/>
                  </a:lnTo>
                  <a:lnTo>
                    <a:pt x="35280" y="659598"/>
                  </a:lnTo>
                  <a:lnTo>
                    <a:pt x="54342" y="697404"/>
                  </a:lnTo>
                  <a:lnTo>
                    <a:pt x="77124" y="733607"/>
                  </a:lnTo>
                  <a:lnTo>
                    <a:pt x="103440" y="768056"/>
                  </a:lnTo>
                  <a:lnTo>
                    <a:pt x="133100" y="800603"/>
                  </a:lnTo>
                  <a:lnTo>
                    <a:pt x="165917" y="831101"/>
                  </a:lnTo>
                  <a:lnTo>
                    <a:pt x="201703" y="859399"/>
                  </a:lnTo>
                  <a:lnTo>
                    <a:pt x="240270" y="885349"/>
                  </a:lnTo>
                  <a:lnTo>
                    <a:pt x="281430" y="908803"/>
                  </a:lnTo>
                  <a:lnTo>
                    <a:pt x="324995" y="929612"/>
                  </a:lnTo>
                  <a:lnTo>
                    <a:pt x="370777" y="947628"/>
                  </a:lnTo>
                  <a:lnTo>
                    <a:pt x="418588" y="962701"/>
                  </a:lnTo>
                  <a:lnTo>
                    <a:pt x="468241" y="974684"/>
                  </a:lnTo>
                  <a:lnTo>
                    <a:pt x="519546" y="983427"/>
                  </a:lnTo>
                  <a:lnTo>
                    <a:pt x="572316" y="988782"/>
                  </a:lnTo>
                  <a:lnTo>
                    <a:pt x="626363" y="990600"/>
                  </a:lnTo>
                  <a:lnTo>
                    <a:pt x="680411" y="988782"/>
                  </a:lnTo>
                  <a:lnTo>
                    <a:pt x="733181" y="983427"/>
                  </a:lnTo>
                  <a:lnTo>
                    <a:pt x="784486" y="974684"/>
                  </a:lnTo>
                  <a:lnTo>
                    <a:pt x="834139" y="962701"/>
                  </a:lnTo>
                  <a:lnTo>
                    <a:pt x="881950" y="947628"/>
                  </a:lnTo>
                  <a:lnTo>
                    <a:pt x="927732" y="929612"/>
                  </a:lnTo>
                  <a:lnTo>
                    <a:pt x="971297" y="908803"/>
                  </a:lnTo>
                  <a:lnTo>
                    <a:pt x="1012457" y="885349"/>
                  </a:lnTo>
                  <a:lnTo>
                    <a:pt x="1051024" y="859399"/>
                  </a:lnTo>
                  <a:lnTo>
                    <a:pt x="1086810" y="831101"/>
                  </a:lnTo>
                  <a:lnTo>
                    <a:pt x="1119627" y="800603"/>
                  </a:lnTo>
                  <a:lnTo>
                    <a:pt x="1149287" y="768056"/>
                  </a:lnTo>
                  <a:lnTo>
                    <a:pt x="1175603" y="733607"/>
                  </a:lnTo>
                  <a:lnTo>
                    <a:pt x="1198385" y="697404"/>
                  </a:lnTo>
                  <a:lnTo>
                    <a:pt x="1217447" y="659598"/>
                  </a:lnTo>
                  <a:lnTo>
                    <a:pt x="1232600" y="620335"/>
                  </a:lnTo>
                  <a:lnTo>
                    <a:pt x="1243657" y="579766"/>
                  </a:lnTo>
                  <a:lnTo>
                    <a:pt x="1250429" y="538037"/>
                  </a:lnTo>
                  <a:lnTo>
                    <a:pt x="1252727" y="495300"/>
                  </a:lnTo>
                  <a:lnTo>
                    <a:pt x="1250429" y="452562"/>
                  </a:lnTo>
                  <a:lnTo>
                    <a:pt x="1243657" y="410833"/>
                  </a:lnTo>
                  <a:lnTo>
                    <a:pt x="1232600" y="370264"/>
                  </a:lnTo>
                  <a:lnTo>
                    <a:pt x="1217447" y="331001"/>
                  </a:lnTo>
                  <a:lnTo>
                    <a:pt x="1198385" y="293195"/>
                  </a:lnTo>
                  <a:lnTo>
                    <a:pt x="1175603" y="256992"/>
                  </a:lnTo>
                  <a:lnTo>
                    <a:pt x="1149287" y="222543"/>
                  </a:lnTo>
                  <a:lnTo>
                    <a:pt x="1119627" y="189996"/>
                  </a:lnTo>
                  <a:lnTo>
                    <a:pt x="1086810" y="159498"/>
                  </a:lnTo>
                  <a:lnTo>
                    <a:pt x="1051024" y="131200"/>
                  </a:lnTo>
                  <a:lnTo>
                    <a:pt x="1012457" y="105250"/>
                  </a:lnTo>
                  <a:lnTo>
                    <a:pt x="971297" y="81796"/>
                  </a:lnTo>
                  <a:lnTo>
                    <a:pt x="927732" y="60987"/>
                  </a:lnTo>
                  <a:lnTo>
                    <a:pt x="881950" y="42971"/>
                  </a:lnTo>
                  <a:lnTo>
                    <a:pt x="834139" y="27898"/>
                  </a:lnTo>
                  <a:lnTo>
                    <a:pt x="784486" y="15915"/>
                  </a:lnTo>
                  <a:lnTo>
                    <a:pt x="733181" y="7172"/>
                  </a:lnTo>
                  <a:lnTo>
                    <a:pt x="680411" y="1817"/>
                  </a:lnTo>
                  <a:lnTo>
                    <a:pt x="626363" y="0"/>
                  </a:lnTo>
                  <a:close/>
                </a:path>
              </a:pathLst>
            </a:custGeom>
            <a:solidFill>
              <a:srgbClr val="0C0C0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368546" y="3286505"/>
              <a:ext cx="1252855" cy="990600"/>
            </a:xfrm>
            <a:custGeom>
              <a:avLst/>
              <a:gdLst/>
              <a:ahLst/>
              <a:cxnLst/>
              <a:rect l="l" t="t" r="r" b="b"/>
              <a:pathLst>
                <a:path w="1252854" h="990600">
                  <a:moveTo>
                    <a:pt x="0" y="495300"/>
                  </a:moveTo>
                  <a:lnTo>
                    <a:pt x="2298" y="452562"/>
                  </a:lnTo>
                  <a:lnTo>
                    <a:pt x="9070" y="410833"/>
                  </a:lnTo>
                  <a:lnTo>
                    <a:pt x="20127" y="370264"/>
                  </a:lnTo>
                  <a:lnTo>
                    <a:pt x="35280" y="331001"/>
                  </a:lnTo>
                  <a:lnTo>
                    <a:pt x="54342" y="293195"/>
                  </a:lnTo>
                  <a:lnTo>
                    <a:pt x="77124" y="256992"/>
                  </a:lnTo>
                  <a:lnTo>
                    <a:pt x="103440" y="222543"/>
                  </a:lnTo>
                  <a:lnTo>
                    <a:pt x="133100" y="189996"/>
                  </a:lnTo>
                  <a:lnTo>
                    <a:pt x="165917" y="159498"/>
                  </a:lnTo>
                  <a:lnTo>
                    <a:pt x="201703" y="131200"/>
                  </a:lnTo>
                  <a:lnTo>
                    <a:pt x="240270" y="105250"/>
                  </a:lnTo>
                  <a:lnTo>
                    <a:pt x="281430" y="81796"/>
                  </a:lnTo>
                  <a:lnTo>
                    <a:pt x="324995" y="60987"/>
                  </a:lnTo>
                  <a:lnTo>
                    <a:pt x="370777" y="42971"/>
                  </a:lnTo>
                  <a:lnTo>
                    <a:pt x="418588" y="27898"/>
                  </a:lnTo>
                  <a:lnTo>
                    <a:pt x="468241" y="15915"/>
                  </a:lnTo>
                  <a:lnTo>
                    <a:pt x="519546" y="7172"/>
                  </a:lnTo>
                  <a:lnTo>
                    <a:pt x="572316" y="1817"/>
                  </a:lnTo>
                  <a:lnTo>
                    <a:pt x="626363" y="0"/>
                  </a:lnTo>
                  <a:lnTo>
                    <a:pt x="680411" y="1817"/>
                  </a:lnTo>
                  <a:lnTo>
                    <a:pt x="733181" y="7172"/>
                  </a:lnTo>
                  <a:lnTo>
                    <a:pt x="784486" y="15915"/>
                  </a:lnTo>
                  <a:lnTo>
                    <a:pt x="834139" y="27898"/>
                  </a:lnTo>
                  <a:lnTo>
                    <a:pt x="881950" y="42971"/>
                  </a:lnTo>
                  <a:lnTo>
                    <a:pt x="927732" y="60987"/>
                  </a:lnTo>
                  <a:lnTo>
                    <a:pt x="971297" y="81796"/>
                  </a:lnTo>
                  <a:lnTo>
                    <a:pt x="1012457" y="105250"/>
                  </a:lnTo>
                  <a:lnTo>
                    <a:pt x="1051024" y="131200"/>
                  </a:lnTo>
                  <a:lnTo>
                    <a:pt x="1086810" y="159498"/>
                  </a:lnTo>
                  <a:lnTo>
                    <a:pt x="1119627" y="189996"/>
                  </a:lnTo>
                  <a:lnTo>
                    <a:pt x="1149287" y="222543"/>
                  </a:lnTo>
                  <a:lnTo>
                    <a:pt x="1175603" y="256992"/>
                  </a:lnTo>
                  <a:lnTo>
                    <a:pt x="1198385" y="293195"/>
                  </a:lnTo>
                  <a:lnTo>
                    <a:pt x="1217447" y="331001"/>
                  </a:lnTo>
                  <a:lnTo>
                    <a:pt x="1232600" y="370264"/>
                  </a:lnTo>
                  <a:lnTo>
                    <a:pt x="1243657" y="410833"/>
                  </a:lnTo>
                  <a:lnTo>
                    <a:pt x="1250429" y="452562"/>
                  </a:lnTo>
                  <a:lnTo>
                    <a:pt x="1252727" y="495300"/>
                  </a:lnTo>
                  <a:lnTo>
                    <a:pt x="1250429" y="538037"/>
                  </a:lnTo>
                  <a:lnTo>
                    <a:pt x="1243657" y="579766"/>
                  </a:lnTo>
                  <a:lnTo>
                    <a:pt x="1232600" y="620335"/>
                  </a:lnTo>
                  <a:lnTo>
                    <a:pt x="1217447" y="659598"/>
                  </a:lnTo>
                  <a:lnTo>
                    <a:pt x="1198385" y="697404"/>
                  </a:lnTo>
                  <a:lnTo>
                    <a:pt x="1175603" y="733607"/>
                  </a:lnTo>
                  <a:lnTo>
                    <a:pt x="1149287" y="768056"/>
                  </a:lnTo>
                  <a:lnTo>
                    <a:pt x="1119627" y="800603"/>
                  </a:lnTo>
                  <a:lnTo>
                    <a:pt x="1086810" y="831101"/>
                  </a:lnTo>
                  <a:lnTo>
                    <a:pt x="1051024" y="859399"/>
                  </a:lnTo>
                  <a:lnTo>
                    <a:pt x="1012457" y="885349"/>
                  </a:lnTo>
                  <a:lnTo>
                    <a:pt x="971297" y="908803"/>
                  </a:lnTo>
                  <a:lnTo>
                    <a:pt x="927732" y="929612"/>
                  </a:lnTo>
                  <a:lnTo>
                    <a:pt x="881950" y="947628"/>
                  </a:lnTo>
                  <a:lnTo>
                    <a:pt x="834139" y="962701"/>
                  </a:lnTo>
                  <a:lnTo>
                    <a:pt x="784486" y="974684"/>
                  </a:lnTo>
                  <a:lnTo>
                    <a:pt x="733181" y="983427"/>
                  </a:lnTo>
                  <a:lnTo>
                    <a:pt x="680411" y="988782"/>
                  </a:lnTo>
                  <a:lnTo>
                    <a:pt x="626363" y="990600"/>
                  </a:lnTo>
                  <a:lnTo>
                    <a:pt x="572316" y="988782"/>
                  </a:lnTo>
                  <a:lnTo>
                    <a:pt x="519546" y="983427"/>
                  </a:lnTo>
                  <a:lnTo>
                    <a:pt x="468241" y="974684"/>
                  </a:lnTo>
                  <a:lnTo>
                    <a:pt x="418588" y="962701"/>
                  </a:lnTo>
                  <a:lnTo>
                    <a:pt x="370777" y="947628"/>
                  </a:lnTo>
                  <a:lnTo>
                    <a:pt x="324995" y="929612"/>
                  </a:lnTo>
                  <a:lnTo>
                    <a:pt x="281430" y="908803"/>
                  </a:lnTo>
                  <a:lnTo>
                    <a:pt x="240270" y="885349"/>
                  </a:lnTo>
                  <a:lnTo>
                    <a:pt x="201703" y="859399"/>
                  </a:lnTo>
                  <a:lnTo>
                    <a:pt x="165917" y="831101"/>
                  </a:lnTo>
                  <a:lnTo>
                    <a:pt x="133100" y="800603"/>
                  </a:lnTo>
                  <a:lnTo>
                    <a:pt x="103440" y="768056"/>
                  </a:lnTo>
                  <a:lnTo>
                    <a:pt x="77124" y="733607"/>
                  </a:lnTo>
                  <a:lnTo>
                    <a:pt x="54342" y="697404"/>
                  </a:lnTo>
                  <a:lnTo>
                    <a:pt x="35280" y="659598"/>
                  </a:lnTo>
                  <a:lnTo>
                    <a:pt x="20127" y="620335"/>
                  </a:lnTo>
                  <a:lnTo>
                    <a:pt x="9070" y="579766"/>
                  </a:lnTo>
                  <a:lnTo>
                    <a:pt x="2298" y="538037"/>
                  </a:lnTo>
                  <a:lnTo>
                    <a:pt x="0" y="495300"/>
                  </a:lnTo>
                  <a:close/>
                </a:path>
              </a:pathLst>
            </a:custGeom>
            <a:ln w="254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/>
          <p:cNvGrpSpPr/>
          <p:nvPr/>
        </p:nvGrpSpPr>
        <p:grpSpPr>
          <a:xfrm>
            <a:off x="1929383" y="2456713"/>
            <a:ext cx="2133600" cy="1911350"/>
            <a:chOff x="1929383" y="2456713"/>
            <a:chExt cx="2133600" cy="1911350"/>
          </a:xfrm>
        </p:grpSpPr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29383" y="3209544"/>
              <a:ext cx="2133599" cy="115824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29458" y="2506941"/>
              <a:ext cx="528854" cy="527393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85287" y="2456713"/>
              <a:ext cx="615708" cy="72082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67583" y="2525268"/>
              <a:ext cx="457200" cy="45567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767583" y="2525268"/>
              <a:ext cx="457200" cy="455930"/>
            </a:xfrm>
            <a:custGeom>
              <a:avLst/>
              <a:gdLst/>
              <a:ahLst/>
              <a:cxnLst/>
              <a:rect l="l" t="t" r="r" b="b"/>
              <a:pathLst>
                <a:path w="457200" h="455930">
                  <a:moveTo>
                    <a:pt x="0" y="227837"/>
                  </a:moveTo>
                  <a:lnTo>
                    <a:pt x="4644" y="181913"/>
                  </a:lnTo>
                  <a:lnTo>
                    <a:pt x="17966" y="139142"/>
                  </a:lnTo>
                  <a:lnTo>
                    <a:pt x="39045" y="100440"/>
                  </a:lnTo>
                  <a:lnTo>
                    <a:pt x="66960" y="66722"/>
                  </a:lnTo>
                  <a:lnTo>
                    <a:pt x="100793" y="38904"/>
                  </a:lnTo>
                  <a:lnTo>
                    <a:pt x="139624" y="17901"/>
                  </a:lnTo>
                  <a:lnTo>
                    <a:pt x="182533" y="4627"/>
                  </a:lnTo>
                  <a:lnTo>
                    <a:pt x="228600" y="0"/>
                  </a:lnTo>
                  <a:lnTo>
                    <a:pt x="274666" y="4627"/>
                  </a:lnTo>
                  <a:lnTo>
                    <a:pt x="317575" y="17901"/>
                  </a:lnTo>
                  <a:lnTo>
                    <a:pt x="356406" y="38904"/>
                  </a:lnTo>
                  <a:lnTo>
                    <a:pt x="390239" y="66722"/>
                  </a:lnTo>
                  <a:lnTo>
                    <a:pt x="418154" y="100440"/>
                  </a:lnTo>
                  <a:lnTo>
                    <a:pt x="439233" y="139142"/>
                  </a:lnTo>
                  <a:lnTo>
                    <a:pt x="452555" y="181913"/>
                  </a:lnTo>
                  <a:lnTo>
                    <a:pt x="457200" y="227837"/>
                  </a:lnTo>
                  <a:lnTo>
                    <a:pt x="452555" y="273762"/>
                  </a:lnTo>
                  <a:lnTo>
                    <a:pt x="439233" y="316533"/>
                  </a:lnTo>
                  <a:lnTo>
                    <a:pt x="418154" y="355235"/>
                  </a:lnTo>
                  <a:lnTo>
                    <a:pt x="390239" y="388953"/>
                  </a:lnTo>
                  <a:lnTo>
                    <a:pt x="356406" y="416771"/>
                  </a:lnTo>
                  <a:lnTo>
                    <a:pt x="317575" y="437774"/>
                  </a:lnTo>
                  <a:lnTo>
                    <a:pt x="274666" y="451048"/>
                  </a:lnTo>
                  <a:lnTo>
                    <a:pt x="228600" y="455676"/>
                  </a:lnTo>
                  <a:lnTo>
                    <a:pt x="182533" y="451048"/>
                  </a:lnTo>
                  <a:lnTo>
                    <a:pt x="139624" y="437774"/>
                  </a:lnTo>
                  <a:lnTo>
                    <a:pt x="100793" y="416771"/>
                  </a:lnTo>
                  <a:lnTo>
                    <a:pt x="66960" y="388953"/>
                  </a:lnTo>
                  <a:lnTo>
                    <a:pt x="39045" y="355235"/>
                  </a:lnTo>
                  <a:lnTo>
                    <a:pt x="17966" y="316533"/>
                  </a:lnTo>
                  <a:lnTo>
                    <a:pt x="4644" y="273762"/>
                  </a:lnTo>
                  <a:lnTo>
                    <a:pt x="0" y="227837"/>
                  </a:lnTo>
                  <a:close/>
                </a:path>
              </a:pathLst>
            </a:custGeom>
            <a:ln w="9525">
              <a:solidFill>
                <a:srgbClr val="EB792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2898394" y="2550921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6551676" y="2420137"/>
            <a:ext cx="615950" cy="721360"/>
            <a:chOff x="6551676" y="2420137"/>
            <a:chExt cx="615950" cy="721360"/>
          </a:xfrm>
        </p:grpSpPr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95846" y="2471851"/>
              <a:ext cx="528854" cy="52593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51676" y="2420137"/>
              <a:ext cx="615708" cy="72082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633972" y="2490215"/>
              <a:ext cx="457200" cy="454151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633972" y="2490215"/>
              <a:ext cx="457200" cy="454659"/>
            </a:xfrm>
            <a:custGeom>
              <a:avLst/>
              <a:gdLst/>
              <a:ahLst/>
              <a:cxnLst/>
              <a:rect l="l" t="t" r="r" b="b"/>
              <a:pathLst>
                <a:path w="457200" h="454660">
                  <a:moveTo>
                    <a:pt x="0" y="227075"/>
                  </a:moveTo>
                  <a:lnTo>
                    <a:pt x="4644" y="181329"/>
                  </a:lnTo>
                  <a:lnTo>
                    <a:pt x="17966" y="138713"/>
                  </a:lnTo>
                  <a:lnTo>
                    <a:pt x="39045" y="100142"/>
                  </a:lnTo>
                  <a:lnTo>
                    <a:pt x="66960" y="66532"/>
                  </a:lnTo>
                  <a:lnTo>
                    <a:pt x="100793" y="38797"/>
                  </a:lnTo>
                  <a:lnTo>
                    <a:pt x="139624" y="17853"/>
                  </a:lnTo>
                  <a:lnTo>
                    <a:pt x="182533" y="4615"/>
                  </a:lnTo>
                  <a:lnTo>
                    <a:pt x="228600" y="0"/>
                  </a:lnTo>
                  <a:lnTo>
                    <a:pt x="274666" y="4615"/>
                  </a:lnTo>
                  <a:lnTo>
                    <a:pt x="317575" y="17853"/>
                  </a:lnTo>
                  <a:lnTo>
                    <a:pt x="356406" y="38797"/>
                  </a:lnTo>
                  <a:lnTo>
                    <a:pt x="390239" y="66532"/>
                  </a:lnTo>
                  <a:lnTo>
                    <a:pt x="418154" y="100142"/>
                  </a:lnTo>
                  <a:lnTo>
                    <a:pt x="439233" y="138713"/>
                  </a:lnTo>
                  <a:lnTo>
                    <a:pt x="452555" y="181329"/>
                  </a:lnTo>
                  <a:lnTo>
                    <a:pt x="457200" y="227075"/>
                  </a:lnTo>
                  <a:lnTo>
                    <a:pt x="452555" y="272822"/>
                  </a:lnTo>
                  <a:lnTo>
                    <a:pt x="439233" y="315438"/>
                  </a:lnTo>
                  <a:lnTo>
                    <a:pt x="418154" y="354009"/>
                  </a:lnTo>
                  <a:lnTo>
                    <a:pt x="390239" y="387619"/>
                  </a:lnTo>
                  <a:lnTo>
                    <a:pt x="356406" y="415354"/>
                  </a:lnTo>
                  <a:lnTo>
                    <a:pt x="317575" y="436298"/>
                  </a:lnTo>
                  <a:lnTo>
                    <a:pt x="274666" y="449536"/>
                  </a:lnTo>
                  <a:lnTo>
                    <a:pt x="228600" y="454151"/>
                  </a:lnTo>
                  <a:lnTo>
                    <a:pt x="182533" y="449536"/>
                  </a:lnTo>
                  <a:lnTo>
                    <a:pt x="139624" y="436298"/>
                  </a:lnTo>
                  <a:lnTo>
                    <a:pt x="100793" y="415354"/>
                  </a:lnTo>
                  <a:lnTo>
                    <a:pt x="66960" y="387619"/>
                  </a:lnTo>
                  <a:lnTo>
                    <a:pt x="39045" y="354009"/>
                  </a:lnTo>
                  <a:lnTo>
                    <a:pt x="17966" y="315438"/>
                  </a:lnTo>
                  <a:lnTo>
                    <a:pt x="4644" y="272822"/>
                  </a:lnTo>
                  <a:lnTo>
                    <a:pt x="0" y="227075"/>
                  </a:lnTo>
                  <a:close/>
                </a:path>
              </a:pathLst>
            </a:custGeom>
            <a:ln w="9525">
              <a:solidFill>
                <a:srgbClr val="EB792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6766052" y="2515361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699629" y="2187955"/>
            <a:ext cx="2225675" cy="695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94360" marR="5080" indent="-582295">
              <a:lnSpc>
                <a:spcPct val="100000"/>
              </a:lnSpc>
              <a:spcBef>
                <a:spcPts val="95"/>
              </a:spcBef>
            </a:pPr>
            <a:r>
              <a:rPr dirty="0" sz="2200" b="1">
                <a:solidFill>
                  <a:srgbClr val="C00000"/>
                </a:solidFill>
                <a:latin typeface="Arial"/>
                <a:cs typeface="Arial"/>
              </a:rPr>
              <a:t>System</a:t>
            </a:r>
            <a:r>
              <a:rPr dirty="0" sz="2200" spc="-7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C00000"/>
                </a:solidFill>
                <a:latin typeface="Arial"/>
                <a:cs typeface="Arial"/>
              </a:rPr>
              <a:t>Physical Address</a:t>
            </a:r>
            <a:endParaRPr sz="2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45533" y="3547109"/>
            <a:ext cx="6965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5">
                <a:solidFill>
                  <a:srgbClr val="FFFFFF"/>
                </a:solidFill>
                <a:latin typeface="Arial"/>
                <a:cs typeface="Arial"/>
              </a:rPr>
              <a:t>gPA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815584" y="3195827"/>
            <a:ext cx="3785870" cy="1156970"/>
            <a:chOff x="5815584" y="3195827"/>
            <a:chExt cx="3785870" cy="1156970"/>
          </a:xfrm>
        </p:grpSpPr>
        <p:sp>
          <p:nvSpPr>
            <p:cNvPr id="21" name="object 21"/>
            <p:cNvSpPr/>
            <p:nvPr/>
          </p:nvSpPr>
          <p:spPr>
            <a:xfrm>
              <a:off x="7873746" y="3667505"/>
              <a:ext cx="381000" cy="190500"/>
            </a:xfrm>
            <a:custGeom>
              <a:avLst/>
              <a:gdLst/>
              <a:ahLst/>
              <a:cxnLst/>
              <a:rect l="l" t="t" r="r" b="b"/>
              <a:pathLst>
                <a:path w="381000" h="190500">
                  <a:moveTo>
                    <a:pt x="285750" y="0"/>
                  </a:moveTo>
                  <a:lnTo>
                    <a:pt x="285750" y="47625"/>
                  </a:lnTo>
                  <a:lnTo>
                    <a:pt x="0" y="47625"/>
                  </a:lnTo>
                  <a:lnTo>
                    <a:pt x="0" y="142875"/>
                  </a:lnTo>
                  <a:lnTo>
                    <a:pt x="285750" y="142875"/>
                  </a:lnTo>
                  <a:lnTo>
                    <a:pt x="285750" y="190500"/>
                  </a:lnTo>
                  <a:lnTo>
                    <a:pt x="381000" y="95250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7873746" y="3667505"/>
              <a:ext cx="381000" cy="190500"/>
            </a:xfrm>
            <a:custGeom>
              <a:avLst/>
              <a:gdLst/>
              <a:ahLst/>
              <a:cxnLst/>
              <a:rect l="l" t="t" r="r" b="b"/>
              <a:pathLst>
                <a:path w="381000" h="190500">
                  <a:moveTo>
                    <a:pt x="285750" y="190500"/>
                  </a:moveTo>
                  <a:lnTo>
                    <a:pt x="285750" y="142875"/>
                  </a:lnTo>
                  <a:lnTo>
                    <a:pt x="0" y="142875"/>
                  </a:lnTo>
                  <a:lnTo>
                    <a:pt x="0" y="47625"/>
                  </a:lnTo>
                  <a:lnTo>
                    <a:pt x="285750" y="47625"/>
                  </a:lnTo>
                  <a:lnTo>
                    <a:pt x="285750" y="0"/>
                  </a:lnTo>
                  <a:lnTo>
                    <a:pt x="381000" y="95250"/>
                  </a:lnTo>
                  <a:lnTo>
                    <a:pt x="285750" y="190500"/>
                  </a:lnTo>
                  <a:close/>
                </a:path>
              </a:pathLst>
            </a:custGeom>
            <a:ln w="254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15584" y="3195827"/>
              <a:ext cx="2133600" cy="1156716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8254746" y="3286505"/>
              <a:ext cx="1333500" cy="990600"/>
            </a:xfrm>
            <a:custGeom>
              <a:avLst/>
              <a:gdLst/>
              <a:ahLst/>
              <a:cxnLst/>
              <a:rect l="l" t="t" r="r" b="b"/>
              <a:pathLst>
                <a:path w="1333500" h="990600">
                  <a:moveTo>
                    <a:pt x="666750" y="0"/>
                  </a:moveTo>
                  <a:lnTo>
                    <a:pt x="612074" y="1641"/>
                  </a:lnTo>
                  <a:lnTo>
                    <a:pt x="558614" y="6482"/>
                  </a:lnTo>
                  <a:lnTo>
                    <a:pt x="506542" y="14394"/>
                  </a:lnTo>
                  <a:lnTo>
                    <a:pt x="456029" y="25249"/>
                  </a:lnTo>
                  <a:lnTo>
                    <a:pt x="407247" y="38921"/>
                  </a:lnTo>
                  <a:lnTo>
                    <a:pt x="360367" y="55282"/>
                  </a:lnTo>
                  <a:lnTo>
                    <a:pt x="315562" y="74204"/>
                  </a:lnTo>
                  <a:lnTo>
                    <a:pt x="273003" y="95560"/>
                  </a:lnTo>
                  <a:lnTo>
                    <a:pt x="232861" y="119223"/>
                  </a:lnTo>
                  <a:lnTo>
                    <a:pt x="195310" y="145065"/>
                  </a:lnTo>
                  <a:lnTo>
                    <a:pt x="160519" y="172959"/>
                  </a:lnTo>
                  <a:lnTo>
                    <a:pt x="128662" y="202777"/>
                  </a:lnTo>
                  <a:lnTo>
                    <a:pt x="99909" y="234392"/>
                  </a:lnTo>
                  <a:lnTo>
                    <a:pt x="74433" y="267676"/>
                  </a:lnTo>
                  <a:lnTo>
                    <a:pt x="52405" y="302502"/>
                  </a:lnTo>
                  <a:lnTo>
                    <a:pt x="33997" y="338742"/>
                  </a:lnTo>
                  <a:lnTo>
                    <a:pt x="19381" y="376269"/>
                  </a:lnTo>
                  <a:lnTo>
                    <a:pt x="8728" y="414957"/>
                  </a:lnTo>
                  <a:lnTo>
                    <a:pt x="2210" y="454676"/>
                  </a:lnTo>
                  <a:lnTo>
                    <a:pt x="0" y="495300"/>
                  </a:lnTo>
                  <a:lnTo>
                    <a:pt x="2210" y="535923"/>
                  </a:lnTo>
                  <a:lnTo>
                    <a:pt x="8728" y="575642"/>
                  </a:lnTo>
                  <a:lnTo>
                    <a:pt x="19381" y="614330"/>
                  </a:lnTo>
                  <a:lnTo>
                    <a:pt x="33997" y="651857"/>
                  </a:lnTo>
                  <a:lnTo>
                    <a:pt x="52405" y="688097"/>
                  </a:lnTo>
                  <a:lnTo>
                    <a:pt x="74433" y="722923"/>
                  </a:lnTo>
                  <a:lnTo>
                    <a:pt x="99909" y="756207"/>
                  </a:lnTo>
                  <a:lnTo>
                    <a:pt x="128662" y="787822"/>
                  </a:lnTo>
                  <a:lnTo>
                    <a:pt x="160519" y="817640"/>
                  </a:lnTo>
                  <a:lnTo>
                    <a:pt x="195310" y="845534"/>
                  </a:lnTo>
                  <a:lnTo>
                    <a:pt x="232861" y="871376"/>
                  </a:lnTo>
                  <a:lnTo>
                    <a:pt x="273003" y="895039"/>
                  </a:lnTo>
                  <a:lnTo>
                    <a:pt x="315562" y="916395"/>
                  </a:lnTo>
                  <a:lnTo>
                    <a:pt x="360367" y="935317"/>
                  </a:lnTo>
                  <a:lnTo>
                    <a:pt x="407247" y="951678"/>
                  </a:lnTo>
                  <a:lnTo>
                    <a:pt x="456029" y="965350"/>
                  </a:lnTo>
                  <a:lnTo>
                    <a:pt x="506542" y="976205"/>
                  </a:lnTo>
                  <a:lnTo>
                    <a:pt x="558614" y="984117"/>
                  </a:lnTo>
                  <a:lnTo>
                    <a:pt x="612074" y="988958"/>
                  </a:lnTo>
                  <a:lnTo>
                    <a:pt x="666750" y="990600"/>
                  </a:lnTo>
                  <a:lnTo>
                    <a:pt x="721425" y="988958"/>
                  </a:lnTo>
                  <a:lnTo>
                    <a:pt x="774885" y="984117"/>
                  </a:lnTo>
                  <a:lnTo>
                    <a:pt x="826957" y="976205"/>
                  </a:lnTo>
                  <a:lnTo>
                    <a:pt x="877470" y="965350"/>
                  </a:lnTo>
                  <a:lnTo>
                    <a:pt x="926252" y="951678"/>
                  </a:lnTo>
                  <a:lnTo>
                    <a:pt x="973132" y="935317"/>
                  </a:lnTo>
                  <a:lnTo>
                    <a:pt x="1017937" y="916395"/>
                  </a:lnTo>
                  <a:lnTo>
                    <a:pt x="1060496" y="895039"/>
                  </a:lnTo>
                  <a:lnTo>
                    <a:pt x="1100638" y="871376"/>
                  </a:lnTo>
                  <a:lnTo>
                    <a:pt x="1138189" y="845534"/>
                  </a:lnTo>
                  <a:lnTo>
                    <a:pt x="1172980" y="817640"/>
                  </a:lnTo>
                  <a:lnTo>
                    <a:pt x="1204837" y="787822"/>
                  </a:lnTo>
                  <a:lnTo>
                    <a:pt x="1233590" y="756207"/>
                  </a:lnTo>
                  <a:lnTo>
                    <a:pt x="1259066" y="722923"/>
                  </a:lnTo>
                  <a:lnTo>
                    <a:pt x="1281094" y="688097"/>
                  </a:lnTo>
                  <a:lnTo>
                    <a:pt x="1299502" y="651857"/>
                  </a:lnTo>
                  <a:lnTo>
                    <a:pt x="1314118" y="614330"/>
                  </a:lnTo>
                  <a:lnTo>
                    <a:pt x="1324771" y="575642"/>
                  </a:lnTo>
                  <a:lnTo>
                    <a:pt x="1331289" y="535923"/>
                  </a:lnTo>
                  <a:lnTo>
                    <a:pt x="1333500" y="495300"/>
                  </a:lnTo>
                  <a:lnTo>
                    <a:pt x="1331289" y="454676"/>
                  </a:lnTo>
                  <a:lnTo>
                    <a:pt x="1324771" y="414957"/>
                  </a:lnTo>
                  <a:lnTo>
                    <a:pt x="1314118" y="376269"/>
                  </a:lnTo>
                  <a:lnTo>
                    <a:pt x="1299502" y="338742"/>
                  </a:lnTo>
                  <a:lnTo>
                    <a:pt x="1281094" y="302502"/>
                  </a:lnTo>
                  <a:lnTo>
                    <a:pt x="1259066" y="267676"/>
                  </a:lnTo>
                  <a:lnTo>
                    <a:pt x="1233590" y="234392"/>
                  </a:lnTo>
                  <a:lnTo>
                    <a:pt x="1204837" y="202777"/>
                  </a:lnTo>
                  <a:lnTo>
                    <a:pt x="1172980" y="172959"/>
                  </a:lnTo>
                  <a:lnTo>
                    <a:pt x="1138189" y="145065"/>
                  </a:lnTo>
                  <a:lnTo>
                    <a:pt x="1100638" y="119223"/>
                  </a:lnTo>
                  <a:lnTo>
                    <a:pt x="1060496" y="95560"/>
                  </a:lnTo>
                  <a:lnTo>
                    <a:pt x="1017937" y="74204"/>
                  </a:lnTo>
                  <a:lnTo>
                    <a:pt x="973132" y="55282"/>
                  </a:lnTo>
                  <a:lnTo>
                    <a:pt x="926252" y="38921"/>
                  </a:lnTo>
                  <a:lnTo>
                    <a:pt x="877470" y="25249"/>
                  </a:lnTo>
                  <a:lnTo>
                    <a:pt x="826957" y="14394"/>
                  </a:lnTo>
                  <a:lnTo>
                    <a:pt x="774885" y="6482"/>
                  </a:lnTo>
                  <a:lnTo>
                    <a:pt x="721425" y="1641"/>
                  </a:lnTo>
                  <a:lnTo>
                    <a:pt x="666750" y="0"/>
                  </a:lnTo>
                  <a:close/>
                </a:path>
              </a:pathLst>
            </a:custGeom>
            <a:solidFill>
              <a:srgbClr val="0C0C0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8254746" y="3286505"/>
              <a:ext cx="1333500" cy="990600"/>
            </a:xfrm>
            <a:custGeom>
              <a:avLst/>
              <a:gdLst/>
              <a:ahLst/>
              <a:cxnLst/>
              <a:rect l="l" t="t" r="r" b="b"/>
              <a:pathLst>
                <a:path w="1333500" h="990600">
                  <a:moveTo>
                    <a:pt x="0" y="495300"/>
                  </a:moveTo>
                  <a:lnTo>
                    <a:pt x="2210" y="454676"/>
                  </a:lnTo>
                  <a:lnTo>
                    <a:pt x="8728" y="414957"/>
                  </a:lnTo>
                  <a:lnTo>
                    <a:pt x="19381" y="376269"/>
                  </a:lnTo>
                  <a:lnTo>
                    <a:pt x="33997" y="338742"/>
                  </a:lnTo>
                  <a:lnTo>
                    <a:pt x="52405" y="302502"/>
                  </a:lnTo>
                  <a:lnTo>
                    <a:pt x="74433" y="267676"/>
                  </a:lnTo>
                  <a:lnTo>
                    <a:pt x="99909" y="234392"/>
                  </a:lnTo>
                  <a:lnTo>
                    <a:pt x="128662" y="202777"/>
                  </a:lnTo>
                  <a:lnTo>
                    <a:pt x="160519" y="172959"/>
                  </a:lnTo>
                  <a:lnTo>
                    <a:pt x="195310" y="145065"/>
                  </a:lnTo>
                  <a:lnTo>
                    <a:pt x="232861" y="119223"/>
                  </a:lnTo>
                  <a:lnTo>
                    <a:pt x="273003" y="95560"/>
                  </a:lnTo>
                  <a:lnTo>
                    <a:pt x="315562" y="74204"/>
                  </a:lnTo>
                  <a:lnTo>
                    <a:pt x="360367" y="55282"/>
                  </a:lnTo>
                  <a:lnTo>
                    <a:pt x="407247" y="38921"/>
                  </a:lnTo>
                  <a:lnTo>
                    <a:pt x="456029" y="25249"/>
                  </a:lnTo>
                  <a:lnTo>
                    <a:pt x="506542" y="14394"/>
                  </a:lnTo>
                  <a:lnTo>
                    <a:pt x="558614" y="6482"/>
                  </a:lnTo>
                  <a:lnTo>
                    <a:pt x="612074" y="1641"/>
                  </a:lnTo>
                  <a:lnTo>
                    <a:pt x="666750" y="0"/>
                  </a:lnTo>
                  <a:lnTo>
                    <a:pt x="721425" y="1641"/>
                  </a:lnTo>
                  <a:lnTo>
                    <a:pt x="774885" y="6482"/>
                  </a:lnTo>
                  <a:lnTo>
                    <a:pt x="826957" y="14394"/>
                  </a:lnTo>
                  <a:lnTo>
                    <a:pt x="877470" y="25249"/>
                  </a:lnTo>
                  <a:lnTo>
                    <a:pt x="926252" y="38921"/>
                  </a:lnTo>
                  <a:lnTo>
                    <a:pt x="973132" y="55282"/>
                  </a:lnTo>
                  <a:lnTo>
                    <a:pt x="1017937" y="74204"/>
                  </a:lnTo>
                  <a:lnTo>
                    <a:pt x="1060496" y="95560"/>
                  </a:lnTo>
                  <a:lnTo>
                    <a:pt x="1100638" y="119223"/>
                  </a:lnTo>
                  <a:lnTo>
                    <a:pt x="1138189" y="145065"/>
                  </a:lnTo>
                  <a:lnTo>
                    <a:pt x="1172980" y="172959"/>
                  </a:lnTo>
                  <a:lnTo>
                    <a:pt x="1204837" y="202777"/>
                  </a:lnTo>
                  <a:lnTo>
                    <a:pt x="1233590" y="234392"/>
                  </a:lnTo>
                  <a:lnTo>
                    <a:pt x="1259066" y="267676"/>
                  </a:lnTo>
                  <a:lnTo>
                    <a:pt x="1281094" y="302502"/>
                  </a:lnTo>
                  <a:lnTo>
                    <a:pt x="1299502" y="338742"/>
                  </a:lnTo>
                  <a:lnTo>
                    <a:pt x="1314118" y="376269"/>
                  </a:lnTo>
                  <a:lnTo>
                    <a:pt x="1324771" y="414957"/>
                  </a:lnTo>
                  <a:lnTo>
                    <a:pt x="1331289" y="454676"/>
                  </a:lnTo>
                  <a:lnTo>
                    <a:pt x="1333500" y="495300"/>
                  </a:lnTo>
                  <a:lnTo>
                    <a:pt x="1331289" y="535923"/>
                  </a:lnTo>
                  <a:lnTo>
                    <a:pt x="1324771" y="575642"/>
                  </a:lnTo>
                  <a:lnTo>
                    <a:pt x="1314118" y="614330"/>
                  </a:lnTo>
                  <a:lnTo>
                    <a:pt x="1299502" y="651857"/>
                  </a:lnTo>
                  <a:lnTo>
                    <a:pt x="1281094" y="688097"/>
                  </a:lnTo>
                  <a:lnTo>
                    <a:pt x="1259066" y="722923"/>
                  </a:lnTo>
                  <a:lnTo>
                    <a:pt x="1233590" y="756207"/>
                  </a:lnTo>
                  <a:lnTo>
                    <a:pt x="1204837" y="787822"/>
                  </a:lnTo>
                  <a:lnTo>
                    <a:pt x="1172980" y="817640"/>
                  </a:lnTo>
                  <a:lnTo>
                    <a:pt x="1138189" y="845534"/>
                  </a:lnTo>
                  <a:lnTo>
                    <a:pt x="1100638" y="871376"/>
                  </a:lnTo>
                  <a:lnTo>
                    <a:pt x="1060496" y="895039"/>
                  </a:lnTo>
                  <a:lnTo>
                    <a:pt x="1017937" y="916395"/>
                  </a:lnTo>
                  <a:lnTo>
                    <a:pt x="973132" y="935317"/>
                  </a:lnTo>
                  <a:lnTo>
                    <a:pt x="926252" y="951678"/>
                  </a:lnTo>
                  <a:lnTo>
                    <a:pt x="877470" y="965350"/>
                  </a:lnTo>
                  <a:lnTo>
                    <a:pt x="826957" y="976205"/>
                  </a:lnTo>
                  <a:lnTo>
                    <a:pt x="774885" y="984117"/>
                  </a:lnTo>
                  <a:lnTo>
                    <a:pt x="721425" y="988958"/>
                  </a:lnTo>
                  <a:lnTo>
                    <a:pt x="666750" y="990600"/>
                  </a:lnTo>
                  <a:lnTo>
                    <a:pt x="612074" y="988958"/>
                  </a:lnTo>
                  <a:lnTo>
                    <a:pt x="558614" y="984117"/>
                  </a:lnTo>
                  <a:lnTo>
                    <a:pt x="506542" y="976205"/>
                  </a:lnTo>
                  <a:lnTo>
                    <a:pt x="456029" y="965350"/>
                  </a:lnTo>
                  <a:lnTo>
                    <a:pt x="407247" y="951678"/>
                  </a:lnTo>
                  <a:lnTo>
                    <a:pt x="360367" y="935317"/>
                  </a:lnTo>
                  <a:lnTo>
                    <a:pt x="315562" y="916395"/>
                  </a:lnTo>
                  <a:lnTo>
                    <a:pt x="273003" y="895039"/>
                  </a:lnTo>
                  <a:lnTo>
                    <a:pt x="232861" y="871376"/>
                  </a:lnTo>
                  <a:lnTo>
                    <a:pt x="195310" y="845534"/>
                  </a:lnTo>
                  <a:lnTo>
                    <a:pt x="160519" y="817640"/>
                  </a:lnTo>
                  <a:lnTo>
                    <a:pt x="128662" y="787822"/>
                  </a:lnTo>
                  <a:lnTo>
                    <a:pt x="99909" y="756207"/>
                  </a:lnTo>
                  <a:lnTo>
                    <a:pt x="74433" y="722923"/>
                  </a:lnTo>
                  <a:lnTo>
                    <a:pt x="52405" y="688097"/>
                  </a:lnTo>
                  <a:lnTo>
                    <a:pt x="33997" y="651857"/>
                  </a:lnTo>
                  <a:lnTo>
                    <a:pt x="19381" y="614330"/>
                  </a:lnTo>
                  <a:lnTo>
                    <a:pt x="8728" y="575642"/>
                  </a:lnTo>
                  <a:lnTo>
                    <a:pt x="2210" y="535923"/>
                  </a:lnTo>
                  <a:lnTo>
                    <a:pt x="0" y="495300"/>
                  </a:lnTo>
                  <a:close/>
                </a:path>
              </a:pathLst>
            </a:custGeom>
            <a:ln w="254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8582406" y="3547109"/>
            <a:ext cx="67691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5">
                <a:solidFill>
                  <a:srgbClr val="FFFFFF"/>
                </a:solidFill>
                <a:latin typeface="Arial"/>
                <a:cs typeface="Arial"/>
              </a:rPr>
              <a:t>sPA</a:t>
            </a:r>
            <a:endParaRPr sz="2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300985" y="4379214"/>
            <a:ext cx="1501140" cy="695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95"/>
              </a:spcBef>
            </a:pPr>
            <a:r>
              <a:rPr dirty="0" sz="2200" spc="-10" b="1">
                <a:solidFill>
                  <a:srgbClr val="C00000"/>
                </a:solidFill>
                <a:latin typeface="Arial"/>
                <a:cs typeface="Arial"/>
              </a:rPr>
              <a:t>Guest</a:t>
            </a:r>
            <a:endParaRPr sz="2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2200" b="1">
                <a:solidFill>
                  <a:srgbClr val="C00000"/>
                </a:solidFill>
                <a:latin typeface="Arial"/>
                <a:cs typeface="Arial"/>
              </a:rPr>
              <a:t>Page</a:t>
            </a:r>
            <a:r>
              <a:rPr dirty="0" sz="2200" spc="-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C00000"/>
                </a:solidFill>
                <a:latin typeface="Arial"/>
                <a:cs typeface="Arial"/>
              </a:rPr>
              <a:t>Table</a:t>
            </a:r>
            <a:endParaRPr sz="22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021451" y="4379214"/>
            <a:ext cx="1684655" cy="695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10" b="1">
                <a:solidFill>
                  <a:srgbClr val="C00000"/>
                </a:solidFill>
                <a:latin typeface="Arial"/>
                <a:cs typeface="Arial"/>
              </a:rPr>
              <a:t>Host/system</a:t>
            </a:r>
            <a:endParaRPr sz="2200">
              <a:latin typeface="Arial"/>
              <a:cs typeface="Arial"/>
            </a:endParaRPr>
          </a:p>
          <a:p>
            <a:pPr marL="102235">
              <a:lnSpc>
                <a:spcPct val="100000"/>
              </a:lnSpc>
            </a:pPr>
            <a:r>
              <a:rPr dirty="0" sz="2200" b="1">
                <a:solidFill>
                  <a:srgbClr val="C00000"/>
                </a:solidFill>
                <a:latin typeface="Arial"/>
                <a:cs typeface="Arial"/>
              </a:rPr>
              <a:t>Page</a:t>
            </a:r>
            <a:r>
              <a:rPr dirty="0" sz="2200" spc="-4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C00000"/>
                </a:solidFill>
                <a:latin typeface="Arial"/>
                <a:cs typeface="Arial"/>
              </a:rPr>
              <a:t>Table</a:t>
            </a:r>
            <a:endParaRPr sz="22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72541" y="6012281"/>
            <a:ext cx="1083818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Calibri"/>
                <a:cs typeface="Calibri"/>
              </a:rPr>
              <a:t>Two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levels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address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translation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each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memory access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by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application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running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inside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VM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32343" y="0"/>
            <a:ext cx="754907" cy="139051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484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350"/>
              </a:spcBef>
            </a:pP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Implementing</a:t>
            </a:r>
            <a:r>
              <a:rPr dirty="0" sz="2200" spc="-5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two</a:t>
            </a:r>
            <a:r>
              <a:rPr dirty="0" sz="2200" spc="-7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level</a:t>
            </a:r>
            <a:r>
              <a:rPr dirty="0" sz="2200" spc="-7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address</a:t>
            </a:r>
            <a:r>
              <a:rPr dirty="0" sz="2200" spc="-6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C55A11"/>
                </a:solidFill>
                <a:latin typeface="Arial"/>
                <a:cs typeface="Arial"/>
              </a:rPr>
              <a:t>translation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48767" y="1300733"/>
            <a:ext cx="11369675" cy="4433570"/>
          </a:xfrm>
          <a:prstGeom prst="rect">
            <a:avLst/>
          </a:prstGeom>
        </p:spPr>
        <p:txBody>
          <a:bodyPr wrap="square" lIns="0" tIns="16192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275"/>
              </a:spcBef>
              <a:buClr>
                <a:srgbClr val="000000"/>
              </a:buClr>
              <a:buSzPct val="75000"/>
              <a:buFont typeface="Arial"/>
              <a:buChar char="•"/>
              <a:tabLst>
                <a:tab pos="354965" algn="l"/>
              </a:tabLst>
            </a:pPr>
            <a:r>
              <a:rPr dirty="0" sz="2400" b="1">
                <a:solidFill>
                  <a:srgbClr val="006FC0"/>
                </a:solidFill>
                <a:latin typeface="Calibri"/>
                <a:cs typeface="Calibri"/>
              </a:rPr>
              <a:t>Shadow</a:t>
            </a:r>
            <a:r>
              <a:rPr dirty="0" sz="2400" spc="-10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006FC0"/>
                </a:solidFill>
                <a:latin typeface="Calibri"/>
                <a:cs typeface="Calibri"/>
              </a:rPr>
              <a:t>page</a:t>
            </a:r>
            <a:r>
              <a:rPr dirty="0" sz="2400" spc="-9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 spc="-20" b="1">
                <a:solidFill>
                  <a:srgbClr val="006FC0"/>
                </a:solidFill>
                <a:latin typeface="Calibri"/>
                <a:cs typeface="Calibri"/>
              </a:rPr>
              <a:t>table</a:t>
            </a:r>
            <a:endParaRPr sz="2400">
              <a:latin typeface="Calibri"/>
              <a:cs typeface="Calibri"/>
            </a:endParaRPr>
          </a:p>
          <a:p>
            <a:pPr lvl="1" marL="812800" marR="5080" indent="-342900">
              <a:lnSpc>
                <a:spcPct val="120000"/>
              </a:lnSpc>
              <a:spcBef>
                <a:spcPts val="600"/>
              </a:spcBef>
              <a:buSzPct val="75000"/>
              <a:buFont typeface="Arial"/>
              <a:buChar char="•"/>
              <a:tabLst>
                <a:tab pos="812800" algn="l"/>
              </a:tabLst>
            </a:pPr>
            <a:r>
              <a:rPr dirty="0" sz="2400">
                <a:latin typeface="Calibri"/>
                <a:cs typeface="Calibri"/>
              </a:rPr>
              <a:t>Each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page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table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guest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separate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page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table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VMM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corresponding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it,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VMM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page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table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called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shadow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page</a:t>
            </a:r>
            <a:r>
              <a:rPr dirty="0" sz="2400" spc="-10">
                <a:latin typeface="Calibri"/>
                <a:cs typeface="Calibri"/>
              </a:rPr>
              <a:t> table.</a:t>
            </a:r>
            <a:endParaRPr sz="2400">
              <a:latin typeface="Calibri"/>
              <a:cs typeface="Calibri"/>
            </a:endParaRPr>
          </a:p>
          <a:p>
            <a:pPr lvl="1" marL="812800" marR="408940" indent="-342900">
              <a:lnSpc>
                <a:spcPct val="120000"/>
              </a:lnSpc>
              <a:spcBef>
                <a:spcPts val="600"/>
              </a:spcBef>
              <a:buSzPct val="75000"/>
              <a:buFont typeface="Arial"/>
              <a:buChar char="•"/>
              <a:tabLst>
                <a:tab pos="812800" algn="l"/>
              </a:tabLst>
            </a:pPr>
            <a:r>
              <a:rPr dirty="0" sz="2400">
                <a:latin typeface="Calibri"/>
                <a:cs typeface="Calibri"/>
              </a:rPr>
              <a:t>Shadow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paging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was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developed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 b="1" i="1">
                <a:solidFill>
                  <a:srgbClr val="C00000"/>
                </a:solidFill>
                <a:latin typeface="Calibri"/>
                <a:cs typeface="Calibri"/>
              </a:rPr>
              <a:t>software-</a:t>
            </a:r>
            <a:r>
              <a:rPr dirty="0" sz="2400" b="1" i="1">
                <a:solidFill>
                  <a:srgbClr val="C00000"/>
                </a:solidFill>
                <a:latin typeface="Calibri"/>
                <a:cs typeface="Calibri"/>
              </a:rPr>
              <a:t>only</a:t>
            </a:r>
            <a:r>
              <a:rPr dirty="0" sz="2400" spc="-25" b="1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 i="1">
                <a:solidFill>
                  <a:srgbClr val="C00000"/>
                </a:solidFill>
                <a:latin typeface="Calibri"/>
                <a:cs typeface="Calibri"/>
              </a:rPr>
              <a:t>technique</a:t>
            </a:r>
            <a:r>
              <a:rPr dirty="0" sz="2400" spc="-35" b="1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virtualize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memory </a:t>
            </a:r>
            <a:r>
              <a:rPr dirty="0" sz="2400">
                <a:latin typeface="Calibri"/>
                <a:cs typeface="Calibri"/>
              </a:rPr>
              <a:t>before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hardware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support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was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implemented.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180"/>
              </a:spcBef>
              <a:buClr>
                <a:srgbClr val="000000"/>
              </a:buClr>
              <a:buSzPct val="75000"/>
              <a:buFont typeface="Arial"/>
              <a:buChar char="•"/>
              <a:tabLst>
                <a:tab pos="354965" algn="l"/>
              </a:tabLst>
            </a:pPr>
            <a:r>
              <a:rPr dirty="0" sz="2400" spc="-10" b="1">
                <a:solidFill>
                  <a:srgbClr val="006FC0"/>
                </a:solidFill>
                <a:latin typeface="Calibri"/>
                <a:cs typeface="Calibri"/>
              </a:rPr>
              <a:t>Nested/Extended</a:t>
            </a:r>
            <a:r>
              <a:rPr dirty="0" sz="2400" spc="-4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006FC0"/>
                </a:solidFill>
                <a:latin typeface="Calibri"/>
                <a:cs typeface="Calibri"/>
              </a:rPr>
              <a:t>page</a:t>
            </a:r>
            <a:r>
              <a:rPr dirty="0" sz="2400" spc="-5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006FC0"/>
                </a:solidFill>
                <a:latin typeface="Calibri"/>
                <a:cs typeface="Calibri"/>
              </a:rPr>
              <a:t>table</a:t>
            </a:r>
            <a:endParaRPr sz="2400">
              <a:latin typeface="Calibri"/>
              <a:cs typeface="Calibri"/>
            </a:endParaRPr>
          </a:p>
          <a:p>
            <a:pPr lvl="1" marL="812165" indent="-342265">
              <a:lnSpc>
                <a:spcPct val="100000"/>
              </a:lnSpc>
              <a:spcBef>
                <a:spcPts val="1175"/>
              </a:spcBef>
              <a:buClr>
                <a:srgbClr val="000000"/>
              </a:buClr>
              <a:buSzPct val="75000"/>
              <a:buFont typeface="Arial"/>
              <a:buChar char="•"/>
              <a:tabLst>
                <a:tab pos="812165" algn="l"/>
              </a:tabLst>
            </a:pPr>
            <a:r>
              <a:rPr dirty="0" sz="2400" b="1" i="1">
                <a:solidFill>
                  <a:srgbClr val="C00000"/>
                </a:solidFill>
                <a:latin typeface="Calibri"/>
                <a:cs typeface="Calibri"/>
              </a:rPr>
              <a:t>Hardware</a:t>
            </a:r>
            <a:r>
              <a:rPr dirty="0" sz="2400" spc="-40" b="1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 i="1">
                <a:solidFill>
                  <a:srgbClr val="C00000"/>
                </a:solidFill>
                <a:latin typeface="Calibri"/>
                <a:cs typeface="Calibri"/>
              </a:rPr>
              <a:t>supported</a:t>
            </a:r>
            <a:r>
              <a:rPr dirty="0" sz="2400" spc="-20" b="1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 i="1">
                <a:solidFill>
                  <a:srgbClr val="C00000"/>
                </a:solidFill>
                <a:latin typeface="Calibri"/>
                <a:cs typeface="Calibri"/>
              </a:rPr>
              <a:t>technique</a:t>
            </a:r>
            <a:endParaRPr sz="2400">
              <a:latin typeface="Calibri"/>
              <a:cs typeface="Calibri"/>
            </a:endParaRPr>
          </a:p>
          <a:p>
            <a:pPr lvl="1" marL="812800" marR="105410" indent="-342900">
              <a:lnSpc>
                <a:spcPct val="120000"/>
              </a:lnSpc>
              <a:spcBef>
                <a:spcPts val="600"/>
              </a:spcBef>
              <a:buSzPct val="75000"/>
              <a:buFont typeface="Arial"/>
              <a:buChar char="•"/>
              <a:tabLst>
                <a:tab pos="812800" algn="l"/>
              </a:tabLst>
            </a:pP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additional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page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table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up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by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hypervisor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perform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second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level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address translation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32343" y="0"/>
            <a:ext cx="754907" cy="139051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484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350"/>
              </a:spcBef>
            </a:pP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Shadow</a:t>
            </a:r>
            <a:r>
              <a:rPr dirty="0" sz="2200" spc="-6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page</a:t>
            </a:r>
            <a:r>
              <a:rPr dirty="0" sz="2200" spc="-6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C55A11"/>
                </a:solidFill>
                <a:latin typeface="Arial"/>
                <a:cs typeface="Arial"/>
              </a:rPr>
              <a:t>table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85368" y="1521320"/>
            <a:ext cx="11369675" cy="3556635"/>
          </a:xfrm>
          <a:prstGeom prst="rect">
            <a:avLst/>
          </a:prstGeom>
        </p:spPr>
        <p:txBody>
          <a:bodyPr wrap="square" lIns="0" tIns="16256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280"/>
              </a:spcBef>
              <a:buSzPct val="75000"/>
              <a:buFont typeface="Arial"/>
              <a:buChar char="•"/>
              <a:tabLst>
                <a:tab pos="354965" algn="l"/>
              </a:tabLst>
            </a:pPr>
            <a:r>
              <a:rPr dirty="0" sz="2400" b="1">
                <a:latin typeface="Calibri"/>
                <a:cs typeface="Calibri"/>
              </a:rPr>
              <a:t>Idea</a:t>
            </a:r>
            <a:r>
              <a:rPr dirty="0" sz="2400">
                <a:latin typeface="Calibri"/>
                <a:cs typeface="Calibri"/>
              </a:rPr>
              <a:t>: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Let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hypervisor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“create”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shadow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page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table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maps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guest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VA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host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directly</a:t>
            </a:r>
            <a:endParaRPr sz="2400">
              <a:latin typeface="Calibri"/>
              <a:cs typeface="Calibri"/>
            </a:endParaRPr>
          </a:p>
          <a:p>
            <a:pPr lvl="1" marL="812165" indent="-342900">
              <a:lnSpc>
                <a:spcPct val="100000"/>
              </a:lnSpc>
              <a:spcBef>
                <a:spcPts val="1180"/>
              </a:spcBef>
              <a:buSzPct val="75000"/>
              <a:buFont typeface="Arial"/>
              <a:buChar char="•"/>
              <a:tabLst>
                <a:tab pos="812165" algn="l"/>
              </a:tabLst>
            </a:pPr>
            <a:r>
              <a:rPr dirty="0" sz="2400">
                <a:latin typeface="Calibri"/>
                <a:cs typeface="Calibri"/>
              </a:rPr>
              <a:t>Made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by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combining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guest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page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table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system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page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table</a:t>
            </a:r>
            <a:endParaRPr sz="2400">
              <a:latin typeface="Calibri"/>
              <a:cs typeface="Calibri"/>
            </a:endParaRPr>
          </a:p>
          <a:p>
            <a:pPr lvl="1" marL="812165" indent="-342900">
              <a:lnSpc>
                <a:spcPct val="100000"/>
              </a:lnSpc>
              <a:spcBef>
                <a:spcPts val="1175"/>
              </a:spcBef>
              <a:buSzPct val="75000"/>
              <a:buFont typeface="Arial"/>
              <a:buChar char="•"/>
              <a:tabLst>
                <a:tab pos="812165" algn="l"/>
              </a:tabLst>
            </a:pPr>
            <a:r>
              <a:rPr dirty="0" sz="2400">
                <a:latin typeface="Calibri"/>
                <a:cs typeface="Calibri"/>
              </a:rPr>
              <a:t>Hypervisor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makes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cr3</a:t>
            </a:r>
            <a:r>
              <a:rPr dirty="0" sz="2400" spc="-40" i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point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shadow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page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table</a:t>
            </a:r>
            <a:endParaRPr sz="2400">
              <a:latin typeface="Calibri"/>
              <a:cs typeface="Calibri"/>
            </a:endParaRPr>
          </a:p>
          <a:p>
            <a:pPr lvl="1" marL="812165" indent="-342900">
              <a:lnSpc>
                <a:spcPct val="100000"/>
              </a:lnSpc>
              <a:spcBef>
                <a:spcPts val="1175"/>
              </a:spcBef>
              <a:buSzPct val="75000"/>
              <a:buFont typeface="Arial"/>
              <a:buChar char="•"/>
              <a:tabLst>
                <a:tab pos="812165" algn="l"/>
              </a:tabLst>
            </a:pP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hardware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software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page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table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walker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(PTW)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walks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shadow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page</a:t>
            </a:r>
            <a:r>
              <a:rPr dirty="0" sz="2400" spc="-10">
                <a:latin typeface="Calibri"/>
                <a:cs typeface="Calibri"/>
              </a:rPr>
              <a:t> table</a:t>
            </a:r>
            <a:endParaRPr sz="2400">
              <a:latin typeface="Calibri"/>
              <a:cs typeface="Calibri"/>
            </a:endParaRPr>
          </a:p>
          <a:p>
            <a:pPr lvl="1" marL="812165" indent="-342900">
              <a:lnSpc>
                <a:spcPct val="100000"/>
              </a:lnSpc>
              <a:spcBef>
                <a:spcPts val="1180"/>
              </a:spcBef>
              <a:buSzPct val="75000"/>
              <a:buFont typeface="Arial"/>
              <a:buChar char="•"/>
              <a:tabLst>
                <a:tab pos="812165" algn="l"/>
              </a:tabLst>
            </a:pPr>
            <a:r>
              <a:rPr dirty="0" sz="2400">
                <a:latin typeface="Calibri"/>
                <a:cs typeface="Calibri"/>
              </a:rPr>
              <a:t>Control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Register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CR3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points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root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page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table</a:t>
            </a:r>
            <a:endParaRPr sz="2400">
              <a:latin typeface="Calibri"/>
              <a:cs typeface="Calibri"/>
            </a:endParaRPr>
          </a:p>
          <a:p>
            <a:pPr lvl="1" marL="812165" marR="803910" indent="-342900">
              <a:lnSpc>
                <a:spcPct val="120000"/>
              </a:lnSpc>
              <a:spcBef>
                <a:spcPts val="600"/>
              </a:spcBef>
              <a:buSzPct val="75000"/>
              <a:buFont typeface="Arial"/>
              <a:buChar char="•"/>
              <a:tabLst>
                <a:tab pos="812165" algn="l"/>
              </a:tabLst>
            </a:pPr>
            <a:r>
              <a:rPr dirty="0" sz="2400">
                <a:latin typeface="Calibri"/>
                <a:cs typeface="Calibri"/>
              </a:rPr>
              <a:t>Translation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from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Virtual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Page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Number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(VPN)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Physical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page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frame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number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or </a:t>
            </a:r>
            <a:r>
              <a:rPr dirty="0" sz="2400">
                <a:latin typeface="Calibri"/>
                <a:cs typeface="Calibri"/>
              </a:rPr>
              <a:t>fault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occurs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9942" y="5881522"/>
            <a:ext cx="47345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Calibri"/>
                <a:cs typeface="Calibri"/>
              </a:rPr>
              <a:t>Ref</a:t>
            </a:r>
            <a:r>
              <a:rPr dirty="0" sz="1400">
                <a:latin typeface="Arial"/>
                <a:cs typeface="Arial"/>
              </a:rPr>
              <a:t>: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  <a:hlinkClick r:id="rId3"/>
              </a:rPr>
              <a:t>https://www.cse.iitk.ac.in/users/biswap/CASS18/VM.pdf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32343" y="0"/>
            <a:ext cx="754907" cy="139051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484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350"/>
              </a:spcBef>
            </a:pP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Shadow</a:t>
            </a:r>
            <a:r>
              <a:rPr dirty="0" sz="2200" spc="-6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page</a:t>
            </a:r>
            <a:r>
              <a:rPr dirty="0" sz="2200" spc="-6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C55A11"/>
                </a:solidFill>
                <a:latin typeface="Arial"/>
                <a:cs typeface="Arial"/>
              </a:rPr>
              <a:t>table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2890" y="1317497"/>
            <a:ext cx="8299450" cy="0"/>
          </a:xfrm>
          <a:custGeom>
            <a:avLst/>
            <a:gdLst/>
            <a:ahLst/>
            <a:cxnLst/>
            <a:rect l="l" t="t" r="r" b="b"/>
            <a:pathLst>
              <a:path w="8299450" h="0">
                <a:moveTo>
                  <a:pt x="0" y="0"/>
                </a:moveTo>
                <a:lnTo>
                  <a:pt x="8299450" y="0"/>
                </a:lnTo>
              </a:path>
            </a:pathLst>
          </a:custGeom>
          <a:ln w="38100">
            <a:solidFill>
              <a:srgbClr val="C55A11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1" name="object 31"/>
          <p:cNvGrpSpPr/>
          <p:nvPr/>
        </p:nvGrpSpPr>
        <p:grpSpPr>
          <a:xfrm>
            <a:off x="2625851" y="2218969"/>
            <a:ext cx="615950" cy="721360"/>
            <a:chOff x="2625851" y="2218969"/>
            <a:chExt cx="615950" cy="721360"/>
          </a:xfrm>
        </p:grpSpPr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70022" y="2270683"/>
              <a:ext cx="528854" cy="52593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25851" y="2218969"/>
              <a:ext cx="615708" cy="72082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08147" y="2289048"/>
              <a:ext cx="457200" cy="454151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2708147" y="2289048"/>
              <a:ext cx="457200" cy="454659"/>
            </a:xfrm>
            <a:custGeom>
              <a:avLst/>
              <a:gdLst/>
              <a:ahLst/>
              <a:cxnLst/>
              <a:rect l="l" t="t" r="r" b="b"/>
              <a:pathLst>
                <a:path w="457200" h="454660">
                  <a:moveTo>
                    <a:pt x="0" y="227075"/>
                  </a:moveTo>
                  <a:lnTo>
                    <a:pt x="4644" y="181329"/>
                  </a:lnTo>
                  <a:lnTo>
                    <a:pt x="17966" y="138713"/>
                  </a:lnTo>
                  <a:lnTo>
                    <a:pt x="39045" y="100142"/>
                  </a:lnTo>
                  <a:lnTo>
                    <a:pt x="66960" y="66532"/>
                  </a:lnTo>
                  <a:lnTo>
                    <a:pt x="100793" y="38797"/>
                  </a:lnTo>
                  <a:lnTo>
                    <a:pt x="139624" y="17853"/>
                  </a:lnTo>
                  <a:lnTo>
                    <a:pt x="182533" y="4615"/>
                  </a:lnTo>
                  <a:lnTo>
                    <a:pt x="228600" y="0"/>
                  </a:lnTo>
                  <a:lnTo>
                    <a:pt x="274666" y="4615"/>
                  </a:lnTo>
                  <a:lnTo>
                    <a:pt x="317575" y="17853"/>
                  </a:lnTo>
                  <a:lnTo>
                    <a:pt x="356406" y="38797"/>
                  </a:lnTo>
                  <a:lnTo>
                    <a:pt x="390239" y="66532"/>
                  </a:lnTo>
                  <a:lnTo>
                    <a:pt x="418154" y="100142"/>
                  </a:lnTo>
                  <a:lnTo>
                    <a:pt x="439233" y="138713"/>
                  </a:lnTo>
                  <a:lnTo>
                    <a:pt x="452555" y="181329"/>
                  </a:lnTo>
                  <a:lnTo>
                    <a:pt x="457200" y="227075"/>
                  </a:lnTo>
                  <a:lnTo>
                    <a:pt x="452555" y="272822"/>
                  </a:lnTo>
                  <a:lnTo>
                    <a:pt x="439233" y="315438"/>
                  </a:lnTo>
                  <a:lnTo>
                    <a:pt x="418154" y="354009"/>
                  </a:lnTo>
                  <a:lnTo>
                    <a:pt x="390239" y="387619"/>
                  </a:lnTo>
                  <a:lnTo>
                    <a:pt x="356406" y="415354"/>
                  </a:lnTo>
                  <a:lnTo>
                    <a:pt x="317575" y="436298"/>
                  </a:lnTo>
                  <a:lnTo>
                    <a:pt x="274666" y="449536"/>
                  </a:lnTo>
                  <a:lnTo>
                    <a:pt x="228600" y="454151"/>
                  </a:lnTo>
                  <a:lnTo>
                    <a:pt x="182533" y="449536"/>
                  </a:lnTo>
                  <a:lnTo>
                    <a:pt x="139624" y="436298"/>
                  </a:lnTo>
                  <a:lnTo>
                    <a:pt x="100793" y="415354"/>
                  </a:lnTo>
                  <a:lnTo>
                    <a:pt x="66960" y="387619"/>
                  </a:lnTo>
                  <a:lnTo>
                    <a:pt x="39045" y="354009"/>
                  </a:lnTo>
                  <a:lnTo>
                    <a:pt x="17966" y="315438"/>
                  </a:lnTo>
                  <a:lnTo>
                    <a:pt x="4644" y="272822"/>
                  </a:lnTo>
                  <a:lnTo>
                    <a:pt x="0" y="227075"/>
                  </a:lnTo>
                  <a:close/>
                </a:path>
              </a:pathLst>
            </a:custGeom>
            <a:ln w="9525">
              <a:solidFill>
                <a:srgbClr val="EB792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2839339" y="2313559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48810" y="2152014"/>
            <a:ext cx="1842770" cy="6356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46405" marR="5080" indent="-43434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C00000"/>
                </a:solidFill>
                <a:latin typeface="Arial"/>
                <a:cs typeface="Arial"/>
              </a:rPr>
              <a:t>Guest</a:t>
            </a:r>
            <a:r>
              <a:rPr dirty="0" sz="2000" spc="-2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Arial"/>
                <a:cs typeface="Arial"/>
              </a:rPr>
              <a:t>Physical Address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6493764" y="2182393"/>
            <a:ext cx="615950" cy="721360"/>
            <a:chOff x="6493764" y="2182393"/>
            <a:chExt cx="615950" cy="721360"/>
          </a:xfrm>
        </p:grpSpPr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36410" y="2234107"/>
              <a:ext cx="528854" cy="52593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93764" y="2182393"/>
              <a:ext cx="615708" cy="72082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74536" y="2252471"/>
              <a:ext cx="457200" cy="454151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574536" y="2252471"/>
              <a:ext cx="457200" cy="454659"/>
            </a:xfrm>
            <a:custGeom>
              <a:avLst/>
              <a:gdLst/>
              <a:ahLst/>
              <a:cxnLst/>
              <a:rect l="l" t="t" r="r" b="b"/>
              <a:pathLst>
                <a:path w="457200" h="454660">
                  <a:moveTo>
                    <a:pt x="0" y="227075"/>
                  </a:moveTo>
                  <a:lnTo>
                    <a:pt x="4644" y="181329"/>
                  </a:lnTo>
                  <a:lnTo>
                    <a:pt x="17966" y="138713"/>
                  </a:lnTo>
                  <a:lnTo>
                    <a:pt x="39045" y="100142"/>
                  </a:lnTo>
                  <a:lnTo>
                    <a:pt x="66960" y="66532"/>
                  </a:lnTo>
                  <a:lnTo>
                    <a:pt x="100793" y="38797"/>
                  </a:lnTo>
                  <a:lnTo>
                    <a:pt x="139624" y="17853"/>
                  </a:lnTo>
                  <a:lnTo>
                    <a:pt x="182533" y="4615"/>
                  </a:lnTo>
                  <a:lnTo>
                    <a:pt x="228600" y="0"/>
                  </a:lnTo>
                  <a:lnTo>
                    <a:pt x="274666" y="4615"/>
                  </a:lnTo>
                  <a:lnTo>
                    <a:pt x="317575" y="17853"/>
                  </a:lnTo>
                  <a:lnTo>
                    <a:pt x="356406" y="38797"/>
                  </a:lnTo>
                  <a:lnTo>
                    <a:pt x="390239" y="66532"/>
                  </a:lnTo>
                  <a:lnTo>
                    <a:pt x="418154" y="100142"/>
                  </a:lnTo>
                  <a:lnTo>
                    <a:pt x="439233" y="138713"/>
                  </a:lnTo>
                  <a:lnTo>
                    <a:pt x="452555" y="181329"/>
                  </a:lnTo>
                  <a:lnTo>
                    <a:pt x="457200" y="227075"/>
                  </a:lnTo>
                  <a:lnTo>
                    <a:pt x="452555" y="272822"/>
                  </a:lnTo>
                  <a:lnTo>
                    <a:pt x="439233" y="315438"/>
                  </a:lnTo>
                  <a:lnTo>
                    <a:pt x="418154" y="354009"/>
                  </a:lnTo>
                  <a:lnTo>
                    <a:pt x="390239" y="387619"/>
                  </a:lnTo>
                  <a:lnTo>
                    <a:pt x="356406" y="415354"/>
                  </a:lnTo>
                  <a:lnTo>
                    <a:pt x="317575" y="436298"/>
                  </a:lnTo>
                  <a:lnTo>
                    <a:pt x="274666" y="449536"/>
                  </a:lnTo>
                  <a:lnTo>
                    <a:pt x="228600" y="454151"/>
                  </a:lnTo>
                  <a:lnTo>
                    <a:pt x="182533" y="449536"/>
                  </a:lnTo>
                  <a:lnTo>
                    <a:pt x="139624" y="436298"/>
                  </a:lnTo>
                  <a:lnTo>
                    <a:pt x="100793" y="415354"/>
                  </a:lnTo>
                  <a:lnTo>
                    <a:pt x="66960" y="387619"/>
                  </a:lnTo>
                  <a:lnTo>
                    <a:pt x="39045" y="354009"/>
                  </a:lnTo>
                  <a:lnTo>
                    <a:pt x="17966" y="315438"/>
                  </a:lnTo>
                  <a:lnTo>
                    <a:pt x="4644" y="272822"/>
                  </a:lnTo>
                  <a:lnTo>
                    <a:pt x="0" y="227075"/>
                  </a:lnTo>
                  <a:close/>
                </a:path>
              </a:pathLst>
            </a:custGeom>
            <a:ln w="9525">
              <a:solidFill>
                <a:srgbClr val="EB792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6706869" y="2276983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029193" y="2110486"/>
            <a:ext cx="2026920" cy="6356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37845" marR="5080" indent="-52578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C00000"/>
                </a:solidFill>
                <a:latin typeface="Arial"/>
                <a:cs typeface="Arial"/>
              </a:rPr>
              <a:t>System</a:t>
            </a:r>
            <a:r>
              <a:rPr dirty="0" sz="2000" spc="-4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Arial"/>
                <a:cs typeface="Arial"/>
              </a:rPr>
              <a:t>Physical Address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57809" y="3011677"/>
            <a:ext cx="1625600" cy="1016000"/>
            <a:chOff x="257809" y="3011677"/>
            <a:chExt cx="1625600" cy="1016000"/>
          </a:xfrm>
        </p:grpSpPr>
        <p:sp>
          <p:nvSpPr>
            <p:cNvPr id="6" name="object 6"/>
            <p:cNvSpPr/>
            <p:nvPr/>
          </p:nvSpPr>
          <p:spPr>
            <a:xfrm>
              <a:off x="1489709" y="3429761"/>
              <a:ext cx="381000" cy="190500"/>
            </a:xfrm>
            <a:custGeom>
              <a:avLst/>
              <a:gdLst/>
              <a:ahLst/>
              <a:cxnLst/>
              <a:rect l="l" t="t" r="r" b="b"/>
              <a:pathLst>
                <a:path w="381000" h="190500">
                  <a:moveTo>
                    <a:pt x="285750" y="0"/>
                  </a:moveTo>
                  <a:lnTo>
                    <a:pt x="285750" y="47625"/>
                  </a:lnTo>
                  <a:lnTo>
                    <a:pt x="0" y="47625"/>
                  </a:lnTo>
                  <a:lnTo>
                    <a:pt x="0" y="142875"/>
                  </a:lnTo>
                  <a:lnTo>
                    <a:pt x="285750" y="142875"/>
                  </a:lnTo>
                  <a:lnTo>
                    <a:pt x="285750" y="190500"/>
                  </a:lnTo>
                  <a:lnTo>
                    <a:pt x="381000" y="95250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489709" y="3429761"/>
              <a:ext cx="381000" cy="190500"/>
            </a:xfrm>
            <a:custGeom>
              <a:avLst/>
              <a:gdLst/>
              <a:ahLst/>
              <a:cxnLst/>
              <a:rect l="l" t="t" r="r" b="b"/>
              <a:pathLst>
                <a:path w="381000" h="190500">
                  <a:moveTo>
                    <a:pt x="285750" y="190500"/>
                  </a:moveTo>
                  <a:lnTo>
                    <a:pt x="285750" y="142875"/>
                  </a:lnTo>
                  <a:lnTo>
                    <a:pt x="0" y="142875"/>
                  </a:lnTo>
                  <a:lnTo>
                    <a:pt x="0" y="47625"/>
                  </a:lnTo>
                  <a:lnTo>
                    <a:pt x="285750" y="47625"/>
                  </a:lnTo>
                  <a:lnTo>
                    <a:pt x="285750" y="0"/>
                  </a:lnTo>
                  <a:lnTo>
                    <a:pt x="381000" y="95250"/>
                  </a:lnTo>
                  <a:lnTo>
                    <a:pt x="285750" y="190500"/>
                  </a:lnTo>
                  <a:close/>
                </a:path>
              </a:pathLst>
            </a:custGeom>
            <a:ln w="254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70509" y="3024377"/>
              <a:ext cx="1240790" cy="990600"/>
            </a:xfrm>
            <a:custGeom>
              <a:avLst/>
              <a:gdLst/>
              <a:ahLst/>
              <a:cxnLst/>
              <a:rect l="l" t="t" r="r" b="b"/>
              <a:pathLst>
                <a:path w="1240790" h="990600">
                  <a:moveTo>
                    <a:pt x="620268" y="0"/>
                  </a:moveTo>
                  <a:lnTo>
                    <a:pt x="566748" y="1817"/>
                  </a:lnTo>
                  <a:lnTo>
                    <a:pt x="514492" y="7172"/>
                  </a:lnTo>
                  <a:lnTo>
                    <a:pt x="463687" y="15915"/>
                  </a:lnTo>
                  <a:lnTo>
                    <a:pt x="414519" y="27898"/>
                  </a:lnTo>
                  <a:lnTo>
                    <a:pt x="367174" y="42971"/>
                  </a:lnTo>
                  <a:lnTo>
                    <a:pt x="321837" y="60987"/>
                  </a:lnTo>
                  <a:lnTo>
                    <a:pt x="278696" y="81796"/>
                  </a:lnTo>
                  <a:lnTo>
                    <a:pt x="237937" y="105250"/>
                  </a:lnTo>
                  <a:lnTo>
                    <a:pt x="199745" y="131200"/>
                  </a:lnTo>
                  <a:lnTo>
                    <a:pt x="164307" y="159498"/>
                  </a:lnTo>
                  <a:lnTo>
                    <a:pt x="131808" y="189996"/>
                  </a:lnTo>
                  <a:lnTo>
                    <a:pt x="102436" y="222543"/>
                  </a:lnTo>
                  <a:lnTo>
                    <a:pt x="76376" y="256992"/>
                  </a:lnTo>
                  <a:lnTo>
                    <a:pt x="53814" y="293195"/>
                  </a:lnTo>
                  <a:lnTo>
                    <a:pt x="34938" y="331001"/>
                  </a:lnTo>
                  <a:lnTo>
                    <a:pt x="19931" y="370264"/>
                  </a:lnTo>
                  <a:lnTo>
                    <a:pt x="8982" y="410833"/>
                  </a:lnTo>
                  <a:lnTo>
                    <a:pt x="2276" y="452562"/>
                  </a:lnTo>
                  <a:lnTo>
                    <a:pt x="0" y="495300"/>
                  </a:lnTo>
                  <a:lnTo>
                    <a:pt x="2276" y="538037"/>
                  </a:lnTo>
                  <a:lnTo>
                    <a:pt x="8982" y="579766"/>
                  </a:lnTo>
                  <a:lnTo>
                    <a:pt x="19931" y="620335"/>
                  </a:lnTo>
                  <a:lnTo>
                    <a:pt x="34938" y="659598"/>
                  </a:lnTo>
                  <a:lnTo>
                    <a:pt x="53814" y="697404"/>
                  </a:lnTo>
                  <a:lnTo>
                    <a:pt x="76376" y="733607"/>
                  </a:lnTo>
                  <a:lnTo>
                    <a:pt x="102436" y="768056"/>
                  </a:lnTo>
                  <a:lnTo>
                    <a:pt x="131808" y="800603"/>
                  </a:lnTo>
                  <a:lnTo>
                    <a:pt x="164307" y="831101"/>
                  </a:lnTo>
                  <a:lnTo>
                    <a:pt x="199745" y="859399"/>
                  </a:lnTo>
                  <a:lnTo>
                    <a:pt x="237937" y="885349"/>
                  </a:lnTo>
                  <a:lnTo>
                    <a:pt x="278696" y="908803"/>
                  </a:lnTo>
                  <a:lnTo>
                    <a:pt x="321837" y="929612"/>
                  </a:lnTo>
                  <a:lnTo>
                    <a:pt x="367174" y="947628"/>
                  </a:lnTo>
                  <a:lnTo>
                    <a:pt x="414519" y="962701"/>
                  </a:lnTo>
                  <a:lnTo>
                    <a:pt x="463687" y="974684"/>
                  </a:lnTo>
                  <a:lnTo>
                    <a:pt x="514492" y="983427"/>
                  </a:lnTo>
                  <a:lnTo>
                    <a:pt x="566748" y="988782"/>
                  </a:lnTo>
                  <a:lnTo>
                    <a:pt x="620268" y="990600"/>
                  </a:lnTo>
                  <a:lnTo>
                    <a:pt x="673787" y="988782"/>
                  </a:lnTo>
                  <a:lnTo>
                    <a:pt x="726043" y="983427"/>
                  </a:lnTo>
                  <a:lnTo>
                    <a:pt x="776848" y="974684"/>
                  </a:lnTo>
                  <a:lnTo>
                    <a:pt x="826016" y="962701"/>
                  </a:lnTo>
                  <a:lnTo>
                    <a:pt x="873361" y="947628"/>
                  </a:lnTo>
                  <a:lnTo>
                    <a:pt x="918698" y="929612"/>
                  </a:lnTo>
                  <a:lnTo>
                    <a:pt x="961839" y="908803"/>
                  </a:lnTo>
                  <a:lnTo>
                    <a:pt x="1002598" y="885349"/>
                  </a:lnTo>
                  <a:lnTo>
                    <a:pt x="1040790" y="859399"/>
                  </a:lnTo>
                  <a:lnTo>
                    <a:pt x="1076228" y="831101"/>
                  </a:lnTo>
                  <a:lnTo>
                    <a:pt x="1108727" y="800603"/>
                  </a:lnTo>
                  <a:lnTo>
                    <a:pt x="1138099" y="768056"/>
                  </a:lnTo>
                  <a:lnTo>
                    <a:pt x="1164159" y="733607"/>
                  </a:lnTo>
                  <a:lnTo>
                    <a:pt x="1186721" y="697404"/>
                  </a:lnTo>
                  <a:lnTo>
                    <a:pt x="1205597" y="659598"/>
                  </a:lnTo>
                  <a:lnTo>
                    <a:pt x="1220604" y="620335"/>
                  </a:lnTo>
                  <a:lnTo>
                    <a:pt x="1231553" y="579766"/>
                  </a:lnTo>
                  <a:lnTo>
                    <a:pt x="1238259" y="538037"/>
                  </a:lnTo>
                  <a:lnTo>
                    <a:pt x="1240536" y="495300"/>
                  </a:lnTo>
                  <a:lnTo>
                    <a:pt x="1238259" y="452562"/>
                  </a:lnTo>
                  <a:lnTo>
                    <a:pt x="1231553" y="410833"/>
                  </a:lnTo>
                  <a:lnTo>
                    <a:pt x="1220604" y="370264"/>
                  </a:lnTo>
                  <a:lnTo>
                    <a:pt x="1205597" y="331001"/>
                  </a:lnTo>
                  <a:lnTo>
                    <a:pt x="1186721" y="293195"/>
                  </a:lnTo>
                  <a:lnTo>
                    <a:pt x="1164159" y="256992"/>
                  </a:lnTo>
                  <a:lnTo>
                    <a:pt x="1138099" y="222543"/>
                  </a:lnTo>
                  <a:lnTo>
                    <a:pt x="1108727" y="189996"/>
                  </a:lnTo>
                  <a:lnTo>
                    <a:pt x="1076228" y="159498"/>
                  </a:lnTo>
                  <a:lnTo>
                    <a:pt x="1040790" y="131200"/>
                  </a:lnTo>
                  <a:lnTo>
                    <a:pt x="1002598" y="105250"/>
                  </a:lnTo>
                  <a:lnTo>
                    <a:pt x="961839" y="81796"/>
                  </a:lnTo>
                  <a:lnTo>
                    <a:pt x="918698" y="60987"/>
                  </a:lnTo>
                  <a:lnTo>
                    <a:pt x="873361" y="42971"/>
                  </a:lnTo>
                  <a:lnTo>
                    <a:pt x="826016" y="27898"/>
                  </a:lnTo>
                  <a:lnTo>
                    <a:pt x="776848" y="15915"/>
                  </a:lnTo>
                  <a:lnTo>
                    <a:pt x="726043" y="7172"/>
                  </a:lnTo>
                  <a:lnTo>
                    <a:pt x="673787" y="1817"/>
                  </a:lnTo>
                  <a:lnTo>
                    <a:pt x="620268" y="0"/>
                  </a:lnTo>
                  <a:close/>
                </a:path>
              </a:pathLst>
            </a:custGeom>
            <a:solidFill>
              <a:srgbClr val="0C0C0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70509" y="3024377"/>
              <a:ext cx="1240790" cy="990600"/>
            </a:xfrm>
            <a:custGeom>
              <a:avLst/>
              <a:gdLst/>
              <a:ahLst/>
              <a:cxnLst/>
              <a:rect l="l" t="t" r="r" b="b"/>
              <a:pathLst>
                <a:path w="1240790" h="990600">
                  <a:moveTo>
                    <a:pt x="0" y="495300"/>
                  </a:moveTo>
                  <a:lnTo>
                    <a:pt x="2276" y="452562"/>
                  </a:lnTo>
                  <a:lnTo>
                    <a:pt x="8982" y="410833"/>
                  </a:lnTo>
                  <a:lnTo>
                    <a:pt x="19931" y="370264"/>
                  </a:lnTo>
                  <a:lnTo>
                    <a:pt x="34938" y="331001"/>
                  </a:lnTo>
                  <a:lnTo>
                    <a:pt x="53814" y="293195"/>
                  </a:lnTo>
                  <a:lnTo>
                    <a:pt x="76376" y="256992"/>
                  </a:lnTo>
                  <a:lnTo>
                    <a:pt x="102436" y="222543"/>
                  </a:lnTo>
                  <a:lnTo>
                    <a:pt x="131808" y="189996"/>
                  </a:lnTo>
                  <a:lnTo>
                    <a:pt x="164307" y="159498"/>
                  </a:lnTo>
                  <a:lnTo>
                    <a:pt x="199745" y="131200"/>
                  </a:lnTo>
                  <a:lnTo>
                    <a:pt x="237937" y="105250"/>
                  </a:lnTo>
                  <a:lnTo>
                    <a:pt x="278696" y="81796"/>
                  </a:lnTo>
                  <a:lnTo>
                    <a:pt x="321837" y="60987"/>
                  </a:lnTo>
                  <a:lnTo>
                    <a:pt x="367174" y="42971"/>
                  </a:lnTo>
                  <a:lnTo>
                    <a:pt x="414519" y="27898"/>
                  </a:lnTo>
                  <a:lnTo>
                    <a:pt x="463687" y="15915"/>
                  </a:lnTo>
                  <a:lnTo>
                    <a:pt x="514492" y="7172"/>
                  </a:lnTo>
                  <a:lnTo>
                    <a:pt x="566748" y="1817"/>
                  </a:lnTo>
                  <a:lnTo>
                    <a:pt x="620268" y="0"/>
                  </a:lnTo>
                  <a:lnTo>
                    <a:pt x="673787" y="1817"/>
                  </a:lnTo>
                  <a:lnTo>
                    <a:pt x="726043" y="7172"/>
                  </a:lnTo>
                  <a:lnTo>
                    <a:pt x="776848" y="15915"/>
                  </a:lnTo>
                  <a:lnTo>
                    <a:pt x="826016" y="27898"/>
                  </a:lnTo>
                  <a:lnTo>
                    <a:pt x="873361" y="42971"/>
                  </a:lnTo>
                  <a:lnTo>
                    <a:pt x="918698" y="60987"/>
                  </a:lnTo>
                  <a:lnTo>
                    <a:pt x="961839" y="81796"/>
                  </a:lnTo>
                  <a:lnTo>
                    <a:pt x="1002598" y="105250"/>
                  </a:lnTo>
                  <a:lnTo>
                    <a:pt x="1040790" y="131200"/>
                  </a:lnTo>
                  <a:lnTo>
                    <a:pt x="1076228" y="159498"/>
                  </a:lnTo>
                  <a:lnTo>
                    <a:pt x="1108727" y="189996"/>
                  </a:lnTo>
                  <a:lnTo>
                    <a:pt x="1138099" y="222543"/>
                  </a:lnTo>
                  <a:lnTo>
                    <a:pt x="1164159" y="256992"/>
                  </a:lnTo>
                  <a:lnTo>
                    <a:pt x="1186721" y="293195"/>
                  </a:lnTo>
                  <a:lnTo>
                    <a:pt x="1205597" y="331001"/>
                  </a:lnTo>
                  <a:lnTo>
                    <a:pt x="1220604" y="370264"/>
                  </a:lnTo>
                  <a:lnTo>
                    <a:pt x="1231553" y="410833"/>
                  </a:lnTo>
                  <a:lnTo>
                    <a:pt x="1238259" y="452562"/>
                  </a:lnTo>
                  <a:lnTo>
                    <a:pt x="1240536" y="495300"/>
                  </a:lnTo>
                  <a:lnTo>
                    <a:pt x="1238259" y="538037"/>
                  </a:lnTo>
                  <a:lnTo>
                    <a:pt x="1231553" y="579766"/>
                  </a:lnTo>
                  <a:lnTo>
                    <a:pt x="1220604" y="620335"/>
                  </a:lnTo>
                  <a:lnTo>
                    <a:pt x="1205597" y="659598"/>
                  </a:lnTo>
                  <a:lnTo>
                    <a:pt x="1186721" y="697404"/>
                  </a:lnTo>
                  <a:lnTo>
                    <a:pt x="1164159" y="733607"/>
                  </a:lnTo>
                  <a:lnTo>
                    <a:pt x="1138099" y="768056"/>
                  </a:lnTo>
                  <a:lnTo>
                    <a:pt x="1108727" y="800603"/>
                  </a:lnTo>
                  <a:lnTo>
                    <a:pt x="1076228" y="831101"/>
                  </a:lnTo>
                  <a:lnTo>
                    <a:pt x="1040790" y="859399"/>
                  </a:lnTo>
                  <a:lnTo>
                    <a:pt x="1002598" y="885349"/>
                  </a:lnTo>
                  <a:lnTo>
                    <a:pt x="961839" y="908803"/>
                  </a:lnTo>
                  <a:lnTo>
                    <a:pt x="918698" y="929612"/>
                  </a:lnTo>
                  <a:lnTo>
                    <a:pt x="873361" y="947628"/>
                  </a:lnTo>
                  <a:lnTo>
                    <a:pt x="826016" y="962701"/>
                  </a:lnTo>
                  <a:lnTo>
                    <a:pt x="776848" y="974684"/>
                  </a:lnTo>
                  <a:lnTo>
                    <a:pt x="726043" y="983427"/>
                  </a:lnTo>
                  <a:lnTo>
                    <a:pt x="673787" y="988782"/>
                  </a:lnTo>
                  <a:lnTo>
                    <a:pt x="620268" y="990600"/>
                  </a:lnTo>
                  <a:lnTo>
                    <a:pt x="566748" y="988782"/>
                  </a:lnTo>
                  <a:lnTo>
                    <a:pt x="514492" y="983427"/>
                  </a:lnTo>
                  <a:lnTo>
                    <a:pt x="463687" y="974684"/>
                  </a:lnTo>
                  <a:lnTo>
                    <a:pt x="414519" y="962701"/>
                  </a:lnTo>
                  <a:lnTo>
                    <a:pt x="367174" y="947628"/>
                  </a:lnTo>
                  <a:lnTo>
                    <a:pt x="321837" y="929612"/>
                  </a:lnTo>
                  <a:lnTo>
                    <a:pt x="278696" y="908803"/>
                  </a:lnTo>
                  <a:lnTo>
                    <a:pt x="237937" y="885349"/>
                  </a:lnTo>
                  <a:lnTo>
                    <a:pt x="199745" y="859399"/>
                  </a:lnTo>
                  <a:lnTo>
                    <a:pt x="164307" y="831101"/>
                  </a:lnTo>
                  <a:lnTo>
                    <a:pt x="131808" y="800603"/>
                  </a:lnTo>
                  <a:lnTo>
                    <a:pt x="102436" y="768056"/>
                  </a:lnTo>
                  <a:lnTo>
                    <a:pt x="76376" y="733607"/>
                  </a:lnTo>
                  <a:lnTo>
                    <a:pt x="53814" y="697404"/>
                  </a:lnTo>
                  <a:lnTo>
                    <a:pt x="34938" y="659598"/>
                  </a:lnTo>
                  <a:lnTo>
                    <a:pt x="19931" y="620335"/>
                  </a:lnTo>
                  <a:lnTo>
                    <a:pt x="8982" y="579766"/>
                  </a:lnTo>
                  <a:lnTo>
                    <a:pt x="2276" y="538037"/>
                  </a:lnTo>
                  <a:lnTo>
                    <a:pt x="0" y="495300"/>
                  </a:lnTo>
                  <a:close/>
                </a:path>
              </a:pathLst>
            </a:custGeom>
            <a:ln w="254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541426" y="3284677"/>
            <a:ext cx="69723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5">
                <a:solidFill>
                  <a:srgbClr val="FFFFFF"/>
                </a:solidFill>
                <a:latin typeface="Arial"/>
                <a:cs typeface="Arial"/>
              </a:rPr>
              <a:t>gVA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915409" y="3036061"/>
            <a:ext cx="1854200" cy="1016000"/>
            <a:chOff x="3915409" y="3036061"/>
            <a:chExt cx="1854200" cy="1016000"/>
          </a:xfrm>
        </p:grpSpPr>
        <p:sp>
          <p:nvSpPr>
            <p:cNvPr id="13" name="object 13"/>
            <p:cNvSpPr/>
            <p:nvPr/>
          </p:nvSpPr>
          <p:spPr>
            <a:xfrm>
              <a:off x="3928109" y="3429761"/>
              <a:ext cx="381000" cy="190500"/>
            </a:xfrm>
            <a:custGeom>
              <a:avLst/>
              <a:gdLst/>
              <a:ahLst/>
              <a:cxnLst/>
              <a:rect l="l" t="t" r="r" b="b"/>
              <a:pathLst>
                <a:path w="381000" h="190500">
                  <a:moveTo>
                    <a:pt x="285750" y="0"/>
                  </a:moveTo>
                  <a:lnTo>
                    <a:pt x="285750" y="47625"/>
                  </a:lnTo>
                  <a:lnTo>
                    <a:pt x="0" y="47625"/>
                  </a:lnTo>
                  <a:lnTo>
                    <a:pt x="0" y="142875"/>
                  </a:lnTo>
                  <a:lnTo>
                    <a:pt x="285750" y="142875"/>
                  </a:lnTo>
                  <a:lnTo>
                    <a:pt x="285750" y="190500"/>
                  </a:lnTo>
                  <a:lnTo>
                    <a:pt x="381000" y="95250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928109" y="3429761"/>
              <a:ext cx="381000" cy="190500"/>
            </a:xfrm>
            <a:custGeom>
              <a:avLst/>
              <a:gdLst/>
              <a:ahLst/>
              <a:cxnLst/>
              <a:rect l="l" t="t" r="r" b="b"/>
              <a:pathLst>
                <a:path w="381000" h="190500">
                  <a:moveTo>
                    <a:pt x="285750" y="190500"/>
                  </a:moveTo>
                  <a:lnTo>
                    <a:pt x="285750" y="142875"/>
                  </a:lnTo>
                  <a:lnTo>
                    <a:pt x="0" y="142875"/>
                  </a:lnTo>
                  <a:lnTo>
                    <a:pt x="0" y="47625"/>
                  </a:lnTo>
                  <a:lnTo>
                    <a:pt x="285750" y="47625"/>
                  </a:lnTo>
                  <a:lnTo>
                    <a:pt x="285750" y="0"/>
                  </a:lnTo>
                  <a:lnTo>
                    <a:pt x="381000" y="95250"/>
                  </a:lnTo>
                  <a:lnTo>
                    <a:pt x="285750" y="190500"/>
                  </a:lnTo>
                  <a:close/>
                </a:path>
              </a:pathLst>
            </a:custGeom>
            <a:ln w="254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375909" y="3429761"/>
              <a:ext cx="381000" cy="190500"/>
            </a:xfrm>
            <a:custGeom>
              <a:avLst/>
              <a:gdLst/>
              <a:ahLst/>
              <a:cxnLst/>
              <a:rect l="l" t="t" r="r" b="b"/>
              <a:pathLst>
                <a:path w="381000" h="190500">
                  <a:moveTo>
                    <a:pt x="285750" y="0"/>
                  </a:moveTo>
                  <a:lnTo>
                    <a:pt x="285750" y="47625"/>
                  </a:lnTo>
                  <a:lnTo>
                    <a:pt x="0" y="47625"/>
                  </a:lnTo>
                  <a:lnTo>
                    <a:pt x="0" y="142875"/>
                  </a:lnTo>
                  <a:lnTo>
                    <a:pt x="285750" y="142875"/>
                  </a:lnTo>
                  <a:lnTo>
                    <a:pt x="285750" y="190500"/>
                  </a:lnTo>
                  <a:lnTo>
                    <a:pt x="381000" y="95250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375909" y="3429761"/>
              <a:ext cx="381000" cy="190500"/>
            </a:xfrm>
            <a:custGeom>
              <a:avLst/>
              <a:gdLst/>
              <a:ahLst/>
              <a:cxnLst/>
              <a:rect l="l" t="t" r="r" b="b"/>
              <a:pathLst>
                <a:path w="381000" h="190500">
                  <a:moveTo>
                    <a:pt x="285750" y="190500"/>
                  </a:moveTo>
                  <a:lnTo>
                    <a:pt x="285750" y="142875"/>
                  </a:lnTo>
                  <a:lnTo>
                    <a:pt x="0" y="142875"/>
                  </a:lnTo>
                  <a:lnTo>
                    <a:pt x="0" y="47625"/>
                  </a:lnTo>
                  <a:lnTo>
                    <a:pt x="285750" y="47625"/>
                  </a:lnTo>
                  <a:lnTo>
                    <a:pt x="285750" y="0"/>
                  </a:lnTo>
                  <a:lnTo>
                    <a:pt x="381000" y="95250"/>
                  </a:lnTo>
                  <a:lnTo>
                    <a:pt x="285750" y="190500"/>
                  </a:lnTo>
                  <a:close/>
                </a:path>
              </a:pathLst>
            </a:custGeom>
            <a:ln w="254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309109" y="3048761"/>
              <a:ext cx="1216660" cy="990600"/>
            </a:xfrm>
            <a:custGeom>
              <a:avLst/>
              <a:gdLst/>
              <a:ahLst/>
              <a:cxnLst/>
              <a:rect l="l" t="t" r="r" b="b"/>
              <a:pathLst>
                <a:path w="1216660" h="990600">
                  <a:moveTo>
                    <a:pt x="608076" y="0"/>
                  </a:moveTo>
                  <a:lnTo>
                    <a:pt x="555614" y="1817"/>
                  </a:lnTo>
                  <a:lnTo>
                    <a:pt x="504392" y="7172"/>
                  </a:lnTo>
                  <a:lnTo>
                    <a:pt x="454589" y="15915"/>
                  </a:lnTo>
                  <a:lnTo>
                    <a:pt x="406390" y="27898"/>
                  </a:lnTo>
                  <a:lnTo>
                    <a:pt x="359977" y="42971"/>
                  </a:lnTo>
                  <a:lnTo>
                    <a:pt x="315533" y="60987"/>
                  </a:lnTo>
                  <a:lnTo>
                    <a:pt x="273240" y="81796"/>
                  </a:lnTo>
                  <a:lnTo>
                    <a:pt x="233280" y="105250"/>
                  </a:lnTo>
                  <a:lnTo>
                    <a:pt x="195838" y="131200"/>
                  </a:lnTo>
                  <a:lnTo>
                    <a:pt x="161094" y="159498"/>
                  </a:lnTo>
                  <a:lnTo>
                    <a:pt x="129232" y="189996"/>
                  </a:lnTo>
                  <a:lnTo>
                    <a:pt x="100435" y="222543"/>
                  </a:lnTo>
                  <a:lnTo>
                    <a:pt x="74885" y="256992"/>
                  </a:lnTo>
                  <a:lnTo>
                    <a:pt x="52764" y="293195"/>
                  </a:lnTo>
                  <a:lnTo>
                    <a:pt x="34256" y="331001"/>
                  </a:lnTo>
                  <a:lnTo>
                    <a:pt x="19543" y="370264"/>
                  </a:lnTo>
                  <a:lnTo>
                    <a:pt x="8807" y="410833"/>
                  </a:lnTo>
                  <a:lnTo>
                    <a:pt x="2232" y="452562"/>
                  </a:lnTo>
                  <a:lnTo>
                    <a:pt x="0" y="495300"/>
                  </a:lnTo>
                  <a:lnTo>
                    <a:pt x="2232" y="538037"/>
                  </a:lnTo>
                  <a:lnTo>
                    <a:pt x="8807" y="579766"/>
                  </a:lnTo>
                  <a:lnTo>
                    <a:pt x="19543" y="620335"/>
                  </a:lnTo>
                  <a:lnTo>
                    <a:pt x="34256" y="659598"/>
                  </a:lnTo>
                  <a:lnTo>
                    <a:pt x="52764" y="697404"/>
                  </a:lnTo>
                  <a:lnTo>
                    <a:pt x="74885" y="733607"/>
                  </a:lnTo>
                  <a:lnTo>
                    <a:pt x="100435" y="768056"/>
                  </a:lnTo>
                  <a:lnTo>
                    <a:pt x="129232" y="800603"/>
                  </a:lnTo>
                  <a:lnTo>
                    <a:pt x="161094" y="831101"/>
                  </a:lnTo>
                  <a:lnTo>
                    <a:pt x="195838" y="859399"/>
                  </a:lnTo>
                  <a:lnTo>
                    <a:pt x="233280" y="885349"/>
                  </a:lnTo>
                  <a:lnTo>
                    <a:pt x="273240" y="908803"/>
                  </a:lnTo>
                  <a:lnTo>
                    <a:pt x="315533" y="929612"/>
                  </a:lnTo>
                  <a:lnTo>
                    <a:pt x="359977" y="947628"/>
                  </a:lnTo>
                  <a:lnTo>
                    <a:pt x="406390" y="962701"/>
                  </a:lnTo>
                  <a:lnTo>
                    <a:pt x="454589" y="974684"/>
                  </a:lnTo>
                  <a:lnTo>
                    <a:pt x="504392" y="983427"/>
                  </a:lnTo>
                  <a:lnTo>
                    <a:pt x="555614" y="988782"/>
                  </a:lnTo>
                  <a:lnTo>
                    <a:pt x="608076" y="990600"/>
                  </a:lnTo>
                  <a:lnTo>
                    <a:pt x="660537" y="988782"/>
                  </a:lnTo>
                  <a:lnTo>
                    <a:pt x="711759" y="983427"/>
                  </a:lnTo>
                  <a:lnTo>
                    <a:pt x="761562" y="974684"/>
                  </a:lnTo>
                  <a:lnTo>
                    <a:pt x="809761" y="962701"/>
                  </a:lnTo>
                  <a:lnTo>
                    <a:pt x="856174" y="947628"/>
                  </a:lnTo>
                  <a:lnTo>
                    <a:pt x="900618" y="929612"/>
                  </a:lnTo>
                  <a:lnTo>
                    <a:pt x="942911" y="908803"/>
                  </a:lnTo>
                  <a:lnTo>
                    <a:pt x="982871" y="885349"/>
                  </a:lnTo>
                  <a:lnTo>
                    <a:pt x="1020313" y="859399"/>
                  </a:lnTo>
                  <a:lnTo>
                    <a:pt x="1055057" y="831101"/>
                  </a:lnTo>
                  <a:lnTo>
                    <a:pt x="1086919" y="800603"/>
                  </a:lnTo>
                  <a:lnTo>
                    <a:pt x="1115716" y="768056"/>
                  </a:lnTo>
                  <a:lnTo>
                    <a:pt x="1141266" y="733607"/>
                  </a:lnTo>
                  <a:lnTo>
                    <a:pt x="1163387" y="697404"/>
                  </a:lnTo>
                  <a:lnTo>
                    <a:pt x="1181895" y="659598"/>
                  </a:lnTo>
                  <a:lnTo>
                    <a:pt x="1196608" y="620335"/>
                  </a:lnTo>
                  <a:lnTo>
                    <a:pt x="1207344" y="579766"/>
                  </a:lnTo>
                  <a:lnTo>
                    <a:pt x="1213919" y="538037"/>
                  </a:lnTo>
                  <a:lnTo>
                    <a:pt x="1216152" y="495300"/>
                  </a:lnTo>
                  <a:lnTo>
                    <a:pt x="1213919" y="452562"/>
                  </a:lnTo>
                  <a:lnTo>
                    <a:pt x="1207344" y="410833"/>
                  </a:lnTo>
                  <a:lnTo>
                    <a:pt x="1196608" y="370264"/>
                  </a:lnTo>
                  <a:lnTo>
                    <a:pt x="1181895" y="331001"/>
                  </a:lnTo>
                  <a:lnTo>
                    <a:pt x="1163387" y="293195"/>
                  </a:lnTo>
                  <a:lnTo>
                    <a:pt x="1141266" y="256992"/>
                  </a:lnTo>
                  <a:lnTo>
                    <a:pt x="1115716" y="222543"/>
                  </a:lnTo>
                  <a:lnTo>
                    <a:pt x="1086919" y="189996"/>
                  </a:lnTo>
                  <a:lnTo>
                    <a:pt x="1055057" y="159498"/>
                  </a:lnTo>
                  <a:lnTo>
                    <a:pt x="1020313" y="131200"/>
                  </a:lnTo>
                  <a:lnTo>
                    <a:pt x="982871" y="105250"/>
                  </a:lnTo>
                  <a:lnTo>
                    <a:pt x="942911" y="81796"/>
                  </a:lnTo>
                  <a:lnTo>
                    <a:pt x="900618" y="60987"/>
                  </a:lnTo>
                  <a:lnTo>
                    <a:pt x="856174" y="42971"/>
                  </a:lnTo>
                  <a:lnTo>
                    <a:pt x="809761" y="27898"/>
                  </a:lnTo>
                  <a:lnTo>
                    <a:pt x="761562" y="15915"/>
                  </a:lnTo>
                  <a:lnTo>
                    <a:pt x="711759" y="7172"/>
                  </a:lnTo>
                  <a:lnTo>
                    <a:pt x="660537" y="1817"/>
                  </a:lnTo>
                  <a:lnTo>
                    <a:pt x="608076" y="0"/>
                  </a:lnTo>
                  <a:close/>
                </a:path>
              </a:pathLst>
            </a:custGeom>
            <a:solidFill>
              <a:srgbClr val="0C0C0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309109" y="3048761"/>
              <a:ext cx="1216660" cy="990600"/>
            </a:xfrm>
            <a:custGeom>
              <a:avLst/>
              <a:gdLst/>
              <a:ahLst/>
              <a:cxnLst/>
              <a:rect l="l" t="t" r="r" b="b"/>
              <a:pathLst>
                <a:path w="1216660" h="990600">
                  <a:moveTo>
                    <a:pt x="0" y="495300"/>
                  </a:moveTo>
                  <a:lnTo>
                    <a:pt x="2232" y="452562"/>
                  </a:lnTo>
                  <a:lnTo>
                    <a:pt x="8807" y="410833"/>
                  </a:lnTo>
                  <a:lnTo>
                    <a:pt x="19543" y="370264"/>
                  </a:lnTo>
                  <a:lnTo>
                    <a:pt x="34256" y="331001"/>
                  </a:lnTo>
                  <a:lnTo>
                    <a:pt x="52764" y="293195"/>
                  </a:lnTo>
                  <a:lnTo>
                    <a:pt x="74885" y="256992"/>
                  </a:lnTo>
                  <a:lnTo>
                    <a:pt x="100435" y="222543"/>
                  </a:lnTo>
                  <a:lnTo>
                    <a:pt x="129232" y="189996"/>
                  </a:lnTo>
                  <a:lnTo>
                    <a:pt x="161094" y="159498"/>
                  </a:lnTo>
                  <a:lnTo>
                    <a:pt x="195838" y="131200"/>
                  </a:lnTo>
                  <a:lnTo>
                    <a:pt x="233280" y="105250"/>
                  </a:lnTo>
                  <a:lnTo>
                    <a:pt x="273240" y="81796"/>
                  </a:lnTo>
                  <a:lnTo>
                    <a:pt x="315533" y="60987"/>
                  </a:lnTo>
                  <a:lnTo>
                    <a:pt x="359977" y="42971"/>
                  </a:lnTo>
                  <a:lnTo>
                    <a:pt x="406390" y="27898"/>
                  </a:lnTo>
                  <a:lnTo>
                    <a:pt x="454589" y="15915"/>
                  </a:lnTo>
                  <a:lnTo>
                    <a:pt x="504392" y="7172"/>
                  </a:lnTo>
                  <a:lnTo>
                    <a:pt x="555614" y="1817"/>
                  </a:lnTo>
                  <a:lnTo>
                    <a:pt x="608076" y="0"/>
                  </a:lnTo>
                  <a:lnTo>
                    <a:pt x="660537" y="1817"/>
                  </a:lnTo>
                  <a:lnTo>
                    <a:pt x="711759" y="7172"/>
                  </a:lnTo>
                  <a:lnTo>
                    <a:pt x="761562" y="15915"/>
                  </a:lnTo>
                  <a:lnTo>
                    <a:pt x="809761" y="27898"/>
                  </a:lnTo>
                  <a:lnTo>
                    <a:pt x="856174" y="42971"/>
                  </a:lnTo>
                  <a:lnTo>
                    <a:pt x="900618" y="60987"/>
                  </a:lnTo>
                  <a:lnTo>
                    <a:pt x="942911" y="81796"/>
                  </a:lnTo>
                  <a:lnTo>
                    <a:pt x="982871" y="105250"/>
                  </a:lnTo>
                  <a:lnTo>
                    <a:pt x="1020313" y="131200"/>
                  </a:lnTo>
                  <a:lnTo>
                    <a:pt x="1055057" y="159498"/>
                  </a:lnTo>
                  <a:lnTo>
                    <a:pt x="1086919" y="189996"/>
                  </a:lnTo>
                  <a:lnTo>
                    <a:pt x="1115716" y="222543"/>
                  </a:lnTo>
                  <a:lnTo>
                    <a:pt x="1141266" y="256992"/>
                  </a:lnTo>
                  <a:lnTo>
                    <a:pt x="1163387" y="293195"/>
                  </a:lnTo>
                  <a:lnTo>
                    <a:pt x="1181895" y="331001"/>
                  </a:lnTo>
                  <a:lnTo>
                    <a:pt x="1196608" y="370264"/>
                  </a:lnTo>
                  <a:lnTo>
                    <a:pt x="1207344" y="410833"/>
                  </a:lnTo>
                  <a:lnTo>
                    <a:pt x="1213919" y="452562"/>
                  </a:lnTo>
                  <a:lnTo>
                    <a:pt x="1216152" y="495300"/>
                  </a:lnTo>
                  <a:lnTo>
                    <a:pt x="1213919" y="538037"/>
                  </a:lnTo>
                  <a:lnTo>
                    <a:pt x="1207344" y="579766"/>
                  </a:lnTo>
                  <a:lnTo>
                    <a:pt x="1196608" y="620335"/>
                  </a:lnTo>
                  <a:lnTo>
                    <a:pt x="1181895" y="659598"/>
                  </a:lnTo>
                  <a:lnTo>
                    <a:pt x="1163387" y="697404"/>
                  </a:lnTo>
                  <a:lnTo>
                    <a:pt x="1141266" y="733607"/>
                  </a:lnTo>
                  <a:lnTo>
                    <a:pt x="1115716" y="768056"/>
                  </a:lnTo>
                  <a:lnTo>
                    <a:pt x="1086919" y="800603"/>
                  </a:lnTo>
                  <a:lnTo>
                    <a:pt x="1055057" y="831101"/>
                  </a:lnTo>
                  <a:lnTo>
                    <a:pt x="1020313" y="859399"/>
                  </a:lnTo>
                  <a:lnTo>
                    <a:pt x="982871" y="885349"/>
                  </a:lnTo>
                  <a:lnTo>
                    <a:pt x="942911" y="908803"/>
                  </a:lnTo>
                  <a:lnTo>
                    <a:pt x="900618" y="929612"/>
                  </a:lnTo>
                  <a:lnTo>
                    <a:pt x="856174" y="947628"/>
                  </a:lnTo>
                  <a:lnTo>
                    <a:pt x="809761" y="962701"/>
                  </a:lnTo>
                  <a:lnTo>
                    <a:pt x="761562" y="974684"/>
                  </a:lnTo>
                  <a:lnTo>
                    <a:pt x="711759" y="983427"/>
                  </a:lnTo>
                  <a:lnTo>
                    <a:pt x="660537" y="988782"/>
                  </a:lnTo>
                  <a:lnTo>
                    <a:pt x="608076" y="990600"/>
                  </a:lnTo>
                  <a:lnTo>
                    <a:pt x="555614" y="988782"/>
                  </a:lnTo>
                  <a:lnTo>
                    <a:pt x="504392" y="983427"/>
                  </a:lnTo>
                  <a:lnTo>
                    <a:pt x="454589" y="974684"/>
                  </a:lnTo>
                  <a:lnTo>
                    <a:pt x="406390" y="962701"/>
                  </a:lnTo>
                  <a:lnTo>
                    <a:pt x="359977" y="947628"/>
                  </a:lnTo>
                  <a:lnTo>
                    <a:pt x="315533" y="929612"/>
                  </a:lnTo>
                  <a:lnTo>
                    <a:pt x="273240" y="908803"/>
                  </a:lnTo>
                  <a:lnTo>
                    <a:pt x="233280" y="885349"/>
                  </a:lnTo>
                  <a:lnTo>
                    <a:pt x="195838" y="859399"/>
                  </a:lnTo>
                  <a:lnTo>
                    <a:pt x="161094" y="831101"/>
                  </a:lnTo>
                  <a:lnTo>
                    <a:pt x="129232" y="800603"/>
                  </a:lnTo>
                  <a:lnTo>
                    <a:pt x="100435" y="768056"/>
                  </a:lnTo>
                  <a:lnTo>
                    <a:pt x="74885" y="733607"/>
                  </a:lnTo>
                  <a:lnTo>
                    <a:pt x="52764" y="697404"/>
                  </a:lnTo>
                  <a:lnTo>
                    <a:pt x="34256" y="659598"/>
                  </a:lnTo>
                  <a:lnTo>
                    <a:pt x="19543" y="620335"/>
                  </a:lnTo>
                  <a:lnTo>
                    <a:pt x="8807" y="579766"/>
                  </a:lnTo>
                  <a:lnTo>
                    <a:pt x="2232" y="538037"/>
                  </a:lnTo>
                  <a:lnTo>
                    <a:pt x="0" y="495300"/>
                  </a:lnTo>
                  <a:close/>
                </a:path>
              </a:pathLst>
            </a:custGeom>
            <a:ln w="254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8" name="object 2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69948" y="2971800"/>
            <a:ext cx="2133600" cy="1156716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4569333" y="3308426"/>
            <a:ext cx="69723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5">
                <a:solidFill>
                  <a:srgbClr val="FFFFFF"/>
                </a:solidFill>
                <a:latin typeface="Arial"/>
                <a:cs typeface="Arial"/>
              </a:rPr>
              <a:t>gPA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756147" y="2958083"/>
            <a:ext cx="3776345" cy="1156970"/>
            <a:chOff x="5756147" y="2958083"/>
            <a:chExt cx="3776345" cy="1156970"/>
          </a:xfrm>
        </p:grpSpPr>
        <p:sp>
          <p:nvSpPr>
            <p:cNvPr id="21" name="object 21"/>
            <p:cNvSpPr/>
            <p:nvPr/>
          </p:nvSpPr>
          <p:spPr>
            <a:xfrm>
              <a:off x="7814309" y="3429761"/>
              <a:ext cx="381000" cy="190500"/>
            </a:xfrm>
            <a:custGeom>
              <a:avLst/>
              <a:gdLst/>
              <a:ahLst/>
              <a:cxnLst/>
              <a:rect l="l" t="t" r="r" b="b"/>
              <a:pathLst>
                <a:path w="381000" h="190500">
                  <a:moveTo>
                    <a:pt x="285750" y="0"/>
                  </a:moveTo>
                  <a:lnTo>
                    <a:pt x="285750" y="47625"/>
                  </a:lnTo>
                  <a:lnTo>
                    <a:pt x="0" y="47625"/>
                  </a:lnTo>
                  <a:lnTo>
                    <a:pt x="0" y="142875"/>
                  </a:lnTo>
                  <a:lnTo>
                    <a:pt x="285750" y="142875"/>
                  </a:lnTo>
                  <a:lnTo>
                    <a:pt x="285750" y="190500"/>
                  </a:lnTo>
                  <a:lnTo>
                    <a:pt x="381000" y="95250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7814309" y="3429761"/>
              <a:ext cx="381000" cy="190500"/>
            </a:xfrm>
            <a:custGeom>
              <a:avLst/>
              <a:gdLst/>
              <a:ahLst/>
              <a:cxnLst/>
              <a:rect l="l" t="t" r="r" b="b"/>
              <a:pathLst>
                <a:path w="381000" h="190500">
                  <a:moveTo>
                    <a:pt x="285750" y="190500"/>
                  </a:moveTo>
                  <a:lnTo>
                    <a:pt x="285750" y="142875"/>
                  </a:lnTo>
                  <a:lnTo>
                    <a:pt x="0" y="142875"/>
                  </a:lnTo>
                  <a:lnTo>
                    <a:pt x="0" y="47625"/>
                  </a:lnTo>
                  <a:lnTo>
                    <a:pt x="285750" y="47625"/>
                  </a:lnTo>
                  <a:lnTo>
                    <a:pt x="285750" y="0"/>
                  </a:lnTo>
                  <a:lnTo>
                    <a:pt x="381000" y="95250"/>
                  </a:lnTo>
                  <a:lnTo>
                    <a:pt x="285750" y="190500"/>
                  </a:lnTo>
                  <a:close/>
                </a:path>
              </a:pathLst>
            </a:custGeom>
            <a:ln w="254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56147" y="2958083"/>
              <a:ext cx="2133600" cy="115671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8195309" y="3048761"/>
              <a:ext cx="1324610" cy="990600"/>
            </a:xfrm>
            <a:custGeom>
              <a:avLst/>
              <a:gdLst/>
              <a:ahLst/>
              <a:cxnLst/>
              <a:rect l="l" t="t" r="r" b="b"/>
              <a:pathLst>
                <a:path w="1324609" h="990600">
                  <a:moveTo>
                    <a:pt x="662178" y="0"/>
                  </a:moveTo>
                  <a:lnTo>
                    <a:pt x="607862" y="1641"/>
                  </a:lnTo>
                  <a:lnTo>
                    <a:pt x="554757" y="6482"/>
                  </a:lnTo>
                  <a:lnTo>
                    <a:pt x="503032" y="14394"/>
                  </a:lnTo>
                  <a:lnTo>
                    <a:pt x="452859" y="25249"/>
                  </a:lnTo>
                  <a:lnTo>
                    <a:pt x="404407" y="38921"/>
                  </a:lnTo>
                  <a:lnTo>
                    <a:pt x="357847" y="55282"/>
                  </a:lnTo>
                  <a:lnTo>
                    <a:pt x="313349" y="74204"/>
                  </a:lnTo>
                  <a:lnTo>
                    <a:pt x="271083" y="95560"/>
                  </a:lnTo>
                  <a:lnTo>
                    <a:pt x="231219" y="119223"/>
                  </a:lnTo>
                  <a:lnTo>
                    <a:pt x="193929" y="145065"/>
                  </a:lnTo>
                  <a:lnTo>
                    <a:pt x="159381" y="172959"/>
                  </a:lnTo>
                  <a:lnTo>
                    <a:pt x="127747" y="202777"/>
                  </a:lnTo>
                  <a:lnTo>
                    <a:pt x="99197" y="234392"/>
                  </a:lnTo>
                  <a:lnTo>
                    <a:pt x="73901" y="267676"/>
                  </a:lnTo>
                  <a:lnTo>
                    <a:pt x="52030" y="302502"/>
                  </a:lnTo>
                  <a:lnTo>
                    <a:pt x="33753" y="338742"/>
                  </a:lnTo>
                  <a:lnTo>
                    <a:pt x="19241" y="376269"/>
                  </a:lnTo>
                  <a:lnTo>
                    <a:pt x="8665" y="414957"/>
                  </a:lnTo>
                  <a:lnTo>
                    <a:pt x="2194" y="454676"/>
                  </a:lnTo>
                  <a:lnTo>
                    <a:pt x="0" y="495300"/>
                  </a:lnTo>
                  <a:lnTo>
                    <a:pt x="2194" y="535923"/>
                  </a:lnTo>
                  <a:lnTo>
                    <a:pt x="8665" y="575642"/>
                  </a:lnTo>
                  <a:lnTo>
                    <a:pt x="19241" y="614330"/>
                  </a:lnTo>
                  <a:lnTo>
                    <a:pt x="33753" y="651857"/>
                  </a:lnTo>
                  <a:lnTo>
                    <a:pt x="52030" y="688097"/>
                  </a:lnTo>
                  <a:lnTo>
                    <a:pt x="73901" y="722923"/>
                  </a:lnTo>
                  <a:lnTo>
                    <a:pt x="99197" y="756207"/>
                  </a:lnTo>
                  <a:lnTo>
                    <a:pt x="127747" y="787822"/>
                  </a:lnTo>
                  <a:lnTo>
                    <a:pt x="159381" y="817640"/>
                  </a:lnTo>
                  <a:lnTo>
                    <a:pt x="193928" y="845534"/>
                  </a:lnTo>
                  <a:lnTo>
                    <a:pt x="231219" y="871376"/>
                  </a:lnTo>
                  <a:lnTo>
                    <a:pt x="271083" y="895039"/>
                  </a:lnTo>
                  <a:lnTo>
                    <a:pt x="313349" y="916395"/>
                  </a:lnTo>
                  <a:lnTo>
                    <a:pt x="357847" y="935317"/>
                  </a:lnTo>
                  <a:lnTo>
                    <a:pt x="404407" y="951678"/>
                  </a:lnTo>
                  <a:lnTo>
                    <a:pt x="452859" y="965350"/>
                  </a:lnTo>
                  <a:lnTo>
                    <a:pt x="503032" y="976205"/>
                  </a:lnTo>
                  <a:lnTo>
                    <a:pt x="554757" y="984117"/>
                  </a:lnTo>
                  <a:lnTo>
                    <a:pt x="607862" y="988958"/>
                  </a:lnTo>
                  <a:lnTo>
                    <a:pt x="662178" y="990600"/>
                  </a:lnTo>
                  <a:lnTo>
                    <a:pt x="716493" y="988958"/>
                  </a:lnTo>
                  <a:lnTo>
                    <a:pt x="769598" y="984117"/>
                  </a:lnTo>
                  <a:lnTo>
                    <a:pt x="821323" y="976205"/>
                  </a:lnTo>
                  <a:lnTo>
                    <a:pt x="871496" y="965350"/>
                  </a:lnTo>
                  <a:lnTo>
                    <a:pt x="919948" y="951678"/>
                  </a:lnTo>
                  <a:lnTo>
                    <a:pt x="966508" y="935317"/>
                  </a:lnTo>
                  <a:lnTo>
                    <a:pt x="1011006" y="916395"/>
                  </a:lnTo>
                  <a:lnTo>
                    <a:pt x="1053272" y="895039"/>
                  </a:lnTo>
                  <a:lnTo>
                    <a:pt x="1093136" y="871376"/>
                  </a:lnTo>
                  <a:lnTo>
                    <a:pt x="1130427" y="845534"/>
                  </a:lnTo>
                  <a:lnTo>
                    <a:pt x="1164974" y="817640"/>
                  </a:lnTo>
                  <a:lnTo>
                    <a:pt x="1196608" y="787822"/>
                  </a:lnTo>
                  <a:lnTo>
                    <a:pt x="1225158" y="756207"/>
                  </a:lnTo>
                  <a:lnTo>
                    <a:pt x="1250454" y="722923"/>
                  </a:lnTo>
                  <a:lnTo>
                    <a:pt x="1272325" y="688097"/>
                  </a:lnTo>
                  <a:lnTo>
                    <a:pt x="1290602" y="651857"/>
                  </a:lnTo>
                  <a:lnTo>
                    <a:pt x="1305114" y="614330"/>
                  </a:lnTo>
                  <a:lnTo>
                    <a:pt x="1315690" y="575642"/>
                  </a:lnTo>
                  <a:lnTo>
                    <a:pt x="1322161" y="535923"/>
                  </a:lnTo>
                  <a:lnTo>
                    <a:pt x="1324356" y="495300"/>
                  </a:lnTo>
                  <a:lnTo>
                    <a:pt x="1322161" y="454676"/>
                  </a:lnTo>
                  <a:lnTo>
                    <a:pt x="1315690" y="414957"/>
                  </a:lnTo>
                  <a:lnTo>
                    <a:pt x="1305114" y="376269"/>
                  </a:lnTo>
                  <a:lnTo>
                    <a:pt x="1290602" y="338742"/>
                  </a:lnTo>
                  <a:lnTo>
                    <a:pt x="1272325" y="302502"/>
                  </a:lnTo>
                  <a:lnTo>
                    <a:pt x="1250454" y="267676"/>
                  </a:lnTo>
                  <a:lnTo>
                    <a:pt x="1225158" y="234392"/>
                  </a:lnTo>
                  <a:lnTo>
                    <a:pt x="1196608" y="202777"/>
                  </a:lnTo>
                  <a:lnTo>
                    <a:pt x="1164974" y="172959"/>
                  </a:lnTo>
                  <a:lnTo>
                    <a:pt x="1130427" y="145065"/>
                  </a:lnTo>
                  <a:lnTo>
                    <a:pt x="1093136" y="119223"/>
                  </a:lnTo>
                  <a:lnTo>
                    <a:pt x="1053272" y="95560"/>
                  </a:lnTo>
                  <a:lnTo>
                    <a:pt x="1011006" y="74204"/>
                  </a:lnTo>
                  <a:lnTo>
                    <a:pt x="966508" y="55282"/>
                  </a:lnTo>
                  <a:lnTo>
                    <a:pt x="919948" y="38921"/>
                  </a:lnTo>
                  <a:lnTo>
                    <a:pt x="871496" y="25249"/>
                  </a:lnTo>
                  <a:lnTo>
                    <a:pt x="821323" y="14394"/>
                  </a:lnTo>
                  <a:lnTo>
                    <a:pt x="769598" y="6482"/>
                  </a:lnTo>
                  <a:lnTo>
                    <a:pt x="716493" y="1641"/>
                  </a:lnTo>
                  <a:lnTo>
                    <a:pt x="662178" y="0"/>
                  </a:lnTo>
                  <a:close/>
                </a:path>
              </a:pathLst>
            </a:custGeom>
            <a:solidFill>
              <a:srgbClr val="0C0C0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8195309" y="3048761"/>
              <a:ext cx="1324610" cy="990600"/>
            </a:xfrm>
            <a:custGeom>
              <a:avLst/>
              <a:gdLst/>
              <a:ahLst/>
              <a:cxnLst/>
              <a:rect l="l" t="t" r="r" b="b"/>
              <a:pathLst>
                <a:path w="1324609" h="990600">
                  <a:moveTo>
                    <a:pt x="0" y="495300"/>
                  </a:moveTo>
                  <a:lnTo>
                    <a:pt x="2194" y="454676"/>
                  </a:lnTo>
                  <a:lnTo>
                    <a:pt x="8665" y="414957"/>
                  </a:lnTo>
                  <a:lnTo>
                    <a:pt x="19241" y="376269"/>
                  </a:lnTo>
                  <a:lnTo>
                    <a:pt x="33753" y="338742"/>
                  </a:lnTo>
                  <a:lnTo>
                    <a:pt x="52030" y="302502"/>
                  </a:lnTo>
                  <a:lnTo>
                    <a:pt x="73901" y="267676"/>
                  </a:lnTo>
                  <a:lnTo>
                    <a:pt x="99197" y="234392"/>
                  </a:lnTo>
                  <a:lnTo>
                    <a:pt x="127747" y="202777"/>
                  </a:lnTo>
                  <a:lnTo>
                    <a:pt x="159381" y="172959"/>
                  </a:lnTo>
                  <a:lnTo>
                    <a:pt x="193929" y="145065"/>
                  </a:lnTo>
                  <a:lnTo>
                    <a:pt x="231219" y="119223"/>
                  </a:lnTo>
                  <a:lnTo>
                    <a:pt x="271083" y="95560"/>
                  </a:lnTo>
                  <a:lnTo>
                    <a:pt x="313349" y="74204"/>
                  </a:lnTo>
                  <a:lnTo>
                    <a:pt x="357847" y="55282"/>
                  </a:lnTo>
                  <a:lnTo>
                    <a:pt x="404407" y="38921"/>
                  </a:lnTo>
                  <a:lnTo>
                    <a:pt x="452859" y="25249"/>
                  </a:lnTo>
                  <a:lnTo>
                    <a:pt x="503032" y="14394"/>
                  </a:lnTo>
                  <a:lnTo>
                    <a:pt x="554757" y="6482"/>
                  </a:lnTo>
                  <a:lnTo>
                    <a:pt x="607862" y="1641"/>
                  </a:lnTo>
                  <a:lnTo>
                    <a:pt x="662178" y="0"/>
                  </a:lnTo>
                  <a:lnTo>
                    <a:pt x="716493" y="1641"/>
                  </a:lnTo>
                  <a:lnTo>
                    <a:pt x="769598" y="6482"/>
                  </a:lnTo>
                  <a:lnTo>
                    <a:pt x="821323" y="14394"/>
                  </a:lnTo>
                  <a:lnTo>
                    <a:pt x="871496" y="25249"/>
                  </a:lnTo>
                  <a:lnTo>
                    <a:pt x="919948" y="38921"/>
                  </a:lnTo>
                  <a:lnTo>
                    <a:pt x="966508" y="55282"/>
                  </a:lnTo>
                  <a:lnTo>
                    <a:pt x="1011006" y="74204"/>
                  </a:lnTo>
                  <a:lnTo>
                    <a:pt x="1053272" y="95560"/>
                  </a:lnTo>
                  <a:lnTo>
                    <a:pt x="1093136" y="119223"/>
                  </a:lnTo>
                  <a:lnTo>
                    <a:pt x="1130427" y="145065"/>
                  </a:lnTo>
                  <a:lnTo>
                    <a:pt x="1164974" y="172959"/>
                  </a:lnTo>
                  <a:lnTo>
                    <a:pt x="1196608" y="202777"/>
                  </a:lnTo>
                  <a:lnTo>
                    <a:pt x="1225158" y="234392"/>
                  </a:lnTo>
                  <a:lnTo>
                    <a:pt x="1250454" y="267676"/>
                  </a:lnTo>
                  <a:lnTo>
                    <a:pt x="1272325" y="302502"/>
                  </a:lnTo>
                  <a:lnTo>
                    <a:pt x="1290602" y="338742"/>
                  </a:lnTo>
                  <a:lnTo>
                    <a:pt x="1305114" y="376269"/>
                  </a:lnTo>
                  <a:lnTo>
                    <a:pt x="1315690" y="414957"/>
                  </a:lnTo>
                  <a:lnTo>
                    <a:pt x="1322161" y="454676"/>
                  </a:lnTo>
                  <a:lnTo>
                    <a:pt x="1324356" y="495300"/>
                  </a:lnTo>
                  <a:lnTo>
                    <a:pt x="1322161" y="535923"/>
                  </a:lnTo>
                  <a:lnTo>
                    <a:pt x="1315690" y="575642"/>
                  </a:lnTo>
                  <a:lnTo>
                    <a:pt x="1305114" y="614330"/>
                  </a:lnTo>
                  <a:lnTo>
                    <a:pt x="1290602" y="651857"/>
                  </a:lnTo>
                  <a:lnTo>
                    <a:pt x="1272325" y="688097"/>
                  </a:lnTo>
                  <a:lnTo>
                    <a:pt x="1250454" y="722923"/>
                  </a:lnTo>
                  <a:lnTo>
                    <a:pt x="1225158" y="756207"/>
                  </a:lnTo>
                  <a:lnTo>
                    <a:pt x="1196608" y="787822"/>
                  </a:lnTo>
                  <a:lnTo>
                    <a:pt x="1164974" y="817640"/>
                  </a:lnTo>
                  <a:lnTo>
                    <a:pt x="1130427" y="845534"/>
                  </a:lnTo>
                  <a:lnTo>
                    <a:pt x="1093136" y="871376"/>
                  </a:lnTo>
                  <a:lnTo>
                    <a:pt x="1053272" y="895039"/>
                  </a:lnTo>
                  <a:lnTo>
                    <a:pt x="1011006" y="916395"/>
                  </a:lnTo>
                  <a:lnTo>
                    <a:pt x="966508" y="935317"/>
                  </a:lnTo>
                  <a:lnTo>
                    <a:pt x="919948" y="951678"/>
                  </a:lnTo>
                  <a:lnTo>
                    <a:pt x="871496" y="965350"/>
                  </a:lnTo>
                  <a:lnTo>
                    <a:pt x="821323" y="976205"/>
                  </a:lnTo>
                  <a:lnTo>
                    <a:pt x="769598" y="984117"/>
                  </a:lnTo>
                  <a:lnTo>
                    <a:pt x="716493" y="988958"/>
                  </a:lnTo>
                  <a:lnTo>
                    <a:pt x="662178" y="990600"/>
                  </a:lnTo>
                  <a:lnTo>
                    <a:pt x="607862" y="988958"/>
                  </a:lnTo>
                  <a:lnTo>
                    <a:pt x="554757" y="984117"/>
                  </a:lnTo>
                  <a:lnTo>
                    <a:pt x="503032" y="976205"/>
                  </a:lnTo>
                  <a:lnTo>
                    <a:pt x="452859" y="965350"/>
                  </a:lnTo>
                  <a:lnTo>
                    <a:pt x="404407" y="951678"/>
                  </a:lnTo>
                  <a:lnTo>
                    <a:pt x="357847" y="935317"/>
                  </a:lnTo>
                  <a:lnTo>
                    <a:pt x="313349" y="916395"/>
                  </a:lnTo>
                  <a:lnTo>
                    <a:pt x="271083" y="895039"/>
                  </a:lnTo>
                  <a:lnTo>
                    <a:pt x="231219" y="871376"/>
                  </a:lnTo>
                  <a:lnTo>
                    <a:pt x="193928" y="845534"/>
                  </a:lnTo>
                  <a:lnTo>
                    <a:pt x="159381" y="817640"/>
                  </a:lnTo>
                  <a:lnTo>
                    <a:pt x="127747" y="787822"/>
                  </a:lnTo>
                  <a:lnTo>
                    <a:pt x="99197" y="756207"/>
                  </a:lnTo>
                  <a:lnTo>
                    <a:pt x="73901" y="722923"/>
                  </a:lnTo>
                  <a:lnTo>
                    <a:pt x="52030" y="688097"/>
                  </a:lnTo>
                  <a:lnTo>
                    <a:pt x="33753" y="651857"/>
                  </a:lnTo>
                  <a:lnTo>
                    <a:pt x="19241" y="614330"/>
                  </a:lnTo>
                  <a:lnTo>
                    <a:pt x="8665" y="575642"/>
                  </a:lnTo>
                  <a:lnTo>
                    <a:pt x="2194" y="535923"/>
                  </a:lnTo>
                  <a:lnTo>
                    <a:pt x="0" y="495300"/>
                  </a:lnTo>
                  <a:close/>
                </a:path>
              </a:pathLst>
            </a:custGeom>
            <a:ln w="254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8519921" y="3308426"/>
            <a:ext cx="6775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5">
                <a:solidFill>
                  <a:srgbClr val="FFFFFF"/>
                </a:solidFill>
                <a:latin typeface="Arial"/>
                <a:cs typeface="Arial"/>
              </a:rPr>
              <a:t>sPA</a:t>
            </a:r>
            <a:endParaRPr sz="2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308986" y="4141089"/>
            <a:ext cx="1368425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10515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solidFill>
                  <a:srgbClr val="C00000"/>
                </a:solidFill>
                <a:latin typeface="Arial"/>
                <a:cs typeface="Arial"/>
              </a:rPr>
              <a:t>Guest </a:t>
            </a:r>
            <a:r>
              <a:rPr dirty="0" sz="2000" b="1">
                <a:solidFill>
                  <a:srgbClr val="C00000"/>
                </a:solidFill>
                <a:latin typeface="Arial"/>
                <a:cs typeface="Arial"/>
              </a:rPr>
              <a:t>Page</a:t>
            </a:r>
            <a:r>
              <a:rPr dirty="0" sz="2000" spc="-2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Arial"/>
                <a:cs typeface="Arial"/>
              </a:rPr>
              <a:t>Table</a:t>
            </a:r>
            <a:endParaRPr sz="20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035802" y="4141089"/>
            <a:ext cx="1536065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6520" marR="5080" indent="-8382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solidFill>
                  <a:srgbClr val="C00000"/>
                </a:solidFill>
                <a:latin typeface="Arial"/>
                <a:cs typeface="Arial"/>
              </a:rPr>
              <a:t>Host/system </a:t>
            </a:r>
            <a:r>
              <a:rPr dirty="0" sz="2000" b="1">
                <a:solidFill>
                  <a:srgbClr val="C00000"/>
                </a:solidFill>
                <a:latin typeface="Arial"/>
                <a:cs typeface="Arial"/>
              </a:rPr>
              <a:t>Page</a:t>
            </a:r>
            <a:r>
              <a:rPr dirty="0" sz="2000" spc="-2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Arial"/>
                <a:cs typeface="Arial"/>
              </a:rPr>
              <a:t>Table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917872" y="3979545"/>
            <a:ext cx="7839709" cy="2258695"/>
            <a:chOff x="917872" y="3979545"/>
            <a:chExt cx="7839709" cy="2258695"/>
          </a:xfrm>
        </p:grpSpPr>
        <p:pic>
          <p:nvPicPr>
            <p:cNvPr id="44" name="object 4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797840" y="5103876"/>
              <a:ext cx="2087814" cy="1133856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946447" y="4008120"/>
              <a:ext cx="2900680" cy="1609725"/>
            </a:xfrm>
            <a:custGeom>
              <a:avLst/>
              <a:gdLst/>
              <a:ahLst/>
              <a:cxnLst/>
              <a:rect l="l" t="t" r="r" b="b"/>
              <a:pathLst>
                <a:path w="2900679" h="1609725">
                  <a:moveTo>
                    <a:pt x="7728" y="0"/>
                  </a:moveTo>
                  <a:lnTo>
                    <a:pt x="5570" y="45120"/>
                  </a:lnTo>
                  <a:lnTo>
                    <a:pt x="3566" y="90198"/>
                  </a:lnTo>
                  <a:lnTo>
                    <a:pt x="1867" y="135192"/>
                  </a:lnTo>
                  <a:lnTo>
                    <a:pt x="627" y="180060"/>
                  </a:lnTo>
                  <a:lnTo>
                    <a:pt x="0" y="224760"/>
                  </a:lnTo>
                  <a:lnTo>
                    <a:pt x="136" y="269250"/>
                  </a:lnTo>
                  <a:lnTo>
                    <a:pt x="1191" y="313487"/>
                  </a:lnTo>
                  <a:lnTo>
                    <a:pt x="3316" y="357430"/>
                  </a:lnTo>
                  <a:lnTo>
                    <a:pt x="6665" y="401037"/>
                  </a:lnTo>
                  <a:lnTo>
                    <a:pt x="11390" y="444266"/>
                  </a:lnTo>
                  <a:lnTo>
                    <a:pt x="17645" y="487074"/>
                  </a:lnTo>
                  <a:lnTo>
                    <a:pt x="25583" y="529419"/>
                  </a:lnTo>
                  <a:lnTo>
                    <a:pt x="35356" y="571260"/>
                  </a:lnTo>
                  <a:lnTo>
                    <a:pt x="47117" y="612555"/>
                  </a:lnTo>
                  <a:lnTo>
                    <a:pt x="61019" y="653260"/>
                  </a:lnTo>
                  <a:lnTo>
                    <a:pt x="77216" y="693335"/>
                  </a:lnTo>
                  <a:lnTo>
                    <a:pt x="95861" y="732738"/>
                  </a:lnTo>
                  <a:lnTo>
                    <a:pt x="117105" y="771426"/>
                  </a:lnTo>
                  <a:lnTo>
                    <a:pt x="141103" y="809357"/>
                  </a:lnTo>
                  <a:lnTo>
                    <a:pt x="168006" y="846489"/>
                  </a:lnTo>
                  <a:lnTo>
                    <a:pt x="197969" y="882780"/>
                  </a:lnTo>
                  <a:lnTo>
                    <a:pt x="231144" y="918189"/>
                  </a:lnTo>
                  <a:lnTo>
                    <a:pt x="267684" y="952672"/>
                  </a:lnTo>
                  <a:lnTo>
                    <a:pt x="307741" y="986188"/>
                  </a:lnTo>
                  <a:lnTo>
                    <a:pt x="351470" y="1018696"/>
                  </a:lnTo>
                  <a:lnTo>
                    <a:pt x="399022" y="1050152"/>
                  </a:lnTo>
                  <a:lnTo>
                    <a:pt x="450552" y="1080515"/>
                  </a:lnTo>
                  <a:lnTo>
                    <a:pt x="510764" y="1112049"/>
                  </a:lnTo>
                  <a:lnTo>
                    <a:pt x="575603" y="1142312"/>
                  </a:lnTo>
                  <a:lnTo>
                    <a:pt x="644874" y="1171356"/>
                  </a:lnTo>
                  <a:lnTo>
                    <a:pt x="681111" y="1185438"/>
                  </a:lnTo>
                  <a:lnTo>
                    <a:pt x="718385" y="1199236"/>
                  </a:lnTo>
                  <a:lnTo>
                    <a:pt x="756670" y="1212755"/>
                  </a:lnTo>
                  <a:lnTo>
                    <a:pt x="795943" y="1226003"/>
                  </a:lnTo>
                  <a:lnTo>
                    <a:pt x="836179" y="1238986"/>
                  </a:lnTo>
                  <a:lnTo>
                    <a:pt x="877355" y="1251710"/>
                  </a:lnTo>
                  <a:lnTo>
                    <a:pt x="919447" y="1264184"/>
                  </a:lnTo>
                  <a:lnTo>
                    <a:pt x="962429" y="1276412"/>
                  </a:lnTo>
                  <a:lnTo>
                    <a:pt x="1006279" y="1288402"/>
                  </a:lnTo>
                  <a:lnTo>
                    <a:pt x="1050972" y="1300160"/>
                  </a:lnTo>
                  <a:lnTo>
                    <a:pt x="1096484" y="1311694"/>
                  </a:lnTo>
                  <a:lnTo>
                    <a:pt x="1142791" y="1323008"/>
                  </a:lnTo>
                  <a:lnTo>
                    <a:pt x="1189869" y="1334111"/>
                  </a:lnTo>
                  <a:lnTo>
                    <a:pt x="1237693" y="1345009"/>
                  </a:lnTo>
                  <a:lnTo>
                    <a:pt x="1286241" y="1355708"/>
                  </a:lnTo>
                  <a:lnTo>
                    <a:pt x="1335486" y="1366215"/>
                  </a:lnTo>
                  <a:lnTo>
                    <a:pt x="1385406" y="1376537"/>
                  </a:lnTo>
                  <a:lnTo>
                    <a:pt x="1435977" y="1386679"/>
                  </a:lnTo>
                  <a:lnTo>
                    <a:pt x="1487173" y="1396650"/>
                  </a:lnTo>
                  <a:lnTo>
                    <a:pt x="1538972" y="1406456"/>
                  </a:lnTo>
                  <a:lnTo>
                    <a:pt x="1591349" y="1416102"/>
                  </a:lnTo>
                  <a:lnTo>
                    <a:pt x="1644279" y="1425596"/>
                  </a:lnTo>
                  <a:lnTo>
                    <a:pt x="1697740" y="1434945"/>
                  </a:lnTo>
                  <a:lnTo>
                    <a:pt x="1751706" y="1444154"/>
                  </a:lnTo>
                  <a:lnTo>
                    <a:pt x="1806154" y="1453231"/>
                  </a:lnTo>
                  <a:lnTo>
                    <a:pt x="1861060" y="1462182"/>
                  </a:lnTo>
                  <a:lnTo>
                    <a:pt x="1916398" y="1471015"/>
                  </a:lnTo>
                  <a:lnTo>
                    <a:pt x="1972147" y="1479734"/>
                  </a:lnTo>
                  <a:lnTo>
                    <a:pt x="2028280" y="1488348"/>
                  </a:lnTo>
                  <a:lnTo>
                    <a:pt x="2084775" y="1496862"/>
                  </a:lnTo>
                  <a:lnTo>
                    <a:pt x="2141607" y="1505284"/>
                  </a:lnTo>
                  <a:lnTo>
                    <a:pt x="2198751" y="1513619"/>
                  </a:lnTo>
                  <a:lnTo>
                    <a:pt x="2256185" y="1521876"/>
                  </a:lnTo>
                  <a:lnTo>
                    <a:pt x="2313883" y="1530059"/>
                  </a:lnTo>
                  <a:lnTo>
                    <a:pt x="2371822" y="1538176"/>
                  </a:lnTo>
                  <a:lnTo>
                    <a:pt x="2429978" y="1546234"/>
                  </a:lnTo>
                  <a:lnTo>
                    <a:pt x="2488326" y="1554238"/>
                  </a:lnTo>
                  <a:lnTo>
                    <a:pt x="2546842" y="1562196"/>
                  </a:lnTo>
                  <a:lnTo>
                    <a:pt x="2605503" y="1570115"/>
                  </a:lnTo>
                  <a:lnTo>
                    <a:pt x="2664284" y="1578000"/>
                  </a:lnTo>
                  <a:lnTo>
                    <a:pt x="2723161" y="1585859"/>
                  </a:lnTo>
                  <a:lnTo>
                    <a:pt x="2782110" y="1593698"/>
                  </a:lnTo>
                  <a:lnTo>
                    <a:pt x="2841107" y="1601524"/>
                  </a:lnTo>
                  <a:lnTo>
                    <a:pt x="2900128" y="1609343"/>
                  </a:lnTo>
                </a:path>
              </a:pathLst>
            </a:custGeom>
            <a:ln w="5715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5840984" y="4008501"/>
              <a:ext cx="2887980" cy="1464945"/>
            </a:xfrm>
            <a:custGeom>
              <a:avLst/>
              <a:gdLst/>
              <a:ahLst/>
              <a:cxnLst/>
              <a:rect l="l" t="t" r="r" b="b"/>
              <a:pathLst>
                <a:path w="2887979" h="1464945">
                  <a:moveTo>
                    <a:pt x="2887852" y="0"/>
                  </a:moveTo>
                  <a:lnTo>
                    <a:pt x="2886051" y="47502"/>
                  </a:lnTo>
                  <a:lnTo>
                    <a:pt x="2884109" y="94949"/>
                  </a:lnTo>
                  <a:lnTo>
                    <a:pt x="2881885" y="142284"/>
                  </a:lnTo>
                  <a:lnTo>
                    <a:pt x="2879235" y="189451"/>
                  </a:lnTo>
                  <a:lnTo>
                    <a:pt x="2876019" y="236395"/>
                  </a:lnTo>
                  <a:lnTo>
                    <a:pt x="2872094" y="283058"/>
                  </a:lnTo>
                  <a:lnTo>
                    <a:pt x="2867319" y="329386"/>
                  </a:lnTo>
                  <a:lnTo>
                    <a:pt x="2861551" y="375323"/>
                  </a:lnTo>
                  <a:lnTo>
                    <a:pt x="2854649" y="420812"/>
                  </a:lnTo>
                  <a:lnTo>
                    <a:pt x="2846471" y="465797"/>
                  </a:lnTo>
                  <a:lnTo>
                    <a:pt x="2836874" y="510223"/>
                  </a:lnTo>
                  <a:lnTo>
                    <a:pt x="2825718" y="554034"/>
                  </a:lnTo>
                  <a:lnTo>
                    <a:pt x="2812859" y="597173"/>
                  </a:lnTo>
                  <a:lnTo>
                    <a:pt x="2798156" y="639585"/>
                  </a:lnTo>
                  <a:lnTo>
                    <a:pt x="2781468" y="681214"/>
                  </a:lnTo>
                  <a:lnTo>
                    <a:pt x="2762651" y="722004"/>
                  </a:lnTo>
                  <a:lnTo>
                    <a:pt x="2741565" y="761899"/>
                  </a:lnTo>
                  <a:lnTo>
                    <a:pt x="2718068" y="800843"/>
                  </a:lnTo>
                  <a:lnTo>
                    <a:pt x="2692016" y="838780"/>
                  </a:lnTo>
                  <a:lnTo>
                    <a:pt x="2663269" y="875653"/>
                  </a:lnTo>
                  <a:lnTo>
                    <a:pt x="2631685" y="911409"/>
                  </a:lnTo>
                  <a:lnTo>
                    <a:pt x="2597121" y="945989"/>
                  </a:lnTo>
                  <a:lnTo>
                    <a:pt x="2559437" y="979339"/>
                  </a:lnTo>
                  <a:lnTo>
                    <a:pt x="2518488" y="1011402"/>
                  </a:lnTo>
                  <a:lnTo>
                    <a:pt x="2474135" y="1042122"/>
                  </a:lnTo>
                  <a:lnTo>
                    <a:pt x="2426235" y="1071444"/>
                  </a:lnTo>
                  <a:lnTo>
                    <a:pt x="2374645" y="1099312"/>
                  </a:lnTo>
                  <a:lnTo>
                    <a:pt x="2312089" y="1128881"/>
                  </a:lnTo>
                  <a:lnTo>
                    <a:pt x="2244888" y="1156618"/>
                  </a:lnTo>
                  <a:lnTo>
                    <a:pt x="2173243" y="1182603"/>
                  </a:lnTo>
                  <a:lnTo>
                    <a:pt x="2135818" y="1194963"/>
                  </a:lnTo>
                  <a:lnTo>
                    <a:pt x="2097357" y="1206915"/>
                  </a:lnTo>
                  <a:lnTo>
                    <a:pt x="2057887" y="1218469"/>
                  </a:lnTo>
                  <a:lnTo>
                    <a:pt x="2017432" y="1229634"/>
                  </a:lnTo>
                  <a:lnTo>
                    <a:pt x="1976018" y="1240422"/>
                  </a:lnTo>
                  <a:lnTo>
                    <a:pt x="1933670" y="1250840"/>
                  </a:lnTo>
                  <a:lnTo>
                    <a:pt x="1890413" y="1260901"/>
                  </a:lnTo>
                  <a:lnTo>
                    <a:pt x="1846272" y="1270613"/>
                  </a:lnTo>
                  <a:lnTo>
                    <a:pt x="1801273" y="1279986"/>
                  </a:lnTo>
                  <a:lnTo>
                    <a:pt x="1755441" y="1289031"/>
                  </a:lnTo>
                  <a:lnTo>
                    <a:pt x="1708800" y="1297757"/>
                  </a:lnTo>
                  <a:lnTo>
                    <a:pt x="1661378" y="1306174"/>
                  </a:lnTo>
                  <a:lnTo>
                    <a:pt x="1613198" y="1314293"/>
                  </a:lnTo>
                  <a:lnTo>
                    <a:pt x="1564286" y="1322123"/>
                  </a:lnTo>
                  <a:lnTo>
                    <a:pt x="1514666" y="1329675"/>
                  </a:lnTo>
                  <a:lnTo>
                    <a:pt x="1464366" y="1336957"/>
                  </a:lnTo>
                  <a:lnTo>
                    <a:pt x="1413409" y="1343981"/>
                  </a:lnTo>
                  <a:lnTo>
                    <a:pt x="1361821" y="1350756"/>
                  </a:lnTo>
                  <a:lnTo>
                    <a:pt x="1309626" y="1357291"/>
                  </a:lnTo>
                  <a:lnTo>
                    <a:pt x="1256852" y="1363598"/>
                  </a:lnTo>
                  <a:lnTo>
                    <a:pt x="1203521" y="1369686"/>
                  </a:lnTo>
                  <a:lnTo>
                    <a:pt x="1149661" y="1375565"/>
                  </a:lnTo>
                  <a:lnTo>
                    <a:pt x="1095296" y="1381244"/>
                  </a:lnTo>
                  <a:lnTo>
                    <a:pt x="1040451" y="1386735"/>
                  </a:lnTo>
                  <a:lnTo>
                    <a:pt x="985152" y="1392046"/>
                  </a:lnTo>
                  <a:lnTo>
                    <a:pt x="929423" y="1397188"/>
                  </a:lnTo>
                  <a:lnTo>
                    <a:pt x="873291" y="1402170"/>
                  </a:lnTo>
                  <a:lnTo>
                    <a:pt x="816780" y="1407004"/>
                  </a:lnTo>
                  <a:lnTo>
                    <a:pt x="759915" y="1411697"/>
                  </a:lnTo>
                  <a:lnTo>
                    <a:pt x="702722" y="1416262"/>
                  </a:lnTo>
                  <a:lnTo>
                    <a:pt x="645227" y="1420707"/>
                  </a:lnTo>
                  <a:lnTo>
                    <a:pt x="587453" y="1425042"/>
                  </a:lnTo>
                  <a:lnTo>
                    <a:pt x="529427" y="1429278"/>
                  </a:lnTo>
                  <a:lnTo>
                    <a:pt x="471174" y="1433424"/>
                  </a:lnTo>
                  <a:lnTo>
                    <a:pt x="412719" y="1437491"/>
                  </a:lnTo>
                  <a:lnTo>
                    <a:pt x="354087" y="1441488"/>
                  </a:lnTo>
                  <a:lnTo>
                    <a:pt x="295304" y="1445425"/>
                  </a:lnTo>
                  <a:lnTo>
                    <a:pt x="236395" y="1449313"/>
                  </a:lnTo>
                  <a:lnTo>
                    <a:pt x="177384" y="1453160"/>
                  </a:lnTo>
                  <a:lnTo>
                    <a:pt x="118298" y="1456978"/>
                  </a:lnTo>
                  <a:lnTo>
                    <a:pt x="59161" y="1460776"/>
                  </a:lnTo>
                  <a:lnTo>
                    <a:pt x="0" y="1464564"/>
                  </a:lnTo>
                </a:path>
              </a:pathLst>
            </a:custGeom>
            <a:ln w="5715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6119621" y="5577941"/>
            <a:ext cx="1368425" cy="636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solidFill>
                  <a:srgbClr val="C00000"/>
                </a:solidFill>
                <a:latin typeface="Arial"/>
                <a:cs typeface="Arial"/>
              </a:rPr>
              <a:t>Shadow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2000" b="1">
                <a:solidFill>
                  <a:srgbClr val="C00000"/>
                </a:solidFill>
                <a:latin typeface="Arial"/>
                <a:cs typeface="Arial"/>
              </a:rPr>
              <a:t>Page</a:t>
            </a:r>
            <a:r>
              <a:rPr dirty="0" sz="2000" spc="-2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00" spc="-20" b="1">
                <a:solidFill>
                  <a:srgbClr val="C00000"/>
                </a:solidFill>
                <a:latin typeface="Arial"/>
                <a:cs typeface="Arial"/>
              </a:rPr>
              <a:t>Table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1600200" y="2945892"/>
            <a:ext cx="6019800" cy="3302635"/>
            <a:chOff x="1600200" y="2945892"/>
            <a:chExt cx="6019800" cy="3302635"/>
          </a:xfrm>
        </p:grpSpPr>
        <p:pic>
          <p:nvPicPr>
            <p:cNvPr id="50" name="object 5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486400" y="2945892"/>
              <a:ext cx="2133600" cy="1156716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00200" y="2971800"/>
              <a:ext cx="2133600" cy="115519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505200" y="5093208"/>
              <a:ext cx="2133600" cy="1155191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8474456" y="4987797"/>
            <a:ext cx="3578860" cy="185673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55600" marR="187325" indent="-342900">
              <a:lnSpc>
                <a:spcPct val="100499"/>
              </a:lnSpc>
              <a:spcBef>
                <a:spcPts val="90"/>
              </a:spcBef>
              <a:buClr>
                <a:srgbClr val="833B0A"/>
              </a:buClr>
              <a:buChar char="▪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shadow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version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page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table </a:t>
            </a:r>
            <a:r>
              <a:rPr dirty="0" sz="2000">
                <a:latin typeface="Calibri"/>
                <a:cs typeface="Calibri"/>
              </a:rPr>
              <a:t>derived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gPT.</a:t>
            </a:r>
            <a:endParaRPr sz="2000">
              <a:latin typeface="Calibri"/>
              <a:cs typeface="Calibri"/>
            </a:endParaRPr>
          </a:p>
          <a:p>
            <a:pPr marL="355600" marR="5080" indent="-342900">
              <a:lnSpc>
                <a:spcPts val="2400"/>
              </a:lnSpc>
              <a:spcBef>
                <a:spcPts val="70"/>
              </a:spcBef>
              <a:buChar char="▪"/>
              <a:tabLst>
                <a:tab pos="355600" algn="l"/>
                <a:tab pos="411480" algn="l"/>
              </a:tabLst>
            </a:pPr>
            <a:r>
              <a:rPr dirty="0" sz="2000">
                <a:solidFill>
                  <a:srgbClr val="833B0A"/>
                </a:solidFill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hypervisor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forces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>
                <a:latin typeface="Calibri"/>
                <a:cs typeface="Calibri"/>
              </a:rPr>
              <a:t>processor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sPT(shadow </a:t>
            </a:r>
            <a:r>
              <a:rPr dirty="0" sz="2000">
                <a:latin typeface="Calibri"/>
                <a:cs typeface="Calibri"/>
              </a:rPr>
              <a:t>page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table)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perform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address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ts val="2335"/>
              </a:lnSpc>
            </a:pPr>
            <a:r>
              <a:rPr dirty="0" sz="2000" spc="-10">
                <a:latin typeface="Calibri"/>
                <a:cs typeface="Calibri"/>
              </a:rPr>
              <a:t>translation.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32343" y="0"/>
            <a:ext cx="754907" cy="139051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484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350"/>
              </a:spcBef>
            </a:pP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Shadow</a:t>
            </a:r>
            <a:r>
              <a:rPr dirty="0" sz="2200" spc="-6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page</a:t>
            </a:r>
            <a:r>
              <a:rPr dirty="0" sz="2200" spc="-6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C55A11"/>
                </a:solidFill>
                <a:latin typeface="Arial"/>
                <a:cs typeface="Arial"/>
              </a:rPr>
              <a:t>tables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55142" y="1218971"/>
            <a:ext cx="11326495" cy="5467350"/>
          </a:xfrm>
          <a:prstGeom prst="rect">
            <a:avLst/>
          </a:prstGeom>
        </p:spPr>
        <p:txBody>
          <a:bodyPr wrap="square" lIns="0" tIns="20637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625"/>
              </a:spcBef>
              <a:buSzPct val="79545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VMM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maintains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shadow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tables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map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guest-</a:t>
            </a:r>
            <a:r>
              <a:rPr dirty="0" sz="2200">
                <a:latin typeface="Calibri"/>
                <a:cs typeface="Calibri"/>
              </a:rPr>
              <a:t>virtual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directly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machine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pages.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520"/>
              </a:spcBef>
              <a:buSzPct val="79545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Guest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modifications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guest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tables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(containing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gVA-</a:t>
            </a:r>
            <a:r>
              <a:rPr dirty="0" sz="2200">
                <a:latin typeface="Calibri"/>
                <a:cs typeface="Calibri"/>
              </a:rPr>
              <a:t>&gt;gPA)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synced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VMM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managed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30"/>
              </a:spcBef>
            </a:pPr>
            <a:r>
              <a:rPr dirty="0" sz="2200">
                <a:latin typeface="Calibri"/>
                <a:cs typeface="Calibri"/>
              </a:rPr>
              <a:t>Shadow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tables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(containing</a:t>
            </a:r>
            <a:r>
              <a:rPr dirty="0" sz="2200" spc="46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gVA-</a:t>
            </a:r>
            <a:r>
              <a:rPr dirty="0" sz="2200" spc="-10">
                <a:latin typeface="Calibri"/>
                <a:cs typeface="Calibri"/>
              </a:rPr>
              <a:t>&gt;sPA).</a:t>
            </a:r>
            <a:endParaRPr sz="2200">
              <a:latin typeface="Calibri"/>
              <a:cs typeface="Calibri"/>
            </a:endParaRPr>
          </a:p>
          <a:p>
            <a:pPr lvl="1" marL="812165" indent="-342265">
              <a:lnSpc>
                <a:spcPct val="100000"/>
              </a:lnSpc>
              <a:spcBef>
                <a:spcPts val="1540"/>
              </a:spcBef>
              <a:buSzPct val="79545"/>
              <a:buFont typeface="Arial"/>
              <a:buChar char="•"/>
              <a:tabLst>
                <a:tab pos="812165" algn="l"/>
              </a:tabLst>
            </a:pPr>
            <a:r>
              <a:rPr dirty="0" sz="2200">
                <a:latin typeface="Calibri"/>
                <a:cs typeface="Calibri"/>
              </a:rPr>
              <a:t>Guest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tables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marked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read-only.</a:t>
            </a:r>
            <a:endParaRPr sz="2200">
              <a:latin typeface="Calibri"/>
              <a:cs typeface="Calibri"/>
            </a:endParaRPr>
          </a:p>
          <a:p>
            <a:pPr lvl="1" marL="812165" indent="-342265">
              <a:lnSpc>
                <a:spcPct val="100000"/>
              </a:lnSpc>
              <a:spcBef>
                <a:spcPts val="1525"/>
              </a:spcBef>
              <a:buSzPct val="79545"/>
              <a:buFont typeface="Arial"/>
              <a:buChar char="•"/>
              <a:tabLst>
                <a:tab pos="812165" algn="l"/>
              </a:tabLst>
            </a:pPr>
            <a:r>
              <a:rPr dirty="0" sz="2200">
                <a:latin typeface="Calibri"/>
                <a:cs typeface="Calibri"/>
              </a:rPr>
              <a:t>Modifications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guest</a:t>
            </a:r>
            <a:r>
              <a:rPr dirty="0" sz="2200" spc="4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tables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by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guest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OS</a:t>
            </a:r>
            <a:r>
              <a:rPr dirty="0" sz="2200" spc="-20">
                <a:latin typeface="Calibri"/>
                <a:cs typeface="Calibri"/>
              </a:rPr>
              <a:t> -</a:t>
            </a:r>
            <a:r>
              <a:rPr dirty="0" sz="2200">
                <a:latin typeface="Calibri"/>
                <a:cs typeface="Calibri"/>
              </a:rPr>
              <a:t>&gt;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trapped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VMM.</a:t>
            </a:r>
            <a:endParaRPr sz="2200">
              <a:latin typeface="Calibri"/>
              <a:cs typeface="Calibri"/>
            </a:endParaRPr>
          </a:p>
          <a:p>
            <a:pPr lvl="1" marL="812165" indent="-342265">
              <a:lnSpc>
                <a:spcPct val="100000"/>
              </a:lnSpc>
              <a:spcBef>
                <a:spcPts val="1520"/>
              </a:spcBef>
              <a:buSzPct val="81818"/>
              <a:buFont typeface="Arial"/>
              <a:buChar char="•"/>
              <a:tabLst>
                <a:tab pos="812165" algn="l"/>
              </a:tabLst>
            </a:pPr>
            <a:r>
              <a:rPr dirty="0" sz="2200">
                <a:latin typeface="Calibri"/>
                <a:cs typeface="Calibri"/>
              </a:rPr>
              <a:t>Shadow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tables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synced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guest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tables</a:t>
            </a:r>
            <a:endParaRPr sz="2200">
              <a:latin typeface="Calibri"/>
              <a:cs typeface="Calibri"/>
            </a:endParaRPr>
          </a:p>
          <a:p>
            <a:pPr marL="355600" marR="382270" indent="-342900">
              <a:lnSpc>
                <a:spcPct val="120000"/>
              </a:lnSpc>
              <a:spcBef>
                <a:spcPts val="1010"/>
              </a:spcBef>
              <a:buSzPct val="79545"/>
              <a:buFont typeface="Arial"/>
              <a:buChar char="•"/>
              <a:tabLst>
                <a:tab pos="355600" algn="l"/>
              </a:tabLst>
            </a:pPr>
            <a:r>
              <a:rPr dirty="0" sz="2200" spc="-20">
                <a:latin typeface="Calibri"/>
                <a:cs typeface="Calibri"/>
              </a:rPr>
              <a:t>Software-</a:t>
            </a:r>
            <a:r>
              <a:rPr dirty="0" sz="2200">
                <a:latin typeface="Calibri"/>
                <a:cs typeface="Calibri"/>
              </a:rPr>
              <a:t>based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techniques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maintain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shadow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version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table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derived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from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guest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page </a:t>
            </a:r>
            <a:r>
              <a:rPr dirty="0" sz="2200">
                <a:latin typeface="Calibri"/>
                <a:cs typeface="Calibri"/>
              </a:rPr>
              <a:t>table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(gPT).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525"/>
              </a:spcBef>
              <a:buSzPct val="79545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When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guest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active,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hypervisor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forces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processor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shadow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table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(sPT)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30"/>
              </a:spcBef>
            </a:pP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perform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address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translation.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525"/>
              </a:spcBef>
              <a:buSzPct val="79545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sPT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not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visible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10">
                <a:latin typeface="Calibri"/>
                <a:cs typeface="Calibri"/>
              </a:rPr>
              <a:t> guest.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72541" y="268300"/>
            <a:ext cx="2602865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40842" y="679145"/>
            <a:ext cx="4001770" cy="97916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b="1">
                <a:solidFill>
                  <a:srgbClr val="C55A11"/>
                </a:solidFill>
                <a:latin typeface="Arial"/>
                <a:cs typeface="Arial"/>
              </a:rPr>
              <a:t>Shadow</a:t>
            </a:r>
            <a:r>
              <a:rPr dirty="0" sz="2200" spc="-6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C55A11"/>
                </a:solidFill>
                <a:latin typeface="Arial"/>
                <a:cs typeface="Arial"/>
              </a:rPr>
              <a:t>page</a:t>
            </a:r>
            <a:r>
              <a:rPr dirty="0" sz="2200" spc="-6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C55A11"/>
                </a:solidFill>
                <a:latin typeface="Arial"/>
                <a:cs typeface="Arial"/>
              </a:rPr>
              <a:t>tables</a:t>
            </a:r>
            <a:r>
              <a:rPr dirty="0" sz="2200" spc="-5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C55A11"/>
                </a:solidFill>
                <a:latin typeface="Arial"/>
                <a:cs typeface="Arial"/>
              </a:rPr>
              <a:t>(Cont.)</a:t>
            </a:r>
            <a:endParaRPr sz="2200">
              <a:latin typeface="Arial"/>
              <a:cs typeface="Arial"/>
            </a:endParaRPr>
          </a:p>
          <a:p>
            <a:pPr marL="1116965">
              <a:lnSpc>
                <a:spcPct val="100000"/>
              </a:lnSpc>
              <a:spcBef>
                <a:spcPts val="1989"/>
              </a:spcBef>
            </a:pPr>
            <a:r>
              <a:rPr dirty="0" sz="2400">
                <a:latin typeface="Calibri"/>
                <a:cs typeface="Calibri"/>
              </a:rPr>
              <a:t>Set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CR3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by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guest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OS</a:t>
            </a:r>
            <a:r>
              <a:rPr dirty="0" sz="2400" spc="-25">
                <a:latin typeface="Calibri"/>
                <a:cs typeface="Calibri"/>
              </a:rPr>
              <a:t> (1)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32343" y="0"/>
            <a:ext cx="754907" cy="1390513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2327275" y="1829180"/>
            <a:ext cx="3777615" cy="2085975"/>
            <a:chOff x="2327275" y="1829180"/>
            <a:chExt cx="3777615" cy="2085975"/>
          </a:xfrm>
        </p:grpSpPr>
        <p:sp>
          <p:nvSpPr>
            <p:cNvPr id="7" name="object 7"/>
            <p:cNvSpPr/>
            <p:nvPr/>
          </p:nvSpPr>
          <p:spPr>
            <a:xfrm>
              <a:off x="2327275" y="1829180"/>
              <a:ext cx="3777615" cy="1543050"/>
            </a:xfrm>
            <a:custGeom>
              <a:avLst/>
              <a:gdLst/>
              <a:ahLst/>
              <a:cxnLst/>
              <a:rect l="l" t="t" r="r" b="b"/>
              <a:pathLst>
                <a:path w="3777615" h="1543050">
                  <a:moveTo>
                    <a:pt x="3742436" y="0"/>
                  </a:moveTo>
                  <a:lnTo>
                    <a:pt x="6476" y="0"/>
                  </a:lnTo>
                  <a:lnTo>
                    <a:pt x="0" y="6350"/>
                  </a:lnTo>
                  <a:lnTo>
                    <a:pt x="0" y="1542669"/>
                  </a:lnTo>
                  <a:lnTo>
                    <a:pt x="28575" y="1542669"/>
                  </a:lnTo>
                  <a:lnTo>
                    <a:pt x="28575" y="28575"/>
                  </a:lnTo>
                  <a:lnTo>
                    <a:pt x="14350" y="28575"/>
                  </a:lnTo>
                  <a:lnTo>
                    <a:pt x="28575" y="14351"/>
                  </a:lnTo>
                  <a:lnTo>
                    <a:pt x="3748913" y="14351"/>
                  </a:lnTo>
                  <a:lnTo>
                    <a:pt x="3748913" y="6350"/>
                  </a:lnTo>
                  <a:lnTo>
                    <a:pt x="3742436" y="0"/>
                  </a:lnTo>
                  <a:close/>
                </a:path>
                <a:path w="3777615" h="1543050">
                  <a:moveTo>
                    <a:pt x="3720338" y="161544"/>
                  </a:moveTo>
                  <a:lnTo>
                    <a:pt x="3691763" y="161544"/>
                  </a:lnTo>
                  <a:lnTo>
                    <a:pt x="3734562" y="247269"/>
                  </a:lnTo>
                  <a:lnTo>
                    <a:pt x="3770365" y="175768"/>
                  </a:lnTo>
                  <a:lnTo>
                    <a:pt x="3720338" y="175768"/>
                  </a:lnTo>
                  <a:lnTo>
                    <a:pt x="3720338" y="161544"/>
                  </a:lnTo>
                  <a:close/>
                </a:path>
                <a:path w="3777615" h="1543050">
                  <a:moveTo>
                    <a:pt x="3720338" y="14351"/>
                  </a:moveTo>
                  <a:lnTo>
                    <a:pt x="3720338" y="175768"/>
                  </a:lnTo>
                  <a:lnTo>
                    <a:pt x="3748913" y="175768"/>
                  </a:lnTo>
                  <a:lnTo>
                    <a:pt x="3748913" y="28575"/>
                  </a:lnTo>
                  <a:lnTo>
                    <a:pt x="3734562" y="28575"/>
                  </a:lnTo>
                  <a:lnTo>
                    <a:pt x="3720338" y="14351"/>
                  </a:lnTo>
                  <a:close/>
                </a:path>
                <a:path w="3777615" h="1543050">
                  <a:moveTo>
                    <a:pt x="3777488" y="161544"/>
                  </a:moveTo>
                  <a:lnTo>
                    <a:pt x="3748913" y="161544"/>
                  </a:lnTo>
                  <a:lnTo>
                    <a:pt x="3748913" y="175768"/>
                  </a:lnTo>
                  <a:lnTo>
                    <a:pt x="3770365" y="175768"/>
                  </a:lnTo>
                  <a:lnTo>
                    <a:pt x="3777488" y="161544"/>
                  </a:lnTo>
                  <a:close/>
                </a:path>
                <a:path w="3777615" h="1543050">
                  <a:moveTo>
                    <a:pt x="28575" y="14351"/>
                  </a:moveTo>
                  <a:lnTo>
                    <a:pt x="14350" y="28575"/>
                  </a:lnTo>
                  <a:lnTo>
                    <a:pt x="28575" y="28575"/>
                  </a:lnTo>
                  <a:lnTo>
                    <a:pt x="28575" y="14351"/>
                  </a:lnTo>
                  <a:close/>
                </a:path>
                <a:path w="3777615" h="1543050">
                  <a:moveTo>
                    <a:pt x="3720338" y="14351"/>
                  </a:moveTo>
                  <a:lnTo>
                    <a:pt x="28575" y="14351"/>
                  </a:lnTo>
                  <a:lnTo>
                    <a:pt x="28575" y="28575"/>
                  </a:lnTo>
                  <a:lnTo>
                    <a:pt x="3720338" y="28575"/>
                  </a:lnTo>
                  <a:lnTo>
                    <a:pt x="3720338" y="14351"/>
                  </a:lnTo>
                  <a:close/>
                </a:path>
                <a:path w="3777615" h="1543050">
                  <a:moveTo>
                    <a:pt x="3748913" y="14351"/>
                  </a:moveTo>
                  <a:lnTo>
                    <a:pt x="3720338" y="14351"/>
                  </a:lnTo>
                  <a:lnTo>
                    <a:pt x="3734562" y="28575"/>
                  </a:lnTo>
                  <a:lnTo>
                    <a:pt x="3748913" y="28575"/>
                  </a:lnTo>
                  <a:lnTo>
                    <a:pt x="3748913" y="14351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516630" y="2076449"/>
              <a:ext cx="1173480" cy="1828800"/>
            </a:xfrm>
            <a:custGeom>
              <a:avLst/>
              <a:gdLst/>
              <a:ahLst/>
              <a:cxnLst/>
              <a:rect l="l" t="t" r="r" b="b"/>
              <a:pathLst>
                <a:path w="1173479" h="1828800">
                  <a:moveTo>
                    <a:pt x="1173467" y="1144524"/>
                  </a:moveTo>
                  <a:lnTo>
                    <a:pt x="0" y="1144524"/>
                  </a:lnTo>
                  <a:lnTo>
                    <a:pt x="0" y="1828800"/>
                  </a:lnTo>
                  <a:lnTo>
                    <a:pt x="1173467" y="1828800"/>
                  </a:lnTo>
                  <a:lnTo>
                    <a:pt x="1173467" y="1144524"/>
                  </a:lnTo>
                  <a:close/>
                </a:path>
                <a:path w="1173479" h="1828800">
                  <a:moveTo>
                    <a:pt x="1173467" y="687324"/>
                  </a:moveTo>
                  <a:lnTo>
                    <a:pt x="0" y="687324"/>
                  </a:lnTo>
                  <a:lnTo>
                    <a:pt x="0" y="915924"/>
                  </a:lnTo>
                  <a:lnTo>
                    <a:pt x="1173467" y="915924"/>
                  </a:lnTo>
                  <a:lnTo>
                    <a:pt x="1173467" y="687324"/>
                  </a:lnTo>
                  <a:close/>
                </a:path>
                <a:path w="1173479" h="1828800">
                  <a:moveTo>
                    <a:pt x="1173467" y="0"/>
                  </a:moveTo>
                  <a:lnTo>
                    <a:pt x="0" y="0"/>
                  </a:lnTo>
                  <a:lnTo>
                    <a:pt x="0" y="230124"/>
                  </a:lnTo>
                  <a:lnTo>
                    <a:pt x="1173467" y="230124"/>
                  </a:lnTo>
                  <a:lnTo>
                    <a:pt x="11734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516630" y="2076449"/>
              <a:ext cx="1174750" cy="1828800"/>
            </a:xfrm>
            <a:custGeom>
              <a:avLst/>
              <a:gdLst/>
              <a:ahLst/>
              <a:cxnLst/>
              <a:rect l="l" t="t" r="r" b="b"/>
              <a:pathLst>
                <a:path w="1174750" h="1828800">
                  <a:moveTo>
                    <a:pt x="0" y="1828800"/>
                  </a:moveTo>
                  <a:lnTo>
                    <a:pt x="1173479" y="1828800"/>
                  </a:lnTo>
                  <a:lnTo>
                    <a:pt x="1173479" y="0"/>
                  </a:lnTo>
                  <a:lnTo>
                    <a:pt x="0" y="0"/>
                  </a:lnTo>
                  <a:lnTo>
                    <a:pt x="0" y="1828800"/>
                  </a:lnTo>
                  <a:close/>
                </a:path>
                <a:path w="1174750" h="1828800">
                  <a:moveTo>
                    <a:pt x="0" y="0"/>
                  </a:moveTo>
                  <a:lnTo>
                    <a:pt x="1174496" y="165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507105" y="2301049"/>
              <a:ext cx="1193800" cy="0"/>
            </a:xfrm>
            <a:custGeom>
              <a:avLst/>
              <a:gdLst/>
              <a:ahLst/>
              <a:cxnLst/>
              <a:rect l="l" t="t" r="r" b="b"/>
              <a:pathLst>
                <a:path w="1193800" h="0">
                  <a:moveTo>
                    <a:pt x="0" y="0"/>
                  </a:moveTo>
                  <a:lnTo>
                    <a:pt x="1193546" y="0"/>
                  </a:lnTo>
                </a:path>
              </a:pathLst>
            </a:custGeom>
            <a:ln w="11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507105" y="2768600"/>
              <a:ext cx="1193800" cy="0"/>
            </a:xfrm>
            <a:custGeom>
              <a:avLst/>
              <a:gdLst/>
              <a:ahLst/>
              <a:cxnLst/>
              <a:rect l="l" t="t" r="r" b="b"/>
              <a:pathLst>
                <a:path w="1193800" h="0">
                  <a:moveTo>
                    <a:pt x="0" y="0"/>
                  </a:moveTo>
                  <a:lnTo>
                    <a:pt x="1193546" y="0"/>
                  </a:lnTo>
                </a:path>
              </a:pathLst>
            </a:custGeom>
            <a:ln w="9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507105" y="2986849"/>
              <a:ext cx="1193800" cy="0"/>
            </a:xfrm>
            <a:custGeom>
              <a:avLst/>
              <a:gdLst/>
              <a:ahLst/>
              <a:cxnLst/>
              <a:rect l="l" t="t" r="r" b="b"/>
              <a:pathLst>
                <a:path w="1193800" h="0">
                  <a:moveTo>
                    <a:pt x="0" y="0"/>
                  </a:moveTo>
                  <a:lnTo>
                    <a:pt x="1193546" y="0"/>
                  </a:lnTo>
                </a:path>
              </a:pathLst>
            </a:custGeom>
            <a:ln w="11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507105" y="3225800"/>
              <a:ext cx="1193800" cy="0"/>
            </a:xfrm>
            <a:custGeom>
              <a:avLst/>
              <a:gdLst/>
              <a:ahLst/>
              <a:cxnLst/>
              <a:rect l="l" t="t" r="r" b="b"/>
              <a:pathLst>
                <a:path w="1193800" h="0">
                  <a:moveTo>
                    <a:pt x="0" y="0"/>
                  </a:moveTo>
                  <a:lnTo>
                    <a:pt x="1193546" y="0"/>
                  </a:lnTo>
                </a:path>
              </a:pathLst>
            </a:custGeom>
            <a:ln w="9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3516629" y="3448811"/>
            <a:ext cx="1173480" cy="456565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wrap="square" lIns="0" tIns="40005" rIns="0" bIns="0" rtlCol="0" vert="horz">
            <a:spAutoFit/>
          </a:bodyPr>
          <a:lstStyle/>
          <a:p>
            <a:pPr marL="299720">
              <a:lnSpc>
                <a:spcPct val="100000"/>
              </a:lnSpc>
              <a:spcBef>
                <a:spcPts val="315"/>
              </a:spcBef>
            </a:pPr>
            <a:r>
              <a:rPr dirty="0" sz="1600" spc="-10" b="1">
                <a:latin typeface="Arial"/>
                <a:cs typeface="Arial"/>
              </a:rPr>
              <a:t>Guest</a:t>
            </a:r>
            <a:endParaRPr sz="1600">
              <a:latin typeface="Arial"/>
              <a:cs typeface="Arial"/>
            </a:endParaRPr>
          </a:p>
          <a:p>
            <a:pPr marL="233045">
              <a:lnSpc>
                <a:spcPct val="100000"/>
              </a:lnSpc>
              <a:spcBef>
                <a:spcPts val="10"/>
              </a:spcBef>
            </a:pPr>
            <a:r>
              <a:rPr dirty="0" sz="1050" b="1">
                <a:latin typeface="Arial"/>
                <a:cs typeface="Arial"/>
              </a:rPr>
              <a:t>Page</a:t>
            </a:r>
            <a:r>
              <a:rPr dirty="0" sz="1050" spc="-40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Table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458205" y="2066734"/>
            <a:ext cx="1205230" cy="1848485"/>
            <a:chOff x="5458205" y="2066734"/>
            <a:chExt cx="1205230" cy="1848485"/>
          </a:xfrm>
        </p:grpSpPr>
        <p:sp>
          <p:nvSpPr>
            <p:cNvPr id="23" name="object 23"/>
            <p:cNvSpPr/>
            <p:nvPr/>
          </p:nvSpPr>
          <p:spPr>
            <a:xfrm>
              <a:off x="5473446" y="2535173"/>
              <a:ext cx="1175385" cy="1370330"/>
            </a:xfrm>
            <a:custGeom>
              <a:avLst/>
              <a:gdLst/>
              <a:ahLst/>
              <a:cxnLst/>
              <a:rect l="l" t="t" r="r" b="b"/>
              <a:pathLst>
                <a:path w="1175384" h="1370329">
                  <a:moveTo>
                    <a:pt x="1175004" y="685800"/>
                  </a:moveTo>
                  <a:lnTo>
                    <a:pt x="0" y="685800"/>
                  </a:lnTo>
                  <a:lnTo>
                    <a:pt x="0" y="1370076"/>
                  </a:lnTo>
                  <a:lnTo>
                    <a:pt x="1175004" y="1370076"/>
                  </a:lnTo>
                  <a:lnTo>
                    <a:pt x="1175004" y="685800"/>
                  </a:lnTo>
                  <a:close/>
                </a:path>
                <a:path w="1175384" h="1370329">
                  <a:moveTo>
                    <a:pt x="1175004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1175004" y="228600"/>
                  </a:lnTo>
                  <a:lnTo>
                    <a:pt x="1175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473445" y="2076450"/>
              <a:ext cx="1175385" cy="1828800"/>
            </a:xfrm>
            <a:custGeom>
              <a:avLst/>
              <a:gdLst/>
              <a:ahLst/>
              <a:cxnLst/>
              <a:rect l="l" t="t" r="r" b="b"/>
              <a:pathLst>
                <a:path w="1175384" h="1828800">
                  <a:moveTo>
                    <a:pt x="0" y="1828800"/>
                  </a:moveTo>
                  <a:lnTo>
                    <a:pt x="1175003" y="1828800"/>
                  </a:lnTo>
                  <a:lnTo>
                    <a:pt x="1175003" y="0"/>
                  </a:lnTo>
                  <a:lnTo>
                    <a:pt x="0" y="0"/>
                  </a:lnTo>
                  <a:lnTo>
                    <a:pt x="0" y="18288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5463920" y="2072449"/>
              <a:ext cx="1193800" cy="0"/>
            </a:xfrm>
            <a:custGeom>
              <a:avLst/>
              <a:gdLst/>
              <a:ahLst/>
              <a:cxnLst/>
              <a:rect l="l" t="t" r="r" b="b"/>
              <a:pathLst>
                <a:path w="1193800" h="0">
                  <a:moveTo>
                    <a:pt x="0" y="0"/>
                  </a:moveTo>
                  <a:lnTo>
                    <a:pt x="1193546" y="0"/>
                  </a:lnTo>
                </a:path>
              </a:pathLst>
            </a:custGeom>
            <a:ln w="11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5463920" y="2540000"/>
              <a:ext cx="1193800" cy="0"/>
            </a:xfrm>
            <a:custGeom>
              <a:avLst/>
              <a:gdLst/>
              <a:ahLst/>
              <a:cxnLst/>
              <a:rect l="l" t="t" r="r" b="b"/>
              <a:pathLst>
                <a:path w="1193800" h="0">
                  <a:moveTo>
                    <a:pt x="0" y="0"/>
                  </a:moveTo>
                  <a:lnTo>
                    <a:pt x="1193546" y="0"/>
                  </a:lnTo>
                </a:path>
              </a:pathLst>
            </a:custGeom>
            <a:ln w="9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5463920" y="2758249"/>
              <a:ext cx="1193800" cy="0"/>
            </a:xfrm>
            <a:custGeom>
              <a:avLst/>
              <a:gdLst/>
              <a:ahLst/>
              <a:cxnLst/>
              <a:rect l="l" t="t" r="r" b="b"/>
              <a:pathLst>
                <a:path w="1193800" h="0">
                  <a:moveTo>
                    <a:pt x="0" y="0"/>
                  </a:moveTo>
                  <a:lnTo>
                    <a:pt x="1193546" y="0"/>
                  </a:lnTo>
                </a:path>
              </a:pathLst>
            </a:custGeom>
            <a:ln w="11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463920" y="3225800"/>
              <a:ext cx="1193800" cy="0"/>
            </a:xfrm>
            <a:custGeom>
              <a:avLst/>
              <a:gdLst/>
              <a:ahLst/>
              <a:cxnLst/>
              <a:rect l="l" t="t" r="r" b="b"/>
              <a:pathLst>
                <a:path w="1193800" h="0">
                  <a:moveTo>
                    <a:pt x="0" y="0"/>
                  </a:moveTo>
                  <a:lnTo>
                    <a:pt x="1193546" y="0"/>
                  </a:lnTo>
                </a:path>
              </a:pathLst>
            </a:custGeom>
            <a:ln w="9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5473446" y="3448811"/>
            <a:ext cx="1175385" cy="456565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wrap="square" lIns="0" tIns="40005" rIns="0" bIns="0" rtlCol="0" vert="horz">
            <a:spAutoFit/>
          </a:bodyPr>
          <a:lstStyle/>
          <a:p>
            <a:pPr marL="300355">
              <a:lnSpc>
                <a:spcPct val="100000"/>
              </a:lnSpc>
              <a:spcBef>
                <a:spcPts val="315"/>
              </a:spcBef>
            </a:pPr>
            <a:r>
              <a:rPr dirty="0" sz="1600" spc="-10" b="1">
                <a:latin typeface="Arial"/>
                <a:cs typeface="Arial"/>
              </a:rPr>
              <a:t>Guest</a:t>
            </a:r>
            <a:endParaRPr sz="1600">
              <a:latin typeface="Arial"/>
              <a:cs typeface="Arial"/>
            </a:endParaRPr>
          </a:p>
          <a:p>
            <a:pPr marL="233679">
              <a:lnSpc>
                <a:spcPct val="100000"/>
              </a:lnSpc>
              <a:spcBef>
                <a:spcPts val="10"/>
              </a:spcBef>
            </a:pPr>
            <a:r>
              <a:rPr dirty="0" sz="1050" b="1">
                <a:latin typeface="Arial"/>
                <a:cs typeface="Arial"/>
              </a:rPr>
              <a:t>Page</a:t>
            </a:r>
            <a:r>
              <a:rPr dirty="0" sz="1050" spc="-40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Table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496627" y="4581334"/>
            <a:ext cx="1214755" cy="1848485"/>
            <a:chOff x="3496627" y="4581334"/>
            <a:chExt cx="1214755" cy="1848485"/>
          </a:xfrm>
        </p:grpSpPr>
        <p:sp>
          <p:nvSpPr>
            <p:cNvPr id="16" name="object 16"/>
            <p:cNvSpPr/>
            <p:nvPr/>
          </p:nvSpPr>
          <p:spPr>
            <a:xfrm>
              <a:off x="3516630" y="4591049"/>
              <a:ext cx="1173480" cy="1828800"/>
            </a:xfrm>
            <a:custGeom>
              <a:avLst/>
              <a:gdLst/>
              <a:ahLst/>
              <a:cxnLst/>
              <a:rect l="l" t="t" r="r" b="b"/>
              <a:pathLst>
                <a:path w="1173479" h="1828800">
                  <a:moveTo>
                    <a:pt x="0" y="1828800"/>
                  </a:moveTo>
                  <a:lnTo>
                    <a:pt x="1173479" y="1828800"/>
                  </a:lnTo>
                  <a:lnTo>
                    <a:pt x="1173479" y="0"/>
                  </a:lnTo>
                  <a:lnTo>
                    <a:pt x="0" y="0"/>
                  </a:lnTo>
                  <a:lnTo>
                    <a:pt x="0" y="18288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507105" y="4591811"/>
              <a:ext cx="1193800" cy="0"/>
            </a:xfrm>
            <a:custGeom>
              <a:avLst/>
              <a:gdLst/>
              <a:ahLst/>
              <a:cxnLst/>
              <a:rect l="l" t="t" r="r" b="b"/>
              <a:pathLst>
                <a:path w="1193800" h="0">
                  <a:moveTo>
                    <a:pt x="626110" y="0"/>
                  </a:moveTo>
                  <a:lnTo>
                    <a:pt x="1193546" y="0"/>
                  </a:lnTo>
                </a:path>
                <a:path w="1193800" h="0">
                  <a:moveTo>
                    <a:pt x="0" y="0"/>
                  </a:moveTo>
                  <a:lnTo>
                    <a:pt x="566928" y="0"/>
                  </a:lnTo>
                </a:path>
              </a:pathLst>
            </a:custGeom>
            <a:ln w="20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507105" y="4814125"/>
              <a:ext cx="1193800" cy="0"/>
            </a:xfrm>
            <a:custGeom>
              <a:avLst/>
              <a:gdLst/>
              <a:ahLst/>
              <a:cxnLst/>
              <a:rect l="l" t="t" r="r" b="b"/>
              <a:pathLst>
                <a:path w="1193800" h="0">
                  <a:moveTo>
                    <a:pt x="0" y="0"/>
                  </a:moveTo>
                  <a:lnTo>
                    <a:pt x="1193546" y="0"/>
                  </a:lnTo>
                </a:path>
              </a:pathLst>
            </a:custGeom>
            <a:ln w="80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507105" y="5281675"/>
              <a:ext cx="1193800" cy="0"/>
            </a:xfrm>
            <a:custGeom>
              <a:avLst/>
              <a:gdLst/>
              <a:ahLst/>
              <a:cxnLst/>
              <a:rect l="l" t="t" r="r" b="b"/>
              <a:pathLst>
                <a:path w="1193800" h="0">
                  <a:moveTo>
                    <a:pt x="0" y="0"/>
                  </a:moveTo>
                  <a:lnTo>
                    <a:pt x="1193546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516630" y="5505449"/>
              <a:ext cx="1174750" cy="230504"/>
            </a:xfrm>
            <a:custGeom>
              <a:avLst/>
              <a:gdLst/>
              <a:ahLst/>
              <a:cxnLst/>
              <a:rect l="l" t="t" r="r" b="b"/>
              <a:pathLst>
                <a:path w="1174750" h="230504">
                  <a:moveTo>
                    <a:pt x="0" y="0"/>
                  </a:moveTo>
                  <a:lnTo>
                    <a:pt x="1174496" y="1650"/>
                  </a:lnTo>
                </a:path>
                <a:path w="1174750" h="230504">
                  <a:moveTo>
                    <a:pt x="0" y="228600"/>
                  </a:moveTo>
                  <a:lnTo>
                    <a:pt x="1174496" y="230187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3516629" y="5963443"/>
            <a:ext cx="1173480" cy="456565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wrap="square" lIns="0" tIns="39370" rIns="0" bIns="0" rtlCol="0" vert="horz">
            <a:spAutoFit/>
          </a:bodyPr>
          <a:lstStyle/>
          <a:p>
            <a:pPr marL="224790">
              <a:lnSpc>
                <a:spcPct val="100000"/>
              </a:lnSpc>
              <a:spcBef>
                <a:spcPts val="310"/>
              </a:spcBef>
            </a:pPr>
            <a:r>
              <a:rPr dirty="0" sz="1600" spc="-10" b="1">
                <a:latin typeface="Arial"/>
                <a:cs typeface="Arial"/>
              </a:rPr>
              <a:t>Shadow</a:t>
            </a:r>
            <a:endParaRPr sz="1600">
              <a:latin typeface="Arial"/>
              <a:cs typeface="Arial"/>
            </a:endParaRPr>
          </a:p>
          <a:p>
            <a:pPr marL="262890">
              <a:lnSpc>
                <a:spcPct val="100000"/>
              </a:lnSpc>
              <a:spcBef>
                <a:spcPts val="10"/>
              </a:spcBef>
            </a:pPr>
            <a:r>
              <a:rPr dirty="0" sz="1050" b="1">
                <a:latin typeface="Arial"/>
                <a:cs typeface="Arial"/>
              </a:rPr>
              <a:t>Page</a:t>
            </a:r>
            <a:r>
              <a:rPr dirty="0" sz="1050" spc="-4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Table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453443" y="4581334"/>
            <a:ext cx="1214755" cy="1848485"/>
            <a:chOff x="5453443" y="4581334"/>
            <a:chExt cx="1214755" cy="1848485"/>
          </a:xfrm>
        </p:grpSpPr>
        <p:sp>
          <p:nvSpPr>
            <p:cNvPr id="31" name="object 31"/>
            <p:cNvSpPr/>
            <p:nvPr/>
          </p:nvSpPr>
          <p:spPr>
            <a:xfrm>
              <a:off x="5473445" y="4591049"/>
              <a:ext cx="1175385" cy="1828800"/>
            </a:xfrm>
            <a:custGeom>
              <a:avLst/>
              <a:gdLst/>
              <a:ahLst/>
              <a:cxnLst/>
              <a:rect l="l" t="t" r="r" b="b"/>
              <a:pathLst>
                <a:path w="1175384" h="1828800">
                  <a:moveTo>
                    <a:pt x="0" y="1828800"/>
                  </a:moveTo>
                  <a:lnTo>
                    <a:pt x="1175003" y="1828800"/>
                  </a:lnTo>
                  <a:lnTo>
                    <a:pt x="1175003" y="0"/>
                  </a:lnTo>
                  <a:lnTo>
                    <a:pt x="0" y="0"/>
                  </a:lnTo>
                  <a:lnTo>
                    <a:pt x="0" y="18288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5463920" y="4591811"/>
              <a:ext cx="1193800" cy="0"/>
            </a:xfrm>
            <a:custGeom>
              <a:avLst/>
              <a:gdLst/>
              <a:ahLst/>
              <a:cxnLst/>
              <a:rect l="l" t="t" r="r" b="b"/>
              <a:pathLst>
                <a:path w="1193800" h="0">
                  <a:moveTo>
                    <a:pt x="0" y="0"/>
                  </a:moveTo>
                  <a:lnTo>
                    <a:pt x="566927" y="0"/>
                  </a:lnTo>
                </a:path>
                <a:path w="1193800" h="0">
                  <a:moveTo>
                    <a:pt x="626109" y="0"/>
                  </a:moveTo>
                  <a:lnTo>
                    <a:pt x="1193546" y="0"/>
                  </a:lnTo>
                </a:path>
              </a:pathLst>
            </a:custGeom>
            <a:ln w="20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5463920" y="4818125"/>
              <a:ext cx="1193800" cy="12700"/>
            </a:xfrm>
            <a:custGeom>
              <a:avLst/>
              <a:gdLst/>
              <a:ahLst/>
              <a:cxnLst/>
              <a:rect l="l" t="t" r="r" b="b"/>
              <a:pathLst>
                <a:path w="1193800" h="12700">
                  <a:moveTo>
                    <a:pt x="0" y="12573"/>
                  </a:moveTo>
                  <a:lnTo>
                    <a:pt x="1193546" y="12573"/>
                  </a:lnTo>
                  <a:lnTo>
                    <a:pt x="1193546" y="0"/>
                  </a:lnTo>
                  <a:lnTo>
                    <a:pt x="0" y="0"/>
                  </a:lnTo>
                  <a:lnTo>
                    <a:pt x="0" y="125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5473445" y="5048249"/>
              <a:ext cx="1174750" cy="1905"/>
            </a:xfrm>
            <a:custGeom>
              <a:avLst/>
              <a:gdLst/>
              <a:ahLst/>
              <a:cxnLst/>
              <a:rect l="l" t="t" r="r" b="b"/>
              <a:pathLst>
                <a:path w="1174750" h="1904">
                  <a:moveTo>
                    <a:pt x="0" y="0"/>
                  </a:moveTo>
                  <a:lnTo>
                    <a:pt x="1174496" y="152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5463920" y="5271325"/>
              <a:ext cx="1193800" cy="0"/>
            </a:xfrm>
            <a:custGeom>
              <a:avLst/>
              <a:gdLst/>
              <a:ahLst/>
              <a:cxnLst/>
              <a:rect l="l" t="t" r="r" b="b"/>
              <a:pathLst>
                <a:path w="1193800" h="0">
                  <a:moveTo>
                    <a:pt x="0" y="0"/>
                  </a:moveTo>
                  <a:lnTo>
                    <a:pt x="1193546" y="0"/>
                  </a:lnTo>
                </a:path>
              </a:pathLst>
            </a:custGeom>
            <a:ln w="80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5463920" y="5503925"/>
              <a:ext cx="1193800" cy="12700"/>
            </a:xfrm>
            <a:custGeom>
              <a:avLst/>
              <a:gdLst/>
              <a:ahLst/>
              <a:cxnLst/>
              <a:rect l="l" t="t" r="r" b="b"/>
              <a:pathLst>
                <a:path w="1193800" h="12700">
                  <a:moveTo>
                    <a:pt x="0" y="12700"/>
                  </a:moveTo>
                  <a:lnTo>
                    <a:pt x="1193546" y="12700"/>
                  </a:lnTo>
                  <a:lnTo>
                    <a:pt x="1193546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5473445" y="5734049"/>
              <a:ext cx="1174750" cy="230504"/>
            </a:xfrm>
            <a:custGeom>
              <a:avLst/>
              <a:gdLst/>
              <a:ahLst/>
              <a:cxnLst/>
              <a:rect l="l" t="t" r="r" b="b"/>
              <a:pathLst>
                <a:path w="1174750" h="230504">
                  <a:moveTo>
                    <a:pt x="0" y="0"/>
                  </a:moveTo>
                  <a:lnTo>
                    <a:pt x="1174496" y="1587"/>
                  </a:lnTo>
                </a:path>
                <a:path w="1174750" h="230504">
                  <a:moveTo>
                    <a:pt x="0" y="228600"/>
                  </a:moveTo>
                  <a:lnTo>
                    <a:pt x="1174496" y="230187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0" name="object 40"/>
          <p:cNvGrpSpPr/>
          <p:nvPr/>
        </p:nvGrpSpPr>
        <p:grpSpPr>
          <a:xfrm>
            <a:off x="1749361" y="2068448"/>
            <a:ext cx="4909185" cy="3445510"/>
            <a:chOff x="1749361" y="2068448"/>
            <a:chExt cx="4909185" cy="3445510"/>
          </a:xfrm>
        </p:grpSpPr>
        <p:sp>
          <p:nvSpPr>
            <p:cNvPr id="41" name="object 41"/>
            <p:cNvSpPr/>
            <p:nvPr/>
          </p:nvSpPr>
          <p:spPr>
            <a:xfrm>
              <a:off x="4102607" y="3904488"/>
              <a:ext cx="2540" cy="685800"/>
            </a:xfrm>
            <a:custGeom>
              <a:avLst/>
              <a:gdLst/>
              <a:ahLst/>
              <a:cxnLst/>
              <a:rect l="l" t="t" r="r" b="b"/>
              <a:pathLst>
                <a:path w="2539" h="685800">
                  <a:moveTo>
                    <a:pt x="2031" y="0"/>
                  </a:moveTo>
                  <a:lnTo>
                    <a:pt x="0" y="685800"/>
                  </a:lnTo>
                </a:path>
              </a:pathLst>
            </a:custGeom>
            <a:ln w="57150">
              <a:solidFill>
                <a:srgbClr val="7E7E7E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6060439" y="3875913"/>
              <a:ext cx="0" cy="713740"/>
            </a:xfrm>
            <a:custGeom>
              <a:avLst/>
              <a:gdLst/>
              <a:ahLst/>
              <a:cxnLst/>
              <a:rect l="l" t="t" r="r" b="b"/>
              <a:pathLst>
                <a:path w="0" h="713739">
                  <a:moveTo>
                    <a:pt x="0" y="0"/>
                  </a:moveTo>
                  <a:lnTo>
                    <a:pt x="0" y="713613"/>
                  </a:lnTo>
                </a:path>
              </a:pathLst>
            </a:custGeom>
            <a:ln w="59181">
              <a:solidFill>
                <a:srgbClr val="7E7E7E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3515105" y="2306573"/>
              <a:ext cx="1175385" cy="228600"/>
            </a:xfrm>
            <a:custGeom>
              <a:avLst/>
              <a:gdLst/>
              <a:ahLst/>
              <a:cxnLst/>
              <a:rect l="l" t="t" r="r" b="b"/>
              <a:pathLst>
                <a:path w="1175385" h="228600">
                  <a:moveTo>
                    <a:pt x="1175003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1175003" y="228600"/>
                  </a:lnTo>
                  <a:lnTo>
                    <a:pt x="1175003" y="0"/>
                  </a:lnTo>
                  <a:close/>
                </a:path>
              </a:pathLst>
            </a:custGeom>
            <a:solidFill>
              <a:srgbClr val="3C4A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3515105" y="2306573"/>
              <a:ext cx="1175385" cy="228600"/>
            </a:xfrm>
            <a:custGeom>
              <a:avLst/>
              <a:gdLst/>
              <a:ahLst/>
              <a:cxnLst/>
              <a:rect l="l" t="t" r="r" b="b"/>
              <a:pathLst>
                <a:path w="1175385" h="228600">
                  <a:moveTo>
                    <a:pt x="0" y="228600"/>
                  </a:moveTo>
                  <a:lnTo>
                    <a:pt x="1175003" y="228600"/>
                  </a:lnTo>
                  <a:lnTo>
                    <a:pt x="1175003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3515105" y="2535173"/>
              <a:ext cx="1175385" cy="228600"/>
            </a:xfrm>
            <a:custGeom>
              <a:avLst/>
              <a:gdLst/>
              <a:ahLst/>
              <a:cxnLst/>
              <a:rect l="l" t="t" r="r" b="b"/>
              <a:pathLst>
                <a:path w="1175385" h="228600">
                  <a:moveTo>
                    <a:pt x="1175003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1175003" y="228600"/>
                  </a:lnTo>
                  <a:lnTo>
                    <a:pt x="1175003" y="0"/>
                  </a:lnTo>
                  <a:close/>
                </a:path>
              </a:pathLst>
            </a:custGeom>
            <a:solidFill>
              <a:srgbClr val="3C4A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3515105" y="2535173"/>
              <a:ext cx="1175385" cy="228600"/>
            </a:xfrm>
            <a:custGeom>
              <a:avLst/>
              <a:gdLst/>
              <a:ahLst/>
              <a:cxnLst/>
              <a:rect l="l" t="t" r="r" b="b"/>
              <a:pathLst>
                <a:path w="1175385" h="228600">
                  <a:moveTo>
                    <a:pt x="0" y="228600"/>
                  </a:moveTo>
                  <a:lnTo>
                    <a:pt x="1175003" y="228600"/>
                  </a:lnTo>
                  <a:lnTo>
                    <a:pt x="1175003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3515105" y="2992373"/>
              <a:ext cx="1175385" cy="228600"/>
            </a:xfrm>
            <a:custGeom>
              <a:avLst/>
              <a:gdLst/>
              <a:ahLst/>
              <a:cxnLst/>
              <a:rect l="l" t="t" r="r" b="b"/>
              <a:pathLst>
                <a:path w="1175385" h="228600">
                  <a:moveTo>
                    <a:pt x="1175003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1175003" y="228600"/>
                  </a:lnTo>
                  <a:lnTo>
                    <a:pt x="1175003" y="0"/>
                  </a:lnTo>
                  <a:close/>
                </a:path>
              </a:pathLst>
            </a:custGeom>
            <a:solidFill>
              <a:srgbClr val="3C4A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3515105" y="2992373"/>
              <a:ext cx="1175385" cy="228600"/>
            </a:xfrm>
            <a:custGeom>
              <a:avLst/>
              <a:gdLst/>
              <a:ahLst/>
              <a:cxnLst/>
              <a:rect l="l" t="t" r="r" b="b"/>
              <a:pathLst>
                <a:path w="1175385" h="228600">
                  <a:moveTo>
                    <a:pt x="0" y="228600"/>
                  </a:moveTo>
                  <a:lnTo>
                    <a:pt x="1175003" y="228600"/>
                  </a:lnTo>
                  <a:lnTo>
                    <a:pt x="1175003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5471921" y="2992373"/>
              <a:ext cx="1176655" cy="228600"/>
            </a:xfrm>
            <a:custGeom>
              <a:avLst/>
              <a:gdLst/>
              <a:ahLst/>
              <a:cxnLst/>
              <a:rect l="l" t="t" r="r" b="b"/>
              <a:pathLst>
                <a:path w="1176654" h="228600">
                  <a:moveTo>
                    <a:pt x="1176527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1176527" y="228600"/>
                  </a:lnTo>
                  <a:lnTo>
                    <a:pt x="1176527" y="0"/>
                  </a:lnTo>
                  <a:close/>
                </a:path>
              </a:pathLst>
            </a:custGeom>
            <a:solidFill>
              <a:srgbClr val="3C4A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5471921" y="2992373"/>
              <a:ext cx="1176655" cy="228600"/>
            </a:xfrm>
            <a:custGeom>
              <a:avLst/>
              <a:gdLst/>
              <a:ahLst/>
              <a:cxnLst/>
              <a:rect l="l" t="t" r="r" b="b"/>
              <a:pathLst>
                <a:path w="1176654" h="228600">
                  <a:moveTo>
                    <a:pt x="0" y="228600"/>
                  </a:moveTo>
                  <a:lnTo>
                    <a:pt x="1176527" y="228600"/>
                  </a:lnTo>
                  <a:lnTo>
                    <a:pt x="1176527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5471921" y="2763773"/>
              <a:ext cx="1176655" cy="228600"/>
            </a:xfrm>
            <a:custGeom>
              <a:avLst/>
              <a:gdLst/>
              <a:ahLst/>
              <a:cxnLst/>
              <a:rect l="l" t="t" r="r" b="b"/>
              <a:pathLst>
                <a:path w="1176654" h="228600">
                  <a:moveTo>
                    <a:pt x="1176527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1176527" y="228600"/>
                  </a:lnTo>
                  <a:lnTo>
                    <a:pt x="1176527" y="0"/>
                  </a:lnTo>
                  <a:close/>
                </a:path>
              </a:pathLst>
            </a:custGeom>
            <a:solidFill>
              <a:srgbClr val="3C4A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5471921" y="2763773"/>
              <a:ext cx="1176655" cy="228600"/>
            </a:xfrm>
            <a:custGeom>
              <a:avLst/>
              <a:gdLst/>
              <a:ahLst/>
              <a:cxnLst/>
              <a:rect l="l" t="t" r="r" b="b"/>
              <a:pathLst>
                <a:path w="1176654" h="228600">
                  <a:moveTo>
                    <a:pt x="0" y="228600"/>
                  </a:moveTo>
                  <a:lnTo>
                    <a:pt x="1176527" y="228600"/>
                  </a:lnTo>
                  <a:lnTo>
                    <a:pt x="1176527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5471921" y="2306573"/>
              <a:ext cx="1176655" cy="228600"/>
            </a:xfrm>
            <a:custGeom>
              <a:avLst/>
              <a:gdLst/>
              <a:ahLst/>
              <a:cxnLst/>
              <a:rect l="l" t="t" r="r" b="b"/>
              <a:pathLst>
                <a:path w="1176654" h="228600">
                  <a:moveTo>
                    <a:pt x="1176527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1176527" y="228600"/>
                  </a:lnTo>
                  <a:lnTo>
                    <a:pt x="1176527" y="0"/>
                  </a:lnTo>
                  <a:close/>
                </a:path>
              </a:pathLst>
            </a:custGeom>
            <a:solidFill>
              <a:srgbClr val="3C4A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5471921" y="2306573"/>
              <a:ext cx="1176655" cy="228600"/>
            </a:xfrm>
            <a:custGeom>
              <a:avLst/>
              <a:gdLst/>
              <a:ahLst/>
              <a:cxnLst/>
              <a:rect l="l" t="t" r="r" b="b"/>
              <a:pathLst>
                <a:path w="1176654" h="228600">
                  <a:moveTo>
                    <a:pt x="0" y="228600"/>
                  </a:moveTo>
                  <a:lnTo>
                    <a:pt x="1176527" y="228600"/>
                  </a:lnTo>
                  <a:lnTo>
                    <a:pt x="1176527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5471921" y="2077973"/>
              <a:ext cx="1176655" cy="228600"/>
            </a:xfrm>
            <a:custGeom>
              <a:avLst/>
              <a:gdLst/>
              <a:ahLst/>
              <a:cxnLst/>
              <a:rect l="l" t="t" r="r" b="b"/>
              <a:pathLst>
                <a:path w="1176654" h="228600">
                  <a:moveTo>
                    <a:pt x="1176527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1176527" y="228600"/>
                  </a:lnTo>
                  <a:lnTo>
                    <a:pt x="1176527" y="0"/>
                  </a:lnTo>
                  <a:close/>
                </a:path>
              </a:pathLst>
            </a:custGeom>
            <a:solidFill>
              <a:srgbClr val="3C4A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5471921" y="2077973"/>
              <a:ext cx="1176655" cy="228600"/>
            </a:xfrm>
            <a:custGeom>
              <a:avLst/>
              <a:gdLst/>
              <a:ahLst/>
              <a:cxnLst/>
              <a:rect l="l" t="t" r="r" b="b"/>
              <a:pathLst>
                <a:path w="1176654" h="228600">
                  <a:moveTo>
                    <a:pt x="0" y="228600"/>
                  </a:moveTo>
                  <a:lnTo>
                    <a:pt x="1176527" y="228600"/>
                  </a:lnTo>
                  <a:lnTo>
                    <a:pt x="1176527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3515105" y="4818125"/>
              <a:ext cx="1175385" cy="228600"/>
            </a:xfrm>
            <a:custGeom>
              <a:avLst/>
              <a:gdLst/>
              <a:ahLst/>
              <a:cxnLst/>
              <a:rect l="l" t="t" r="r" b="b"/>
              <a:pathLst>
                <a:path w="1175385" h="228600">
                  <a:moveTo>
                    <a:pt x="1175003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1175003" y="228600"/>
                  </a:lnTo>
                  <a:lnTo>
                    <a:pt x="1175003" y="0"/>
                  </a:lnTo>
                  <a:close/>
                </a:path>
              </a:pathLst>
            </a:custGeom>
            <a:solidFill>
              <a:srgbClr val="313E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3515105" y="4818125"/>
              <a:ext cx="1175385" cy="228600"/>
            </a:xfrm>
            <a:custGeom>
              <a:avLst/>
              <a:gdLst/>
              <a:ahLst/>
              <a:cxnLst/>
              <a:rect l="l" t="t" r="r" b="b"/>
              <a:pathLst>
                <a:path w="1175385" h="228600">
                  <a:moveTo>
                    <a:pt x="0" y="228600"/>
                  </a:moveTo>
                  <a:lnTo>
                    <a:pt x="1175003" y="228600"/>
                  </a:lnTo>
                  <a:lnTo>
                    <a:pt x="1175003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3515105" y="5046725"/>
              <a:ext cx="1175385" cy="228600"/>
            </a:xfrm>
            <a:custGeom>
              <a:avLst/>
              <a:gdLst/>
              <a:ahLst/>
              <a:cxnLst/>
              <a:rect l="l" t="t" r="r" b="b"/>
              <a:pathLst>
                <a:path w="1175385" h="228600">
                  <a:moveTo>
                    <a:pt x="1175003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1175003" y="228600"/>
                  </a:lnTo>
                  <a:lnTo>
                    <a:pt x="1175003" y="0"/>
                  </a:lnTo>
                  <a:close/>
                </a:path>
              </a:pathLst>
            </a:custGeom>
            <a:solidFill>
              <a:srgbClr val="313E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3515105" y="5046725"/>
              <a:ext cx="1175385" cy="228600"/>
            </a:xfrm>
            <a:custGeom>
              <a:avLst/>
              <a:gdLst/>
              <a:ahLst/>
              <a:cxnLst/>
              <a:rect l="l" t="t" r="r" b="b"/>
              <a:pathLst>
                <a:path w="1175385" h="228600">
                  <a:moveTo>
                    <a:pt x="0" y="228600"/>
                  </a:moveTo>
                  <a:lnTo>
                    <a:pt x="1175003" y="228600"/>
                  </a:lnTo>
                  <a:lnTo>
                    <a:pt x="1175003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5471921" y="4589525"/>
              <a:ext cx="1176655" cy="228600"/>
            </a:xfrm>
            <a:custGeom>
              <a:avLst/>
              <a:gdLst/>
              <a:ahLst/>
              <a:cxnLst/>
              <a:rect l="l" t="t" r="r" b="b"/>
              <a:pathLst>
                <a:path w="1176654" h="228600">
                  <a:moveTo>
                    <a:pt x="1176527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1176527" y="228600"/>
                  </a:lnTo>
                  <a:lnTo>
                    <a:pt x="1176527" y="0"/>
                  </a:lnTo>
                  <a:close/>
                </a:path>
              </a:pathLst>
            </a:custGeom>
            <a:solidFill>
              <a:srgbClr val="313E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5471921" y="4589525"/>
              <a:ext cx="1176655" cy="228600"/>
            </a:xfrm>
            <a:custGeom>
              <a:avLst/>
              <a:gdLst/>
              <a:ahLst/>
              <a:cxnLst/>
              <a:rect l="l" t="t" r="r" b="b"/>
              <a:pathLst>
                <a:path w="1176654" h="228600">
                  <a:moveTo>
                    <a:pt x="0" y="228600"/>
                  </a:moveTo>
                  <a:lnTo>
                    <a:pt x="1176527" y="228600"/>
                  </a:lnTo>
                  <a:lnTo>
                    <a:pt x="1176527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5471921" y="5275325"/>
              <a:ext cx="1176655" cy="228600"/>
            </a:xfrm>
            <a:custGeom>
              <a:avLst/>
              <a:gdLst/>
              <a:ahLst/>
              <a:cxnLst/>
              <a:rect l="l" t="t" r="r" b="b"/>
              <a:pathLst>
                <a:path w="1176654" h="228600">
                  <a:moveTo>
                    <a:pt x="1176527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1176527" y="228600"/>
                  </a:lnTo>
                  <a:lnTo>
                    <a:pt x="1176527" y="0"/>
                  </a:lnTo>
                  <a:close/>
                </a:path>
              </a:pathLst>
            </a:custGeom>
            <a:solidFill>
              <a:srgbClr val="313E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5471921" y="5275325"/>
              <a:ext cx="1176655" cy="228600"/>
            </a:xfrm>
            <a:custGeom>
              <a:avLst/>
              <a:gdLst/>
              <a:ahLst/>
              <a:cxnLst/>
              <a:rect l="l" t="t" r="r" b="b"/>
              <a:pathLst>
                <a:path w="1176654" h="228600">
                  <a:moveTo>
                    <a:pt x="0" y="228600"/>
                  </a:moveTo>
                  <a:lnTo>
                    <a:pt x="1176527" y="228600"/>
                  </a:lnTo>
                  <a:lnTo>
                    <a:pt x="1176527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1754123" y="3296411"/>
              <a:ext cx="1173480" cy="304800"/>
            </a:xfrm>
            <a:custGeom>
              <a:avLst/>
              <a:gdLst/>
              <a:ahLst/>
              <a:cxnLst/>
              <a:rect l="l" t="t" r="r" b="b"/>
              <a:pathLst>
                <a:path w="1173480" h="304800">
                  <a:moveTo>
                    <a:pt x="117348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1173480" y="304800"/>
                  </a:lnTo>
                  <a:lnTo>
                    <a:pt x="1173480" y="0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1754123" y="3296411"/>
              <a:ext cx="1173480" cy="304800"/>
            </a:xfrm>
            <a:custGeom>
              <a:avLst/>
              <a:gdLst/>
              <a:ahLst/>
              <a:cxnLst/>
              <a:rect l="l" t="t" r="r" b="b"/>
              <a:pathLst>
                <a:path w="1173480" h="304800">
                  <a:moveTo>
                    <a:pt x="0" y="304800"/>
                  </a:moveTo>
                  <a:lnTo>
                    <a:pt x="1173480" y="304800"/>
                  </a:lnTo>
                  <a:lnTo>
                    <a:pt x="117348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7" name="object 67"/>
          <p:cNvSpPr txBox="1"/>
          <p:nvPr/>
        </p:nvSpPr>
        <p:spPr>
          <a:xfrm>
            <a:off x="1933194" y="3622928"/>
            <a:ext cx="852169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Calibri"/>
                <a:cs typeface="Calibri"/>
              </a:rPr>
              <a:t>Virtual</a:t>
            </a:r>
            <a:r>
              <a:rPr dirty="0" sz="1400" spc="-65" b="1">
                <a:latin typeface="Calibri"/>
                <a:cs typeface="Calibri"/>
              </a:rPr>
              <a:t> </a:t>
            </a:r>
            <a:r>
              <a:rPr dirty="0" sz="1400" spc="-25" b="1">
                <a:latin typeface="Calibri"/>
                <a:cs typeface="Calibri"/>
              </a:rPr>
              <a:t>CR3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2120900" y="4537328"/>
            <a:ext cx="6705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Calibri"/>
                <a:cs typeface="Calibri"/>
              </a:rPr>
              <a:t>Real</a:t>
            </a:r>
            <a:r>
              <a:rPr dirty="0" sz="1400" spc="-40" b="1">
                <a:latin typeface="Calibri"/>
                <a:cs typeface="Calibri"/>
              </a:rPr>
              <a:t> </a:t>
            </a:r>
            <a:r>
              <a:rPr dirty="0" sz="1400" spc="-25" b="1">
                <a:latin typeface="Calibri"/>
                <a:cs typeface="Calibri"/>
              </a:rPr>
              <a:t>CR3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482971" y="5990945"/>
            <a:ext cx="1156335" cy="4305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159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Arial"/>
                <a:cs typeface="Arial"/>
              </a:rPr>
              <a:t>Shadow</a:t>
            </a:r>
            <a:endParaRPr sz="1600">
              <a:latin typeface="Arial"/>
              <a:cs typeface="Arial"/>
            </a:endParaRPr>
          </a:p>
          <a:p>
            <a:pPr marL="254000">
              <a:lnSpc>
                <a:spcPct val="100000"/>
              </a:lnSpc>
              <a:spcBef>
                <a:spcPts val="10"/>
              </a:spcBef>
            </a:pPr>
            <a:r>
              <a:rPr dirty="0" sz="1050" b="1">
                <a:latin typeface="Arial"/>
                <a:cs typeface="Arial"/>
              </a:rPr>
              <a:t>Page</a:t>
            </a:r>
            <a:r>
              <a:rPr dirty="0" sz="1050" spc="-4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Table</a:t>
            </a:r>
            <a:endParaRPr sz="1050">
              <a:latin typeface="Arial"/>
              <a:cs typeface="Arial"/>
            </a:endParaRPr>
          </a:p>
        </p:txBody>
      </p:sp>
      <p:graphicFrame>
        <p:nvGraphicFramePr>
          <p:cNvPr id="39" name="object 39"/>
          <p:cNvGraphicFramePr>
            <a:graphicFrameLocks noGrp="1"/>
          </p:cNvGraphicFramePr>
          <p:nvPr/>
        </p:nvGraphicFramePr>
        <p:xfrm>
          <a:off x="7419975" y="2066925"/>
          <a:ext cx="1271905" cy="4338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6740"/>
                <a:gridCol w="588010"/>
              </a:tblGrid>
              <a:tr h="22796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923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3C4A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732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86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796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923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3C4A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55295">
                <a:tc gridSpan="2">
                  <a:txBody>
                    <a:bodyPr/>
                    <a:lstStyle/>
                    <a:p>
                      <a:pPr marL="30162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dirty="0" sz="1600" spc="-10" b="1">
                          <a:latin typeface="Arial"/>
                          <a:cs typeface="Arial"/>
                        </a:rPr>
                        <a:t>Guest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234315">
                        <a:lnSpc>
                          <a:spcPts val="1250"/>
                        </a:lnSpc>
                        <a:spcBef>
                          <a:spcPts val="5"/>
                        </a:spcBef>
                      </a:pPr>
                      <a:r>
                        <a:rPr dirty="0" sz="1050" b="1">
                          <a:latin typeface="Arial"/>
                          <a:cs typeface="Arial"/>
                        </a:rPr>
                        <a:t>Page</a:t>
                      </a:r>
                      <a:r>
                        <a:rPr dirty="0" sz="105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 b="1">
                          <a:latin typeface="Arial"/>
                          <a:cs typeface="Arial"/>
                        </a:rPr>
                        <a:t>Table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39369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7E7E7E"/>
                      </a:solidFill>
                      <a:prstDash val="dot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7E7E7E"/>
                      </a:solidFill>
                      <a:prstDash val="dot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669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987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313E4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923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86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606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987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313E4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56565">
                <a:tc gridSpan="2">
                  <a:txBody>
                    <a:bodyPr/>
                    <a:lstStyle/>
                    <a:p>
                      <a:pPr marL="22606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 spc="-10" b="1">
                          <a:latin typeface="Arial"/>
                          <a:cs typeface="Arial"/>
                        </a:rPr>
                        <a:t>Shadow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264160">
                        <a:lnSpc>
                          <a:spcPts val="1250"/>
                        </a:lnSpc>
                        <a:spcBef>
                          <a:spcPts val="10"/>
                        </a:spcBef>
                      </a:pPr>
                      <a:r>
                        <a:rPr dirty="0" sz="1050" b="1">
                          <a:latin typeface="Arial"/>
                          <a:cs typeface="Arial"/>
                        </a:rPr>
                        <a:t>Page</a:t>
                      </a:r>
                      <a:r>
                        <a:rPr dirty="0" sz="105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 b="1">
                          <a:latin typeface="Arial"/>
                          <a:cs typeface="Arial"/>
                        </a:rPr>
                        <a:t>Table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69" name="object 69"/>
          <p:cNvSpPr/>
          <p:nvPr/>
        </p:nvSpPr>
        <p:spPr>
          <a:xfrm>
            <a:off x="2327275" y="1686179"/>
            <a:ext cx="5734685" cy="1687195"/>
          </a:xfrm>
          <a:custGeom>
            <a:avLst/>
            <a:gdLst/>
            <a:ahLst/>
            <a:cxnLst/>
            <a:rect l="l" t="t" r="r" b="b"/>
            <a:pathLst>
              <a:path w="5734684" h="1687195">
                <a:moveTo>
                  <a:pt x="5699633" y="0"/>
                </a:moveTo>
                <a:lnTo>
                  <a:pt x="6476" y="0"/>
                </a:lnTo>
                <a:lnTo>
                  <a:pt x="0" y="6476"/>
                </a:lnTo>
                <a:lnTo>
                  <a:pt x="0" y="1687068"/>
                </a:lnTo>
                <a:lnTo>
                  <a:pt x="28575" y="1687068"/>
                </a:lnTo>
                <a:lnTo>
                  <a:pt x="28575" y="28575"/>
                </a:lnTo>
                <a:lnTo>
                  <a:pt x="14350" y="28575"/>
                </a:lnTo>
                <a:lnTo>
                  <a:pt x="28575" y="14350"/>
                </a:lnTo>
                <a:lnTo>
                  <a:pt x="5705983" y="14350"/>
                </a:lnTo>
                <a:lnTo>
                  <a:pt x="5705983" y="6476"/>
                </a:lnTo>
                <a:lnTo>
                  <a:pt x="5699633" y="0"/>
                </a:lnTo>
                <a:close/>
              </a:path>
              <a:path w="5734684" h="1687195">
                <a:moveTo>
                  <a:pt x="5677408" y="306070"/>
                </a:moveTo>
                <a:lnTo>
                  <a:pt x="5648833" y="306070"/>
                </a:lnTo>
                <a:lnTo>
                  <a:pt x="5691758" y="391795"/>
                </a:lnTo>
                <a:lnTo>
                  <a:pt x="5727393" y="320421"/>
                </a:lnTo>
                <a:lnTo>
                  <a:pt x="5677408" y="320421"/>
                </a:lnTo>
                <a:lnTo>
                  <a:pt x="5677408" y="306070"/>
                </a:lnTo>
                <a:close/>
              </a:path>
              <a:path w="5734684" h="1687195">
                <a:moveTo>
                  <a:pt x="5677408" y="14350"/>
                </a:moveTo>
                <a:lnTo>
                  <a:pt x="5677408" y="320421"/>
                </a:lnTo>
                <a:lnTo>
                  <a:pt x="5705983" y="320421"/>
                </a:lnTo>
                <a:lnTo>
                  <a:pt x="5705983" y="28575"/>
                </a:lnTo>
                <a:lnTo>
                  <a:pt x="5691758" y="28575"/>
                </a:lnTo>
                <a:lnTo>
                  <a:pt x="5677408" y="14350"/>
                </a:lnTo>
                <a:close/>
              </a:path>
              <a:path w="5734684" h="1687195">
                <a:moveTo>
                  <a:pt x="5734558" y="306070"/>
                </a:moveTo>
                <a:lnTo>
                  <a:pt x="5705983" y="306070"/>
                </a:lnTo>
                <a:lnTo>
                  <a:pt x="5705983" y="320421"/>
                </a:lnTo>
                <a:lnTo>
                  <a:pt x="5727393" y="320421"/>
                </a:lnTo>
                <a:lnTo>
                  <a:pt x="5734558" y="306070"/>
                </a:lnTo>
                <a:close/>
              </a:path>
              <a:path w="5734684" h="1687195">
                <a:moveTo>
                  <a:pt x="28575" y="14350"/>
                </a:moveTo>
                <a:lnTo>
                  <a:pt x="14350" y="28575"/>
                </a:lnTo>
                <a:lnTo>
                  <a:pt x="28575" y="28575"/>
                </a:lnTo>
                <a:lnTo>
                  <a:pt x="28575" y="14350"/>
                </a:lnTo>
                <a:close/>
              </a:path>
              <a:path w="5734684" h="1687195">
                <a:moveTo>
                  <a:pt x="5677408" y="14350"/>
                </a:moveTo>
                <a:lnTo>
                  <a:pt x="28575" y="14350"/>
                </a:lnTo>
                <a:lnTo>
                  <a:pt x="28575" y="28575"/>
                </a:lnTo>
                <a:lnTo>
                  <a:pt x="5677408" y="28575"/>
                </a:lnTo>
                <a:lnTo>
                  <a:pt x="5677408" y="14350"/>
                </a:lnTo>
                <a:close/>
              </a:path>
              <a:path w="5734684" h="1687195">
                <a:moveTo>
                  <a:pt x="5705983" y="14350"/>
                </a:moveTo>
                <a:lnTo>
                  <a:pt x="5677408" y="14350"/>
                </a:lnTo>
                <a:lnTo>
                  <a:pt x="5691758" y="28575"/>
                </a:lnTo>
                <a:lnTo>
                  <a:pt x="5705983" y="28575"/>
                </a:lnTo>
                <a:lnTo>
                  <a:pt x="5705983" y="14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0" name="object 70"/>
          <p:cNvGrpSpPr/>
          <p:nvPr/>
        </p:nvGrpSpPr>
        <p:grpSpPr>
          <a:xfrm>
            <a:off x="1846897" y="4812601"/>
            <a:ext cx="4257675" cy="1605915"/>
            <a:chOff x="1846897" y="4812601"/>
            <a:chExt cx="4257675" cy="1605915"/>
          </a:xfrm>
        </p:grpSpPr>
        <p:sp>
          <p:nvSpPr>
            <p:cNvPr id="71" name="object 71"/>
            <p:cNvSpPr/>
            <p:nvPr/>
          </p:nvSpPr>
          <p:spPr>
            <a:xfrm>
              <a:off x="1851660" y="4817364"/>
              <a:ext cx="1173480" cy="304800"/>
            </a:xfrm>
            <a:custGeom>
              <a:avLst/>
              <a:gdLst/>
              <a:ahLst/>
              <a:cxnLst/>
              <a:rect l="l" t="t" r="r" b="b"/>
              <a:pathLst>
                <a:path w="1173480" h="304800">
                  <a:moveTo>
                    <a:pt x="117348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1173480" y="304800"/>
                  </a:lnTo>
                  <a:lnTo>
                    <a:pt x="1173480" y="0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1851660" y="4817364"/>
              <a:ext cx="1173480" cy="304800"/>
            </a:xfrm>
            <a:custGeom>
              <a:avLst/>
              <a:gdLst/>
              <a:ahLst/>
              <a:cxnLst/>
              <a:rect l="l" t="t" r="r" b="b"/>
              <a:pathLst>
                <a:path w="1173480" h="304800">
                  <a:moveTo>
                    <a:pt x="0" y="304800"/>
                  </a:moveTo>
                  <a:lnTo>
                    <a:pt x="1173480" y="304800"/>
                  </a:lnTo>
                  <a:lnTo>
                    <a:pt x="117348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2424938" y="5046726"/>
              <a:ext cx="3679825" cy="1371600"/>
            </a:xfrm>
            <a:custGeom>
              <a:avLst/>
              <a:gdLst/>
              <a:ahLst/>
              <a:cxnLst/>
              <a:rect l="l" t="t" r="r" b="b"/>
              <a:pathLst>
                <a:path w="3679825" h="1371600">
                  <a:moveTo>
                    <a:pt x="3622421" y="1285748"/>
                  </a:moveTo>
                  <a:lnTo>
                    <a:pt x="3593846" y="1285748"/>
                  </a:lnTo>
                  <a:lnTo>
                    <a:pt x="3636645" y="1371473"/>
                  </a:lnTo>
                  <a:lnTo>
                    <a:pt x="3672416" y="1300035"/>
                  </a:lnTo>
                  <a:lnTo>
                    <a:pt x="3622421" y="1300035"/>
                  </a:lnTo>
                  <a:lnTo>
                    <a:pt x="3622421" y="1285748"/>
                  </a:lnTo>
                  <a:close/>
                </a:path>
                <a:path w="3679825" h="1371600">
                  <a:moveTo>
                    <a:pt x="3622421" y="219075"/>
                  </a:moveTo>
                  <a:lnTo>
                    <a:pt x="3622421" y="1300035"/>
                  </a:lnTo>
                  <a:lnTo>
                    <a:pt x="3650996" y="1300035"/>
                  </a:lnTo>
                  <a:lnTo>
                    <a:pt x="3650996" y="233426"/>
                  </a:lnTo>
                  <a:lnTo>
                    <a:pt x="3636645" y="233426"/>
                  </a:lnTo>
                  <a:lnTo>
                    <a:pt x="3622421" y="219075"/>
                  </a:lnTo>
                  <a:close/>
                </a:path>
                <a:path w="3679825" h="1371600">
                  <a:moveTo>
                    <a:pt x="3679571" y="1285748"/>
                  </a:moveTo>
                  <a:lnTo>
                    <a:pt x="3650996" y="1285748"/>
                  </a:lnTo>
                  <a:lnTo>
                    <a:pt x="3650996" y="1300035"/>
                  </a:lnTo>
                  <a:lnTo>
                    <a:pt x="3672416" y="1300035"/>
                  </a:lnTo>
                  <a:lnTo>
                    <a:pt x="3679571" y="1285748"/>
                  </a:lnTo>
                  <a:close/>
                </a:path>
                <a:path w="3679825" h="1371600">
                  <a:moveTo>
                    <a:pt x="28575" y="0"/>
                  </a:moveTo>
                  <a:lnTo>
                    <a:pt x="0" y="0"/>
                  </a:lnTo>
                  <a:lnTo>
                    <a:pt x="0" y="226949"/>
                  </a:lnTo>
                  <a:lnTo>
                    <a:pt x="6350" y="233426"/>
                  </a:lnTo>
                  <a:lnTo>
                    <a:pt x="3622421" y="233426"/>
                  </a:lnTo>
                  <a:lnTo>
                    <a:pt x="3622421" y="219075"/>
                  </a:lnTo>
                  <a:lnTo>
                    <a:pt x="28575" y="219075"/>
                  </a:lnTo>
                  <a:lnTo>
                    <a:pt x="14224" y="204851"/>
                  </a:lnTo>
                  <a:lnTo>
                    <a:pt x="28575" y="204851"/>
                  </a:lnTo>
                  <a:lnTo>
                    <a:pt x="28575" y="0"/>
                  </a:lnTo>
                  <a:close/>
                </a:path>
                <a:path w="3679825" h="1371600">
                  <a:moveTo>
                    <a:pt x="3644519" y="204851"/>
                  </a:moveTo>
                  <a:lnTo>
                    <a:pt x="28575" y="204851"/>
                  </a:lnTo>
                  <a:lnTo>
                    <a:pt x="28575" y="219075"/>
                  </a:lnTo>
                  <a:lnTo>
                    <a:pt x="3622421" y="219075"/>
                  </a:lnTo>
                  <a:lnTo>
                    <a:pt x="3636645" y="233426"/>
                  </a:lnTo>
                  <a:lnTo>
                    <a:pt x="3650996" y="233426"/>
                  </a:lnTo>
                  <a:lnTo>
                    <a:pt x="3650996" y="211201"/>
                  </a:lnTo>
                  <a:lnTo>
                    <a:pt x="3644519" y="204851"/>
                  </a:lnTo>
                  <a:close/>
                </a:path>
                <a:path w="3679825" h="1371600">
                  <a:moveTo>
                    <a:pt x="28575" y="204851"/>
                  </a:moveTo>
                  <a:lnTo>
                    <a:pt x="14224" y="204851"/>
                  </a:lnTo>
                  <a:lnTo>
                    <a:pt x="28575" y="219075"/>
                  </a:lnTo>
                  <a:lnTo>
                    <a:pt x="28575" y="2048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4" name="object 74"/>
          <p:cNvGrpSpPr/>
          <p:nvPr/>
        </p:nvGrpSpPr>
        <p:grpSpPr>
          <a:xfrm>
            <a:off x="2243327" y="1869948"/>
            <a:ext cx="5677535" cy="3176270"/>
            <a:chOff x="2243327" y="1869948"/>
            <a:chExt cx="5677535" cy="3176270"/>
          </a:xfrm>
        </p:grpSpPr>
        <p:pic>
          <p:nvPicPr>
            <p:cNvPr id="75" name="object 7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43327" y="3372612"/>
              <a:ext cx="195072" cy="152400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40863" y="4893564"/>
              <a:ext cx="195072" cy="152400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6159245" y="1869948"/>
              <a:ext cx="1761489" cy="114300"/>
            </a:xfrm>
            <a:custGeom>
              <a:avLst/>
              <a:gdLst/>
              <a:ahLst/>
              <a:cxnLst/>
              <a:rect l="l" t="t" r="r" b="b"/>
              <a:pathLst>
                <a:path w="1761490" h="114300">
                  <a:moveTo>
                    <a:pt x="38100" y="36575"/>
                  </a:moveTo>
                  <a:lnTo>
                    <a:pt x="0" y="36575"/>
                  </a:lnTo>
                  <a:lnTo>
                    <a:pt x="0" y="74675"/>
                  </a:lnTo>
                  <a:lnTo>
                    <a:pt x="38100" y="74675"/>
                  </a:lnTo>
                  <a:lnTo>
                    <a:pt x="38100" y="36575"/>
                  </a:lnTo>
                  <a:close/>
                </a:path>
                <a:path w="1761490" h="114300">
                  <a:moveTo>
                    <a:pt x="190500" y="36702"/>
                  </a:moveTo>
                  <a:lnTo>
                    <a:pt x="152400" y="36702"/>
                  </a:lnTo>
                  <a:lnTo>
                    <a:pt x="152400" y="74802"/>
                  </a:lnTo>
                  <a:lnTo>
                    <a:pt x="190500" y="74802"/>
                  </a:lnTo>
                  <a:lnTo>
                    <a:pt x="190500" y="36702"/>
                  </a:lnTo>
                  <a:close/>
                </a:path>
                <a:path w="1761490" h="114300">
                  <a:moveTo>
                    <a:pt x="342900" y="36829"/>
                  </a:moveTo>
                  <a:lnTo>
                    <a:pt x="304800" y="36829"/>
                  </a:lnTo>
                  <a:lnTo>
                    <a:pt x="304800" y="74929"/>
                  </a:lnTo>
                  <a:lnTo>
                    <a:pt x="342900" y="74929"/>
                  </a:lnTo>
                  <a:lnTo>
                    <a:pt x="342900" y="36829"/>
                  </a:lnTo>
                  <a:close/>
                </a:path>
                <a:path w="1761490" h="114300">
                  <a:moveTo>
                    <a:pt x="457200" y="36956"/>
                  </a:moveTo>
                  <a:lnTo>
                    <a:pt x="457200" y="75056"/>
                  </a:lnTo>
                  <a:lnTo>
                    <a:pt x="495300" y="75184"/>
                  </a:lnTo>
                  <a:lnTo>
                    <a:pt x="495300" y="37084"/>
                  </a:lnTo>
                  <a:lnTo>
                    <a:pt x="457200" y="36956"/>
                  </a:lnTo>
                  <a:close/>
                </a:path>
                <a:path w="1761490" h="114300">
                  <a:moveTo>
                    <a:pt x="647700" y="37211"/>
                  </a:moveTo>
                  <a:lnTo>
                    <a:pt x="609600" y="37211"/>
                  </a:lnTo>
                  <a:lnTo>
                    <a:pt x="609600" y="75311"/>
                  </a:lnTo>
                  <a:lnTo>
                    <a:pt x="647700" y="75311"/>
                  </a:lnTo>
                  <a:lnTo>
                    <a:pt x="647700" y="37211"/>
                  </a:lnTo>
                  <a:close/>
                </a:path>
                <a:path w="1761490" h="114300">
                  <a:moveTo>
                    <a:pt x="800100" y="37337"/>
                  </a:moveTo>
                  <a:lnTo>
                    <a:pt x="762000" y="37337"/>
                  </a:lnTo>
                  <a:lnTo>
                    <a:pt x="762000" y="75437"/>
                  </a:lnTo>
                  <a:lnTo>
                    <a:pt x="800100" y="75437"/>
                  </a:lnTo>
                  <a:lnTo>
                    <a:pt x="800100" y="37337"/>
                  </a:lnTo>
                  <a:close/>
                </a:path>
                <a:path w="1761490" h="114300">
                  <a:moveTo>
                    <a:pt x="952500" y="37464"/>
                  </a:moveTo>
                  <a:lnTo>
                    <a:pt x="914400" y="37464"/>
                  </a:lnTo>
                  <a:lnTo>
                    <a:pt x="914400" y="75564"/>
                  </a:lnTo>
                  <a:lnTo>
                    <a:pt x="952500" y="75564"/>
                  </a:lnTo>
                  <a:lnTo>
                    <a:pt x="952500" y="37464"/>
                  </a:lnTo>
                  <a:close/>
                </a:path>
                <a:path w="1761490" h="114300">
                  <a:moveTo>
                    <a:pt x="1104900" y="37591"/>
                  </a:moveTo>
                  <a:lnTo>
                    <a:pt x="1066800" y="37591"/>
                  </a:lnTo>
                  <a:lnTo>
                    <a:pt x="1066800" y="75691"/>
                  </a:lnTo>
                  <a:lnTo>
                    <a:pt x="1104900" y="75691"/>
                  </a:lnTo>
                  <a:lnTo>
                    <a:pt x="1104900" y="37591"/>
                  </a:lnTo>
                  <a:close/>
                </a:path>
                <a:path w="1761490" h="114300">
                  <a:moveTo>
                    <a:pt x="1257300" y="37718"/>
                  </a:moveTo>
                  <a:lnTo>
                    <a:pt x="1219200" y="37718"/>
                  </a:lnTo>
                  <a:lnTo>
                    <a:pt x="1219200" y="75818"/>
                  </a:lnTo>
                  <a:lnTo>
                    <a:pt x="1257300" y="75818"/>
                  </a:lnTo>
                  <a:lnTo>
                    <a:pt x="1257300" y="37718"/>
                  </a:lnTo>
                  <a:close/>
                </a:path>
                <a:path w="1761490" h="114300">
                  <a:moveTo>
                    <a:pt x="1409700" y="37846"/>
                  </a:moveTo>
                  <a:lnTo>
                    <a:pt x="1371600" y="37846"/>
                  </a:lnTo>
                  <a:lnTo>
                    <a:pt x="1371600" y="75946"/>
                  </a:lnTo>
                  <a:lnTo>
                    <a:pt x="1409700" y="75946"/>
                  </a:lnTo>
                  <a:lnTo>
                    <a:pt x="1409700" y="37846"/>
                  </a:lnTo>
                  <a:close/>
                </a:path>
                <a:path w="1761490" h="114300">
                  <a:moveTo>
                    <a:pt x="1562100" y="37973"/>
                  </a:moveTo>
                  <a:lnTo>
                    <a:pt x="1524000" y="37973"/>
                  </a:lnTo>
                  <a:lnTo>
                    <a:pt x="1524000" y="76073"/>
                  </a:lnTo>
                  <a:lnTo>
                    <a:pt x="1562100" y="76073"/>
                  </a:lnTo>
                  <a:lnTo>
                    <a:pt x="1562100" y="37973"/>
                  </a:lnTo>
                  <a:close/>
                </a:path>
                <a:path w="1761490" h="114300">
                  <a:moveTo>
                    <a:pt x="1647062" y="0"/>
                  </a:moveTo>
                  <a:lnTo>
                    <a:pt x="1646935" y="114300"/>
                  </a:lnTo>
                  <a:lnTo>
                    <a:pt x="1761235" y="57150"/>
                  </a:lnTo>
                  <a:lnTo>
                    <a:pt x="164706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32343" y="0"/>
            <a:ext cx="754907" cy="139051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484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350"/>
              </a:spcBef>
            </a:pP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Shadow</a:t>
            </a:r>
            <a:r>
              <a:rPr dirty="0" sz="2200" spc="-6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page</a:t>
            </a:r>
            <a:r>
              <a:rPr dirty="0" sz="2200" spc="-6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tables</a:t>
            </a:r>
            <a:r>
              <a:rPr dirty="0" sz="2200" spc="-5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C55A11"/>
                </a:solidFill>
                <a:latin typeface="Arial"/>
                <a:cs typeface="Arial"/>
              </a:rPr>
              <a:t>(Cont.)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50442" y="1404873"/>
            <a:ext cx="28968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libri"/>
                <a:cs typeface="Calibri"/>
              </a:rPr>
              <a:t>Set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CR3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by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guest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OS</a:t>
            </a:r>
            <a:r>
              <a:rPr dirty="0" sz="2400" spc="-25">
                <a:latin typeface="Calibri"/>
                <a:cs typeface="Calibri"/>
              </a:rPr>
              <a:t> (2)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398901" y="2211704"/>
            <a:ext cx="1309370" cy="1916430"/>
            <a:chOff x="3398901" y="2211704"/>
            <a:chExt cx="1309370" cy="1916430"/>
          </a:xfrm>
        </p:grpSpPr>
        <p:sp>
          <p:nvSpPr>
            <p:cNvPr id="7" name="object 7"/>
            <p:cNvSpPr/>
            <p:nvPr/>
          </p:nvSpPr>
          <p:spPr>
            <a:xfrm>
              <a:off x="3408426" y="2221229"/>
              <a:ext cx="1289685" cy="1897380"/>
            </a:xfrm>
            <a:custGeom>
              <a:avLst/>
              <a:gdLst/>
              <a:ahLst/>
              <a:cxnLst/>
              <a:rect l="l" t="t" r="r" b="b"/>
              <a:pathLst>
                <a:path w="1289685" h="1897379">
                  <a:moveTo>
                    <a:pt x="0" y="1897380"/>
                  </a:moveTo>
                  <a:lnTo>
                    <a:pt x="1289303" y="1897380"/>
                  </a:lnTo>
                  <a:lnTo>
                    <a:pt x="1289303" y="0"/>
                  </a:lnTo>
                  <a:lnTo>
                    <a:pt x="0" y="0"/>
                  </a:lnTo>
                  <a:lnTo>
                    <a:pt x="0" y="189738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408426" y="2221229"/>
              <a:ext cx="1290320" cy="1425575"/>
            </a:xfrm>
            <a:custGeom>
              <a:avLst/>
              <a:gdLst/>
              <a:ahLst/>
              <a:cxnLst/>
              <a:rect l="l" t="t" r="r" b="b"/>
              <a:pathLst>
                <a:path w="1290320" h="1425575">
                  <a:moveTo>
                    <a:pt x="0" y="0"/>
                  </a:moveTo>
                  <a:lnTo>
                    <a:pt x="1290320" y="1650"/>
                  </a:lnTo>
                </a:path>
                <a:path w="1290320" h="1425575">
                  <a:moveTo>
                    <a:pt x="0" y="711708"/>
                  </a:moveTo>
                  <a:lnTo>
                    <a:pt x="1290320" y="713359"/>
                  </a:lnTo>
                </a:path>
                <a:path w="1290320" h="1425575">
                  <a:moveTo>
                    <a:pt x="0" y="1187196"/>
                  </a:moveTo>
                  <a:lnTo>
                    <a:pt x="1290320" y="1188847"/>
                  </a:lnTo>
                </a:path>
                <a:path w="1290320" h="1425575">
                  <a:moveTo>
                    <a:pt x="0" y="1423416"/>
                  </a:moveTo>
                  <a:lnTo>
                    <a:pt x="1290320" y="1425067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3687826" y="3673221"/>
            <a:ext cx="730885" cy="4305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8105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Arial"/>
                <a:cs typeface="Arial"/>
              </a:rPr>
              <a:t>Guest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050" b="1">
                <a:latin typeface="Arial"/>
                <a:cs typeface="Arial"/>
              </a:rPr>
              <a:t>Page</a:t>
            </a:r>
            <a:r>
              <a:rPr dirty="0" sz="1050" spc="-40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Table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341810" y="2211704"/>
            <a:ext cx="1318895" cy="1916430"/>
            <a:chOff x="5341810" y="2211704"/>
            <a:chExt cx="1318895" cy="1916430"/>
          </a:xfrm>
        </p:grpSpPr>
        <p:sp>
          <p:nvSpPr>
            <p:cNvPr id="16" name="object 16"/>
            <p:cNvSpPr/>
            <p:nvPr/>
          </p:nvSpPr>
          <p:spPr>
            <a:xfrm>
              <a:off x="5356097" y="2221229"/>
              <a:ext cx="1290955" cy="1897380"/>
            </a:xfrm>
            <a:custGeom>
              <a:avLst/>
              <a:gdLst/>
              <a:ahLst/>
              <a:cxnLst/>
              <a:rect l="l" t="t" r="r" b="b"/>
              <a:pathLst>
                <a:path w="1290954" h="1897379">
                  <a:moveTo>
                    <a:pt x="0" y="1897380"/>
                  </a:moveTo>
                  <a:lnTo>
                    <a:pt x="1290827" y="1897380"/>
                  </a:lnTo>
                  <a:lnTo>
                    <a:pt x="1290827" y="0"/>
                  </a:lnTo>
                  <a:lnTo>
                    <a:pt x="0" y="0"/>
                  </a:lnTo>
                  <a:lnTo>
                    <a:pt x="0" y="189738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346572" y="2216467"/>
              <a:ext cx="1309370" cy="0"/>
            </a:xfrm>
            <a:custGeom>
              <a:avLst/>
              <a:gdLst/>
              <a:ahLst/>
              <a:cxnLst/>
              <a:rect l="l" t="t" r="r" b="b"/>
              <a:pathLst>
                <a:path w="1309370" h="0">
                  <a:moveTo>
                    <a:pt x="0" y="0"/>
                  </a:moveTo>
                  <a:lnTo>
                    <a:pt x="130937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356097" y="2696717"/>
              <a:ext cx="1290320" cy="949960"/>
            </a:xfrm>
            <a:custGeom>
              <a:avLst/>
              <a:gdLst/>
              <a:ahLst/>
              <a:cxnLst/>
              <a:rect l="l" t="t" r="r" b="b"/>
              <a:pathLst>
                <a:path w="1290320" h="949960">
                  <a:moveTo>
                    <a:pt x="0" y="0"/>
                  </a:moveTo>
                  <a:lnTo>
                    <a:pt x="1290320" y="1651"/>
                  </a:lnTo>
                </a:path>
                <a:path w="1290320" h="949960">
                  <a:moveTo>
                    <a:pt x="0" y="711708"/>
                  </a:moveTo>
                  <a:lnTo>
                    <a:pt x="1290320" y="713359"/>
                  </a:lnTo>
                </a:path>
                <a:path w="1290320" h="949960">
                  <a:moveTo>
                    <a:pt x="0" y="947928"/>
                  </a:moveTo>
                  <a:lnTo>
                    <a:pt x="1290320" y="949579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5636767" y="3673221"/>
            <a:ext cx="730885" cy="4305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8105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Arial"/>
                <a:cs typeface="Arial"/>
              </a:rPr>
              <a:t>Guest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050" b="1">
                <a:latin typeface="Arial"/>
                <a:cs typeface="Arial"/>
              </a:rPr>
              <a:t>Page</a:t>
            </a:r>
            <a:r>
              <a:rPr dirty="0" sz="1050" spc="-40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Table</a:t>
            </a:r>
            <a:endParaRPr sz="105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305293" y="2221229"/>
            <a:ext cx="1290955" cy="1897380"/>
          </a:xfrm>
          <a:custGeom>
            <a:avLst/>
            <a:gdLst/>
            <a:ahLst/>
            <a:cxnLst/>
            <a:rect l="l" t="t" r="r" b="b"/>
            <a:pathLst>
              <a:path w="1290954" h="1897379">
                <a:moveTo>
                  <a:pt x="0" y="1897380"/>
                </a:moveTo>
                <a:lnTo>
                  <a:pt x="1290827" y="1897380"/>
                </a:lnTo>
                <a:lnTo>
                  <a:pt x="1290827" y="0"/>
                </a:lnTo>
                <a:lnTo>
                  <a:pt x="0" y="0"/>
                </a:lnTo>
                <a:lnTo>
                  <a:pt x="0" y="1897380"/>
                </a:lnTo>
                <a:close/>
              </a:path>
              <a:path w="1290954" h="1897379">
                <a:moveTo>
                  <a:pt x="0" y="0"/>
                </a:moveTo>
                <a:lnTo>
                  <a:pt x="1290320" y="1650"/>
                </a:lnTo>
              </a:path>
              <a:path w="1290954" h="1897379">
                <a:moveTo>
                  <a:pt x="0" y="475488"/>
                </a:moveTo>
                <a:lnTo>
                  <a:pt x="1290320" y="477139"/>
                </a:lnTo>
              </a:path>
              <a:path w="1290954" h="1897379">
                <a:moveTo>
                  <a:pt x="0" y="711708"/>
                </a:moveTo>
                <a:lnTo>
                  <a:pt x="1290320" y="713359"/>
                </a:lnTo>
              </a:path>
              <a:path w="1290954" h="1897379">
                <a:moveTo>
                  <a:pt x="0" y="949452"/>
                </a:moveTo>
                <a:lnTo>
                  <a:pt x="1290320" y="951103"/>
                </a:lnTo>
              </a:path>
              <a:path w="1290954" h="1897379">
                <a:moveTo>
                  <a:pt x="0" y="1423416"/>
                </a:moveTo>
                <a:lnTo>
                  <a:pt x="1290320" y="1425067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7585709" y="3673221"/>
            <a:ext cx="730885" cy="4305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8105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Arial"/>
                <a:cs typeface="Arial"/>
              </a:rPr>
              <a:t>Guest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050" b="1">
                <a:latin typeface="Arial"/>
                <a:cs typeface="Arial"/>
              </a:rPr>
              <a:t>Page</a:t>
            </a:r>
            <a:r>
              <a:rPr dirty="0" sz="1050" spc="-40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Table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388423" y="4665217"/>
            <a:ext cx="1330325" cy="1917064"/>
            <a:chOff x="3388423" y="4665217"/>
            <a:chExt cx="1330325" cy="1917064"/>
          </a:xfrm>
        </p:grpSpPr>
        <p:sp>
          <p:nvSpPr>
            <p:cNvPr id="11" name="object 11"/>
            <p:cNvSpPr/>
            <p:nvPr/>
          </p:nvSpPr>
          <p:spPr>
            <a:xfrm>
              <a:off x="3408425" y="4674869"/>
              <a:ext cx="1289685" cy="1897380"/>
            </a:xfrm>
            <a:custGeom>
              <a:avLst/>
              <a:gdLst/>
              <a:ahLst/>
              <a:cxnLst/>
              <a:rect l="l" t="t" r="r" b="b"/>
              <a:pathLst>
                <a:path w="1289685" h="1897379">
                  <a:moveTo>
                    <a:pt x="0" y="1897379"/>
                  </a:moveTo>
                  <a:lnTo>
                    <a:pt x="1289303" y="1897379"/>
                  </a:lnTo>
                  <a:lnTo>
                    <a:pt x="1289303" y="0"/>
                  </a:lnTo>
                  <a:lnTo>
                    <a:pt x="0" y="0"/>
                  </a:lnTo>
                  <a:lnTo>
                    <a:pt x="0" y="1897379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398900" y="4675695"/>
              <a:ext cx="1309370" cy="0"/>
            </a:xfrm>
            <a:custGeom>
              <a:avLst/>
              <a:gdLst/>
              <a:ahLst/>
              <a:cxnLst/>
              <a:rect l="l" t="t" r="r" b="b"/>
              <a:pathLst>
                <a:path w="1309370" h="0">
                  <a:moveTo>
                    <a:pt x="0" y="0"/>
                  </a:moveTo>
                  <a:lnTo>
                    <a:pt x="566927" y="0"/>
                  </a:lnTo>
                </a:path>
                <a:path w="1309370" h="0">
                  <a:moveTo>
                    <a:pt x="624077" y="0"/>
                  </a:moveTo>
                  <a:lnTo>
                    <a:pt x="1309370" y="0"/>
                  </a:lnTo>
                </a:path>
              </a:pathLst>
            </a:custGeom>
            <a:ln w="20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408425" y="5386577"/>
              <a:ext cx="1290320" cy="711835"/>
            </a:xfrm>
            <a:custGeom>
              <a:avLst/>
              <a:gdLst/>
              <a:ahLst/>
              <a:cxnLst/>
              <a:rect l="l" t="t" r="r" b="b"/>
              <a:pathLst>
                <a:path w="1290320" h="711835">
                  <a:moveTo>
                    <a:pt x="0" y="0"/>
                  </a:moveTo>
                  <a:lnTo>
                    <a:pt x="1290320" y="1651"/>
                  </a:lnTo>
                </a:path>
                <a:path w="1290320" h="711835">
                  <a:moveTo>
                    <a:pt x="0" y="236220"/>
                  </a:moveTo>
                  <a:lnTo>
                    <a:pt x="1290320" y="237871"/>
                  </a:lnTo>
                </a:path>
                <a:path w="1290320" h="711835">
                  <a:moveTo>
                    <a:pt x="0" y="473964"/>
                  </a:moveTo>
                  <a:lnTo>
                    <a:pt x="1290320" y="475615"/>
                  </a:lnTo>
                </a:path>
                <a:path w="1290320" h="711835">
                  <a:moveTo>
                    <a:pt x="0" y="710184"/>
                  </a:moveTo>
                  <a:lnTo>
                    <a:pt x="1290320" y="711835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3682110" y="6126276"/>
            <a:ext cx="802005" cy="4305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Arial"/>
                <a:cs typeface="Arial"/>
              </a:rPr>
              <a:t>Shadow</a:t>
            </a:r>
            <a:endParaRPr sz="16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10"/>
              </a:spcBef>
            </a:pPr>
            <a:r>
              <a:rPr dirty="0" sz="1050" b="1">
                <a:latin typeface="Arial"/>
                <a:cs typeface="Arial"/>
              </a:rPr>
              <a:t>Page</a:t>
            </a:r>
            <a:r>
              <a:rPr dirty="0" sz="1050" spc="-40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Table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336095" y="4665217"/>
            <a:ext cx="1330325" cy="1917064"/>
            <a:chOff x="5336095" y="4665217"/>
            <a:chExt cx="1330325" cy="1917064"/>
          </a:xfrm>
        </p:grpSpPr>
        <p:sp>
          <p:nvSpPr>
            <p:cNvPr id="23" name="object 23"/>
            <p:cNvSpPr/>
            <p:nvPr/>
          </p:nvSpPr>
          <p:spPr>
            <a:xfrm>
              <a:off x="5356098" y="4674869"/>
              <a:ext cx="1290955" cy="1897380"/>
            </a:xfrm>
            <a:custGeom>
              <a:avLst/>
              <a:gdLst/>
              <a:ahLst/>
              <a:cxnLst/>
              <a:rect l="l" t="t" r="r" b="b"/>
              <a:pathLst>
                <a:path w="1290954" h="1897379">
                  <a:moveTo>
                    <a:pt x="0" y="1897379"/>
                  </a:moveTo>
                  <a:lnTo>
                    <a:pt x="1290827" y="1897379"/>
                  </a:lnTo>
                  <a:lnTo>
                    <a:pt x="1290827" y="0"/>
                  </a:lnTo>
                  <a:lnTo>
                    <a:pt x="0" y="0"/>
                  </a:lnTo>
                  <a:lnTo>
                    <a:pt x="0" y="1897379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346573" y="4675695"/>
              <a:ext cx="1309370" cy="0"/>
            </a:xfrm>
            <a:custGeom>
              <a:avLst/>
              <a:gdLst/>
              <a:ahLst/>
              <a:cxnLst/>
              <a:rect l="l" t="t" r="r" b="b"/>
              <a:pathLst>
                <a:path w="1309370" h="0">
                  <a:moveTo>
                    <a:pt x="0" y="0"/>
                  </a:moveTo>
                  <a:lnTo>
                    <a:pt x="566927" y="0"/>
                  </a:lnTo>
                </a:path>
                <a:path w="1309370" h="0">
                  <a:moveTo>
                    <a:pt x="624077" y="0"/>
                  </a:moveTo>
                  <a:lnTo>
                    <a:pt x="1309370" y="0"/>
                  </a:lnTo>
                </a:path>
              </a:pathLst>
            </a:custGeom>
            <a:ln w="20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5346573" y="4916677"/>
              <a:ext cx="1309370" cy="0"/>
            </a:xfrm>
            <a:custGeom>
              <a:avLst/>
              <a:gdLst/>
              <a:ahLst/>
              <a:cxnLst/>
              <a:rect l="l" t="t" r="r" b="b"/>
              <a:pathLst>
                <a:path w="1309370" h="0">
                  <a:moveTo>
                    <a:pt x="0" y="0"/>
                  </a:moveTo>
                  <a:lnTo>
                    <a:pt x="1309370" y="0"/>
                  </a:lnTo>
                </a:path>
              </a:pathLst>
            </a:custGeom>
            <a:ln w="111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5356098" y="5148833"/>
              <a:ext cx="1290320" cy="949960"/>
            </a:xfrm>
            <a:custGeom>
              <a:avLst/>
              <a:gdLst/>
              <a:ahLst/>
              <a:cxnLst/>
              <a:rect l="l" t="t" r="r" b="b"/>
              <a:pathLst>
                <a:path w="1290320" h="949960">
                  <a:moveTo>
                    <a:pt x="0" y="0"/>
                  </a:moveTo>
                  <a:lnTo>
                    <a:pt x="1290320" y="1651"/>
                  </a:lnTo>
                </a:path>
                <a:path w="1290320" h="949960">
                  <a:moveTo>
                    <a:pt x="0" y="473964"/>
                  </a:moveTo>
                  <a:lnTo>
                    <a:pt x="1290320" y="475615"/>
                  </a:lnTo>
                </a:path>
                <a:path w="1290320" h="949960">
                  <a:moveTo>
                    <a:pt x="0" y="711708"/>
                  </a:moveTo>
                  <a:lnTo>
                    <a:pt x="1290320" y="713359"/>
                  </a:lnTo>
                </a:path>
                <a:path w="1290320" h="949960">
                  <a:moveTo>
                    <a:pt x="0" y="947928"/>
                  </a:moveTo>
                  <a:lnTo>
                    <a:pt x="1290320" y="949579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5630926" y="6126276"/>
            <a:ext cx="802005" cy="4305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Arial"/>
                <a:cs typeface="Arial"/>
              </a:rPr>
              <a:t>Shadow</a:t>
            </a:r>
            <a:endParaRPr sz="16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10"/>
              </a:spcBef>
            </a:pPr>
            <a:r>
              <a:rPr dirty="0" sz="1050" b="1">
                <a:latin typeface="Arial"/>
                <a:cs typeface="Arial"/>
              </a:rPr>
              <a:t>Page</a:t>
            </a:r>
            <a:r>
              <a:rPr dirty="0" sz="1050" spc="-40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Table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285291" y="4665217"/>
            <a:ext cx="1330325" cy="1917064"/>
            <a:chOff x="7285291" y="4665217"/>
            <a:chExt cx="1330325" cy="1917064"/>
          </a:xfrm>
        </p:grpSpPr>
        <p:sp>
          <p:nvSpPr>
            <p:cNvPr id="29" name="object 29"/>
            <p:cNvSpPr/>
            <p:nvPr/>
          </p:nvSpPr>
          <p:spPr>
            <a:xfrm>
              <a:off x="7305294" y="4674869"/>
              <a:ext cx="1290955" cy="1897380"/>
            </a:xfrm>
            <a:custGeom>
              <a:avLst/>
              <a:gdLst/>
              <a:ahLst/>
              <a:cxnLst/>
              <a:rect l="l" t="t" r="r" b="b"/>
              <a:pathLst>
                <a:path w="1290954" h="1897379">
                  <a:moveTo>
                    <a:pt x="0" y="1897379"/>
                  </a:moveTo>
                  <a:lnTo>
                    <a:pt x="1290827" y="1897379"/>
                  </a:lnTo>
                  <a:lnTo>
                    <a:pt x="1290827" y="0"/>
                  </a:lnTo>
                  <a:lnTo>
                    <a:pt x="0" y="0"/>
                  </a:lnTo>
                  <a:lnTo>
                    <a:pt x="0" y="1897379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7295769" y="4675695"/>
              <a:ext cx="1309370" cy="0"/>
            </a:xfrm>
            <a:custGeom>
              <a:avLst/>
              <a:gdLst/>
              <a:ahLst/>
              <a:cxnLst/>
              <a:rect l="l" t="t" r="r" b="b"/>
              <a:pathLst>
                <a:path w="1309370" h="0">
                  <a:moveTo>
                    <a:pt x="0" y="0"/>
                  </a:moveTo>
                  <a:lnTo>
                    <a:pt x="566927" y="0"/>
                  </a:lnTo>
                </a:path>
                <a:path w="1309370" h="0">
                  <a:moveTo>
                    <a:pt x="624077" y="0"/>
                  </a:moveTo>
                  <a:lnTo>
                    <a:pt x="1309370" y="0"/>
                  </a:lnTo>
                </a:path>
              </a:pathLst>
            </a:custGeom>
            <a:ln w="20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7305294" y="5148833"/>
              <a:ext cx="1290320" cy="949960"/>
            </a:xfrm>
            <a:custGeom>
              <a:avLst/>
              <a:gdLst/>
              <a:ahLst/>
              <a:cxnLst/>
              <a:rect l="l" t="t" r="r" b="b"/>
              <a:pathLst>
                <a:path w="1290320" h="949960">
                  <a:moveTo>
                    <a:pt x="0" y="0"/>
                  </a:moveTo>
                  <a:lnTo>
                    <a:pt x="1290320" y="1651"/>
                  </a:lnTo>
                </a:path>
                <a:path w="1290320" h="949960">
                  <a:moveTo>
                    <a:pt x="0" y="237744"/>
                  </a:moveTo>
                  <a:lnTo>
                    <a:pt x="1290320" y="239395"/>
                  </a:lnTo>
                </a:path>
                <a:path w="1290320" h="949960">
                  <a:moveTo>
                    <a:pt x="0" y="473964"/>
                  </a:moveTo>
                  <a:lnTo>
                    <a:pt x="1290320" y="475615"/>
                  </a:lnTo>
                </a:path>
                <a:path w="1290320" h="949960">
                  <a:moveTo>
                    <a:pt x="0" y="947928"/>
                  </a:moveTo>
                  <a:lnTo>
                    <a:pt x="1290320" y="949579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" name="object 33"/>
          <p:cNvGrpSpPr/>
          <p:nvPr/>
        </p:nvGrpSpPr>
        <p:grpSpPr>
          <a:xfrm>
            <a:off x="1648777" y="2211704"/>
            <a:ext cx="6957059" cy="3824604"/>
            <a:chOff x="1648777" y="2211704"/>
            <a:chExt cx="6957059" cy="3824604"/>
          </a:xfrm>
        </p:grpSpPr>
        <p:sp>
          <p:nvSpPr>
            <p:cNvPr id="34" name="object 34"/>
            <p:cNvSpPr/>
            <p:nvPr/>
          </p:nvSpPr>
          <p:spPr>
            <a:xfrm>
              <a:off x="3994404" y="4005072"/>
              <a:ext cx="3896995" cy="712470"/>
            </a:xfrm>
            <a:custGeom>
              <a:avLst/>
              <a:gdLst/>
              <a:ahLst/>
              <a:cxnLst/>
              <a:rect l="l" t="t" r="r" b="b"/>
              <a:pathLst>
                <a:path w="3896995" h="712470">
                  <a:moveTo>
                    <a:pt x="0" y="0"/>
                  </a:moveTo>
                  <a:lnTo>
                    <a:pt x="0" y="712342"/>
                  </a:lnTo>
                </a:path>
                <a:path w="3896995" h="712470">
                  <a:moveTo>
                    <a:pt x="1947672" y="0"/>
                  </a:moveTo>
                  <a:lnTo>
                    <a:pt x="1947672" y="669797"/>
                  </a:lnTo>
                </a:path>
                <a:path w="3896995" h="712470">
                  <a:moveTo>
                    <a:pt x="3896868" y="0"/>
                  </a:moveTo>
                  <a:lnTo>
                    <a:pt x="3896868" y="712342"/>
                  </a:lnTo>
                </a:path>
              </a:pathLst>
            </a:custGeom>
            <a:ln w="57150">
              <a:solidFill>
                <a:srgbClr val="7E7E7E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3408425" y="2445257"/>
              <a:ext cx="1290955" cy="236220"/>
            </a:xfrm>
            <a:custGeom>
              <a:avLst/>
              <a:gdLst/>
              <a:ahLst/>
              <a:cxnLst/>
              <a:rect l="l" t="t" r="r" b="b"/>
              <a:pathLst>
                <a:path w="1290954" h="236219">
                  <a:moveTo>
                    <a:pt x="1290827" y="0"/>
                  </a:moveTo>
                  <a:lnTo>
                    <a:pt x="0" y="0"/>
                  </a:lnTo>
                  <a:lnTo>
                    <a:pt x="0" y="236220"/>
                  </a:lnTo>
                  <a:lnTo>
                    <a:pt x="1290827" y="236220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C4A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3408425" y="2445257"/>
              <a:ext cx="1290955" cy="236220"/>
            </a:xfrm>
            <a:custGeom>
              <a:avLst/>
              <a:gdLst/>
              <a:ahLst/>
              <a:cxnLst/>
              <a:rect l="l" t="t" r="r" b="b"/>
              <a:pathLst>
                <a:path w="1290954" h="236219">
                  <a:moveTo>
                    <a:pt x="0" y="236220"/>
                  </a:moveTo>
                  <a:lnTo>
                    <a:pt x="1290827" y="236220"/>
                  </a:lnTo>
                  <a:lnTo>
                    <a:pt x="1290827" y="0"/>
                  </a:lnTo>
                  <a:lnTo>
                    <a:pt x="0" y="0"/>
                  </a:lnTo>
                  <a:lnTo>
                    <a:pt x="0" y="23622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3408425" y="2667761"/>
              <a:ext cx="1290955" cy="236220"/>
            </a:xfrm>
            <a:custGeom>
              <a:avLst/>
              <a:gdLst/>
              <a:ahLst/>
              <a:cxnLst/>
              <a:rect l="l" t="t" r="r" b="b"/>
              <a:pathLst>
                <a:path w="1290954" h="236219">
                  <a:moveTo>
                    <a:pt x="1290827" y="0"/>
                  </a:moveTo>
                  <a:lnTo>
                    <a:pt x="0" y="0"/>
                  </a:lnTo>
                  <a:lnTo>
                    <a:pt x="0" y="236220"/>
                  </a:lnTo>
                  <a:lnTo>
                    <a:pt x="1290827" y="236220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C4A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3408425" y="2667761"/>
              <a:ext cx="1290955" cy="236220"/>
            </a:xfrm>
            <a:custGeom>
              <a:avLst/>
              <a:gdLst/>
              <a:ahLst/>
              <a:cxnLst/>
              <a:rect l="l" t="t" r="r" b="b"/>
              <a:pathLst>
                <a:path w="1290954" h="236219">
                  <a:moveTo>
                    <a:pt x="0" y="236220"/>
                  </a:moveTo>
                  <a:lnTo>
                    <a:pt x="1290827" y="236220"/>
                  </a:lnTo>
                  <a:lnTo>
                    <a:pt x="1290827" y="0"/>
                  </a:lnTo>
                  <a:lnTo>
                    <a:pt x="0" y="0"/>
                  </a:lnTo>
                  <a:lnTo>
                    <a:pt x="0" y="23622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3408425" y="3114293"/>
              <a:ext cx="1290955" cy="236220"/>
            </a:xfrm>
            <a:custGeom>
              <a:avLst/>
              <a:gdLst/>
              <a:ahLst/>
              <a:cxnLst/>
              <a:rect l="l" t="t" r="r" b="b"/>
              <a:pathLst>
                <a:path w="1290954" h="236220">
                  <a:moveTo>
                    <a:pt x="1290827" y="0"/>
                  </a:moveTo>
                  <a:lnTo>
                    <a:pt x="0" y="0"/>
                  </a:lnTo>
                  <a:lnTo>
                    <a:pt x="0" y="236220"/>
                  </a:lnTo>
                  <a:lnTo>
                    <a:pt x="1290827" y="236220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C4A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3408425" y="3114293"/>
              <a:ext cx="1290955" cy="236220"/>
            </a:xfrm>
            <a:custGeom>
              <a:avLst/>
              <a:gdLst/>
              <a:ahLst/>
              <a:cxnLst/>
              <a:rect l="l" t="t" r="r" b="b"/>
              <a:pathLst>
                <a:path w="1290954" h="236220">
                  <a:moveTo>
                    <a:pt x="0" y="236220"/>
                  </a:moveTo>
                  <a:lnTo>
                    <a:pt x="1290827" y="236220"/>
                  </a:lnTo>
                  <a:lnTo>
                    <a:pt x="1290827" y="0"/>
                  </a:lnTo>
                  <a:lnTo>
                    <a:pt x="0" y="0"/>
                  </a:lnTo>
                  <a:lnTo>
                    <a:pt x="0" y="23622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7305293" y="3336797"/>
              <a:ext cx="1290955" cy="236220"/>
            </a:xfrm>
            <a:custGeom>
              <a:avLst/>
              <a:gdLst/>
              <a:ahLst/>
              <a:cxnLst/>
              <a:rect l="l" t="t" r="r" b="b"/>
              <a:pathLst>
                <a:path w="1290954" h="236220">
                  <a:moveTo>
                    <a:pt x="1290827" y="0"/>
                  </a:moveTo>
                  <a:lnTo>
                    <a:pt x="0" y="0"/>
                  </a:lnTo>
                  <a:lnTo>
                    <a:pt x="0" y="236220"/>
                  </a:lnTo>
                  <a:lnTo>
                    <a:pt x="1290827" y="236220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C4A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7305293" y="3336797"/>
              <a:ext cx="1290955" cy="236220"/>
            </a:xfrm>
            <a:custGeom>
              <a:avLst/>
              <a:gdLst/>
              <a:ahLst/>
              <a:cxnLst/>
              <a:rect l="l" t="t" r="r" b="b"/>
              <a:pathLst>
                <a:path w="1290954" h="236220">
                  <a:moveTo>
                    <a:pt x="0" y="236220"/>
                  </a:moveTo>
                  <a:lnTo>
                    <a:pt x="1290827" y="236220"/>
                  </a:lnTo>
                  <a:lnTo>
                    <a:pt x="1290827" y="0"/>
                  </a:lnTo>
                  <a:lnTo>
                    <a:pt x="0" y="0"/>
                  </a:lnTo>
                  <a:lnTo>
                    <a:pt x="0" y="23622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7305293" y="2445257"/>
              <a:ext cx="1290955" cy="236220"/>
            </a:xfrm>
            <a:custGeom>
              <a:avLst/>
              <a:gdLst/>
              <a:ahLst/>
              <a:cxnLst/>
              <a:rect l="l" t="t" r="r" b="b"/>
              <a:pathLst>
                <a:path w="1290954" h="236219">
                  <a:moveTo>
                    <a:pt x="1290827" y="0"/>
                  </a:moveTo>
                  <a:lnTo>
                    <a:pt x="0" y="0"/>
                  </a:lnTo>
                  <a:lnTo>
                    <a:pt x="0" y="236220"/>
                  </a:lnTo>
                  <a:lnTo>
                    <a:pt x="1290827" y="236220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C4A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7305293" y="2445257"/>
              <a:ext cx="1290955" cy="236220"/>
            </a:xfrm>
            <a:custGeom>
              <a:avLst/>
              <a:gdLst/>
              <a:ahLst/>
              <a:cxnLst/>
              <a:rect l="l" t="t" r="r" b="b"/>
              <a:pathLst>
                <a:path w="1290954" h="236219">
                  <a:moveTo>
                    <a:pt x="0" y="236220"/>
                  </a:moveTo>
                  <a:lnTo>
                    <a:pt x="1290827" y="236220"/>
                  </a:lnTo>
                  <a:lnTo>
                    <a:pt x="1290827" y="0"/>
                  </a:lnTo>
                  <a:lnTo>
                    <a:pt x="0" y="0"/>
                  </a:lnTo>
                  <a:lnTo>
                    <a:pt x="0" y="23622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5356098" y="3114293"/>
              <a:ext cx="1290955" cy="236220"/>
            </a:xfrm>
            <a:custGeom>
              <a:avLst/>
              <a:gdLst/>
              <a:ahLst/>
              <a:cxnLst/>
              <a:rect l="l" t="t" r="r" b="b"/>
              <a:pathLst>
                <a:path w="1290954" h="236220">
                  <a:moveTo>
                    <a:pt x="1290827" y="0"/>
                  </a:moveTo>
                  <a:lnTo>
                    <a:pt x="0" y="0"/>
                  </a:lnTo>
                  <a:lnTo>
                    <a:pt x="0" y="236220"/>
                  </a:lnTo>
                  <a:lnTo>
                    <a:pt x="1290827" y="236220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C4A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5356098" y="3114293"/>
              <a:ext cx="1290955" cy="236220"/>
            </a:xfrm>
            <a:custGeom>
              <a:avLst/>
              <a:gdLst/>
              <a:ahLst/>
              <a:cxnLst/>
              <a:rect l="l" t="t" r="r" b="b"/>
              <a:pathLst>
                <a:path w="1290954" h="236220">
                  <a:moveTo>
                    <a:pt x="0" y="236220"/>
                  </a:moveTo>
                  <a:lnTo>
                    <a:pt x="1290827" y="236220"/>
                  </a:lnTo>
                  <a:lnTo>
                    <a:pt x="1290827" y="0"/>
                  </a:lnTo>
                  <a:lnTo>
                    <a:pt x="0" y="0"/>
                  </a:lnTo>
                  <a:lnTo>
                    <a:pt x="0" y="23622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5356098" y="2890265"/>
              <a:ext cx="1290955" cy="238125"/>
            </a:xfrm>
            <a:custGeom>
              <a:avLst/>
              <a:gdLst/>
              <a:ahLst/>
              <a:cxnLst/>
              <a:rect l="l" t="t" r="r" b="b"/>
              <a:pathLst>
                <a:path w="1290954" h="238125">
                  <a:moveTo>
                    <a:pt x="1290827" y="0"/>
                  </a:moveTo>
                  <a:lnTo>
                    <a:pt x="0" y="0"/>
                  </a:lnTo>
                  <a:lnTo>
                    <a:pt x="0" y="237743"/>
                  </a:lnTo>
                  <a:lnTo>
                    <a:pt x="1290827" y="237743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C4A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5356098" y="2890265"/>
              <a:ext cx="1290955" cy="238125"/>
            </a:xfrm>
            <a:custGeom>
              <a:avLst/>
              <a:gdLst/>
              <a:ahLst/>
              <a:cxnLst/>
              <a:rect l="l" t="t" r="r" b="b"/>
              <a:pathLst>
                <a:path w="1290954" h="238125">
                  <a:moveTo>
                    <a:pt x="0" y="237743"/>
                  </a:moveTo>
                  <a:lnTo>
                    <a:pt x="1290827" y="237743"/>
                  </a:lnTo>
                  <a:lnTo>
                    <a:pt x="1290827" y="0"/>
                  </a:lnTo>
                  <a:lnTo>
                    <a:pt x="0" y="0"/>
                  </a:lnTo>
                  <a:lnTo>
                    <a:pt x="0" y="237743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5356098" y="2445257"/>
              <a:ext cx="1290955" cy="236220"/>
            </a:xfrm>
            <a:custGeom>
              <a:avLst/>
              <a:gdLst/>
              <a:ahLst/>
              <a:cxnLst/>
              <a:rect l="l" t="t" r="r" b="b"/>
              <a:pathLst>
                <a:path w="1290954" h="236219">
                  <a:moveTo>
                    <a:pt x="1290827" y="0"/>
                  </a:moveTo>
                  <a:lnTo>
                    <a:pt x="0" y="0"/>
                  </a:lnTo>
                  <a:lnTo>
                    <a:pt x="0" y="236220"/>
                  </a:lnTo>
                  <a:lnTo>
                    <a:pt x="1290827" y="236220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C4A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5356098" y="2445257"/>
              <a:ext cx="1290955" cy="236220"/>
            </a:xfrm>
            <a:custGeom>
              <a:avLst/>
              <a:gdLst/>
              <a:ahLst/>
              <a:cxnLst/>
              <a:rect l="l" t="t" r="r" b="b"/>
              <a:pathLst>
                <a:path w="1290954" h="236219">
                  <a:moveTo>
                    <a:pt x="0" y="236220"/>
                  </a:moveTo>
                  <a:lnTo>
                    <a:pt x="1290827" y="236220"/>
                  </a:lnTo>
                  <a:lnTo>
                    <a:pt x="1290827" y="0"/>
                  </a:lnTo>
                  <a:lnTo>
                    <a:pt x="0" y="0"/>
                  </a:lnTo>
                  <a:lnTo>
                    <a:pt x="0" y="23622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5356098" y="2221229"/>
              <a:ext cx="1290955" cy="238125"/>
            </a:xfrm>
            <a:custGeom>
              <a:avLst/>
              <a:gdLst/>
              <a:ahLst/>
              <a:cxnLst/>
              <a:rect l="l" t="t" r="r" b="b"/>
              <a:pathLst>
                <a:path w="1290954" h="238125">
                  <a:moveTo>
                    <a:pt x="1290827" y="0"/>
                  </a:moveTo>
                  <a:lnTo>
                    <a:pt x="0" y="0"/>
                  </a:lnTo>
                  <a:lnTo>
                    <a:pt x="0" y="237744"/>
                  </a:lnTo>
                  <a:lnTo>
                    <a:pt x="1290827" y="237744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C4A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5356098" y="2221229"/>
              <a:ext cx="1290955" cy="238125"/>
            </a:xfrm>
            <a:custGeom>
              <a:avLst/>
              <a:gdLst/>
              <a:ahLst/>
              <a:cxnLst/>
              <a:rect l="l" t="t" r="r" b="b"/>
              <a:pathLst>
                <a:path w="1290954" h="238125">
                  <a:moveTo>
                    <a:pt x="0" y="237744"/>
                  </a:moveTo>
                  <a:lnTo>
                    <a:pt x="1290827" y="237744"/>
                  </a:lnTo>
                  <a:lnTo>
                    <a:pt x="1290827" y="0"/>
                  </a:lnTo>
                  <a:lnTo>
                    <a:pt x="0" y="0"/>
                  </a:lnTo>
                  <a:lnTo>
                    <a:pt x="0" y="237744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3408425" y="4897373"/>
              <a:ext cx="1290955" cy="238125"/>
            </a:xfrm>
            <a:custGeom>
              <a:avLst/>
              <a:gdLst/>
              <a:ahLst/>
              <a:cxnLst/>
              <a:rect l="l" t="t" r="r" b="b"/>
              <a:pathLst>
                <a:path w="1290954" h="238125">
                  <a:moveTo>
                    <a:pt x="1290827" y="0"/>
                  </a:moveTo>
                  <a:lnTo>
                    <a:pt x="0" y="0"/>
                  </a:lnTo>
                  <a:lnTo>
                    <a:pt x="0" y="237744"/>
                  </a:lnTo>
                  <a:lnTo>
                    <a:pt x="1290827" y="237744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13E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3408425" y="4897373"/>
              <a:ext cx="1290955" cy="238125"/>
            </a:xfrm>
            <a:custGeom>
              <a:avLst/>
              <a:gdLst/>
              <a:ahLst/>
              <a:cxnLst/>
              <a:rect l="l" t="t" r="r" b="b"/>
              <a:pathLst>
                <a:path w="1290954" h="238125">
                  <a:moveTo>
                    <a:pt x="0" y="237744"/>
                  </a:moveTo>
                  <a:lnTo>
                    <a:pt x="1290827" y="237744"/>
                  </a:lnTo>
                  <a:lnTo>
                    <a:pt x="1290827" y="0"/>
                  </a:lnTo>
                  <a:lnTo>
                    <a:pt x="0" y="0"/>
                  </a:lnTo>
                  <a:lnTo>
                    <a:pt x="0" y="237744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3408425" y="5121401"/>
              <a:ext cx="1290955" cy="236220"/>
            </a:xfrm>
            <a:custGeom>
              <a:avLst/>
              <a:gdLst/>
              <a:ahLst/>
              <a:cxnLst/>
              <a:rect l="l" t="t" r="r" b="b"/>
              <a:pathLst>
                <a:path w="1290954" h="236220">
                  <a:moveTo>
                    <a:pt x="1290827" y="0"/>
                  </a:moveTo>
                  <a:lnTo>
                    <a:pt x="0" y="0"/>
                  </a:lnTo>
                  <a:lnTo>
                    <a:pt x="0" y="236220"/>
                  </a:lnTo>
                  <a:lnTo>
                    <a:pt x="1290827" y="236220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13E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3408425" y="5121401"/>
              <a:ext cx="1290955" cy="236220"/>
            </a:xfrm>
            <a:custGeom>
              <a:avLst/>
              <a:gdLst/>
              <a:ahLst/>
              <a:cxnLst/>
              <a:rect l="l" t="t" r="r" b="b"/>
              <a:pathLst>
                <a:path w="1290954" h="236220">
                  <a:moveTo>
                    <a:pt x="0" y="236220"/>
                  </a:moveTo>
                  <a:lnTo>
                    <a:pt x="1290827" y="236220"/>
                  </a:lnTo>
                  <a:lnTo>
                    <a:pt x="1290827" y="0"/>
                  </a:lnTo>
                  <a:lnTo>
                    <a:pt x="0" y="0"/>
                  </a:lnTo>
                  <a:lnTo>
                    <a:pt x="0" y="23622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5356098" y="4674869"/>
              <a:ext cx="1290955" cy="236220"/>
            </a:xfrm>
            <a:custGeom>
              <a:avLst/>
              <a:gdLst/>
              <a:ahLst/>
              <a:cxnLst/>
              <a:rect l="l" t="t" r="r" b="b"/>
              <a:pathLst>
                <a:path w="1290954" h="236220">
                  <a:moveTo>
                    <a:pt x="1290827" y="0"/>
                  </a:moveTo>
                  <a:lnTo>
                    <a:pt x="0" y="0"/>
                  </a:lnTo>
                  <a:lnTo>
                    <a:pt x="0" y="236219"/>
                  </a:lnTo>
                  <a:lnTo>
                    <a:pt x="1290827" y="236219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13E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5356098" y="4674869"/>
              <a:ext cx="1290955" cy="236220"/>
            </a:xfrm>
            <a:custGeom>
              <a:avLst/>
              <a:gdLst/>
              <a:ahLst/>
              <a:cxnLst/>
              <a:rect l="l" t="t" r="r" b="b"/>
              <a:pathLst>
                <a:path w="1290954" h="236220">
                  <a:moveTo>
                    <a:pt x="0" y="236219"/>
                  </a:moveTo>
                  <a:lnTo>
                    <a:pt x="1290827" y="236219"/>
                  </a:lnTo>
                  <a:lnTo>
                    <a:pt x="1290827" y="0"/>
                  </a:lnTo>
                  <a:lnTo>
                    <a:pt x="0" y="0"/>
                  </a:lnTo>
                  <a:lnTo>
                    <a:pt x="0" y="236219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5356098" y="5343905"/>
              <a:ext cx="1290955" cy="236220"/>
            </a:xfrm>
            <a:custGeom>
              <a:avLst/>
              <a:gdLst/>
              <a:ahLst/>
              <a:cxnLst/>
              <a:rect l="l" t="t" r="r" b="b"/>
              <a:pathLst>
                <a:path w="1290954" h="236220">
                  <a:moveTo>
                    <a:pt x="1290827" y="0"/>
                  </a:moveTo>
                  <a:lnTo>
                    <a:pt x="0" y="0"/>
                  </a:lnTo>
                  <a:lnTo>
                    <a:pt x="0" y="236220"/>
                  </a:lnTo>
                  <a:lnTo>
                    <a:pt x="1290827" y="236220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13E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5356098" y="5343905"/>
              <a:ext cx="1290955" cy="236220"/>
            </a:xfrm>
            <a:custGeom>
              <a:avLst/>
              <a:gdLst/>
              <a:ahLst/>
              <a:cxnLst/>
              <a:rect l="l" t="t" r="r" b="b"/>
              <a:pathLst>
                <a:path w="1290954" h="236220">
                  <a:moveTo>
                    <a:pt x="0" y="236220"/>
                  </a:moveTo>
                  <a:lnTo>
                    <a:pt x="1290827" y="236220"/>
                  </a:lnTo>
                  <a:lnTo>
                    <a:pt x="1290827" y="0"/>
                  </a:lnTo>
                  <a:lnTo>
                    <a:pt x="0" y="0"/>
                  </a:lnTo>
                  <a:lnTo>
                    <a:pt x="0" y="23622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7305293" y="4897373"/>
              <a:ext cx="1290955" cy="238125"/>
            </a:xfrm>
            <a:custGeom>
              <a:avLst/>
              <a:gdLst/>
              <a:ahLst/>
              <a:cxnLst/>
              <a:rect l="l" t="t" r="r" b="b"/>
              <a:pathLst>
                <a:path w="1290954" h="238125">
                  <a:moveTo>
                    <a:pt x="1290827" y="0"/>
                  </a:moveTo>
                  <a:lnTo>
                    <a:pt x="0" y="0"/>
                  </a:lnTo>
                  <a:lnTo>
                    <a:pt x="0" y="237744"/>
                  </a:lnTo>
                  <a:lnTo>
                    <a:pt x="1290827" y="237744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13E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7305293" y="4897373"/>
              <a:ext cx="1290955" cy="238125"/>
            </a:xfrm>
            <a:custGeom>
              <a:avLst/>
              <a:gdLst/>
              <a:ahLst/>
              <a:cxnLst/>
              <a:rect l="l" t="t" r="r" b="b"/>
              <a:pathLst>
                <a:path w="1290954" h="238125">
                  <a:moveTo>
                    <a:pt x="0" y="237744"/>
                  </a:moveTo>
                  <a:lnTo>
                    <a:pt x="1290827" y="237744"/>
                  </a:lnTo>
                  <a:lnTo>
                    <a:pt x="1290827" y="0"/>
                  </a:lnTo>
                  <a:lnTo>
                    <a:pt x="0" y="0"/>
                  </a:lnTo>
                  <a:lnTo>
                    <a:pt x="0" y="237744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7305293" y="5790438"/>
              <a:ext cx="1290955" cy="236220"/>
            </a:xfrm>
            <a:custGeom>
              <a:avLst/>
              <a:gdLst/>
              <a:ahLst/>
              <a:cxnLst/>
              <a:rect l="l" t="t" r="r" b="b"/>
              <a:pathLst>
                <a:path w="1290954" h="236220">
                  <a:moveTo>
                    <a:pt x="1290827" y="0"/>
                  </a:moveTo>
                  <a:lnTo>
                    <a:pt x="0" y="0"/>
                  </a:lnTo>
                  <a:lnTo>
                    <a:pt x="0" y="236220"/>
                  </a:lnTo>
                  <a:lnTo>
                    <a:pt x="1290827" y="236220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13E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7305293" y="5790438"/>
              <a:ext cx="1290955" cy="236220"/>
            </a:xfrm>
            <a:custGeom>
              <a:avLst/>
              <a:gdLst/>
              <a:ahLst/>
              <a:cxnLst/>
              <a:rect l="l" t="t" r="r" b="b"/>
              <a:pathLst>
                <a:path w="1290954" h="236220">
                  <a:moveTo>
                    <a:pt x="0" y="236220"/>
                  </a:moveTo>
                  <a:lnTo>
                    <a:pt x="1290827" y="236220"/>
                  </a:lnTo>
                  <a:lnTo>
                    <a:pt x="1290827" y="0"/>
                  </a:lnTo>
                  <a:lnTo>
                    <a:pt x="0" y="0"/>
                  </a:lnTo>
                  <a:lnTo>
                    <a:pt x="0" y="23622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1653539" y="3410711"/>
              <a:ext cx="1290955" cy="315595"/>
            </a:xfrm>
            <a:custGeom>
              <a:avLst/>
              <a:gdLst/>
              <a:ahLst/>
              <a:cxnLst/>
              <a:rect l="l" t="t" r="r" b="b"/>
              <a:pathLst>
                <a:path w="1290955" h="315595">
                  <a:moveTo>
                    <a:pt x="1290827" y="0"/>
                  </a:moveTo>
                  <a:lnTo>
                    <a:pt x="0" y="0"/>
                  </a:lnTo>
                  <a:lnTo>
                    <a:pt x="0" y="315468"/>
                  </a:lnTo>
                  <a:lnTo>
                    <a:pt x="1290827" y="315468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1653539" y="3410711"/>
              <a:ext cx="1290955" cy="315595"/>
            </a:xfrm>
            <a:custGeom>
              <a:avLst/>
              <a:gdLst/>
              <a:ahLst/>
              <a:cxnLst/>
              <a:rect l="l" t="t" r="r" b="b"/>
              <a:pathLst>
                <a:path w="1290955" h="315595">
                  <a:moveTo>
                    <a:pt x="0" y="315468"/>
                  </a:moveTo>
                  <a:lnTo>
                    <a:pt x="1290827" y="315468"/>
                  </a:lnTo>
                  <a:lnTo>
                    <a:pt x="1290827" y="0"/>
                  </a:lnTo>
                  <a:lnTo>
                    <a:pt x="0" y="0"/>
                  </a:lnTo>
                  <a:lnTo>
                    <a:pt x="0" y="31546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7" name="object 67"/>
          <p:cNvSpPr txBox="1"/>
          <p:nvPr/>
        </p:nvSpPr>
        <p:spPr>
          <a:xfrm>
            <a:off x="1902332" y="3730497"/>
            <a:ext cx="852169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Calibri"/>
                <a:cs typeface="Calibri"/>
              </a:rPr>
              <a:t>Virtual</a:t>
            </a:r>
            <a:r>
              <a:rPr dirty="0" sz="1400" spc="-65" b="1">
                <a:latin typeface="Calibri"/>
                <a:cs typeface="Calibri"/>
              </a:rPr>
              <a:t> </a:t>
            </a:r>
            <a:r>
              <a:rPr dirty="0" sz="1400" spc="-25" b="1">
                <a:latin typeface="Calibri"/>
                <a:cs typeface="Calibri"/>
              </a:rPr>
              <a:t>CR3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2091054" y="4622419"/>
            <a:ext cx="67119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Calibri"/>
                <a:cs typeface="Calibri"/>
              </a:rPr>
              <a:t>Real</a:t>
            </a:r>
            <a:r>
              <a:rPr dirty="0" sz="1400" spc="-40" b="1">
                <a:latin typeface="Calibri"/>
                <a:cs typeface="Calibri"/>
              </a:rPr>
              <a:t> </a:t>
            </a:r>
            <a:r>
              <a:rPr dirty="0" sz="1400" spc="-25" b="1">
                <a:latin typeface="Calibri"/>
                <a:cs typeface="Calibri"/>
              </a:rPr>
              <a:t>CR3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2141220" y="1908429"/>
            <a:ext cx="5207000" cy="3221355"/>
            <a:chOff x="2141220" y="1908429"/>
            <a:chExt cx="5207000" cy="3221355"/>
          </a:xfrm>
        </p:grpSpPr>
        <p:sp>
          <p:nvSpPr>
            <p:cNvPr id="70" name="object 70"/>
            <p:cNvSpPr/>
            <p:nvPr/>
          </p:nvSpPr>
          <p:spPr>
            <a:xfrm>
              <a:off x="2234311" y="1908429"/>
              <a:ext cx="5114290" cy="1577340"/>
            </a:xfrm>
            <a:custGeom>
              <a:avLst/>
              <a:gdLst/>
              <a:ahLst/>
              <a:cxnLst/>
              <a:rect l="l" t="t" r="r" b="b"/>
              <a:pathLst>
                <a:path w="5114290" h="1577339">
                  <a:moveTo>
                    <a:pt x="5078857" y="0"/>
                  </a:moveTo>
                  <a:lnTo>
                    <a:pt x="6476" y="0"/>
                  </a:lnTo>
                  <a:lnTo>
                    <a:pt x="0" y="6476"/>
                  </a:lnTo>
                  <a:lnTo>
                    <a:pt x="0" y="1577086"/>
                  </a:lnTo>
                  <a:lnTo>
                    <a:pt x="28575" y="1577086"/>
                  </a:lnTo>
                  <a:lnTo>
                    <a:pt x="28575" y="28575"/>
                  </a:lnTo>
                  <a:lnTo>
                    <a:pt x="14350" y="28575"/>
                  </a:lnTo>
                  <a:lnTo>
                    <a:pt x="28575" y="14350"/>
                  </a:lnTo>
                  <a:lnTo>
                    <a:pt x="5085207" y="14350"/>
                  </a:lnTo>
                  <a:lnTo>
                    <a:pt x="5085207" y="6476"/>
                  </a:lnTo>
                  <a:lnTo>
                    <a:pt x="5078857" y="0"/>
                  </a:lnTo>
                  <a:close/>
                </a:path>
                <a:path w="5114290" h="1577339">
                  <a:moveTo>
                    <a:pt x="5056632" y="1176528"/>
                  </a:moveTo>
                  <a:lnTo>
                    <a:pt x="5028057" y="1176528"/>
                  </a:lnTo>
                  <a:lnTo>
                    <a:pt x="5070983" y="1262253"/>
                  </a:lnTo>
                  <a:lnTo>
                    <a:pt x="5106680" y="1190752"/>
                  </a:lnTo>
                  <a:lnTo>
                    <a:pt x="5056632" y="1190752"/>
                  </a:lnTo>
                  <a:lnTo>
                    <a:pt x="5056632" y="1176528"/>
                  </a:lnTo>
                  <a:close/>
                </a:path>
                <a:path w="5114290" h="1577339">
                  <a:moveTo>
                    <a:pt x="5056632" y="14350"/>
                  </a:moveTo>
                  <a:lnTo>
                    <a:pt x="5056632" y="1190752"/>
                  </a:lnTo>
                  <a:lnTo>
                    <a:pt x="5085207" y="1190752"/>
                  </a:lnTo>
                  <a:lnTo>
                    <a:pt x="5085207" y="28575"/>
                  </a:lnTo>
                  <a:lnTo>
                    <a:pt x="5070983" y="28575"/>
                  </a:lnTo>
                  <a:lnTo>
                    <a:pt x="5056632" y="14350"/>
                  </a:lnTo>
                  <a:close/>
                </a:path>
                <a:path w="5114290" h="1577339">
                  <a:moveTo>
                    <a:pt x="5113782" y="1176528"/>
                  </a:moveTo>
                  <a:lnTo>
                    <a:pt x="5085207" y="1176528"/>
                  </a:lnTo>
                  <a:lnTo>
                    <a:pt x="5085207" y="1190752"/>
                  </a:lnTo>
                  <a:lnTo>
                    <a:pt x="5106680" y="1190752"/>
                  </a:lnTo>
                  <a:lnTo>
                    <a:pt x="5113782" y="1176528"/>
                  </a:lnTo>
                  <a:close/>
                </a:path>
                <a:path w="5114290" h="1577339">
                  <a:moveTo>
                    <a:pt x="28575" y="14350"/>
                  </a:moveTo>
                  <a:lnTo>
                    <a:pt x="14350" y="28575"/>
                  </a:lnTo>
                  <a:lnTo>
                    <a:pt x="28575" y="28575"/>
                  </a:lnTo>
                  <a:lnTo>
                    <a:pt x="28575" y="14350"/>
                  </a:lnTo>
                  <a:close/>
                </a:path>
                <a:path w="5114290" h="1577339">
                  <a:moveTo>
                    <a:pt x="5056632" y="14350"/>
                  </a:moveTo>
                  <a:lnTo>
                    <a:pt x="28575" y="14350"/>
                  </a:lnTo>
                  <a:lnTo>
                    <a:pt x="28575" y="28575"/>
                  </a:lnTo>
                  <a:lnTo>
                    <a:pt x="5056632" y="28575"/>
                  </a:lnTo>
                  <a:lnTo>
                    <a:pt x="5056632" y="14350"/>
                  </a:lnTo>
                  <a:close/>
                </a:path>
                <a:path w="5114290" h="1577339">
                  <a:moveTo>
                    <a:pt x="5085207" y="14350"/>
                  </a:moveTo>
                  <a:lnTo>
                    <a:pt x="5056632" y="14350"/>
                  </a:lnTo>
                  <a:lnTo>
                    <a:pt x="5070983" y="28575"/>
                  </a:lnTo>
                  <a:lnTo>
                    <a:pt x="5085207" y="28575"/>
                  </a:lnTo>
                  <a:lnTo>
                    <a:pt x="5085207" y="14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41220" y="3483864"/>
              <a:ext cx="214884" cy="158496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38756" y="4971288"/>
              <a:ext cx="214883" cy="158495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7314818" y="6126276"/>
            <a:ext cx="1271905" cy="4305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77495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Arial"/>
                <a:cs typeface="Arial"/>
              </a:rPr>
              <a:t>Shadow</a:t>
            </a:r>
            <a:endParaRPr sz="1600">
              <a:latin typeface="Arial"/>
              <a:cs typeface="Arial"/>
            </a:endParaRPr>
          </a:p>
          <a:p>
            <a:pPr marL="315595">
              <a:lnSpc>
                <a:spcPct val="100000"/>
              </a:lnSpc>
              <a:spcBef>
                <a:spcPts val="10"/>
              </a:spcBef>
            </a:pPr>
            <a:r>
              <a:rPr dirty="0" sz="1050" b="1">
                <a:latin typeface="Arial"/>
                <a:cs typeface="Arial"/>
              </a:rPr>
              <a:t>Page</a:t>
            </a:r>
            <a:r>
              <a:rPr dirty="0" sz="1050" spc="-40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Table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1746313" y="4891849"/>
            <a:ext cx="6126480" cy="1924050"/>
            <a:chOff x="1746313" y="4891849"/>
            <a:chExt cx="6126480" cy="1924050"/>
          </a:xfrm>
        </p:grpSpPr>
        <p:sp>
          <p:nvSpPr>
            <p:cNvPr id="74" name="object 74"/>
            <p:cNvSpPr/>
            <p:nvPr/>
          </p:nvSpPr>
          <p:spPr>
            <a:xfrm>
              <a:off x="1751076" y="4896611"/>
              <a:ext cx="1290955" cy="315595"/>
            </a:xfrm>
            <a:custGeom>
              <a:avLst/>
              <a:gdLst/>
              <a:ahLst/>
              <a:cxnLst/>
              <a:rect l="l" t="t" r="r" b="b"/>
              <a:pathLst>
                <a:path w="1290955" h="315595">
                  <a:moveTo>
                    <a:pt x="1290827" y="0"/>
                  </a:moveTo>
                  <a:lnTo>
                    <a:pt x="0" y="0"/>
                  </a:lnTo>
                  <a:lnTo>
                    <a:pt x="0" y="315468"/>
                  </a:lnTo>
                  <a:lnTo>
                    <a:pt x="1290827" y="315468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1751076" y="4896611"/>
              <a:ext cx="1290955" cy="315595"/>
            </a:xfrm>
            <a:custGeom>
              <a:avLst/>
              <a:gdLst/>
              <a:ahLst/>
              <a:cxnLst/>
              <a:rect l="l" t="t" r="r" b="b"/>
              <a:pathLst>
                <a:path w="1290955" h="315595">
                  <a:moveTo>
                    <a:pt x="0" y="315468"/>
                  </a:moveTo>
                  <a:lnTo>
                    <a:pt x="1290827" y="315468"/>
                  </a:lnTo>
                  <a:lnTo>
                    <a:pt x="1290827" y="0"/>
                  </a:lnTo>
                  <a:lnTo>
                    <a:pt x="0" y="0"/>
                  </a:lnTo>
                  <a:lnTo>
                    <a:pt x="0" y="31546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2382139" y="5212841"/>
              <a:ext cx="5490845" cy="1602740"/>
            </a:xfrm>
            <a:custGeom>
              <a:avLst/>
              <a:gdLst/>
              <a:ahLst/>
              <a:cxnLst/>
              <a:rect l="l" t="t" r="r" b="b"/>
              <a:pathLst>
                <a:path w="5490845" h="1602740">
                  <a:moveTo>
                    <a:pt x="5404866" y="1516976"/>
                  </a:moveTo>
                  <a:lnTo>
                    <a:pt x="5404866" y="1602698"/>
                  </a:lnTo>
                  <a:lnTo>
                    <a:pt x="5462015" y="1574124"/>
                  </a:lnTo>
                  <a:lnTo>
                    <a:pt x="5419217" y="1574124"/>
                  </a:lnTo>
                  <a:lnTo>
                    <a:pt x="5419217" y="1545549"/>
                  </a:lnTo>
                  <a:lnTo>
                    <a:pt x="5462014" y="1545549"/>
                  </a:lnTo>
                  <a:lnTo>
                    <a:pt x="5404866" y="1516976"/>
                  </a:lnTo>
                  <a:close/>
                </a:path>
                <a:path w="5490845" h="1602740">
                  <a:moveTo>
                    <a:pt x="28575" y="0"/>
                  </a:moveTo>
                  <a:lnTo>
                    <a:pt x="0" y="0"/>
                  </a:lnTo>
                  <a:lnTo>
                    <a:pt x="0" y="1567727"/>
                  </a:lnTo>
                  <a:lnTo>
                    <a:pt x="6477" y="1574124"/>
                  </a:lnTo>
                  <a:lnTo>
                    <a:pt x="5404866" y="1574124"/>
                  </a:lnTo>
                  <a:lnTo>
                    <a:pt x="5404866" y="1559836"/>
                  </a:lnTo>
                  <a:lnTo>
                    <a:pt x="28575" y="1559836"/>
                  </a:lnTo>
                  <a:lnTo>
                    <a:pt x="14350" y="1545549"/>
                  </a:lnTo>
                  <a:lnTo>
                    <a:pt x="28575" y="1545549"/>
                  </a:lnTo>
                  <a:lnTo>
                    <a:pt x="28575" y="0"/>
                  </a:lnTo>
                  <a:close/>
                </a:path>
                <a:path w="5490845" h="1602740">
                  <a:moveTo>
                    <a:pt x="5462014" y="1545549"/>
                  </a:moveTo>
                  <a:lnTo>
                    <a:pt x="5419217" y="1545549"/>
                  </a:lnTo>
                  <a:lnTo>
                    <a:pt x="5419217" y="1574124"/>
                  </a:lnTo>
                  <a:lnTo>
                    <a:pt x="5462015" y="1574124"/>
                  </a:lnTo>
                  <a:lnTo>
                    <a:pt x="5490591" y="1559836"/>
                  </a:lnTo>
                  <a:lnTo>
                    <a:pt x="5462014" y="1545549"/>
                  </a:lnTo>
                  <a:close/>
                </a:path>
                <a:path w="5490845" h="1602740">
                  <a:moveTo>
                    <a:pt x="28575" y="1545549"/>
                  </a:moveTo>
                  <a:lnTo>
                    <a:pt x="14350" y="1545549"/>
                  </a:lnTo>
                  <a:lnTo>
                    <a:pt x="28575" y="1559836"/>
                  </a:lnTo>
                  <a:lnTo>
                    <a:pt x="28575" y="1545549"/>
                  </a:lnTo>
                  <a:close/>
                </a:path>
                <a:path w="5490845" h="1602740">
                  <a:moveTo>
                    <a:pt x="5404866" y="1545549"/>
                  </a:moveTo>
                  <a:lnTo>
                    <a:pt x="28575" y="1545549"/>
                  </a:lnTo>
                  <a:lnTo>
                    <a:pt x="28575" y="1559836"/>
                  </a:lnTo>
                  <a:lnTo>
                    <a:pt x="5404866" y="1559836"/>
                  </a:lnTo>
                  <a:lnTo>
                    <a:pt x="5404866" y="15455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7849361" y="6566154"/>
              <a:ext cx="0" cy="207010"/>
            </a:xfrm>
            <a:custGeom>
              <a:avLst/>
              <a:gdLst/>
              <a:ahLst/>
              <a:cxnLst/>
              <a:rect l="l" t="t" r="r" b="b"/>
              <a:pathLst>
                <a:path w="0" h="207009">
                  <a:moveTo>
                    <a:pt x="0" y="0"/>
                  </a:moveTo>
                  <a:lnTo>
                    <a:pt x="0" y="206705"/>
                  </a:lnTo>
                </a:path>
              </a:pathLst>
            </a:custGeom>
            <a:ln w="28575">
              <a:solidFill>
                <a:srgbClr val="3D6DC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32343" y="0"/>
            <a:ext cx="754907" cy="139051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484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350"/>
              </a:spcBef>
            </a:pP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Challenge</a:t>
            </a:r>
            <a:r>
              <a:rPr dirty="0" sz="2200" spc="-6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of</a:t>
            </a:r>
            <a:r>
              <a:rPr dirty="0" sz="2200" spc="-6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Shadow</a:t>
            </a:r>
            <a:r>
              <a:rPr dirty="0" sz="2200" spc="-6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page</a:t>
            </a:r>
            <a:r>
              <a:rPr dirty="0" sz="2200" spc="-5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C55A11"/>
                </a:solidFill>
                <a:latin typeface="Arial"/>
                <a:cs typeface="Arial"/>
              </a:rPr>
              <a:t>table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55142" y="1308963"/>
            <a:ext cx="11033125" cy="5177790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80"/>
              </a:spcBef>
              <a:buSzPct val="87500"/>
              <a:buFont typeface="Arial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How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create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shadow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page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table?</a:t>
            </a:r>
            <a:endParaRPr sz="2000">
              <a:latin typeface="Calibri"/>
              <a:cs typeface="Calibri"/>
            </a:endParaRPr>
          </a:p>
          <a:p>
            <a:pPr lvl="1" marL="812165" indent="-342265">
              <a:lnSpc>
                <a:spcPct val="100000"/>
              </a:lnSpc>
              <a:spcBef>
                <a:spcPts val="1080"/>
              </a:spcBef>
              <a:buSzPct val="87500"/>
              <a:buFont typeface="Arial"/>
              <a:buChar char="•"/>
              <a:tabLst>
                <a:tab pos="812165" algn="l"/>
              </a:tabLst>
            </a:pPr>
            <a:r>
              <a:rPr dirty="0" sz="2000">
                <a:latin typeface="Calibri"/>
                <a:cs typeface="Calibri"/>
              </a:rPr>
              <a:t>Anytime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guest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modifies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guest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page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table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hypervisor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needs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update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shadow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page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table</a:t>
            </a:r>
            <a:endParaRPr sz="2000">
              <a:latin typeface="Calibri"/>
              <a:cs typeface="Calibri"/>
            </a:endParaRPr>
          </a:p>
          <a:p>
            <a:pPr lvl="1" marL="812165" indent="-342265">
              <a:lnSpc>
                <a:spcPct val="100000"/>
              </a:lnSpc>
              <a:spcBef>
                <a:spcPts val="1080"/>
              </a:spcBef>
              <a:buSzPct val="87500"/>
              <a:buFont typeface="Arial"/>
              <a:buChar char="•"/>
              <a:tabLst>
                <a:tab pos="812165" algn="l"/>
              </a:tabLst>
            </a:pPr>
            <a:r>
              <a:rPr dirty="0" sz="2000">
                <a:latin typeface="Calibri"/>
                <a:cs typeface="Calibri"/>
              </a:rPr>
              <a:t>Solution: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Write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protect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guest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page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table</a:t>
            </a:r>
            <a:endParaRPr sz="2000">
              <a:latin typeface="Calibri"/>
              <a:cs typeface="Calibri"/>
            </a:endParaRPr>
          </a:p>
          <a:p>
            <a:pPr lvl="2" marL="1269365" indent="-342900">
              <a:lnSpc>
                <a:spcPct val="100000"/>
              </a:lnSpc>
              <a:spcBef>
                <a:spcPts val="1080"/>
              </a:spcBef>
              <a:buSzPct val="87500"/>
              <a:buFont typeface="Arial"/>
              <a:buChar char="•"/>
              <a:tabLst>
                <a:tab pos="1269365" algn="l"/>
                <a:tab pos="8177530" algn="l"/>
              </a:tabLst>
            </a:pPr>
            <a:r>
              <a:rPr dirty="0" sz="2000">
                <a:latin typeface="Calibri"/>
                <a:cs typeface="Calibri"/>
              </a:rPr>
              <a:t>Any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write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access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guest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page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table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would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generate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page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fault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 spc="-50">
                <a:latin typeface="Calibri"/>
                <a:cs typeface="Calibri"/>
              </a:rPr>
              <a:t>🡪</a:t>
            </a:r>
            <a:r>
              <a:rPr dirty="0" sz="2000">
                <a:latin typeface="Calibri"/>
                <a:cs typeface="Calibri"/>
              </a:rPr>
              <a:t>	trap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hypervisor</a:t>
            </a:r>
            <a:endParaRPr sz="2000">
              <a:latin typeface="Calibri"/>
              <a:cs typeface="Calibri"/>
            </a:endParaRPr>
          </a:p>
          <a:p>
            <a:pPr lvl="1" marL="812165" indent="-342265">
              <a:lnSpc>
                <a:spcPct val="100000"/>
              </a:lnSpc>
              <a:spcBef>
                <a:spcPts val="1080"/>
              </a:spcBef>
              <a:buSzPct val="87500"/>
              <a:buFont typeface="Arial"/>
              <a:buChar char="•"/>
              <a:tabLst>
                <a:tab pos="812165" algn="l"/>
              </a:tabLst>
            </a:pPr>
            <a:r>
              <a:rPr dirty="0" sz="2000">
                <a:latin typeface="Calibri"/>
                <a:cs typeface="Calibri"/>
              </a:rPr>
              <a:t>Drawback: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Many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page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faults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application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alters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page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tables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SzPct val="87500"/>
              <a:buFont typeface="Arial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every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guest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application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there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shadow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page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table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SzPct val="90000"/>
              <a:buFont typeface="Arial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Every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time</a:t>
            </a:r>
            <a:r>
              <a:rPr dirty="0" sz="2000" spc="4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guest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application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context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switches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trap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hypervisor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change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cr3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point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new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shadow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480"/>
              </a:spcBef>
            </a:pPr>
            <a:r>
              <a:rPr dirty="0" sz="2000">
                <a:latin typeface="Calibri"/>
                <a:cs typeface="Calibri"/>
              </a:rPr>
              <a:t>page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table</a:t>
            </a:r>
            <a:endParaRPr sz="2000">
              <a:latin typeface="Calibri"/>
              <a:cs typeface="Calibri"/>
            </a:endParaRPr>
          </a:p>
          <a:p>
            <a:pPr marL="355600" marR="487680" indent="-342900">
              <a:lnSpc>
                <a:spcPct val="120000"/>
              </a:lnSpc>
              <a:spcBef>
                <a:spcPts val="600"/>
              </a:spcBef>
              <a:buSzPct val="87500"/>
              <a:buFont typeface="Arial"/>
              <a:buChar char="•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Maintaining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consistency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between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guest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page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tables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shadow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page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tables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leads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overhead: </a:t>
            </a:r>
            <a:r>
              <a:rPr dirty="0" sz="2000">
                <a:latin typeface="Calibri"/>
                <a:cs typeface="Calibri"/>
              </a:rPr>
              <a:t>VMM</a:t>
            </a:r>
            <a:r>
              <a:rPr dirty="0" sz="2000" spc="-10">
                <a:latin typeface="Calibri"/>
                <a:cs typeface="Calibri"/>
              </a:rPr>
              <a:t> traps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085"/>
              </a:spcBef>
              <a:buSzPct val="87500"/>
              <a:buFont typeface="Arial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Loss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performance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due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TLB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flush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every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“world-switch”.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SzPct val="87500"/>
              <a:buFont typeface="Arial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Memory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overhead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due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shadow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copying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guest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page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tables.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32343" y="0"/>
            <a:ext cx="754907" cy="139051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484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350"/>
              </a:spcBef>
            </a:pPr>
            <a:r>
              <a:rPr dirty="0" sz="2200" spc="-10">
                <a:solidFill>
                  <a:srgbClr val="C55A11"/>
                </a:solidFill>
                <a:latin typeface="Arial"/>
                <a:cs typeface="Arial"/>
              </a:rPr>
              <a:t>Nested/Extended</a:t>
            </a:r>
            <a:r>
              <a:rPr dirty="0" sz="220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page</a:t>
            </a:r>
            <a:r>
              <a:rPr dirty="0" sz="2200" spc="-6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table</a:t>
            </a:r>
            <a:r>
              <a:rPr dirty="0" sz="2200" spc="-4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000000"/>
                </a:solidFill>
                <a:latin typeface="Arial"/>
                <a:cs typeface="Arial"/>
              </a:rPr>
              <a:t>(Hardware</a:t>
            </a:r>
            <a:r>
              <a:rPr dirty="0" sz="2200" spc="-8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000000"/>
                </a:solidFill>
                <a:latin typeface="Arial"/>
                <a:cs typeface="Arial"/>
              </a:rPr>
              <a:t>Assisted)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68274" y="1296568"/>
            <a:ext cx="11595100" cy="4109720"/>
          </a:xfrm>
          <a:prstGeom prst="rect">
            <a:avLst/>
          </a:prstGeom>
        </p:spPr>
        <p:txBody>
          <a:bodyPr wrap="square" lIns="0" tIns="9969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85"/>
              </a:spcBef>
              <a:buSzPct val="112500"/>
              <a:buFont typeface="Arial"/>
              <a:buChar char="•"/>
              <a:tabLst>
                <a:tab pos="355600" algn="l"/>
              </a:tabLst>
            </a:pPr>
            <a:r>
              <a:rPr dirty="0" sz="1600">
                <a:latin typeface="Calibri"/>
                <a:cs typeface="Calibri"/>
              </a:rPr>
              <a:t>Nested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or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Extended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page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table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was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introduced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avoid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software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overheads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shadow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paging.</a:t>
            </a:r>
            <a:endParaRPr sz="16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985"/>
              </a:spcBef>
              <a:buSzPct val="112500"/>
              <a:buFont typeface="Arial"/>
              <a:buChar char="•"/>
              <a:tabLst>
                <a:tab pos="355600" algn="l"/>
              </a:tabLst>
            </a:pP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nested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paging,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uses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additional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or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nested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page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table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(NPT)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translate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guest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physical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address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system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physical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address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thus</a:t>
            </a:r>
            <a:endParaRPr sz="16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385"/>
              </a:spcBef>
            </a:pPr>
            <a:r>
              <a:rPr dirty="0" sz="1600">
                <a:latin typeface="Calibri"/>
                <a:cs typeface="Calibri"/>
              </a:rPr>
              <a:t>guest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will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control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its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page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tables</a:t>
            </a:r>
            <a:endParaRPr sz="1600">
              <a:latin typeface="Calibri"/>
              <a:cs typeface="Calibri"/>
            </a:endParaRPr>
          </a:p>
          <a:p>
            <a:pPr marL="355600" marR="153035" indent="-343535">
              <a:lnSpc>
                <a:spcPct val="120000"/>
              </a:lnSpc>
              <a:spcBef>
                <a:spcPts val="600"/>
              </a:spcBef>
              <a:buSzPct val="112500"/>
              <a:buFont typeface="Arial"/>
              <a:buChar char="•"/>
              <a:tabLst>
                <a:tab pos="355600" algn="l"/>
              </a:tabLst>
            </a:pPr>
            <a:r>
              <a:rPr dirty="0" sz="1600">
                <a:latin typeface="Calibri"/>
                <a:cs typeface="Calibri"/>
              </a:rPr>
              <a:t>Differs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from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shadow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paging,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that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ones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nested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pages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are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populated,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hypervisor does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not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need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intercept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emulate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guest</a:t>
            </a:r>
            <a:r>
              <a:rPr dirty="0" sz="1600" spc="10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page </a:t>
            </a:r>
            <a:r>
              <a:rPr dirty="0" sz="1600">
                <a:latin typeface="Calibri"/>
                <a:cs typeface="Calibri"/>
              </a:rPr>
              <a:t>table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modifications</a:t>
            </a:r>
            <a:endParaRPr sz="16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985"/>
              </a:spcBef>
              <a:buSzPct val="112500"/>
              <a:buFont typeface="Arial"/>
              <a:buChar char="•"/>
              <a:tabLst>
                <a:tab pos="355600" algn="l"/>
              </a:tabLst>
            </a:pPr>
            <a:r>
              <a:rPr dirty="0" sz="1600">
                <a:latin typeface="Calibri"/>
                <a:cs typeface="Calibri"/>
              </a:rPr>
              <a:t>Both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guest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hypervisor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have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their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own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copy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processor</a:t>
            </a:r>
            <a:r>
              <a:rPr dirty="0" sz="1600" spc="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state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like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CRO,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CR3</a:t>
            </a:r>
            <a:r>
              <a:rPr dirty="0" sz="1600" spc="-20">
                <a:latin typeface="Calibri"/>
                <a:cs typeface="Calibri"/>
              </a:rPr>
              <a:t> etc.</a:t>
            </a:r>
            <a:endParaRPr sz="1600">
              <a:latin typeface="Calibri"/>
              <a:cs typeface="Calibri"/>
            </a:endParaRPr>
          </a:p>
          <a:p>
            <a:pPr marL="355600" marR="109220" indent="-343535">
              <a:lnSpc>
                <a:spcPct val="120000"/>
              </a:lnSpc>
              <a:spcBef>
                <a:spcPts val="605"/>
              </a:spcBef>
              <a:buSzPct val="112500"/>
              <a:buFont typeface="Arial"/>
              <a:buChar char="•"/>
              <a:tabLst>
                <a:tab pos="355600" algn="l"/>
              </a:tabLst>
            </a:pP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gPT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set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up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by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guest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OS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maps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guest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virtual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address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guest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physical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address.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Nested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page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tables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(nPT)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setup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by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Hypervisor, </a:t>
            </a:r>
            <a:r>
              <a:rPr dirty="0" sz="1600">
                <a:latin typeface="Calibri"/>
                <a:cs typeface="Calibri"/>
              </a:rPr>
              <a:t>maps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guest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physical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address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system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physical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address</a:t>
            </a:r>
            <a:endParaRPr sz="1600">
              <a:latin typeface="Calibri"/>
              <a:cs typeface="Calibri"/>
            </a:endParaRPr>
          </a:p>
          <a:p>
            <a:pPr marL="355600" marR="5080" indent="-343535">
              <a:lnSpc>
                <a:spcPct val="120000"/>
              </a:lnSpc>
              <a:spcBef>
                <a:spcPts val="600"/>
              </a:spcBef>
              <a:buSzPct val="112500"/>
              <a:buFont typeface="Arial"/>
              <a:buChar char="•"/>
              <a:tabLst>
                <a:tab pos="355600" algn="l"/>
              </a:tabLst>
            </a:pPr>
            <a:r>
              <a:rPr dirty="0" sz="1600">
                <a:latin typeface="Calibri"/>
                <a:cs typeface="Calibri"/>
              </a:rPr>
              <a:t>When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guest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attempts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reference</a:t>
            </a:r>
            <a:r>
              <a:rPr dirty="0" sz="1600" spc="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memory</a:t>
            </a:r>
            <a:r>
              <a:rPr dirty="0" sz="1600" spc="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using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virtual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address,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nPT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is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enabled,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page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walker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find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mapping,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performs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two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dimension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walk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using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gPT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nPT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translate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guest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virtual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address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system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physical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address</a:t>
            </a:r>
            <a:endParaRPr sz="16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980"/>
              </a:spcBef>
              <a:buSzPct val="112500"/>
              <a:buFont typeface="Arial"/>
              <a:buChar char="•"/>
              <a:tabLst>
                <a:tab pos="355600" algn="l"/>
              </a:tabLst>
            </a:pPr>
            <a:r>
              <a:rPr dirty="0" sz="1600" spc="-10">
                <a:latin typeface="Calibri"/>
                <a:cs typeface="Calibri"/>
              </a:rPr>
              <a:t>Summarily</a:t>
            </a:r>
            <a:endParaRPr sz="1600">
              <a:latin typeface="Calibri"/>
              <a:cs typeface="Calibri"/>
            </a:endParaRPr>
          </a:p>
          <a:p>
            <a:pPr marL="427355">
              <a:lnSpc>
                <a:spcPct val="100000"/>
              </a:lnSpc>
              <a:spcBef>
                <a:spcPts val="990"/>
              </a:spcBef>
            </a:pPr>
            <a:r>
              <a:rPr dirty="0" sz="1600" b="1">
                <a:latin typeface="Calibri"/>
                <a:cs typeface="Calibri"/>
              </a:rPr>
              <a:t>Idea</a:t>
            </a:r>
            <a:r>
              <a:rPr dirty="0" sz="1600" spc="-2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:</a:t>
            </a:r>
            <a:r>
              <a:rPr dirty="0" sz="1600" spc="-35" b="1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Make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hardware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aware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two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levels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address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translation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guest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nested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page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table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5779" y="5417939"/>
            <a:ext cx="10601960" cy="731520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0"/>
              </a:spcBef>
              <a:buSzPct val="112500"/>
              <a:buFont typeface="Arial"/>
              <a:buChar char="•"/>
              <a:tabLst>
                <a:tab pos="354965" algn="l"/>
                <a:tab pos="8311515" algn="l"/>
              </a:tabLst>
            </a:pPr>
            <a:r>
              <a:rPr dirty="0" sz="1600">
                <a:latin typeface="Calibri"/>
                <a:cs typeface="Calibri"/>
              </a:rPr>
              <a:t>Make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hardware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page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walker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walk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both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guest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page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table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nested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page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table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on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TLB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miss</a:t>
            </a:r>
            <a:r>
              <a:rPr dirty="0" sz="1600" spc="5">
                <a:latin typeface="Calibri"/>
                <a:cs typeface="Calibri"/>
              </a:rPr>
              <a:t> </a:t>
            </a:r>
            <a:r>
              <a:rPr dirty="0" sz="1600" spc="-50">
                <a:latin typeface="Calibri"/>
                <a:cs typeface="Calibri"/>
              </a:rPr>
              <a:t>🡪</a:t>
            </a:r>
            <a:r>
              <a:rPr dirty="0" sz="1600">
                <a:latin typeface="Calibri"/>
                <a:cs typeface="Calibri"/>
              </a:rPr>
              <a:t>	Two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dimensional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page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walk</a:t>
            </a:r>
            <a:endParaRPr sz="16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985"/>
              </a:spcBef>
              <a:buSzPct val="112500"/>
              <a:buFont typeface="Arial"/>
              <a:buChar char="•"/>
              <a:tabLst>
                <a:tab pos="354965" algn="l"/>
              </a:tabLst>
            </a:pPr>
            <a:r>
              <a:rPr dirty="0" sz="1600">
                <a:latin typeface="Calibri"/>
                <a:cs typeface="Calibri"/>
              </a:rPr>
              <a:t>Two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cr3s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 spc="-50">
                <a:latin typeface="Calibri"/>
                <a:cs typeface="Calibri"/>
              </a:rPr>
              <a:t>: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27910" y="5825744"/>
            <a:ext cx="1104900" cy="610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8890">
              <a:lnSpc>
                <a:spcPct val="120000"/>
              </a:lnSpc>
              <a:spcBef>
                <a:spcPts val="100"/>
              </a:spcBef>
              <a:tabLst>
                <a:tab pos="737870" algn="l"/>
              </a:tabLst>
            </a:pPr>
            <a:r>
              <a:rPr dirty="0" sz="1600">
                <a:latin typeface="Calibri"/>
                <a:cs typeface="Calibri"/>
              </a:rPr>
              <a:t>gCR3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50">
                <a:latin typeface="Calibri"/>
                <a:cs typeface="Calibri"/>
              </a:rPr>
              <a:t>🡪</a:t>
            </a:r>
            <a:r>
              <a:rPr dirty="0" sz="1600">
                <a:latin typeface="Calibri"/>
                <a:cs typeface="Calibri"/>
              </a:rPr>
              <a:t>	</a:t>
            </a:r>
            <a:r>
              <a:rPr dirty="0" sz="1600" spc="-20">
                <a:latin typeface="Calibri"/>
                <a:cs typeface="Calibri"/>
              </a:rPr>
              <a:t>gPT; </a:t>
            </a:r>
            <a:r>
              <a:rPr dirty="0" sz="1600">
                <a:latin typeface="Calibri"/>
                <a:cs typeface="Calibri"/>
              </a:rPr>
              <a:t>nCR3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50">
                <a:latin typeface="Calibri"/>
                <a:cs typeface="Calibri"/>
              </a:rPr>
              <a:t>🡪</a:t>
            </a:r>
            <a:r>
              <a:rPr dirty="0" sz="1600">
                <a:latin typeface="Calibri"/>
                <a:cs typeface="Calibri"/>
              </a:rPr>
              <a:t>	</a:t>
            </a:r>
            <a:r>
              <a:rPr dirty="0" sz="1600" spc="-360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nPT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5779" y="6536842"/>
            <a:ext cx="38220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SzPct val="112500"/>
              <a:buFont typeface="Arial"/>
              <a:buChar char="•"/>
              <a:tabLst>
                <a:tab pos="354965" algn="l"/>
              </a:tabLst>
            </a:pPr>
            <a:r>
              <a:rPr dirty="0" sz="1600">
                <a:latin typeface="Calibri"/>
                <a:cs typeface="Calibri"/>
              </a:rPr>
              <a:t>Eliminates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need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shadow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page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table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28640" y="6578600"/>
            <a:ext cx="685800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Arial"/>
                <a:cs typeface="Arial"/>
              </a:rPr>
              <a:t>Ref</a:t>
            </a:r>
            <a:r>
              <a:rPr dirty="0" sz="1400">
                <a:latin typeface="Arial"/>
                <a:cs typeface="Arial"/>
              </a:rPr>
              <a:t>:</a:t>
            </a:r>
            <a:r>
              <a:rPr dirty="0" sz="1400" spc="23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  <a:hlinkClick r:id="rId3"/>
              </a:rPr>
              <a:t>http://developer.amd.com/wordpress/media/2012/10/NPT-WP-1%201-final-TM.pdf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32343" y="0"/>
            <a:ext cx="754907" cy="139051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484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350"/>
              </a:spcBef>
            </a:pP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Extended</a:t>
            </a:r>
            <a:r>
              <a:rPr dirty="0" sz="2200" spc="-6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page</a:t>
            </a:r>
            <a:r>
              <a:rPr dirty="0" sz="2200" spc="-7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C55A11"/>
                </a:solidFill>
                <a:latin typeface="Arial"/>
                <a:cs typeface="Arial"/>
              </a:rPr>
              <a:t>tables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8491" y="1981200"/>
            <a:ext cx="9419844" cy="3023616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139952" y="2196083"/>
            <a:ext cx="1582420" cy="916305"/>
          </a:xfrm>
          <a:custGeom>
            <a:avLst/>
            <a:gdLst/>
            <a:ahLst/>
            <a:cxnLst/>
            <a:rect l="l" t="t" r="r" b="b"/>
            <a:pathLst>
              <a:path w="1582420" h="916305">
                <a:moveTo>
                  <a:pt x="1581911" y="0"/>
                </a:moveTo>
                <a:lnTo>
                  <a:pt x="0" y="0"/>
                </a:lnTo>
                <a:lnTo>
                  <a:pt x="0" y="915924"/>
                </a:lnTo>
                <a:lnTo>
                  <a:pt x="1581911" y="915924"/>
                </a:lnTo>
                <a:lnTo>
                  <a:pt x="1581911" y="0"/>
                </a:lnTo>
                <a:close/>
              </a:path>
            </a:pathLst>
          </a:custGeom>
          <a:solidFill>
            <a:srgbClr val="DDEA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67841" y="2413254"/>
            <a:ext cx="211645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Arial"/>
                <a:cs typeface="Arial"/>
              </a:rPr>
              <a:t>Guest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Virtual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Page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20" b="1">
                <a:latin typeface="Arial"/>
                <a:cs typeface="Arial"/>
              </a:rPr>
              <a:t>(gVP)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142232" y="2078735"/>
            <a:ext cx="2557780" cy="774700"/>
          </a:xfrm>
          <a:custGeom>
            <a:avLst/>
            <a:gdLst/>
            <a:ahLst/>
            <a:cxnLst/>
            <a:rect l="l" t="t" r="r" b="b"/>
            <a:pathLst>
              <a:path w="2557779" h="774700">
                <a:moveTo>
                  <a:pt x="2557272" y="0"/>
                </a:moveTo>
                <a:lnTo>
                  <a:pt x="0" y="0"/>
                </a:lnTo>
                <a:lnTo>
                  <a:pt x="0" y="370332"/>
                </a:lnTo>
                <a:lnTo>
                  <a:pt x="800100" y="370332"/>
                </a:lnTo>
                <a:lnTo>
                  <a:pt x="800100" y="774192"/>
                </a:lnTo>
                <a:lnTo>
                  <a:pt x="1848612" y="774192"/>
                </a:lnTo>
                <a:lnTo>
                  <a:pt x="1848612" y="370332"/>
                </a:lnTo>
                <a:lnTo>
                  <a:pt x="2557272" y="370332"/>
                </a:lnTo>
                <a:lnTo>
                  <a:pt x="2557272" y="0"/>
                </a:lnTo>
                <a:close/>
              </a:path>
            </a:pathLst>
          </a:custGeom>
          <a:solidFill>
            <a:srgbClr val="DDEA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182871" y="2415920"/>
            <a:ext cx="228282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Arial"/>
                <a:cs typeface="Arial"/>
              </a:rPr>
              <a:t>Guest</a:t>
            </a:r>
            <a:r>
              <a:rPr dirty="0" sz="1400" spc="-6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Physical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Page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(gPP)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200643" y="2404872"/>
            <a:ext cx="1424940" cy="1061085"/>
          </a:xfrm>
          <a:custGeom>
            <a:avLst/>
            <a:gdLst/>
            <a:ahLst/>
            <a:cxnLst/>
            <a:rect l="l" t="t" r="r" b="b"/>
            <a:pathLst>
              <a:path w="1424940" h="1061085">
                <a:moveTo>
                  <a:pt x="1424940" y="0"/>
                </a:moveTo>
                <a:lnTo>
                  <a:pt x="0" y="0"/>
                </a:lnTo>
                <a:lnTo>
                  <a:pt x="0" y="1060703"/>
                </a:lnTo>
                <a:lnTo>
                  <a:pt x="1424940" y="1060703"/>
                </a:lnTo>
                <a:lnTo>
                  <a:pt x="1424940" y="0"/>
                </a:lnTo>
                <a:close/>
              </a:path>
            </a:pathLst>
          </a:custGeom>
          <a:solidFill>
            <a:srgbClr val="DDEA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7266558" y="2413254"/>
            <a:ext cx="268732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Arial"/>
                <a:cs typeface="Arial"/>
              </a:rPr>
              <a:t>System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(or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Host)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Physical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spc="-20" b="1">
                <a:latin typeface="Arial"/>
                <a:cs typeface="Arial"/>
              </a:rPr>
              <a:t>Page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94232" y="3838955"/>
            <a:ext cx="4566285" cy="1031875"/>
          </a:xfrm>
          <a:prstGeom prst="rect">
            <a:avLst/>
          </a:prstGeom>
          <a:solidFill>
            <a:srgbClr val="DDEAF6"/>
          </a:solidFill>
        </p:spPr>
        <p:txBody>
          <a:bodyPr wrap="square" lIns="0" tIns="104139" rIns="0" bIns="0" rtlCol="0" vert="horz">
            <a:spAutoFit/>
          </a:bodyPr>
          <a:lstStyle/>
          <a:p>
            <a:pPr marL="1494790">
              <a:lnSpc>
                <a:spcPct val="100000"/>
              </a:lnSpc>
              <a:spcBef>
                <a:spcPts val="819"/>
              </a:spcBef>
            </a:pPr>
            <a:r>
              <a:rPr dirty="0" sz="1800" b="1">
                <a:latin typeface="Arial"/>
                <a:cs typeface="Arial"/>
              </a:rPr>
              <a:t>Guest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Page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Table</a:t>
            </a:r>
            <a:r>
              <a:rPr dirty="0" sz="1800" spc="-4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(gPT)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990844" y="3838955"/>
            <a:ext cx="3051175" cy="848994"/>
          </a:xfrm>
          <a:custGeom>
            <a:avLst/>
            <a:gdLst/>
            <a:ahLst/>
            <a:cxnLst/>
            <a:rect l="l" t="t" r="r" b="b"/>
            <a:pathLst>
              <a:path w="3051175" h="848995">
                <a:moveTo>
                  <a:pt x="3051048" y="0"/>
                </a:moveTo>
                <a:lnTo>
                  <a:pt x="0" y="0"/>
                </a:lnTo>
                <a:lnTo>
                  <a:pt x="0" y="848868"/>
                </a:lnTo>
                <a:lnTo>
                  <a:pt x="3051048" y="848868"/>
                </a:lnTo>
                <a:lnTo>
                  <a:pt x="3051048" y="0"/>
                </a:lnTo>
                <a:close/>
              </a:path>
            </a:pathLst>
          </a:custGeom>
          <a:solidFill>
            <a:srgbClr val="DDEA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739129" y="3909821"/>
            <a:ext cx="29838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Extended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Page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Table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(EPT)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72667" y="5387746"/>
            <a:ext cx="8046084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libri"/>
                <a:cs typeface="Calibri"/>
              </a:rPr>
              <a:t>Guest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manages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page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tables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(one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per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process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running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VM)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latin typeface="Calibri"/>
                <a:cs typeface="Calibri"/>
              </a:rPr>
              <a:t>Hypervisor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manages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Extended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Page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Tables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(EPT)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32343" y="0"/>
            <a:ext cx="754907" cy="139051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484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350"/>
              </a:spcBef>
            </a:pP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EPT</a:t>
            </a:r>
            <a:r>
              <a:rPr dirty="0" sz="2200" spc="-5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–</a:t>
            </a:r>
            <a:r>
              <a:rPr dirty="0" sz="2200" spc="-4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Another</a:t>
            </a:r>
            <a:r>
              <a:rPr dirty="0" sz="2200" spc="-1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C55A11"/>
                </a:solidFill>
                <a:latin typeface="Arial"/>
                <a:cs typeface="Arial"/>
              </a:rPr>
              <a:t>Summary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783207" y="1506982"/>
            <a:ext cx="3079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Calibri"/>
                <a:cs typeface="Calibri"/>
              </a:rPr>
              <a:t>CR3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09415" y="1542033"/>
            <a:ext cx="1748789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Calibri"/>
                <a:cs typeface="Calibri"/>
              </a:rPr>
              <a:t>EPT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Base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Pointer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(EPTP)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53283" y="2106167"/>
            <a:ext cx="957580" cy="74549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88900" rIns="0" bIns="0" rtlCol="0" vert="horz">
            <a:spAutoFit/>
          </a:bodyPr>
          <a:lstStyle/>
          <a:p>
            <a:pPr marL="92075" marR="130175">
              <a:lnSpc>
                <a:spcPct val="100000"/>
              </a:lnSpc>
              <a:spcBef>
                <a:spcPts val="700"/>
              </a:spcBef>
            </a:pPr>
            <a:r>
              <a:rPr dirty="0" sz="1200">
                <a:latin typeface="Calibri"/>
                <a:cs typeface="Calibri"/>
              </a:rPr>
              <a:t>Guest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IA-</a:t>
            </a:r>
            <a:r>
              <a:rPr dirty="0" sz="1200" spc="-25">
                <a:latin typeface="Calibri"/>
                <a:cs typeface="Calibri"/>
              </a:rPr>
              <a:t>32 </a:t>
            </a:r>
            <a:r>
              <a:rPr dirty="0" sz="1200" spc="-20">
                <a:latin typeface="Calibri"/>
                <a:cs typeface="Calibri"/>
              </a:rPr>
              <a:t>Page</a:t>
            </a:r>
            <a:r>
              <a:rPr dirty="0" sz="1200" spc="5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Tables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009965" y="1848611"/>
            <a:ext cx="674370" cy="306705"/>
            <a:chOff x="2009965" y="1848611"/>
            <a:chExt cx="674370" cy="306705"/>
          </a:xfrm>
        </p:grpSpPr>
        <p:sp>
          <p:nvSpPr>
            <p:cNvPr id="22" name="object 22"/>
            <p:cNvSpPr/>
            <p:nvPr/>
          </p:nvSpPr>
          <p:spPr>
            <a:xfrm>
              <a:off x="2014727" y="2078735"/>
              <a:ext cx="669925" cy="76200"/>
            </a:xfrm>
            <a:custGeom>
              <a:avLst/>
              <a:gdLst/>
              <a:ahLst/>
              <a:cxnLst/>
              <a:rect l="l" t="t" r="r" b="b"/>
              <a:pathLst>
                <a:path w="669925" h="76200">
                  <a:moveTo>
                    <a:pt x="618617" y="38100"/>
                  </a:moveTo>
                  <a:lnTo>
                    <a:pt x="593217" y="76200"/>
                  </a:lnTo>
                  <a:lnTo>
                    <a:pt x="656717" y="44450"/>
                  </a:lnTo>
                  <a:lnTo>
                    <a:pt x="618617" y="44450"/>
                  </a:lnTo>
                  <a:lnTo>
                    <a:pt x="618617" y="38100"/>
                  </a:lnTo>
                  <a:close/>
                </a:path>
                <a:path w="669925" h="76200">
                  <a:moveTo>
                    <a:pt x="614383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614383" y="44450"/>
                  </a:lnTo>
                  <a:lnTo>
                    <a:pt x="618617" y="38100"/>
                  </a:lnTo>
                  <a:lnTo>
                    <a:pt x="614383" y="31750"/>
                  </a:lnTo>
                  <a:close/>
                </a:path>
                <a:path w="669925" h="76200">
                  <a:moveTo>
                    <a:pt x="656717" y="31750"/>
                  </a:moveTo>
                  <a:lnTo>
                    <a:pt x="618617" y="31750"/>
                  </a:lnTo>
                  <a:lnTo>
                    <a:pt x="618617" y="44450"/>
                  </a:lnTo>
                  <a:lnTo>
                    <a:pt x="656717" y="44450"/>
                  </a:lnTo>
                  <a:lnTo>
                    <a:pt x="669417" y="38100"/>
                  </a:lnTo>
                  <a:lnTo>
                    <a:pt x="656717" y="31750"/>
                  </a:lnTo>
                  <a:close/>
                </a:path>
                <a:path w="669925" h="76200">
                  <a:moveTo>
                    <a:pt x="593217" y="0"/>
                  </a:moveTo>
                  <a:lnTo>
                    <a:pt x="618617" y="38100"/>
                  </a:lnTo>
                  <a:lnTo>
                    <a:pt x="618617" y="31750"/>
                  </a:lnTo>
                  <a:lnTo>
                    <a:pt x="656717" y="31750"/>
                  </a:lnTo>
                  <a:lnTo>
                    <a:pt x="5932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014727" y="1848611"/>
              <a:ext cx="0" cy="267970"/>
            </a:xfrm>
            <a:custGeom>
              <a:avLst/>
              <a:gdLst/>
              <a:ahLst/>
              <a:cxnLst/>
              <a:rect l="l" t="t" r="r" b="b"/>
              <a:pathLst>
                <a:path w="0" h="267969">
                  <a:moveTo>
                    <a:pt x="0" y="26797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78739" y="2285745"/>
            <a:ext cx="155638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Calibri"/>
                <a:cs typeface="Calibri"/>
              </a:rPr>
              <a:t>Guest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Linear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Address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64711" y="2205685"/>
            <a:ext cx="168910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Calibri"/>
                <a:cs typeface="Calibri"/>
              </a:rPr>
              <a:t>Guest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Physical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Address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949195" y="2452116"/>
            <a:ext cx="682625" cy="76200"/>
          </a:xfrm>
          <a:custGeom>
            <a:avLst/>
            <a:gdLst/>
            <a:ahLst/>
            <a:cxnLst/>
            <a:rect l="l" t="t" r="r" b="b"/>
            <a:pathLst>
              <a:path w="682625" h="76200">
                <a:moveTo>
                  <a:pt x="631698" y="38100"/>
                </a:moveTo>
                <a:lnTo>
                  <a:pt x="606298" y="76200"/>
                </a:lnTo>
                <a:lnTo>
                  <a:pt x="669798" y="44450"/>
                </a:lnTo>
                <a:lnTo>
                  <a:pt x="631698" y="44450"/>
                </a:lnTo>
                <a:lnTo>
                  <a:pt x="631698" y="38100"/>
                </a:lnTo>
                <a:close/>
              </a:path>
              <a:path w="682625" h="76200">
                <a:moveTo>
                  <a:pt x="627464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627464" y="44450"/>
                </a:lnTo>
                <a:lnTo>
                  <a:pt x="631698" y="38100"/>
                </a:lnTo>
                <a:lnTo>
                  <a:pt x="627464" y="31750"/>
                </a:lnTo>
                <a:close/>
              </a:path>
              <a:path w="682625" h="76200">
                <a:moveTo>
                  <a:pt x="669798" y="31750"/>
                </a:moveTo>
                <a:lnTo>
                  <a:pt x="631698" y="31750"/>
                </a:lnTo>
                <a:lnTo>
                  <a:pt x="631698" y="44450"/>
                </a:lnTo>
                <a:lnTo>
                  <a:pt x="669798" y="44450"/>
                </a:lnTo>
                <a:lnTo>
                  <a:pt x="682498" y="38100"/>
                </a:lnTo>
                <a:lnTo>
                  <a:pt x="669798" y="31750"/>
                </a:lnTo>
                <a:close/>
              </a:path>
              <a:path w="682625" h="76200">
                <a:moveTo>
                  <a:pt x="606298" y="0"/>
                </a:moveTo>
                <a:lnTo>
                  <a:pt x="631698" y="38100"/>
                </a:lnTo>
                <a:lnTo>
                  <a:pt x="631698" y="31750"/>
                </a:lnTo>
                <a:lnTo>
                  <a:pt x="669798" y="31750"/>
                </a:lnTo>
                <a:lnTo>
                  <a:pt x="6062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616452" y="2452116"/>
            <a:ext cx="2441575" cy="76200"/>
          </a:xfrm>
          <a:custGeom>
            <a:avLst/>
            <a:gdLst/>
            <a:ahLst/>
            <a:cxnLst/>
            <a:rect l="l" t="t" r="r" b="b"/>
            <a:pathLst>
              <a:path w="2441575" h="76200">
                <a:moveTo>
                  <a:pt x="2390648" y="38100"/>
                </a:moveTo>
                <a:lnTo>
                  <a:pt x="2365248" y="76200"/>
                </a:lnTo>
                <a:lnTo>
                  <a:pt x="2428748" y="44450"/>
                </a:lnTo>
                <a:lnTo>
                  <a:pt x="2390648" y="44450"/>
                </a:lnTo>
                <a:lnTo>
                  <a:pt x="2390648" y="38100"/>
                </a:lnTo>
                <a:close/>
              </a:path>
              <a:path w="2441575" h="76200">
                <a:moveTo>
                  <a:pt x="2386414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386414" y="44450"/>
                </a:lnTo>
                <a:lnTo>
                  <a:pt x="2390648" y="38100"/>
                </a:lnTo>
                <a:lnTo>
                  <a:pt x="2386414" y="31750"/>
                </a:lnTo>
                <a:close/>
              </a:path>
              <a:path w="2441575" h="76200">
                <a:moveTo>
                  <a:pt x="2428748" y="31750"/>
                </a:moveTo>
                <a:lnTo>
                  <a:pt x="2390648" y="31750"/>
                </a:lnTo>
                <a:lnTo>
                  <a:pt x="2390648" y="44450"/>
                </a:lnTo>
                <a:lnTo>
                  <a:pt x="2428748" y="44450"/>
                </a:lnTo>
                <a:lnTo>
                  <a:pt x="2441448" y="38100"/>
                </a:lnTo>
                <a:lnTo>
                  <a:pt x="2428748" y="31750"/>
                </a:lnTo>
                <a:close/>
              </a:path>
              <a:path w="2441575" h="76200">
                <a:moveTo>
                  <a:pt x="2365248" y="0"/>
                </a:moveTo>
                <a:lnTo>
                  <a:pt x="2390648" y="38100"/>
                </a:lnTo>
                <a:lnTo>
                  <a:pt x="2390648" y="31750"/>
                </a:lnTo>
                <a:lnTo>
                  <a:pt x="2428748" y="31750"/>
                </a:lnTo>
                <a:lnTo>
                  <a:pt x="23652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039611" y="2106167"/>
            <a:ext cx="957580" cy="745490"/>
          </a:xfrm>
          <a:custGeom>
            <a:avLst/>
            <a:gdLst/>
            <a:ahLst/>
            <a:cxnLst/>
            <a:rect l="l" t="t" r="r" b="b"/>
            <a:pathLst>
              <a:path w="957579" h="745489">
                <a:moveTo>
                  <a:pt x="957071" y="0"/>
                </a:moveTo>
                <a:lnTo>
                  <a:pt x="0" y="0"/>
                </a:lnTo>
                <a:lnTo>
                  <a:pt x="0" y="745236"/>
                </a:lnTo>
                <a:lnTo>
                  <a:pt x="957071" y="745236"/>
                </a:lnTo>
                <a:lnTo>
                  <a:pt x="9570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039611" y="2106167"/>
            <a:ext cx="957580" cy="74549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88900" rIns="0" bIns="0" rtlCol="0" vert="horz">
            <a:spAutoFit/>
          </a:bodyPr>
          <a:lstStyle/>
          <a:p>
            <a:pPr marL="92710" marR="271145">
              <a:lnSpc>
                <a:spcPct val="100000"/>
              </a:lnSpc>
              <a:spcBef>
                <a:spcPts val="700"/>
              </a:spcBef>
            </a:pPr>
            <a:r>
              <a:rPr dirty="0" sz="1200" spc="-10">
                <a:latin typeface="Calibri"/>
                <a:cs typeface="Calibri"/>
              </a:rPr>
              <a:t>Extended </a:t>
            </a:r>
            <a:r>
              <a:rPr dirty="0" sz="1200" spc="-20">
                <a:latin typeface="Calibri"/>
                <a:cs typeface="Calibri"/>
              </a:rPr>
              <a:t>Page </a:t>
            </a:r>
            <a:r>
              <a:rPr dirty="0" sz="1200" spc="-10">
                <a:latin typeface="Calibri"/>
                <a:cs typeface="Calibri"/>
              </a:rPr>
              <a:t>Tables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344477" y="1872995"/>
            <a:ext cx="4020820" cy="643255"/>
            <a:chOff x="5344477" y="1872995"/>
            <a:chExt cx="4020820" cy="643255"/>
          </a:xfrm>
        </p:grpSpPr>
        <p:sp>
          <p:nvSpPr>
            <p:cNvPr id="16" name="object 16"/>
            <p:cNvSpPr/>
            <p:nvPr/>
          </p:nvSpPr>
          <p:spPr>
            <a:xfrm>
              <a:off x="5349240" y="2103119"/>
              <a:ext cx="4015740" cy="413384"/>
            </a:xfrm>
            <a:custGeom>
              <a:avLst/>
              <a:gdLst/>
              <a:ahLst/>
              <a:cxnLst/>
              <a:rect l="l" t="t" r="r" b="b"/>
              <a:pathLst>
                <a:path w="4015740" h="413385">
                  <a:moveTo>
                    <a:pt x="669417" y="38100"/>
                  </a:moveTo>
                  <a:lnTo>
                    <a:pt x="656717" y="31750"/>
                  </a:lnTo>
                  <a:lnTo>
                    <a:pt x="593217" y="0"/>
                  </a:lnTo>
                  <a:lnTo>
                    <a:pt x="614375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614375" y="44450"/>
                  </a:lnTo>
                  <a:lnTo>
                    <a:pt x="593217" y="76200"/>
                  </a:lnTo>
                  <a:lnTo>
                    <a:pt x="656717" y="44450"/>
                  </a:lnTo>
                  <a:lnTo>
                    <a:pt x="669417" y="38100"/>
                  </a:lnTo>
                  <a:close/>
                </a:path>
                <a:path w="4015740" h="413385">
                  <a:moveTo>
                    <a:pt x="4015613" y="374904"/>
                  </a:moveTo>
                  <a:lnTo>
                    <a:pt x="4002913" y="368554"/>
                  </a:lnTo>
                  <a:lnTo>
                    <a:pt x="3939413" y="336804"/>
                  </a:lnTo>
                  <a:lnTo>
                    <a:pt x="3960571" y="368554"/>
                  </a:lnTo>
                  <a:lnTo>
                    <a:pt x="1639824" y="368554"/>
                  </a:lnTo>
                  <a:lnTo>
                    <a:pt x="1639824" y="381254"/>
                  </a:lnTo>
                  <a:lnTo>
                    <a:pt x="3960571" y="381254"/>
                  </a:lnTo>
                  <a:lnTo>
                    <a:pt x="3939413" y="413004"/>
                  </a:lnTo>
                  <a:lnTo>
                    <a:pt x="4002913" y="381254"/>
                  </a:lnTo>
                  <a:lnTo>
                    <a:pt x="4015613" y="3749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349240" y="1872995"/>
              <a:ext cx="0" cy="267970"/>
            </a:xfrm>
            <a:custGeom>
              <a:avLst/>
              <a:gdLst/>
              <a:ahLst/>
              <a:cxnLst/>
              <a:rect l="l" t="t" r="r" b="b"/>
              <a:pathLst>
                <a:path w="0" h="267969">
                  <a:moveTo>
                    <a:pt x="0" y="267969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7115047" y="2124582"/>
            <a:ext cx="159893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Calibri"/>
                <a:cs typeface="Calibri"/>
              </a:rPr>
              <a:t>Host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Physical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Address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5790" y="3082442"/>
            <a:ext cx="7019925" cy="983615"/>
          </a:xfrm>
          <a:prstGeom prst="rect">
            <a:avLst/>
          </a:prstGeom>
        </p:spPr>
        <p:txBody>
          <a:bodyPr wrap="square" lIns="0" tIns="156210" rIns="0" bIns="0" rtlCol="0" vert="horz">
            <a:spAutoFit/>
          </a:bodyPr>
          <a:lstStyle/>
          <a:p>
            <a:pPr marL="349250" indent="-336550">
              <a:lnSpc>
                <a:spcPct val="100000"/>
              </a:lnSpc>
              <a:spcBef>
                <a:spcPts val="1230"/>
              </a:spcBef>
              <a:buClr>
                <a:srgbClr val="000000"/>
              </a:buClr>
              <a:buFont typeface="Arial"/>
              <a:buChar char="•"/>
              <a:tabLst>
                <a:tab pos="349250" algn="l"/>
              </a:tabLst>
            </a:pPr>
            <a:r>
              <a:rPr dirty="0" sz="220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dirty="0" sz="2200">
                <a:latin typeface="Calibri"/>
                <a:cs typeface="Calibri"/>
              </a:rPr>
              <a:t>xtended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0000"/>
                </a:solidFill>
                <a:latin typeface="Calibri"/>
                <a:cs typeface="Calibri"/>
              </a:rPr>
              <a:t>P</a:t>
            </a:r>
            <a:r>
              <a:rPr dirty="0" sz="2200">
                <a:latin typeface="Calibri"/>
                <a:cs typeface="Calibri"/>
              </a:rPr>
              <a:t>age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dirty="0" sz="2200" spc="-10">
                <a:latin typeface="Calibri"/>
                <a:cs typeface="Calibri"/>
              </a:rPr>
              <a:t>able</a:t>
            </a:r>
            <a:endParaRPr sz="2200">
              <a:latin typeface="Calibri"/>
              <a:cs typeface="Calibri"/>
            </a:endParaRPr>
          </a:p>
          <a:p>
            <a:pPr marL="349250" indent="-336550">
              <a:lnSpc>
                <a:spcPct val="100000"/>
              </a:lnSpc>
              <a:spcBef>
                <a:spcPts val="1130"/>
              </a:spcBef>
              <a:buFont typeface="Arial"/>
              <a:buChar char="•"/>
              <a:tabLst>
                <a:tab pos="349250" algn="l"/>
              </a:tabLst>
            </a:pP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new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page-</a:t>
            </a:r>
            <a:r>
              <a:rPr dirty="0" sz="2200">
                <a:latin typeface="Calibri"/>
                <a:cs typeface="Calibri"/>
              </a:rPr>
              <a:t>table structure,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under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control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 </a:t>
            </a:r>
            <a:r>
              <a:rPr dirty="0" sz="2200" spc="-25">
                <a:latin typeface="Calibri"/>
                <a:cs typeface="Calibri"/>
              </a:rPr>
              <a:t>VMM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4118" y="4040276"/>
            <a:ext cx="7660005" cy="1461770"/>
          </a:xfrm>
          <a:prstGeom prst="rect">
            <a:avLst/>
          </a:prstGeom>
        </p:spPr>
        <p:txBody>
          <a:bodyPr wrap="square" lIns="0" tIns="155575" rIns="0" bIns="0" rtlCol="0" vert="horz">
            <a:spAutoFit/>
          </a:bodyPr>
          <a:lstStyle/>
          <a:p>
            <a:pPr marL="364490" indent="-351790">
              <a:lnSpc>
                <a:spcPct val="100000"/>
              </a:lnSpc>
              <a:spcBef>
                <a:spcPts val="1225"/>
              </a:spcBef>
              <a:buFont typeface="Arial"/>
              <a:buChar char="•"/>
              <a:tabLst>
                <a:tab pos="364490" algn="l"/>
              </a:tabLst>
            </a:pPr>
            <a:r>
              <a:rPr dirty="0" sz="2200">
                <a:latin typeface="Calibri"/>
                <a:cs typeface="Calibri"/>
              </a:rPr>
              <a:t>Defines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mapping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between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guest-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host-</a:t>
            </a:r>
            <a:r>
              <a:rPr dirty="0" sz="2200">
                <a:latin typeface="Calibri"/>
                <a:cs typeface="Calibri"/>
              </a:rPr>
              <a:t>physical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addresses</a:t>
            </a:r>
            <a:endParaRPr sz="2200">
              <a:latin typeface="Calibri"/>
              <a:cs typeface="Calibri"/>
            </a:endParaRPr>
          </a:p>
          <a:p>
            <a:pPr marL="364490" indent="-351790">
              <a:lnSpc>
                <a:spcPct val="100000"/>
              </a:lnSpc>
              <a:spcBef>
                <a:spcPts val="1130"/>
              </a:spcBef>
              <a:buFont typeface="Arial"/>
              <a:buChar char="•"/>
              <a:tabLst>
                <a:tab pos="364490" algn="l"/>
              </a:tabLst>
            </a:pPr>
            <a:r>
              <a:rPr dirty="0" sz="2200">
                <a:latin typeface="Calibri"/>
                <a:cs typeface="Calibri"/>
              </a:rPr>
              <a:t>EPT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base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pointer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(new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VMCS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field)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points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EPT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tables</a:t>
            </a:r>
            <a:endParaRPr sz="2200">
              <a:latin typeface="Calibri"/>
              <a:cs typeface="Calibri"/>
            </a:endParaRPr>
          </a:p>
          <a:p>
            <a:pPr marL="364490" indent="-351790">
              <a:lnSpc>
                <a:spcPct val="100000"/>
              </a:lnSpc>
              <a:spcBef>
                <a:spcPts val="1130"/>
              </a:spcBef>
              <a:buFont typeface="Arial"/>
              <a:buChar char="•"/>
              <a:tabLst>
                <a:tab pos="364490" algn="l"/>
              </a:tabLst>
            </a:pPr>
            <a:r>
              <a:rPr dirty="0" sz="2200">
                <a:latin typeface="Calibri"/>
                <a:cs typeface="Calibri"/>
              </a:rPr>
              <a:t>EPT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(optionally)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activated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entry,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deactivated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exit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597643" y="2102637"/>
            <a:ext cx="2236470" cy="2952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dirty="0" sz="1600">
                <a:latin typeface="Calibri"/>
                <a:cs typeface="Calibri"/>
              </a:rPr>
              <a:t>when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guest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removes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 spc="-50">
                <a:latin typeface="Calibri"/>
                <a:cs typeface="Calibri"/>
              </a:rPr>
              <a:t>a </a:t>
            </a:r>
            <a:r>
              <a:rPr dirty="0" sz="1600">
                <a:latin typeface="Calibri"/>
                <a:cs typeface="Calibri"/>
              </a:rPr>
              <a:t>translation,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it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executes </a:t>
            </a:r>
            <a:r>
              <a:rPr dirty="0" sz="1600">
                <a:latin typeface="Calibri"/>
                <a:cs typeface="Calibri"/>
              </a:rPr>
              <a:t>INVLPG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invalidate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that </a:t>
            </a:r>
            <a:r>
              <a:rPr dirty="0" sz="1600">
                <a:latin typeface="Calibri"/>
                <a:cs typeface="Calibri"/>
              </a:rPr>
              <a:t>translation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TLB.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The </a:t>
            </a:r>
            <a:r>
              <a:rPr dirty="0" sz="1600">
                <a:latin typeface="Calibri"/>
                <a:cs typeface="Calibri"/>
              </a:rPr>
              <a:t>hypervisor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intercepts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this </a:t>
            </a:r>
            <a:r>
              <a:rPr dirty="0" sz="1600">
                <a:latin typeface="Calibri"/>
                <a:cs typeface="Calibri"/>
              </a:rPr>
              <a:t>operation;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then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removes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corresponding </a:t>
            </a:r>
            <a:r>
              <a:rPr dirty="0" sz="1600">
                <a:latin typeface="Calibri"/>
                <a:cs typeface="Calibri"/>
              </a:rPr>
              <a:t>translation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sPT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and </a:t>
            </a:r>
            <a:r>
              <a:rPr dirty="0" sz="1600">
                <a:latin typeface="Calibri"/>
                <a:cs typeface="Calibri"/>
              </a:rPr>
              <a:t>executes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INVLPG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for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the </a:t>
            </a:r>
            <a:r>
              <a:rPr dirty="0" sz="1600">
                <a:latin typeface="Calibri"/>
                <a:cs typeface="Calibri"/>
              </a:rPr>
              <a:t>removed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translation.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5790" y="5476138"/>
            <a:ext cx="8691880" cy="1328420"/>
          </a:xfrm>
          <a:prstGeom prst="rect">
            <a:avLst/>
          </a:prstGeom>
        </p:spPr>
        <p:txBody>
          <a:bodyPr wrap="square" lIns="0" tIns="155575" rIns="0" bIns="0" rtlCol="0" vert="horz">
            <a:spAutoFit/>
          </a:bodyPr>
          <a:lstStyle/>
          <a:p>
            <a:pPr marL="349250" indent="-336550">
              <a:lnSpc>
                <a:spcPct val="100000"/>
              </a:lnSpc>
              <a:spcBef>
                <a:spcPts val="1225"/>
              </a:spcBef>
              <a:buFont typeface="Arial"/>
              <a:buChar char="•"/>
              <a:tabLst>
                <a:tab pos="349250" algn="l"/>
              </a:tabLst>
            </a:pPr>
            <a:r>
              <a:rPr dirty="0" sz="2200">
                <a:latin typeface="Calibri"/>
                <a:cs typeface="Calibri"/>
              </a:rPr>
              <a:t>Guest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full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control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over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own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IA-</a:t>
            </a:r>
            <a:r>
              <a:rPr dirty="0" sz="2200">
                <a:latin typeface="Calibri"/>
                <a:cs typeface="Calibri"/>
              </a:rPr>
              <a:t>32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tables</a:t>
            </a:r>
            <a:endParaRPr sz="2200">
              <a:latin typeface="Calibri"/>
              <a:cs typeface="Calibri"/>
            </a:endParaRPr>
          </a:p>
          <a:p>
            <a:pPr lvl="1" marL="702945" indent="-352425">
              <a:lnSpc>
                <a:spcPct val="100000"/>
              </a:lnSpc>
              <a:spcBef>
                <a:spcPts val="1130"/>
              </a:spcBef>
              <a:buFont typeface="Arial"/>
              <a:buChar char="•"/>
              <a:tabLst>
                <a:tab pos="702945" algn="l"/>
              </a:tabLst>
            </a:pPr>
            <a:r>
              <a:rPr dirty="0" sz="2200">
                <a:latin typeface="Calibri"/>
                <a:cs typeface="Calibri"/>
              </a:rPr>
              <a:t>No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exits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due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guest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faults,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INVLPG,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CR3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changes</a:t>
            </a:r>
            <a:endParaRPr sz="2200">
              <a:latin typeface="Calibri"/>
              <a:cs typeface="Calibri"/>
            </a:endParaRPr>
          </a:p>
          <a:p>
            <a:pPr marL="601980">
              <a:lnSpc>
                <a:spcPct val="100000"/>
              </a:lnSpc>
              <a:spcBef>
                <a:spcPts val="1040"/>
              </a:spcBef>
            </a:pPr>
            <a:r>
              <a:rPr dirty="0" sz="1400">
                <a:solidFill>
                  <a:srgbClr val="C00000"/>
                </a:solidFill>
                <a:latin typeface="Calibri"/>
                <a:cs typeface="Calibri"/>
              </a:rPr>
              <a:t>Virtual</a:t>
            </a:r>
            <a:r>
              <a:rPr dirty="0" sz="1400" spc="-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C00000"/>
                </a:solidFill>
                <a:latin typeface="Calibri"/>
                <a:cs typeface="Calibri"/>
              </a:rPr>
              <a:t>Machine</a:t>
            </a:r>
            <a:r>
              <a:rPr dirty="0" sz="1400" spc="-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C00000"/>
                </a:solidFill>
                <a:latin typeface="Calibri"/>
                <a:cs typeface="Calibri"/>
              </a:rPr>
              <a:t>Control</a:t>
            </a:r>
            <a:r>
              <a:rPr dirty="0" sz="14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C00000"/>
                </a:solidFill>
                <a:latin typeface="Calibri"/>
                <a:cs typeface="Calibri"/>
              </a:rPr>
              <a:t>Structure</a:t>
            </a:r>
            <a:r>
              <a:rPr dirty="0" sz="140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C00000"/>
                </a:solidFill>
                <a:latin typeface="Calibri"/>
                <a:cs typeface="Calibri"/>
              </a:rPr>
              <a:t>(VMCS)</a:t>
            </a:r>
            <a:r>
              <a:rPr dirty="0" sz="1400" spc="-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C00000"/>
                </a:solidFill>
                <a:latin typeface="Calibri"/>
                <a:cs typeface="Calibri"/>
              </a:rPr>
              <a:t>Field</a:t>
            </a:r>
            <a:r>
              <a:rPr dirty="0" sz="1400" spc="-5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C00000"/>
                </a:solidFill>
                <a:latin typeface="Calibri"/>
                <a:cs typeface="Calibri"/>
              </a:rPr>
              <a:t>IDs</a:t>
            </a:r>
            <a:r>
              <a:rPr dirty="0" sz="14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C00000"/>
                </a:solidFill>
                <a:latin typeface="Calibri"/>
                <a:cs typeface="Calibri"/>
              </a:rPr>
              <a:t>used</a:t>
            </a:r>
            <a:r>
              <a:rPr dirty="0" sz="1400" spc="-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C00000"/>
                </a:solidFill>
                <a:latin typeface="Calibri"/>
                <a:cs typeface="Calibri"/>
              </a:rPr>
              <a:t>by</a:t>
            </a:r>
            <a:r>
              <a:rPr dirty="0" sz="140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dirty="0" sz="1400" spc="-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C00000"/>
                </a:solidFill>
                <a:latin typeface="Calibri"/>
                <a:cs typeface="Calibri"/>
              </a:rPr>
              <a:t>Hypervisor</a:t>
            </a:r>
            <a:r>
              <a:rPr dirty="0" sz="1400" spc="-4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C00000"/>
                </a:solidFill>
                <a:latin typeface="Calibri"/>
                <a:cs typeface="Calibri"/>
              </a:rPr>
              <a:t>framework</a:t>
            </a:r>
            <a:r>
              <a:rPr dirty="0" sz="1400" spc="-6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C00000"/>
                </a:solidFill>
                <a:latin typeface="Calibri"/>
                <a:cs typeface="Calibri"/>
              </a:rPr>
              <a:t>read</a:t>
            </a:r>
            <a:r>
              <a:rPr dirty="0" sz="140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14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C00000"/>
                </a:solidFill>
                <a:latin typeface="Calibri"/>
                <a:cs typeface="Calibri"/>
              </a:rPr>
              <a:t>write</a:t>
            </a:r>
            <a:r>
              <a:rPr dirty="0" sz="1400" spc="-4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C00000"/>
                </a:solidFill>
                <a:latin typeface="Calibri"/>
                <a:cs typeface="Calibri"/>
              </a:rPr>
              <a:t>functions.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32343" y="0"/>
            <a:ext cx="754907" cy="139051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484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350"/>
              </a:spcBef>
            </a:pP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EPT</a:t>
            </a:r>
            <a:r>
              <a:rPr dirty="0" sz="2200" spc="-6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(Extended</a:t>
            </a:r>
            <a:r>
              <a:rPr dirty="0" sz="2200" spc="-1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Page</a:t>
            </a:r>
            <a:r>
              <a:rPr dirty="0" sz="2200" spc="-5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Tables)</a:t>
            </a:r>
            <a:r>
              <a:rPr dirty="0" sz="2200" spc="-3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:</a:t>
            </a:r>
            <a:r>
              <a:rPr dirty="0" sz="2200" spc="-4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C55A11"/>
                </a:solidFill>
                <a:latin typeface="Arial"/>
                <a:cs typeface="Arial"/>
              </a:rPr>
              <a:t>Performance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8932" y="1598275"/>
            <a:ext cx="8849479" cy="399471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06424" y="6175247"/>
            <a:ext cx="7185659" cy="429895"/>
          </a:xfrm>
          <a:prstGeom prst="rect">
            <a:avLst/>
          </a:prstGeom>
          <a:solidFill>
            <a:srgbClr val="006FC0"/>
          </a:solidFill>
        </p:spPr>
        <p:txBody>
          <a:bodyPr wrap="square" lIns="0" tIns="3048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40"/>
              </a:spcBef>
            </a:pP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Summarily</a:t>
            </a:r>
            <a:r>
              <a:rPr dirty="0" sz="22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EPT</a:t>
            </a:r>
            <a:r>
              <a:rPr dirty="0" sz="22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improves</a:t>
            </a:r>
            <a:r>
              <a:rPr dirty="0" sz="22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Memory</a:t>
            </a:r>
            <a:r>
              <a:rPr dirty="0" sz="2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Virtualization</a:t>
            </a:r>
            <a:r>
              <a:rPr dirty="0" sz="22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Performance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32343" y="0"/>
            <a:ext cx="754907" cy="139051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88265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94615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I/O</a:t>
            </a:r>
            <a:r>
              <a:rPr dirty="0" spc="-3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virtualization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46659" y="1402372"/>
            <a:ext cx="11491595" cy="5422900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85"/>
              </a:spcBef>
              <a:buClr>
                <a:srgbClr val="833B0A"/>
              </a:buClr>
              <a:buChar char="▪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I/O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virtualization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(IOV),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input/output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virtualization,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technology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software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abstract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upper-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480"/>
              </a:spcBef>
            </a:pPr>
            <a:r>
              <a:rPr dirty="0" sz="2000">
                <a:latin typeface="Calibri"/>
                <a:cs typeface="Calibri"/>
              </a:rPr>
              <a:t>layer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protocols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physical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connections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physical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transports.</a:t>
            </a:r>
            <a:endParaRPr sz="2000">
              <a:latin typeface="Calibri"/>
              <a:cs typeface="Calibri"/>
            </a:endParaRPr>
          </a:p>
          <a:p>
            <a:pPr marL="355600" marR="460375" indent="-342900">
              <a:lnSpc>
                <a:spcPct val="120000"/>
              </a:lnSpc>
              <a:spcBef>
                <a:spcPts val="600"/>
              </a:spcBef>
              <a:buClr>
                <a:srgbClr val="833B0A"/>
              </a:buClr>
              <a:buChar char="▪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I/O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virtualization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involves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managing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routing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I/O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requests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between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virtual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devices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shared </a:t>
            </a:r>
            <a:r>
              <a:rPr dirty="0" sz="2000">
                <a:latin typeface="Calibri"/>
                <a:cs typeface="Calibri"/>
              </a:rPr>
              <a:t>physical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hardware.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Clr>
                <a:srgbClr val="833B0A"/>
              </a:buClr>
              <a:buChar char="▪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Three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ways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implement I/O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virtualization:</a:t>
            </a:r>
            <a:endParaRPr sz="2000">
              <a:latin typeface="Calibri"/>
              <a:cs typeface="Calibri"/>
            </a:endParaRPr>
          </a:p>
          <a:p>
            <a:pPr lvl="1" marL="911860" indent="-457200">
              <a:lnSpc>
                <a:spcPct val="100000"/>
              </a:lnSpc>
              <a:spcBef>
                <a:spcPts val="204"/>
              </a:spcBef>
              <a:buClr>
                <a:srgbClr val="833B0A"/>
              </a:buClr>
              <a:buAutoNum type="arabicPeriod"/>
              <a:tabLst>
                <a:tab pos="911860" algn="l"/>
              </a:tabLst>
            </a:pPr>
            <a:r>
              <a:rPr dirty="0" sz="2000">
                <a:latin typeface="Calibri"/>
                <a:cs typeface="Calibri"/>
              </a:rPr>
              <a:t>Full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device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Emulation</a:t>
            </a:r>
            <a:endParaRPr sz="2000">
              <a:latin typeface="Calibri"/>
              <a:cs typeface="Calibri"/>
            </a:endParaRPr>
          </a:p>
          <a:p>
            <a:pPr lvl="1" marL="911860" indent="-457200">
              <a:lnSpc>
                <a:spcPct val="100000"/>
              </a:lnSpc>
              <a:buClr>
                <a:srgbClr val="833B0A"/>
              </a:buClr>
              <a:buAutoNum type="arabicPeriod"/>
              <a:tabLst>
                <a:tab pos="911860" algn="l"/>
              </a:tabLst>
            </a:pPr>
            <a:r>
              <a:rPr dirty="0" sz="2000" spc="-20">
                <a:latin typeface="Calibri"/>
                <a:cs typeface="Calibri"/>
              </a:rPr>
              <a:t>Para-</a:t>
            </a:r>
            <a:r>
              <a:rPr dirty="0" sz="2000" spc="-10">
                <a:latin typeface="Calibri"/>
                <a:cs typeface="Calibri"/>
              </a:rPr>
              <a:t>Virtualization</a:t>
            </a:r>
            <a:endParaRPr sz="2000">
              <a:latin typeface="Calibri"/>
              <a:cs typeface="Calibri"/>
            </a:endParaRPr>
          </a:p>
          <a:p>
            <a:pPr lvl="1" marL="911860" indent="-457200">
              <a:lnSpc>
                <a:spcPct val="100000"/>
              </a:lnSpc>
              <a:buClr>
                <a:srgbClr val="833B0A"/>
              </a:buClr>
              <a:buAutoNum type="arabicPeriod"/>
              <a:tabLst>
                <a:tab pos="911860" algn="l"/>
              </a:tabLst>
            </a:pPr>
            <a:r>
              <a:rPr dirty="0" sz="2000">
                <a:latin typeface="Calibri"/>
                <a:cs typeface="Calibri"/>
              </a:rPr>
              <a:t>Direct</a:t>
            </a:r>
            <a:r>
              <a:rPr dirty="0" sz="2000" spc="-25">
                <a:latin typeface="Calibri"/>
                <a:cs typeface="Calibri"/>
              </a:rPr>
              <a:t> I/O</a:t>
            </a:r>
            <a:endParaRPr sz="2000">
              <a:latin typeface="Calibri"/>
              <a:cs typeface="Calibri"/>
            </a:endParaRPr>
          </a:p>
          <a:p>
            <a:pPr marL="266700" indent="-254000">
              <a:lnSpc>
                <a:spcPct val="100000"/>
              </a:lnSpc>
              <a:spcBef>
                <a:spcPts val="880"/>
              </a:spcBef>
              <a:buAutoNum type="arabicPeriod"/>
              <a:tabLst>
                <a:tab pos="266700" algn="l"/>
              </a:tabLst>
            </a:pP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Full</a:t>
            </a:r>
            <a:r>
              <a:rPr dirty="0" sz="20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device</a:t>
            </a:r>
            <a:r>
              <a:rPr dirty="0" sz="2000" spc="-2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emulation</a:t>
            </a:r>
            <a:endParaRPr sz="2000">
              <a:latin typeface="Calibri"/>
              <a:cs typeface="Calibri"/>
            </a:endParaRPr>
          </a:p>
          <a:p>
            <a:pPr lvl="1" marL="354965" indent="-342265">
              <a:lnSpc>
                <a:spcPct val="100000"/>
              </a:lnSpc>
              <a:spcBef>
                <a:spcPts val="1080"/>
              </a:spcBef>
              <a:buClr>
                <a:srgbClr val="833B0A"/>
              </a:buClr>
              <a:buChar char="▪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Full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device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emulates </a:t>
            </a:r>
            <a:r>
              <a:rPr dirty="0" sz="2000" spc="-10">
                <a:latin typeface="Calibri"/>
                <a:cs typeface="Calibri"/>
              </a:rPr>
              <a:t>well-</a:t>
            </a:r>
            <a:r>
              <a:rPr dirty="0" sz="2000">
                <a:latin typeface="Calibri"/>
                <a:cs typeface="Calibri"/>
              </a:rPr>
              <a:t>known,</a:t>
            </a:r>
            <a:r>
              <a:rPr dirty="0" sz="2000" spc="-20">
                <a:latin typeface="Calibri"/>
                <a:cs typeface="Calibri"/>
              </a:rPr>
              <a:t> real-</a:t>
            </a:r>
            <a:r>
              <a:rPr dirty="0" sz="2000">
                <a:latin typeface="Calibri"/>
                <a:cs typeface="Calibri"/>
              </a:rPr>
              <a:t>world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devices.</a:t>
            </a:r>
            <a:endParaRPr sz="2000">
              <a:latin typeface="Calibri"/>
              <a:cs typeface="Calibri"/>
            </a:endParaRPr>
          </a:p>
          <a:p>
            <a:pPr lvl="2" marL="733425" marR="1134745" indent="-361950">
              <a:lnSpc>
                <a:spcPct val="120000"/>
              </a:lnSpc>
              <a:spcBef>
                <a:spcPts val="600"/>
              </a:spcBef>
              <a:buClr>
                <a:srgbClr val="833B0A"/>
              </a:buClr>
              <a:buChar char="▪"/>
              <a:tabLst>
                <a:tab pos="733425" algn="l"/>
              </a:tabLst>
            </a:pPr>
            <a:r>
              <a:rPr dirty="0" sz="2000">
                <a:latin typeface="Calibri"/>
                <a:cs typeface="Calibri"/>
              </a:rPr>
              <a:t>All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functions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device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bus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infrastructure, </a:t>
            </a:r>
            <a:r>
              <a:rPr dirty="0" sz="2000">
                <a:latin typeface="Calibri"/>
                <a:cs typeface="Calibri"/>
              </a:rPr>
              <a:t>such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device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enumeration,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identification, </a:t>
            </a:r>
            <a:r>
              <a:rPr dirty="0" sz="2000">
                <a:latin typeface="Calibri"/>
                <a:cs typeface="Calibri"/>
              </a:rPr>
              <a:t>interrupts,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DMA,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replicated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software.</a:t>
            </a:r>
            <a:endParaRPr sz="2000">
              <a:latin typeface="Calibri"/>
              <a:cs typeface="Calibri"/>
            </a:endParaRPr>
          </a:p>
          <a:p>
            <a:pPr lvl="2" marL="733425" indent="-361315">
              <a:lnSpc>
                <a:spcPct val="100000"/>
              </a:lnSpc>
              <a:spcBef>
                <a:spcPts val="1080"/>
              </a:spcBef>
              <a:buClr>
                <a:srgbClr val="833B0A"/>
              </a:buClr>
              <a:buChar char="▪"/>
              <a:tabLst>
                <a:tab pos="733425" algn="l"/>
              </a:tabLst>
            </a:pP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software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located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VMM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acts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virtual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device.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I/O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access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requests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guest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OS</a:t>
            </a:r>
            <a:endParaRPr sz="2000">
              <a:latin typeface="Calibri"/>
              <a:cs typeface="Calibri"/>
            </a:endParaRPr>
          </a:p>
          <a:p>
            <a:pPr marL="733425">
              <a:lnSpc>
                <a:spcPct val="100000"/>
              </a:lnSpc>
              <a:spcBef>
                <a:spcPts val="484"/>
              </a:spcBef>
            </a:pP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trapped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VMM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interacts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I/O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devices.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76224" y="230251"/>
            <a:ext cx="260286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6224" y="702945"/>
            <a:ext cx="539559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C55A11"/>
                </a:solidFill>
                <a:latin typeface="Arial"/>
                <a:cs typeface="Arial"/>
              </a:rPr>
              <a:t>1.</a:t>
            </a:r>
            <a:r>
              <a:rPr dirty="0" sz="2000" spc="-3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C55A11"/>
                </a:solidFill>
                <a:latin typeface="Arial"/>
                <a:cs typeface="Arial"/>
              </a:rPr>
              <a:t>Full</a:t>
            </a:r>
            <a:r>
              <a:rPr dirty="0" sz="2000" spc="-2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C55A11"/>
                </a:solidFill>
                <a:latin typeface="Arial"/>
                <a:cs typeface="Arial"/>
              </a:rPr>
              <a:t>Device</a:t>
            </a:r>
            <a:r>
              <a:rPr dirty="0" sz="2000" spc="-1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C55A11"/>
                </a:solidFill>
                <a:latin typeface="Arial"/>
                <a:cs typeface="Arial"/>
              </a:rPr>
              <a:t>emulation</a:t>
            </a:r>
            <a:r>
              <a:rPr dirty="0" sz="2000" spc="-3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C55A11"/>
                </a:solidFill>
                <a:latin typeface="Arial"/>
                <a:cs typeface="Arial"/>
              </a:rPr>
              <a:t>for</a:t>
            </a:r>
            <a:r>
              <a:rPr dirty="0" sz="2000" spc="-3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C55A11"/>
                </a:solidFill>
                <a:latin typeface="Arial"/>
                <a:cs typeface="Arial"/>
              </a:rPr>
              <a:t>I/O</a:t>
            </a:r>
            <a:r>
              <a:rPr dirty="0" sz="2000" spc="-2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C55A11"/>
                </a:solidFill>
                <a:latin typeface="Arial"/>
                <a:cs typeface="Arial"/>
              </a:rPr>
              <a:t>Virtualization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32343" y="0"/>
            <a:ext cx="754907" cy="139051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9622" y="1572047"/>
            <a:ext cx="7977385" cy="398110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06044" y="6027216"/>
            <a:ext cx="11078845" cy="6375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0499"/>
              </a:lnSpc>
              <a:spcBef>
                <a:spcPts val="90"/>
              </a:spcBef>
            </a:pP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Device</a:t>
            </a:r>
            <a:r>
              <a:rPr dirty="0" sz="200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emulation</a:t>
            </a:r>
            <a:r>
              <a:rPr dirty="0" sz="200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for</a:t>
            </a:r>
            <a:r>
              <a:rPr dirty="0" sz="2000" spc="-5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I/O</a:t>
            </a:r>
            <a:r>
              <a:rPr dirty="0" sz="2000" spc="-5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virtualization</a:t>
            </a:r>
            <a:r>
              <a:rPr dirty="0" sz="20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C00000"/>
                </a:solidFill>
                <a:latin typeface="Calibri"/>
                <a:cs typeface="Calibri"/>
              </a:rPr>
              <a:t>implemented</a:t>
            </a:r>
            <a:r>
              <a:rPr dirty="0" sz="2000" spc="-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inside</a:t>
            </a:r>
            <a:r>
              <a:rPr dirty="0" sz="2000" spc="-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dirty="0" sz="200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middle</a:t>
            </a:r>
            <a:r>
              <a:rPr dirty="0" sz="2000" spc="-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layer</a:t>
            </a:r>
            <a:r>
              <a:rPr dirty="0" sz="2000" spc="-4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that</a:t>
            </a:r>
            <a:r>
              <a:rPr dirty="0" sz="2000" spc="-5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maps</a:t>
            </a:r>
            <a:r>
              <a:rPr dirty="0" sz="20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real</a:t>
            </a:r>
            <a:r>
              <a:rPr dirty="0" sz="2000" spc="-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I/O</a:t>
            </a:r>
            <a:r>
              <a:rPr dirty="0" sz="2000" spc="-5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devices</a:t>
            </a:r>
            <a:r>
              <a:rPr dirty="0" sz="2000" spc="-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C00000"/>
                </a:solidFill>
                <a:latin typeface="Calibri"/>
                <a:cs typeface="Calibri"/>
              </a:rPr>
              <a:t>into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dirty="0" sz="20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virtual</a:t>
            </a:r>
            <a:r>
              <a:rPr dirty="0" sz="20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devices</a:t>
            </a:r>
            <a:r>
              <a:rPr dirty="0" sz="2000" spc="-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for</a:t>
            </a:r>
            <a:r>
              <a:rPr dirty="0" sz="20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dirty="0" sz="20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guest</a:t>
            </a:r>
            <a:r>
              <a:rPr dirty="0" sz="2000" spc="-4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device</a:t>
            </a:r>
            <a:r>
              <a:rPr dirty="0" sz="2000" spc="-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driver</a:t>
            </a:r>
            <a:r>
              <a:rPr dirty="0" sz="2000" spc="-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to</a:t>
            </a:r>
            <a:r>
              <a:rPr dirty="0" sz="200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C00000"/>
                </a:solidFill>
                <a:latin typeface="Calibri"/>
                <a:cs typeface="Calibri"/>
              </a:rPr>
              <a:t>use.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53085" y="269494"/>
            <a:ext cx="260286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32343" y="0"/>
            <a:ext cx="754907" cy="139051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01253" y="1991867"/>
            <a:ext cx="3419475" cy="408736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27482" y="668273"/>
            <a:ext cx="11393170" cy="56864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6710" indent="-302260">
              <a:lnSpc>
                <a:spcPct val="100000"/>
              </a:lnSpc>
              <a:spcBef>
                <a:spcPts val="100"/>
              </a:spcBef>
              <a:buAutoNum type="arabicPeriod" startAt="2"/>
              <a:tabLst>
                <a:tab pos="346710" algn="l"/>
              </a:tabLst>
            </a:pPr>
            <a:r>
              <a:rPr dirty="0" sz="2400" spc="-20" b="1">
                <a:solidFill>
                  <a:srgbClr val="C55A11"/>
                </a:solidFill>
                <a:latin typeface="Calibri"/>
                <a:cs typeface="Calibri"/>
              </a:rPr>
              <a:t>Para-</a:t>
            </a:r>
            <a:r>
              <a:rPr dirty="0" sz="2400" spc="-25" b="1">
                <a:solidFill>
                  <a:srgbClr val="C55A11"/>
                </a:solidFill>
                <a:latin typeface="Calibri"/>
                <a:cs typeface="Calibri"/>
              </a:rPr>
              <a:t>I/O-</a:t>
            </a:r>
            <a:r>
              <a:rPr dirty="0" sz="2400" b="1">
                <a:solidFill>
                  <a:srgbClr val="C55A11"/>
                </a:solidFill>
                <a:latin typeface="Calibri"/>
                <a:cs typeface="Calibri"/>
              </a:rPr>
              <a:t>Virtualization or</a:t>
            </a:r>
            <a:r>
              <a:rPr dirty="0" sz="2400" spc="-45" b="1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55A11"/>
                </a:solidFill>
                <a:latin typeface="Calibri"/>
                <a:cs typeface="Calibri"/>
              </a:rPr>
              <a:t>Split</a:t>
            </a:r>
            <a:r>
              <a:rPr dirty="0" sz="2400" spc="-35" b="1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55A11"/>
                </a:solidFill>
                <a:latin typeface="Calibri"/>
                <a:cs typeface="Calibri"/>
              </a:rPr>
              <a:t>Driver</a:t>
            </a:r>
            <a:r>
              <a:rPr dirty="0" sz="2400" spc="-40" b="1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55A11"/>
                </a:solidFill>
                <a:latin typeface="Calibri"/>
                <a:cs typeface="Calibri"/>
              </a:rPr>
              <a:t>or</a:t>
            </a:r>
            <a:r>
              <a:rPr dirty="0" sz="2400" spc="-45" b="1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55A11"/>
                </a:solidFill>
                <a:latin typeface="Calibri"/>
                <a:cs typeface="Calibri"/>
              </a:rPr>
              <a:t>Hosted</a:t>
            </a:r>
            <a:r>
              <a:rPr dirty="0" sz="2400" spc="-20" b="1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55A11"/>
                </a:solidFill>
                <a:latin typeface="Calibri"/>
                <a:cs typeface="Calibri"/>
              </a:rPr>
              <a:t>I/O</a:t>
            </a:r>
            <a:r>
              <a:rPr dirty="0" sz="2400" spc="-30" b="1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Calibri"/>
                <a:cs typeface="Calibri"/>
              </a:rPr>
              <a:t>Virtualization</a:t>
            </a:r>
            <a:endParaRPr sz="2400">
              <a:latin typeface="Calibri"/>
              <a:cs typeface="Calibri"/>
            </a:endParaRPr>
          </a:p>
          <a:p>
            <a:pPr lvl="1" marL="387350" marR="5080" indent="-342900">
              <a:lnSpc>
                <a:spcPct val="110000"/>
              </a:lnSpc>
              <a:spcBef>
                <a:spcPts val="2205"/>
              </a:spcBef>
              <a:buClr>
                <a:srgbClr val="833B0A"/>
              </a:buClr>
              <a:buChar char="▪"/>
              <a:tabLst>
                <a:tab pos="387350" algn="l"/>
              </a:tabLst>
            </a:pPr>
            <a:r>
              <a:rPr dirty="0" sz="2200">
                <a:latin typeface="Calibri"/>
                <a:cs typeface="Calibri"/>
              </a:rPr>
              <a:t>It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also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known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Hosted</a:t>
            </a:r>
            <a:r>
              <a:rPr dirty="0" sz="2200" spc="-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split</a:t>
            </a:r>
            <a:r>
              <a:rPr dirty="0" sz="2200" spc="-4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driver</a:t>
            </a:r>
            <a:r>
              <a:rPr dirty="0" sz="2200" spc="-2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model </a:t>
            </a:r>
            <a:r>
              <a:rPr dirty="0" sz="2200">
                <a:latin typeface="Calibri"/>
                <a:cs typeface="Calibri"/>
              </a:rPr>
              <a:t>consisting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frontend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driver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backend driver.</a:t>
            </a:r>
            <a:endParaRPr sz="2200">
              <a:latin typeface="Calibri"/>
              <a:cs typeface="Calibri"/>
            </a:endParaRPr>
          </a:p>
          <a:p>
            <a:pPr lvl="1" marL="355600" marR="3709035" indent="-342900">
              <a:lnSpc>
                <a:spcPct val="110000"/>
              </a:lnSpc>
              <a:spcBef>
                <a:spcPts val="830"/>
              </a:spcBef>
              <a:buClr>
                <a:srgbClr val="833B0A"/>
              </a:buClr>
              <a:buChar char="▪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frontend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driver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running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Domain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(User/Guest)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the </a:t>
            </a:r>
            <a:r>
              <a:rPr dirty="0" sz="2200">
                <a:latin typeface="Calibri"/>
                <a:cs typeface="Calibri"/>
              </a:rPr>
              <a:t>backend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driver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running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Domain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0.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They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interact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with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each </a:t>
            </a:r>
            <a:r>
              <a:rPr dirty="0" sz="2200">
                <a:latin typeface="Calibri"/>
                <a:cs typeface="Calibri"/>
              </a:rPr>
              <a:t>other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via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block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48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shared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memory.</a:t>
            </a:r>
            <a:endParaRPr sz="2200">
              <a:latin typeface="Calibri"/>
              <a:cs typeface="Calibri"/>
            </a:endParaRPr>
          </a:p>
          <a:p>
            <a:pPr lvl="1" marL="355600" marR="3277870" indent="-342900">
              <a:lnSpc>
                <a:spcPct val="110000"/>
              </a:lnSpc>
              <a:spcBef>
                <a:spcPts val="305"/>
              </a:spcBef>
              <a:buClr>
                <a:srgbClr val="833B0A"/>
              </a:buClr>
              <a:buChar char="▪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frontend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driver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manages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I/O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requests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guest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OSes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and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backend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driver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responsible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managing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real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I/O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devices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multiplexing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I/O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data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different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VMs.</a:t>
            </a:r>
            <a:endParaRPr sz="2200">
              <a:latin typeface="Calibri"/>
              <a:cs typeface="Calibri"/>
            </a:endParaRPr>
          </a:p>
          <a:p>
            <a:pPr lvl="1" marL="355600" marR="3355975" indent="-342900">
              <a:lnSpc>
                <a:spcPct val="110000"/>
              </a:lnSpc>
              <a:spcBef>
                <a:spcPts val="300"/>
              </a:spcBef>
              <a:buClr>
                <a:srgbClr val="833B0A"/>
              </a:buClr>
              <a:buChar char="▪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Although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para-</a:t>
            </a:r>
            <a:r>
              <a:rPr dirty="0" sz="2200" spc="-20">
                <a:latin typeface="Calibri"/>
                <a:cs typeface="Calibri"/>
              </a:rPr>
              <a:t>I/O-</a:t>
            </a:r>
            <a:r>
              <a:rPr dirty="0" sz="2200">
                <a:latin typeface="Calibri"/>
                <a:cs typeface="Calibri"/>
              </a:rPr>
              <a:t>virtualization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achieves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better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device performance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full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device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emulation,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comes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with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higher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CPU </a:t>
            </a:r>
            <a:r>
              <a:rPr dirty="0" sz="2200" spc="-10">
                <a:latin typeface="Calibri"/>
                <a:cs typeface="Calibri"/>
              </a:rPr>
              <a:t>overhead.</a:t>
            </a:r>
            <a:endParaRPr sz="2200">
              <a:latin typeface="Calibri"/>
              <a:cs typeface="Calibri"/>
            </a:endParaRPr>
          </a:p>
          <a:p>
            <a:pPr lvl="1" marL="354965" indent="-342265">
              <a:lnSpc>
                <a:spcPct val="100000"/>
              </a:lnSpc>
              <a:spcBef>
                <a:spcPts val="560"/>
              </a:spcBef>
              <a:buClr>
                <a:srgbClr val="833B0A"/>
              </a:buClr>
              <a:buChar char="▪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Para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virtualization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method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I/O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virtualization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typically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used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in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265"/>
              </a:spcBef>
            </a:pPr>
            <a:r>
              <a:rPr dirty="0" sz="2200" spc="-25">
                <a:latin typeface="Calibri"/>
                <a:cs typeface="Calibri"/>
              </a:rPr>
              <a:t>Xen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57352" y="270509"/>
            <a:ext cx="260286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</p:txBody>
      </p:sp>
      <p:sp>
        <p:nvSpPr>
          <p:cNvPr id="6" name="object 6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" name="object 2"/>
          <p:cNvGrpSpPr/>
          <p:nvPr/>
        </p:nvGrpSpPr>
        <p:grpSpPr>
          <a:xfrm>
            <a:off x="9982200" y="0"/>
            <a:ext cx="2105660" cy="5255260"/>
            <a:chOff x="9982200" y="0"/>
            <a:chExt cx="2105660" cy="52552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32344" y="0"/>
              <a:ext cx="754907" cy="139051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82200" y="1368552"/>
              <a:ext cx="1999488" cy="388620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57352" y="669163"/>
            <a:ext cx="11830685" cy="5887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4960" indent="-302260">
              <a:lnSpc>
                <a:spcPct val="100000"/>
              </a:lnSpc>
              <a:spcBef>
                <a:spcPts val="100"/>
              </a:spcBef>
              <a:buAutoNum type="arabicPeriod" startAt="3"/>
              <a:tabLst>
                <a:tab pos="314960" algn="l"/>
              </a:tabLst>
            </a:pPr>
            <a:r>
              <a:rPr dirty="0" sz="2400" b="1">
                <a:solidFill>
                  <a:srgbClr val="C55A11"/>
                </a:solidFill>
                <a:latin typeface="Calibri"/>
                <a:cs typeface="Calibri"/>
              </a:rPr>
              <a:t>Direct</a:t>
            </a:r>
            <a:r>
              <a:rPr dirty="0" sz="2400" spc="-50" b="1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55A11"/>
                </a:solidFill>
                <a:latin typeface="Calibri"/>
                <a:cs typeface="Calibri"/>
              </a:rPr>
              <a:t>I/O</a:t>
            </a:r>
            <a:r>
              <a:rPr dirty="0" sz="2400" spc="-45" b="1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55A11"/>
                </a:solidFill>
                <a:latin typeface="Calibri"/>
                <a:cs typeface="Calibri"/>
              </a:rPr>
              <a:t>(or</a:t>
            </a:r>
            <a:r>
              <a:rPr dirty="0" sz="2400" spc="-60" b="1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55A11"/>
                </a:solidFill>
                <a:latin typeface="Calibri"/>
                <a:cs typeface="Calibri"/>
              </a:rPr>
              <a:t>Passthrough)</a:t>
            </a:r>
            <a:r>
              <a:rPr dirty="0" sz="2400" spc="-40" b="1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55A11"/>
                </a:solidFill>
                <a:latin typeface="Calibri"/>
                <a:cs typeface="Calibri"/>
              </a:rPr>
              <a:t>I/O</a:t>
            </a:r>
            <a:r>
              <a:rPr dirty="0" sz="2400" spc="-40" b="1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Calibri"/>
                <a:cs typeface="Calibri"/>
              </a:rPr>
              <a:t>Virtualization</a:t>
            </a:r>
            <a:endParaRPr sz="2400">
              <a:latin typeface="Calibri"/>
              <a:cs typeface="Calibri"/>
            </a:endParaRPr>
          </a:p>
          <a:p>
            <a:pPr lvl="1" marL="386715" indent="-342900">
              <a:lnSpc>
                <a:spcPct val="100000"/>
              </a:lnSpc>
              <a:spcBef>
                <a:spcPts val="2470"/>
              </a:spcBef>
              <a:buClr>
                <a:srgbClr val="833B0A"/>
              </a:buClr>
              <a:buChar char="▪"/>
              <a:tabLst>
                <a:tab pos="386715" algn="l"/>
              </a:tabLst>
            </a:pPr>
            <a:r>
              <a:rPr dirty="0" sz="2000">
                <a:latin typeface="Calibri"/>
                <a:cs typeface="Calibri"/>
              </a:rPr>
              <a:t>Direct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I/O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virtualization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lets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VM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access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devices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directly.</a:t>
            </a:r>
            <a:endParaRPr sz="2000">
              <a:latin typeface="Calibri"/>
              <a:cs typeface="Calibri"/>
            </a:endParaRPr>
          </a:p>
          <a:p>
            <a:pPr lvl="1" marL="386715" indent="-342900">
              <a:lnSpc>
                <a:spcPct val="100000"/>
              </a:lnSpc>
              <a:spcBef>
                <a:spcPts val="280"/>
              </a:spcBef>
              <a:buClr>
                <a:srgbClr val="833B0A"/>
              </a:buClr>
              <a:buChar char="▪"/>
              <a:tabLst>
                <a:tab pos="386715" algn="l"/>
              </a:tabLst>
            </a:pP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achieve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close-to-</a:t>
            </a:r>
            <a:r>
              <a:rPr dirty="0" sz="2000">
                <a:latin typeface="Calibri"/>
                <a:cs typeface="Calibri"/>
              </a:rPr>
              <a:t>native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performance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without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high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CPU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costs.</a:t>
            </a:r>
            <a:endParaRPr sz="2000">
              <a:latin typeface="Calibri"/>
              <a:cs typeface="Calibri"/>
            </a:endParaRPr>
          </a:p>
          <a:p>
            <a:pPr lvl="1" marL="386715" indent="-342900">
              <a:lnSpc>
                <a:spcPct val="100000"/>
              </a:lnSpc>
              <a:spcBef>
                <a:spcPts val="480"/>
              </a:spcBef>
              <a:buClr>
                <a:srgbClr val="833B0A"/>
              </a:buClr>
              <a:buChar char="▪"/>
              <a:tabLst>
                <a:tab pos="386715" algn="l"/>
              </a:tabLst>
            </a:pPr>
            <a:r>
              <a:rPr dirty="0" sz="2000">
                <a:latin typeface="Calibri"/>
                <a:cs typeface="Calibri"/>
              </a:rPr>
              <a:t>Enables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device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directly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DMA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to/from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host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memory.</a:t>
            </a:r>
            <a:endParaRPr sz="2000">
              <a:latin typeface="Calibri"/>
              <a:cs typeface="Calibri"/>
            </a:endParaRPr>
          </a:p>
          <a:p>
            <a:pPr lvl="2" marL="836294" marR="2259965" indent="-361315">
              <a:lnSpc>
                <a:spcPct val="100499"/>
              </a:lnSpc>
              <a:spcBef>
                <a:spcPts val="180"/>
              </a:spcBef>
              <a:buClr>
                <a:srgbClr val="833B0A"/>
              </a:buClr>
              <a:buFont typeface="Arial"/>
              <a:buChar char="•"/>
              <a:tabLst>
                <a:tab pos="836294" algn="l"/>
              </a:tabLst>
            </a:pP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technique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thus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provides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ability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bypass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VMM’s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I/O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emulation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layer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and </a:t>
            </a:r>
            <a:r>
              <a:rPr dirty="0" sz="2000">
                <a:latin typeface="Calibri"/>
                <a:cs typeface="Calibri"/>
              </a:rPr>
              <a:t>therefore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shows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improved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throughput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VM’s.</a:t>
            </a:r>
            <a:endParaRPr sz="2000">
              <a:latin typeface="Calibri"/>
              <a:cs typeface="Calibri"/>
            </a:endParaRPr>
          </a:p>
          <a:p>
            <a:pPr lvl="1" marL="386715" indent="-342900">
              <a:lnSpc>
                <a:spcPct val="100000"/>
              </a:lnSpc>
              <a:spcBef>
                <a:spcPts val="275"/>
              </a:spcBef>
              <a:buClr>
                <a:srgbClr val="833B0A"/>
              </a:buClr>
              <a:buChar char="▪"/>
              <a:tabLst>
                <a:tab pos="386715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Intel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VT-</a:t>
            </a:r>
            <a:r>
              <a:rPr dirty="0" sz="2000">
                <a:latin typeface="Calibri"/>
                <a:cs typeface="Calibri"/>
              </a:rPr>
              <a:t>x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technology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allows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VM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have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direct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access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physical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address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(if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so</a:t>
            </a:r>
            <a:endParaRPr sz="2000">
              <a:latin typeface="Calibri"/>
              <a:cs typeface="Calibri"/>
            </a:endParaRPr>
          </a:p>
          <a:p>
            <a:pPr marL="386715">
              <a:lnSpc>
                <a:spcPct val="100000"/>
              </a:lnSpc>
              <a:spcBef>
                <a:spcPts val="484"/>
              </a:spcBef>
            </a:pPr>
            <a:r>
              <a:rPr dirty="0" sz="2000">
                <a:latin typeface="Calibri"/>
                <a:cs typeface="Calibri"/>
              </a:rPr>
              <a:t>configured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VMM).</a:t>
            </a:r>
            <a:endParaRPr sz="2000">
              <a:latin typeface="Calibri"/>
              <a:cs typeface="Calibri"/>
            </a:endParaRPr>
          </a:p>
          <a:p>
            <a:pPr lvl="1" marL="386715" marR="2423795" indent="-342900">
              <a:lnSpc>
                <a:spcPct val="120000"/>
              </a:lnSpc>
              <a:buClr>
                <a:srgbClr val="833B0A"/>
              </a:buClr>
              <a:buChar char="▪"/>
              <a:tabLst>
                <a:tab pos="386715" algn="l"/>
              </a:tabLst>
            </a:pP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ability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allows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device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driver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within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VM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able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write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directly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registers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IO </a:t>
            </a:r>
            <a:r>
              <a:rPr dirty="0" sz="2000">
                <a:latin typeface="Calibri"/>
                <a:cs typeface="Calibri"/>
              </a:rPr>
              <a:t>device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(such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configuring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DMA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descriptors).</a:t>
            </a:r>
            <a:endParaRPr sz="2000">
              <a:latin typeface="Calibri"/>
              <a:cs typeface="Calibri"/>
            </a:endParaRPr>
          </a:p>
          <a:p>
            <a:pPr lvl="1" marL="386715" indent="-342900">
              <a:lnSpc>
                <a:spcPct val="100000"/>
              </a:lnSpc>
              <a:spcBef>
                <a:spcPts val="480"/>
              </a:spcBef>
              <a:buChar char="▪"/>
              <a:tabLst>
                <a:tab pos="386715" algn="l"/>
              </a:tabLst>
            </a:pPr>
            <a:r>
              <a:rPr dirty="0" sz="2000" spc="-10">
                <a:latin typeface="Calibri"/>
                <a:cs typeface="Calibri"/>
              </a:rPr>
              <a:t>VT-</a:t>
            </a:r>
            <a:r>
              <a:rPr dirty="0" sz="2000">
                <a:latin typeface="Calibri"/>
                <a:cs typeface="Calibri"/>
              </a:rPr>
              <a:t>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extensions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add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virtualization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support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Intel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chipsets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assign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specific</a:t>
            </a:r>
            <a:r>
              <a:rPr dirty="0" sz="2000" spc="-25">
                <a:latin typeface="Calibri"/>
                <a:cs typeface="Calibri"/>
              </a:rPr>
              <a:t> I/O</a:t>
            </a:r>
            <a:endParaRPr sz="2000">
              <a:latin typeface="Calibri"/>
              <a:cs typeface="Calibri"/>
            </a:endParaRPr>
          </a:p>
          <a:p>
            <a:pPr marL="386715">
              <a:lnSpc>
                <a:spcPct val="100000"/>
              </a:lnSpc>
              <a:spcBef>
                <a:spcPts val="480"/>
              </a:spcBef>
            </a:pPr>
            <a:r>
              <a:rPr dirty="0" sz="2000">
                <a:latin typeface="Calibri"/>
                <a:cs typeface="Calibri"/>
              </a:rPr>
              <a:t>devices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specific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virtual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machines</a:t>
            </a:r>
            <a:endParaRPr sz="2000">
              <a:latin typeface="Calibri"/>
              <a:cs typeface="Calibri"/>
            </a:endParaRPr>
          </a:p>
          <a:p>
            <a:pPr lvl="1" marL="377190" indent="-342900">
              <a:lnSpc>
                <a:spcPct val="100000"/>
              </a:lnSpc>
              <a:spcBef>
                <a:spcPts val="10"/>
              </a:spcBef>
              <a:buClr>
                <a:srgbClr val="833B0A"/>
              </a:buClr>
              <a:buChar char="▪"/>
              <a:tabLst>
                <a:tab pos="377190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mechanism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doing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direct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assignment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varies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vendor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another.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However,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basic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idea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0">
                <a:latin typeface="Calibri"/>
                <a:cs typeface="Calibri"/>
              </a:rPr>
              <a:t> that</a:t>
            </a:r>
            <a:endParaRPr sz="2000">
              <a:latin typeface="Calibri"/>
              <a:cs typeface="Calibri"/>
            </a:endParaRPr>
          </a:p>
          <a:p>
            <a:pPr marL="377190">
              <a:lnSpc>
                <a:spcPct val="100000"/>
              </a:lnSpc>
              <a:spcBef>
                <a:spcPts val="480"/>
              </a:spcBef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VMM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utilizes and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configures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technologies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such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Intel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VT-</a:t>
            </a:r>
            <a:r>
              <a:rPr dirty="0" sz="2000">
                <a:latin typeface="Calibri"/>
                <a:cs typeface="Calibri"/>
              </a:rPr>
              <a:t>x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Intel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VT-</a:t>
            </a:r>
            <a:r>
              <a:rPr dirty="0" sz="2000">
                <a:latin typeface="Calibri"/>
                <a:cs typeface="Calibri"/>
              </a:rPr>
              <a:t>d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perform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address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translation</a:t>
            </a:r>
            <a:endParaRPr sz="2000">
              <a:latin typeface="Calibri"/>
              <a:cs typeface="Calibri"/>
            </a:endParaRPr>
          </a:p>
          <a:p>
            <a:pPr marL="377190">
              <a:lnSpc>
                <a:spcPct val="100000"/>
              </a:lnSpc>
              <a:spcBef>
                <a:spcPts val="480"/>
              </a:spcBef>
            </a:pPr>
            <a:r>
              <a:rPr dirty="0" sz="2000">
                <a:latin typeface="Calibri"/>
                <a:cs typeface="Calibri"/>
              </a:rPr>
              <a:t>when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sending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device.</a:t>
            </a:r>
            <a:endParaRPr sz="2000">
              <a:latin typeface="Calibri"/>
              <a:cs typeface="Calibri"/>
            </a:endParaRPr>
          </a:p>
          <a:p>
            <a:pPr lvl="2" marL="826769" indent="-361315">
              <a:lnSpc>
                <a:spcPct val="100000"/>
              </a:lnSpc>
              <a:spcBef>
                <a:spcPts val="195"/>
              </a:spcBef>
              <a:buClr>
                <a:srgbClr val="833B0A"/>
              </a:buClr>
              <a:buFont typeface="Arial"/>
              <a:buChar char="•"/>
              <a:tabLst>
                <a:tab pos="826769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main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concern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direct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assignment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limited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scalability,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physical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device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only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be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72083" y="6532270"/>
            <a:ext cx="21297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libri"/>
                <a:cs typeface="Calibri"/>
              </a:rPr>
              <a:t>assigned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VM.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24247" y="6633768"/>
            <a:ext cx="373634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Arial"/>
                <a:cs typeface="Arial"/>
              </a:rPr>
              <a:t>Ref:</a:t>
            </a:r>
            <a:r>
              <a:rPr dirty="0" sz="1100" spc="30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  <a:hlinkClick r:id="rId4"/>
              </a:rPr>
              <a:t>https://virtualizationdeepdive.wordpress.com/about/6-</a:t>
            </a:r>
            <a:r>
              <a:rPr dirty="0" sz="1100" spc="-25">
                <a:latin typeface="Arial"/>
                <a:cs typeface="Arial"/>
                <a:hlinkClick r:id="rId4"/>
              </a:rPr>
              <a:t>2/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56803" y="6595059"/>
            <a:ext cx="362648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Arial"/>
                <a:cs typeface="Arial"/>
                <a:hlinkClick r:id="rId5"/>
              </a:rPr>
              <a:t>https://download3.vmware.com/vmworld/2006/tac0080.pdf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32343" y="0"/>
            <a:ext cx="754907" cy="139051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9850" rIns="0" bIns="0" rtlCol="0" vert="horz">
            <a:spAutoFit/>
          </a:bodyPr>
          <a:lstStyle/>
          <a:p>
            <a:pPr marL="127635">
              <a:lnSpc>
                <a:spcPct val="100000"/>
              </a:lnSpc>
              <a:spcBef>
                <a:spcPts val="550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127635">
              <a:lnSpc>
                <a:spcPct val="100000"/>
              </a:lnSpc>
              <a:spcBef>
                <a:spcPts val="450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I/O</a:t>
            </a:r>
            <a:r>
              <a:rPr dirty="0" spc="-4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virtualization</a:t>
            </a:r>
            <a:r>
              <a:rPr dirty="0" spc="-5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:</a:t>
            </a:r>
            <a:r>
              <a:rPr dirty="0" spc="-1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Advantages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67690" y="1523389"/>
            <a:ext cx="11558270" cy="3876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18110">
              <a:lnSpc>
                <a:spcPct val="120100"/>
              </a:lnSpc>
              <a:spcBef>
                <a:spcPts val="100"/>
              </a:spcBef>
            </a:pP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Flexibility</a:t>
            </a:r>
            <a:r>
              <a:rPr dirty="0" sz="2200">
                <a:latin typeface="Calibri"/>
                <a:cs typeface="Calibri"/>
              </a:rPr>
              <a:t>: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Since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I/O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virtualization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involves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abstracting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upper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layer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protocols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from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underlying </a:t>
            </a:r>
            <a:r>
              <a:rPr dirty="0" sz="2200">
                <a:latin typeface="Calibri"/>
                <a:cs typeface="Calibri"/>
              </a:rPr>
              <a:t>physical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connections,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offers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greater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flexibility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terms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hardware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independence,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utilization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and </a:t>
            </a:r>
            <a:r>
              <a:rPr dirty="0" sz="2200">
                <a:latin typeface="Calibri"/>
                <a:cs typeface="Calibri"/>
              </a:rPr>
              <a:t>faster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provisioning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comparison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with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normal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NIC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HBA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cards.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Cost</a:t>
            </a:r>
            <a:r>
              <a:rPr dirty="0" sz="2200" spc="-4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minimization</a:t>
            </a:r>
            <a:r>
              <a:rPr dirty="0" sz="2200">
                <a:latin typeface="Calibri"/>
                <a:cs typeface="Calibri"/>
              </a:rPr>
              <a:t>: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I/O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virtualization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methodology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involves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using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fewer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cables,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cards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switch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ports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2200">
                <a:latin typeface="Calibri"/>
                <a:cs typeface="Calibri"/>
              </a:rPr>
              <a:t>without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compromising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network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I/O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performance.</a:t>
            </a:r>
            <a:endParaRPr sz="2200">
              <a:latin typeface="Calibri"/>
              <a:cs typeface="Calibri"/>
            </a:endParaRPr>
          </a:p>
          <a:p>
            <a:pPr marL="12700" marR="1236980">
              <a:lnSpc>
                <a:spcPct val="120000"/>
              </a:lnSpc>
              <a:spcBef>
                <a:spcPts val="605"/>
              </a:spcBef>
            </a:pP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Increased</a:t>
            </a:r>
            <a:r>
              <a:rPr dirty="0" sz="2200" spc="-3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density</a:t>
            </a:r>
            <a:r>
              <a:rPr dirty="0" sz="2200">
                <a:latin typeface="Calibri"/>
                <a:cs typeface="Calibri"/>
              </a:rPr>
              <a:t>: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I/O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virtualization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increases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practical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density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I/O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by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allowing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more </a:t>
            </a:r>
            <a:r>
              <a:rPr dirty="0" sz="2200">
                <a:latin typeface="Calibri"/>
                <a:cs typeface="Calibri"/>
              </a:rPr>
              <a:t>connections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exist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given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space.</a:t>
            </a:r>
            <a:endParaRPr sz="2200">
              <a:latin typeface="Calibri"/>
              <a:cs typeface="Calibri"/>
            </a:endParaRPr>
          </a:p>
          <a:p>
            <a:pPr marL="12700" marR="694055">
              <a:lnSpc>
                <a:spcPct val="120100"/>
              </a:lnSpc>
              <a:spcBef>
                <a:spcPts val="595"/>
              </a:spcBef>
            </a:pP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Minimizing</a:t>
            </a:r>
            <a:r>
              <a:rPr dirty="0" sz="2200" spc="-5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cables</a:t>
            </a:r>
            <a:r>
              <a:rPr dirty="0" sz="2200">
                <a:latin typeface="Calibri"/>
                <a:cs typeface="Calibri"/>
              </a:rPr>
              <a:t>: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I/O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virtualization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helps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reduce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multiple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cables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needed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connect </a:t>
            </a:r>
            <a:r>
              <a:rPr dirty="0" sz="2200">
                <a:latin typeface="Calibri"/>
                <a:cs typeface="Calibri"/>
              </a:rPr>
              <a:t>servers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storage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network.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40842" y="223580"/>
            <a:ext cx="7827645" cy="260604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455"/>
              </a:spcBef>
            </a:pP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CLOUD</a:t>
            </a:r>
            <a:r>
              <a:rPr dirty="0" sz="2400" spc="-3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395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Additional</a:t>
            </a:r>
            <a:r>
              <a:rPr dirty="0" sz="2400" spc="-4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References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2400">
              <a:latin typeface="Arial"/>
              <a:cs typeface="Arial"/>
            </a:endParaRPr>
          </a:p>
          <a:p>
            <a:pPr marL="172085" marR="5080">
              <a:lnSpc>
                <a:spcPct val="141700"/>
              </a:lnSpc>
            </a:pPr>
            <a:r>
              <a:rPr dirty="0" u="sng" sz="24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3"/>
              </a:rPr>
              <a:t>https://www.cse.iitb.ac.in/~cs695/slides_pdf/06-memvirt.pdf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u="sng" sz="24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4"/>
              </a:rPr>
              <a:t>https://www.cse.iitb.ac.in/~cs695/papers/iovirt.pdf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32343" y="0"/>
            <a:ext cx="754907" cy="1390513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40842" y="223580"/>
            <a:ext cx="9796145" cy="4487545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455"/>
              </a:spcBef>
            </a:pP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CLOUD</a:t>
            </a:r>
            <a:r>
              <a:rPr dirty="0" sz="2400" spc="-3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395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Xen</a:t>
            </a:r>
            <a:r>
              <a:rPr dirty="0" sz="2400" spc="-2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C55A11"/>
                </a:solidFill>
                <a:latin typeface="Arial"/>
                <a:cs typeface="Arial"/>
              </a:rPr>
              <a:t>I/O</a:t>
            </a:r>
            <a:r>
              <a:rPr dirty="0" sz="2200" spc="-1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C55A11"/>
                </a:solidFill>
                <a:latin typeface="Arial"/>
                <a:cs typeface="Arial"/>
              </a:rPr>
              <a:t>Virtualization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365"/>
              </a:spcBef>
            </a:pPr>
            <a:endParaRPr sz="2200">
              <a:latin typeface="Arial"/>
              <a:cs typeface="Arial"/>
            </a:endParaRPr>
          </a:p>
          <a:p>
            <a:pPr marL="210820" indent="-151130">
              <a:lnSpc>
                <a:spcPct val="100000"/>
              </a:lnSpc>
              <a:buChar char="▪"/>
              <a:tabLst>
                <a:tab pos="210820" algn="l"/>
              </a:tabLst>
            </a:pPr>
            <a:r>
              <a:rPr dirty="0" sz="2400">
                <a:latin typeface="Calibri"/>
                <a:cs typeface="Calibri"/>
              </a:rPr>
              <a:t>Xen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does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not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emulate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hardware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devices</a:t>
            </a:r>
            <a:endParaRPr sz="2400">
              <a:latin typeface="Calibri"/>
              <a:cs typeface="Calibri"/>
            </a:endParaRPr>
          </a:p>
          <a:p>
            <a:pPr marL="210820" indent="-151130">
              <a:lnSpc>
                <a:spcPct val="100000"/>
              </a:lnSpc>
              <a:spcBef>
                <a:spcPts val="1180"/>
              </a:spcBef>
              <a:buChar char="▪"/>
              <a:tabLst>
                <a:tab pos="210820" algn="l"/>
              </a:tabLst>
            </a:pPr>
            <a:r>
              <a:rPr dirty="0" sz="2400">
                <a:latin typeface="Calibri"/>
                <a:cs typeface="Calibri"/>
              </a:rPr>
              <a:t>Exposes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device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abstractions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simplicity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performance</a:t>
            </a:r>
            <a:endParaRPr sz="2400">
              <a:latin typeface="Calibri"/>
              <a:cs typeface="Calibri"/>
            </a:endParaRPr>
          </a:p>
          <a:p>
            <a:pPr marL="210820" indent="-151130">
              <a:lnSpc>
                <a:spcPct val="100000"/>
              </a:lnSpc>
              <a:spcBef>
                <a:spcPts val="1175"/>
              </a:spcBef>
              <a:buChar char="▪"/>
              <a:tabLst>
                <a:tab pos="210820" algn="l"/>
              </a:tabLst>
            </a:pPr>
            <a:r>
              <a:rPr dirty="0" sz="2400">
                <a:latin typeface="Calibri"/>
                <a:cs typeface="Calibri"/>
              </a:rPr>
              <a:t>I/O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data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transferred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to/from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guest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via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Xen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using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shared-</a:t>
            </a:r>
            <a:r>
              <a:rPr dirty="0" sz="2400">
                <a:latin typeface="Calibri"/>
                <a:cs typeface="Calibri"/>
              </a:rPr>
              <a:t>memory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buffers</a:t>
            </a:r>
            <a:endParaRPr sz="2400">
              <a:latin typeface="Calibri"/>
              <a:cs typeface="Calibri"/>
            </a:endParaRPr>
          </a:p>
          <a:p>
            <a:pPr marL="210820" indent="-151130">
              <a:lnSpc>
                <a:spcPct val="100000"/>
              </a:lnSpc>
              <a:spcBef>
                <a:spcPts val="1175"/>
              </a:spcBef>
              <a:buChar char="▪"/>
              <a:tabLst>
                <a:tab pos="210820" algn="l"/>
              </a:tabLst>
            </a:pPr>
            <a:r>
              <a:rPr dirty="0" sz="2400">
                <a:latin typeface="Calibri"/>
                <a:cs typeface="Calibri"/>
              </a:rPr>
              <a:t>Virtualized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interrupts: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light-</a:t>
            </a:r>
            <a:r>
              <a:rPr dirty="0" sz="2400">
                <a:latin typeface="Calibri"/>
                <a:cs typeface="Calibri"/>
              </a:rPr>
              <a:t>weight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event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delivery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mechanism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from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Xen-</a:t>
            </a:r>
            <a:r>
              <a:rPr dirty="0" sz="2400" spc="-10">
                <a:latin typeface="Calibri"/>
                <a:cs typeface="Calibri"/>
              </a:rPr>
              <a:t>guest</a:t>
            </a:r>
            <a:endParaRPr sz="2400">
              <a:latin typeface="Calibri"/>
              <a:cs typeface="Calibri"/>
            </a:endParaRPr>
          </a:p>
          <a:p>
            <a:pPr lvl="1" marL="780415" indent="-360680">
              <a:lnSpc>
                <a:spcPct val="100000"/>
              </a:lnSpc>
              <a:spcBef>
                <a:spcPts val="1180"/>
              </a:spcBef>
              <a:buChar char="▪"/>
              <a:tabLst>
                <a:tab pos="780415" algn="l"/>
              </a:tabLst>
            </a:pPr>
            <a:r>
              <a:rPr dirty="0" sz="2400">
                <a:latin typeface="Calibri"/>
                <a:cs typeface="Calibri"/>
              </a:rPr>
              <a:t>Update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bitmap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shared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memory</a:t>
            </a:r>
            <a:endParaRPr sz="2400">
              <a:latin typeface="Calibri"/>
              <a:cs typeface="Calibri"/>
            </a:endParaRPr>
          </a:p>
          <a:p>
            <a:pPr lvl="1" marL="780415" indent="-360680">
              <a:lnSpc>
                <a:spcPct val="100000"/>
              </a:lnSpc>
              <a:spcBef>
                <a:spcPts val="1775"/>
              </a:spcBef>
              <a:buChar char="▪"/>
              <a:tabLst>
                <a:tab pos="780415" algn="l"/>
              </a:tabLst>
            </a:pPr>
            <a:r>
              <a:rPr dirty="0" sz="2400">
                <a:latin typeface="Calibri"/>
                <a:cs typeface="Calibri"/>
              </a:rPr>
              <a:t>Optional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call-</a:t>
            </a:r>
            <a:r>
              <a:rPr dirty="0" sz="2400">
                <a:latin typeface="Calibri"/>
                <a:cs typeface="Calibri"/>
              </a:rPr>
              <a:t>back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handlers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registered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by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O/S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32343" y="0"/>
            <a:ext cx="754907" cy="1390513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765536" y="348995"/>
            <a:ext cx="1066800" cy="1079500"/>
          </a:xfrm>
          <a:custGeom>
            <a:avLst/>
            <a:gdLst/>
            <a:ahLst/>
            <a:cxnLst/>
            <a:rect l="l" t="t" r="r" b="b"/>
            <a:pathLst>
              <a:path w="1066800" h="1079500">
                <a:moveTo>
                  <a:pt x="1066800" y="0"/>
                </a:moveTo>
                <a:lnTo>
                  <a:pt x="0" y="0"/>
                </a:lnTo>
                <a:lnTo>
                  <a:pt x="0" y="45720"/>
                </a:lnTo>
                <a:lnTo>
                  <a:pt x="1021080" y="45720"/>
                </a:lnTo>
                <a:lnTo>
                  <a:pt x="1021080" y="1078992"/>
                </a:lnTo>
                <a:lnTo>
                  <a:pt x="1066800" y="1078992"/>
                </a:lnTo>
                <a:lnTo>
                  <a:pt x="1066800" y="45720"/>
                </a:lnTo>
                <a:lnTo>
                  <a:pt x="1066800" y="12192"/>
                </a:lnTo>
                <a:lnTo>
                  <a:pt x="1066800" y="0"/>
                </a:lnTo>
                <a:close/>
              </a:path>
            </a:pathLst>
          </a:custGeom>
          <a:solidFill>
            <a:srgbClr val="F4AF8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A logo for a university  Description automatically generated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0572" y="1171955"/>
            <a:ext cx="2461602" cy="3997452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367276" y="2089784"/>
            <a:ext cx="274256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C55A11"/>
                </a:solidFill>
                <a:latin typeface="Arial"/>
                <a:cs typeface="Arial"/>
              </a:rPr>
              <a:t>THANK</a:t>
            </a:r>
            <a:r>
              <a:rPr dirty="0" sz="3600" spc="-14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3600" spc="-25">
                <a:solidFill>
                  <a:srgbClr val="C55A11"/>
                </a:solidFill>
                <a:latin typeface="Arial"/>
                <a:cs typeface="Arial"/>
              </a:rPr>
              <a:t>YOU</a:t>
            </a:r>
            <a:endParaRPr sz="3600">
              <a:latin typeface="Arial"/>
              <a:cs typeface="Arial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4289297" y="2888742"/>
            <a:ext cx="4581525" cy="0"/>
          </a:xfrm>
          <a:custGeom>
            <a:avLst/>
            <a:gdLst/>
            <a:ahLst/>
            <a:cxnLst/>
            <a:rect l="l" t="t" r="r" b="b"/>
            <a:pathLst>
              <a:path w="4581525" h="0">
                <a:moveTo>
                  <a:pt x="0" y="0"/>
                </a:moveTo>
                <a:lnTo>
                  <a:pt x="4581398" y="0"/>
                </a:lnTo>
              </a:path>
            </a:pathLst>
          </a:custGeom>
          <a:ln w="38100">
            <a:solidFill>
              <a:srgbClr val="DFA1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367276" y="3221032"/>
            <a:ext cx="5217160" cy="123444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2400" b="1">
                <a:latin typeface="Calibri"/>
                <a:cs typeface="Calibri"/>
              </a:rPr>
              <a:t>Prafullata</a:t>
            </a:r>
            <a:r>
              <a:rPr dirty="0" sz="2400" spc="-3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Kiran</a:t>
            </a:r>
            <a:r>
              <a:rPr dirty="0" sz="2400" spc="-2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Auradkar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2000">
                <a:latin typeface="Calibri"/>
                <a:cs typeface="Calibri"/>
              </a:rPr>
              <a:t>Department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Computer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Science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Engineering</a:t>
            </a:r>
            <a:endParaRPr sz="2000">
              <a:latin typeface="Calibri"/>
              <a:cs typeface="Calibri"/>
            </a:endParaRPr>
          </a:p>
          <a:p>
            <a:pPr marL="24765">
              <a:lnSpc>
                <a:spcPct val="100000"/>
              </a:lnSpc>
              <a:spcBef>
                <a:spcPts val="745"/>
              </a:spcBef>
            </a:pPr>
            <a:r>
              <a:rPr dirty="0" sz="2400" spc="-10" b="1">
                <a:latin typeface="Calibri"/>
                <a:cs typeface="Calibri"/>
                <a:hlinkClick r:id="rId2"/>
              </a:rPr>
              <a:t>prafullatak@pes.edu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3944" y="5489447"/>
            <a:ext cx="1066800" cy="1079500"/>
          </a:xfrm>
          <a:custGeom>
            <a:avLst/>
            <a:gdLst/>
            <a:ahLst/>
            <a:cxnLst/>
            <a:rect l="l" t="t" r="r" b="b"/>
            <a:pathLst>
              <a:path w="1066800" h="1079500">
                <a:moveTo>
                  <a:pt x="1066800" y="1033272"/>
                </a:moveTo>
                <a:lnTo>
                  <a:pt x="45720" y="1033272"/>
                </a:lnTo>
                <a:lnTo>
                  <a:pt x="45720" y="0"/>
                </a:lnTo>
                <a:lnTo>
                  <a:pt x="0" y="0"/>
                </a:lnTo>
                <a:lnTo>
                  <a:pt x="0" y="1033272"/>
                </a:lnTo>
                <a:lnTo>
                  <a:pt x="0" y="1066800"/>
                </a:lnTo>
                <a:lnTo>
                  <a:pt x="0" y="1078992"/>
                </a:lnTo>
                <a:lnTo>
                  <a:pt x="1066800" y="1078992"/>
                </a:lnTo>
                <a:lnTo>
                  <a:pt x="1066800" y="1033272"/>
                </a:lnTo>
                <a:close/>
              </a:path>
            </a:pathLst>
          </a:custGeom>
          <a:solidFill>
            <a:srgbClr val="F4AF81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10855452" y="266699"/>
            <a:ext cx="1066800" cy="1077595"/>
          </a:xfrm>
          <a:custGeom>
            <a:avLst/>
            <a:gdLst/>
            <a:ahLst/>
            <a:cxnLst/>
            <a:rect l="l" t="t" r="r" b="b"/>
            <a:pathLst>
              <a:path w="1066800" h="1077595">
                <a:moveTo>
                  <a:pt x="1066800" y="0"/>
                </a:moveTo>
                <a:lnTo>
                  <a:pt x="0" y="0"/>
                </a:lnTo>
                <a:lnTo>
                  <a:pt x="0" y="45720"/>
                </a:lnTo>
                <a:lnTo>
                  <a:pt x="1021080" y="45720"/>
                </a:lnTo>
                <a:lnTo>
                  <a:pt x="1021080" y="1077468"/>
                </a:lnTo>
                <a:lnTo>
                  <a:pt x="1066800" y="1077468"/>
                </a:lnTo>
                <a:lnTo>
                  <a:pt x="1066800" y="45720"/>
                </a:lnTo>
                <a:lnTo>
                  <a:pt x="1066800" y="10668"/>
                </a:lnTo>
                <a:lnTo>
                  <a:pt x="1066800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A logo for a university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3580" y="1171955"/>
            <a:ext cx="2239644" cy="3637788"/>
          </a:xfrm>
          <a:prstGeom prst="rect">
            <a:avLst/>
          </a:prstGeom>
        </p:spPr>
      </p:pic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74184" y="1698497"/>
            <a:ext cx="3894454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C55A11"/>
                </a:solidFill>
              </a:rPr>
              <a:t>CLOUD</a:t>
            </a:r>
            <a:r>
              <a:rPr dirty="0" sz="3600" spc="-130">
                <a:solidFill>
                  <a:srgbClr val="C55A11"/>
                </a:solidFill>
              </a:rPr>
              <a:t> </a:t>
            </a:r>
            <a:r>
              <a:rPr dirty="0" sz="3600" spc="-10">
                <a:solidFill>
                  <a:srgbClr val="C55A11"/>
                </a:solidFill>
              </a:rPr>
              <a:t>COMPUTING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4846701" y="2818257"/>
            <a:ext cx="54057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Virtualization</a:t>
            </a:r>
            <a:r>
              <a:rPr dirty="0" sz="2400" spc="-2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–</a:t>
            </a:r>
            <a:r>
              <a:rPr dirty="0" sz="2400" spc="-2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395"/>
                </a:solidFill>
                <a:latin typeface="Calibri"/>
                <a:cs typeface="Calibri"/>
              </a:rPr>
              <a:t>Goldberg/Popek</a:t>
            </a:r>
            <a:r>
              <a:rPr dirty="0" sz="2400" spc="-40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395"/>
                </a:solidFill>
                <a:latin typeface="Calibri"/>
                <a:cs typeface="Calibri"/>
              </a:rPr>
              <a:t>Principles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83073" y="4112514"/>
            <a:ext cx="4581525" cy="0"/>
          </a:xfrm>
          <a:custGeom>
            <a:avLst/>
            <a:gdLst/>
            <a:ahLst/>
            <a:cxnLst/>
            <a:rect l="l" t="t" r="r" b="b"/>
            <a:pathLst>
              <a:path w="4581525" h="0">
                <a:moveTo>
                  <a:pt x="0" y="0"/>
                </a:moveTo>
                <a:lnTo>
                  <a:pt x="4581398" y="0"/>
                </a:lnTo>
              </a:path>
            </a:pathLst>
          </a:custGeom>
          <a:ln w="38100">
            <a:solidFill>
              <a:srgbClr val="C55A1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861052" y="4285563"/>
            <a:ext cx="6252845" cy="918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9398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Arial"/>
                <a:cs typeface="Arial"/>
              </a:rPr>
              <a:t>Dr.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Prafullata</a:t>
            </a:r>
            <a:r>
              <a:rPr dirty="0" sz="2000" spc="-4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Kiran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Auradkar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dirty="0" sz="2400">
                <a:latin typeface="Calibri"/>
                <a:cs typeface="Calibri"/>
              </a:rPr>
              <a:t>Department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Computer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Science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Engineering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3944" y="5489447"/>
            <a:ext cx="1066800" cy="1079500"/>
          </a:xfrm>
          <a:custGeom>
            <a:avLst/>
            <a:gdLst/>
            <a:ahLst/>
            <a:cxnLst/>
            <a:rect l="l" t="t" r="r" b="b"/>
            <a:pathLst>
              <a:path w="1066800" h="1079500">
                <a:moveTo>
                  <a:pt x="1066800" y="1033272"/>
                </a:moveTo>
                <a:lnTo>
                  <a:pt x="45720" y="1033272"/>
                </a:lnTo>
                <a:lnTo>
                  <a:pt x="45720" y="0"/>
                </a:lnTo>
                <a:lnTo>
                  <a:pt x="0" y="0"/>
                </a:lnTo>
                <a:lnTo>
                  <a:pt x="0" y="1033272"/>
                </a:lnTo>
                <a:lnTo>
                  <a:pt x="0" y="1066800"/>
                </a:lnTo>
                <a:lnTo>
                  <a:pt x="0" y="1078992"/>
                </a:lnTo>
                <a:lnTo>
                  <a:pt x="1066800" y="1078992"/>
                </a:lnTo>
                <a:lnTo>
                  <a:pt x="1066800" y="1033272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38404" y="5442305"/>
            <a:ext cx="11408410" cy="100139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Arial"/>
                <a:cs typeface="Arial"/>
              </a:rPr>
              <a:t>Acknowledgements:</a:t>
            </a:r>
            <a:endParaRPr sz="1600">
              <a:latin typeface="Arial"/>
              <a:cs typeface="Arial"/>
            </a:endParaRPr>
          </a:p>
          <a:p>
            <a:pPr algn="just" marL="12700" marR="508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latin typeface="Arial"/>
                <a:cs typeface="Arial"/>
              </a:rPr>
              <a:t>Significant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information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slide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deck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presented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through</a:t>
            </a:r>
            <a:r>
              <a:rPr dirty="0" sz="1200" spc="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Unit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2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of</a:t>
            </a:r>
            <a:r>
              <a:rPr dirty="0" sz="1200" spc="9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course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have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been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created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by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Dr.</a:t>
            </a:r>
            <a:r>
              <a:rPr dirty="0" sz="1200" spc="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H.L.</a:t>
            </a:r>
            <a:r>
              <a:rPr dirty="0" sz="1200" spc="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Phalachandra</a:t>
            </a:r>
            <a:r>
              <a:rPr dirty="0" sz="1200" spc="70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would</a:t>
            </a:r>
            <a:r>
              <a:rPr dirty="0" sz="1200" spc="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like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acknowledge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and </a:t>
            </a:r>
            <a:r>
              <a:rPr dirty="0" sz="1200">
                <a:latin typeface="Arial"/>
                <a:cs typeface="Arial"/>
              </a:rPr>
              <a:t>thank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him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for the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same.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There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have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been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some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information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which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might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have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leveraged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from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content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of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Dr.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K.V. Subramaniam’s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lecture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contents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too.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 may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have </a:t>
            </a:r>
            <a:r>
              <a:rPr dirty="0" sz="1200">
                <a:latin typeface="Arial"/>
                <a:cs typeface="Arial"/>
              </a:rPr>
              <a:t>supplemented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same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with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contents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from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books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other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sources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from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Internet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would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like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sincerely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thank,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acknowledge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reiterate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that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credit/rights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for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same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remain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with the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original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authors/publishers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only. These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are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intended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for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classroom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presentation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only.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4135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505"/>
              </a:spcBef>
            </a:pPr>
            <a:r>
              <a:rPr dirty="0"/>
              <a:t>CLOUD</a:t>
            </a:r>
            <a:r>
              <a:rPr dirty="0" spc="-15"/>
              <a:t> </a:t>
            </a:r>
            <a:r>
              <a:rPr dirty="0" spc="-10"/>
              <a:t>COMPUTING</a:t>
            </a:r>
          </a:p>
          <a:p>
            <a:pPr marL="201295">
              <a:lnSpc>
                <a:spcPct val="100000"/>
              </a:lnSpc>
              <a:spcBef>
                <a:spcPts val="375"/>
              </a:spcBef>
            </a:pPr>
            <a:r>
              <a:rPr dirty="0" sz="2200" spc="-10">
                <a:solidFill>
                  <a:srgbClr val="C55A11"/>
                </a:solidFill>
                <a:latin typeface="Arial"/>
                <a:cs typeface="Arial"/>
              </a:rPr>
              <a:t>Background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23215" y="1299210"/>
            <a:ext cx="11825605" cy="515874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355600" marR="149860" indent="-342900">
              <a:lnSpc>
                <a:spcPts val="2380"/>
              </a:lnSpc>
              <a:spcBef>
                <a:spcPts val="390"/>
              </a:spcBef>
              <a:buClr>
                <a:srgbClr val="843B0C"/>
              </a:buClr>
              <a:buFont typeface="Wingdings"/>
              <a:buChar char="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We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discussed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Cloud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Computing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paradigm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provides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large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number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benefits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discussed </a:t>
            </a:r>
            <a:r>
              <a:rPr dirty="0" sz="2200">
                <a:latin typeface="Calibri"/>
                <a:cs typeface="Calibri"/>
              </a:rPr>
              <a:t>earlier,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where</a:t>
            </a:r>
            <a:endParaRPr sz="22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680"/>
              </a:spcBef>
              <a:buClr>
                <a:srgbClr val="843B0C"/>
              </a:buClr>
              <a:buFont typeface="Arial"/>
              <a:buChar char="•"/>
              <a:tabLst>
                <a:tab pos="733425" algn="l"/>
              </a:tabLst>
            </a:pPr>
            <a:r>
              <a:rPr dirty="0" sz="2200">
                <a:latin typeface="Calibri"/>
                <a:cs typeface="Calibri"/>
              </a:rPr>
              <a:t>Computation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happens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somewhere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cloud</a:t>
            </a:r>
            <a:endParaRPr sz="22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865"/>
              </a:spcBef>
              <a:buClr>
                <a:srgbClr val="843B0C"/>
              </a:buClr>
              <a:buFont typeface="Arial"/>
              <a:buChar char="•"/>
              <a:tabLst>
                <a:tab pos="733425" algn="l"/>
              </a:tabLst>
            </a:pPr>
            <a:r>
              <a:rPr dirty="0" sz="2200">
                <a:latin typeface="Calibri"/>
                <a:cs typeface="Calibri"/>
              </a:rPr>
              <a:t>Scalable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Resources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made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available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applications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Service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different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service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levels</a:t>
            </a:r>
            <a:endParaRPr sz="2200">
              <a:latin typeface="Calibri"/>
              <a:cs typeface="Calibri"/>
            </a:endParaRPr>
          </a:p>
          <a:p>
            <a:pPr marL="372110" marR="385445" indent="-360045">
              <a:lnSpc>
                <a:spcPct val="110000"/>
              </a:lnSpc>
              <a:spcBef>
                <a:spcPts val="600"/>
              </a:spcBef>
              <a:buClr>
                <a:srgbClr val="843B0C"/>
              </a:buClr>
              <a:buFont typeface="Arial"/>
              <a:buChar char="•"/>
              <a:tabLst>
                <a:tab pos="372110" algn="l"/>
              </a:tabLst>
            </a:pPr>
            <a:r>
              <a:rPr dirty="0" sz="2200">
                <a:latin typeface="Calibri"/>
                <a:cs typeface="Calibri"/>
              </a:rPr>
              <a:t>We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also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discussed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Virtualization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fundamental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technologies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enables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Cloud Computing</a:t>
            </a:r>
            <a:endParaRPr sz="2200">
              <a:latin typeface="Calibri"/>
              <a:cs typeface="Calibri"/>
            </a:endParaRPr>
          </a:p>
          <a:p>
            <a:pPr marL="372110" marR="5080" indent="-360045">
              <a:lnSpc>
                <a:spcPct val="110000"/>
              </a:lnSpc>
              <a:spcBef>
                <a:spcPts val="600"/>
              </a:spcBef>
              <a:buClr>
                <a:srgbClr val="843B0C"/>
              </a:buClr>
              <a:buFont typeface="Arial"/>
              <a:buChar char="•"/>
              <a:tabLst>
                <a:tab pos="372110" algn="l"/>
              </a:tabLst>
            </a:pPr>
            <a:r>
              <a:rPr dirty="0" sz="2200">
                <a:latin typeface="Calibri"/>
                <a:cs typeface="Calibri"/>
              </a:rPr>
              <a:t>Virtualisation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divides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resources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computer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into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multiple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execution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environments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using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partial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complete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machine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simulation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emulation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allows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shared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between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different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tenants</a:t>
            </a:r>
            <a:r>
              <a:rPr dirty="0" sz="2200" spc="5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users.</a:t>
            </a:r>
            <a:endParaRPr sz="22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865"/>
              </a:spcBef>
              <a:buClr>
                <a:srgbClr val="843B0C"/>
              </a:buClr>
              <a:buFont typeface="Arial"/>
              <a:buChar char="•"/>
              <a:tabLst>
                <a:tab pos="372110" algn="l"/>
              </a:tabLst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typical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granularity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compute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resources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single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physical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server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divided</a:t>
            </a:r>
            <a:endParaRPr sz="2200">
              <a:latin typeface="Calibri"/>
              <a:cs typeface="Calibri"/>
            </a:endParaRPr>
          </a:p>
          <a:p>
            <a:pPr marL="372110">
              <a:lnSpc>
                <a:spcPct val="100000"/>
              </a:lnSpc>
              <a:spcBef>
                <a:spcPts val="265"/>
              </a:spcBef>
            </a:pPr>
            <a:r>
              <a:rPr dirty="0" sz="2200">
                <a:latin typeface="Calibri"/>
                <a:cs typeface="Calibri"/>
              </a:rPr>
              <a:t>would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Virtual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Machine</a:t>
            </a:r>
            <a:endParaRPr sz="2200">
              <a:latin typeface="Calibri"/>
              <a:cs typeface="Calibri"/>
            </a:endParaRPr>
          </a:p>
          <a:p>
            <a:pPr marL="372110" marR="355600" indent="-360045">
              <a:lnSpc>
                <a:spcPct val="110000"/>
              </a:lnSpc>
              <a:spcBef>
                <a:spcPts val="600"/>
              </a:spcBef>
              <a:buClr>
                <a:srgbClr val="843B0C"/>
              </a:buClr>
              <a:buFont typeface="Arial"/>
              <a:buChar char="•"/>
              <a:tabLst>
                <a:tab pos="372110" algn="l"/>
              </a:tabLst>
            </a:pP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typically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achieved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using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layer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software,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Virtual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Machine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Manager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10">
                <a:latin typeface="Calibri"/>
                <a:cs typeface="Calibri"/>
              </a:rPr>
              <a:t> hypervisor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provides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illusion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"real"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machine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multiple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instances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"virtual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machines“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2541" y="265938"/>
            <a:ext cx="260286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CLOUD</a:t>
            </a:r>
            <a:r>
              <a:rPr dirty="0" spc="-15"/>
              <a:t> </a:t>
            </a:r>
            <a:r>
              <a:rPr dirty="0" spc="-10"/>
              <a:t>COMPUTING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23215" y="679145"/>
            <a:ext cx="11812905" cy="58610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29870">
              <a:lnSpc>
                <a:spcPct val="100000"/>
              </a:lnSpc>
              <a:spcBef>
                <a:spcPts val="95"/>
              </a:spcBef>
            </a:pPr>
            <a:r>
              <a:rPr dirty="0" sz="2200" b="1">
                <a:solidFill>
                  <a:srgbClr val="C55A11"/>
                </a:solidFill>
                <a:latin typeface="Arial"/>
                <a:cs typeface="Arial"/>
              </a:rPr>
              <a:t>Background</a:t>
            </a:r>
            <a:r>
              <a:rPr dirty="0" sz="2200" spc="-3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C55A11"/>
                </a:solidFill>
                <a:latin typeface="Arial"/>
                <a:cs typeface="Arial"/>
              </a:rPr>
              <a:t>-</a:t>
            </a:r>
            <a:r>
              <a:rPr dirty="0" sz="2200" spc="-7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spc="-50" b="1">
                <a:solidFill>
                  <a:srgbClr val="C55A11"/>
                </a:solidFill>
                <a:latin typeface="Arial"/>
                <a:cs typeface="Arial"/>
              </a:rPr>
              <a:t>2</a:t>
            </a:r>
            <a:endParaRPr sz="2200">
              <a:latin typeface="Arial"/>
              <a:cs typeface="Arial"/>
            </a:endParaRPr>
          </a:p>
          <a:p>
            <a:pPr marL="372110" marR="285115" indent="-360045">
              <a:lnSpc>
                <a:spcPct val="120000"/>
              </a:lnSpc>
              <a:spcBef>
                <a:spcPts val="2290"/>
              </a:spcBef>
              <a:buClr>
                <a:srgbClr val="843B0C"/>
              </a:buClr>
              <a:buFont typeface="Arial"/>
              <a:buChar char="•"/>
              <a:tabLst>
                <a:tab pos="372110" algn="l"/>
              </a:tabLst>
            </a:pP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hypervisor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could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directly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real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hardware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could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application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top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50">
                <a:latin typeface="Calibri"/>
                <a:cs typeface="Calibri"/>
              </a:rPr>
              <a:t>a </a:t>
            </a:r>
            <a:r>
              <a:rPr dirty="0" sz="2200">
                <a:latin typeface="Calibri"/>
                <a:cs typeface="Calibri"/>
              </a:rPr>
              <a:t>host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operating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system</a:t>
            </a:r>
            <a:endParaRPr sz="22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1130"/>
              </a:spcBef>
              <a:buClr>
                <a:srgbClr val="843B0C"/>
              </a:buClr>
              <a:buFont typeface="Arial"/>
              <a:buChar char="•"/>
              <a:tabLst>
                <a:tab pos="372110" algn="l"/>
              </a:tabLst>
            </a:pP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VMM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will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perform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activities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typically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done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by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OS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interfaces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with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hardware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and</a:t>
            </a:r>
            <a:endParaRPr sz="2200">
              <a:latin typeface="Calibri"/>
              <a:cs typeface="Calibri"/>
            </a:endParaRPr>
          </a:p>
          <a:p>
            <a:pPr marL="372110">
              <a:lnSpc>
                <a:spcPct val="100000"/>
              </a:lnSpc>
              <a:spcBef>
                <a:spcPts val="530"/>
              </a:spcBef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either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side.</a:t>
            </a:r>
            <a:endParaRPr sz="2200">
              <a:latin typeface="Calibri"/>
              <a:cs typeface="Calibri"/>
            </a:endParaRPr>
          </a:p>
          <a:p>
            <a:pPr marL="372110" marR="5080" indent="-360045">
              <a:lnSpc>
                <a:spcPct val="120000"/>
              </a:lnSpc>
              <a:spcBef>
                <a:spcPts val="600"/>
              </a:spcBef>
              <a:buClr>
                <a:srgbClr val="843B0C"/>
              </a:buClr>
              <a:buFont typeface="Arial"/>
              <a:buChar char="•"/>
              <a:tabLst>
                <a:tab pos="372110" algn="l"/>
              </a:tabLst>
            </a:pPr>
            <a:r>
              <a:rPr dirty="0" sz="2200">
                <a:latin typeface="Calibri"/>
                <a:cs typeface="Calibri"/>
              </a:rPr>
              <a:t>VMM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Hypervisor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uses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two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techniques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“Trap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Emulate”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“Binary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Translation”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to</a:t>
            </a:r>
            <a:r>
              <a:rPr dirty="0" sz="2200" spc="5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function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virtualization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layer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supporting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execution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Guest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Application,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Guest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on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VM.</a:t>
            </a:r>
            <a:endParaRPr sz="2200">
              <a:latin typeface="Calibri"/>
              <a:cs typeface="Calibri"/>
            </a:endParaRPr>
          </a:p>
          <a:p>
            <a:pPr marL="372110" marR="140335" indent="-360045">
              <a:lnSpc>
                <a:spcPct val="120000"/>
              </a:lnSpc>
              <a:spcBef>
                <a:spcPts val="600"/>
              </a:spcBef>
              <a:buClr>
                <a:srgbClr val="843B0C"/>
              </a:buClr>
              <a:buFont typeface="Arial"/>
              <a:buChar char="•"/>
              <a:tabLst>
                <a:tab pos="372110" algn="l"/>
              </a:tabLst>
            </a:pPr>
            <a:r>
              <a:rPr dirty="0" sz="2200">
                <a:latin typeface="Calibri"/>
                <a:cs typeface="Calibri"/>
              </a:rPr>
              <a:t>“Trap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Emulate”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these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two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more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prevalent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discussed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till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now,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requirement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that </a:t>
            </a:r>
            <a:r>
              <a:rPr dirty="0" sz="2200">
                <a:latin typeface="Calibri"/>
                <a:cs typeface="Calibri"/>
              </a:rPr>
              <a:t>all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sensitive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instructions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needs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emulation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Hypervisor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trapped.</a:t>
            </a:r>
            <a:endParaRPr sz="22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1130"/>
              </a:spcBef>
              <a:buClr>
                <a:srgbClr val="843B0C"/>
              </a:buClr>
              <a:buFont typeface="Arial"/>
              <a:buChar char="•"/>
              <a:tabLst>
                <a:tab pos="372110" algn="l"/>
              </a:tabLst>
            </a:pPr>
            <a:r>
              <a:rPr dirty="0" sz="2200">
                <a:latin typeface="Calibri"/>
                <a:cs typeface="Calibri"/>
              </a:rPr>
              <a:t>Not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all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system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architectures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(e.g.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original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x86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architecture)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support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virtualization.</a:t>
            </a:r>
            <a:endParaRPr sz="2200">
              <a:latin typeface="Calibri"/>
              <a:cs typeface="Calibri"/>
            </a:endParaRPr>
          </a:p>
          <a:p>
            <a:pPr marL="372110" marR="1102360" indent="-360045">
              <a:lnSpc>
                <a:spcPct val="120000"/>
              </a:lnSpc>
              <a:spcBef>
                <a:spcPts val="600"/>
              </a:spcBef>
              <a:buClr>
                <a:srgbClr val="843B0C"/>
              </a:buClr>
              <a:buFont typeface="Arial"/>
              <a:buChar char="•"/>
              <a:tabLst>
                <a:tab pos="372110" algn="l"/>
              </a:tabLst>
            </a:pPr>
            <a:r>
              <a:rPr dirty="0" sz="2200">
                <a:latin typeface="Calibri"/>
                <a:cs typeface="Calibri"/>
              </a:rPr>
              <a:t>Gerald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Popek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Robert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Goldberg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1974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defined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requirements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architecture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to </a:t>
            </a:r>
            <a:r>
              <a:rPr dirty="0" sz="2200">
                <a:latin typeface="Calibri"/>
                <a:cs typeface="Calibri"/>
              </a:rPr>
              <a:t>efficiently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support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virtualization.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0325" rIns="0" bIns="0" rtlCol="0" vert="horz">
            <a:spAutoFit/>
          </a:bodyPr>
          <a:lstStyle/>
          <a:p>
            <a:pPr marL="116839">
              <a:lnSpc>
                <a:spcPct val="100000"/>
              </a:lnSpc>
              <a:spcBef>
                <a:spcPts val="475"/>
              </a:spcBef>
            </a:pPr>
            <a:r>
              <a:rPr dirty="0"/>
              <a:t>CLOUD</a:t>
            </a:r>
            <a:r>
              <a:rPr dirty="0" spc="-15"/>
              <a:t> </a:t>
            </a:r>
            <a:r>
              <a:rPr dirty="0" spc="-10"/>
              <a:t>COMPUTING</a:t>
            </a:r>
          </a:p>
          <a:p>
            <a:pPr marL="104775">
              <a:lnSpc>
                <a:spcPct val="100000"/>
              </a:lnSpc>
              <a:spcBef>
                <a:spcPts val="380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Popek</a:t>
            </a:r>
            <a:r>
              <a:rPr dirty="0" spc="-1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and</a:t>
            </a:r>
            <a:r>
              <a:rPr dirty="0" spc="-2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Goldberg</a:t>
            </a:r>
            <a:r>
              <a:rPr dirty="0" spc="-5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principles</a:t>
            </a:r>
            <a:r>
              <a:rPr dirty="0" spc="-4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:</a:t>
            </a:r>
            <a:r>
              <a:rPr dirty="0" spc="-1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Terminologies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19176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44525" y="1232596"/>
            <a:ext cx="11878310" cy="5044440"/>
          </a:xfrm>
          <a:prstGeom prst="rect">
            <a:avLst/>
          </a:prstGeom>
        </p:spPr>
        <p:txBody>
          <a:bodyPr wrap="square" lIns="0" tIns="149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part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their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research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work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they</a:t>
            </a:r>
            <a:endParaRPr sz="20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080"/>
              </a:spcBef>
              <a:buSzPct val="90000"/>
              <a:buAutoNum type="arabicPeriod"/>
              <a:tabLst>
                <a:tab pos="469265" algn="l"/>
              </a:tabLst>
            </a:pPr>
            <a:r>
              <a:rPr dirty="0" sz="2000">
                <a:latin typeface="Calibri"/>
                <a:cs typeface="Calibri"/>
              </a:rPr>
              <a:t>Set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out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set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terminologies</a:t>
            </a:r>
            <a:endParaRPr sz="2000">
              <a:latin typeface="Calibri"/>
              <a:cs typeface="Calibri"/>
            </a:endParaRPr>
          </a:p>
          <a:p>
            <a:pPr lvl="1" marL="948055" marR="169545" indent="-343535">
              <a:lnSpc>
                <a:spcPct val="120000"/>
              </a:lnSpc>
              <a:spcBef>
                <a:spcPts val="805"/>
              </a:spcBef>
              <a:buSzPct val="90000"/>
              <a:buFont typeface="Wingdings"/>
              <a:buChar char=""/>
              <a:tabLst>
                <a:tab pos="948055" algn="l"/>
              </a:tabLst>
            </a:pPr>
            <a:r>
              <a:rPr dirty="0" sz="2000" b="1">
                <a:latin typeface="Calibri"/>
                <a:cs typeface="Calibri"/>
              </a:rPr>
              <a:t>Virtual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machine: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Complete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compute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environment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own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isolated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processing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capabilities,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memory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communication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channels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created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VMM.</a:t>
            </a:r>
            <a:endParaRPr sz="2000">
              <a:latin typeface="Calibri"/>
              <a:cs typeface="Calibri"/>
            </a:endParaRPr>
          </a:p>
          <a:p>
            <a:pPr lvl="2" marL="1272540" indent="-342900">
              <a:lnSpc>
                <a:spcPct val="100000"/>
              </a:lnSpc>
              <a:spcBef>
                <a:spcPts val="1080"/>
              </a:spcBef>
              <a:buSzPct val="90000"/>
              <a:buFont typeface="Arial"/>
              <a:buChar char="•"/>
              <a:tabLst>
                <a:tab pos="1272540" algn="l"/>
              </a:tabLst>
            </a:pPr>
            <a:r>
              <a:rPr dirty="0" sz="2000">
                <a:latin typeface="Calibri"/>
                <a:cs typeface="Calibri"/>
              </a:rPr>
              <a:t>Virtual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machine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efficient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isolated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duplicate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physical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machine</a:t>
            </a:r>
            <a:endParaRPr sz="2000">
              <a:latin typeface="Calibri"/>
              <a:cs typeface="Calibri"/>
            </a:endParaRPr>
          </a:p>
          <a:p>
            <a:pPr lvl="1" marL="948055" marR="939165" indent="-360045">
              <a:lnSpc>
                <a:spcPct val="120000"/>
              </a:lnSpc>
              <a:spcBef>
                <a:spcPts val="1000"/>
              </a:spcBef>
              <a:buSzPct val="90000"/>
              <a:buFont typeface="Wingdings"/>
              <a:buChar char=""/>
              <a:tabLst>
                <a:tab pos="948055" algn="l"/>
              </a:tabLst>
            </a:pPr>
            <a:r>
              <a:rPr dirty="0" sz="2000" b="1">
                <a:latin typeface="Calibri"/>
                <a:cs typeface="Calibri"/>
              </a:rPr>
              <a:t>Virtual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Machine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Monitor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(VMM)/Hypervisor: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System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0000"/>
                </a:solidFill>
                <a:latin typeface="Calibri"/>
                <a:cs typeface="Calibri"/>
              </a:rPr>
              <a:t>software</a:t>
            </a:r>
            <a:r>
              <a:rPr dirty="0" sz="2000" spc="-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creates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manages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virtual machines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is</a:t>
            </a:r>
            <a:endParaRPr sz="2000">
              <a:latin typeface="Calibri"/>
              <a:cs typeface="Calibri"/>
            </a:endParaRPr>
          </a:p>
          <a:p>
            <a:pPr lvl="2" marL="1452245" indent="-359410">
              <a:lnSpc>
                <a:spcPct val="100000"/>
              </a:lnSpc>
              <a:spcBef>
                <a:spcPts val="1185"/>
              </a:spcBef>
              <a:buSzPct val="90000"/>
              <a:buFont typeface="Arial"/>
              <a:buChar char="•"/>
              <a:tabLst>
                <a:tab pos="1452245" algn="l"/>
              </a:tabLst>
            </a:pPr>
            <a:r>
              <a:rPr dirty="0" sz="2000">
                <a:latin typeface="Calibri"/>
                <a:cs typeface="Calibri"/>
              </a:rPr>
              <a:t>Efficient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: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safe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guest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instructions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run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directly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hardware</a:t>
            </a:r>
            <a:endParaRPr sz="2000">
              <a:latin typeface="Calibri"/>
              <a:cs typeface="Calibri"/>
            </a:endParaRPr>
          </a:p>
          <a:p>
            <a:pPr lvl="2" marL="1452245" indent="-359410">
              <a:lnSpc>
                <a:spcPct val="100000"/>
              </a:lnSpc>
              <a:spcBef>
                <a:spcPts val="600"/>
              </a:spcBef>
              <a:buSzPct val="90000"/>
              <a:buFont typeface="Arial"/>
              <a:buChar char="•"/>
              <a:tabLst>
                <a:tab pos="1452245" algn="l"/>
              </a:tabLst>
            </a:pPr>
            <a:r>
              <a:rPr dirty="0" sz="2000">
                <a:latin typeface="Calibri"/>
                <a:cs typeface="Calibri"/>
              </a:rPr>
              <a:t>Omnipotent: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Only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VMM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manipulate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sensitive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state</a:t>
            </a:r>
            <a:endParaRPr sz="2000">
              <a:latin typeface="Calibri"/>
              <a:cs typeface="Calibri"/>
            </a:endParaRPr>
          </a:p>
          <a:p>
            <a:pPr lvl="2" marL="1452245" indent="-359410">
              <a:lnSpc>
                <a:spcPct val="100000"/>
              </a:lnSpc>
              <a:spcBef>
                <a:spcPts val="605"/>
              </a:spcBef>
              <a:buSzPct val="90000"/>
              <a:buFont typeface="Arial"/>
              <a:buChar char="•"/>
              <a:tabLst>
                <a:tab pos="1452245" algn="l"/>
              </a:tabLst>
            </a:pPr>
            <a:r>
              <a:rPr dirty="0" sz="2000" spc="-10">
                <a:latin typeface="Calibri"/>
                <a:cs typeface="Calibri"/>
              </a:rPr>
              <a:t>Undetectable: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guest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cannot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determine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running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atop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VMM</a:t>
            </a:r>
            <a:endParaRPr sz="2000">
              <a:latin typeface="Calibri"/>
              <a:cs typeface="Calibri"/>
            </a:endParaRPr>
          </a:p>
          <a:p>
            <a:pPr lvl="1" marL="948055" marR="5080" indent="-360045">
              <a:lnSpc>
                <a:spcPct val="120000"/>
              </a:lnSpc>
              <a:spcBef>
                <a:spcPts val="405"/>
              </a:spcBef>
              <a:buSzPct val="90000"/>
              <a:buFont typeface="Wingdings"/>
              <a:buChar char=""/>
              <a:tabLst>
                <a:tab pos="948055" algn="l"/>
              </a:tabLst>
            </a:pPr>
            <a:r>
              <a:rPr dirty="0" sz="2000">
                <a:latin typeface="Calibri"/>
                <a:cs typeface="Calibri"/>
              </a:rPr>
              <a:t>These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applicable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Third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generation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machines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implying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system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least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two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operating </a:t>
            </a:r>
            <a:r>
              <a:rPr dirty="0" sz="2000">
                <a:latin typeface="Calibri"/>
                <a:cs typeface="Calibri"/>
              </a:rPr>
              <a:t>modes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supervisor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some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instructions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available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user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mode.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Addressing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respect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80286" y="6171790"/>
            <a:ext cx="10831830" cy="649605"/>
          </a:xfrm>
          <a:prstGeom prst="rect">
            <a:avLst/>
          </a:prstGeom>
        </p:spPr>
        <p:txBody>
          <a:bodyPr wrap="square" lIns="0" tIns="1530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relocation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register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system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ability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perform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table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look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ups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etc.</a:t>
            </a:r>
            <a:endParaRPr sz="2000">
              <a:latin typeface="Calibri"/>
              <a:cs typeface="Calibri"/>
            </a:endParaRPr>
          </a:p>
          <a:p>
            <a:pPr marL="2953385">
              <a:lnSpc>
                <a:spcPct val="100000"/>
              </a:lnSpc>
              <a:spcBef>
                <a:spcPts val="445"/>
              </a:spcBef>
            </a:pPr>
            <a:r>
              <a:rPr dirty="0" sz="800">
                <a:latin typeface="Arial"/>
                <a:cs typeface="Arial"/>
              </a:rPr>
              <a:t>Ref:</a:t>
            </a:r>
            <a:r>
              <a:rPr dirty="0" sz="800" spc="24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  <a:hlinkClick r:id="rId2"/>
              </a:rPr>
              <a:t>https://cis.temple.edu/~ingargio/cis307/readings/virtualization.html#:~:text=Privileged%20Instructions%3A%20instructions%20that%20if,%2CSIDT%2CSLDT%2CSMSW</a:t>
            </a:r>
            <a:r>
              <a:rPr dirty="0" sz="800" spc="-10">
                <a:latin typeface="Arial"/>
                <a:cs typeface="Arial"/>
              </a:rPr>
              <a:t>.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6675" rIns="0" bIns="0" rtlCol="0" vert="horz">
            <a:spAutoFit/>
          </a:bodyPr>
          <a:lstStyle/>
          <a:p>
            <a:pPr marL="116839">
              <a:lnSpc>
                <a:spcPct val="100000"/>
              </a:lnSpc>
              <a:spcBef>
                <a:spcPts val="525"/>
              </a:spcBef>
            </a:pPr>
            <a:r>
              <a:rPr dirty="0"/>
              <a:t>CLOUD</a:t>
            </a:r>
            <a:r>
              <a:rPr dirty="0" spc="-15"/>
              <a:t> </a:t>
            </a:r>
            <a:r>
              <a:rPr dirty="0" spc="-10"/>
              <a:t>COMPUTING</a:t>
            </a:r>
          </a:p>
          <a:p>
            <a:pPr marL="104775">
              <a:lnSpc>
                <a:spcPct val="100000"/>
              </a:lnSpc>
              <a:spcBef>
                <a:spcPts val="420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Popek</a:t>
            </a:r>
            <a:r>
              <a:rPr dirty="0" spc="-4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and</a:t>
            </a:r>
            <a:r>
              <a:rPr dirty="0" spc="-5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Goldberg</a:t>
            </a:r>
            <a:r>
              <a:rPr dirty="0" sz="2200" spc="3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principles</a:t>
            </a:r>
            <a:r>
              <a:rPr dirty="0" spc="-8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:</a:t>
            </a:r>
            <a:r>
              <a:rPr dirty="0" spc="-4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Essential</a:t>
            </a:r>
            <a:r>
              <a:rPr dirty="0" spc="-4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Characteristics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44525" y="1304695"/>
            <a:ext cx="11767820" cy="5516880"/>
          </a:xfrm>
          <a:prstGeom prst="rect">
            <a:avLst/>
          </a:prstGeom>
        </p:spPr>
        <p:txBody>
          <a:bodyPr wrap="square" lIns="0" tIns="15557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225"/>
              </a:spcBef>
              <a:buSzPct val="81818"/>
              <a:buAutoNum type="arabicPeriod" startAt="2"/>
              <a:tabLst>
                <a:tab pos="469265" algn="l"/>
              </a:tabLst>
            </a:pPr>
            <a:r>
              <a:rPr dirty="0" sz="2200">
                <a:latin typeface="Calibri"/>
                <a:cs typeface="Calibri"/>
              </a:rPr>
              <a:t>They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came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up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with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few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essential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characteristics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requirements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VMM</a:t>
            </a:r>
            <a:endParaRPr sz="2200">
              <a:latin typeface="Calibri"/>
              <a:cs typeface="Calibri"/>
            </a:endParaRPr>
          </a:p>
          <a:p>
            <a:pPr lvl="1" marL="948055" marR="175260" indent="-343535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ct val="81818"/>
              <a:buFont typeface="Wingdings"/>
              <a:buChar char=""/>
              <a:tabLst>
                <a:tab pos="948055" algn="l"/>
              </a:tabLst>
            </a:pPr>
            <a:r>
              <a:rPr dirty="0" sz="2200" b="1">
                <a:solidFill>
                  <a:srgbClr val="1F4E79"/>
                </a:solidFill>
                <a:latin typeface="Calibri"/>
                <a:cs typeface="Calibri"/>
              </a:rPr>
              <a:t>Equivalence</a:t>
            </a:r>
            <a:r>
              <a:rPr dirty="0" sz="2200">
                <a:latin typeface="Calibri"/>
                <a:cs typeface="Calibri"/>
              </a:rPr>
              <a:t>: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VMM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provides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environment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programs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essentially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identical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with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original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machine,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thus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program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running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should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behave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essentially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identically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to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program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executing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directly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hardware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(to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indicate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isolation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from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 </a:t>
            </a:r>
            <a:r>
              <a:rPr dirty="0" sz="2200" spc="-10" b="1">
                <a:latin typeface="Calibri"/>
                <a:cs typeface="Calibri"/>
              </a:rPr>
              <a:t>protection </a:t>
            </a:r>
            <a:r>
              <a:rPr dirty="0" sz="2200" spc="-10">
                <a:latin typeface="Calibri"/>
                <a:cs typeface="Calibri"/>
              </a:rPr>
              <a:t>perspective).</a:t>
            </a:r>
            <a:endParaRPr sz="2200">
              <a:latin typeface="Calibri"/>
              <a:cs typeface="Calibri"/>
            </a:endParaRPr>
          </a:p>
          <a:p>
            <a:pPr lvl="1" marL="948055" marR="133350" indent="-343535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SzPct val="81818"/>
              <a:buFont typeface="Wingdings"/>
              <a:buChar char=""/>
              <a:tabLst>
                <a:tab pos="948055" algn="l"/>
              </a:tabLst>
            </a:pPr>
            <a:r>
              <a:rPr dirty="0" sz="2200" b="1">
                <a:solidFill>
                  <a:srgbClr val="1F4E79"/>
                </a:solidFill>
                <a:latin typeface="Calibri"/>
                <a:cs typeface="Calibri"/>
              </a:rPr>
              <a:t>Resource</a:t>
            </a:r>
            <a:r>
              <a:rPr dirty="0" sz="2200" spc="-5" b="1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1F4E79"/>
                </a:solidFill>
                <a:latin typeface="Calibri"/>
                <a:cs typeface="Calibri"/>
              </a:rPr>
              <a:t>Control</a:t>
            </a:r>
            <a:r>
              <a:rPr dirty="0" sz="2200">
                <a:latin typeface="Calibri"/>
                <a:cs typeface="Calibri"/>
              </a:rPr>
              <a:t>: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VMM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must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total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control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virtualized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resources.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would </a:t>
            </a:r>
            <a:r>
              <a:rPr dirty="0" sz="2200">
                <a:latin typeface="Calibri"/>
                <a:cs typeface="Calibri"/>
              </a:rPr>
              <a:t>mean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programs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running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under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VMM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should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not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have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ability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access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resource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which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not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explicitly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allocated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VMM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should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have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ability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regain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control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resources allocated.</a:t>
            </a:r>
            <a:endParaRPr sz="2200">
              <a:latin typeface="Calibri"/>
              <a:cs typeface="Calibri"/>
            </a:endParaRPr>
          </a:p>
          <a:p>
            <a:pPr lvl="1" marL="948055" marR="274955" indent="-343535">
              <a:lnSpc>
                <a:spcPct val="120000"/>
              </a:lnSpc>
              <a:spcBef>
                <a:spcPts val="605"/>
              </a:spcBef>
              <a:buClr>
                <a:srgbClr val="000000"/>
              </a:buClr>
              <a:buSzPct val="81818"/>
              <a:buFont typeface="Wingdings"/>
              <a:buChar char=""/>
              <a:tabLst>
                <a:tab pos="948055" algn="l"/>
              </a:tabLst>
            </a:pPr>
            <a:r>
              <a:rPr dirty="0" sz="2200" b="1">
                <a:solidFill>
                  <a:srgbClr val="1F4E79"/>
                </a:solidFill>
                <a:latin typeface="Calibri"/>
                <a:cs typeface="Calibri"/>
              </a:rPr>
              <a:t>Efficiency</a:t>
            </a:r>
            <a:r>
              <a:rPr dirty="0" sz="2200">
                <a:latin typeface="Calibri"/>
                <a:cs typeface="Calibri"/>
              </a:rPr>
              <a:t>: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great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majority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machine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instructions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must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executed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without </a:t>
            </a:r>
            <a:r>
              <a:rPr dirty="0" sz="2200">
                <a:latin typeface="Calibri"/>
                <a:cs typeface="Calibri"/>
              </a:rPr>
              <a:t>intervention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VMM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(i.e.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without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trap)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programs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running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environment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show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at </a:t>
            </a:r>
            <a:r>
              <a:rPr dirty="0" sz="2200">
                <a:latin typeface="Calibri"/>
                <a:cs typeface="Calibri"/>
              </a:rPr>
              <a:t>worst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only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minor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decreases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speed</a:t>
            </a:r>
            <a:endParaRPr sz="2200">
              <a:latin typeface="Calibri"/>
              <a:cs typeface="Calibri"/>
            </a:endParaRPr>
          </a:p>
          <a:p>
            <a:pPr marL="3888740">
              <a:lnSpc>
                <a:spcPct val="100000"/>
              </a:lnSpc>
              <a:spcBef>
                <a:spcPts val="1850"/>
              </a:spcBef>
            </a:pPr>
            <a:r>
              <a:rPr dirty="0" sz="800">
                <a:latin typeface="Arial"/>
                <a:cs typeface="Arial"/>
              </a:rPr>
              <a:t>Ref:</a:t>
            </a:r>
            <a:r>
              <a:rPr dirty="0" sz="800" spc="24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  <a:hlinkClick r:id="rId2"/>
              </a:rPr>
              <a:t>https://cis.temple.edu/~ingargio/cis307/readings/virtualization.html#:~:text=Privileged%20Instructions%3A%20instructions%20that%20if,%2CSIDT%2CSLDT%2CSMSW</a:t>
            </a:r>
            <a:r>
              <a:rPr dirty="0" sz="800" spc="-10">
                <a:latin typeface="Arial"/>
                <a:cs typeface="Arial"/>
              </a:rPr>
              <a:t>.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19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/>
              <a:t>CLOUD</a:t>
            </a:r>
            <a:r>
              <a:rPr dirty="0" spc="-15"/>
              <a:t> </a:t>
            </a:r>
            <a:r>
              <a:rPr dirty="0" spc="-10"/>
              <a:t>COMPUTING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2200" spc="-10">
                <a:solidFill>
                  <a:srgbClr val="C55A11"/>
                </a:solidFill>
                <a:latin typeface="Arial"/>
                <a:cs typeface="Arial"/>
              </a:rPr>
              <a:t>Goldberg/Popek</a:t>
            </a:r>
            <a:r>
              <a:rPr dirty="0" sz="2200" spc="-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:</a:t>
            </a:r>
            <a:r>
              <a:rPr dirty="0" sz="2200" spc="-4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C55A11"/>
                </a:solidFill>
                <a:latin typeface="Arial"/>
                <a:cs typeface="Arial"/>
              </a:rPr>
              <a:t>Instructions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23215" y="1343038"/>
            <a:ext cx="11771630" cy="495871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325"/>
              </a:spcBef>
              <a:buAutoNum type="arabicPeriod" startAt="3"/>
              <a:tabLst>
                <a:tab pos="469265" algn="l"/>
              </a:tabLst>
            </a:pPr>
            <a:r>
              <a:rPr dirty="0" sz="2200">
                <a:latin typeface="Calibri"/>
                <a:cs typeface="Calibri"/>
              </a:rPr>
              <a:t>All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instructions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bucketed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into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three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types.</a:t>
            </a:r>
            <a:endParaRPr sz="2200">
              <a:latin typeface="Calibri"/>
              <a:cs typeface="Calibri"/>
            </a:endParaRPr>
          </a:p>
          <a:p>
            <a:pPr lvl="1" marL="733425" indent="-342900">
              <a:lnSpc>
                <a:spcPct val="100000"/>
              </a:lnSpc>
              <a:spcBef>
                <a:spcPts val="220"/>
              </a:spcBef>
              <a:buClr>
                <a:srgbClr val="843B0C"/>
              </a:buClr>
              <a:buFont typeface="Wingdings"/>
              <a:buChar char=""/>
              <a:tabLst>
                <a:tab pos="733425" algn="l"/>
              </a:tabLst>
            </a:pPr>
            <a:r>
              <a:rPr dirty="0" sz="2100" b="1">
                <a:solidFill>
                  <a:srgbClr val="C00000"/>
                </a:solidFill>
                <a:latin typeface="Calibri"/>
                <a:cs typeface="Calibri"/>
              </a:rPr>
              <a:t>Privileged</a:t>
            </a:r>
            <a:r>
              <a:rPr dirty="0" sz="2100" spc="-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C00000"/>
                </a:solidFill>
                <a:latin typeface="Calibri"/>
                <a:cs typeface="Calibri"/>
              </a:rPr>
              <a:t>Instructions</a:t>
            </a:r>
            <a:r>
              <a:rPr dirty="0" sz="2100" spc="-6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C00000"/>
                </a:solidFill>
                <a:latin typeface="Calibri"/>
                <a:cs typeface="Calibri"/>
              </a:rPr>
              <a:t>:</a:t>
            </a:r>
            <a:r>
              <a:rPr dirty="0" sz="2100" spc="-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These</a:t>
            </a:r>
            <a:r>
              <a:rPr dirty="0" sz="2100" spc="-2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instructions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cause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trap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if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the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processor is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not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in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the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privileged</a:t>
            </a:r>
            <a:r>
              <a:rPr dirty="0" sz="2100" spc="-10">
                <a:latin typeface="Calibri"/>
                <a:cs typeface="Calibri"/>
              </a:rPr>
              <a:t> </a:t>
            </a:r>
            <a:r>
              <a:rPr dirty="0" sz="2100" spc="-20">
                <a:latin typeface="Calibri"/>
                <a:cs typeface="Calibri"/>
              </a:rPr>
              <a:t>mode</a:t>
            </a:r>
            <a:endParaRPr sz="2100">
              <a:latin typeface="Calibri"/>
              <a:cs typeface="Calibri"/>
            </a:endParaRPr>
          </a:p>
          <a:p>
            <a:pPr lvl="1" marL="733425" indent="-342900">
              <a:lnSpc>
                <a:spcPct val="100000"/>
              </a:lnSpc>
              <a:spcBef>
                <a:spcPts val="900"/>
              </a:spcBef>
              <a:buClr>
                <a:srgbClr val="843B0C"/>
              </a:buClr>
              <a:buFont typeface="Wingdings"/>
              <a:buChar char=""/>
              <a:tabLst>
                <a:tab pos="733425" algn="l"/>
              </a:tabLst>
            </a:pPr>
            <a:r>
              <a:rPr dirty="0" sz="2100" b="1">
                <a:solidFill>
                  <a:srgbClr val="C00000"/>
                </a:solidFill>
                <a:latin typeface="Calibri"/>
                <a:cs typeface="Calibri"/>
              </a:rPr>
              <a:t>Sensitive</a:t>
            </a:r>
            <a:r>
              <a:rPr dirty="0" sz="21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C00000"/>
                </a:solidFill>
                <a:latin typeface="Calibri"/>
                <a:cs typeface="Calibri"/>
              </a:rPr>
              <a:t>Instruction</a:t>
            </a:r>
            <a:r>
              <a:rPr dirty="0" sz="21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C00000"/>
                </a:solidFill>
                <a:latin typeface="Calibri"/>
                <a:cs typeface="Calibri"/>
              </a:rPr>
              <a:t>:</a:t>
            </a:r>
            <a:r>
              <a:rPr dirty="0" sz="2100" spc="-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These</a:t>
            </a:r>
            <a:r>
              <a:rPr dirty="0" sz="2100" spc="-1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access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low-</a:t>
            </a:r>
            <a:r>
              <a:rPr dirty="0" sz="2100">
                <a:latin typeface="Calibri"/>
                <a:cs typeface="Calibri"/>
              </a:rPr>
              <a:t>level</a:t>
            </a:r>
            <a:r>
              <a:rPr dirty="0" sz="2100" spc="-1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machine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states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e.g.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page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tables,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IO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devices,</a:t>
            </a:r>
            <a:r>
              <a:rPr dirty="0" sz="2100" spc="-5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privilege</a:t>
            </a:r>
            <a:endParaRPr sz="2100">
              <a:latin typeface="Calibri"/>
              <a:cs typeface="Calibri"/>
            </a:endParaRPr>
          </a:p>
          <a:p>
            <a:pPr marL="733425">
              <a:lnSpc>
                <a:spcPct val="100000"/>
              </a:lnSpc>
              <a:spcBef>
                <a:spcPts val="505"/>
              </a:spcBef>
            </a:pPr>
            <a:r>
              <a:rPr dirty="0" sz="2100">
                <a:latin typeface="Calibri"/>
                <a:cs typeface="Calibri"/>
              </a:rPr>
              <a:t>bits,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which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needs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to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be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managed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by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the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control</a:t>
            </a:r>
            <a:r>
              <a:rPr dirty="0" sz="2100" spc="-1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software</a:t>
            </a:r>
            <a:r>
              <a:rPr dirty="0" sz="2100" spc="-2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(i.e.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an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OS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or</a:t>
            </a:r>
            <a:r>
              <a:rPr dirty="0" sz="2100" spc="-1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VMM/Hypervisor)</a:t>
            </a:r>
            <a:endParaRPr sz="2100">
              <a:latin typeface="Calibri"/>
              <a:cs typeface="Calibri"/>
            </a:endParaRPr>
          </a:p>
          <a:p>
            <a:pPr lvl="2" marL="1092835" marR="5080" indent="-360045">
              <a:lnSpc>
                <a:spcPct val="100000"/>
              </a:lnSpc>
              <a:spcBef>
                <a:spcPts val="805"/>
              </a:spcBef>
              <a:buClr>
                <a:srgbClr val="843B0C"/>
              </a:buClr>
              <a:buFont typeface="Wingdings"/>
              <a:buChar char=""/>
              <a:tabLst>
                <a:tab pos="1092835" algn="l"/>
              </a:tabLst>
            </a:pPr>
            <a:r>
              <a:rPr dirty="0" sz="2100" b="1">
                <a:solidFill>
                  <a:srgbClr val="006FC0"/>
                </a:solidFill>
                <a:latin typeface="Calibri"/>
                <a:cs typeface="Calibri"/>
              </a:rPr>
              <a:t>Behavior</a:t>
            </a:r>
            <a:r>
              <a:rPr dirty="0" sz="2100" spc="-5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006FC0"/>
                </a:solidFill>
                <a:latin typeface="Calibri"/>
                <a:cs typeface="Calibri"/>
              </a:rPr>
              <a:t>sensitive:</a:t>
            </a:r>
            <a:r>
              <a:rPr dirty="0" sz="2100" spc="-5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Those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whose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behaviour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or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result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depends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on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the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mode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or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configuration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of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 spc="-25">
                <a:latin typeface="Calibri"/>
                <a:cs typeface="Calibri"/>
              </a:rPr>
              <a:t>the </a:t>
            </a:r>
            <a:r>
              <a:rPr dirty="0" sz="2100">
                <a:latin typeface="Calibri"/>
                <a:cs typeface="Calibri"/>
              </a:rPr>
              <a:t>hardware's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mode.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If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guest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OS</a:t>
            </a:r>
            <a:r>
              <a:rPr dirty="0" sz="2100" spc="-6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executes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these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instructions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at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lower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privilege</a:t>
            </a:r>
            <a:r>
              <a:rPr dirty="0" sz="2100" spc="-2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levels,</a:t>
            </a:r>
            <a:r>
              <a:rPr dirty="0" sz="2100" spc="-2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result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will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 spc="-25">
                <a:latin typeface="Calibri"/>
                <a:cs typeface="Calibri"/>
              </a:rPr>
              <a:t>be </a:t>
            </a:r>
            <a:r>
              <a:rPr dirty="0" sz="2100" spc="-10">
                <a:latin typeface="Calibri"/>
                <a:cs typeface="Calibri"/>
              </a:rPr>
              <a:t>wrong</a:t>
            </a:r>
            <a:endParaRPr sz="2100">
              <a:latin typeface="Calibri"/>
              <a:cs typeface="Calibri"/>
            </a:endParaRPr>
          </a:p>
          <a:p>
            <a:pPr lvl="3" marL="1452880" marR="335280" indent="-360045">
              <a:lnSpc>
                <a:spcPct val="100000"/>
              </a:lnSpc>
              <a:spcBef>
                <a:spcPts val="600"/>
              </a:spcBef>
              <a:buClr>
                <a:srgbClr val="843B0C"/>
              </a:buClr>
              <a:buFont typeface="Arial"/>
              <a:buChar char="•"/>
              <a:tabLst>
                <a:tab pos="1452880" algn="l"/>
              </a:tabLst>
            </a:pPr>
            <a:r>
              <a:rPr dirty="0" sz="2100">
                <a:latin typeface="Calibri"/>
                <a:cs typeface="Calibri"/>
              </a:rPr>
              <a:t>E.g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of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such</a:t>
            </a:r>
            <a:r>
              <a:rPr dirty="0" sz="2100" spc="-2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instructions</a:t>
            </a:r>
            <a:r>
              <a:rPr dirty="0" sz="2100" spc="-2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on</a:t>
            </a:r>
            <a:r>
              <a:rPr dirty="0" sz="2100" spc="-2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x86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are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POP,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PUSH,</a:t>
            </a:r>
            <a:r>
              <a:rPr dirty="0" sz="2100" spc="-1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CALL,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JMP,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INT</a:t>
            </a:r>
            <a:r>
              <a:rPr dirty="0" sz="2100" spc="-2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n,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RET,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LAR,</a:t>
            </a:r>
            <a:r>
              <a:rPr dirty="0" sz="2100" spc="-2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LSL,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VERR,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VERW, </a:t>
            </a:r>
            <a:r>
              <a:rPr dirty="0" sz="2100" spc="-20">
                <a:latin typeface="Calibri"/>
                <a:cs typeface="Calibri"/>
              </a:rPr>
              <a:t>MOV.</a:t>
            </a:r>
            <a:endParaRPr sz="2100">
              <a:latin typeface="Calibri"/>
              <a:cs typeface="Calibri"/>
            </a:endParaRPr>
          </a:p>
          <a:p>
            <a:pPr lvl="2" marL="1092835" marR="265430" indent="-343535">
              <a:lnSpc>
                <a:spcPct val="100000"/>
              </a:lnSpc>
              <a:spcBef>
                <a:spcPts val="1200"/>
              </a:spcBef>
              <a:buClr>
                <a:srgbClr val="843B0C"/>
              </a:buClr>
              <a:buFont typeface="Wingdings"/>
              <a:buChar char=""/>
              <a:tabLst>
                <a:tab pos="1092835" algn="l"/>
              </a:tabLst>
            </a:pPr>
            <a:r>
              <a:rPr dirty="0" sz="2100" b="1">
                <a:solidFill>
                  <a:srgbClr val="006FC0"/>
                </a:solidFill>
                <a:latin typeface="Calibri"/>
                <a:cs typeface="Calibri"/>
              </a:rPr>
              <a:t>Control</a:t>
            </a:r>
            <a:r>
              <a:rPr dirty="0" sz="2100" spc="-5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006FC0"/>
                </a:solidFill>
                <a:latin typeface="Calibri"/>
                <a:cs typeface="Calibri"/>
              </a:rPr>
              <a:t>sensitive:</a:t>
            </a:r>
            <a:r>
              <a:rPr dirty="0" sz="2100" spc="-5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those</a:t>
            </a:r>
            <a:r>
              <a:rPr dirty="0" sz="2100" spc="-2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that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attempt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to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change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the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configuration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of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resources in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the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system</a:t>
            </a:r>
            <a:r>
              <a:rPr dirty="0" sz="2100" spc="-20">
                <a:latin typeface="Calibri"/>
                <a:cs typeface="Calibri"/>
              </a:rPr>
              <a:t> i.e. </a:t>
            </a:r>
            <a:r>
              <a:rPr dirty="0" sz="2100">
                <a:latin typeface="Calibri"/>
                <a:cs typeface="Calibri"/>
              </a:rPr>
              <a:t>that</a:t>
            </a:r>
            <a:r>
              <a:rPr dirty="0" sz="2100" spc="-6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modify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the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system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registers.</a:t>
            </a:r>
            <a:endParaRPr sz="2100">
              <a:latin typeface="Calibri"/>
              <a:cs typeface="Calibri"/>
            </a:endParaRPr>
          </a:p>
          <a:p>
            <a:pPr lvl="3" marL="1452245" indent="-359410">
              <a:lnSpc>
                <a:spcPct val="100000"/>
              </a:lnSpc>
              <a:spcBef>
                <a:spcPts val="605"/>
              </a:spcBef>
              <a:buClr>
                <a:srgbClr val="843B0C"/>
              </a:buClr>
              <a:buFont typeface="Arial"/>
              <a:buChar char="•"/>
              <a:tabLst>
                <a:tab pos="1452245" algn="l"/>
              </a:tabLst>
            </a:pPr>
            <a:r>
              <a:rPr dirty="0" sz="2100">
                <a:latin typeface="Calibri"/>
                <a:cs typeface="Calibri"/>
              </a:rPr>
              <a:t>E.g.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of</a:t>
            </a:r>
            <a:r>
              <a:rPr dirty="0" sz="2100" spc="-1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such</a:t>
            </a:r>
            <a:r>
              <a:rPr dirty="0" sz="2100" spc="-2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instructions </a:t>
            </a:r>
            <a:r>
              <a:rPr dirty="0" sz="2100">
                <a:latin typeface="Calibri"/>
                <a:cs typeface="Calibri"/>
              </a:rPr>
              <a:t>in</a:t>
            </a:r>
            <a:r>
              <a:rPr dirty="0" sz="2100" spc="-2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x86</a:t>
            </a:r>
            <a:r>
              <a:rPr dirty="0" sz="2100" spc="-2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are: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PUSHF,POPF,SGDT,SIDT,SLDT,SMSW.</a:t>
            </a:r>
            <a:endParaRPr sz="2100">
              <a:latin typeface="Calibri"/>
              <a:cs typeface="Calibri"/>
            </a:endParaRPr>
          </a:p>
          <a:p>
            <a:pPr lvl="1" marL="733425" indent="-342900">
              <a:lnSpc>
                <a:spcPct val="100000"/>
              </a:lnSpc>
              <a:spcBef>
                <a:spcPts val="900"/>
              </a:spcBef>
              <a:buClr>
                <a:srgbClr val="843B0C"/>
              </a:buClr>
              <a:buFont typeface="Wingdings"/>
              <a:buChar char=""/>
              <a:tabLst>
                <a:tab pos="733425" algn="l"/>
              </a:tabLst>
            </a:pPr>
            <a:r>
              <a:rPr dirty="0" sz="2100" b="1">
                <a:solidFill>
                  <a:srgbClr val="C00000"/>
                </a:solidFill>
                <a:latin typeface="Calibri"/>
                <a:cs typeface="Calibri"/>
              </a:rPr>
              <a:t>Safe</a:t>
            </a:r>
            <a:r>
              <a:rPr dirty="0" sz="2100" spc="-2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C00000"/>
                </a:solidFill>
                <a:latin typeface="Calibri"/>
                <a:cs typeface="Calibri"/>
              </a:rPr>
              <a:t>Instructions</a:t>
            </a:r>
            <a:r>
              <a:rPr dirty="0" sz="2100" spc="-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C00000"/>
                </a:solidFill>
                <a:latin typeface="Calibri"/>
                <a:cs typeface="Calibri"/>
              </a:rPr>
              <a:t>:</a:t>
            </a:r>
            <a:r>
              <a:rPr dirty="0" sz="2100" spc="-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Which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are</a:t>
            </a:r>
            <a:r>
              <a:rPr dirty="0" sz="2100" spc="-2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not</a:t>
            </a:r>
            <a:r>
              <a:rPr dirty="0" sz="2100" spc="-2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sensitive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0325" rIns="0" bIns="0" rtlCol="0" vert="horz">
            <a:spAutoFit/>
          </a:bodyPr>
          <a:lstStyle/>
          <a:p>
            <a:pPr marL="78740">
              <a:lnSpc>
                <a:spcPct val="100000"/>
              </a:lnSpc>
              <a:spcBef>
                <a:spcPts val="475"/>
              </a:spcBef>
            </a:pPr>
            <a:r>
              <a:rPr dirty="0"/>
              <a:t>CLOUD</a:t>
            </a:r>
            <a:r>
              <a:rPr dirty="0" spc="-15"/>
              <a:t> </a:t>
            </a:r>
            <a:r>
              <a:rPr dirty="0" spc="-10"/>
              <a:t>COMPUTING</a:t>
            </a:r>
          </a:p>
          <a:p>
            <a:pPr marL="85090">
              <a:lnSpc>
                <a:spcPct val="100000"/>
              </a:lnSpc>
              <a:spcBef>
                <a:spcPts val="380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Popek</a:t>
            </a:r>
            <a:r>
              <a:rPr dirty="0" spc="-3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and</a:t>
            </a:r>
            <a:r>
              <a:rPr dirty="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Goldberg</a:t>
            </a:r>
            <a:r>
              <a:rPr dirty="0" spc="-7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:</a:t>
            </a:r>
            <a:r>
              <a:rPr dirty="0" spc="-2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Theorems</a:t>
            </a:r>
            <a:r>
              <a:rPr dirty="0" spc="-1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-</a:t>
            </a:r>
            <a:r>
              <a:rPr dirty="0" spc="-2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50">
                <a:solidFill>
                  <a:srgbClr val="C55A1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15264" y="1387245"/>
            <a:ext cx="11730990" cy="54679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marR="231775" indent="-457200">
              <a:lnSpc>
                <a:spcPct val="120000"/>
              </a:lnSpc>
              <a:spcBef>
                <a:spcPts val="100"/>
              </a:spcBef>
              <a:buAutoNum type="arabicPeriod" startAt="4"/>
              <a:tabLst>
                <a:tab pos="469900" algn="l"/>
              </a:tabLst>
            </a:pPr>
            <a:r>
              <a:rPr dirty="0" sz="2200">
                <a:latin typeface="Calibri"/>
                <a:cs typeface="Calibri"/>
              </a:rPr>
              <a:t>They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also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came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up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with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set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conditions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have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been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coded-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set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theorems,</a:t>
            </a:r>
            <a:r>
              <a:rPr dirty="0" sz="2200" spc="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which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requirements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conditions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could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used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determine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assure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an </a:t>
            </a:r>
            <a:r>
              <a:rPr dirty="0" sz="2200">
                <a:latin typeface="Calibri"/>
                <a:cs typeface="Calibri"/>
              </a:rPr>
              <a:t>architecture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Virtualizable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when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building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system.</a:t>
            </a:r>
            <a:endParaRPr sz="2200">
              <a:latin typeface="Calibri"/>
              <a:cs typeface="Calibri"/>
            </a:endParaRPr>
          </a:p>
          <a:p>
            <a:pPr marL="480059" marR="845185">
              <a:lnSpc>
                <a:spcPct val="120000"/>
              </a:lnSpc>
              <a:spcBef>
                <a:spcPts val="600"/>
              </a:spcBef>
            </a:pP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depends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relations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between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control-</a:t>
            </a:r>
            <a:r>
              <a:rPr dirty="0" sz="2200">
                <a:latin typeface="Calibri"/>
                <a:cs typeface="Calibri"/>
              </a:rPr>
              <a:t>sensitive,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behaviour-</a:t>
            </a:r>
            <a:r>
              <a:rPr dirty="0" sz="2200">
                <a:latin typeface="Calibri"/>
                <a:cs typeface="Calibri"/>
              </a:rPr>
              <a:t>sensitive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privileged </a:t>
            </a:r>
            <a:r>
              <a:rPr dirty="0" sz="2200">
                <a:latin typeface="Calibri"/>
                <a:cs typeface="Calibri"/>
              </a:rPr>
              <a:t>instructions.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main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result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Popek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Goldberg's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analysis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expressed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follows.</a:t>
            </a:r>
            <a:endParaRPr sz="2200">
              <a:latin typeface="Calibri"/>
              <a:cs typeface="Calibri"/>
            </a:endParaRPr>
          </a:p>
          <a:p>
            <a:pPr marL="480059" marR="186055">
              <a:lnSpc>
                <a:spcPct val="120100"/>
              </a:lnSpc>
              <a:spcBef>
                <a:spcPts val="565"/>
              </a:spcBef>
            </a:pPr>
            <a:r>
              <a:rPr dirty="0" sz="2400" b="1">
                <a:solidFill>
                  <a:srgbClr val="1F4E79"/>
                </a:solidFill>
                <a:latin typeface="Calibri"/>
                <a:cs typeface="Calibri"/>
              </a:rPr>
              <a:t>Theorem</a:t>
            </a:r>
            <a:r>
              <a:rPr dirty="0" sz="2400" spc="-40" b="1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F4E79"/>
                </a:solidFill>
                <a:latin typeface="Calibri"/>
                <a:cs typeface="Calibri"/>
              </a:rPr>
              <a:t>1</a:t>
            </a:r>
            <a:r>
              <a:rPr dirty="0" sz="2400">
                <a:latin typeface="Calibri"/>
                <a:cs typeface="Calibri"/>
              </a:rPr>
              <a:t>: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C00000"/>
                </a:solidFill>
                <a:latin typeface="Calibri"/>
                <a:cs typeface="Calibri"/>
              </a:rPr>
              <a:t>For</a:t>
            </a:r>
            <a:r>
              <a:rPr dirty="0" sz="240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C00000"/>
                </a:solidFill>
                <a:latin typeface="Calibri"/>
                <a:cs typeface="Calibri"/>
              </a:rPr>
              <a:t>any</a:t>
            </a:r>
            <a:r>
              <a:rPr dirty="0" sz="2400" spc="-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C00000"/>
                </a:solidFill>
                <a:latin typeface="Calibri"/>
                <a:cs typeface="Calibri"/>
              </a:rPr>
              <a:t>conventional</a:t>
            </a:r>
            <a:r>
              <a:rPr dirty="0" sz="2400" spc="-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C00000"/>
                </a:solidFill>
                <a:latin typeface="Calibri"/>
                <a:cs typeface="Calibri"/>
              </a:rPr>
              <a:t>third</a:t>
            </a:r>
            <a:r>
              <a:rPr dirty="0" sz="2400" spc="-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C00000"/>
                </a:solidFill>
                <a:latin typeface="Calibri"/>
                <a:cs typeface="Calibri"/>
              </a:rPr>
              <a:t>generation</a:t>
            </a:r>
            <a:r>
              <a:rPr dirty="0" sz="240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C00000"/>
                </a:solidFill>
                <a:latin typeface="Calibri"/>
                <a:cs typeface="Calibri"/>
              </a:rPr>
              <a:t>computer,</a:t>
            </a:r>
            <a:r>
              <a:rPr dirty="0" sz="240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dirty="0" sz="2400" spc="-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C00000"/>
                </a:solidFill>
                <a:latin typeface="Calibri"/>
                <a:cs typeface="Calibri"/>
              </a:rPr>
              <a:t>VMM</a:t>
            </a:r>
            <a:r>
              <a:rPr dirty="0" sz="24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C00000"/>
                </a:solidFill>
                <a:latin typeface="Calibri"/>
                <a:cs typeface="Calibri"/>
              </a:rPr>
              <a:t>may</a:t>
            </a:r>
            <a:r>
              <a:rPr dirty="0" sz="2400" spc="-4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C00000"/>
                </a:solidFill>
                <a:latin typeface="Calibri"/>
                <a:cs typeface="Calibri"/>
              </a:rPr>
              <a:t>be</a:t>
            </a:r>
            <a:r>
              <a:rPr dirty="0" sz="2400" spc="-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C00000"/>
                </a:solidFill>
                <a:latin typeface="Calibri"/>
                <a:cs typeface="Calibri"/>
              </a:rPr>
              <a:t>constructed </a:t>
            </a:r>
            <a:r>
              <a:rPr dirty="0" sz="2400">
                <a:solidFill>
                  <a:srgbClr val="C00000"/>
                </a:solidFill>
                <a:latin typeface="Calibri"/>
                <a:cs typeface="Calibri"/>
              </a:rPr>
              <a:t>if</a:t>
            </a:r>
            <a:r>
              <a:rPr dirty="0" sz="2400" spc="-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dirty="0" sz="2400" spc="-1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C00000"/>
                </a:solidFill>
                <a:latin typeface="Calibri"/>
                <a:cs typeface="Calibri"/>
              </a:rPr>
              <a:t>set</a:t>
            </a:r>
            <a:r>
              <a:rPr dirty="0" sz="2400" spc="-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dirty="0" sz="2400" spc="-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C00000"/>
                </a:solidFill>
                <a:latin typeface="Calibri"/>
                <a:cs typeface="Calibri"/>
              </a:rPr>
              <a:t>sensitive</a:t>
            </a:r>
            <a:r>
              <a:rPr dirty="0" sz="2400" spc="-1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C00000"/>
                </a:solidFill>
                <a:latin typeface="Calibri"/>
                <a:cs typeface="Calibri"/>
              </a:rPr>
              <a:t>instructions</a:t>
            </a:r>
            <a:r>
              <a:rPr dirty="0" sz="24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C00000"/>
                </a:solidFill>
                <a:latin typeface="Calibri"/>
                <a:cs typeface="Calibri"/>
              </a:rPr>
              <a:t>for</a:t>
            </a:r>
            <a:r>
              <a:rPr dirty="0" sz="2400" spc="-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C00000"/>
                </a:solidFill>
                <a:latin typeface="Calibri"/>
                <a:cs typeface="Calibri"/>
              </a:rPr>
              <a:t>that</a:t>
            </a:r>
            <a:r>
              <a:rPr dirty="0" sz="2400" spc="-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C00000"/>
                </a:solidFill>
                <a:latin typeface="Calibri"/>
                <a:cs typeface="Calibri"/>
              </a:rPr>
              <a:t>computer</a:t>
            </a:r>
            <a:r>
              <a:rPr dirty="0" sz="2400" spc="-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C00000"/>
                </a:solidFill>
                <a:latin typeface="Calibri"/>
                <a:cs typeface="Calibri"/>
              </a:rPr>
              <a:t>is</a:t>
            </a:r>
            <a:r>
              <a:rPr dirty="0" sz="2400" spc="-1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dirty="0" sz="2400" spc="-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C00000"/>
                </a:solidFill>
                <a:latin typeface="Calibri"/>
                <a:cs typeface="Calibri"/>
              </a:rPr>
              <a:t>subset of</a:t>
            </a:r>
            <a:r>
              <a:rPr dirty="0" sz="2400" spc="-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dirty="0" sz="2400" spc="-1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C00000"/>
                </a:solidFill>
                <a:latin typeface="Calibri"/>
                <a:cs typeface="Calibri"/>
              </a:rPr>
              <a:t>set</a:t>
            </a:r>
            <a:r>
              <a:rPr dirty="0" sz="24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dirty="0" sz="2400" spc="-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C00000"/>
                </a:solidFill>
                <a:latin typeface="Calibri"/>
                <a:cs typeface="Calibri"/>
              </a:rPr>
              <a:t>privileged instructions.</a:t>
            </a:r>
            <a:endParaRPr sz="2400">
              <a:latin typeface="Calibri"/>
              <a:cs typeface="Calibri"/>
            </a:endParaRPr>
          </a:p>
          <a:p>
            <a:pPr lvl="1" marL="840105" marR="95885" indent="-360045">
              <a:lnSpc>
                <a:spcPct val="120000"/>
              </a:lnSpc>
              <a:spcBef>
                <a:spcPts val="635"/>
              </a:spcBef>
              <a:buFont typeface="Wingdings"/>
              <a:buChar char=""/>
              <a:tabLst>
                <a:tab pos="840105" algn="l"/>
              </a:tabLst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theorem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states that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build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VMM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sufficient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all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instructions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could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affect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the </a:t>
            </a:r>
            <a:r>
              <a:rPr dirty="0" sz="2200">
                <a:latin typeface="Calibri"/>
                <a:cs typeface="Calibri"/>
              </a:rPr>
              <a:t>correct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functioning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VMM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(sensitive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instructions)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always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trap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pass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control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the </a:t>
            </a:r>
            <a:r>
              <a:rPr dirty="0" sz="2200" spc="-20">
                <a:latin typeface="Calibri"/>
                <a:cs typeface="Calibri"/>
              </a:rPr>
              <a:t>VMM.</a:t>
            </a:r>
            <a:endParaRPr sz="2200">
              <a:latin typeface="Calibri"/>
              <a:cs typeface="Calibri"/>
            </a:endParaRPr>
          </a:p>
          <a:p>
            <a:pPr lvl="1" marL="840105" indent="-360045">
              <a:lnSpc>
                <a:spcPct val="100000"/>
              </a:lnSpc>
              <a:spcBef>
                <a:spcPts val="1125"/>
              </a:spcBef>
              <a:buFont typeface="Wingdings"/>
              <a:buChar char=""/>
              <a:tabLst>
                <a:tab pos="840105" algn="l"/>
              </a:tabLst>
            </a:pPr>
            <a:r>
              <a:rPr dirty="0" sz="2200" spc="-10">
                <a:latin typeface="Calibri"/>
                <a:cs typeface="Calibri"/>
              </a:rPr>
              <a:t>Non-</a:t>
            </a:r>
            <a:r>
              <a:rPr dirty="0" sz="2200">
                <a:latin typeface="Calibri"/>
                <a:cs typeface="Calibri"/>
              </a:rPr>
              <a:t>privileged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instructions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must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instead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executed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natively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(i.e.,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efficiently).</a:t>
            </a:r>
            <a:endParaRPr sz="2200">
              <a:latin typeface="Calibri"/>
              <a:cs typeface="Calibri"/>
            </a:endParaRPr>
          </a:p>
          <a:p>
            <a:pPr marL="6129655">
              <a:lnSpc>
                <a:spcPct val="100000"/>
              </a:lnSpc>
              <a:spcBef>
                <a:spcPts val="130"/>
              </a:spcBef>
            </a:pPr>
            <a:r>
              <a:rPr dirty="0" sz="1200">
                <a:latin typeface="Arial"/>
                <a:cs typeface="Arial"/>
              </a:rPr>
              <a:t>Ref: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  <a:hlinkClick r:id="rId2"/>
              </a:rPr>
              <a:t>https://en.wikipedia.org/wiki/Popek_and_Goldberg_virtualization_requirements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03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/>
              <a:t>CLOUD</a:t>
            </a:r>
            <a:r>
              <a:rPr dirty="0" spc="-15"/>
              <a:t> </a:t>
            </a:r>
            <a:r>
              <a:rPr dirty="0" spc="-10"/>
              <a:t>COMPUTING</a:t>
            </a:r>
          </a:p>
          <a:p>
            <a:pPr marL="24765">
              <a:lnSpc>
                <a:spcPct val="100000"/>
              </a:lnSpc>
              <a:spcBef>
                <a:spcPts val="380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Popek</a:t>
            </a:r>
            <a:r>
              <a:rPr dirty="0" spc="-2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and</a:t>
            </a:r>
            <a:r>
              <a:rPr dirty="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Goldberg</a:t>
            </a:r>
            <a:r>
              <a:rPr dirty="0" spc="-6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:</a:t>
            </a:r>
            <a:r>
              <a:rPr dirty="0" spc="-2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Theorems</a:t>
            </a:r>
            <a:r>
              <a:rPr dirty="0" spc="-1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(Cont.)</a:t>
            </a:r>
            <a:r>
              <a:rPr dirty="0" spc="-2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-</a:t>
            </a:r>
            <a:r>
              <a:rPr dirty="0" spc="-2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50">
                <a:solidFill>
                  <a:srgbClr val="C55A1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67715" y="1216304"/>
            <a:ext cx="11038840" cy="4787265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1010"/>
              </a:spcBef>
              <a:buAutoNum type="arabicPeriod" startAt="4"/>
              <a:tabLst>
                <a:tab pos="286385" algn="l"/>
              </a:tabLst>
            </a:pPr>
            <a:r>
              <a:rPr dirty="0" sz="2200" spc="-10">
                <a:solidFill>
                  <a:srgbClr val="1F4E79"/>
                </a:solidFill>
                <a:latin typeface="Calibri"/>
                <a:cs typeface="Calibri"/>
              </a:rPr>
              <a:t>(Cont.)</a:t>
            </a:r>
            <a:endParaRPr sz="2200">
              <a:latin typeface="Calibri"/>
              <a:cs typeface="Calibri"/>
            </a:endParaRPr>
          </a:p>
          <a:p>
            <a:pPr marL="480059">
              <a:lnSpc>
                <a:spcPct val="100000"/>
              </a:lnSpc>
              <a:spcBef>
                <a:spcPts val="915"/>
              </a:spcBef>
            </a:pPr>
            <a:r>
              <a:rPr dirty="0" sz="2200" b="1">
                <a:solidFill>
                  <a:srgbClr val="1F4E79"/>
                </a:solidFill>
                <a:latin typeface="Calibri"/>
                <a:cs typeface="Calibri"/>
              </a:rPr>
              <a:t>Theorem</a:t>
            </a:r>
            <a:r>
              <a:rPr dirty="0" sz="2200" spc="-5" b="1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1F4E79"/>
                </a:solidFill>
                <a:latin typeface="Calibri"/>
                <a:cs typeface="Calibri"/>
              </a:rPr>
              <a:t>2:</a:t>
            </a:r>
            <a:r>
              <a:rPr dirty="0" sz="2200" spc="-10" b="1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conventional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third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generation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computer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recursively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virtualizable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if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is:</a:t>
            </a:r>
            <a:endParaRPr sz="2200">
              <a:latin typeface="Calibri"/>
              <a:cs typeface="Calibri"/>
            </a:endParaRPr>
          </a:p>
          <a:p>
            <a:pPr lvl="1" marL="2650490" indent="-363855">
              <a:lnSpc>
                <a:spcPct val="100000"/>
              </a:lnSpc>
              <a:spcBef>
                <a:spcPts val="525"/>
              </a:spcBef>
              <a:buAutoNum type="alphaLcParenBoth"/>
              <a:tabLst>
                <a:tab pos="2650490" algn="l"/>
              </a:tabLst>
            </a:pP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virtualizable,</a:t>
            </a:r>
            <a:r>
              <a:rPr dirty="0" sz="220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 spc="-25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endParaRPr sz="2200">
              <a:latin typeface="Calibri"/>
              <a:cs typeface="Calibri"/>
            </a:endParaRPr>
          </a:p>
          <a:p>
            <a:pPr lvl="1" marL="2663190" indent="-376555">
              <a:lnSpc>
                <a:spcPct val="100000"/>
              </a:lnSpc>
              <a:spcBef>
                <a:spcPts val="520"/>
              </a:spcBef>
              <a:buAutoNum type="alphaLcParenBoth"/>
              <a:tabLst>
                <a:tab pos="2663190" algn="l"/>
              </a:tabLst>
            </a:pP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dirty="0" sz="220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VMM</a:t>
            </a:r>
            <a:r>
              <a:rPr dirty="0" sz="220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without</a:t>
            </a:r>
            <a:r>
              <a:rPr dirty="0" sz="220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any</a:t>
            </a:r>
            <a:r>
              <a:rPr dirty="0" sz="220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timing</a:t>
            </a:r>
            <a:r>
              <a:rPr dirty="0" sz="22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dependencies</a:t>
            </a:r>
            <a:r>
              <a:rPr dirty="0" sz="2200" spc="-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can</a:t>
            </a:r>
            <a:r>
              <a:rPr dirty="0" sz="220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be</a:t>
            </a:r>
            <a:r>
              <a:rPr dirty="0" sz="220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constructed</a:t>
            </a:r>
            <a:r>
              <a:rPr dirty="0" sz="2200" spc="-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for</a:t>
            </a:r>
            <a:r>
              <a:rPr dirty="0" sz="220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 spc="-25">
                <a:solidFill>
                  <a:srgbClr val="C00000"/>
                </a:solidFill>
                <a:latin typeface="Calibri"/>
                <a:cs typeface="Calibri"/>
              </a:rPr>
              <a:t>it.</a:t>
            </a:r>
            <a:endParaRPr sz="2200">
              <a:latin typeface="Calibri"/>
              <a:cs typeface="Calibri"/>
            </a:endParaRPr>
          </a:p>
          <a:p>
            <a:pPr marL="1092835" marR="216535" indent="-360045">
              <a:lnSpc>
                <a:spcPct val="120000"/>
              </a:lnSpc>
              <a:spcBef>
                <a:spcPts val="685"/>
              </a:spcBef>
              <a:buChar char="•"/>
              <a:tabLst>
                <a:tab pos="1092835" algn="l"/>
                <a:tab pos="1156970" algn="l"/>
              </a:tabLst>
            </a:pPr>
            <a:r>
              <a:rPr dirty="0" sz="2200">
                <a:latin typeface="Arial"/>
                <a:cs typeface="Arial"/>
              </a:rPr>
              <a:t>	</a:t>
            </a:r>
            <a:r>
              <a:rPr dirty="0" sz="2200">
                <a:latin typeface="Calibri"/>
                <a:cs typeface="Calibri"/>
              </a:rPr>
              <a:t>If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architectures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cannot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virtualized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classic</a:t>
            </a:r>
            <a:r>
              <a:rPr dirty="0" sz="2200" spc="-25" b="1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way,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binary</a:t>
            </a:r>
            <a:r>
              <a:rPr dirty="0" sz="2200" spc="-4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translation</a:t>
            </a:r>
            <a:r>
              <a:rPr dirty="0" sz="2200">
                <a:latin typeface="Calibri"/>
                <a:cs typeface="Calibri"/>
              </a:rPr>
              <a:t>,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which </a:t>
            </a:r>
            <a:r>
              <a:rPr dirty="0" sz="2200">
                <a:latin typeface="Calibri"/>
                <a:cs typeface="Calibri"/>
              </a:rPr>
              <a:t>replaces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sensitive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instructions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not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generate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traps</a:t>
            </a:r>
            <a:endParaRPr sz="2200">
              <a:latin typeface="Calibri"/>
              <a:cs typeface="Calibri"/>
            </a:endParaRPr>
          </a:p>
          <a:p>
            <a:pPr marL="1092835" indent="-359410">
              <a:lnSpc>
                <a:spcPct val="100000"/>
              </a:lnSpc>
              <a:spcBef>
                <a:spcPts val="1125"/>
              </a:spcBef>
              <a:buFont typeface="Arial"/>
              <a:buChar char="•"/>
              <a:tabLst>
                <a:tab pos="1092835" algn="l"/>
              </a:tabLst>
            </a:pPr>
            <a:r>
              <a:rPr dirty="0" sz="2200">
                <a:latin typeface="Calibri"/>
                <a:cs typeface="Calibri"/>
              </a:rPr>
              <a:t>Recursive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virtualization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ability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install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within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conditions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under</a:t>
            </a:r>
            <a:endParaRPr sz="2200">
              <a:latin typeface="Calibri"/>
              <a:cs typeface="Calibri"/>
            </a:endParaRPr>
          </a:p>
          <a:p>
            <a:pPr marL="1092835">
              <a:lnSpc>
                <a:spcPct val="100000"/>
              </a:lnSpc>
              <a:spcBef>
                <a:spcPts val="530"/>
              </a:spcBef>
            </a:pP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VMM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copy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itself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built.</a:t>
            </a:r>
            <a:endParaRPr sz="2200">
              <a:latin typeface="Calibri"/>
              <a:cs typeface="Calibri"/>
            </a:endParaRPr>
          </a:p>
          <a:p>
            <a:pPr marL="551815" marR="13335">
              <a:lnSpc>
                <a:spcPct val="120100"/>
              </a:lnSpc>
              <a:spcBef>
                <a:spcPts val="600"/>
              </a:spcBef>
            </a:pPr>
            <a:r>
              <a:rPr dirty="0" sz="2200" b="1">
                <a:solidFill>
                  <a:srgbClr val="1F4E79"/>
                </a:solidFill>
                <a:latin typeface="Calibri"/>
                <a:cs typeface="Calibri"/>
              </a:rPr>
              <a:t>Theorem</a:t>
            </a:r>
            <a:r>
              <a:rPr dirty="0" sz="2200" spc="-10" b="1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1F4E79"/>
                </a:solidFill>
                <a:latin typeface="Calibri"/>
                <a:cs typeface="Calibri"/>
              </a:rPr>
              <a:t>3</a:t>
            </a:r>
            <a:r>
              <a:rPr dirty="0" sz="2200">
                <a:latin typeface="Calibri"/>
                <a:cs typeface="Calibri"/>
              </a:rPr>
              <a:t>: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hybrid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virtual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machine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monitor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may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constructed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any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conventional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third generation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machine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set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sensitive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instructions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subset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set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of </a:t>
            </a:r>
            <a:r>
              <a:rPr dirty="0" sz="2200">
                <a:latin typeface="Calibri"/>
                <a:cs typeface="Calibri"/>
              </a:rPr>
              <a:t>privileged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instructions.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66257" y="6574028"/>
            <a:ext cx="62236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Calibri"/>
                <a:cs typeface="Calibri"/>
              </a:rPr>
              <a:t>Ref</a:t>
            </a:r>
            <a:r>
              <a:rPr dirty="0" sz="1400">
                <a:latin typeface="Calibri"/>
                <a:cs typeface="Calibri"/>
              </a:rPr>
              <a:t>: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  <a:hlinkClick r:id="rId2"/>
              </a:rPr>
              <a:t>https://en.wikipedia.org/wiki/Popek_and_Goldberg_virtualization_requirements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2453462"/>
            <a:ext cx="7771765" cy="1763395"/>
          </a:xfrm>
          <a:prstGeom prst="rect"/>
        </p:spPr>
        <p:txBody>
          <a:bodyPr wrap="square" lIns="0" tIns="116205" rIns="0" bIns="0" rtlCol="0" vert="horz">
            <a:spAutoFit/>
          </a:bodyPr>
          <a:lstStyle/>
          <a:p>
            <a:pPr marL="12700" marR="5080">
              <a:lnSpc>
                <a:spcPts val="6480"/>
              </a:lnSpc>
              <a:spcBef>
                <a:spcPts val="915"/>
              </a:spcBef>
            </a:pPr>
            <a:r>
              <a:rPr dirty="0" sz="6000" b="0">
                <a:solidFill>
                  <a:srgbClr val="000000"/>
                </a:solidFill>
                <a:latin typeface="Calibri"/>
                <a:cs typeface="Calibri"/>
              </a:rPr>
              <a:t>Does</a:t>
            </a:r>
            <a:r>
              <a:rPr dirty="0" sz="6000" spc="-4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6000" b="0">
                <a:solidFill>
                  <a:srgbClr val="000000"/>
                </a:solidFill>
                <a:latin typeface="Calibri"/>
                <a:cs typeface="Calibri"/>
              </a:rPr>
              <a:t>x86</a:t>
            </a:r>
            <a:r>
              <a:rPr dirty="0" sz="6000" spc="-4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6000" b="0">
                <a:solidFill>
                  <a:srgbClr val="000000"/>
                </a:solidFill>
                <a:latin typeface="Calibri"/>
                <a:cs typeface="Calibri"/>
              </a:rPr>
              <a:t>support</a:t>
            </a:r>
            <a:r>
              <a:rPr dirty="0" sz="6000" spc="-4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6000" spc="-10" b="0">
                <a:solidFill>
                  <a:srgbClr val="000000"/>
                </a:solidFill>
                <a:latin typeface="Calibri"/>
                <a:cs typeface="Calibri"/>
              </a:rPr>
              <a:t>Popek-</a:t>
            </a:r>
            <a:r>
              <a:rPr dirty="0" sz="6000" b="0">
                <a:solidFill>
                  <a:srgbClr val="000000"/>
                </a:solidFill>
                <a:latin typeface="Calibri"/>
                <a:cs typeface="Calibri"/>
              </a:rPr>
              <a:t>Goldberg </a:t>
            </a:r>
            <a:r>
              <a:rPr dirty="0" sz="6000" spc="-10" b="0">
                <a:solidFill>
                  <a:srgbClr val="000000"/>
                </a:solidFill>
                <a:latin typeface="Calibri"/>
                <a:cs typeface="Calibri"/>
              </a:rPr>
              <a:t>virtualization?</a:t>
            </a:r>
            <a:endParaRPr sz="6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149" y="2014537"/>
            <a:ext cx="4124325" cy="41243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94868" y="1215008"/>
            <a:ext cx="1654810" cy="862330"/>
          </a:xfrm>
          <a:prstGeom prst="rect">
            <a:avLst/>
          </a:prstGeom>
        </p:spPr>
        <p:txBody>
          <a:bodyPr wrap="square" lIns="0" tIns="152400" rIns="0" bIns="0" rtlCol="0" vert="horz">
            <a:spAutoFit/>
          </a:bodyPr>
          <a:lstStyle/>
          <a:p>
            <a:pPr marL="12700" marR="5080" indent="346075">
              <a:lnSpc>
                <a:spcPct val="71400"/>
              </a:lnSpc>
              <a:spcBef>
                <a:spcPts val="1200"/>
              </a:spcBef>
            </a:pPr>
            <a:r>
              <a:rPr dirty="0" sz="3200" spc="-10">
                <a:latin typeface="Calibri"/>
                <a:cs typeface="Calibri"/>
              </a:rPr>
              <a:t>Least privileged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1386" y="-20624"/>
            <a:ext cx="11203305" cy="13595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84455">
              <a:lnSpc>
                <a:spcPct val="100000"/>
              </a:lnSpc>
              <a:spcBef>
                <a:spcPts val="105"/>
              </a:spcBef>
            </a:pPr>
            <a:r>
              <a:rPr dirty="0" u="sng" sz="260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Observation</a:t>
            </a:r>
            <a:r>
              <a:rPr dirty="0" u="sng" sz="2600" spc="-4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60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1:</a:t>
            </a:r>
            <a:r>
              <a:rPr dirty="0" sz="2600" spc="-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Only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Ring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0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can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invoke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privileged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instructions.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Rings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1,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2,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3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trap </a:t>
            </a:r>
            <a:r>
              <a:rPr dirty="0" sz="2600">
                <a:latin typeface="Calibri"/>
                <a:cs typeface="Calibri"/>
              </a:rPr>
              <a:t>when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invoking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privileged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instructions.</a:t>
            </a:r>
            <a:endParaRPr sz="2600">
              <a:latin typeface="Calibri"/>
              <a:cs typeface="Calibri"/>
            </a:endParaRPr>
          </a:p>
          <a:p>
            <a:pPr marL="4601210">
              <a:lnSpc>
                <a:spcPct val="100000"/>
              </a:lnSpc>
              <a:spcBef>
                <a:spcPts val="1135"/>
              </a:spcBef>
            </a:pPr>
            <a:r>
              <a:rPr dirty="0" u="sng" sz="260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Observation</a:t>
            </a:r>
            <a:r>
              <a:rPr dirty="0" u="sng" sz="2600" spc="-4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60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2: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x86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PTE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only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has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single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bit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to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10505" y="1312290"/>
            <a:ext cx="7043420" cy="819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600">
                <a:latin typeface="Calibri"/>
                <a:cs typeface="Calibri"/>
              </a:rPr>
              <a:t>indicate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user/supervisor!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MMU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maps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Rings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0,</a:t>
            </a:r>
            <a:r>
              <a:rPr dirty="0" sz="2600" spc="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1,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2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“supervisor,”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Ring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3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“user.”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74342" y="1958086"/>
            <a:ext cx="1060450" cy="150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8575">
              <a:lnSpc>
                <a:spcPts val="3810"/>
              </a:lnSpc>
              <a:spcBef>
                <a:spcPts val="105"/>
              </a:spcBef>
            </a:pPr>
            <a:r>
              <a:rPr dirty="0" sz="3200">
                <a:latin typeface="Calibri"/>
                <a:cs typeface="Calibri"/>
              </a:rPr>
              <a:t>Ring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 spc="-5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ts val="3810"/>
              </a:lnSpc>
            </a:pPr>
            <a:r>
              <a:rPr dirty="0" sz="3200">
                <a:latin typeface="Calibri"/>
                <a:cs typeface="Calibri"/>
              </a:rPr>
              <a:t>Ring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 spc="-50">
                <a:latin typeface="Calibri"/>
                <a:cs typeface="Calibri"/>
              </a:rPr>
              <a:t>2</a:t>
            </a:r>
            <a:endParaRPr sz="3200">
              <a:latin typeface="Calibri"/>
              <a:cs typeface="Calibri"/>
            </a:endParaRPr>
          </a:p>
          <a:p>
            <a:pPr marL="19685">
              <a:lnSpc>
                <a:spcPct val="100000"/>
              </a:lnSpc>
              <a:spcBef>
                <a:spcPts val="165"/>
              </a:spcBef>
            </a:pPr>
            <a:r>
              <a:rPr dirty="0" sz="3200">
                <a:latin typeface="Calibri"/>
                <a:cs typeface="Calibri"/>
              </a:rPr>
              <a:t>Ring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 spc="-50">
                <a:latin typeface="Calibri"/>
                <a:cs typeface="Calibri"/>
              </a:rPr>
              <a:t>1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045714" y="2791332"/>
            <a:ext cx="1976120" cy="625475"/>
          </a:xfrm>
          <a:custGeom>
            <a:avLst/>
            <a:gdLst/>
            <a:ahLst/>
            <a:cxnLst/>
            <a:rect l="l" t="t" r="r" b="b"/>
            <a:pathLst>
              <a:path w="1976120" h="625475">
                <a:moveTo>
                  <a:pt x="130048" y="458089"/>
                </a:moveTo>
                <a:lnTo>
                  <a:pt x="0" y="514985"/>
                </a:lnTo>
                <a:lnTo>
                  <a:pt x="123571" y="584835"/>
                </a:lnTo>
                <a:lnTo>
                  <a:pt x="126314" y="530999"/>
                </a:lnTo>
                <a:lnTo>
                  <a:pt x="127292" y="511949"/>
                </a:lnTo>
                <a:lnTo>
                  <a:pt x="127317" y="511302"/>
                </a:lnTo>
                <a:lnTo>
                  <a:pt x="130048" y="458089"/>
                </a:lnTo>
                <a:close/>
              </a:path>
              <a:path w="1976120" h="625475">
                <a:moveTo>
                  <a:pt x="1975993" y="606298"/>
                </a:moveTo>
                <a:lnTo>
                  <a:pt x="1967077" y="605853"/>
                </a:lnTo>
                <a:lnTo>
                  <a:pt x="124409" y="51701"/>
                </a:lnTo>
                <a:lnTo>
                  <a:pt x="125514" y="48006"/>
                </a:lnTo>
                <a:lnTo>
                  <a:pt x="139954" y="0"/>
                </a:lnTo>
                <a:lnTo>
                  <a:pt x="0" y="24257"/>
                </a:lnTo>
                <a:lnTo>
                  <a:pt x="103378" y="121666"/>
                </a:lnTo>
                <a:lnTo>
                  <a:pt x="118910" y="69977"/>
                </a:lnTo>
                <a:lnTo>
                  <a:pt x="1887258" y="601776"/>
                </a:lnTo>
                <a:lnTo>
                  <a:pt x="127292" y="511949"/>
                </a:lnTo>
                <a:lnTo>
                  <a:pt x="126352" y="530352"/>
                </a:lnTo>
                <a:lnTo>
                  <a:pt x="126314" y="530999"/>
                </a:lnTo>
                <a:lnTo>
                  <a:pt x="1963750" y="624776"/>
                </a:lnTo>
                <a:lnTo>
                  <a:pt x="1966087" y="625475"/>
                </a:lnTo>
                <a:lnTo>
                  <a:pt x="1966252" y="624903"/>
                </a:lnTo>
                <a:lnTo>
                  <a:pt x="1974977" y="625348"/>
                </a:lnTo>
                <a:lnTo>
                  <a:pt x="1975993" y="6062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5206746" y="3382136"/>
            <a:ext cx="1060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89582" y="3792727"/>
            <a:ext cx="104394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Calibri"/>
                <a:cs typeface="Calibri"/>
              </a:rPr>
              <a:t>Ring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 spc="-50">
                <a:latin typeface="Calibri"/>
                <a:cs typeface="Calibri"/>
              </a:rPr>
              <a:t>0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206746" y="4095750"/>
            <a:ext cx="1060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206746" y="5685535"/>
            <a:ext cx="1060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62346" y="2782442"/>
            <a:ext cx="5219065" cy="3220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301750">
              <a:lnSpc>
                <a:spcPts val="3045"/>
              </a:lnSpc>
            </a:pPr>
            <a:r>
              <a:rPr dirty="0" sz="3200" b="1">
                <a:latin typeface="Calibri"/>
                <a:cs typeface="Calibri"/>
              </a:rPr>
              <a:t>The</a:t>
            </a:r>
            <a:r>
              <a:rPr dirty="0" sz="3200" spc="-4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Normal</a:t>
            </a:r>
            <a:r>
              <a:rPr dirty="0" sz="3200" spc="-45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x86</a:t>
            </a:r>
            <a:r>
              <a:rPr dirty="0" sz="3200" spc="-15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Setup</a:t>
            </a:r>
            <a:endParaRPr sz="3200">
              <a:latin typeface="Calibri"/>
              <a:cs typeface="Calibri"/>
            </a:endParaRPr>
          </a:p>
          <a:p>
            <a:pPr marR="23495">
              <a:lnSpc>
                <a:spcPct val="77800"/>
              </a:lnSpc>
              <a:spcBef>
                <a:spcPts val="1525"/>
              </a:spcBef>
            </a:pPr>
            <a:r>
              <a:rPr dirty="0" sz="2400">
                <a:latin typeface="Calibri"/>
                <a:cs typeface="Calibri"/>
              </a:rPr>
              <a:t>Intel originally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baseline="1984" sz="4200" spc="-2565">
                <a:latin typeface="Calibri"/>
                <a:cs typeface="Calibri"/>
              </a:rPr>
              <a:t>U</a:t>
            </a:r>
            <a:r>
              <a:rPr dirty="0" sz="2400" spc="-5">
                <a:latin typeface="Calibri"/>
                <a:cs typeface="Calibri"/>
              </a:rPr>
              <a:t>t</a:t>
            </a:r>
            <a:r>
              <a:rPr dirty="0" sz="2400" spc="-395">
                <a:latin typeface="Calibri"/>
                <a:cs typeface="Calibri"/>
              </a:rPr>
              <a:t>h</a:t>
            </a:r>
            <a:r>
              <a:rPr dirty="0" baseline="1984" sz="4200" spc="-1087">
                <a:latin typeface="Calibri"/>
                <a:cs typeface="Calibri"/>
              </a:rPr>
              <a:t>s</a:t>
            </a:r>
            <a:r>
              <a:rPr dirty="0" sz="2400" spc="-565">
                <a:latin typeface="Calibri"/>
                <a:cs typeface="Calibri"/>
              </a:rPr>
              <a:t>o</a:t>
            </a:r>
            <a:r>
              <a:rPr dirty="0" baseline="1984" sz="4200" spc="-1260">
                <a:latin typeface="Calibri"/>
                <a:cs typeface="Calibri"/>
              </a:rPr>
              <a:t>e</a:t>
            </a:r>
            <a:r>
              <a:rPr dirty="0" sz="2400" spc="-440">
                <a:latin typeface="Calibri"/>
                <a:cs typeface="Calibri"/>
              </a:rPr>
              <a:t>u</a:t>
            </a:r>
            <a:r>
              <a:rPr dirty="0" baseline="1984" sz="4200" spc="-847">
                <a:latin typeface="Calibri"/>
                <a:cs typeface="Calibri"/>
              </a:rPr>
              <a:t>r</a:t>
            </a:r>
            <a:r>
              <a:rPr dirty="0" sz="2400" spc="-15">
                <a:latin typeface="Calibri"/>
                <a:cs typeface="Calibri"/>
              </a:rPr>
              <a:t>g</a:t>
            </a:r>
            <a:r>
              <a:rPr dirty="0" sz="2400" spc="-1210">
                <a:latin typeface="Calibri"/>
                <a:cs typeface="Calibri"/>
              </a:rPr>
              <a:t>h</a:t>
            </a:r>
            <a:r>
              <a:rPr dirty="0" baseline="1984" sz="4200" spc="-240">
                <a:latin typeface="Calibri"/>
                <a:cs typeface="Calibri"/>
              </a:rPr>
              <a:t>a</a:t>
            </a:r>
            <a:r>
              <a:rPr dirty="0" sz="2400" spc="-660">
                <a:latin typeface="Calibri"/>
                <a:cs typeface="Calibri"/>
              </a:rPr>
              <a:t>t</a:t>
            </a:r>
            <a:r>
              <a:rPr dirty="0" baseline="1984" sz="4200" spc="-427">
                <a:latin typeface="Calibri"/>
                <a:cs typeface="Calibri"/>
              </a:rPr>
              <a:t>p</a:t>
            </a:r>
            <a:r>
              <a:rPr dirty="0" sz="2400" spc="-540">
                <a:latin typeface="Calibri"/>
                <a:cs typeface="Calibri"/>
              </a:rPr>
              <a:t>t</a:t>
            </a:r>
            <a:r>
              <a:rPr dirty="0" baseline="1984" sz="4200" spc="-1432">
                <a:latin typeface="Calibri"/>
                <a:cs typeface="Calibri"/>
              </a:rPr>
              <a:t>p</a:t>
            </a:r>
            <a:r>
              <a:rPr dirty="0" sz="2400" spc="-335">
                <a:latin typeface="Calibri"/>
                <a:cs typeface="Calibri"/>
              </a:rPr>
              <a:t>h</a:t>
            </a:r>
            <a:r>
              <a:rPr dirty="0" baseline="1984" sz="4200" spc="-1177">
                <a:latin typeface="Calibri"/>
                <a:cs typeface="Calibri"/>
              </a:rPr>
              <a:t>s</a:t>
            </a:r>
            <a:r>
              <a:rPr dirty="0" sz="2400" spc="-5">
                <a:latin typeface="Calibri"/>
                <a:cs typeface="Calibri"/>
              </a:rPr>
              <a:t>at</a:t>
            </a:r>
            <a:r>
              <a:rPr dirty="0" sz="240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devi</a:t>
            </a:r>
            <a:r>
              <a:rPr dirty="0" sz="2400" spc="-965">
                <a:latin typeface="Calibri"/>
                <a:cs typeface="Calibri"/>
              </a:rPr>
              <a:t>c</a:t>
            </a:r>
            <a:r>
              <a:rPr dirty="0" sz="2800" spc="-590">
                <a:latin typeface="Calibri"/>
                <a:cs typeface="Calibri"/>
              </a:rPr>
              <a:t>R</a:t>
            </a:r>
            <a:r>
              <a:rPr dirty="0" sz="2400" spc="-650">
                <a:latin typeface="Calibri"/>
                <a:cs typeface="Calibri"/>
              </a:rPr>
              <a:t>e</a:t>
            </a:r>
            <a:r>
              <a:rPr dirty="0" sz="2800" spc="-10">
                <a:latin typeface="Calibri"/>
                <a:cs typeface="Calibri"/>
              </a:rPr>
              <a:t>i</a:t>
            </a:r>
            <a:r>
              <a:rPr dirty="0" sz="2800" spc="-960">
                <a:latin typeface="Calibri"/>
                <a:cs typeface="Calibri"/>
              </a:rPr>
              <a:t>n</a:t>
            </a:r>
            <a:r>
              <a:rPr dirty="0" sz="2400" spc="-340">
                <a:latin typeface="Calibri"/>
                <a:cs typeface="Calibri"/>
              </a:rPr>
              <a:t>d</a:t>
            </a:r>
            <a:r>
              <a:rPr dirty="0" sz="2800" spc="-1005">
                <a:latin typeface="Calibri"/>
                <a:cs typeface="Calibri"/>
              </a:rPr>
              <a:t>g</a:t>
            </a:r>
            <a:r>
              <a:rPr dirty="0" sz="2400" spc="-20">
                <a:latin typeface="Calibri"/>
                <a:cs typeface="Calibri"/>
              </a:rPr>
              <a:t>r</a:t>
            </a:r>
            <a:r>
              <a:rPr dirty="0" sz="2400" spc="-15">
                <a:latin typeface="Calibri"/>
                <a:cs typeface="Calibri"/>
              </a:rPr>
              <a:t>i</a:t>
            </a:r>
            <a:r>
              <a:rPr dirty="0" sz="2400" spc="-860">
                <a:latin typeface="Calibri"/>
                <a:cs typeface="Calibri"/>
              </a:rPr>
              <a:t>v</a:t>
            </a:r>
            <a:r>
              <a:rPr dirty="0" sz="2800" spc="-605">
                <a:latin typeface="Calibri"/>
                <a:cs typeface="Calibri"/>
              </a:rPr>
              <a:t>3</a:t>
            </a:r>
            <a:r>
              <a:rPr dirty="0" sz="2400" spc="-20">
                <a:latin typeface="Calibri"/>
                <a:cs typeface="Calibri"/>
              </a:rPr>
              <a:t>e</a:t>
            </a:r>
            <a:r>
              <a:rPr dirty="0" sz="2400" spc="-15">
                <a:latin typeface="Calibri"/>
                <a:cs typeface="Calibri"/>
              </a:rPr>
              <a:t>rs</a:t>
            </a:r>
            <a:r>
              <a:rPr dirty="0" sz="2400">
                <a:latin typeface="Calibri"/>
                <a:cs typeface="Calibri"/>
              </a:rPr>
              <a:t> could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“isolated”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here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75700"/>
              </a:lnSpc>
              <a:spcBef>
                <a:spcPts val="919"/>
              </a:spcBef>
            </a:pPr>
            <a:r>
              <a:rPr dirty="0" baseline="1157" sz="3600">
                <a:latin typeface="Calibri"/>
                <a:cs typeface="Calibri"/>
              </a:rPr>
              <a:t>However,</a:t>
            </a:r>
            <a:r>
              <a:rPr dirty="0" baseline="1157" sz="3600" spc="15">
                <a:latin typeface="Calibri"/>
                <a:cs typeface="Calibri"/>
              </a:rPr>
              <a:t> </a:t>
            </a:r>
            <a:r>
              <a:rPr dirty="0" baseline="1157" sz="3600" spc="-15">
                <a:latin typeface="Calibri"/>
                <a:cs typeface="Calibri"/>
              </a:rPr>
              <a:t>“isol</a:t>
            </a:r>
            <a:r>
              <a:rPr dirty="0" baseline="1157" sz="3600" spc="-30">
                <a:latin typeface="Calibri"/>
                <a:cs typeface="Calibri"/>
              </a:rPr>
              <a:t>a</a:t>
            </a:r>
            <a:r>
              <a:rPr dirty="0" sz="2800" spc="-1820">
                <a:solidFill>
                  <a:srgbClr val="BEBEBE"/>
                </a:solidFill>
                <a:latin typeface="Calibri"/>
                <a:cs typeface="Calibri"/>
              </a:rPr>
              <a:t>N</a:t>
            </a:r>
            <a:r>
              <a:rPr dirty="0" baseline="1157" sz="3600" spc="-15">
                <a:latin typeface="Calibri"/>
                <a:cs typeface="Calibri"/>
              </a:rPr>
              <a:t>t</a:t>
            </a:r>
            <a:r>
              <a:rPr dirty="0" baseline="1157" sz="3600" spc="-322">
                <a:latin typeface="Calibri"/>
                <a:cs typeface="Calibri"/>
              </a:rPr>
              <a:t>e</a:t>
            </a:r>
            <a:r>
              <a:rPr dirty="0" sz="2800" spc="-1295">
                <a:solidFill>
                  <a:srgbClr val="BEBEBE"/>
                </a:solidFill>
                <a:latin typeface="Calibri"/>
                <a:cs typeface="Calibri"/>
              </a:rPr>
              <a:t>o</a:t>
            </a:r>
            <a:r>
              <a:rPr dirty="0" baseline="1157" sz="3600" spc="-22">
                <a:latin typeface="Calibri"/>
                <a:cs typeface="Calibri"/>
              </a:rPr>
              <a:t>d</a:t>
            </a:r>
            <a:r>
              <a:rPr dirty="0" baseline="1157" sz="3600" spc="-1492">
                <a:latin typeface="Calibri"/>
                <a:cs typeface="Calibri"/>
              </a:rPr>
              <a:t>”</a:t>
            </a:r>
            <a:r>
              <a:rPr dirty="0" sz="2800" spc="-5">
                <a:solidFill>
                  <a:srgbClr val="BEBEBE"/>
                </a:solidFill>
                <a:latin typeface="Calibri"/>
                <a:cs typeface="Calibri"/>
              </a:rPr>
              <a:t>t</a:t>
            </a:r>
            <a:r>
              <a:rPr dirty="0" sz="2800" spc="-915">
                <a:solidFill>
                  <a:srgbClr val="BEBEBE"/>
                </a:solidFill>
                <a:latin typeface="Calibri"/>
                <a:cs typeface="Calibri"/>
              </a:rPr>
              <a:t>h</a:t>
            </a:r>
            <a:r>
              <a:rPr dirty="0" baseline="1157" sz="3600" spc="-562">
                <a:latin typeface="Calibri"/>
                <a:cs typeface="Calibri"/>
              </a:rPr>
              <a:t>d</a:t>
            </a:r>
            <a:r>
              <a:rPr dirty="0" sz="2800" spc="-285">
                <a:solidFill>
                  <a:srgbClr val="BEBEBE"/>
                </a:solidFill>
                <a:latin typeface="Calibri"/>
                <a:cs typeface="Calibri"/>
              </a:rPr>
              <a:t>i</a:t>
            </a:r>
            <a:r>
              <a:rPr dirty="0" baseline="1157" sz="3600" spc="-885">
                <a:latin typeface="Calibri"/>
                <a:cs typeface="Calibri"/>
              </a:rPr>
              <a:t>r</a:t>
            </a:r>
            <a:r>
              <a:rPr dirty="0" sz="2800" spc="-915">
                <a:solidFill>
                  <a:srgbClr val="BEBEBE"/>
                </a:solidFill>
                <a:latin typeface="Calibri"/>
                <a:cs typeface="Calibri"/>
              </a:rPr>
              <a:t>n</a:t>
            </a:r>
            <a:r>
              <a:rPr dirty="0" baseline="1157" sz="3600" spc="-15">
                <a:latin typeface="Calibri"/>
                <a:cs typeface="Calibri"/>
              </a:rPr>
              <a:t>i</a:t>
            </a:r>
            <a:r>
              <a:rPr dirty="0" baseline="1157" sz="3600" spc="-1132">
                <a:latin typeface="Calibri"/>
                <a:cs typeface="Calibri"/>
              </a:rPr>
              <a:t>v</a:t>
            </a:r>
            <a:r>
              <a:rPr dirty="0" sz="2800" spc="-590">
                <a:solidFill>
                  <a:srgbClr val="BEBEBE"/>
                </a:solidFill>
                <a:latin typeface="Calibri"/>
                <a:cs typeface="Calibri"/>
              </a:rPr>
              <a:t>g</a:t>
            </a:r>
            <a:r>
              <a:rPr dirty="0" baseline="1157" sz="3600" spc="-22">
                <a:latin typeface="Calibri"/>
                <a:cs typeface="Calibri"/>
              </a:rPr>
              <a:t>e</a:t>
            </a:r>
            <a:r>
              <a:rPr dirty="0" baseline="1157" sz="3600" spc="-15">
                <a:latin typeface="Calibri"/>
                <a:cs typeface="Calibri"/>
              </a:rPr>
              <a:t>r</a:t>
            </a:r>
            <a:r>
              <a:rPr dirty="0" baseline="1157" sz="3600" spc="-7">
                <a:latin typeface="Calibri"/>
                <a:cs typeface="Calibri"/>
              </a:rPr>
              <a:t>s</a:t>
            </a:r>
            <a:r>
              <a:rPr dirty="0" baseline="1157" sz="3600" spc="7">
                <a:latin typeface="Calibri"/>
                <a:cs typeface="Calibri"/>
              </a:rPr>
              <a:t> </a:t>
            </a:r>
            <a:r>
              <a:rPr dirty="0" baseline="1157" sz="3600">
                <a:latin typeface="Calibri"/>
                <a:cs typeface="Calibri"/>
              </a:rPr>
              <a:t>in</a:t>
            </a:r>
            <a:r>
              <a:rPr dirty="0" baseline="1157" sz="3600" spc="15">
                <a:latin typeface="Calibri"/>
                <a:cs typeface="Calibri"/>
              </a:rPr>
              <a:t> </a:t>
            </a:r>
            <a:r>
              <a:rPr dirty="0" baseline="1157" sz="3600" spc="-22">
                <a:latin typeface="Calibri"/>
                <a:cs typeface="Calibri"/>
              </a:rPr>
              <a:t>R</a:t>
            </a:r>
            <a:r>
              <a:rPr dirty="0" baseline="1157" sz="3600" spc="-277">
                <a:latin typeface="Calibri"/>
                <a:cs typeface="Calibri"/>
              </a:rPr>
              <a:t>i</a:t>
            </a:r>
            <a:r>
              <a:rPr dirty="0" sz="2800" spc="-1375">
                <a:latin typeface="Calibri"/>
                <a:cs typeface="Calibri"/>
              </a:rPr>
              <a:t>R</a:t>
            </a:r>
            <a:r>
              <a:rPr dirty="0" baseline="1157" sz="3600" spc="-30">
                <a:latin typeface="Calibri"/>
                <a:cs typeface="Calibri"/>
              </a:rPr>
              <a:t>n</a:t>
            </a:r>
            <a:r>
              <a:rPr dirty="0" baseline="1157" sz="3600" spc="-1582">
                <a:latin typeface="Calibri"/>
                <a:cs typeface="Calibri"/>
              </a:rPr>
              <a:t>g</a:t>
            </a:r>
            <a:r>
              <a:rPr dirty="0" sz="2800" spc="-10">
                <a:latin typeface="Calibri"/>
                <a:cs typeface="Calibri"/>
              </a:rPr>
              <a:t>i</a:t>
            </a:r>
            <a:r>
              <a:rPr dirty="0" sz="2800" spc="-1100">
                <a:latin typeface="Calibri"/>
                <a:cs typeface="Calibri"/>
              </a:rPr>
              <a:t>n</a:t>
            </a:r>
            <a:r>
              <a:rPr dirty="0" baseline="1157" sz="3600" spc="179">
                <a:latin typeface="Calibri"/>
                <a:cs typeface="Calibri"/>
              </a:rPr>
              <a:t>s</a:t>
            </a:r>
            <a:r>
              <a:rPr dirty="0" sz="2800" spc="-935">
                <a:latin typeface="Calibri"/>
                <a:cs typeface="Calibri"/>
              </a:rPr>
              <a:t>g</a:t>
            </a:r>
            <a:r>
              <a:rPr dirty="0" baseline="1157" sz="3600" spc="-15">
                <a:latin typeface="Calibri"/>
                <a:cs typeface="Calibri"/>
              </a:rPr>
              <a:t>1</a:t>
            </a:r>
            <a:r>
              <a:rPr dirty="0" baseline="1157" sz="3600" spc="-292">
                <a:latin typeface="Calibri"/>
                <a:cs typeface="Calibri"/>
              </a:rPr>
              <a:t> </a:t>
            </a:r>
            <a:r>
              <a:rPr dirty="0" sz="2800" spc="-1250">
                <a:latin typeface="Calibri"/>
                <a:cs typeface="Calibri"/>
              </a:rPr>
              <a:t>2</a:t>
            </a:r>
            <a:r>
              <a:rPr dirty="0" baseline="1157" sz="3600" spc="-7">
                <a:latin typeface="Calibri"/>
                <a:cs typeface="Calibri"/>
              </a:rPr>
              <a:t>or</a:t>
            </a:r>
            <a:r>
              <a:rPr dirty="0" baseline="1157" sz="3600" spc="22">
                <a:latin typeface="Calibri"/>
                <a:cs typeface="Calibri"/>
              </a:rPr>
              <a:t> </a:t>
            </a:r>
            <a:r>
              <a:rPr dirty="0" baseline="1157" sz="3600" spc="-75">
                <a:latin typeface="Calibri"/>
                <a:cs typeface="Calibri"/>
              </a:rPr>
              <a:t>2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still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access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ring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0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memory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pages,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so </a:t>
            </a:r>
            <a:r>
              <a:rPr dirty="0" sz="2400">
                <a:latin typeface="Calibri"/>
                <a:cs typeface="Calibri"/>
              </a:rPr>
              <a:t>isolation</a:t>
            </a:r>
            <a:r>
              <a:rPr dirty="0" sz="2400" spc="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1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wea</a:t>
            </a:r>
            <a:r>
              <a:rPr dirty="0" sz="2400" spc="-735">
                <a:latin typeface="Calibri"/>
                <a:cs typeface="Calibri"/>
              </a:rPr>
              <a:t>k</a:t>
            </a:r>
            <a:r>
              <a:rPr dirty="0" baseline="-20833" sz="4200" spc="-862">
                <a:solidFill>
                  <a:srgbClr val="BEBEBE"/>
                </a:solidFill>
                <a:latin typeface="Calibri"/>
                <a:cs typeface="Calibri"/>
              </a:rPr>
              <a:t>N</a:t>
            </a:r>
            <a:r>
              <a:rPr dirty="0" sz="2400" spc="-15">
                <a:latin typeface="Calibri"/>
                <a:cs typeface="Calibri"/>
              </a:rPr>
              <a:t>i</a:t>
            </a:r>
            <a:r>
              <a:rPr dirty="0" sz="2400" spc="-1285">
                <a:latin typeface="Calibri"/>
                <a:cs typeface="Calibri"/>
              </a:rPr>
              <a:t>n</a:t>
            </a:r>
            <a:r>
              <a:rPr dirty="0" baseline="-20833" sz="4200" spc="-22">
                <a:solidFill>
                  <a:srgbClr val="BEBEBE"/>
                </a:solidFill>
                <a:latin typeface="Calibri"/>
                <a:cs typeface="Calibri"/>
              </a:rPr>
              <a:t>o</a:t>
            </a:r>
            <a:r>
              <a:rPr dirty="0" baseline="-20833" sz="4200" spc="-952">
                <a:solidFill>
                  <a:srgbClr val="BEBEBE"/>
                </a:solidFill>
                <a:latin typeface="Calibri"/>
                <a:cs typeface="Calibri"/>
              </a:rPr>
              <a:t>t</a:t>
            </a:r>
            <a:r>
              <a:rPr dirty="0" sz="2400" spc="-675">
                <a:latin typeface="Calibri"/>
                <a:cs typeface="Calibri"/>
              </a:rPr>
              <a:t>p</a:t>
            </a:r>
            <a:r>
              <a:rPr dirty="0" baseline="-20833" sz="4200" spc="-1260">
                <a:solidFill>
                  <a:srgbClr val="BEBEBE"/>
                </a:solidFill>
                <a:latin typeface="Calibri"/>
                <a:cs typeface="Calibri"/>
              </a:rPr>
              <a:t>h</a:t>
            </a:r>
            <a:r>
              <a:rPr dirty="0" sz="2400" spc="-50">
                <a:latin typeface="Calibri"/>
                <a:cs typeface="Calibri"/>
              </a:rPr>
              <a:t>r</a:t>
            </a:r>
            <a:r>
              <a:rPr dirty="0" baseline="-20833" sz="4200" spc="-930">
                <a:solidFill>
                  <a:srgbClr val="BEBEBE"/>
                </a:solidFill>
                <a:latin typeface="Calibri"/>
                <a:cs typeface="Calibri"/>
              </a:rPr>
              <a:t>i</a:t>
            </a:r>
            <a:r>
              <a:rPr dirty="0" sz="2400" spc="-565">
                <a:latin typeface="Calibri"/>
                <a:cs typeface="Calibri"/>
              </a:rPr>
              <a:t>a</a:t>
            </a:r>
            <a:r>
              <a:rPr dirty="0" baseline="-20833" sz="4200" spc="-1425">
                <a:solidFill>
                  <a:srgbClr val="BEBEBE"/>
                </a:solidFill>
                <a:latin typeface="Calibri"/>
                <a:cs typeface="Calibri"/>
              </a:rPr>
              <a:t>n</a:t>
            </a:r>
            <a:r>
              <a:rPr dirty="0" sz="2400" spc="-114">
                <a:latin typeface="Calibri"/>
                <a:cs typeface="Calibri"/>
              </a:rPr>
              <a:t>c</a:t>
            </a:r>
            <a:r>
              <a:rPr dirty="0" baseline="-20833" sz="4200" spc="-1845">
                <a:solidFill>
                  <a:srgbClr val="BEBEBE"/>
                </a:solidFill>
                <a:latin typeface="Calibri"/>
                <a:cs typeface="Calibri"/>
              </a:rPr>
              <a:t>g</a:t>
            </a:r>
            <a:r>
              <a:rPr dirty="0" sz="2400" spc="-10">
                <a:latin typeface="Calibri"/>
                <a:cs typeface="Calibri"/>
              </a:rPr>
              <a:t>ti</a:t>
            </a:r>
            <a:r>
              <a:rPr dirty="0" sz="2400">
                <a:latin typeface="Calibri"/>
                <a:cs typeface="Calibri"/>
              </a:rPr>
              <a:t>c</a:t>
            </a:r>
            <a:r>
              <a:rPr dirty="0" sz="2400" spc="-10">
                <a:latin typeface="Calibri"/>
                <a:cs typeface="Calibri"/>
              </a:rPr>
              <a:t>e</a:t>
            </a:r>
            <a:r>
              <a:rPr dirty="0" sz="2400" spc="1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wit</a:t>
            </a:r>
            <a:r>
              <a:rPr dirty="0" sz="2400" spc="-170">
                <a:latin typeface="Calibri"/>
                <a:cs typeface="Calibri"/>
              </a:rPr>
              <a:t>h</a:t>
            </a:r>
            <a:r>
              <a:rPr dirty="0" baseline="-22817" sz="4200" spc="-2092">
                <a:latin typeface="Calibri"/>
                <a:cs typeface="Calibri"/>
              </a:rPr>
              <a:t>R</a:t>
            </a:r>
            <a:r>
              <a:rPr dirty="0" sz="2400" spc="-10">
                <a:latin typeface="Calibri"/>
                <a:cs typeface="Calibri"/>
              </a:rPr>
              <a:t>o</a:t>
            </a:r>
            <a:r>
              <a:rPr dirty="0" sz="2400" spc="-1185">
                <a:latin typeface="Calibri"/>
                <a:cs typeface="Calibri"/>
              </a:rPr>
              <a:t>u</a:t>
            </a:r>
            <a:r>
              <a:rPr dirty="0" baseline="-22817" sz="4200" spc="-15">
                <a:latin typeface="Calibri"/>
                <a:cs typeface="Calibri"/>
              </a:rPr>
              <a:t>i</a:t>
            </a:r>
            <a:r>
              <a:rPr dirty="0" baseline="-22817" sz="4200" spc="-1462">
                <a:latin typeface="Calibri"/>
                <a:cs typeface="Calibri"/>
              </a:rPr>
              <a:t>n</a:t>
            </a:r>
            <a:r>
              <a:rPr dirty="0" sz="2400" spc="135">
                <a:latin typeface="Calibri"/>
                <a:cs typeface="Calibri"/>
              </a:rPr>
              <a:t>t</a:t>
            </a:r>
            <a:r>
              <a:rPr dirty="0" baseline="-22817" sz="4200" spc="-15">
                <a:latin typeface="Calibri"/>
                <a:cs typeface="Calibri"/>
              </a:rPr>
              <a:t>g</a:t>
            </a:r>
            <a:r>
              <a:rPr dirty="0" baseline="-22817" sz="4200" spc="89">
                <a:latin typeface="Calibri"/>
                <a:cs typeface="Calibri"/>
              </a:rPr>
              <a:t> </a:t>
            </a:r>
            <a:r>
              <a:rPr dirty="0" baseline="-22817" sz="4200" spc="-75">
                <a:latin typeface="Calibri"/>
                <a:cs typeface="Calibri"/>
              </a:rPr>
              <a:t>1 </a:t>
            </a:r>
            <a:r>
              <a:rPr dirty="0" sz="2400">
                <a:latin typeface="Calibri"/>
                <a:cs typeface="Calibri"/>
              </a:rPr>
              <a:t>additional</a:t>
            </a:r>
            <a:r>
              <a:rPr dirty="0" sz="2400" spc="-20">
                <a:latin typeface="Calibri"/>
                <a:cs typeface="Calibri"/>
              </a:rPr>
              <a:t> segment-</a:t>
            </a:r>
            <a:r>
              <a:rPr dirty="0" sz="2400">
                <a:latin typeface="Calibri"/>
                <a:cs typeface="Calibri"/>
              </a:rPr>
              <a:t>based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protection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(but </a:t>
            </a:r>
            <a:r>
              <a:rPr dirty="0" sz="2400">
                <a:latin typeface="Calibri"/>
                <a:cs typeface="Calibri"/>
              </a:rPr>
              <a:t>segment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support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was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dropped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x86-</a:t>
            </a:r>
            <a:r>
              <a:rPr dirty="0" sz="2400" spc="-25">
                <a:latin typeface="Calibri"/>
                <a:cs typeface="Calibri"/>
              </a:rPr>
              <a:t>64)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r>
              <a:rPr dirty="0" sz="2400">
                <a:latin typeface="Calibri"/>
                <a:cs typeface="Calibri"/>
              </a:rPr>
              <a:t>Also,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most</a:t>
            </a:r>
            <a:r>
              <a:rPr dirty="0" sz="2400" spc="-10">
                <a:latin typeface="Calibri"/>
                <a:cs typeface="Calibri"/>
              </a:rPr>
              <a:t> non-</a:t>
            </a:r>
            <a:r>
              <a:rPr dirty="0" sz="2400" spc="-5">
                <a:latin typeface="Calibri"/>
                <a:cs typeface="Calibri"/>
              </a:rPr>
              <a:t>x8</a:t>
            </a:r>
            <a:r>
              <a:rPr dirty="0" sz="2400" spc="-210">
                <a:latin typeface="Calibri"/>
                <a:cs typeface="Calibri"/>
              </a:rPr>
              <a:t>6</a:t>
            </a:r>
            <a:r>
              <a:rPr dirty="0" baseline="18849" sz="4200" spc="-1687">
                <a:latin typeface="Calibri"/>
                <a:cs typeface="Calibri"/>
              </a:rPr>
              <a:t>O</a:t>
            </a:r>
            <a:r>
              <a:rPr dirty="0" sz="2400" spc="-10">
                <a:latin typeface="Calibri"/>
                <a:cs typeface="Calibri"/>
              </a:rPr>
              <a:t>c</a:t>
            </a:r>
            <a:r>
              <a:rPr dirty="0" sz="2400" spc="-1190">
                <a:latin typeface="Calibri"/>
                <a:cs typeface="Calibri"/>
              </a:rPr>
              <a:t>h</a:t>
            </a:r>
            <a:r>
              <a:rPr dirty="0" baseline="18849" sz="4200" spc="-195">
                <a:latin typeface="Calibri"/>
                <a:cs typeface="Calibri"/>
              </a:rPr>
              <a:t>S</a:t>
            </a:r>
            <a:r>
              <a:rPr dirty="0" sz="2400" spc="-10">
                <a:latin typeface="Calibri"/>
                <a:cs typeface="Calibri"/>
              </a:rPr>
              <a:t>i</a:t>
            </a:r>
            <a:r>
              <a:rPr dirty="0" sz="2400" spc="-15">
                <a:latin typeface="Calibri"/>
                <a:cs typeface="Calibri"/>
              </a:rPr>
              <a:t>p</a:t>
            </a:r>
            <a:r>
              <a:rPr dirty="0" sz="2400" spc="-5">
                <a:latin typeface="Calibri"/>
                <a:cs typeface="Calibri"/>
              </a:rPr>
              <a:t>s</a:t>
            </a:r>
            <a:r>
              <a:rPr dirty="0" sz="2400" spc="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only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d</a:t>
            </a:r>
            <a:r>
              <a:rPr dirty="0" sz="2400" spc="-550">
                <a:latin typeface="Calibri"/>
                <a:cs typeface="Calibri"/>
              </a:rPr>
              <a:t>e</a:t>
            </a:r>
            <a:r>
              <a:rPr dirty="0" baseline="24801" sz="4200" spc="-1545">
                <a:latin typeface="Calibri"/>
                <a:cs typeface="Calibri"/>
              </a:rPr>
              <a:t>R</a:t>
            </a:r>
            <a:r>
              <a:rPr dirty="0" sz="2400" spc="-15">
                <a:latin typeface="Calibri"/>
                <a:cs typeface="Calibri"/>
              </a:rPr>
              <a:t>f</a:t>
            </a:r>
            <a:r>
              <a:rPr dirty="0" sz="2400" spc="-305">
                <a:latin typeface="Calibri"/>
                <a:cs typeface="Calibri"/>
              </a:rPr>
              <a:t>i</a:t>
            </a:r>
            <a:r>
              <a:rPr dirty="0" baseline="24801" sz="4200" spc="-555">
                <a:latin typeface="Calibri"/>
                <a:cs typeface="Calibri"/>
              </a:rPr>
              <a:t>i</a:t>
            </a:r>
            <a:r>
              <a:rPr dirty="0" sz="2400" spc="-935">
                <a:latin typeface="Calibri"/>
                <a:cs typeface="Calibri"/>
              </a:rPr>
              <a:t>n</a:t>
            </a:r>
            <a:r>
              <a:rPr dirty="0" baseline="24801" sz="4200" spc="-885">
                <a:latin typeface="Calibri"/>
                <a:cs typeface="Calibri"/>
              </a:rPr>
              <a:t>n</a:t>
            </a:r>
            <a:r>
              <a:rPr dirty="0" sz="2400" spc="-660">
                <a:latin typeface="Calibri"/>
                <a:cs typeface="Calibri"/>
              </a:rPr>
              <a:t>e</a:t>
            </a:r>
            <a:r>
              <a:rPr dirty="0" baseline="24801" sz="4200" spc="-217">
                <a:latin typeface="Calibri"/>
                <a:cs typeface="Calibri"/>
              </a:rPr>
              <a:t>g</a:t>
            </a:r>
            <a:r>
              <a:rPr dirty="0" sz="2400" spc="-50">
                <a:latin typeface="Calibri"/>
                <a:cs typeface="Calibri"/>
              </a:rPr>
              <a:t>t</a:t>
            </a:r>
            <a:r>
              <a:rPr dirty="0" baseline="24801" sz="4200" spc="-2122">
                <a:latin typeface="Calibri"/>
                <a:cs typeface="Calibri"/>
              </a:rPr>
              <a:t>0</a:t>
            </a:r>
            <a:r>
              <a:rPr dirty="0" sz="2400" spc="-20">
                <a:latin typeface="Calibri"/>
                <a:cs typeface="Calibri"/>
              </a:rPr>
              <a:t>wo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107745" y="5394769"/>
            <a:ext cx="2332355" cy="568960"/>
            <a:chOff x="7107745" y="5394769"/>
            <a:chExt cx="2332355" cy="568960"/>
          </a:xfrm>
        </p:grpSpPr>
        <p:sp>
          <p:nvSpPr>
            <p:cNvPr id="14" name="object 14"/>
            <p:cNvSpPr/>
            <p:nvPr/>
          </p:nvSpPr>
          <p:spPr>
            <a:xfrm>
              <a:off x="7112507" y="5926836"/>
              <a:ext cx="1979930" cy="24765"/>
            </a:xfrm>
            <a:custGeom>
              <a:avLst/>
              <a:gdLst/>
              <a:ahLst/>
              <a:cxnLst/>
              <a:rect l="l" t="t" r="r" b="b"/>
              <a:pathLst>
                <a:path w="1979929" h="24764">
                  <a:moveTo>
                    <a:pt x="0" y="24383"/>
                  </a:moveTo>
                  <a:lnTo>
                    <a:pt x="1979676" y="24383"/>
                  </a:lnTo>
                  <a:lnTo>
                    <a:pt x="1979676" y="0"/>
                  </a:lnTo>
                  <a:lnTo>
                    <a:pt x="0" y="0"/>
                  </a:lnTo>
                  <a:lnTo>
                    <a:pt x="0" y="24383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7112507" y="5399532"/>
              <a:ext cx="1979930" cy="551815"/>
            </a:xfrm>
            <a:custGeom>
              <a:avLst/>
              <a:gdLst/>
              <a:ahLst/>
              <a:cxnLst/>
              <a:rect l="l" t="t" r="r" b="b"/>
              <a:pathLst>
                <a:path w="1979929" h="551814">
                  <a:moveTo>
                    <a:pt x="0" y="551688"/>
                  </a:moveTo>
                  <a:lnTo>
                    <a:pt x="1979676" y="551688"/>
                  </a:lnTo>
                  <a:lnTo>
                    <a:pt x="1979676" y="0"/>
                  </a:lnTo>
                  <a:lnTo>
                    <a:pt x="0" y="0"/>
                  </a:lnTo>
                  <a:lnTo>
                    <a:pt x="0" y="55168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9316211" y="5408676"/>
              <a:ext cx="117475" cy="548640"/>
            </a:xfrm>
            <a:custGeom>
              <a:avLst/>
              <a:gdLst/>
              <a:ahLst/>
              <a:cxnLst/>
              <a:rect l="l" t="t" r="r" b="b"/>
              <a:pathLst>
                <a:path w="117475" h="548639">
                  <a:moveTo>
                    <a:pt x="0" y="548640"/>
                  </a:moveTo>
                  <a:lnTo>
                    <a:pt x="45660" y="547871"/>
                  </a:lnTo>
                  <a:lnTo>
                    <a:pt x="82962" y="545774"/>
                  </a:lnTo>
                  <a:lnTo>
                    <a:pt x="108120" y="542666"/>
                  </a:lnTo>
                  <a:lnTo>
                    <a:pt x="117348" y="538861"/>
                  </a:lnTo>
                  <a:lnTo>
                    <a:pt x="117348" y="9779"/>
                  </a:lnTo>
                  <a:lnTo>
                    <a:pt x="108120" y="5947"/>
                  </a:lnTo>
                  <a:lnTo>
                    <a:pt x="82962" y="2841"/>
                  </a:lnTo>
                  <a:lnTo>
                    <a:pt x="45660" y="760"/>
                  </a:lnTo>
                  <a:lnTo>
                    <a:pt x="0" y="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18668" y="5959246"/>
            <a:ext cx="1654810" cy="862965"/>
          </a:xfrm>
          <a:prstGeom prst="rect">
            <a:avLst/>
          </a:prstGeom>
        </p:spPr>
        <p:txBody>
          <a:bodyPr wrap="square" lIns="0" tIns="153035" rIns="0" bIns="0" rtlCol="0" vert="horz">
            <a:spAutoFit/>
          </a:bodyPr>
          <a:lstStyle/>
          <a:p>
            <a:pPr marL="12700" marR="5080" indent="349250">
              <a:lnSpc>
                <a:spcPct val="71400"/>
              </a:lnSpc>
              <a:spcBef>
                <a:spcPts val="1205"/>
              </a:spcBef>
            </a:pPr>
            <a:r>
              <a:rPr dirty="0" sz="3200" spc="-20">
                <a:latin typeface="Calibri"/>
                <a:cs typeface="Calibri"/>
              </a:rPr>
              <a:t>Most </a:t>
            </a:r>
            <a:r>
              <a:rPr dirty="0" sz="3200" spc="-10">
                <a:latin typeface="Calibri"/>
                <a:cs typeface="Calibri"/>
              </a:rPr>
              <a:t>privileged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81148" y="6126276"/>
            <a:ext cx="161988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latin typeface="Calibri"/>
                <a:cs typeface="Calibri"/>
              </a:rPr>
              <a:t>x86</a:t>
            </a:r>
            <a:r>
              <a:rPr dirty="0" sz="3200" spc="-50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Rings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107745" y="6124765"/>
            <a:ext cx="1989455" cy="563245"/>
            <a:chOff x="7107745" y="6124765"/>
            <a:chExt cx="1989455" cy="563245"/>
          </a:xfrm>
        </p:grpSpPr>
        <p:sp>
          <p:nvSpPr>
            <p:cNvPr id="11" name="object 11"/>
            <p:cNvSpPr/>
            <p:nvPr/>
          </p:nvSpPr>
          <p:spPr>
            <a:xfrm>
              <a:off x="7112507" y="6129528"/>
              <a:ext cx="1979930" cy="553720"/>
            </a:xfrm>
            <a:custGeom>
              <a:avLst/>
              <a:gdLst/>
              <a:ahLst/>
              <a:cxnLst/>
              <a:rect l="l" t="t" r="r" b="b"/>
              <a:pathLst>
                <a:path w="1979929" h="553720">
                  <a:moveTo>
                    <a:pt x="1979676" y="0"/>
                  </a:moveTo>
                  <a:lnTo>
                    <a:pt x="0" y="0"/>
                  </a:lnTo>
                  <a:lnTo>
                    <a:pt x="0" y="553212"/>
                  </a:lnTo>
                  <a:lnTo>
                    <a:pt x="1979676" y="553212"/>
                  </a:lnTo>
                  <a:lnTo>
                    <a:pt x="19796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7112507" y="6129528"/>
              <a:ext cx="1979930" cy="553720"/>
            </a:xfrm>
            <a:custGeom>
              <a:avLst/>
              <a:gdLst/>
              <a:ahLst/>
              <a:cxnLst/>
              <a:rect l="l" t="t" r="r" b="b"/>
              <a:pathLst>
                <a:path w="1979929" h="553720">
                  <a:moveTo>
                    <a:pt x="0" y="553212"/>
                  </a:moveTo>
                  <a:lnTo>
                    <a:pt x="1979676" y="553212"/>
                  </a:lnTo>
                  <a:lnTo>
                    <a:pt x="1979676" y="0"/>
                  </a:lnTo>
                  <a:lnTo>
                    <a:pt x="0" y="0"/>
                  </a:lnTo>
                  <a:lnTo>
                    <a:pt x="0" y="55321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5549646" y="5901944"/>
            <a:ext cx="53244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libri"/>
                <a:cs typeface="Calibri"/>
              </a:rPr>
              <a:t>privilege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levels,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so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portable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OSes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shouldn’t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314188" y="2671572"/>
            <a:ext cx="6741159" cy="3255645"/>
          </a:xfrm>
          <a:custGeom>
            <a:avLst/>
            <a:gdLst/>
            <a:ahLst/>
            <a:cxnLst/>
            <a:rect l="l" t="t" r="r" b="b"/>
            <a:pathLst>
              <a:path w="6741159" h="3255645">
                <a:moveTo>
                  <a:pt x="6740652" y="0"/>
                </a:moveTo>
                <a:lnTo>
                  <a:pt x="0" y="0"/>
                </a:lnTo>
                <a:lnTo>
                  <a:pt x="0" y="3255264"/>
                </a:lnTo>
                <a:lnTo>
                  <a:pt x="6740652" y="3255264"/>
                </a:lnTo>
                <a:lnTo>
                  <a:pt x="674065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9787001" y="3218941"/>
            <a:ext cx="2061210" cy="1675130"/>
          </a:xfrm>
          <a:custGeom>
            <a:avLst/>
            <a:gdLst/>
            <a:ahLst/>
            <a:cxnLst/>
            <a:rect l="l" t="t" r="r" b="b"/>
            <a:pathLst>
              <a:path w="2061209" h="1675129">
                <a:moveTo>
                  <a:pt x="1539113" y="1655445"/>
                </a:moveTo>
                <a:lnTo>
                  <a:pt x="1515808" y="1576070"/>
                </a:lnTo>
                <a:lnTo>
                  <a:pt x="1499108" y="1519174"/>
                </a:lnTo>
                <a:lnTo>
                  <a:pt x="1457274" y="1558099"/>
                </a:lnTo>
                <a:lnTo>
                  <a:pt x="9398" y="0"/>
                </a:lnTo>
                <a:lnTo>
                  <a:pt x="0" y="8636"/>
                </a:lnTo>
                <a:lnTo>
                  <a:pt x="1447990" y="1566722"/>
                </a:lnTo>
                <a:lnTo>
                  <a:pt x="1406144" y="1605661"/>
                </a:lnTo>
                <a:lnTo>
                  <a:pt x="1539113" y="1655445"/>
                </a:lnTo>
                <a:close/>
              </a:path>
              <a:path w="2061209" h="1675129">
                <a:moveTo>
                  <a:pt x="1754505" y="1668272"/>
                </a:moveTo>
                <a:lnTo>
                  <a:pt x="1737385" y="1581785"/>
                </a:lnTo>
                <a:lnTo>
                  <a:pt x="1726946" y="1528953"/>
                </a:lnTo>
                <a:lnTo>
                  <a:pt x="1681784" y="1563941"/>
                </a:lnTo>
                <a:lnTo>
                  <a:pt x="820547" y="451485"/>
                </a:lnTo>
                <a:lnTo>
                  <a:pt x="810387" y="459359"/>
                </a:lnTo>
                <a:lnTo>
                  <a:pt x="1671764" y="1571701"/>
                </a:lnTo>
                <a:lnTo>
                  <a:pt x="1626616" y="1606677"/>
                </a:lnTo>
                <a:lnTo>
                  <a:pt x="1754505" y="1668272"/>
                </a:lnTo>
                <a:close/>
              </a:path>
              <a:path w="2061209" h="1675129">
                <a:moveTo>
                  <a:pt x="2060829" y="1541780"/>
                </a:moveTo>
                <a:lnTo>
                  <a:pt x="2004047" y="1548130"/>
                </a:lnTo>
                <a:lnTo>
                  <a:pt x="1928241" y="869188"/>
                </a:lnTo>
                <a:lnTo>
                  <a:pt x="1915541" y="870712"/>
                </a:lnTo>
                <a:lnTo>
                  <a:pt x="1991474" y="1549539"/>
                </a:lnTo>
                <a:lnTo>
                  <a:pt x="1934718" y="1555877"/>
                </a:lnTo>
                <a:lnTo>
                  <a:pt x="2011934" y="1675003"/>
                </a:lnTo>
                <a:lnTo>
                  <a:pt x="2053361" y="1562100"/>
                </a:lnTo>
                <a:lnTo>
                  <a:pt x="2060829" y="15417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8561323" y="2792730"/>
            <a:ext cx="3502660" cy="1334770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 sz="2400" spc="-10">
                <a:latin typeface="Calibri"/>
                <a:cs typeface="Calibri"/>
              </a:rPr>
              <a:t>User-</a:t>
            </a:r>
            <a:r>
              <a:rPr dirty="0" sz="2400">
                <a:latin typeface="Calibri"/>
                <a:cs typeface="Calibri"/>
              </a:rPr>
              <a:t>mode</a:t>
            </a:r>
            <a:r>
              <a:rPr dirty="0" sz="2400" spc="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accessible?</a:t>
            </a:r>
            <a:endParaRPr sz="2400">
              <a:latin typeface="Calibri"/>
              <a:cs typeface="Calibri"/>
            </a:endParaRPr>
          </a:p>
          <a:p>
            <a:pPr marL="1675764">
              <a:lnSpc>
                <a:spcPct val="100000"/>
              </a:lnSpc>
              <a:spcBef>
                <a:spcPts val="470"/>
              </a:spcBef>
            </a:pPr>
            <a:r>
              <a:rPr dirty="0" sz="2400" spc="-10">
                <a:latin typeface="Calibri"/>
                <a:cs typeface="Calibri"/>
              </a:rPr>
              <a:t>Writeable?</a:t>
            </a:r>
            <a:endParaRPr sz="2400">
              <a:latin typeface="Calibri"/>
              <a:cs typeface="Calibri"/>
            </a:endParaRPr>
          </a:p>
          <a:p>
            <a:pPr marL="2400935">
              <a:lnSpc>
                <a:spcPct val="100000"/>
              </a:lnSpc>
              <a:spcBef>
                <a:spcPts val="730"/>
              </a:spcBef>
            </a:pPr>
            <a:r>
              <a:rPr dirty="0" sz="2400" spc="-10">
                <a:latin typeface="Calibri"/>
                <a:cs typeface="Calibri"/>
              </a:rPr>
              <a:t>Present?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290820" y="4951602"/>
            <a:ext cx="5638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5" b="1">
                <a:latin typeface="Calibri"/>
                <a:cs typeface="Calibri"/>
              </a:rPr>
              <a:t>PTE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884545" y="5438647"/>
            <a:ext cx="3333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libri"/>
                <a:cs typeface="Calibri"/>
              </a:rPr>
              <a:t>63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063231" y="5441391"/>
            <a:ext cx="74168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libri"/>
                <a:cs typeface="Calibri"/>
              </a:rPr>
              <a:t>48</a:t>
            </a:r>
            <a:r>
              <a:rPr dirty="0" sz="2400" spc="240">
                <a:latin typeface="Calibri"/>
                <a:cs typeface="Calibri"/>
              </a:rPr>
              <a:t> </a:t>
            </a:r>
            <a:r>
              <a:rPr dirty="0" baseline="1157" sz="3600" spc="-37">
                <a:latin typeface="Calibri"/>
                <a:cs typeface="Calibri"/>
              </a:rPr>
              <a:t>47</a:t>
            </a:r>
            <a:endParaRPr baseline="1157" sz="36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891521" y="5458764"/>
            <a:ext cx="7499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2314" sz="3600">
                <a:latin typeface="Calibri"/>
                <a:cs typeface="Calibri"/>
              </a:rPr>
              <a:t>12</a:t>
            </a:r>
            <a:r>
              <a:rPr dirty="0" baseline="2314" sz="3600" spc="419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11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5922073" y="4932997"/>
          <a:ext cx="6055360" cy="5327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5110"/>
                <a:gridCol w="2795269"/>
                <a:gridCol w="974089"/>
                <a:gridCol w="236220"/>
                <a:gridCol w="227329"/>
                <a:gridCol w="222885"/>
              </a:tblGrid>
              <a:tr h="532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6957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4KB-aligned</a:t>
                      </a:r>
                      <a:r>
                        <a:rPr dirty="0"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physFrame</a:t>
                      </a:r>
                      <a:r>
                        <a:rPr dirty="0"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>
                          <a:latin typeface="Calibri"/>
                          <a:cs typeface="Calibri"/>
                        </a:rPr>
                        <a:t>addr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38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5" name="object 25"/>
          <p:cNvSpPr txBox="1"/>
          <p:nvPr/>
        </p:nvSpPr>
        <p:spPr>
          <a:xfrm>
            <a:off x="11029950" y="5474614"/>
            <a:ext cx="9099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2314" sz="3600">
                <a:latin typeface="Calibri"/>
                <a:cs typeface="Calibri"/>
              </a:rPr>
              <a:t>3</a:t>
            </a:r>
            <a:r>
              <a:rPr dirty="0" baseline="2314" sz="3600" spc="1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2</a:t>
            </a:r>
            <a:r>
              <a:rPr dirty="0" sz="2400" spc="100">
                <a:latin typeface="Calibri"/>
                <a:cs typeface="Calibri"/>
              </a:rPr>
              <a:t> </a:t>
            </a:r>
            <a:r>
              <a:rPr dirty="0" baseline="1157" sz="3600">
                <a:latin typeface="Calibri"/>
                <a:cs typeface="Calibri"/>
              </a:rPr>
              <a:t>1</a:t>
            </a:r>
            <a:r>
              <a:rPr dirty="0" baseline="1157" sz="3600" spc="397">
                <a:latin typeface="Calibri"/>
                <a:cs typeface="Calibri"/>
              </a:rPr>
              <a:t> </a:t>
            </a:r>
            <a:r>
              <a:rPr dirty="0" baseline="1157" sz="3600" spc="-75">
                <a:latin typeface="Calibri"/>
                <a:cs typeface="Calibri"/>
              </a:rPr>
              <a:t>0</a:t>
            </a:r>
            <a:endParaRPr baseline="1157" sz="36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549646" y="6144259"/>
            <a:ext cx="27914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088514" algn="l"/>
              </a:tabLst>
            </a:pPr>
            <a:r>
              <a:rPr dirty="0" sz="2400">
                <a:latin typeface="Calibri"/>
                <a:cs typeface="Calibri"/>
              </a:rPr>
              <a:t>leverage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Rings</a:t>
            </a:r>
            <a:r>
              <a:rPr dirty="0" sz="2400">
                <a:latin typeface="Calibri"/>
                <a:cs typeface="Calibri"/>
              </a:rPr>
              <a:t>	</a:t>
            </a:r>
            <a:r>
              <a:rPr dirty="0" sz="2400" spc="-25">
                <a:latin typeface="Calibri"/>
                <a:cs typeface="Calibri"/>
              </a:rPr>
              <a:t>a</a:t>
            </a:r>
            <a:r>
              <a:rPr dirty="0" sz="2400" spc="-875">
                <a:latin typeface="Calibri"/>
                <a:cs typeface="Calibri"/>
              </a:rPr>
              <a:t>n</a:t>
            </a:r>
            <a:r>
              <a:rPr dirty="0" baseline="1984" sz="4200" spc="-577">
                <a:solidFill>
                  <a:srgbClr val="FFFFFF"/>
                </a:solidFill>
                <a:latin typeface="Calibri"/>
                <a:cs typeface="Calibri"/>
              </a:rPr>
              <a:t>x</a:t>
            </a:r>
            <a:r>
              <a:rPr dirty="0" sz="2400" spc="-925">
                <a:latin typeface="Calibri"/>
                <a:cs typeface="Calibri"/>
              </a:rPr>
              <a:t>d</a:t>
            </a:r>
            <a:r>
              <a:rPr dirty="0" baseline="1984" sz="4200" spc="-22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r>
              <a:rPr dirty="0" baseline="1984" sz="4200" spc="-2145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r>
              <a:rPr dirty="0" sz="2400" spc="-15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8288"/>
            <a:ext cx="12192000" cy="6876415"/>
            <a:chOff x="0" y="-18288"/>
            <a:chExt cx="12192000" cy="68764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128509" y="761"/>
              <a:ext cx="0" cy="4616450"/>
            </a:xfrm>
            <a:custGeom>
              <a:avLst/>
              <a:gdLst/>
              <a:ahLst/>
              <a:cxnLst/>
              <a:rect l="l" t="t" r="r" b="b"/>
              <a:pathLst>
                <a:path w="0" h="4616450">
                  <a:moveTo>
                    <a:pt x="0" y="0"/>
                  </a:moveTo>
                  <a:lnTo>
                    <a:pt x="0" y="4616069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4597908"/>
              <a:ext cx="7151370" cy="38100"/>
            </a:xfrm>
            <a:custGeom>
              <a:avLst/>
              <a:gdLst/>
              <a:ahLst/>
              <a:cxnLst/>
              <a:rect l="l" t="t" r="r" b="b"/>
              <a:pathLst>
                <a:path w="7151370" h="38100">
                  <a:moveTo>
                    <a:pt x="7151243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7151243" y="38100"/>
                  </a:lnTo>
                  <a:lnTo>
                    <a:pt x="71512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8170164" y="102107"/>
            <a:ext cx="1981200" cy="5537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0" tIns="20320" rIns="0" bIns="0" rtlCol="0" vert="horz">
            <a:spAutoFit/>
          </a:bodyPr>
          <a:lstStyle/>
          <a:p>
            <a:pPr marL="177800">
              <a:lnSpc>
                <a:spcPct val="100000"/>
              </a:lnSpc>
              <a:spcBef>
                <a:spcPts val="160"/>
              </a:spcBef>
            </a:pPr>
            <a:r>
              <a:rPr dirty="0" sz="2800">
                <a:latin typeface="Calibri"/>
                <a:cs typeface="Calibri"/>
              </a:rPr>
              <a:t>Guest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apps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449306" y="486536"/>
            <a:ext cx="9169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Calibri"/>
                <a:cs typeface="Calibri"/>
              </a:rPr>
              <a:t>Ring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50"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70164" y="822960"/>
            <a:ext cx="1981200" cy="553720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29844" rIns="0" bIns="0" rtlCol="0" vert="horz">
            <a:spAutoFit/>
          </a:bodyPr>
          <a:lstStyle/>
          <a:p>
            <a:pPr marL="351155">
              <a:lnSpc>
                <a:spcPct val="100000"/>
              </a:lnSpc>
              <a:spcBef>
                <a:spcPts val="234"/>
              </a:spcBef>
            </a:pPr>
            <a:r>
              <a:rPr dirty="0" sz="2800">
                <a:latin typeface="Calibri"/>
                <a:cs typeface="Calibri"/>
              </a:rPr>
              <a:t>Guest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OS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70164" y="1542288"/>
            <a:ext cx="1981200" cy="553720"/>
          </a:xfrm>
          <a:prstGeom prst="rect">
            <a:avLst/>
          </a:prstGeom>
          <a:solidFill>
            <a:srgbClr val="7E7E7E"/>
          </a:solidFill>
          <a:ln w="9525">
            <a:solidFill>
              <a:srgbClr val="000000"/>
            </a:solidFill>
          </a:ln>
        </p:spPr>
        <p:txBody>
          <a:bodyPr wrap="square" lIns="0" tIns="48895" rIns="0" bIns="0" rtlCol="0" vert="horz">
            <a:spAutoFit/>
          </a:bodyPr>
          <a:lstStyle/>
          <a:p>
            <a:pPr marL="594995">
              <a:lnSpc>
                <a:spcPct val="100000"/>
              </a:lnSpc>
              <a:spcBef>
                <a:spcPts val="385"/>
              </a:spcBef>
            </a:pPr>
            <a:r>
              <a:rPr dirty="0" sz="2800" spc="-25">
                <a:latin typeface="Calibri"/>
                <a:cs typeface="Calibri"/>
              </a:rPr>
              <a:t>VMM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449306" y="1544828"/>
            <a:ext cx="9169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Calibri"/>
                <a:cs typeface="Calibri"/>
              </a:rPr>
              <a:t>Ring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5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0213593" y="0"/>
            <a:ext cx="1924050" cy="2099310"/>
            <a:chOff x="10213593" y="0"/>
            <a:chExt cx="1924050" cy="2099310"/>
          </a:xfrm>
        </p:grpSpPr>
        <p:sp>
          <p:nvSpPr>
            <p:cNvPr id="14" name="object 14"/>
            <p:cNvSpPr/>
            <p:nvPr/>
          </p:nvSpPr>
          <p:spPr>
            <a:xfrm>
              <a:off x="10219943" y="100584"/>
              <a:ext cx="172720" cy="1991995"/>
            </a:xfrm>
            <a:custGeom>
              <a:avLst/>
              <a:gdLst/>
              <a:ahLst/>
              <a:cxnLst/>
              <a:rect l="l" t="t" r="r" b="b"/>
              <a:pathLst>
                <a:path w="172720" h="1991995">
                  <a:moveTo>
                    <a:pt x="0" y="1275588"/>
                  </a:moveTo>
                  <a:lnTo>
                    <a:pt x="65865" y="1274474"/>
                  </a:lnTo>
                  <a:lnTo>
                    <a:pt x="119633" y="1271444"/>
                  </a:lnTo>
                  <a:lnTo>
                    <a:pt x="155876" y="1266961"/>
                  </a:lnTo>
                  <a:lnTo>
                    <a:pt x="169163" y="1261491"/>
                  </a:lnTo>
                  <a:lnTo>
                    <a:pt x="169163" y="14097"/>
                  </a:lnTo>
                  <a:lnTo>
                    <a:pt x="155876" y="8626"/>
                  </a:lnTo>
                  <a:lnTo>
                    <a:pt x="119633" y="4143"/>
                  </a:lnTo>
                  <a:lnTo>
                    <a:pt x="65865" y="1113"/>
                  </a:lnTo>
                  <a:lnTo>
                    <a:pt x="0" y="0"/>
                  </a:lnTo>
                </a:path>
                <a:path w="172720" h="1991995">
                  <a:moveTo>
                    <a:pt x="3048" y="1991868"/>
                  </a:moveTo>
                  <a:lnTo>
                    <a:pt x="68913" y="1990754"/>
                  </a:lnTo>
                  <a:lnTo>
                    <a:pt x="122681" y="1987724"/>
                  </a:lnTo>
                  <a:lnTo>
                    <a:pt x="158924" y="1983241"/>
                  </a:lnTo>
                  <a:lnTo>
                    <a:pt x="172211" y="1977771"/>
                  </a:lnTo>
                  <a:lnTo>
                    <a:pt x="172211" y="1455801"/>
                  </a:lnTo>
                  <a:lnTo>
                    <a:pt x="158924" y="1450330"/>
                  </a:lnTo>
                  <a:lnTo>
                    <a:pt x="122681" y="1445847"/>
                  </a:lnTo>
                  <a:lnTo>
                    <a:pt x="68913" y="1442817"/>
                  </a:lnTo>
                  <a:lnTo>
                    <a:pt x="3048" y="144170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A logo for a university  Description automatically generated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78767" y="0"/>
              <a:ext cx="658368" cy="114757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170164" y="2272283"/>
            <a:ext cx="1981200" cy="55372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</a:ln>
        </p:spPr>
        <p:txBody>
          <a:bodyPr wrap="square" lIns="0" tIns="11430" rIns="0" bIns="0" rtlCol="0" vert="horz">
            <a:spAutoFit/>
          </a:bodyPr>
          <a:lstStyle/>
          <a:p>
            <a:pPr algn="ctr" marR="9525">
              <a:lnSpc>
                <a:spcPct val="100000"/>
              </a:lnSpc>
              <a:spcBef>
                <a:spcPts val="90"/>
              </a:spcBef>
            </a:pP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x86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251572" y="2901188"/>
            <a:ext cx="4628515" cy="699770"/>
          </a:xfrm>
          <a:prstGeom prst="rect">
            <a:avLst/>
          </a:prstGeom>
        </p:spPr>
        <p:txBody>
          <a:bodyPr wrap="square" lIns="0" tIns="132080" rIns="0" bIns="0" rtlCol="0" vert="horz">
            <a:spAutoFit/>
          </a:bodyPr>
          <a:lstStyle/>
          <a:p>
            <a:pPr marL="12700" marR="5080">
              <a:lnSpc>
                <a:spcPct val="70000"/>
              </a:lnSpc>
              <a:spcBef>
                <a:spcPts val="1040"/>
              </a:spcBef>
            </a:pPr>
            <a:r>
              <a:rPr dirty="0" sz="2600">
                <a:latin typeface="Calibri"/>
                <a:cs typeface="Calibri"/>
              </a:rPr>
              <a:t>Guest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app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executes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syscall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read </a:t>
            </a:r>
            <a:r>
              <a:rPr dirty="0" sz="2600">
                <a:latin typeface="Calibri"/>
                <a:cs typeface="Calibri"/>
              </a:rPr>
              <a:t>from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keyboard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7800" y="4716017"/>
            <a:ext cx="6950075" cy="1489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latin typeface="Calibri"/>
                <a:cs typeface="Calibri"/>
              </a:rPr>
              <a:t>Theorem:</a:t>
            </a:r>
            <a:r>
              <a:rPr dirty="0" sz="3200" spc="-1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A</a:t>
            </a:r>
            <a:r>
              <a:rPr dirty="0" sz="3200" spc="-1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virtual</a:t>
            </a:r>
            <a:r>
              <a:rPr dirty="0" sz="3200" spc="-35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machine</a:t>
            </a:r>
            <a:r>
              <a:rPr dirty="0" sz="3200" spc="-3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monitor</a:t>
            </a:r>
            <a:r>
              <a:rPr dirty="0" sz="3200" spc="-35" b="1">
                <a:latin typeface="Calibri"/>
                <a:cs typeface="Calibri"/>
              </a:rPr>
              <a:t> </a:t>
            </a:r>
            <a:r>
              <a:rPr dirty="0" sz="3200" spc="-25" b="1">
                <a:latin typeface="Calibri"/>
                <a:cs typeface="Calibri"/>
              </a:rPr>
              <a:t>can </a:t>
            </a:r>
            <a:r>
              <a:rPr dirty="0" sz="3200" b="1">
                <a:latin typeface="Calibri"/>
                <a:cs typeface="Calibri"/>
              </a:rPr>
              <a:t>be</a:t>
            </a:r>
            <a:r>
              <a:rPr dirty="0" sz="3200" spc="-25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constructed</a:t>
            </a:r>
            <a:r>
              <a:rPr dirty="0" sz="3200" spc="-45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for</a:t>
            </a:r>
            <a:r>
              <a:rPr dirty="0" sz="3200" spc="-1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architectures</a:t>
            </a:r>
            <a:r>
              <a:rPr dirty="0" sz="3200" spc="-35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in</a:t>
            </a:r>
            <a:r>
              <a:rPr dirty="0" sz="3200" spc="-20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which </a:t>
            </a:r>
            <a:r>
              <a:rPr dirty="0" sz="3200" b="1">
                <a:latin typeface="Calibri"/>
                <a:cs typeface="Calibri"/>
              </a:rPr>
              <a:t>every</a:t>
            </a:r>
            <a:r>
              <a:rPr dirty="0" sz="3200" spc="-5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sensitive</a:t>
            </a:r>
            <a:r>
              <a:rPr dirty="0" sz="3200" spc="-45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instruction</a:t>
            </a:r>
            <a:r>
              <a:rPr dirty="0" sz="3200" spc="-2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is</a:t>
            </a:r>
            <a:r>
              <a:rPr dirty="0" sz="3200" spc="-40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privileged.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365872" y="3582670"/>
            <a:ext cx="4618355" cy="2873375"/>
          </a:xfrm>
          <a:prstGeom prst="rect">
            <a:avLst/>
          </a:prstGeom>
        </p:spPr>
        <p:txBody>
          <a:bodyPr wrap="square" lIns="0" tIns="132080" rIns="0" bIns="0" rtlCol="0" vert="horz">
            <a:spAutoFit/>
          </a:bodyPr>
          <a:lstStyle/>
          <a:p>
            <a:pPr marL="355600" marR="12700" indent="-342900">
              <a:lnSpc>
                <a:spcPct val="70000"/>
              </a:lnSpc>
              <a:spcBef>
                <a:spcPts val="1040"/>
              </a:spcBef>
              <a:buSzPct val="69230"/>
              <a:buFont typeface="Arial"/>
              <a:buChar char="•"/>
              <a:tabLst>
                <a:tab pos="355600" algn="l"/>
              </a:tabLst>
            </a:pPr>
            <a:r>
              <a:rPr dirty="0" sz="2600">
                <a:latin typeface="Calibri"/>
                <a:cs typeface="Calibri"/>
              </a:rPr>
              <a:t>Hardware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generates</a:t>
            </a:r>
            <a:r>
              <a:rPr dirty="0" sz="2600" spc="-1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trap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which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handled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by</a:t>
            </a:r>
            <a:r>
              <a:rPr dirty="0" sz="2600" spc="-25">
                <a:latin typeface="Calibri"/>
                <a:cs typeface="Calibri"/>
              </a:rPr>
              <a:t> VMM</a:t>
            </a:r>
            <a:endParaRPr sz="2600">
              <a:latin typeface="Calibri"/>
              <a:cs typeface="Calibri"/>
            </a:endParaRPr>
          </a:p>
          <a:p>
            <a:pPr marL="355600" marR="235585" indent="-342900">
              <a:lnSpc>
                <a:spcPct val="70000"/>
              </a:lnSpc>
              <a:spcBef>
                <a:spcPts val="1005"/>
              </a:spcBef>
              <a:buSzPct val="69230"/>
              <a:buFont typeface="Arial"/>
              <a:buChar char="•"/>
              <a:tabLst>
                <a:tab pos="355600" algn="l"/>
              </a:tabLst>
            </a:pPr>
            <a:r>
              <a:rPr dirty="0" sz="2600">
                <a:latin typeface="Calibri"/>
                <a:cs typeface="Calibri"/>
              </a:rPr>
              <a:t>VMM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vectors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control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guest </a:t>
            </a:r>
            <a:r>
              <a:rPr dirty="0" sz="2600">
                <a:latin typeface="Calibri"/>
                <a:cs typeface="Calibri"/>
              </a:rPr>
              <a:t>OS’s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interrupt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handler</a:t>
            </a:r>
            <a:endParaRPr sz="2600">
              <a:latin typeface="Calibri"/>
              <a:cs typeface="Calibri"/>
            </a:endParaRPr>
          </a:p>
          <a:p>
            <a:pPr marL="355600" marR="5080" indent="-342900">
              <a:lnSpc>
                <a:spcPct val="70100"/>
              </a:lnSpc>
              <a:spcBef>
                <a:spcPts val="994"/>
              </a:spcBef>
              <a:buSzPct val="69230"/>
              <a:buFont typeface="Arial"/>
              <a:buChar char="•"/>
              <a:tabLst>
                <a:tab pos="355600" algn="l"/>
              </a:tabLst>
            </a:pPr>
            <a:r>
              <a:rPr dirty="0" sz="2600">
                <a:latin typeface="Calibri"/>
                <a:cs typeface="Calibri"/>
              </a:rPr>
              <a:t>Guest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OS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tries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execute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inb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to </a:t>
            </a:r>
            <a:r>
              <a:rPr dirty="0" sz="2600">
                <a:latin typeface="Calibri"/>
                <a:cs typeface="Calibri"/>
              </a:rPr>
              <a:t>read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key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from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keyboard</a:t>
            </a:r>
            <a:endParaRPr sz="26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"/>
              </a:spcBef>
              <a:buSzPct val="69230"/>
              <a:buFont typeface="Arial"/>
              <a:buChar char="•"/>
              <a:tabLst>
                <a:tab pos="354965" algn="l"/>
              </a:tabLst>
            </a:pPr>
            <a:r>
              <a:rPr dirty="0" sz="2600">
                <a:latin typeface="Calibri"/>
                <a:cs typeface="Calibri"/>
              </a:rPr>
              <a:t>Hardware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traps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VMM</a:t>
            </a:r>
            <a:endParaRPr sz="26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0"/>
              </a:spcBef>
              <a:buSzPct val="69230"/>
              <a:buFont typeface="Arial"/>
              <a:buChar char="•"/>
              <a:tabLst>
                <a:tab pos="354965" algn="l"/>
              </a:tabLst>
            </a:pPr>
            <a:r>
              <a:rPr dirty="0" sz="2600">
                <a:latin typeface="Calibri"/>
                <a:cs typeface="Calibri"/>
              </a:rPr>
              <a:t>VMM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executes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real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inb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141528" y="38861"/>
            <a:ext cx="6504940" cy="2220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3600" b="0">
                <a:solidFill>
                  <a:srgbClr val="000000"/>
                </a:solidFill>
                <a:latin typeface="Calibri"/>
                <a:cs typeface="Calibri"/>
              </a:rPr>
              <a:t>If</a:t>
            </a:r>
            <a:r>
              <a:rPr dirty="0" sz="3600" spc="-2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600" b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dirty="0" sz="3600" spc="-2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600" b="0">
                <a:solidFill>
                  <a:srgbClr val="000000"/>
                </a:solidFill>
                <a:latin typeface="Calibri"/>
                <a:cs typeface="Calibri"/>
              </a:rPr>
              <a:t>guest</a:t>
            </a:r>
            <a:r>
              <a:rPr dirty="0" sz="3600" spc="-2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600" b="0">
                <a:solidFill>
                  <a:srgbClr val="000000"/>
                </a:solidFill>
                <a:latin typeface="Calibri"/>
                <a:cs typeface="Calibri"/>
              </a:rPr>
              <a:t>OS</a:t>
            </a:r>
            <a:r>
              <a:rPr dirty="0" sz="3600" spc="-1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600" b="0">
                <a:solidFill>
                  <a:srgbClr val="000000"/>
                </a:solidFill>
                <a:latin typeface="Calibri"/>
                <a:cs typeface="Calibri"/>
              </a:rPr>
              <a:t>is</a:t>
            </a:r>
            <a:r>
              <a:rPr dirty="0" sz="3600" spc="-1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600" b="0">
                <a:solidFill>
                  <a:srgbClr val="000000"/>
                </a:solidFill>
                <a:latin typeface="Calibri"/>
                <a:cs typeface="Calibri"/>
              </a:rPr>
              <a:t>mapped</a:t>
            </a:r>
            <a:r>
              <a:rPr dirty="0" sz="3600" spc="-5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600" b="0">
                <a:solidFill>
                  <a:srgbClr val="000000"/>
                </a:solidFill>
                <a:latin typeface="Calibri"/>
                <a:cs typeface="Calibri"/>
              </a:rPr>
              <a:t>into</a:t>
            </a:r>
            <a:r>
              <a:rPr dirty="0" sz="3600" spc="-25" b="0">
                <a:solidFill>
                  <a:srgbClr val="000000"/>
                </a:solidFill>
                <a:latin typeface="Calibri"/>
                <a:cs typeface="Calibri"/>
              </a:rPr>
              <a:t> the </a:t>
            </a:r>
            <a:r>
              <a:rPr dirty="0" sz="3600" b="0">
                <a:solidFill>
                  <a:srgbClr val="000000"/>
                </a:solidFill>
                <a:latin typeface="Calibri"/>
                <a:cs typeface="Calibri"/>
              </a:rPr>
              <a:t>same</a:t>
            </a:r>
            <a:r>
              <a:rPr dirty="0" sz="3600" spc="-6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600" b="0">
                <a:solidFill>
                  <a:srgbClr val="000000"/>
                </a:solidFill>
                <a:latin typeface="Calibri"/>
                <a:cs typeface="Calibri"/>
              </a:rPr>
              <a:t>address</a:t>
            </a:r>
            <a:r>
              <a:rPr dirty="0" sz="3600" spc="-9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600" b="0">
                <a:solidFill>
                  <a:srgbClr val="000000"/>
                </a:solidFill>
                <a:latin typeface="Calibri"/>
                <a:cs typeface="Calibri"/>
              </a:rPr>
              <a:t>space</a:t>
            </a:r>
            <a:r>
              <a:rPr dirty="0" sz="3600" spc="-6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600" b="0">
                <a:solidFill>
                  <a:srgbClr val="000000"/>
                </a:solidFill>
                <a:latin typeface="Calibri"/>
                <a:cs typeface="Calibri"/>
              </a:rPr>
              <a:t>as</a:t>
            </a:r>
            <a:r>
              <a:rPr dirty="0" sz="3600" spc="-6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600" b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dirty="0" sz="3600" spc="-5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600" spc="-10" b="0">
                <a:solidFill>
                  <a:srgbClr val="000000"/>
                </a:solidFill>
                <a:latin typeface="Calibri"/>
                <a:cs typeface="Calibri"/>
              </a:rPr>
              <a:t>guest </a:t>
            </a:r>
            <a:r>
              <a:rPr dirty="0" sz="3600" b="0">
                <a:solidFill>
                  <a:srgbClr val="000000"/>
                </a:solidFill>
                <a:latin typeface="Calibri"/>
                <a:cs typeface="Calibri"/>
              </a:rPr>
              <a:t>apps,</a:t>
            </a:r>
            <a:r>
              <a:rPr dirty="0" sz="3600" spc="-3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600" b="0">
                <a:solidFill>
                  <a:srgbClr val="000000"/>
                </a:solidFill>
                <a:latin typeface="Calibri"/>
                <a:cs typeface="Calibri"/>
              </a:rPr>
              <a:t>then</a:t>
            </a:r>
            <a:r>
              <a:rPr dirty="0" sz="3600" spc="-4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600" b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dirty="0" sz="3600" spc="-3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600" b="0">
                <a:solidFill>
                  <a:srgbClr val="000000"/>
                </a:solidFill>
                <a:latin typeface="Calibri"/>
                <a:cs typeface="Calibri"/>
              </a:rPr>
              <a:t>guest</a:t>
            </a:r>
            <a:r>
              <a:rPr dirty="0" sz="3600" spc="-3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600" b="0">
                <a:solidFill>
                  <a:srgbClr val="000000"/>
                </a:solidFill>
                <a:latin typeface="Calibri"/>
                <a:cs typeface="Calibri"/>
              </a:rPr>
              <a:t>apps</a:t>
            </a:r>
            <a:r>
              <a:rPr dirty="0" sz="3600" spc="-2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600" b="0">
                <a:solidFill>
                  <a:srgbClr val="000000"/>
                </a:solidFill>
                <a:latin typeface="Calibri"/>
                <a:cs typeface="Calibri"/>
              </a:rPr>
              <a:t>can</a:t>
            </a:r>
            <a:r>
              <a:rPr dirty="0" sz="3600" spc="-20" b="0">
                <a:solidFill>
                  <a:srgbClr val="000000"/>
                </a:solidFill>
                <a:latin typeface="Calibri"/>
                <a:cs typeface="Calibri"/>
              </a:rPr>
              <a:t> read </a:t>
            </a:r>
            <a:r>
              <a:rPr dirty="0" sz="3600" b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dirty="0" sz="3600" spc="-4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600" b="0">
                <a:solidFill>
                  <a:srgbClr val="000000"/>
                </a:solidFill>
                <a:latin typeface="Calibri"/>
                <a:cs typeface="Calibri"/>
              </a:rPr>
              <a:t>write</a:t>
            </a:r>
            <a:r>
              <a:rPr dirty="0" sz="3600" spc="-4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600" b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dirty="0" sz="3600" spc="-2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600" b="0">
                <a:solidFill>
                  <a:srgbClr val="000000"/>
                </a:solidFill>
                <a:latin typeface="Calibri"/>
                <a:cs typeface="Calibri"/>
              </a:rPr>
              <a:t>guest</a:t>
            </a:r>
            <a:r>
              <a:rPr dirty="0" sz="3600" spc="-3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600" b="0">
                <a:solidFill>
                  <a:srgbClr val="000000"/>
                </a:solidFill>
                <a:latin typeface="Calibri"/>
                <a:cs typeface="Calibri"/>
              </a:rPr>
              <a:t>OS’s</a:t>
            </a:r>
            <a:r>
              <a:rPr dirty="0" sz="3600" spc="-3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600" spc="-10" b="0">
                <a:solidFill>
                  <a:srgbClr val="000000"/>
                </a:solidFill>
                <a:latin typeface="Calibri"/>
                <a:cs typeface="Calibri"/>
              </a:rPr>
              <a:t>state!</a:t>
            </a:r>
            <a:endParaRPr sz="36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804914" y="300481"/>
            <a:ext cx="1040765" cy="645795"/>
            <a:chOff x="6804914" y="300481"/>
            <a:chExt cx="1040765" cy="645795"/>
          </a:xfrm>
        </p:grpSpPr>
        <p:sp>
          <p:nvSpPr>
            <p:cNvPr id="13" name="object 13"/>
            <p:cNvSpPr/>
            <p:nvPr/>
          </p:nvSpPr>
          <p:spPr>
            <a:xfrm>
              <a:off x="6817614" y="313181"/>
              <a:ext cx="1015365" cy="620395"/>
            </a:xfrm>
            <a:custGeom>
              <a:avLst/>
              <a:gdLst/>
              <a:ahLst/>
              <a:cxnLst/>
              <a:rect l="l" t="t" r="r" b="b"/>
              <a:pathLst>
                <a:path w="1015365" h="620394">
                  <a:moveTo>
                    <a:pt x="704850" y="0"/>
                  </a:moveTo>
                  <a:lnTo>
                    <a:pt x="704850" y="155067"/>
                  </a:lnTo>
                  <a:lnTo>
                    <a:pt x="0" y="155067"/>
                  </a:lnTo>
                  <a:lnTo>
                    <a:pt x="0" y="465201"/>
                  </a:lnTo>
                  <a:lnTo>
                    <a:pt x="704850" y="465201"/>
                  </a:lnTo>
                  <a:lnTo>
                    <a:pt x="704850" y="620268"/>
                  </a:lnTo>
                  <a:lnTo>
                    <a:pt x="1014983" y="310134"/>
                  </a:lnTo>
                  <a:lnTo>
                    <a:pt x="7048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817614" y="313181"/>
              <a:ext cx="1015365" cy="620395"/>
            </a:xfrm>
            <a:custGeom>
              <a:avLst/>
              <a:gdLst/>
              <a:ahLst/>
              <a:cxnLst/>
              <a:rect l="l" t="t" r="r" b="b"/>
              <a:pathLst>
                <a:path w="1015365" h="620394">
                  <a:moveTo>
                    <a:pt x="0" y="155067"/>
                  </a:moveTo>
                  <a:lnTo>
                    <a:pt x="704850" y="155067"/>
                  </a:lnTo>
                  <a:lnTo>
                    <a:pt x="704850" y="0"/>
                  </a:lnTo>
                  <a:lnTo>
                    <a:pt x="1014983" y="310134"/>
                  </a:lnTo>
                  <a:lnTo>
                    <a:pt x="704850" y="620268"/>
                  </a:lnTo>
                  <a:lnTo>
                    <a:pt x="704850" y="465201"/>
                  </a:lnTo>
                  <a:lnTo>
                    <a:pt x="0" y="465201"/>
                  </a:lnTo>
                  <a:lnTo>
                    <a:pt x="0" y="155067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/>
          <p:nvPr/>
        </p:nvSpPr>
        <p:spPr>
          <a:xfrm>
            <a:off x="7933943" y="100584"/>
            <a:ext cx="170815" cy="1275715"/>
          </a:xfrm>
          <a:custGeom>
            <a:avLst/>
            <a:gdLst/>
            <a:ahLst/>
            <a:cxnLst/>
            <a:rect l="l" t="t" r="r" b="b"/>
            <a:pathLst>
              <a:path w="170815" h="1275715">
                <a:moveTo>
                  <a:pt x="170687" y="1275588"/>
                </a:moveTo>
                <a:lnTo>
                  <a:pt x="104263" y="1274472"/>
                </a:lnTo>
                <a:lnTo>
                  <a:pt x="50006" y="1271428"/>
                </a:lnTo>
                <a:lnTo>
                  <a:pt x="13418" y="1266908"/>
                </a:lnTo>
                <a:lnTo>
                  <a:pt x="0" y="1261364"/>
                </a:lnTo>
                <a:lnTo>
                  <a:pt x="0" y="14224"/>
                </a:lnTo>
                <a:lnTo>
                  <a:pt x="13418" y="8679"/>
                </a:lnTo>
                <a:lnTo>
                  <a:pt x="50006" y="4159"/>
                </a:lnTo>
                <a:lnTo>
                  <a:pt x="104263" y="1115"/>
                </a:lnTo>
                <a:lnTo>
                  <a:pt x="170687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170164" y="102107"/>
            <a:ext cx="1981200" cy="55372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20320" rIns="0" bIns="0" rtlCol="0" vert="horz">
            <a:spAutoFit/>
          </a:bodyPr>
          <a:lstStyle/>
          <a:p>
            <a:pPr marL="177800">
              <a:lnSpc>
                <a:spcPct val="100000"/>
              </a:lnSpc>
              <a:spcBef>
                <a:spcPts val="160"/>
              </a:spcBef>
            </a:pPr>
            <a:r>
              <a:rPr dirty="0" sz="2800">
                <a:latin typeface="Calibri"/>
                <a:cs typeface="Calibri"/>
              </a:rPr>
              <a:t>Guest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apps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449306" y="486536"/>
            <a:ext cx="9169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Calibri"/>
                <a:cs typeface="Calibri"/>
              </a:rPr>
              <a:t>Ring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50"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70164" y="822960"/>
            <a:ext cx="1981200" cy="553720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29844" rIns="0" bIns="0" rtlCol="0" vert="horz">
            <a:spAutoFit/>
          </a:bodyPr>
          <a:lstStyle/>
          <a:p>
            <a:pPr marL="351155">
              <a:lnSpc>
                <a:spcPct val="100000"/>
              </a:lnSpc>
              <a:spcBef>
                <a:spcPts val="234"/>
              </a:spcBef>
            </a:pPr>
            <a:r>
              <a:rPr dirty="0" sz="2800">
                <a:latin typeface="Calibri"/>
                <a:cs typeface="Calibri"/>
              </a:rPr>
              <a:t>Guest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OS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219943" y="100584"/>
            <a:ext cx="169545" cy="1275715"/>
          </a:xfrm>
          <a:custGeom>
            <a:avLst/>
            <a:gdLst/>
            <a:ahLst/>
            <a:cxnLst/>
            <a:rect l="l" t="t" r="r" b="b"/>
            <a:pathLst>
              <a:path w="169545" h="1275715">
                <a:moveTo>
                  <a:pt x="0" y="1275588"/>
                </a:moveTo>
                <a:lnTo>
                  <a:pt x="65865" y="1274474"/>
                </a:lnTo>
                <a:lnTo>
                  <a:pt x="119633" y="1271444"/>
                </a:lnTo>
                <a:lnTo>
                  <a:pt x="155876" y="1266961"/>
                </a:lnTo>
                <a:lnTo>
                  <a:pt x="169163" y="1261491"/>
                </a:lnTo>
                <a:lnTo>
                  <a:pt x="169163" y="14097"/>
                </a:lnTo>
                <a:lnTo>
                  <a:pt x="155876" y="8626"/>
                </a:lnTo>
                <a:lnTo>
                  <a:pt x="119633" y="4143"/>
                </a:lnTo>
                <a:lnTo>
                  <a:pt x="65865" y="1113"/>
                </a:lnTo>
                <a:lnTo>
                  <a:pt x="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170164" y="1542288"/>
            <a:ext cx="1981200" cy="553720"/>
          </a:xfrm>
          <a:prstGeom prst="rect">
            <a:avLst/>
          </a:prstGeom>
          <a:solidFill>
            <a:srgbClr val="7E7E7E"/>
          </a:solidFill>
          <a:ln w="9525">
            <a:solidFill>
              <a:srgbClr val="000000"/>
            </a:solidFill>
          </a:ln>
        </p:spPr>
        <p:txBody>
          <a:bodyPr wrap="square" lIns="0" tIns="48895" rIns="0" bIns="0" rtlCol="0" vert="horz">
            <a:spAutoFit/>
          </a:bodyPr>
          <a:lstStyle/>
          <a:p>
            <a:pPr marL="594995">
              <a:lnSpc>
                <a:spcPct val="100000"/>
              </a:lnSpc>
              <a:spcBef>
                <a:spcPts val="385"/>
              </a:spcBef>
            </a:pPr>
            <a:r>
              <a:rPr dirty="0" sz="2800" spc="-25">
                <a:latin typeface="Calibri"/>
                <a:cs typeface="Calibri"/>
              </a:rPr>
              <a:t>VMM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222992" y="1542288"/>
            <a:ext cx="169545" cy="550545"/>
          </a:xfrm>
          <a:custGeom>
            <a:avLst/>
            <a:gdLst/>
            <a:ahLst/>
            <a:cxnLst/>
            <a:rect l="l" t="t" r="r" b="b"/>
            <a:pathLst>
              <a:path w="169545" h="550544">
                <a:moveTo>
                  <a:pt x="0" y="550163"/>
                </a:moveTo>
                <a:lnTo>
                  <a:pt x="65865" y="549050"/>
                </a:lnTo>
                <a:lnTo>
                  <a:pt x="119633" y="546020"/>
                </a:lnTo>
                <a:lnTo>
                  <a:pt x="155876" y="541537"/>
                </a:lnTo>
                <a:lnTo>
                  <a:pt x="169163" y="536066"/>
                </a:lnTo>
                <a:lnTo>
                  <a:pt x="169163" y="14097"/>
                </a:lnTo>
                <a:lnTo>
                  <a:pt x="155876" y="8626"/>
                </a:lnTo>
                <a:lnTo>
                  <a:pt x="119633" y="4143"/>
                </a:lnTo>
                <a:lnTo>
                  <a:pt x="65865" y="1113"/>
                </a:lnTo>
                <a:lnTo>
                  <a:pt x="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449306" y="1544828"/>
            <a:ext cx="9169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Calibri"/>
                <a:cs typeface="Calibri"/>
              </a:rPr>
              <a:t>Ring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5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170164" y="2272283"/>
            <a:ext cx="1981200" cy="55372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</a:ln>
        </p:spPr>
        <p:txBody>
          <a:bodyPr wrap="square" lIns="0" tIns="11430" rIns="0" bIns="0" rtlCol="0" vert="horz">
            <a:spAutoFit/>
          </a:bodyPr>
          <a:lstStyle/>
          <a:p>
            <a:pPr algn="ctr" marR="9525">
              <a:lnSpc>
                <a:spcPct val="100000"/>
              </a:lnSpc>
              <a:spcBef>
                <a:spcPts val="90"/>
              </a:spcBef>
            </a:pPr>
            <a:r>
              <a:rPr dirty="0" sz="2800" spc="-25">
                <a:solidFill>
                  <a:srgbClr val="FFFFFF"/>
                </a:solidFill>
                <a:latin typeface="Calibri"/>
                <a:cs typeface="Calibri"/>
              </a:rPr>
              <a:t>x86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5719" y="2874262"/>
            <a:ext cx="6983095" cy="3983990"/>
            <a:chOff x="45719" y="2874262"/>
            <a:chExt cx="6983095" cy="3983990"/>
          </a:xfrm>
        </p:grpSpPr>
        <p:sp>
          <p:nvSpPr>
            <p:cNvPr id="16" name="object 16"/>
            <p:cNvSpPr/>
            <p:nvPr/>
          </p:nvSpPr>
          <p:spPr>
            <a:xfrm>
              <a:off x="2763774" y="3734562"/>
              <a:ext cx="4251960" cy="2239010"/>
            </a:xfrm>
            <a:custGeom>
              <a:avLst/>
              <a:gdLst/>
              <a:ahLst/>
              <a:cxnLst/>
              <a:rect l="l" t="t" r="r" b="b"/>
              <a:pathLst>
                <a:path w="4251959" h="2239010">
                  <a:moveTo>
                    <a:pt x="2199259" y="1815084"/>
                  </a:moveTo>
                  <a:lnTo>
                    <a:pt x="1319529" y="1815084"/>
                  </a:lnTo>
                  <a:lnTo>
                    <a:pt x="0" y="2238654"/>
                  </a:lnTo>
                  <a:lnTo>
                    <a:pt x="2199259" y="1815084"/>
                  </a:lnTo>
                  <a:close/>
                </a:path>
                <a:path w="4251959" h="2239010">
                  <a:moveTo>
                    <a:pt x="3949446" y="0"/>
                  </a:moveTo>
                  <a:lnTo>
                    <a:pt x="1035558" y="0"/>
                  </a:lnTo>
                  <a:lnTo>
                    <a:pt x="986474" y="3957"/>
                  </a:lnTo>
                  <a:lnTo>
                    <a:pt x="939917" y="15416"/>
                  </a:lnTo>
                  <a:lnTo>
                    <a:pt x="896509" y="33755"/>
                  </a:lnTo>
                  <a:lnTo>
                    <a:pt x="856872" y="58350"/>
                  </a:lnTo>
                  <a:lnTo>
                    <a:pt x="821626" y="88582"/>
                  </a:lnTo>
                  <a:lnTo>
                    <a:pt x="791394" y="123828"/>
                  </a:lnTo>
                  <a:lnTo>
                    <a:pt x="766799" y="163465"/>
                  </a:lnTo>
                  <a:lnTo>
                    <a:pt x="748460" y="206873"/>
                  </a:lnTo>
                  <a:lnTo>
                    <a:pt x="737001" y="253430"/>
                  </a:lnTo>
                  <a:lnTo>
                    <a:pt x="733043" y="302513"/>
                  </a:lnTo>
                  <a:lnTo>
                    <a:pt x="733043" y="1512570"/>
                  </a:lnTo>
                  <a:lnTo>
                    <a:pt x="737001" y="1561653"/>
                  </a:lnTo>
                  <a:lnTo>
                    <a:pt x="748460" y="1608210"/>
                  </a:lnTo>
                  <a:lnTo>
                    <a:pt x="766799" y="1651618"/>
                  </a:lnTo>
                  <a:lnTo>
                    <a:pt x="791394" y="1691255"/>
                  </a:lnTo>
                  <a:lnTo>
                    <a:pt x="821626" y="1726501"/>
                  </a:lnTo>
                  <a:lnTo>
                    <a:pt x="856872" y="1756733"/>
                  </a:lnTo>
                  <a:lnTo>
                    <a:pt x="896509" y="1781328"/>
                  </a:lnTo>
                  <a:lnTo>
                    <a:pt x="939917" y="1799667"/>
                  </a:lnTo>
                  <a:lnTo>
                    <a:pt x="986474" y="1811126"/>
                  </a:lnTo>
                  <a:lnTo>
                    <a:pt x="1035558" y="1815084"/>
                  </a:lnTo>
                  <a:lnTo>
                    <a:pt x="3949446" y="1815084"/>
                  </a:lnTo>
                  <a:lnTo>
                    <a:pt x="3998529" y="1811126"/>
                  </a:lnTo>
                  <a:lnTo>
                    <a:pt x="4045086" y="1799667"/>
                  </a:lnTo>
                  <a:lnTo>
                    <a:pt x="4088494" y="1781328"/>
                  </a:lnTo>
                  <a:lnTo>
                    <a:pt x="4128131" y="1756733"/>
                  </a:lnTo>
                  <a:lnTo>
                    <a:pt x="4163377" y="1726501"/>
                  </a:lnTo>
                  <a:lnTo>
                    <a:pt x="4193609" y="1691255"/>
                  </a:lnTo>
                  <a:lnTo>
                    <a:pt x="4218204" y="1651618"/>
                  </a:lnTo>
                  <a:lnTo>
                    <a:pt x="4236543" y="1608210"/>
                  </a:lnTo>
                  <a:lnTo>
                    <a:pt x="4248002" y="1561653"/>
                  </a:lnTo>
                  <a:lnTo>
                    <a:pt x="4251959" y="1512570"/>
                  </a:lnTo>
                  <a:lnTo>
                    <a:pt x="4251959" y="302513"/>
                  </a:lnTo>
                  <a:lnTo>
                    <a:pt x="4248002" y="253430"/>
                  </a:lnTo>
                  <a:lnTo>
                    <a:pt x="4236543" y="206873"/>
                  </a:lnTo>
                  <a:lnTo>
                    <a:pt x="4218204" y="163465"/>
                  </a:lnTo>
                  <a:lnTo>
                    <a:pt x="4193609" y="123828"/>
                  </a:lnTo>
                  <a:lnTo>
                    <a:pt x="4163377" y="88582"/>
                  </a:lnTo>
                  <a:lnTo>
                    <a:pt x="4128131" y="58350"/>
                  </a:lnTo>
                  <a:lnTo>
                    <a:pt x="4088494" y="33755"/>
                  </a:lnTo>
                  <a:lnTo>
                    <a:pt x="4045086" y="15416"/>
                  </a:lnTo>
                  <a:lnTo>
                    <a:pt x="3998529" y="3957"/>
                  </a:lnTo>
                  <a:lnTo>
                    <a:pt x="3949446" y="0"/>
                  </a:lnTo>
                  <a:close/>
                </a:path>
              </a:pathLst>
            </a:custGeom>
            <a:solidFill>
              <a:srgbClr val="00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763774" y="3734562"/>
              <a:ext cx="4251960" cy="2239010"/>
            </a:xfrm>
            <a:custGeom>
              <a:avLst/>
              <a:gdLst/>
              <a:ahLst/>
              <a:cxnLst/>
              <a:rect l="l" t="t" r="r" b="b"/>
              <a:pathLst>
                <a:path w="4251959" h="2239010">
                  <a:moveTo>
                    <a:pt x="733043" y="302513"/>
                  </a:moveTo>
                  <a:lnTo>
                    <a:pt x="737001" y="253430"/>
                  </a:lnTo>
                  <a:lnTo>
                    <a:pt x="748460" y="206873"/>
                  </a:lnTo>
                  <a:lnTo>
                    <a:pt x="766799" y="163465"/>
                  </a:lnTo>
                  <a:lnTo>
                    <a:pt x="791394" y="123828"/>
                  </a:lnTo>
                  <a:lnTo>
                    <a:pt x="821626" y="88582"/>
                  </a:lnTo>
                  <a:lnTo>
                    <a:pt x="856872" y="58350"/>
                  </a:lnTo>
                  <a:lnTo>
                    <a:pt x="896509" y="33755"/>
                  </a:lnTo>
                  <a:lnTo>
                    <a:pt x="939917" y="15416"/>
                  </a:lnTo>
                  <a:lnTo>
                    <a:pt x="986474" y="3957"/>
                  </a:lnTo>
                  <a:lnTo>
                    <a:pt x="1035558" y="0"/>
                  </a:lnTo>
                  <a:lnTo>
                    <a:pt x="1319529" y="0"/>
                  </a:lnTo>
                  <a:lnTo>
                    <a:pt x="2199259" y="0"/>
                  </a:lnTo>
                  <a:lnTo>
                    <a:pt x="3949446" y="0"/>
                  </a:lnTo>
                  <a:lnTo>
                    <a:pt x="3998529" y="3957"/>
                  </a:lnTo>
                  <a:lnTo>
                    <a:pt x="4045086" y="15416"/>
                  </a:lnTo>
                  <a:lnTo>
                    <a:pt x="4088494" y="33755"/>
                  </a:lnTo>
                  <a:lnTo>
                    <a:pt x="4128131" y="58350"/>
                  </a:lnTo>
                  <a:lnTo>
                    <a:pt x="4163377" y="88582"/>
                  </a:lnTo>
                  <a:lnTo>
                    <a:pt x="4193609" y="123828"/>
                  </a:lnTo>
                  <a:lnTo>
                    <a:pt x="4218204" y="163465"/>
                  </a:lnTo>
                  <a:lnTo>
                    <a:pt x="4236543" y="206873"/>
                  </a:lnTo>
                  <a:lnTo>
                    <a:pt x="4248002" y="253430"/>
                  </a:lnTo>
                  <a:lnTo>
                    <a:pt x="4251959" y="302513"/>
                  </a:lnTo>
                  <a:lnTo>
                    <a:pt x="4251959" y="1058799"/>
                  </a:lnTo>
                  <a:lnTo>
                    <a:pt x="4251959" y="1512570"/>
                  </a:lnTo>
                  <a:lnTo>
                    <a:pt x="4248002" y="1561653"/>
                  </a:lnTo>
                  <a:lnTo>
                    <a:pt x="4236543" y="1608210"/>
                  </a:lnTo>
                  <a:lnTo>
                    <a:pt x="4218204" y="1651618"/>
                  </a:lnTo>
                  <a:lnTo>
                    <a:pt x="4193609" y="1691255"/>
                  </a:lnTo>
                  <a:lnTo>
                    <a:pt x="4163377" y="1726501"/>
                  </a:lnTo>
                  <a:lnTo>
                    <a:pt x="4128131" y="1756733"/>
                  </a:lnTo>
                  <a:lnTo>
                    <a:pt x="4088494" y="1781328"/>
                  </a:lnTo>
                  <a:lnTo>
                    <a:pt x="4045086" y="1799667"/>
                  </a:lnTo>
                  <a:lnTo>
                    <a:pt x="3998529" y="1811126"/>
                  </a:lnTo>
                  <a:lnTo>
                    <a:pt x="3949446" y="1815084"/>
                  </a:lnTo>
                  <a:lnTo>
                    <a:pt x="2199259" y="1815084"/>
                  </a:lnTo>
                  <a:lnTo>
                    <a:pt x="0" y="2238654"/>
                  </a:lnTo>
                  <a:lnTo>
                    <a:pt x="1319529" y="1815084"/>
                  </a:lnTo>
                  <a:lnTo>
                    <a:pt x="1035558" y="1815084"/>
                  </a:lnTo>
                  <a:lnTo>
                    <a:pt x="986474" y="1811126"/>
                  </a:lnTo>
                  <a:lnTo>
                    <a:pt x="939917" y="1799667"/>
                  </a:lnTo>
                  <a:lnTo>
                    <a:pt x="896509" y="1781328"/>
                  </a:lnTo>
                  <a:lnTo>
                    <a:pt x="856872" y="1756733"/>
                  </a:lnTo>
                  <a:lnTo>
                    <a:pt x="821626" y="1726501"/>
                  </a:lnTo>
                  <a:lnTo>
                    <a:pt x="791394" y="1691255"/>
                  </a:lnTo>
                  <a:lnTo>
                    <a:pt x="766799" y="1651618"/>
                  </a:lnTo>
                  <a:lnTo>
                    <a:pt x="748460" y="1608210"/>
                  </a:lnTo>
                  <a:lnTo>
                    <a:pt x="737001" y="1561653"/>
                  </a:lnTo>
                  <a:lnTo>
                    <a:pt x="733043" y="1512570"/>
                  </a:lnTo>
                  <a:lnTo>
                    <a:pt x="733043" y="1058799"/>
                  </a:lnTo>
                  <a:lnTo>
                    <a:pt x="733043" y="302513"/>
                  </a:lnTo>
                  <a:close/>
                </a:path>
              </a:pathLst>
            </a:custGeom>
            <a:ln w="254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19" y="2874262"/>
              <a:ext cx="3276600" cy="3983734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3611626" y="3744595"/>
            <a:ext cx="3281679" cy="1305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Calibri"/>
                <a:cs typeface="Calibri"/>
              </a:rPr>
              <a:t>I</a:t>
            </a:r>
            <a:r>
              <a:rPr dirty="0" sz="2800" spc="-3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still</a:t>
            </a:r>
            <a:r>
              <a:rPr dirty="0" sz="2800" spc="-3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want</a:t>
            </a:r>
            <a:r>
              <a:rPr dirty="0" sz="2800" spc="-2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isolation </a:t>
            </a:r>
            <a:r>
              <a:rPr dirty="0" sz="2800" b="1">
                <a:latin typeface="Calibri"/>
                <a:cs typeface="Calibri"/>
              </a:rPr>
              <a:t>between</a:t>
            </a:r>
            <a:r>
              <a:rPr dirty="0" sz="2800" spc="-6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the</a:t>
            </a:r>
            <a:r>
              <a:rPr dirty="0" sz="2800" spc="-6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guest</a:t>
            </a:r>
            <a:r>
              <a:rPr dirty="0" sz="2800" spc="-65" b="1">
                <a:latin typeface="Calibri"/>
                <a:cs typeface="Calibri"/>
              </a:rPr>
              <a:t> </a:t>
            </a:r>
            <a:r>
              <a:rPr dirty="0" sz="2800" spc="-25" b="1">
                <a:latin typeface="Calibri"/>
                <a:cs typeface="Calibri"/>
              </a:rPr>
              <a:t>OS </a:t>
            </a:r>
            <a:r>
              <a:rPr dirty="0" sz="2800" b="1">
                <a:latin typeface="Calibri"/>
                <a:cs typeface="Calibri"/>
              </a:rPr>
              <a:t>and</a:t>
            </a:r>
            <a:r>
              <a:rPr dirty="0" sz="2800" spc="-5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the</a:t>
            </a:r>
            <a:r>
              <a:rPr dirty="0" sz="2800" spc="-5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guest</a:t>
            </a:r>
            <a:r>
              <a:rPr dirty="0" sz="2800" spc="-4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apps!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78265" y="2911031"/>
            <a:ext cx="4703691" cy="3743251"/>
          </a:xfrm>
          <a:prstGeom prst="rect">
            <a:avLst/>
          </a:prstGeom>
        </p:spPr>
      </p:pic>
      <p:grpSp>
        <p:nvGrpSpPr>
          <p:cNvPr id="24" name="object 24"/>
          <p:cNvGrpSpPr/>
          <p:nvPr/>
        </p:nvGrpSpPr>
        <p:grpSpPr>
          <a:xfrm>
            <a:off x="5892546" y="3120898"/>
            <a:ext cx="1595120" cy="3418204"/>
            <a:chOff x="5892546" y="3120898"/>
            <a:chExt cx="1595120" cy="3418204"/>
          </a:xfrm>
        </p:grpSpPr>
        <p:sp>
          <p:nvSpPr>
            <p:cNvPr id="25" name="object 25"/>
            <p:cNvSpPr/>
            <p:nvPr/>
          </p:nvSpPr>
          <p:spPr>
            <a:xfrm>
              <a:off x="5892546" y="3184398"/>
              <a:ext cx="1263650" cy="3345179"/>
            </a:xfrm>
            <a:custGeom>
              <a:avLst/>
              <a:gdLst/>
              <a:ahLst/>
              <a:cxnLst/>
              <a:rect l="l" t="t" r="r" b="b"/>
              <a:pathLst>
                <a:path w="1263650" h="3345179">
                  <a:moveTo>
                    <a:pt x="0" y="3345179"/>
                  </a:moveTo>
                  <a:lnTo>
                    <a:pt x="1262633" y="3345179"/>
                  </a:lnTo>
                </a:path>
                <a:path w="1263650" h="3345179">
                  <a:moveTo>
                    <a:pt x="1263396" y="0"/>
                  </a:moveTo>
                  <a:lnTo>
                    <a:pt x="1263396" y="3345078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7157466" y="3120898"/>
              <a:ext cx="330200" cy="127000"/>
            </a:xfrm>
            <a:custGeom>
              <a:avLst/>
              <a:gdLst/>
              <a:ahLst/>
              <a:cxnLst/>
              <a:rect l="l" t="t" r="r" b="b"/>
              <a:pathLst>
                <a:path w="330200" h="127000">
                  <a:moveTo>
                    <a:pt x="203200" y="0"/>
                  </a:moveTo>
                  <a:lnTo>
                    <a:pt x="203200" y="127000"/>
                  </a:lnTo>
                  <a:lnTo>
                    <a:pt x="311150" y="73025"/>
                  </a:lnTo>
                  <a:lnTo>
                    <a:pt x="215900" y="73025"/>
                  </a:lnTo>
                  <a:lnTo>
                    <a:pt x="215900" y="53975"/>
                  </a:lnTo>
                  <a:lnTo>
                    <a:pt x="311150" y="53975"/>
                  </a:lnTo>
                  <a:lnTo>
                    <a:pt x="203200" y="0"/>
                  </a:lnTo>
                  <a:close/>
                </a:path>
                <a:path w="330200" h="127000">
                  <a:moveTo>
                    <a:pt x="203200" y="53975"/>
                  </a:moveTo>
                  <a:lnTo>
                    <a:pt x="0" y="53975"/>
                  </a:lnTo>
                  <a:lnTo>
                    <a:pt x="0" y="73025"/>
                  </a:lnTo>
                  <a:lnTo>
                    <a:pt x="203200" y="73025"/>
                  </a:lnTo>
                  <a:lnTo>
                    <a:pt x="203200" y="53975"/>
                  </a:lnTo>
                  <a:close/>
                </a:path>
                <a:path w="330200" h="127000">
                  <a:moveTo>
                    <a:pt x="311150" y="53975"/>
                  </a:moveTo>
                  <a:lnTo>
                    <a:pt x="215900" y="53975"/>
                  </a:lnTo>
                  <a:lnTo>
                    <a:pt x="215900" y="73025"/>
                  </a:lnTo>
                  <a:lnTo>
                    <a:pt x="311150" y="73025"/>
                  </a:lnTo>
                  <a:lnTo>
                    <a:pt x="330200" y="63500"/>
                  </a:lnTo>
                  <a:lnTo>
                    <a:pt x="311150" y="539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7590281" y="2944444"/>
            <a:ext cx="4206240" cy="740410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241300" marR="5080" indent="-228600">
              <a:lnSpc>
                <a:spcPts val="2500"/>
              </a:lnSpc>
              <a:spcBef>
                <a:spcPts val="70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VMM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places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result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where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the </a:t>
            </a:r>
            <a:r>
              <a:rPr dirty="0" sz="2600">
                <a:latin typeface="Calibri"/>
                <a:cs typeface="Calibri"/>
              </a:rPr>
              <a:t>guest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OS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expects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it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be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590281" y="3705605"/>
            <a:ext cx="4659630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VMM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vectors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control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back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the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590281" y="3974788"/>
            <a:ext cx="4225925" cy="211963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480"/>
              </a:spcBef>
            </a:pPr>
            <a:r>
              <a:rPr dirty="0" sz="2600">
                <a:latin typeface="Calibri"/>
                <a:cs typeface="Calibri"/>
              </a:rPr>
              <a:t>guest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OS</a:t>
            </a:r>
            <a:endParaRPr sz="2600">
              <a:latin typeface="Calibri"/>
              <a:cs typeface="Calibri"/>
            </a:endParaRPr>
          </a:p>
          <a:p>
            <a:pPr marL="241300" marR="5080" indent="-228600">
              <a:lnSpc>
                <a:spcPts val="2500"/>
              </a:lnSpc>
              <a:spcBef>
                <a:spcPts val="98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OS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does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some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processing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and </a:t>
            </a:r>
            <a:r>
              <a:rPr dirty="0" sz="2600">
                <a:latin typeface="Calibri"/>
                <a:cs typeface="Calibri"/>
              </a:rPr>
              <a:t>then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does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iret</a:t>
            </a:r>
            <a:r>
              <a:rPr dirty="0" sz="2600" spc="-40" b="1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or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 spc="-10" b="1">
                <a:latin typeface="Calibri"/>
                <a:cs typeface="Calibri"/>
              </a:rPr>
              <a:t>sysexit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9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600" spc="-10">
                <a:latin typeface="Calibri"/>
                <a:cs typeface="Calibri"/>
              </a:rPr>
              <a:t>Hardware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traps</a:t>
            </a:r>
            <a:r>
              <a:rPr dirty="0" sz="2600" spc="-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VMM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VMM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returns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user-</a:t>
            </a:r>
            <a:r>
              <a:rPr dirty="0" sz="2600" spc="-20">
                <a:latin typeface="Calibri"/>
                <a:cs typeface="Calibri"/>
              </a:rPr>
              <a:t>mode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2864942"/>
            <a:ext cx="8847455" cy="9404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b="0">
                <a:solidFill>
                  <a:srgbClr val="000000"/>
                </a:solidFill>
                <a:latin typeface="Calibri"/>
                <a:cs typeface="Calibri"/>
              </a:rPr>
              <a:t>There’s</a:t>
            </a:r>
            <a:r>
              <a:rPr dirty="0" sz="6000" spc="-1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6000" b="0">
                <a:solidFill>
                  <a:srgbClr val="000000"/>
                </a:solidFill>
                <a:latin typeface="Calibri"/>
                <a:cs typeface="Calibri"/>
              </a:rPr>
              <a:t>another</a:t>
            </a:r>
            <a:r>
              <a:rPr dirty="0" sz="6000" spc="-3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6000" b="0">
                <a:solidFill>
                  <a:srgbClr val="000000"/>
                </a:solidFill>
                <a:latin typeface="Calibri"/>
                <a:cs typeface="Calibri"/>
              </a:rPr>
              <a:t>problem</a:t>
            </a:r>
            <a:r>
              <a:rPr dirty="0" sz="6000" spc="-3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6000" b="0">
                <a:solidFill>
                  <a:srgbClr val="000000"/>
                </a:solidFill>
                <a:latin typeface="Calibri"/>
                <a:cs typeface="Calibri"/>
              </a:rPr>
              <a:t>.</a:t>
            </a:r>
            <a:r>
              <a:rPr dirty="0" sz="6000" spc="-1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6000" b="0">
                <a:solidFill>
                  <a:srgbClr val="000000"/>
                </a:solidFill>
                <a:latin typeface="Calibri"/>
                <a:cs typeface="Calibri"/>
              </a:rPr>
              <a:t>.</a:t>
            </a:r>
            <a:r>
              <a:rPr dirty="0" sz="6000" spc="1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6000" spc="-50" b="0">
                <a:solidFill>
                  <a:srgbClr val="000000"/>
                </a:solidFill>
                <a:latin typeface="Calibri"/>
                <a:cs typeface="Calibri"/>
              </a:rPr>
              <a:t>.</a:t>
            </a:r>
            <a:endParaRPr sz="6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773496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000000"/>
                </a:solidFill>
              </a:rPr>
              <a:t>Theorem:</a:t>
            </a:r>
            <a:r>
              <a:rPr dirty="0" sz="3200" spc="-10">
                <a:solidFill>
                  <a:srgbClr val="000000"/>
                </a:solidFill>
              </a:rPr>
              <a:t> </a:t>
            </a:r>
            <a:r>
              <a:rPr dirty="0" sz="3200">
                <a:solidFill>
                  <a:srgbClr val="000000"/>
                </a:solidFill>
              </a:rPr>
              <a:t>A</a:t>
            </a:r>
            <a:r>
              <a:rPr dirty="0" sz="3200" spc="-5">
                <a:solidFill>
                  <a:srgbClr val="000000"/>
                </a:solidFill>
              </a:rPr>
              <a:t> </a:t>
            </a:r>
            <a:r>
              <a:rPr dirty="0" sz="3200">
                <a:solidFill>
                  <a:srgbClr val="000000"/>
                </a:solidFill>
              </a:rPr>
              <a:t>virtual</a:t>
            </a:r>
            <a:r>
              <a:rPr dirty="0" sz="3200" spc="-25">
                <a:solidFill>
                  <a:srgbClr val="000000"/>
                </a:solidFill>
              </a:rPr>
              <a:t> </a:t>
            </a:r>
            <a:r>
              <a:rPr dirty="0" sz="3200">
                <a:solidFill>
                  <a:srgbClr val="000000"/>
                </a:solidFill>
              </a:rPr>
              <a:t>machine</a:t>
            </a:r>
            <a:r>
              <a:rPr dirty="0" sz="3200" spc="-25">
                <a:solidFill>
                  <a:srgbClr val="000000"/>
                </a:solidFill>
              </a:rPr>
              <a:t> </a:t>
            </a:r>
            <a:r>
              <a:rPr dirty="0" sz="3200">
                <a:solidFill>
                  <a:srgbClr val="000000"/>
                </a:solidFill>
              </a:rPr>
              <a:t>monitor</a:t>
            </a:r>
            <a:r>
              <a:rPr dirty="0" sz="3200" spc="-35">
                <a:solidFill>
                  <a:srgbClr val="000000"/>
                </a:solidFill>
              </a:rPr>
              <a:t> </a:t>
            </a:r>
            <a:r>
              <a:rPr dirty="0" sz="3200">
                <a:solidFill>
                  <a:srgbClr val="000000"/>
                </a:solidFill>
              </a:rPr>
              <a:t>can</a:t>
            </a:r>
            <a:r>
              <a:rPr dirty="0" sz="3200" spc="-20">
                <a:solidFill>
                  <a:srgbClr val="000000"/>
                </a:solidFill>
              </a:rPr>
              <a:t> </a:t>
            </a:r>
            <a:r>
              <a:rPr dirty="0" sz="3200">
                <a:solidFill>
                  <a:srgbClr val="000000"/>
                </a:solidFill>
              </a:rPr>
              <a:t>be</a:t>
            </a:r>
            <a:r>
              <a:rPr dirty="0" sz="3200" spc="-20">
                <a:solidFill>
                  <a:srgbClr val="000000"/>
                </a:solidFill>
              </a:rPr>
              <a:t> </a:t>
            </a:r>
            <a:r>
              <a:rPr dirty="0" sz="3200">
                <a:solidFill>
                  <a:srgbClr val="000000"/>
                </a:solidFill>
              </a:rPr>
              <a:t>constructed</a:t>
            </a:r>
            <a:r>
              <a:rPr dirty="0" sz="3200" spc="-55">
                <a:solidFill>
                  <a:srgbClr val="000000"/>
                </a:solidFill>
              </a:rPr>
              <a:t> </a:t>
            </a:r>
            <a:r>
              <a:rPr dirty="0" sz="3200" spc="-25">
                <a:solidFill>
                  <a:srgbClr val="000000"/>
                </a:solidFill>
              </a:rPr>
              <a:t>for </a:t>
            </a:r>
            <a:r>
              <a:rPr dirty="0" sz="3200">
                <a:solidFill>
                  <a:srgbClr val="000000"/>
                </a:solidFill>
              </a:rPr>
              <a:t>architectures</a:t>
            </a:r>
            <a:r>
              <a:rPr dirty="0" sz="3200" spc="-30">
                <a:solidFill>
                  <a:srgbClr val="000000"/>
                </a:solidFill>
              </a:rPr>
              <a:t> </a:t>
            </a:r>
            <a:r>
              <a:rPr dirty="0" sz="3200">
                <a:solidFill>
                  <a:srgbClr val="000000"/>
                </a:solidFill>
              </a:rPr>
              <a:t>in</a:t>
            </a:r>
            <a:r>
              <a:rPr dirty="0" sz="3200" spc="-45">
                <a:solidFill>
                  <a:srgbClr val="000000"/>
                </a:solidFill>
              </a:rPr>
              <a:t> </a:t>
            </a:r>
            <a:r>
              <a:rPr dirty="0" sz="3200">
                <a:solidFill>
                  <a:srgbClr val="000000"/>
                </a:solidFill>
              </a:rPr>
              <a:t>which</a:t>
            </a:r>
            <a:r>
              <a:rPr dirty="0" sz="3200" spc="-20">
                <a:solidFill>
                  <a:srgbClr val="000000"/>
                </a:solidFill>
              </a:rPr>
              <a:t> </a:t>
            </a:r>
            <a:r>
              <a:rPr dirty="0" sz="3200">
                <a:solidFill>
                  <a:srgbClr val="000000"/>
                </a:solidFill>
              </a:rPr>
              <a:t>every</a:t>
            </a:r>
            <a:r>
              <a:rPr dirty="0" sz="3200" spc="-5">
                <a:solidFill>
                  <a:srgbClr val="000000"/>
                </a:solidFill>
              </a:rPr>
              <a:t> </a:t>
            </a:r>
            <a:r>
              <a:rPr dirty="0" sz="3200">
                <a:solidFill>
                  <a:srgbClr val="000000"/>
                </a:solidFill>
              </a:rPr>
              <a:t>sensitive</a:t>
            </a:r>
            <a:r>
              <a:rPr dirty="0" sz="3200" spc="-25">
                <a:solidFill>
                  <a:srgbClr val="000000"/>
                </a:solidFill>
              </a:rPr>
              <a:t> </a:t>
            </a:r>
            <a:r>
              <a:rPr dirty="0" sz="3200">
                <a:solidFill>
                  <a:srgbClr val="000000"/>
                </a:solidFill>
              </a:rPr>
              <a:t>instruction</a:t>
            </a:r>
            <a:r>
              <a:rPr dirty="0" sz="3200" spc="-50">
                <a:solidFill>
                  <a:srgbClr val="000000"/>
                </a:solidFill>
              </a:rPr>
              <a:t> </a:t>
            </a:r>
            <a:r>
              <a:rPr dirty="0" sz="3200">
                <a:solidFill>
                  <a:srgbClr val="000000"/>
                </a:solidFill>
              </a:rPr>
              <a:t>is</a:t>
            </a:r>
            <a:r>
              <a:rPr dirty="0" sz="3200" spc="-5">
                <a:solidFill>
                  <a:srgbClr val="000000"/>
                </a:solidFill>
              </a:rPr>
              <a:t> </a:t>
            </a:r>
            <a:r>
              <a:rPr dirty="0" sz="3200" spc="-10">
                <a:solidFill>
                  <a:srgbClr val="000000"/>
                </a:solidFill>
              </a:rPr>
              <a:t>privileged.</a:t>
            </a:r>
            <a:endParaRPr sz="3200"/>
          </a:p>
        </p:txBody>
      </p:sp>
      <p:sp>
        <p:nvSpPr>
          <p:cNvPr id="5" name="object 5"/>
          <p:cNvSpPr/>
          <p:nvPr/>
        </p:nvSpPr>
        <p:spPr>
          <a:xfrm>
            <a:off x="761" y="870966"/>
            <a:ext cx="8299450" cy="0"/>
          </a:xfrm>
          <a:custGeom>
            <a:avLst/>
            <a:gdLst/>
            <a:ahLst/>
            <a:cxnLst/>
            <a:rect l="l" t="t" r="r" b="b"/>
            <a:pathLst>
              <a:path w="8299450" h="0">
                <a:moveTo>
                  <a:pt x="0" y="0"/>
                </a:moveTo>
                <a:lnTo>
                  <a:pt x="8299450" y="0"/>
                </a:lnTo>
              </a:path>
            </a:pathLst>
          </a:custGeom>
          <a:ln w="38100">
            <a:solidFill>
              <a:srgbClr val="C55A1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56691" y="3400805"/>
            <a:ext cx="4796155" cy="1626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3500" b="1">
                <a:latin typeface="Calibri"/>
                <a:cs typeface="Calibri"/>
              </a:rPr>
              <a:t>For</a:t>
            </a:r>
            <a:r>
              <a:rPr dirty="0" sz="3500" spc="-40" b="1">
                <a:latin typeface="Calibri"/>
                <a:cs typeface="Calibri"/>
              </a:rPr>
              <a:t> </a:t>
            </a:r>
            <a:r>
              <a:rPr dirty="0" sz="3500" b="1">
                <a:latin typeface="Calibri"/>
                <a:cs typeface="Calibri"/>
              </a:rPr>
              <a:t>many</a:t>
            </a:r>
            <a:r>
              <a:rPr dirty="0" sz="3500" spc="-40" b="1">
                <a:latin typeface="Calibri"/>
                <a:cs typeface="Calibri"/>
              </a:rPr>
              <a:t> </a:t>
            </a:r>
            <a:r>
              <a:rPr dirty="0" sz="3500" b="1">
                <a:latin typeface="Calibri"/>
                <a:cs typeface="Calibri"/>
              </a:rPr>
              <a:t>years,</a:t>
            </a:r>
            <a:r>
              <a:rPr dirty="0" sz="3500" spc="-35" b="1">
                <a:latin typeface="Calibri"/>
                <a:cs typeface="Calibri"/>
              </a:rPr>
              <a:t> </a:t>
            </a:r>
            <a:r>
              <a:rPr dirty="0" sz="3500" b="1">
                <a:latin typeface="Calibri"/>
                <a:cs typeface="Calibri"/>
              </a:rPr>
              <a:t>x86</a:t>
            </a:r>
            <a:r>
              <a:rPr dirty="0" sz="3500" spc="-35" b="1">
                <a:latin typeface="Calibri"/>
                <a:cs typeface="Calibri"/>
              </a:rPr>
              <a:t> </a:t>
            </a:r>
            <a:r>
              <a:rPr dirty="0" sz="3500" spc="-25" b="1">
                <a:latin typeface="Calibri"/>
                <a:cs typeface="Calibri"/>
              </a:rPr>
              <a:t>had </a:t>
            </a:r>
            <a:r>
              <a:rPr dirty="0" sz="3500" b="1">
                <a:latin typeface="Calibri"/>
                <a:cs typeface="Calibri"/>
              </a:rPr>
              <a:t>sensitive</a:t>
            </a:r>
            <a:r>
              <a:rPr dirty="0" sz="3500" spc="-45" b="1">
                <a:latin typeface="Calibri"/>
                <a:cs typeface="Calibri"/>
              </a:rPr>
              <a:t> </a:t>
            </a:r>
            <a:r>
              <a:rPr dirty="0" sz="3500" b="1">
                <a:latin typeface="Calibri"/>
                <a:cs typeface="Calibri"/>
              </a:rPr>
              <a:t>instructions</a:t>
            </a:r>
            <a:r>
              <a:rPr dirty="0" sz="3500" spc="-40" b="1">
                <a:latin typeface="Calibri"/>
                <a:cs typeface="Calibri"/>
              </a:rPr>
              <a:t> </a:t>
            </a:r>
            <a:r>
              <a:rPr dirty="0" sz="3500" spc="-20" b="1">
                <a:latin typeface="Calibri"/>
                <a:cs typeface="Calibri"/>
              </a:rPr>
              <a:t>that </a:t>
            </a:r>
            <a:r>
              <a:rPr dirty="0" sz="3500" b="1">
                <a:latin typeface="Calibri"/>
                <a:cs typeface="Calibri"/>
              </a:rPr>
              <a:t>weren’t</a:t>
            </a:r>
            <a:r>
              <a:rPr dirty="0" sz="3500" spc="-85" b="1">
                <a:latin typeface="Calibri"/>
                <a:cs typeface="Calibri"/>
              </a:rPr>
              <a:t> </a:t>
            </a:r>
            <a:r>
              <a:rPr dirty="0" sz="3500" spc="-10" b="1">
                <a:latin typeface="Calibri"/>
                <a:cs typeface="Calibri"/>
              </a:rPr>
              <a:t>privileged!</a:t>
            </a:r>
            <a:endParaRPr sz="3500">
              <a:latin typeface="Calibri"/>
              <a:cs typeface="Calibri"/>
            </a:endParaRPr>
          </a:p>
        </p:txBody>
      </p:sp>
      <p:pic>
        <p:nvPicPr>
          <p:cNvPr id="4" name="object 4" descr="Related imag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55791" y="2485644"/>
            <a:ext cx="5971032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6466" rIns="0" bIns="0" rtlCol="0" vert="horz">
            <a:spAutoFit/>
          </a:bodyPr>
          <a:lstStyle/>
          <a:p>
            <a:pPr marL="96520">
              <a:lnSpc>
                <a:spcPct val="100000"/>
              </a:lnSpc>
              <a:spcBef>
                <a:spcPts val="100"/>
              </a:spcBef>
            </a:pPr>
            <a:r>
              <a:rPr dirty="0" sz="3200" b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dirty="0" sz="3200" spc="-4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200" b="0">
                <a:solidFill>
                  <a:srgbClr val="000000"/>
                </a:solidFill>
                <a:latin typeface="Calibri"/>
                <a:cs typeface="Calibri"/>
              </a:rPr>
              <a:t>x86</a:t>
            </a:r>
            <a:r>
              <a:rPr dirty="0" sz="3200" spc="-5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200" b="0">
                <a:solidFill>
                  <a:srgbClr val="000000"/>
                </a:solidFill>
                <a:latin typeface="Calibri"/>
                <a:cs typeface="Calibri"/>
              </a:rPr>
              <a:t>push</a:t>
            </a:r>
            <a:r>
              <a:rPr dirty="0" sz="3200" spc="-2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200" spc="-10" b="0">
                <a:solidFill>
                  <a:srgbClr val="000000"/>
                </a:solidFill>
                <a:latin typeface="Calibri"/>
                <a:cs typeface="Calibri"/>
              </a:rPr>
              <a:t>instruction</a:t>
            </a:r>
            <a:r>
              <a:rPr dirty="0" sz="3200" spc="-2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200" b="0">
                <a:solidFill>
                  <a:srgbClr val="000000"/>
                </a:solidFill>
                <a:latin typeface="Calibri"/>
                <a:cs typeface="Calibri"/>
              </a:rPr>
              <a:t>was</a:t>
            </a:r>
            <a:r>
              <a:rPr dirty="0" sz="3200" spc="-4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200" b="0">
                <a:solidFill>
                  <a:srgbClr val="000000"/>
                </a:solidFill>
                <a:latin typeface="Calibri"/>
                <a:cs typeface="Calibri"/>
              </a:rPr>
              <a:t>not</a:t>
            </a:r>
            <a:r>
              <a:rPr dirty="0" sz="3200" spc="-4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200" b="0">
                <a:solidFill>
                  <a:srgbClr val="000000"/>
                </a:solidFill>
                <a:latin typeface="Calibri"/>
                <a:cs typeface="Calibri"/>
              </a:rPr>
              <a:t>PG-</a:t>
            </a:r>
            <a:r>
              <a:rPr dirty="0" sz="3200" spc="-10" b="0">
                <a:solidFill>
                  <a:srgbClr val="000000"/>
                </a:solidFill>
                <a:latin typeface="Calibri"/>
                <a:cs typeface="Calibri"/>
              </a:rPr>
              <a:t>virtualizable!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1219961"/>
            <a:ext cx="8299450" cy="0"/>
          </a:xfrm>
          <a:custGeom>
            <a:avLst/>
            <a:gdLst/>
            <a:ahLst/>
            <a:cxnLst/>
            <a:rect l="l" t="t" r="r" b="b"/>
            <a:pathLst>
              <a:path w="8299450" h="0">
                <a:moveTo>
                  <a:pt x="0" y="0"/>
                </a:moveTo>
                <a:lnTo>
                  <a:pt x="8299450" y="0"/>
                </a:lnTo>
              </a:path>
            </a:pathLst>
          </a:custGeom>
          <a:ln w="38100">
            <a:solidFill>
              <a:srgbClr val="C55A1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406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895"/>
              </a:spcBef>
              <a:buSzPct val="60000"/>
              <a:buFont typeface="Arial"/>
              <a:buChar char="•"/>
              <a:tabLst>
                <a:tab pos="354965" algn="l"/>
              </a:tabLst>
            </a:pPr>
            <a:r>
              <a:rPr dirty="0" sz="3000" b="1">
                <a:solidFill>
                  <a:srgbClr val="000000"/>
                </a:solidFill>
                <a:latin typeface="Calibri"/>
                <a:cs typeface="Calibri"/>
              </a:rPr>
              <a:t>push</a:t>
            </a:r>
            <a:r>
              <a:rPr dirty="0" sz="3000" spc="-2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000">
                <a:solidFill>
                  <a:srgbClr val="000000"/>
                </a:solidFill>
              </a:rPr>
              <a:t>can</a:t>
            </a:r>
            <a:r>
              <a:rPr dirty="0" sz="3000" spc="-30">
                <a:solidFill>
                  <a:srgbClr val="000000"/>
                </a:solidFill>
              </a:rPr>
              <a:t> </a:t>
            </a:r>
            <a:r>
              <a:rPr dirty="0" sz="3000">
                <a:solidFill>
                  <a:srgbClr val="000000"/>
                </a:solidFill>
              </a:rPr>
              <a:t>push</a:t>
            </a:r>
            <a:r>
              <a:rPr dirty="0" sz="3000" spc="-30">
                <a:solidFill>
                  <a:srgbClr val="000000"/>
                </a:solidFill>
              </a:rPr>
              <a:t> </a:t>
            </a:r>
            <a:r>
              <a:rPr dirty="0" sz="3000">
                <a:solidFill>
                  <a:srgbClr val="000000"/>
                </a:solidFill>
              </a:rPr>
              <a:t>a</a:t>
            </a:r>
            <a:r>
              <a:rPr dirty="0" sz="3000" spc="-20">
                <a:solidFill>
                  <a:srgbClr val="000000"/>
                </a:solidFill>
              </a:rPr>
              <a:t> </a:t>
            </a:r>
            <a:r>
              <a:rPr dirty="0" sz="3000">
                <a:solidFill>
                  <a:srgbClr val="000000"/>
                </a:solidFill>
              </a:rPr>
              <a:t>register</a:t>
            </a:r>
            <a:r>
              <a:rPr dirty="0" sz="3000" spc="-40">
                <a:solidFill>
                  <a:srgbClr val="000000"/>
                </a:solidFill>
              </a:rPr>
              <a:t> </a:t>
            </a:r>
            <a:r>
              <a:rPr dirty="0" sz="3000">
                <a:solidFill>
                  <a:srgbClr val="000000"/>
                </a:solidFill>
              </a:rPr>
              <a:t>value</a:t>
            </a:r>
            <a:r>
              <a:rPr dirty="0" sz="3000" spc="-35">
                <a:solidFill>
                  <a:srgbClr val="000000"/>
                </a:solidFill>
              </a:rPr>
              <a:t> </a:t>
            </a:r>
            <a:r>
              <a:rPr dirty="0" sz="3000">
                <a:solidFill>
                  <a:srgbClr val="000000"/>
                </a:solidFill>
              </a:rPr>
              <a:t>onto</a:t>
            </a:r>
            <a:r>
              <a:rPr dirty="0" sz="3000" spc="-30">
                <a:solidFill>
                  <a:srgbClr val="000000"/>
                </a:solidFill>
              </a:rPr>
              <a:t> </a:t>
            </a:r>
            <a:r>
              <a:rPr dirty="0" sz="3000">
                <a:solidFill>
                  <a:srgbClr val="000000"/>
                </a:solidFill>
              </a:rPr>
              <a:t>the</a:t>
            </a:r>
            <a:r>
              <a:rPr dirty="0" sz="3000" spc="-25">
                <a:solidFill>
                  <a:srgbClr val="000000"/>
                </a:solidFill>
              </a:rPr>
              <a:t> </a:t>
            </a:r>
            <a:r>
              <a:rPr dirty="0" sz="3000">
                <a:solidFill>
                  <a:srgbClr val="000000"/>
                </a:solidFill>
              </a:rPr>
              <a:t>top</a:t>
            </a:r>
            <a:r>
              <a:rPr dirty="0" sz="3000" spc="-40">
                <a:solidFill>
                  <a:srgbClr val="000000"/>
                </a:solidFill>
              </a:rPr>
              <a:t> </a:t>
            </a:r>
            <a:r>
              <a:rPr dirty="0" sz="3000">
                <a:solidFill>
                  <a:srgbClr val="000000"/>
                </a:solidFill>
              </a:rPr>
              <a:t>of</a:t>
            </a:r>
            <a:r>
              <a:rPr dirty="0" sz="3000" spc="-30">
                <a:solidFill>
                  <a:srgbClr val="000000"/>
                </a:solidFill>
              </a:rPr>
              <a:t> </a:t>
            </a:r>
            <a:r>
              <a:rPr dirty="0" sz="3000">
                <a:solidFill>
                  <a:srgbClr val="000000"/>
                </a:solidFill>
              </a:rPr>
              <a:t>the</a:t>
            </a:r>
            <a:r>
              <a:rPr dirty="0" sz="3000" spc="-35">
                <a:solidFill>
                  <a:srgbClr val="000000"/>
                </a:solidFill>
              </a:rPr>
              <a:t> </a:t>
            </a:r>
            <a:r>
              <a:rPr dirty="0" sz="3000" spc="-10">
                <a:solidFill>
                  <a:srgbClr val="000000"/>
                </a:solidFill>
              </a:rPr>
              <a:t>stack</a:t>
            </a:r>
            <a:endParaRPr sz="3000">
              <a:latin typeface="Calibri"/>
              <a:cs typeface="Calibri"/>
            </a:endParaRPr>
          </a:p>
          <a:p>
            <a:pPr lvl="1" marL="812800" marR="795655" indent="-343535">
              <a:lnSpc>
                <a:spcPct val="110000"/>
              </a:lnSpc>
              <a:spcBef>
                <a:spcPts val="1255"/>
              </a:spcBef>
              <a:buSzPct val="69230"/>
              <a:buFont typeface="Arial"/>
              <a:buChar char="•"/>
              <a:tabLst>
                <a:tab pos="812800" algn="l"/>
              </a:tabLst>
            </a:pPr>
            <a:r>
              <a:rPr dirty="0" sz="2600" b="1">
                <a:latin typeface="Calibri"/>
                <a:cs typeface="Calibri"/>
              </a:rPr>
              <a:t>%cs</a:t>
            </a:r>
            <a:r>
              <a:rPr dirty="0" sz="2600" spc="-30" b="1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register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contains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(among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other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things)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2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bits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represent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the </a:t>
            </a:r>
            <a:r>
              <a:rPr dirty="0" sz="2600">
                <a:latin typeface="Calibri"/>
                <a:cs typeface="Calibri"/>
              </a:rPr>
              <a:t>current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privilege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level</a:t>
            </a:r>
            <a:endParaRPr sz="2600">
              <a:latin typeface="Calibri"/>
              <a:cs typeface="Calibri"/>
            </a:endParaRPr>
          </a:p>
          <a:p>
            <a:pPr lvl="1" marL="812800" marR="476884" indent="-343535">
              <a:lnSpc>
                <a:spcPct val="110000"/>
              </a:lnSpc>
              <a:spcBef>
                <a:spcPts val="1200"/>
              </a:spcBef>
              <a:buSzPct val="69230"/>
              <a:buFont typeface="Arial"/>
              <a:buChar char="•"/>
              <a:tabLst>
                <a:tab pos="812800" algn="l"/>
              </a:tabLst>
            </a:pP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guest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OS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running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Ring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3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could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push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%cs</a:t>
            </a:r>
            <a:r>
              <a:rPr dirty="0" sz="2600" spc="-5" b="1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see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privilege </a:t>
            </a:r>
            <a:r>
              <a:rPr dirty="0" sz="2600">
                <a:latin typeface="Calibri"/>
                <a:cs typeface="Calibri"/>
              </a:rPr>
              <a:t>level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isn’t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Ring </a:t>
            </a:r>
            <a:r>
              <a:rPr dirty="0" sz="2600" spc="-25">
                <a:latin typeface="Calibri"/>
                <a:cs typeface="Calibri"/>
              </a:rPr>
              <a:t>0!</a:t>
            </a:r>
            <a:endParaRPr sz="2600">
              <a:latin typeface="Calibri"/>
              <a:cs typeface="Calibri"/>
            </a:endParaRPr>
          </a:p>
          <a:p>
            <a:pPr marL="354965" marR="5080" indent="-342900">
              <a:lnSpc>
                <a:spcPct val="110000"/>
              </a:lnSpc>
              <a:spcBef>
                <a:spcPts val="1150"/>
              </a:spcBef>
              <a:buSzPct val="60000"/>
              <a:buFont typeface="Arial"/>
              <a:buChar char="•"/>
              <a:tabLst>
                <a:tab pos="354965" algn="l"/>
              </a:tabLst>
            </a:pPr>
            <a:r>
              <a:rPr dirty="0" sz="3000">
                <a:solidFill>
                  <a:srgbClr val="000000"/>
                </a:solidFill>
              </a:rPr>
              <a:t>To</a:t>
            </a:r>
            <a:r>
              <a:rPr dirty="0" sz="3000" spc="-25">
                <a:solidFill>
                  <a:srgbClr val="000000"/>
                </a:solidFill>
              </a:rPr>
              <a:t> </a:t>
            </a:r>
            <a:r>
              <a:rPr dirty="0" sz="3000">
                <a:solidFill>
                  <a:srgbClr val="000000"/>
                </a:solidFill>
              </a:rPr>
              <a:t>be</a:t>
            </a:r>
            <a:r>
              <a:rPr dirty="0" sz="3000" spc="-20">
                <a:solidFill>
                  <a:srgbClr val="000000"/>
                </a:solidFill>
              </a:rPr>
              <a:t> </a:t>
            </a:r>
            <a:r>
              <a:rPr dirty="0" sz="3000">
                <a:solidFill>
                  <a:srgbClr val="000000"/>
                </a:solidFill>
              </a:rPr>
              <a:t>virtualizable,</a:t>
            </a:r>
            <a:r>
              <a:rPr dirty="0" sz="3000" spc="-75">
                <a:solidFill>
                  <a:srgbClr val="000000"/>
                </a:solidFill>
              </a:rPr>
              <a:t> </a:t>
            </a:r>
            <a:r>
              <a:rPr dirty="0" sz="3000" b="1">
                <a:solidFill>
                  <a:srgbClr val="000000"/>
                </a:solidFill>
                <a:latin typeface="Calibri"/>
                <a:cs typeface="Calibri"/>
              </a:rPr>
              <a:t>push</a:t>
            </a:r>
            <a:r>
              <a:rPr dirty="0" sz="3000" spc="-1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000">
                <a:solidFill>
                  <a:srgbClr val="000000"/>
                </a:solidFill>
              </a:rPr>
              <a:t>should</a:t>
            </a:r>
            <a:r>
              <a:rPr dirty="0" sz="3000" spc="-25">
                <a:solidFill>
                  <a:srgbClr val="000000"/>
                </a:solidFill>
              </a:rPr>
              <a:t> </a:t>
            </a:r>
            <a:r>
              <a:rPr dirty="0" sz="3000">
                <a:solidFill>
                  <a:srgbClr val="000000"/>
                </a:solidFill>
              </a:rPr>
              <a:t>cause</a:t>
            </a:r>
            <a:r>
              <a:rPr dirty="0" sz="3000" spc="-40">
                <a:solidFill>
                  <a:srgbClr val="000000"/>
                </a:solidFill>
              </a:rPr>
              <a:t> </a:t>
            </a:r>
            <a:r>
              <a:rPr dirty="0" sz="3000">
                <a:solidFill>
                  <a:srgbClr val="000000"/>
                </a:solidFill>
              </a:rPr>
              <a:t>a</a:t>
            </a:r>
            <a:r>
              <a:rPr dirty="0" sz="3000" spc="-20">
                <a:solidFill>
                  <a:srgbClr val="000000"/>
                </a:solidFill>
              </a:rPr>
              <a:t> </a:t>
            </a:r>
            <a:r>
              <a:rPr dirty="0" sz="3000">
                <a:solidFill>
                  <a:srgbClr val="000000"/>
                </a:solidFill>
              </a:rPr>
              <a:t>trap</a:t>
            </a:r>
            <a:r>
              <a:rPr dirty="0" sz="3000" spc="-20">
                <a:solidFill>
                  <a:srgbClr val="000000"/>
                </a:solidFill>
              </a:rPr>
              <a:t> </a:t>
            </a:r>
            <a:r>
              <a:rPr dirty="0" sz="3000">
                <a:solidFill>
                  <a:srgbClr val="000000"/>
                </a:solidFill>
              </a:rPr>
              <a:t>when</a:t>
            </a:r>
            <a:r>
              <a:rPr dirty="0" sz="3000" spc="-35">
                <a:solidFill>
                  <a:srgbClr val="000000"/>
                </a:solidFill>
              </a:rPr>
              <a:t> </a:t>
            </a:r>
            <a:r>
              <a:rPr dirty="0" sz="3000">
                <a:solidFill>
                  <a:srgbClr val="000000"/>
                </a:solidFill>
              </a:rPr>
              <a:t>invoked</a:t>
            </a:r>
            <a:r>
              <a:rPr dirty="0" sz="3000" spc="-25">
                <a:solidFill>
                  <a:srgbClr val="000000"/>
                </a:solidFill>
              </a:rPr>
              <a:t> </a:t>
            </a:r>
            <a:r>
              <a:rPr dirty="0" sz="3000" spc="-20">
                <a:solidFill>
                  <a:srgbClr val="000000"/>
                </a:solidFill>
              </a:rPr>
              <a:t>from </a:t>
            </a:r>
            <a:r>
              <a:rPr dirty="0" sz="3000">
                <a:solidFill>
                  <a:srgbClr val="000000"/>
                </a:solidFill>
              </a:rPr>
              <a:t>Ring</a:t>
            </a:r>
            <a:r>
              <a:rPr dirty="0" sz="3000" spc="-20">
                <a:solidFill>
                  <a:srgbClr val="000000"/>
                </a:solidFill>
              </a:rPr>
              <a:t> </a:t>
            </a:r>
            <a:r>
              <a:rPr dirty="0" sz="3000">
                <a:solidFill>
                  <a:srgbClr val="000000"/>
                </a:solidFill>
              </a:rPr>
              <a:t>3,</a:t>
            </a:r>
            <a:r>
              <a:rPr dirty="0" sz="3000" spc="-10">
                <a:solidFill>
                  <a:srgbClr val="000000"/>
                </a:solidFill>
              </a:rPr>
              <a:t> </a:t>
            </a:r>
            <a:r>
              <a:rPr dirty="0" sz="3000">
                <a:solidFill>
                  <a:srgbClr val="000000"/>
                </a:solidFill>
              </a:rPr>
              <a:t>allowing</a:t>
            </a:r>
            <a:r>
              <a:rPr dirty="0" sz="3000" spc="-10">
                <a:solidFill>
                  <a:srgbClr val="000000"/>
                </a:solidFill>
              </a:rPr>
              <a:t> </a:t>
            </a:r>
            <a:r>
              <a:rPr dirty="0" sz="3000">
                <a:solidFill>
                  <a:srgbClr val="000000"/>
                </a:solidFill>
              </a:rPr>
              <a:t>the</a:t>
            </a:r>
            <a:r>
              <a:rPr dirty="0" sz="3000" spc="-20">
                <a:solidFill>
                  <a:srgbClr val="000000"/>
                </a:solidFill>
              </a:rPr>
              <a:t> </a:t>
            </a:r>
            <a:r>
              <a:rPr dirty="0" sz="3000">
                <a:solidFill>
                  <a:srgbClr val="000000"/>
                </a:solidFill>
              </a:rPr>
              <a:t>VMM</a:t>
            </a:r>
            <a:r>
              <a:rPr dirty="0" sz="3000" spc="-25">
                <a:solidFill>
                  <a:srgbClr val="000000"/>
                </a:solidFill>
              </a:rPr>
              <a:t> </a:t>
            </a:r>
            <a:r>
              <a:rPr dirty="0" sz="3000">
                <a:solidFill>
                  <a:srgbClr val="000000"/>
                </a:solidFill>
              </a:rPr>
              <a:t>to</a:t>
            </a:r>
            <a:r>
              <a:rPr dirty="0" sz="3000" spc="-15">
                <a:solidFill>
                  <a:srgbClr val="000000"/>
                </a:solidFill>
              </a:rPr>
              <a:t> </a:t>
            </a:r>
            <a:r>
              <a:rPr dirty="0" sz="3000">
                <a:solidFill>
                  <a:srgbClr val="000000"/>
                </a:solidFill>
              </a:rPr>
              <a:t>push</a:t>
            </a:r>
            <a:r>
              <a:rPr dirty="0" sz="3000" spc="-20">
                <a:solidFill>
                  <a:srgbClr val="000000"/>
                </a:solidFill>
              </a:rPr>
              <a:t> </a:t>
            </a:r>
            <a:r>
              <a:rPr dirty="0" sz="3000">
                <a:solidFill>
                  <a:srgbClr val="000000"/>
                </a:solidFill>
              </a:rPr>
              <a:t>a</a:t>
            </a:r>
            <a:r>
              <a:rPr dirty="0" sz="3000" spc="-10">
                <a:solidFill>
                  <a:srgbClr val="000000"/>
                </a:solidFill>
              </a:rPr>
              <a:t> </a:t>
            </a:r>
            <a:r>
              <a:rPr dirty="0" sz="3000">
                <a:solidFill>
                  <a:srgbClr val="000000"/>
                </a:solidFill>
              </a:rPr>
              <a:t>fake</a:t>
            </a:r>
            <a:r>
              <a:rPr dirty="0" sz="3000" spc="-110">
                <a:solidFill>
                  <a:srgbClr val="000000"/>
                </a:solidFill>
              </a:rPr>
              <a:t> </a:t>
            </a:r>
            <a:r>
              <a:rPr dirty="0" sz="3000" b="1">
                <a:solidFill>
                  <a:srgbClr val="000000"/>
                </a:solidFill>
                <a:latin typeface="Calibri"/>
                <a:cs typeface="Calibri"/>
              </a:rPr>
              <a:t>%cs</a:t>
            </a:r>
            <a:r>
              <a:rPr dirty="0" sz="3000" spc="-2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000">
                <a:solidFill>
                  <a:srgbClr val="000000"/>
                </a:solidFill>
              </a:rPr>
              <a:t>value</a:t>
            </a:r>
            <a:r>
              <a:rPr dirty="0" sz="3000" spc="-35">
                <a:solidFill>
                  <a:srgbClr val="000000"/>
                </a:solidFill>
              </a:rPr>
              <a:t> </a:t>
            </a:r>
            <a:r>
              <a:rPr dirty="0" sz="3000">
                <a:solidFill>
                  <a:srgbClr val="000000"/>
                </a:solidFill>
              </a:rPr>
              <a:t>which</a:t>
            </a:r>
            <a:r>
              <a:rPr dirty="0" sz="3000" spc="-20">
                <a:solidFill>
                  <a:srgbClr val="000000"/>
                </a:solidFill>
              </a:rPr>
              <a:t> </a:t>
            </a:r>
            <a:r>
              <a:rPr dirty="0" sz="3000" spc="-10">
                <a:solidFill>
                  <a:srgbClr val="000000"/>
                </a:solidFill>
              </a:rPr>
              <a:t>indicates </a:t>
            </a:r>
            <a:r>
              <a:rPr dirty="0" sz="3000">
                <a:solidFill>
                  <a:srgbClr val="000000"/>
                </a:solidFill>
              </a:rPr>
              <a:t>that</a:t>
            </a:r>
            <a:r>
              <a:rPr dirty="0" sz="3000" spc="-20">
                <a:solidFill>
                  <a:srgbClr val="000000"/>
                </a:solidFill>
              </a:rPr>
              <a:t> </a:t>
            </a:r>
            <a:r>
              <a:rPr dirty="0" sz="3000">
                <a:solidFill>
                  <a:srgbClr val="000000"/>
                </a:solidFill>
              </a:rPr>
              <a:t>the</a:t>
            </a:r>
            <a:r>
              <a:rPr dirty="0" sz="3000" spc="-5">
                <a:solidFill>
                  <a:srgbClr val="000000"/>
                </a:solidFill>
              </a:rPr>
              <a:t> </a:t>
            </a:r>
            <a:r>
              <a:rPr dirty="0" sz="3000">
                <a:solidFill>
                  <a:srgbClr val="000000"/>
                </a:solidFill>
              </a:rPr>
              <a:t>guest</a:t>
            </a:r>
            <a:r>
              <a:rPr dirty="0" sz="3000" spc="-20">
                <a:solidFill>
                  <a:srgbClr val="000000"/>
                </a:solidFill>
              </a:rPr>
              <a:t> </a:t>
            </a:r>
            <a:r>
              <a:rPr dirty="0" sz="3000">
                <a:solidFill>
                  <a:srgbClr val="000000"/>
                </a:solidFill>
              </a:rPr>
              <a:t>OS</a:t>
            </a:r>
            <a:r>
              <a:rPr dirty="0" sz="3000" spc="5">
                <a:solidFill>
                  <a:srgbClr val="000000"/>
                </a:solidFill>
              </a:rPr>
              <a:t> </a:t>
            </a:r>
            <a:r>
              <a:rPr dirty="0" sz="3000">
                <a:solidFill>
                  <a:srgbClr val="000000"/>
                </a:solidFill>
              </a:rPr>
              <a:t>is</a:t>
            </a:r>
            <a:r>
              <a:rPr dirty="0" sz="3000" spc="-10">
                <a:solidFill>
                  <a:srgbClr val="000000"/>
                </a:solidFill>
              </a:rPr>
              <a:t> </a:t>
            </a:r>
            <a:r>
              <a:rPr dirty="0" sz="3000">
                <a:solidFill>
                  <a:srgbClr val="000000"/>
                </a:solidFill>
              </a:rPr>
              <a:t>running</a:t>
            </a:r>
            <a:r>
              <a:rPr dirty="0" sz="3000" spc="15">
                <a:solidFill>
                  <a:srgbClr val="000000"/>
                </a:solidFill>
              </a:rPr>
              <a:t> </a:t>
            </a:r>
            <a:r>
              <a:rPr dirty="0" sz="3000">
                <a:solidFill>
                  <a:srgbClr val="000000"/>
                </a:solidFill>
              </a:rPr>
              <a:t>in</a:t>
            </a:r>
            <a:r>
              <a:rPr dirty="0" sz="3000" spc="-10">
                <a:solidFill>
                  <a:srgbClr val="000000"/>
                </a:solidFill>
              </a:rPr>
              <a:t> </a:t>
            </a:r>
            <a:r>
              <a:rPr dirty="0" sz="3000">
                <a:solidFill>
                  <a:srgbClr val="000000"/>
                </a:solidFill>
              </a:rPr>
              <a:t>Ring</a:t>
            </a:r>
            <a:r>
              <a:rPr dirty="0" sz="3000" spc="-5">
                <a:solidFill>
                  <a:srgbClr val="000000"/>
                </a:solidFill>
              </a:rPr>
              <a:t> </a:t>
            </a:r>
            <a:r>
              <a:rPr dirty="0" sz="3000" spc="-50">
                <a:solidFill>
                  <a:srgbClr val="000000"/>
                </a:solidFill>
              </a:rPr>
              <a:t>0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1538" rIns="0" bIns="0" rtlCol="0" vert="horz">
            <a:spAutoFit/>
          </a:bodyPr>
          <a:lstStyle/>
          <a:p>
            <a:pPr marL="108585">
              <a:lnSpc>
                <a:spcPct val="100000"/>
              </a:lnSpc>
              <a:spcBef>
                <a:spcPts val="105"/>
              </a:spcBef>
            </a:pPr>
            <a:r>
              <a:rPr dirty="0" sz="3200" b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dirty="0" sz="3200" spc="-5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200" b="0">
                <a:solidFill>
                  <a:srgbClr val="000000"/>
                </a:solidFill>
                <a:latin typeface="Calibri"/>
                <a:cs typeface="Calibri"/>
              </a:rPr>
              <a:t>x86</a:t>
            </a:r>
            <a:r>
              <a:rPr dirty="0" sz="3200" spc="-7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200" spc="-10" b="0">
                <a:solidFill>
                  <a:srgbClr val="000000"/>
                </a:solidFill>
                <a:latin typeface="Calibri"/>
                <a:cs typeface="Calibri"/>
              </a:rPr>
              <a:t>pushf/popf</a:t>
            </a:r>
            <a:r>
              <a:rPr dirty="0" sz="3200" spc="-3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200" b="0">
                <a:solidFill>
                  <a:srgbClr val="000000"/>
                </a:solidFill>
                <a:latin typeface="Calibri"/>
                <a:cs typeface="Calibri"/>
              </a:rPr>
              <a:t>instructions</a:t>
            </a:r>
            <a:r>
              <a:rPr dirty="0" sz="3200" spc="-3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200" b="0">
                <a:solidFill>
                  <a:srgbClr val="000000"/>
                </a:solidFill>
                <a:latin typeface="Calibri"/>
                <a:cs typeface="Calibri"/>
              </a:rPr>
              <a:t>weren’t</a:t>
            </a:r>
            <a:r>
              <a:rPr dirty="0" sz="3200" spc="-7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200" b="0">
                <a:solidFill>
                  <a:srgbClr val="000000"/>
                </a:solidFill>
                <a:latin typeface="Calibri"/>
                <a:cs typeface="Calibri"/>
              </a:rPr>
              <a:t>PG-</a:t>
            </a:r>
            <a:r>
              <a:rPr dirty="0" sz="3200" spc="-10" b="0">
                <a:solidFill>
                  <a:srgbClr val="000000"/>
                </a:solidFill>
                <a:latin typeface="Calibri"/>
                <a:cs typeface="Calibri"/>
              </a:rPr>
              <a:t>virtualizable!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28878" y="1498472"/>
            <a:ext cx="10694670" cy="5159375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354965" marR="89535" indent="-342900">
              <a:lnSpc>
                <a:spcPts val="3460"/>
              </a:lnSpc>
              <a:spcBef>
                <a:spcPts val="535"/>
              </a:spcBef>
              <a:buSzPct val="56250"/>
              <a:buFont typeface="Arial"/>
              <a:buChar char="•"/>
              <a:tabLst>
                <a:tab pos="354965" algn="l"/>
              </a:tabLst>
            </a:pPr>
            <a:r>
              <a:rPr dirty="0" sz="3200" b="1">
                <a:latin typeface="Calibri"/>
                <a:cs typeface="Calibri"/>
              </a:rPr>
              <a:t>pushf</a:t>
            </a:r>
            <a:r>
              <a:rPr dirty="0" sz="3200">
                <a:latin typeface="Calibri"/>
                <a:cs typeface="Calibri"/>
              </a:rPr>
              <a:t>/</a:t>
            </a:r>
            <a:r>
              <a:rPr dirty="0" sz="3200" b="1">
                <a:latin typeface="Calibri"/>
                <a:cs typeface="Calibri"/>
              </a:rPr>
              <a:t>popf</a:t>
            </a:r>
            <a:r>
              <a:rPr dirty="0" sz="3200" spc="-60" b="1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read/write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%eflags</a:t>
            </a:r>
            <a:r>
              <a:rPr dirty="0" sz="3200" spc="-60" b="1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register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using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value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on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top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stack</a:t>
            </a:r>
            <a:endParaRPr sz="3200">
              <a:latin typeface="Calibri"/>
              <a:cs typeface="Calibri"/>
            </a:endParaRPr>
          </a:p>
          <a:p>
            <a:pPr lvl="1" marL="812800" indent="-342900">
              <a:lnSpc>
                <a:spcPct val="100000"/>
              </a:lnSpc>
              <a:spcBef>
                <a:spcPts val="125"/>
              </a:spcBef>
              <a:buSzPct val="64285"/>
              <a:buFont typeface="Arial"/>
              <a:buChar char="•"/>
              <a:tabLst>
                <a:tab pos="812800" algn="l"/>
              </a:tabLst>
            </a:pPr>
            <a:r>
              <a:rPr dirty="0" sz="2800">
                <a:latin typeface="Calibri"/>
                <a:cs typeface="Calibri"/>
              </a:rPr>
              <a:t>Bit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9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%eflags</a:t>
            </a:r>
            <a:r>
              <a:rPr dirty="0" sz="2800" spc="-30" b="1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enables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interrupts</a:t>
            </a:r>
            <a:endParaRPr sz="2800">
              <a:latin typeface="Calibri"/>
              <a:cs typeface="Calibri"/>
            </a:endParaRPr>
          </a:p>
          <a:p>
            <a:pPr lvl="1" marL="812800" indent="-342900">
              <a:lnSpc>
                <a:spcPct val="100000"/>
              </a:lnSpc>
              <a:spcBef>
                <a:spcPts val="170"/>
              </a:spcBef>
              <a:buSzPct val="64285"/>
              <a:buFont typeface="Arial"/>
              <a:buChar char="•"/>
              <a:tabLst>
                <a:tab pos="812800" algn="l"/>
              </a:tabLst>
            </a:pP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Ring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0,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popf</a:t>
            </a:r>
            <a:r>
              <a:rPr dirty="0" sz="2800" spc="-20" b="1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set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bit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9,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but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Ring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3,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CPU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silently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ignores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popf</a:t>
            </a:r>
            <a:r>
              <a:rPr dirty="0" sz="2800" spc="-10">
                <a:latin typeface="Calibri"/>
                <a:cs typeface="Calibri"/>
              </a:rPr>
              <a:t>!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SzPct val="56250"/>
              <a:buFont typeface="Arial"/>
              <a:buChar char="•"/>
              <a:tabLst>
                <a:tab pos="354965" algn="l"/>
              </a:tabLst>
            </a:pPr>
            <a:r>
              <a:rPr dirty="0" sz="3200">
                <a:latin typeface="Calibri"/>
                <a:cs typeface="Calibri"/>
              </a:rPr>
              <a:t>To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be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virtualizable,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pushf</a:t>
            </a:r>
            <a:r>
              <a:rPr dirty="0" sz="3200">
                <a:latin typeface="Calibri"/>
                <a:cs typeface="Calibri"/>
              </a:rPr>
              <a:t>/</a:t>
            </a:r>
            <a:r>
              <a:rPr dirty="0" sz="3200" b="1">
                <a:latin typeface="Calibri"/>
                <a:cs typeface="Calibri"/>
              </a:rPr>
              <a:t>popf</a:t>
            </a:r>
            <a:r>
              <a:rPr dirty="0" sz="3200" spc="-70" b="1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should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cause</a:t>
            </a:r>
            <a:r>
              <a:rPr dirty="0" sz="3200" spc="-3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traps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in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Ring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 spc="-5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  <a:p>
            <a:pPr lvl="1" marL="812800" marR="5080" indent="-343535">
              <a:lnSpc>
                <a:spcPct val="90000"/>
              </a:lnSpc>
              <a:spcBef>
                <a:spcPts val="520"/>
              </a:spcBef>
              <a:buSzPct val="64285"/>
              <a:buFont typeface="Arial"/>
              <a:buChar char="•"/>
              <a:tabLst>
                <a:tab pos="812800" algn="l"/>
              </a:tabLst>
            </a:pPr>
            <a:r>
              <a:rPr dirty="0" sz="2800">
                <a:latin typeface="Calibri"/>
                <a:cs typeface="Calibri"/>
              </a:rPr>
              <a:t>Allows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VMM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detect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when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guest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OS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wants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changes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its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interrupt </a:t>
            </a:r>
            <a:r>
              <a:rPr dirty="0" sz="2800">
                <a:latin typeface="Calibri"/>
                <a:cs typeface="Calibri"/>
              </a:rPr>
              <a:t>level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(meaning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VMM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should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change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which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interrupts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it </a:t>
            </a:r>
            <a:r>
              <a:rPr dirty="0" sz="2800">
                <a:latin typeface="Calibri"/>
                <a:cs typeface="Calibri"/>
              </a:rPr>
              <a:t>forwards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guest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OS)</a:t>
            </a:r>
            <a:endParaRPr sz="2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630"/>
              </a:spcBef>
              <a:buFont typeface="Arial"/>
              <a:buChar char="•"/>
            </a:pP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SzPct val="56250"/>
              <a:buFont typeface="Arial"/>
              <a:buChar char="•"/>
              <a:tabLst>
                <a:tab pos="354965" algn="l"/>
              </a:tabLst>
            </a:pPr>
            <a:r>
              <a:rPr dirty="0" sz="3200">
                <a:latin typeface="Calibri"/>
                <a:cs typeface="Calibri"/>
              </a:rPr>
              <a:t>x86</a:t>
            </a:r>
            <a:r>
              <a:rPr dirty="0" sz="3200" spc="-3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had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17</a:t>
            </a:r>
            <a:r>
              <a:rPr dirty="0" sz="3200" spc="-30">
                <a:latin typeface="Calibri"/>
                <a:cs typeface="Calibri"/>
              </a:rPr>
              <a:t> non-</a:t>
            </a:r>
            <a:r>
              <a:rPr dirty="0" sz="3200" spc="-10">
                <a:latin typeface="Calibri"/>
                <a:cs typeface="Calibri"/>
              </a:rPr>
              <a:t>PG-</a:t>
            </a:r>
            <a:r>
              <a:rPr dirty="0" sz="3200">
                <a:latin typeface="Calibri"/>
                <a:cs typeface="Calibri"/>
              </a:rPr>
              <a:t>virtualizable</a:t>
            </a:r>
            <a:r>
              <a:rPr dirty="0" sz="3200" spc="-10">
                <a:latin typeface="Calibri"/>
                <a:cs typeface="Calibri"/>
              </a:rPr>
              <a:t> instructions!</a:t>
            </a:r>
            <a:endParaRPr sz="3200">
              <a:latin typeface="Calibri"/>
              <a:cs typeface="Calibri"/>
            </a:endParaRPr>
          </a:p>
          <a:p>
            <a:pPr marL="2340610">
              <a:lnSpc>
                <a:spcPct val="100000"/>
              </a:lnSpc>
              <a:spcBef>
                <a:spcPts val="1450"/>
              </a:spcBef>
            </a:pPr>
            <a:r>
              <a:rPr dirty="0" sz="1400" spc="-10">
                <a:latin typeface="Arial"/>
                <a:cs typeface="Arial"/>
                <a:hlinkClick r:id="rId2"/>
              </a:rPr>
              <a:t>https://apps.dtic.mil/sti/pdfs/ADA423654.pdf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900" rIns="0" bIns="0" rtlCol="0" vert="horz">
            <a:spAutoFit/>
          </a:bodyPr>
          <a:lstStyle/>
          <a:p>
            <a:pPr marL="97790">
              <a:lnSpc>
                <a:spcPct val="100000"/>
              </a:lnSpc>
              <a:spcBef>
                <a:spcPts val="700"/>
              </a:spcBef>
            </a:pPr>
            <a:r>
              <a:rPr dirty="0"/>
              <a:t>CLOUD</a:t>
            </a:r>
            <a:r>
              <a:rPr dirty="0" spc="-35"/>
              <a:t> </a:t>
            </a:r>
            <a:r>
              <a:rPr dirty="0" spc="-10"/>
              <a:t>COMPUTING</a:t>
            </a:r>
          </a:p>
          <a:p>
            <a:pPr marL="97790">
              <a:lnSpc>
                <a:spcPct val="100000"/>
              </a:lnSpc>
              <a:spcBef>
                <a:spcPts val="550"/>
              </a:spcBef>
            </a:pPr>
            <a:r>
              <a:rPr dirty="0" sz="2200">
                <a:solidFill>
                  <a:srgbClr val="C55A11"/>
                </a:solidFill>
              </a:rPr>
              <a:t>x86</a:t>
            </a:r>
            <a:r>
              <a:rPr dirty="0" sz="2200" spc="-55">
                <a:solidFill>
                  <a:srgbClr val="C55A11"/>
                </a:solidFill>
              </a:rPr>
              <a:t> </a:t>
            </a:r>
            <a:r>
              <a:rPr dirty="0" sz="2200">
                <a:solidFill>
                  <a:srgbClr val="C55A11"/>
                </a:solidFill>
              </a:rPr>
              <a:t>architecture</a:t>
            </a:r>
            <a:r>
              <a:rPr dirty="0" sz="2200" spc="-10">
                <a:solidFill>
                  <a:srgbClr val="C55A11"/>
                </a:solidFill>
              </a:rPr>
              <a:t> </a:t>
            </a:r>
            <a:r>
              <a:rPr dirty="0" sz="2200">
                <a:solidFill>
                  <a:srgbClr val="C55A11"/>
                </a:solidFill>
              </a:rPr>
              <a:t>:</a:t>
            </a:r>
            <a:r>
              <a:rPr dirty="0" sz="2200" spc="-40">
                <a:solidFill>
                  <a:srgbClr val="C55A11"/>
                </a:solidFill>
              </a:rPr>
              <a:t> </a:t>
            </a:r>
            <a:r>
              <a:rPr dirty="0" sz="2200">
                <a:solidFill>
                  <a:srgbClr val="C55A11"/>
                </a:solidFill>
              </a:rPr>
              <a:t>Conformance</a:t>
            </a:r>
            <a:r>
              <a:rPr dirty="0" sz="2200" spc="-5">
                <a:solidFill>
                  <a:srgbClr val="C55A11"/>
                </a:solidFill>
              </a:rPr>
              <a:t> </a:t>
            </a:r>
            <a:r>
              <a:rPr dirty="0" sz="2200">
                <a:solidFill>
                  <a:srgbClr val="C55A11"/>
                </a:solidFill>
              </a:rPr>
              <a:t>to</a:t>
            </a:r>
            <a:r>
              <a:rPr dirty="0" sz="2200" spc="-40">
                <a:solidFill>
                  <a:srgbClr val="C55A11"/>
                </a:solidFill>
              </a:rPr>
              <a:t> </a:t>
            </a:r>
            <a:r>
              <a:rPr dirty="0" sz="2200">
                <a:solidFill>
                  <a:srgbClr val="C55A11"/>
                </a:solidFill>
              </a:rPr>
              <a:t>Popek</a:t>
            </a:r>
            <a:r>
              <a:rPr dirty="0" sz="2200" spc="-40">
                <a:solidFill>
                  <a:srgbClr val="C55A11"/>
                </a:solidFill>
              </a:rPr>
              <a:t> </a:t>
            </a:r>
            <a:r>
              <a:rPr dirty="0" sz="2200">
                <a:solidFill>
                  <a:srgbClr val="C55A11"/>
                </a:solidFill>
              </a:rPr>
              <a:t>&amp;</a:t>
            </a:r>
            <a:r>
              <a:rPr dirty="0" sz="2200" spc="-50">
                <a:solidFill>
                  <a:srgbClr val="C55A11"/>
                </a:solidFill>
              </a:rPr>
              <a:t> </a:t>
            </a:r>
            <a:r>
              <a:rPr dirty="0" sz="2200">
                <a:solidFill>
                  <a:srgbClr val="C55A11"/>
                </a:solidFill>
              </a:rPr>
              <a:t>Goldberg</a:t>
            </a:r>
            <a:r>
              <a:rPr dirty="0" sz="2200" spc="-35">
                <a:solidFill>
                  <a:srgbClr val="C55A11"/>
                </a:solidFill>
              </a:rPr>
              <a:t> </a:t>
            </a:r>
            <a:r>
              <a:rPr dirty="0" sz="2200" spc="-10">
                <a:solidFill>
                  <a:srgbClr val="C55A11"/>
                </a:solidFill>
              </a:rPr>
              <a:t>requirements</a:t>
            </a:r>
            <a:r>
              <a:rPr dirty="0" sz="2200" spc="-20">
                <a:solidFill>
                  <a:srgbClr val="C55A11"/>
                </a:solidFill>
              </a:rPr>
              <a:t> </a:t>
            </a:r>
            <a:r>
              <a:rPr dirty="0" sz="2200">
                <a:solidFill>
                  <a:srgbClr val="C55A11"/>
                </a:solidFill>
              </a:rPr>
              <a:t>for</a:t>
            </a:r>
            <a:r>
              <a:rPr dirty="0" sz="2200" spc="-30">
                <a:solidFill>
                  <a:srgbClr val="C55A11"/>
                </a:solidFill>
              </a:rPr>
              <a:t> </a:t>
            </a:r>
            <a:r>
              <a:rPr dirty="0" sz="2200" spc="-10">
                <a:solidFill>
                  <a:srgbClr val="C55A11"/>
                </a:solidFill>
              </a:rPr>
              <a:t>virtualization</a:t>
            </a:r>
            <a:endParaRPr sz="2200"/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40842" y="1443596"/>
            <a:ext cx="11318875" cy="5102225"/>
          </a:xfrm>
          <a:prstGeom prst="rect">
            <a:avLst/>
          </a:prstGeom>
        </p:spPr>
        <p:txBody>
          <a:bodyPr wrap="square" lIns="0" tIns="162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dirty="0" sz="2400" spc="-10">
                <a:latin typeface="Calibri"/>
                <a:cs typeface="Calibri"/>
              </a:rPr>
              <a:t>Summarily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18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X86</a:t>
            </a:r>
            <a:r>
              <a:rPr dirty="0" sz="2400" spc="4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ISA</a:t>
            </a:r>
            <a:r>
              <a:rPr dirty="0" sz="2400" spc="4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does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not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meet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Popek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&amp;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Goldberg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requirements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virtualization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175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ISA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contained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17+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sensitive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,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unprivileged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instructions:</a:t>
            </a:r>
            <a:endParaRPr sz="2400">
              <a:latin typeface="Calibri"/>
              <a:cs typeface="Calibri"/>
            </a:endParaRPr>
          </a:p>
          <a:p>
            <a:pPr lvl="1" marL="911225" indent="-342265">
              <a:lnSpc>
                <a:spcPct val="100000"/>
              </a:lnSpc>
              <a:spcBef>
                <a:spcPts val="1175"/>
              </a:spcBef>
              <a:buFont typeface="Arial"/>
              <a:buChar char="•"/>
              <a:tabLst>
                <a:tab pos="911225" algn="l"/>
              </a:tabLst>
            </a:pPr>
            <a:r>
              <a:rPr dirty="0" sz="2400">
                <a:latin typeface="Calibri"/>
                <a:cs typeface="Calibri"/>
              </a:rPr>
              <a:t>SGDT,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SIDT,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SLDT,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SMSW,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PUSHF,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POPF,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LAR,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LSL,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VERR,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VERW,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POP,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PUSH,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CALL,</a:t>
            </a:r>
            <a:endParaRPr sz="2400">
              <a:latin typeface="Calibri"/>
              <a:cs typeface="Calibri"/>
            </a:endParaRPr>
          </a:p>
          <a:p>
            <a:pPr marL="911225">
              <a:lnSpc>
                <a:spcPct val="100000"/>
              </a:lnSpc>
              <a:spcBef>
                <a:spcPts val="580"/>
              </a:spcBef>
            </a:pPr>
            <a:r>
              <a:rPr dirty="0" sz="2400">
                <a:latin typeface="Calibri"/>
                <a:cs typeface="Calibri"/>
              </a:rPr>
              <a:t>JMP,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INT,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RET,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STR,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MOV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175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Most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simply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reveal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kernel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running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mode</a:t>
            </a:r>
            <a:endParaRPr sz="2400">
              <a:latin typeface="Calibri"/>
              <a:cs typeface="Calibri"/>
            </a:endParaRPr>
          </a:p>
          <a:p>
            <a:pPr marL="733425" indent="-342900">
              <a:lnSpc>
                <a:spcPct val="100000"/>
              </a:lnSpc>
              <a:spcBef>
                <a:spcPts val="1175"/>
              </a:spcBef>
              <a:buFont typeface="Wingdings"/>
              <a:buChar char=""/>
              <a:tabLst>
                <a:tab pos="733425" algn="l"/>
              </a:tabLst>
            </a:pPr>
            <a:r>
              <a:rPr dirty="0" sz="2400" spc="-10">
                <a:latin typeface="Calibri"/>
                <a:cs typeface="Calibri"/>
              </a:rPr>
              <a:t>PUSHF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18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Some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execute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inaccurately</a:t>
            </a:r>
            <a:endParaRPr sz="2400">
              <a:latin typeface="Calibri"/>
              <a:cs typeface="Calibri"/>
            </a:endParaRPr>
          </a:p>
          <a:p>
            <a:pPr lvl="1" marL="733425" indent="-342900">
              <a:lnSpc>
                <a:spcPct val="100000"/>
              </a:lnSpc>
              <a:spcBef>
                <a:spcPts val="1175"/>
              </a:spcBef>
              <a:buFont typeface="Wingdings"/>
              <a:buChar char=""/>
              <a:tabLst>
                <a:tab pos="733425" algn="l"/>
              </a:tabLst>
            </a:pPr>
            <a:r>
              <a:rPr dirty="0" sz="2400" spc="-20">
                <a:latin typeface="Calibri"/>
                <a:cs typeface="Calibri"/>
              </a:rPr>
              <a:t>POPF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175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Virtualization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now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possible,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but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requires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workarounds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hardware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enhancements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82346" y="217805"/>
            <a:ext cx="11610975" cy="501586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02565">
              <a:lnSpc>
                <a:spcPct val="100000"/>
              </a:lnSpc>
              <a:spcBef>
                <a:spcPts val="475"/>
              </a:spcBef>
            </a:pPr>
            <a:r>
              <a:rPr dirty="0" sz="2400" b="1">
                <a:solidFill>
                  <a:srgbClr val="2E5496"/>
                </a:solidFill>
                <a:latin typeface="Calibri"/>
                <a:cs typeface="Calibri"/>
              </a:rPr>
              <a:t>CLOUD</a:t>
            </a:r>
            <a:r>
              <a:rPr dirty="0" sz="2400" spc="-15" b="1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496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170815">
              <a:lnSpc>
                <a:spcPct val="100000"/>
              </a:lnSpc>
              <a:spcBef>
                <a:spcPts val="380"/>
              </a:spcBef>
            </a:pP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Additional</a:t>
            </a:r>
            <a:r>
              <a:rPr dirty="0" sz="2400" spc="-7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Reading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10"/>
              </a:spcBef>
            </a:pPr>
            <a:endParaRPr sz="2400">
              <a:latin typeface="Arial"/>
              <a:cs typeface="Arial"/>
            </a:endParaRPr>
          </a:p>
          <a:p>
            <a:pPr algn="just" marL="354965" indent="-342265">
              <a:lnSpc>
                <a:spcPct val="100000"/>
              </a:lnSpc>
              <a:buClr>
                <a:srgbClr val="000000"/>
              </a:buClr>
              <a:buFont typeface="Wingdings"/>
              <a:buChar char=""/>
              <a:tabLst>
                <a:tab pos="354965" algn="l"/>
              </a:tabLst>
            </a:pPr>
            <a:r>
              <a:rPr dirty="0" u="sng" sz="24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https://enacademic.com/dic.nsf/enwiki/480245</a:t>
            </a:r>
            <a:endParaRPr sz="2400">
              <a:latin typeface="Calibri"/>
              <a:cs typeface="Calibri"/>
            </a:endParaRPr>
          </a:p>
          <a:p>
            <a:pPr algn="just" marL="354965" indent="-342265">
              <a:lnSpc>
                <a:spcPct val="100000"/>
              </a:lnSpc>
              <a:buClr>
                <a:srgbClr val="000000"/>
              </a:buClr>
              <a:buFont typeface="Wingdings"/>
              <a:buChar char=""/>
              <a:tabLst>
                <a:tab pos="354965" algn="l"/>
              </a:tabLst>
            </a:pPr>
            <a:r>
              <a:rPr dirty="0" sz="2400" spc="-10">
                <a:solidFill>
                  <a:srgbClr val="006FC0"/>
                </a:solidFill>
                <a:latin typeface="Calibri"/>
                <a:cs typeface="Calibri"/>
                <a:hlinkClick r:id="rId3"/>
              </a:rPr>
              <a:t>https://www.cs.cmu.edu/~410-s14/lectures/L30_Virtualization.pdf</a:t>
            </a:r>
            <a:endParaRPr sz="2400">
              <a:latin typeface="Calibri"/>
              <a:cs typeface="Calibri"/>
            </a:endParaRPr>
          </a:p>
          <a:p>
            <a:pPr algn="just" marL="354330" marR="95885" indent="-342265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Font typeface="Wingdings"/>
              <a:buChar char=""/>
              <a:tabLst>
                <a:tab pos="355600" algn="l"/>
              </a:tabLst>
            </a:pPr>
            <a:r>
              <a:rPr dirty="0" u="sng" sz="24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https://en.wikipedia.org/wiki/Popek_and_Goldberg_virtualization_requirements#:~:text=</a:t>
            </a:r>
            <a:r>
              <a:rPr dirty="0" sz="2400" spc="-1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0462C1"/>
                </a:solidFill>
                <a:latin typeface="Calibri"/>
                <a:cs typeface="Calibri"/>
              </a:rPr>
              <a:t>	</a:t>
            </a:r>
            <a:r>
              <a:rPr dirty="0" u="sng" sz="24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The%20Popek%20and%20Goldberg%20virtualization,for%20Virtualizable%20Third%20Ge</a:t>
            </a:r>
            <a:r>
              <a:rPr dirty="0" sz="2400" spc="-1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0462C1"/>
                </a:solidFill>
                <a:latin typeface="Calibri"/>
                <a:cs typeface="Calibri"/>
              </a:rPr>
              <a:t>	</a:t>
            </a:r>
            <a:r>
              <a:rPr dirty="0" u="sng" sz="24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neration%20Architectures%22</a:t>
            </a:r>
            <a:r>
              <a:rPr dirty="0" sz="2400" spc="-10">
                <a:solidFill>
                  <a:srgbClr val="006FC0"/>
                </a:solidFill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algn="just" marL="354965" indent="-342265">
              <a:lnSpc>
                <a:spcPct val="100000"/>
              </a:lnSpc>
              <a:buClr>
                <a:srgbClr val="000000"/>
              </a:buClr>
              <a:buFont typeface="Wingdings"/>
              <a:buChar char=""/>
              <a:tabLst>
                <a:tab pos="354965" algn="l"/>
              </a:tabLst>
            </a:pPr>
            <a:r>
              <a:rPr dirty="0" u="sng" sz="24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https://blog.acolyer.org/2016/02/19/formal-requirements-for-virtualizable-</a:t>
            </a:r>
            <a:r>
              <a:rPr dirty="0" u="sng" sz="24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third-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dirty="0" u="sng" sz="24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generation-architectures/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Clr>
                <a:srgbClr val="000000"/>
              </a:buClr>
              <a:buFont typeface="Wingdings"/>
              <a:buChar char=""/>
              <a:tabLst>
                <a:tab pos="355600" algn="l"/>
              </a:tabLst>
            </a:pPr>
            <a:r>
              <a:rPr dirty="0" u="sng" sz="24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http://citeseerx.ist.psu.edu/viewdoc/download?doi=10.1.1.141.4815&amp;rep=rep1&amp;type=pdf</a:t>
            </a:r>
            <a:endParaRPr sz="2400">
              <a:latin typeface="Calibri"/>
              <a:cs typeface="Calibri"/>
            </a:endParaRPr>
          </a:p>
          <a:p>
            <a:pPr marL="355600" marR="13970" indent="-343535">
              <a:lnSpc>
                <a:spcPct val="100000"/>
              </a:lnSpc>
              <a:buClr>
                <a:srgbClr val="000000"/>
              </a:buClr>
              <a:buFont typeface="Wingdings"/>
              <a:buChar char=""/>
              <a:tabLst>
                <a:tab pos="355600" algn="l"/>
              </a:tabLst>
            </a:pPr>
            <a:r>
              <a:rPr dirty="0" sz="2400" spc="-10">
                <a:solidFill>
                  <a:srgbClr val="006FC0"/>
                </a:solidFill>
                <a:latin typeface="Calibri"/>
                <a:cs typeface="Calibri"/>
                <a:hlinkClick r:id="rId7"/>
              </a:rPr>
              <a:t>https://www.researchgate.net/publication/252019491_Recursive_virtual_machines_for_a dvanced_security_mechanisms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765536" y="348995"/>
            <a:ext cx="1066800" cy="1079500"/>
          </a:xfrm>
          <a:custGeom>
            <a:avLst/>
            <a:gdLst/>
            <a:ahLst/>
            <a:cxnLst/>
            <a:rect l="l" t="t" r="r" b="b"/>
            <a:pathLst>
              <a:path w="1066800" h="1079500">
                <a:moveTo>
                  <a:pt x="1066800" y="0"/>
                </a:moveTo>
                <a:lnTo>
                  <a:pt x="0" y="0"/>
                </a:lnTo>
                <a:lnTo>
                  <a:pt x="0" y="45720"/>
                </a:lnTo>
                <a:lnTo>
                  <a:pt x="1021080" y="45720"/>
                </a:lnTo>
                <a:lnTo>
                  <a:pt x="1021080" y="1078992"/>
                </a:lnTo>
                <a:lnTo>
                  <a:pt x="1066800" y="1078992"/>
                </a:lnTo>
                <a:lnTo>
                  <a:pt x="1066800" y="45720"/>
                </a:lnTo>
                <a:lnTo>
                  <a:pt x="1066800" y="12192"/>
                </a:lnTo>
                <a:lnTo>
                  <a:pt x="1066800" y="0"/>
                </a:lnTo>
                <a:close/>
              </a:path>
            </a:pathLst>
          </a:custGeom>
          <a:solidFill>
            <a:srgbClr val="F4AF8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A logo for a university  Description automatically generated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0572" y="1171955"/>
            <a:ext cx="2461602" cy="3997452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367276" y="2089784"/>
            <a:ext cx="274256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C55A11"/>
                </a:solidFill>
                <a:latin typeface="Arial"/>
                <a:cs typeface="Arial"/>
              </a:rPr>
              <a:t>THANK</a:t>
            </a:r>
            <a:r>
              <a:rPr dirty="0" sz="3600" spc="-14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3600" spc="-25">
                <a:solidFill>
                  <a:srgbClr val="C55A11"/>
                </a:solidFill>
                <a:latin typeface="Arial"/>
                <a:cs typeface="Arial"/>
              </a:rPr>
              <a:t>YOU</a:t>
            </a:r>
            <a:endParaRPr sz="3600">
              <a:latin typeface="Arial"/>
              <a:cs typeface="Arial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4289297" y="2888742"/>
            <a:ext cx="4581525" cy="0"/>
          </a:xfrm>
          <a:custGeom>
            <a:avLst/>
            <a:gdLst/>
            <a:ahLst/>
            <a:cxnLst/>
            <a:rect l="l" t="t" r="r" b="b"/>
            <a:pathLst>
              <a:path w="4581525" h="0">
                <a:moveTo>
                  <a:pt x="0" y="0"/>
                </a:moveTo>
                <a:lnTo>
                  <a:pt x="4581398" y="0"/>
                </a:lnTo>
              </a:path>
            </a:pathLst>
          </a:custGeom>
          <a:ln w="38100">
            <a:solidFill>
              <a:srgbClr val="DFA1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367276" y="3221032"/>
            <a:ext cx="5217160" cy="123444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2400" b="1">
                <a:latin typeface="Calibri"/>
                <a:cs typeface="Calibri"/>
              </a:rPr>
              <a:t>Prafullata</a:t>
            </a:r>
            <a:r>
              <a:rPr dirty="0" sz="2400" spc="-3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Kiran</a:t>
            </a:r>
            <a:r>
              <a:rPr dirty="0" sz="2400" spc="-2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Auradkar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2000">
                <a:latin typeface="Calibri"/>
                <a:cs typeface="Calibri"/>
              </a:rPr>
              <a:t>Department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Computer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Science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Engineering</a:t>
            </a:r>
            <a:endParaRPr sz="2000">
              <a:latin typeface="Calibri"/>
              <a:cs typeface="Calibri"/>
            </a:endParaRPr>
          </a:p>
          <a:p>
            <a:pPr marL="24765">
              <a:lnSpc>
                <a:spcPct val="100000"/>
              </a:lnSpc>
              <a:spcBef>
                <a:spcPts val="745"/>
              </a:spcBef>
            </a:pPr>
            <a:r>
              <a:rPr dirty="0" sz="2400" spc="-10" b="1">
                <a:latin typeface="Calibri"/>
                <a:cs typeface="Calibri"/>
                <a:hlinkClick r:id="rId2"/>
              </a:rPr>
              <a:t>prafullatak@pes.edu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3944" y="5489447"/>
            <a:ext cx="1066800" cy="1079500"/>
          </a:xfrm>
          <a:custGeom>
            <a:avLst/>
            <a:gdLst/>
            <a:ahLst/>
            <a:cxnLst/>
            <a:rect l="l" t="t" r="r" b="b"/>
            <a:pathLst>
              <a:path w="1066800" h="1079500">
                <a:moveTo>
                  <a:pt x="1066800" y="1033272"/>
                </a:moveTo>
                <a:lnTo>
                  <a:pt x="45720" y="1033272"/>
                </a:lnTo>
                <a:lnTo>
                  <a:pt x="45720" y="0"/>
                </a:lnTo>
                <a:lnTo>
                  <a:pt x="0" y="0"/>
                </a:lnTo>
                <a:lnTo>
                  <a:pt x="0" y="1033272"/>
                </a:lnTo>
                <a:lnTo>
                  <a:pt x="0" y="1066800"/>
                </a:lnTo>
                <a:lnTo>
                  <a:pt x="0" y="1078992"/>
                </a:lnTo>
                <a:lnTo>
                  <a:pt x="1066800" y="1078992"/>
                </a:lnTo>
                <a:lnTo>
                  <a:pt x="1066800" y="1033272"/>
                </a:lnTo>
                <a:close/>
              </a:path>
            </a:pathLst>
          </a:custGeom>
          <a:solidFill>
            <a:srgbClr val="F4AF81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10855452" y="266699"/>
            <a:ext cx="1066800" cy="1077595"/>
          </a:xfrm>
          <a:custGeom>
            <a:avLst/>
            <a:gdLst/>
            <a:ahLst/>
            <a:cxnLst/>
            <a:rect l="l" t="t" r="r" b="b"/>
            <a:pathLst>
              <a:path w="1066800" h="1077595">
                <a:moveTo>
                  <a:pt x="1066800" y="0"/>
                </a:moveTo>
                <a:lnTo>
                  <a:pt x="0" y="0"/>
                </a:lnTo>
                <a:lnTo>
                  <a:pt x="0" y="45720"/>
                </a:lnTo>
                <a:lnTo>
                  <a:pt x="1021080" y="45720"/>
                </a:lnTo>
                <a:lnTo>
                  <a:pt x="1021080" y="1077468"/>
                </a:lnTo>
                <a:lnTo>
                  <a:pt x="1066800" y="1077468"/>
                </a:lnTo>
                <a:lnTo>
                  <a:pt x="1066800" y="45720"/>
                </a:lnTo>
                <a:lnTo>
                  <a:pt x="1066800" y="10668"/>
                </a:lnTo>
                <a:lnTo>
                  <a:pt x="1066800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A logo for a university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3580" y="1171955"/>
            <a:ext cx="2239644" cy="3637788"/>
          </a:xfrm>
          <a:prstGeom prst="rect">
            <a:avLst/>
          </a:prstGeom>
        </p:spPr>
      </p:pic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74184" y="1698497"/>
            <a:ext cx="3894454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C55A11"/>
                </a:solidFill>
              </a:rPr>
              <a:t>CLOUD</a:t>
            </a:r>
            <a:r>
              <a:rPr dirty="0" sz="3600" spc="-130">
                <a:solidFill>
                  <a:srgbClr val="C55A11"/>
                </a:solidFill>
              </a:rPr>
              <a:t> </a:t>
            </a:r>
            <a:r>
              <a:rPr dirty="0" sz="3600" spc="-10">
                <a:solidFill>
                  <a:srgbClr val="C55A11"/>
                </a:solidFill>
              </a:rPr>
              <a:t>COMPUTING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4846701" y="2821304"/>
            <a:ext cx="37973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Virtualization</a:t>
            </a:r>
            <a:r>
              <a:rPr dirty="0" sz="2400" spc="-40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–</a:t>
            </a:r>
            <a:r>
              <a:rPr dirty="0" sz="2400" spc="-4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VM</a:t>
            </a:r>
            <a:r>
              <a:rPr dirty="0" sz="2400" spc="-4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395"/>
                </a:solidFill>
                <a:latin typeface="Calibri"/>
                <a:cs typeface="Calibri"/>
              </a:rPr>
              <a:t>Migration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83073" y="4112514"/>
            <a:ext cx="4581525" cy="0"/>
          </a:xfrm>
          <a:custGeom>
            <a:avLst/>
            <a:gdLst/>
            <a:ahLst/>
            <a:cxnLst/>
            <a:rect l="l" t="t" r="r" b="b"/>
            <a:pathLst>
              <a:path w="4581525" h="0">
                <a:moveTo>
                  <a:pt x="0" y="0"/>
                </a:moveTo>
                <a:lnTo>
                  <a:pt x="4581398" y="0"/>
                </a:lnTo>
              </a:path>
            </a:pathLst>
          </a:custGeom>
          <a:ln w="38100">
            <a:solidFill>
              <a:srgbClr val="C55A1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774184" y="4178360"/>
            <a:ext cx="6245860" cy="932815"/>
          </a:xfrm>
          <a:prstGeom prst="rect">
            <a:avLst/>
          </a:prstGeom>
        </p:spPr>
        <p:txBody>
          <a:bodyPr wrap="square" lIns="0" tIns="120650" rIns="0" bIns="0" rtlCol="0" vert="horz">
            <a:spAutoFit/>
          </a:bodyPr>
          <a:lstStyle/>
          <a:p>
            <a:pPr marL="180975">
              <a:lnSpc>
                <a:spcPct val="100000"/>
              </a:lnSpc>
              <a:spcBef>
                <a:spcPts val="950"/>
              </a:spcBef>
            </a:pPr>
            <a:r>
              <a:rPr dirty="0" sz="2000" b="1">
                <a:latin typeface="Arial"/>
                <a:cs typeface="Arial"/>
              </a:rPr>
              <a:t>Dr.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Prafullata</a:t>
            </a:r>
            <a:r>
              <a:rPr dirty="0" sz="2000" spc="-4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Kiran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Auradkar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2400">
                <a:latin typeface="Calibri"/>
                <a:cs typeface="Calibri"/>
              </a:rPr>
              <a:t>Department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Computer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Science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Engineering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3944" y="5489447"/>
            <a:ext cx="1066800" cy="1079500"/>
          </a:xfrm>
          <a:custGeom>
            <a:avLst/>
            <a:gdLst/>
            <a:ahLst/>
            <a:cxnLst/>
            <a:rect l="l" t="t" r="r" b="b"/>
            <a:pathLst>
              <a:path w="1066800" h="1079500">
                <a:moveTo>
                  <a:pt x="1066800" y="1033272"/>
                </a:moveTo>
                <a:lnTo>
                  <a:pt x="45720" y="1033272"/>
                </a:lnTo>
                <a:lnTo>
                  <a:pt x="45720" y="0"/>
                </a:lnTo>
                <a:lnTo>
                  <a:pt x="0" y="0"/>
                </a:lnTo>
                <a:lnTo>
                  <a:pt x="0" y="1033272"/>
                </a:lnTo>
                <a:lnTo>
                  <a:pt x="0" y="1066800"/>
                </a:lnTo>
                <a:lnTo>
                  <a:pt x="0" y="1078992"/>
                </a:lnTo>
                <a:lnTo>
                  <a:pt x="1066800" y="1078992"/>
                </a:lnTo>
                <a:lnTo>
                  <a:pt x="1066800" y="1033272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38404" y="5442305"/>
            <a:ext cx="11408410" cy="100139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Arial"/>
                <a:cs typeface="Arial"/>
              </a:rPr>
              <a:t>Acknowledgements:</a:t>
            </a:r>
            <a:endParaRPr sz="1600">
              <a:latin typeface="Arial"/>
              <a:cs typeface="Arial"/>
            </a:endParaRPr>
          </a:p>
          <a:p>
            <a:pPr algn="just" marL="12700" marR="508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latin typeface="Arial"/>
                <a:cs typeface="Arial"/>
              </a:rPr>
              <a:t>Significant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information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slide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deck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presented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through</a:t>
            </a:r>
            <a:r>
              <a:rPr dirty="0" sz="1200" spc="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Unit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2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of</a:t>
            </a:r>
            <a:r>
              <a:rPr dirty="0" sz="1200" spc="9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course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have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been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created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by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Dr.</a:t>
            </a:r>
            <a:r>
              <a:rPr dirty="0" sz="1200" spc="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H.L.</a:t>
            </a:r>
            <a:r>
              <a:rPr dirty="0" sz="1200" spc="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Phalachandra</a:t>
            </a:r>
            <a:r>
              <a:rPr dirty="0" sz="1200" spc="70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would</a:t>
            </a:r>
            <a:r>
              <a:rPr dirty="0" sz="1200" spc="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like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acknowledge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and </a:t>
            </a:r>
            <a:r>
              <a:rPr dirty="0" sz="1200">
                <a:latin typeface="Arial"/>
                <a:cs typeface="Arial"/>
              </a:rPr>
              <a:t>thank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him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for the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same.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There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have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been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some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information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which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might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have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leveraged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from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content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of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Dr.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K.V. Subramaniam’s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lecture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contents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too.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 may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have </a:t>
            </a:r>
            <a:r>
              <a:rPr dirty="0" sz="1200">
                <a:latin typeface="Arial"/>
                <a:cs typeface="Arial"/>
              </a:rPr>
              <a:t>supplemented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same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with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contents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from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books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other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sources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from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Internet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would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like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sincerely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thank,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acknowledge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reiterate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that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credit/rights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for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same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remain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with the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original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authors/publishers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only. These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are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intended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for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classroom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presentation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only.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16510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0660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VM</a:t>
            </a:r>
            <a:r>
              <a:rPr dirty="0" spc="-1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Migration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40842" y="1304695"/>
            <a:ext cx="11606530" cy="4854575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372110" indent="-359410">
              <a:lnSpc>
                <a:spcPct val="100000"/>
              </a:lnSpc>
              <a:spcBef>
                <a:spcPts val="625"/>
              </a:spcBef>
              <a:buClr>
                <a:srgbClr val="833B0A"/>
              </a:buClr>
              <a:buChar char="▪"/>
              <a:tabLst>
                <a:tab pos="372110" algn="l"/>
              </a:tabLst>
            </a:pPr>
            <a:r>
              <a:rPr dirty="0" sz="2200">
                <a:latin typeface="Calibri"/>
                <a:cs typeface="Calibri"/>
              </a:rPr>
              <a:t>VM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migration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process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moving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virtual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machine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from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host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another.</a:t>
            </a:r>
            <a:endParaRPr sz="22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530"/>
              </a:spcBef>
              <a:buClr>
                <a:srgbClr val="833B0A"/>
              </a:buClr>
              <a:buChar char="▪"/>
              <a:tabLst>
                <a:tab pos="372110" algn="l"/>
              </a:tabLst>
            </a:pPr>
            <a:r>
              <a:rPr dirty="0" sz="2200">
                <a:latin typeface="Calibri"/>
                <a:cs typeface="Calibri"/>
              </a:rPr>
              <a:t>There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different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kinds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migrations</a:t>
            </a:r>
            <a:endParaRPr sz="22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530"/>
              </a:spcBef>
              <a:buClr>
                <a:srgbClr val="833B0A"/>
              </a:buClr>
              <a:buFont typeface="Calibri"/>
              <a:buChar char="▪"/>
              <a:tabLst>
                <a:tab pos="733425" algn="l"/>
              </a:tabLst>
            </a:pPr>
            <a:r>
              <a:rPr dirty="0" sz="2200" b="1">
                <a:latin typeface="Calibri"/>
                <a:cs typeface="Calibri"/>
              </a:rPr>
              <a:t>Cold</a:t>
            </a:r>
            <a:r>
              <a:rPr dirty="0" sz="2200" spc="-4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migration</a:t>
            </a:r>
            <a:r>
              <a:rPr dirty="0" sz="2200" spc="-20" b="1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–</a:t>
            </a:r>
            <a:r>
              <a:rPr dirty="0" sz="2200">
                <a:latin typeface="Calibri"/>
                <a:cs typeface="Calibri"/>
              </a:rPr>
              <a:t>migrating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powered-</a:t>
            </a:r>
            <a:r>
              <a:rPr dirty="0" sz="2200">
                <a:latin typeface="Calibri"/>
                <a:cs typeface="Calibri"/>
              </a:rPr>
              <a:t>off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(migrations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across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different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CPU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families)</a:t>
            </a:r>
            <a:endParaRPr sz="2200">
              <a:latin typeface="Calibri"/>
              <a:cs typeface="Calibri"/>
            </a:endParaRPr>
          </a:p>
          <a:p>
            <a:pPr lvl="1" marL="733425" marR="5080" indent="-361315">
              <a:lnSpc>
                <a:spcPct val="120000"/>
              </a:lnSpc>
              <a:buClr>
                <a:srgbClr val="833B0A"/>
              </a:buClr>
              <a:buFont typeface="Calibri"/>
              <a:buChar char="▪"/>
              <a:tabLst>
                <a:tab pos="733425" algn="l"/>
              </a:tabLst>
            </a:pPr>
            <a:r>
              <a:rPr dirty="0" sz="2200" spc="-20" b="1">
                <a:latin typeface="Calibri"/>
                <a:cs typeface="Calibri"/>
              </a:rPr>
              <a:t>Non-live(Off-</a:t>
            </a:r>
            <a:r>
              <a:rPr dirty="0" sz="2200" b="1">
                <a:latin typeface="Calibri"/>
                <a:cs typeface="Calibri"/>
              </a:rPr>
              <a:t>line)</a:t>
            </a:r>
            <a:r>
              <a:rPr dirty="0" sz="2200" spc="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VM</a:t>
            </a:r>
            <a:r>
              <a:rPr dirty="0" sz="2200" spc="-1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Migration:</a:t>
            </a:r>
            <a:r>
              <a:rPr dirty="0" sz="2200" spc="-10" b="1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Virtual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machine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source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host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paused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then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all </a:t>
            </a:r>
            <a:r>
              <a:rPr dirty="0" sz="2200">
                <a:latin typeface="Calibri"/>
                <a:cs typeface="Calibri"/>
              </a:rPr>
              <a:t>states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source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host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transferred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target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destination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host,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then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working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virtual </a:t>
            </a:r>
            <a:r>
              <a:rPr dirty="0" sz="2200">
                <a:latin typeface="Calibri"/>
                <a:cs typeface="Calibri"/>
              </a:rPr>
              <a:t>machine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target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host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resumed.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could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have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drawback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larger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down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time</a:t>
            </a:r>
            <a:endParaRPr sz="22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530"/>
              </a:spcBef>
              <a:buClr>
                <a:srgbClr val="833B0A"/>
              </a:buClr>
              <a:buFont typeface="Calibri"/>
              <a:buChar char="▪"/>
              <a:tabLst>
                <a:tab pos="733425" algn="l"/>
              </a:tabLst>
            </a:pPr>
            <a:r>
              <a:rPr dirty="0" sz="2200" b="1">
                <a:latin typeface="Calibri"/>
                <a:cs typeface="Calibri"/>
              </a:rPr>
              <a:t>Live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or</a:t>
            </a:r>
            <a:r>
              <a:rPr dirty="0" sz="2200" spc="-2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Hot</a:t>
            </a:r>
            <a:r>
              <a:rPr dirty="0" sz="2200" spc="-1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migration</a:t>
            </a:r>
            <a:r>
              <a:rPr dirty="0" sz="2200" spc="-10" b="1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–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migrates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powered-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with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disruption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service.</a:t>
            </a:r>
            <a:endParaRPr sz="2200">
              <a:latin typeface="Calibri"/>
              <a:cs typeface="Calibri"/>
            </a:endParaRPr>
          </a:p>
          <a:p>
            <a:pPr lvl="2" marL="1092835" marR="170180" indent="-360045">
              <a:lnSpc>
                <a:spcPct val="120000"/>
              </a:lnSpc>
              <a:buClr>
                <a:srgbClr val="833B0A"/>
              </a:buClr>
              <a:buChar char="▪"/>
              <a:tabLst>
                <a:tab pos="1092835" algn="l"/>
              </a:tabLst>
            </a:pPr>
            <a:r>
              <a:rPr dirty="0" sz="2200">
                <a:latin typeface="Calibri"/>
                <a:cs typeface="Calibri"/>
              </a:rPr>
              <a:t>including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memory content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all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information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define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virtual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machine,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such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BIOS,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devices,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MAC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addresses,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etc.</a:t>
            </a:r>
            <a:endParaRPr sz="2200">
              <a:latin typeface="Calibri"/>
              <a:cs typeface="Calibri"/>
            </a:endParaRPr>
          </a:p>
          <a:p>
            <a:pPr lvl="2" marL="1092835" indent="-359410">
              <a:lnSpc>
                <a:spcPct val="100000"/>
              </a:lnSpc>
              <a:spcBef>
                <a:spcPts val="530"/>
              </a:spcBef>
              <a:buClr>
                <a:srgbClr val="833B0A"/>
              </a:buClr>
              <a:buChar char="▪"/>
              <a:tabLst>
                <a:tab pos="1092835" algn="l"/>
              </a:tabLst>
            </a:pPr>
            <a:r>
              <a:rPr dirty="0" sz="2200">
                <a:latin typeface="Calibri"/>
                <a:cs typeface="Calibri"/>
              </a:rPr>
              <a:t>There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dropped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network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connections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applications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continue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uninterrupted.</a:t>
            </a:r>
            <a:endParaRPr sz="2200">
              <a:latin typeface="Calibri"/>
              <a:cs typeface="Calibri"/>
            </a:endParaRPr>
          </a:p>
          <a:p>
            <a:pPr lvl="2" marL="1092835" indent="-359410">
              <a:lnSpc>
                <a:spcPct val="100000"/>
              </a:lnSpc>
              <a:spcBef>
                <a:spcPts val="525"/>
              </a:spcBef>
              <a:buClr>
                <a:srgbClr val="833B0A"/>
              </a:buClr>
              <a:buChar char="▪"/>
              <a:tabLst>
                <a:tab pos="1092835" algn="l"/>
              </a:tabLst>
            </a:pPr>
            <a:r>
              <a:rPr dirty="0" sz="2200">
                <a:latin typeface="Calibri"/>
                <a:cs typeface="Calibri"/>
              </a:rPr>
              <a:t>End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users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not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even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aware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been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migrated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between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two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physical</a:t>
            </a:r>
            <a:endParaRPr sz="2200">
              <a:latin typeface="Calibri"/>
              <a:cs typeface="Calibri"/>
            </a:endParaRPr>
          </a:p>
          <a:p>
            <a:pPr marL="733425">
              <a:lnSpc>
                <a:spcPct val="100000"/>
              </a:lnSpc>
              <a:spcBef>
                <a:spcPts val="530"/>
              </a:spcBef>
            </a:pPr>
            <a:r>
              <a:rPr dirty="0" sz="2200">
                <a:latin typeface="Calibri"/>
                <a:cs typeface="Calibri"/>
              </a:rPr>
              <a:t>eg.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vSphere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vMotion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16510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0660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VM</a:t>
            </a:r>
            <a:r>
              <a:rPr dirty="0" spc="-2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Migration</a:t>
            </a:r>
            <a:r>
              <a:rPr dirty="0" spc="-4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– </a:t>
            </a:r>
            <a:r>
              <a:rPr dirty="0" spc="-20">
                <a:solidFill>
                  <a:srgbClr val="C55A11"/>
                </a:solidFill>
                <a:latin typeface="Arial"/>
                <a:cs typeface="Arial"/>
              </a:rPr>
              <a:t>Why?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40842" y="1304695"/>
            <a:ext cx="10904855" cy="5257165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372110" indent="-359410">
              <a:lnSpc>
                <a:spcPct val="100000"/>
              </a:lnSpc>
              <a:spcBef>
                <a:spcPts val="625"/>
              </a:spcBef>
              <a:buClr>
                <a:srgbClr val="833B0A"/>
              </a:buClr>
              <a:buChar char="▪"/>
              <a:tabLst>
                <a:tab pos="372110" algn="l"/>
              </a:tabLst>
            </a:pPr>
            <a:r>
              <a:rPr dirty="0" sz="2200">
                <a:latin typeface="Calibri"/>
                <a:cs typeface="Calibri"/>
              </a:rPr>
              <a:t>Migrations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done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reasons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such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as</a:t>
            </a:r>
            <a:endParaRPr sz="22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530"/>
              </a:spcBef>
              <a:buClr>
                <a:srgbClr val="833B0A"/>
              </a:buClr>
              <a:buFont typeface="Calibri"/>
              <a:buChar char="▪"/>
              <a:tabLst>
                <a:tab pos="733425" algn="l"/>
              </a:tabLst>
            </a:pPr>
            <a:r>
              <a:rPr dirty="0" sz="2200" b="1">
                <a:latin typeface="Calibri"/>
                <a:cs typeface="Calibri"/>
              </a:rPr>
              <a:t>Hardware</a:t>
            </a:r>
            <a:r>
              <a:rPr dirty="0" sz="2200" spc="-95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Maintenance</a:t>
            </a:r>
            <a:endParaRPr sz="2200">
              <a:latin typeface="Calibri"/>
              <a:cs typeface="Calibri"/>
            </a:endParaRPr>
          </a:p>
          <a:p>
            <a:pPr lvl="2" marL="1092835" marR="201295" indent="-360045">
              <a:lnSpc>
                <a:spcPts val="3170"/>
              </a:lnSpc>
              <a:spcBef>
                <a:spcPts val="190"/>
              </a:spcBef>
              <a:buClr>
                <a:srgbClr val="833B0A"/>
              </a:buClr>
              <a:buChar char="▪"/>
              <a:tabLst>
                <a:tab pos="1092835" algn="l"/>
              </a:tabLst>
            </a:pPr>
            <a:r>
              <a:rPr dirty="0" sz="2200">
                <a:latin typeface="Calibri"/>
                <a:cs typeface="Calibri"/>
              </a:rPr>
              <a:t>Migrates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applications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running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them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allow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maintenance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the </a:t>
            </a:r>
            <a:r>
              <a:rPr dirty="0" sz="2200">
                <a:latin typeface="Calibri"/>
                <a:cs typeface="Calibri"/>
              </a:rPr>
              <a:t>physical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server</a:t>
            </a:r>
            <a:endParaRPr sz="22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335"/>
              </a:spcBef>
              <a:buClr>
                <a:srgbClr val="833B0A"/>
              </a:buClr>
              <a:buFont typeface="Calibri"/>
              <a:buChar char="▪"/>
              <a:tabLst>
                <a:tab pos="733425" algn="l"/>
              </a:tabLst>
            </a:pPr>
            <a:r>
              <a:rPr dirty="0" sz="2200" b="1">
                <a:latin typeface="Calibri"/>
                <a:cs typeface="Calibri"/>
              </a:rPr>
              <a:t>Balancing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of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the</a:t>
            </a:r>
            <a:r>
              <a:rPr dirty="0" sz="2200" spc="-25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workload</a:t>
            </a:r>
            <a:endParaRPr sz="2200">
              <a:latin typeface="Calibri"/>
              <a:cs typeface="Calibri"/>
            </a:endParaRPr>
          </a:p>
          <a:p>
            <a:pPr lvl="2" marL="1092835" marR="118745" indent="-360045">
              <a:lnSpc>
                <a:spcPct val="120000"/>
              </a:lnSpc>
              <a:buClr>
                <a:srgbClr val="833B0A"/>
              </a:buClr>
              <a:buChar char="▪"/>
              <a:tabLst>
                <a:tab pos="1092835" algn="l"/>
              </a:tabLst>
            </a:pPr>
            <a:r>
              <a:rPr dirty="0" sz="2200">
                <a:latin typeface="Calibri"/>
                <a:cs typeface="Calibri"/>
              </a:rPr>
              <a:t>Workload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specific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server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few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servers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cluster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nodes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get </a:t>
            </a:r>
            <a:r>
              <a:rPr dirty="0" sz="2200">
                <a:latin typeface="Calibri"/>
                <a:cs typeface="Calibri"/>
              </a:rPr>
              <a:t>unbalanced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live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migrations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done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dynamically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adjusting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loads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among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nodes</a:t>
            </a:r>
            <a:endParaRPr sz="22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530"/>
              </a:spcBef>
              <a:buClr>
                <a:srgbClr val="833B0A"/>
              </a:buClr>
              <a:buFont typeface="Calibri"/>
              <a:buChar char="▪"/>
              <a:tabLst>
                <a:tab pos="733425" algn="l"/>
              </a:tabLst>
            </a:pPr>
            <a:r>
              <a:rPr dirty="0" sz="2200" b="1">
                <a:latin typeface="Calibri"/>
                <a:cs typeface="Calibri"/>
              </a:rPr>
              <a:t>Scaling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to</a:t>
            </a:r>
            <a:r>
              <a:rPr dirty="0" sz="2200" spc="-2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a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changing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workload</a:t>
            </a:r>
            <a:endParaRPr sz="2200">
              <a:latin typeface="Calibri"/>
              <a:cs typeface="Calibri"/>
            </a:endParaRPr>
          </a:p>
          <a:p>
            <a:pPr lvl="2" marL="1092835" marR="5080" indent="-360045">
              <a:lnSpc>
                <a:spcPct val="120000"/>
              </a:lnSpc>
              <a:buClr>
                <a:srgbClr val="833B0A"/>
              </a:buClr>
              <a:buChar char="▪"/>
              <a:tabLst>
                <a:tab pos="1092835" algn="l"/>
              </a:tabLst>
            </a:pPr>
            <a:r>
              <a:rPr dirty="0" sz="2200">
                <a:latin typeface="Calibri"/>
                <a:cs typeface="Calibri"/>
              </a:rPr>
              <a:t>Changes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workload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requirements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Server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may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necessitate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migration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50">
                <a:latin typeface="Calibri"/>
                <a:cs typeface="Calibri"/>
              </a:rPr>
              <a:t>a </a:t>
            </a:r>
            <a:r>
              <a:rPr dirty="0" sz="2200">
                <a:latin typeface="Calibri"/>
                <a:cs typeface="Calibri"/>
              </a:rPr>
              <a:t>physical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server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required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resources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needed</a:t>
            </a:r>
            <a:endParaRPr sz="2200">
              <a:latin typeface="Calibri"/>
              <a:cs typeface="Calibri"/>
            </a:endParaRPr>
          </a:p>
          <a:p>
            <a:pPr lvl="2" marL="1092835" indent="-359410">
              <a:lnSpc>
                <a:spcPct val="100000"/>
              </a:lnSpc>
              <a:spcBef>
                <a:spcPts val="530"/>
              </a:spcBef>
              <a:buClr>
                <a:srgbClr val="833B0A"/>
              </a:buClr>
              <a:buChar char="▪"/>
              <a:tabLst>
                <a:tab pos="1092835" algn="l"/>
              </a:tabLst>
            </a:pPr>
            <a:r>
              <a:rPr dirty="0" sz="2200">
                <a:latin typeface="Calibri"/>
                <a:cs typeface="Calibri"/>
              </a:rPr>
              <a:t>By supporting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automatic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scale-</a:t>
            </a:r>
            <a:r>
              <a:rPr dirty="0" sz="2200">
                <a:latin typeface="Calibri"/>
                <a:cs typeface="Calibri"/>
              </a:rPr>
              <a:t>up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scale-</a:t>
            </a:r>
            <a:r>
              <a:rPr dirty="0" sz="2200">
                <a:latin typeface="Calibri"/>
                <a:cs typeface="Calibri"/>
              </a:rPr>
              <a:t>down</a:t>
            </a:r>
            <a:r>
              <a:rPr dirty="0" sz="2200" spc="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virtual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cluster</a:t>
            </a:r>
            <a:endParaRPr sz="22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530"/>
              </a:spcBef>
              <a:buClr>
                <a:srgbClr val="833B0A"/>
              </a:buClr>
              <a:buFont typeface="Calibri"/>
              <a:buChar char="▪"/>
              <a:tabLst>
                <a:tab pos="733425" algn="l"/>
              </a:tabLst>
            </a:pPr>
            <a:r>
              <a:rPr dirty="0" sz="2200" b="1">
                <a:latin typeface="Calibri"/>
                <a:cs typeface="Calibri"/>
              </a:rPr>
              <a:t>Consolidating</a:t>
            </a:r>
            <a:r>
              <a:rPr dirty="0" sz="2200" spc="-4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the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Servers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for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utilization</a:t>
            </a:r>
            <a:endParaRPr sz="2200">
              <a:latin typeface="Calibri"/>
              <a:cs typeface="Calibri"/>
            </a:endParaRPr>
          </a:p>
          <a:p>
            <a:pPr lvl="2" marL="1092835" indent="-359410">
              <a:lnSpc>
                <a:spcPct val="100000"/>
              </a:lnSpc>
              <a:spcBef>
                <a:spcPts val="530"/>
              </a:spcBef>
              <a:buClr>
                <a:srgbClr val="833B0A"/>
              </a:buClr>
              <a:buChar char="▪"/>
              <a:tabLst>
                <a:tab pos="1092835" algn="l"/>
              </a:tabLst>
            </a:pPr>
            <a:r>
              <a:rPr dirty="0" sz="2200">
                <a:latin typeface="Calibri"/>
                <a:cs typeface="Calibri"/>
              </a:rPr>
              <a:t>Effective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optimal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utilization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Servers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cost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16510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0660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VM</a:t>
            </a:r>
            <a:r>
              <a:rPr dirty="0" spc="-2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Migration</a:t>
            </a:r>
            <a:r>
              <a:rPr dirty="0" spc="-4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- </a:t>
            </a:r>
            <a:r>
              <a:rPr dirty="0" spc="-25">
                <a:solidFill>
                  <a:srgbClr val="C55A11"/>
                </a:solidFill>
                <a:latin typeface="Arial"/>
                <a:cs typeface="Arial"/>
              </a:rPr>
              <a:t>Why</a:t>
            </a:r>
          </a:p>
        </p:txBody>
      </p:sp>
      <p:sp>
        <p:nvSpPr>
          <p:cNvPr id="3" name="object 3"/>
          <p:cNvSpPr/>
          <p:nvPr/>
        </p:nvSpPr>
        <p:spPr>
          <a:xfrm>
            <a:off x="761" y="1163574"/>
            <a:ext cx="8299450" cy="0"/>
          </a:xfrm>
          <a:custGeom>
            <a:avLst/>
            <a:gdLst/>
            <a:ahLst/>
            <a:cxnLst/>
            <a:rect l="l" t="t" r="r" b="b"/>
            <a:pathLst>
              <a:path w="8299450" h="0">
                <a:moveTo>
                  <a:pt x="0" y="0"/>
                </a:moveTo>
                <a:lnTo>
                  <a:pt x="8299450" y="0"/>
                </a:lnTo>
              </a:path>
            </a:pathLst>
          </a:custGeom>
          <a:ln w="38100">
            <a:solidFill>
              <a:srgbClr val="C55A1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8739" y="1152295"/>
            <a:ext cx="11725910" cy="5659120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372110" indent="-359410">
              <a:lnSpc>
                <a:spcPct val="100000"/>
              </a:lnSpc>
              <a:spcBef>
                <a:spcPts val="625"/>
              </a:spcBef>
              <a:buClr>
                <a:srgbClr val="833B0A"/>
              </a:buClr>
              <a:buChar char="▪"/>
              <a:tabLst>
                <a:tab pos="372110" algn="l"/>
              </a:tabLst>
            </a:pPr>
            <a:r>
              <a:rPr dirty="0" sz="2200">
                <a:latin typeface="Calibri"/>
                <a:cs typeface="Calibri"/>
              </a:rPr>
              <a:t>Migrations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done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reasons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such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(Cont.)</a:t>
            </a:r>
            <a:endParaRPr sz="22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530"/>
              </a:spcBef>
              <a:buClr>
                <a:srgbClr val="833B0A"/>
              </a:buClr>
              <a:buFont typeface="Calibri"/>
              <a:buChar char="▪"/>
              <a:tabLst>
                <a:tab pos="733425" algn="l"/>
              </a:tabLst>
            </a:pPr>
            <a:r>
              <a:rPr dirty="0" sz="2200" b="1">
                <a:latin typeface="Calibri"/>
                <a:cs typeface="Calibri"/>
              </a:rPr>
              <a:t>Workload</a:t>
            </a:r>
            <a:r>
              <a:rPr dirty="0" sz="2200" spc="-60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Mobility</a:t>
            </a:r>
            <a:endParaRPr sz="2200">
              <a:latin typeface="Calibri"/>
              <a:cs typeface="Calibri"/>
            </a:endParaRPr>
          </a:p>
          <a:p>
            <a:pPr lvl="2" marL="1092835" indent="-359410">
              <a:lnSpc>
                <a:spcPct val="100000"/>
              </a:lnSpc>
              <a:spcBef>
                <a:spcPts val="530"/>
              </a:spcBef>
              <a:buClr>
                <a:srgbClr val="833B0A"/>
              </a:buClr>
              <a:buChar char="▪"/>
              <a:tabLst>
                <a:tab pos="1092835" algn="l"/>
              </a:tabLst>
            </a:pPr>
            <a:r>
              <a:rPr dirty="0" sz="2200">
                <a:latin typeface="Calibri"/>
                <a:cs typeface="Calibri"/>
              </a:rPr>
              <a:t>Applications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based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compliance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requirements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may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need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move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their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different</a:t>
            </a:r>
            <a:endParaRPr sz="2200">
              <a:latin typeface="Calibri"/>
              <a:cs typeface="Calibri"/>
            </a:endParaRPr>
          </a:p>
          <a:p>
            <a:pPr marL="1092835">
              <a:lnSpc>
                <a:spcPct val="100000"/>
              </a:lnSpc>
              <a:spcBef>
                <a:spcPts val="530"/>
              </a:spcBef>
            </a:pPr>
            <a:r>
              <a:rPr dirty="0" sz="2200">
                <a:latin typeface="Calibri"/>
                <a:cs typeface="Calibri"/>
              </a:rPr>
              <a:t>machines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locations</a:t>
            </a:r>
            <a:endParaRPr sz="22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525"/>
              </a:spcBef>
              <a:buClr>
                <a:srgbClr val="833B0A"/>
              </a:buClr>
              <a:buFont typeface="Calibri"/>
              <a:buChar char="▪"/>
              <a:tabLst>
                <a:tab pos="733425" algn="l"/>
              </a:tabLst>
            </a:pPr>
            <a:r>
              <a:rPr dirty="0" sz="2200" spc="-10" b="1">
                <a:latin typeface="Calibri"/>
                <a:cs typeface="Calibri"/>
              </a:rPr>
              <a:t>Performance</a:t>
            </a:r>
            <a:endParaRPr sz="2200">
              <a:latin typeface="Calibri"/>
              <a:cs typeface="Calibri"/>
            </a:endParaRPr>
          </a:p>
          <a:p>
            <a:pPr lvl="2" marL="1092835" indent="-359410">
              <a:lnSpc>
                <a:spcPct val="100000"/>
              </a:lnSpc>
              <a:spcBef>
                <a:spcPts val="530"/>
              </a:spcBef>
              <a:buClr>
                <a:srgbClr val="833B0A"/>
              </a:buClr>
              <a:buChar char="▪"/>
              <a:tabLst>
                <a:tab pos="1092835" algn="l"/>
              </a:tabLst>
            </a:pPr>
            <a:r>
              <a:rPr dirty="0" sz="2200">
                <a:latin typeface="Calibri"/>
                <a:cs typeface="Calibri"/>
              </a:rPr>
              <a:t>Mapping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onto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most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appropriate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physical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node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having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necessary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resources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to</a:t>
            </a:r>
            <a:endParaRPr sz="2200">
              <a:latin typeface="Calibri"/>
              <a:cs typeface="Calibri"/>
            </a:endParaRPr>
          </a:p>
          <a:p>
            <a:pPr marL="1092835">
              <a:lnSpc>
                <a:spcPct val="100000"/>
              </a:lnSpc>
              <a:spcBef>
                <a:spcPts val="525"/>
              </a:spcBef>
            </a:pPr>
            <a:r>
              <a:rPr dirty="0" sz="2200">
                <a:latin typeface="Calibri"/>
                <a:cs typeface="Calibri"/>
              </a:rPr>
              <a:t>promote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performance.</a:t>
            </a:r>
            <a:endParaRPr sz="2200">
              <a:latin typeface="Calibri"/>
              <a:cs typeface="Calibri"/>
            </a:endParaRPr>
          </a:p>
          <a:p>
            <a:pPr lvl="2" marL="1092835" marR="471805" indent="-360045">
              <a:lnSpc>
                <a:spcPct val="120000"/>
              </a:lnSpc>
              <a:spcBef>
                <a:spcPts val="5"/>
              </a:spcBef>
              <a:buClr>
                <a:srgbClr val="833B0A"/>
              </a:buClr>
              <a:buChar char="▪"/>
              <a:tabLst>
                <a:tab pos="1092835" algn="l"/>
              </a:tabLst>
            </a:pPr>
            <a:r>
              <a:rPr dirty="0" sz="2200">
                <a:latin typeface="Calibri"/>
                <a:cs typeface="Calibri"/>
              </a:rPr>
              <a:t>Migrating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nodes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from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nodes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whose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resources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over-utilized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environments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where </a:t>
            </a:r>
            <a:r>
              <a:rPr dirty="0" sz="2200">
                <a:latin typeface="Calibri"/>
                <a:cs typeface="Calibri"/>
              </a:rPr>
              <a:t>networks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clogged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shorten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response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time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systems.</a:t>
            </a:r>
            <a:endParaRPr sz="22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525"/>
              </a:spcBef>
              <a:buClr>
                <a:srgbClr val="833B0A"/>
              </a:buClr>
              <a:buFont typeface="Calibri"/>
              <a:buChar char="▪"/>
              <a:tabLst>
                <a:tab pos="733425" algn="l"/>
              </a:tabLst>
            </a:pPr>
            <a:r>
              <a:rPr dirty="0" sz="2200" b="1">
                <a:latin typeface="Calibri"/>
                <a:cs typeface="Calibri"/>
              </a:rPr>
              <a:t>Energy</a:t>
            </a:r>
            <a:r>
              <a:rPr dirty="0" sz="2200" spc="-65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efficiencies</a:t>
            </a:r>
            <a:endParaRPr sz="2200">
              <a:latin typeface="Calibri"/>
              <a:cs typeface="Calibri"/>
            </a:endParaRPr>
          </a:p>
          <a:p>
            <a:pPr lvl="2" marL="1092835" marR="407034" indent="-360045">
              <a:lnSpc>
                <a:spcPct val="120000"/>
              </a:lnSpc>
              <a:spcBef>
                <a:spcPts val="5"/>
              </a:spcBef>
              <a:buClr>
                <a:srgbClr val="833B0A"/>
              </a:buClr>
              <a:buChar char="▪"/>
              <a:tabLst>
                <a:tab pos="1092835" algn="l"/>
              </a:tabLst>
            </a:pPr>
            <a:r>
              <a:rPr dirty="0" sz="2200">
                <a:latin typeface="Calibri"/>
                <a:cs typeface="Calibri"/>
              </a:rPr>
              <a:t>Given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sustainability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need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all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data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center’s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migrations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used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reduce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the </a:t>
            </a:r>
            <a:r>
              <a:rPr dirty="0" sz="2200">
                <a:latin typeface="Calibri"/>
                <a:cs typeface="Calibri"/>
              </a:rPr>
              <a:t>energy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consumption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(Servers,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Zones,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Airconditioning,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Location)</a:t>
            </a:r>
            <a:endParaRPr sz="22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530"/>
              </a:spcBef>
              <a:buClr>
                <a:srgbClr val="833B0A"/>
              </a:buClr>
              <a:buFont typeface="Calibri"/>
              <a:buChar char="▪"/>
              <a:tabLst>
                <a:tab pos="733425" algn="l"/>
              </a:tabLst>
            </a:pPr>
            <a:r>
              <a:rPr dirty="0" sz="2200" b="1">
                <a:latin typeface="Calibri"/>
                <a:cs typeface="Calibri"/>
              </a:rPr>
              <a:t>Availability</a:t>
            </a:r>
            <a:r>
              <a:rPr dirty="0" sz="2200" spc="-6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Support,</a:t>
            </a:r>
            <a:r>
              <a:rPr dirty="0" sz="2200" spc="-6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Business</a:t>
            </a:r>
            <a:r>
              <a:rPr dirty="0" sz="2200" spc="-75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Continuity</a:t>
            </a:r>
            <a:endParaRPr sz="2200">
              <a:latin typeface="Calibri"/>
              <a:cs typeface="Calibri"/>
            </a:endParaRPr>
          </a:p>
          <a:p>
            <a:pPr lvl="2" marL="1092835" indent="-359410">
              <a:lnSpc>
                <a:spcPct val="100000"/>
              </a:lnSpc>
              <a:spcBef>
                <a:spcPts val="525"/>
              </a:spcBef>
              <a:buClr>
                <a:srgbClr val="833B0A"/>
              </a:buClr>
              <a:buChar char="▪"/>
              <a:tabLst>
                <a:tab pos="1092835" algn="l"/>
              </a:tabLst>
            </a:pP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support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Availability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requirements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arising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out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failures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equipment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environments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>
              <a:lnSpc>
                <a:spcPct val="100000"/>
              </a:lnSpc>
              <a:spcBef>
                <a:spcPts val="355"/>
              </a:spcBef>
            </a:pPr>
            <a:r>
              <a:rPr dirty="0" spc="-20">
                <a:solidFill>
                  <a:srgbClr val="C55A11"/>
                </a:solidFill>
                <a:latin typeface="Arial"/>
                <a:cs typeface="Arial"/>
              </a:rPr>
              <a:t>Non-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Live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or</a:t>
            </a:r>
            <a:r>
              <a:rPr dirty="0" spc="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Cold migration</a:t>
            </a:r>
            <a:r>
              <a:rPr dirty="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process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31444" y="1435379"/>
            <a:ext cx="11536045" cy="4180840"/>
          </a:xfrm>
          <a:prstGeom prst="rect">
            <a:avLst/>
          </a:prstGeom>
        </p:spPr>
        <p:txBody>
          <a:bodyPr wrap="square" lIns="0" tIns="155575" rIns="0" bIns="0" rtlCol="0" vert="horz">
            <a:spAutoFit/>
          </a:bodyPr>
          <a:lstStyle/>
          <a:p>
            <a:pPr marL="372110" indent="-359410">
              <a:lnSpc>
                <a:spcPct val="100000"/>
              </a:lnSpc>
              <a:spcBef>
                <a:spcPts val="1225"/>
              </a:spcBef>
              <a:buClr>
                <a:srgbClr val="833B0A"/>
              </a:buClr>
              <a:buChar char="▪"/>
              <a:tabLst>
                <a:tab pos="372110" algn="l"/>
              </a:tabLst>
            </a:pPr>
            <a:r>
              <a:rPr dirty="0" sz="2200">
                <a:latin typeface="Calibri"/>
                <a:cs typeface="Calibri"/>
              </a:rPr>
              <a:t>Non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live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migration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easiest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migration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technique.</a:t>
            </a:r>
            <a:endParaRPr sz="22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1130"/>
              </a:spcBef>
              <a:buClr>
                <a:srgbClr val="833B0A"/>
              </a:buClr>
              <a:buChar char="▪"/>
              <a:tabLst>
                <a:tab pos="372110" algn="l"/>
              </a:tabLst>
            </a:pP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technique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current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execution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suspended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before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migration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resumed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after</a:t>
            </a:r>
            <a:endParaRPr sz="2200">
              <a:latin typeface="Calibri"/>
              <a:cs typeface="Calibri"/>
            </a:endParaRPr>
          </a:p>
          <a:p>
            <a:pPr marL="372110">
              <a:lnSpc>
                <a:spcPct val="100000"/>
              </a:lnSpc>
              <a:spcBef>
                <a:spcPts val="530"/>
              </a:spcBef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migration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phase.</a:t>
            </a:r>
            <a:endParaRPr sz="22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1130"/>
              </a:spcBef>
              <a:buClr>
                <a:srgbClr val="833B0A"/>
              </a:buClr>
              <a:buChar char="▪"/>
              <a:tabLst>
                <a:tab pos="372110" algn="l"/>
              </a:tabLst>
            </a:pPr>
            <a:r>
              <a:rPr dirty="0" sz="2200">
                <a:latin typeface="Calibri"/>
                <a:cs typeface="Calibri"/>
              </a:rPr>
              <a:t>It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simple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technique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service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provided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stopped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while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migration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process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continues.</a:t>
            </a:r>
            <a:endParaRPr sz="22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1125"/>
              </a:spcBef>
              <a:buClr>
                <a:srgbClr val="833B0A"/>
              </a:buClr>
              <a:buChar char="▪"/>
              <a:tabLst>
                <a:tab pos="372110" algn="l"/>
              </a:tabLst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state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does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not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resume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destination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server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until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migration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process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completes.</a:t>
            </a:r>
            <a:endParaRPr sz="22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1130"/>
              </a:spcBef>
              <a:buClr>
                <a:srgbClr val="833B0A"/>
              </a:buClr>
              <a:buChar char="▪"/>
              <a:tabLst>
                <a:tab pos="372110" algn="l"/>
              </a:tabLst>
            </a:pPr>
            <a:r>
              <a:rPr dirty="0" sz="2200">
                <a:latin typeface="Calibri"/>
                <a:cs typeface="Calibri"/>
              </a:rPr>
              <a:t>Memory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need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migrated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only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once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using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technique.</a:t>
            </a:r>
            <a:endParaRPr sz="22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1130"/>
              </a:spcBef>
              <a:buClr>
                <a:srgbClr val="833B0A"/>
              </a:buClr>
              <a:buChar char="▪"/>
              <a:tabLst>
                <a:tab pos="372110" algn="l"/>
              </a:tabLst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migration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time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also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very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short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predictable.</a:t>
            </a:r>
            <a:endParaRPr sz="2200">
              <a:latin typeface="Calibri"/>
              <a:cs typeface="Calibri"/>
            </a:endParaRPr>
          </a:p>
          <a:p>
            <a:pPr marL="372110" marR="346710" indent="-360045">
              <a:lnSpc>
                <a:spcPct val="120000"/>
              </a:lnSpc>
              <a:spcBef>
                <a:spcPts val="600"/>
              </a:spcBef>
              <a:buClr>
                <a:srgbClr val="833B0A"/>
              </a:buClr>
              <a:buChar char="▪"/>
              <a:tabLst>
                <a:tab pos="372110" algn="l"/>
              </a:tabLst>
            </a:pP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technique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simplifies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migration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process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but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service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provided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paused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during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the </a:t>
            </a:r>
            <a:r>
              <a:rPr dirty="0" sz="2200" spc="-10">
                <a:latin typeface="Calibri"/>
                <a:cs typeface="Calibri"/>
              </a:rPr>
              <a:t>migration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phase,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application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performance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degraded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9311" y="74549"/>
            <a:ext cx="4442460" cy="847090"/>
          </a:xfrm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Live</a:t>
            </a:r>
            <a:r>
              <a:rPr dirty="0" spc="-5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migration</a:t>
            </a:r>
            <a:r>
              <a:rPr dirty="0" spc="-6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process</a:t>
            </a:r>
            <a:r>
              <a:rPr dirty="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of</a:t>
            </a:r>
            <a:r>
              <a:rPr dirty="0" spc="-4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25">
                <a:solidFill>
                  <a:srgbClr val="C55A11"/>
                </a:solidFill>
                <a:latin typeface="Arial"/>
                <a:cs typeface="Arial"/>
              </a:rPr>
              <a:t>VMs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31444" y="1272692"/>
            <a:ext cx="11699240" cy="5159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dirty="0" sz="2200">
                <a:latin typeface="Calibri"/>
                <a:cs typeface="Calibri"/>
              </a:rPr>
              <a:t>Live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migration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current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need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significant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case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scenarios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significant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number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applications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services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have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availability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expectations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Live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migration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supports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offering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same.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In </a:t>
            </a:r>
            <a:r>
              <a:rPr dirty="0" sz="2200">
                <a:latin typeface="Calibri"/>
                <a:cs typeface="Calibri"/>
              </a:rPr>
              <a:t>other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words,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intention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would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migrate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without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impacting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even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making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aware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User </a:t>
            </a:r>
            <a:r>
              <a:rPr dirty="0" sz="2200">
                <a:latin typeface="Calibri"/>
                <a:cs typeface="Calibri"/>
              </a:rPr>
              <a:t>application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running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VM.</a:t>
            </a:r>
            <a:endParaRPr sz="22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1130"/>
              </a:spcBef>
              <a:buClr>
                <a:srgbClr val="833B0A"/>
              </a:buClr>
              <a:buChar char="▪"/>
              <a:tabLst>
                <a:tab pos="372110" algn="l"/>
              </a:tabLst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live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migration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allows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workloads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node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transfer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another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node.</a:t>
            </a:r>
            <a:endParaRPr sz="22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1125"/>
              </a:spcBef>
              <a:buClr>
                <a:srgbClr val="833B0A"/>
              </a:buClr>
              <a:buChar char="▪"/>
              <a:tabLst>
                <a:tab pos="372110" algn="l"/>
              </a:tabLst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considerations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choosing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migrate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where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migrate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would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cost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overhead</a:t>
            </a:r>
            <a:endParaRPr sz="2200">
              <a:latin typeface="Calibri"/>
              <a:cs typeface="Calibri"/>
            </a:endParaRPr>
          </a:p>
          <a:p>
            <a:pPr marL="372110">
              <a:lnSpc>
                <a:spcPct val="100000"/>
              </a:lnSpc>
              <a:spcBef>
                <a:spcPts val="530"/>
              </a:spcBef>
            </a:pPr>
            <a:r>
              <a:rPr dirty="0" sz="2200">
                <a:latin typeface="Calibri"/>
                <a:cs typeface="Calibri"/>
              </a:rPr>
              <a:t>involved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migration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total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time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taken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migration.</a:t>
            </a:r>
            <a:endParaRPr sz="2200">
              <a:latin typeface="Calibri"/>
              <a:cs typeface="Calibri"/>
            </a:endParaRPr>
          </a:p>
          <a:p>
            <a:pPr marL="372110" marR="511175" indent="-360045">
              <a:lnSpc>
                <a:spcPct val="120000"/>
              </a:lnSpc>
              <a:spcBef>
                <a:spcPts val="600"/>
              </a:spcBef>
              <a:buClr>
                <a:srgbClr val="833B0A"/>
              </a:buClr>
              <a:buChar char="▪"/>
              <a:tabLst>
                <a:tab pos="372110" algn="l"/>
              </a:tabLst>
            </a:pPr>
            <a:r>
              <a:rPr dirty="0" sz="2200">
                <a:latin typeface="Calibri"/>
                <a:cs typeface="Calibri"/>
              </a:rPr>
              <a:t>VM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migration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resource-</a:t>
            </a:r>
            <a:r>
              <a:rPr dirty="0" sz="2200">
                <a:latin typeface="Calibri"/>
                <a:cs typeface="Calibri"/>
              </a:rPr>
              <a:t>intensive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procedure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VM’s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continuously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demand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appropriate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CPU </a:t>
            </a:r>
            <a:r>
              <a:rPr dirty="0" sz="2200">
                <a:latin typeface="Calibri"/>
                <a:cs typeface="Calibri"/>
              </a:rPr>
              <a:t>cycles,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cache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memory,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memory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capacity,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communication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bandwidth.</a:t>
            </a:r>
            <a:endParaRPr sz="2200">
              <a:latin typeface="Calibri"/>
              <a:cs typeface="Calibri"/>
            </a:endParaRPr>
          </a:p>
          <a:p>
            <a:pPr marL="372110" marR="165735" indent="-360045">
              <a:lnSpc>
                <a:spcPct val="120100"/>
              </a:lnSpc>
              <a:spcBef>
                <a:spcPts val="600"/>
              </a:spcBef>
              <a:buClr>
                <a:srgbClr val="833B0A"/>
              </a:buClr>
              <a:buChar char="▪"/>
              <a:tabLst>
                <a:tab pos="372110" algn="l"/>
              </a:tabLst>
            </a:pPr>
            <a:r>
              <a:rPr dirty="0" sz="2200">
                <a:latin typeface="Calibri"/>
                <a:cs typeface="Calibri"/>
              </a:rPr>
              <a:t>VM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migration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process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typically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degrades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performance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running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applications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adversely </a:t>
            </a:r>
            <a:r>
              <a:rPr dirty="0" sz="2200">
                <a:latin typeface="Calibri"/>
                <a:cs typeface="Calibri"/>
              </a:rPr>
              <a:t>affects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efficiency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data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centers,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particularly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when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Service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Level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Agreements (SLA)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critical </a:t>
            </a:r>
            <a:r>
              <a:rPr dirty="0" sz="2200">
                <a:latin typeface="Calibri"/>
                <a:cs typeface="Calibri"/>
              </a:rPr>
              <a:t>business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objectives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met.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9311" y="74549"/>
            <a:ext cx="3003550" cy="847090"/>
          </a:xfrm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Live</a:t>
            </a:r>
            <a:r>
              <a:rPr dirty="0" spc="-3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VM</a:t>
            </a:r>
            <a:r>
              <a:rPr dirty="0" spc="-3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migrations</a:t>
            </a:r>
            <a:r>
              <a:rPr dirty="0" spc="-2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50">
                <a:solidFill>
                  <a:srgbClr val="C55A11"/>
                </a:solidFill>
                <a:latin typeface="Arial"/>
                <a:cs typeface="Arial"/>
              </a:rPr>
              <a:t>: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44576" y="1270151"/>
            <a:ext cx="11766550" cy="4659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20000"/>
              </a:lnSpc>
              <a:spcBef>
                <a:spcPts val="100"/>
              </a:spcBef>
              <a:buClr>
                <a:srgbClr val="833B0A"/>
              </a:buClr>
              <a:buChar char="▪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Live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migration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used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significant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case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scenarios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supports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availability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expectations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needed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significant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number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applications.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130"/>
              </a:spcBef>
              <a:buClr>
                <a:srgbClr val="833B0A"/>
              </a:buClr>
              <a:buChar char="▪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These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few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objectives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Live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migration</a:t>
            </a:r>
            <a:endParaRPr sz="2200">
              <a:latin typeface="Calibri"/>
              <a:cs typeface="Calibri"/>
            </a:endParaRPr>
          </a:p>
          <a:p>
            <a:pPr lvl="1" marL="733425" indent="-342900">
              <a:lnSpc>
                <a:spcPct val="100000"/>
              </a:lnSpc>
              <a:spcBef>
                <a:spcPts val="1130"/>
              </a:spcBef>
              <a:buClr>
                <a:srgbClr val="833B0A"/>
              </a:buClr>
              <a:buChar char="▪"/>
              <a:tabLst>
                <a:tab pos="733425" algn="l"/>
              </a:tabLst>
            </a:pPr>
            <a:r>
              <a:rPr dirty="0" sz="2200">
                <a:latin typeface="Calibri"/>
                <a:cs typeface="Calibri"/>
              </a:rPr>
              <a:t>Migrate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by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efficiently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utilizing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bandwidth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optimize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application</a:t>
            </a:r>
            <a:r>
              <a:rPr dirty="0" sz="2200" spc="-8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performance</a:t>
            </a:r>
            <a:endParaRPr sz="2200">
              <a:latin typeface="Calibri"/>
              <a:cs typeface="Calibri"/>
            </a:endParaRPr>
          </a:p>
          <a:p>
            <a:pPr lvl="1" marL="733425" indent="-342900">
              <a:lnSpc>
                <a:spcPct val="100000"/>
              </a:lnSpc>
              <a:spcBef>
                <a:spcPts val="1125"/>
              </a:spcBef>
              <a:buClr>
                <a:srgbClr val="833B0A"/>
              </a:buClr>
              <a:buChar char="▪"/>
              <a:tabLst>
                <a:tab pos="733425" algn="l"/>
              </a:tabLst>
            </a:pPr>
            <a:r>
              <a:rPr dirty="0" sz="2200">
                <a:latin typeface="Calibri"/>
                <a:cs typeface="Calibri"/>
              </a:rPr>
              <a:t>Minimize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application</a:t>
            </a:r>
            <a:r>
              <a:rPr dirty="0" sz="2200" spc="-8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downtime</a:t>
            </a:r>
            <a:endParaRPr sz="2200">
              <a:latin typeface="Calibri"/>
              <a:cs typeface="Calibri"/>
            </a:endParaRPr>
          </a:p>
          <a:p>
            <a:pPr lvl="1" marL="733425" indent="-342900">
              <a:lnSpc>
                <a:spcPct val="100000"/>
              </a:lnSpc>
              <a:spcBef>
                <a:spcPts val="1130"/>
              </a:spcBef>
              <a:buClr>
                <a:srgbClr val="833B0A"/>
              </a:buClr>
              <a:buChar char="▪"/>
              <a:tabLst>
                <a:tab pos="733425" algn="l"/>
              </a:tabLst>
            </a:pPr>
            <a:r>
              <a:rPr dirty="0" sz="2200">
                <a:latin typeface="Calibri"/>
                <a:cs typeface="Calibri"/>
              </a:rPr>
              <a:t>Reducing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overall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time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required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transfer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by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maximum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factor</a:t>
            </a:r>
            <a:endParaRPr sz="2200">
              <a:latin typeface="Calibri"/>
              <a:cs typeface="Calibri"/>
            </a:endParaRPr>
          </a:p>
          <a:p>
            <a:pPr lvl="1" marL="733425" indent="-342900">
              <a:lnSpc>
                <a:spcPct val="100000"/>
              </a:lnSpc>
              <a:spcBef>
                <a:spcPts val="1130"/>
              </a:spcBef>
              <a:buClr>
                <a:srgbClr val="833B0A"/>
              </a:buClr>
              <a:buChar char="▪"/>
              <a:tabLst>
                <a:tab pos="733425" algn="l"/>
              </a:tabLst>
            </a:pPr>
            <a:r>
              <a:rPr dirty="0" sz="2200">
                <a:latin typeface="Calibri"/>
                <a:cs typeface="Calibri"/>
              </a:rPr>
              <a:t>Summarily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migrate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without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significantly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impacting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User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application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running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VM.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125"/>
              </a:spcBef>
              <a:buClr>
                <a:srgbClr val="833B0A"/>
              </a:buClr>
              <a:buChar char="▪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There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two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technique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live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migration</a:t>
            </a:r>
            <a:endParaRPr sz="2200">
              <a:latin typeface="Calibri"/>
              <a:cs typeface="Calibri"/>
            </a:endParaRPr>
          </a:p>
          <a:p>
            <a:pPr lvl="1" marL="733425" indent="-342900">
              <a:lnSpc>
                <a:spcPct val="100000"/>
              </a:lnSpc>
              <a:spcBef>
                <a:spcPts val="1130"/>
              </a:spcBef>
              <a:buClr>
                <a:srgbClr val="833B0A"/>
              </a:buClr>
              <a:buChar char="▪"/>
              <a:tabLst>
                <a:tab pos="733425" algn="l"/>
              </a:tabLst>
            </a:pPr>
            <a:r>
              <a:rPr dirty="0" sz="2200" spc="-20">
                <a:latin typeface="Calibri"/>
                <a:cs typeface="Calibri"/>
              </a:rPr>
              <a:t>Pre-</a:t>
            </a:r>
            <a:r>
              <a:rPr dirty="0" sz="2200">
                <a:latin typeface="Calibri"/>
                <a:cs typeface="Calibri"/>
              </a:rPr>
              <a:t>copy</a:t>
            </a:r>
            <a:r>
              <a:rPr dirty="0" sz="2200" spc="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technique</a:t>
            </a:r>
            <a:endParaRPr sz="2200">
              <a:latin typeface="Calibri"/>
              <a:cs typeface="Calibri"/>
            </a:endParaRPr>
          </a:p>
          <a:p>
            <a:pPr lvl="1" marL="733425" indent="-342900">
              <a:lnSpc>
                <a:spcPct val="100000"/>
              </a:lnSpc>
              <a:spcBef>
                <a:spcPts val="1130"/>
              </a:spcBef>
              <a:buClr>
                <a:srgbClr val="833B0A"/>
              </a:buClr>
              <a:buChar char="▪"/>
              <a:tabLst>
                <a:tab pos="733425" algn="l"/>
              </a:tabLst>
            </a:pPr>
            <a:r>
              <a:rPr dirty="0" sz="2200" spc="-10">
                <a:latin typeface="Calibri"/>
                <a:cs typeface="Calibri"/>
              </a:rPr>
              <a:t>Post-</a:t>
            </a:r>
            <a:r>
              <a:rPr dirty="0" sz="2200">
                <a:latin typeface="Calibri"/>
                <a:cs typeface="Calibri"/>
              </a:rPr>
              <a:t>copy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technique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3578" y="119634"/>
            <a:ext cx="260286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</p:txBody>
      </p:sp>
      <p:sp>
        <p:nvSpPr>
          <p:cNvPr id="3" name="object 3"/>
          <p:cNvSpPr/>
          <p:nvPr/>
        </p:nvSpPr>
        <p:spPr>
          <a:xfrm>
            <a:off x="29717" y="1047750"/>
            <a:ext cx="8299450" cy="0"/>
          </a:xfrm>
          <a:custGeom>
            <a:avLst/>
            <a:gdLst/>
            <a:ahLst/>
            <a:cxnLst/>
            <a:rect l="l" t="t" r="r" b="b"/>
            <a:pathLst>
              <a:path w="8299450" h="0">
                <a:moveTo>
                  <a:pt x="0" y="0"/>
                </a:moveTo>
                <a:lnTo>
                  <a:pt x="8299450" y="0"/>
                </a:lnTo>
              </a:path>
            </a:pathLst>
          </a:custGeom>
          <a:ln w="38100">
            <a:solidFill>
              <a:srgbClr val="C55A1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080750" y="4366767"/>
            <a:ext cx="253365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710"/>
              </a:lnSpc>
            </a:pPr>
            <a:r>
              <a:rPr dirty="0" sz="1800" spc="-25">
                <a:latin typeface="Calibri"/>
                <a:cs typeface="Calibri"/>
              </a:rPr>
              <a:t>M.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92083" y="1694686"/>
            <a:ext cx="3870960" cy="516331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50063" y="530479"/>
            <a:ext cx="11675110" cy="63068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95"/>
              </a:spcBef>
            </a:pPr>
            <a:r>
              <a:rPr dirty="0" sz="2200" b="1">
                <a:solidFill>
                  <a:srgbClr val="C55A11"/>
                </a:solidFill>
                <a:latin typeface="Arial"/>
                <a:cs typeface="Arial"/>
              </a:rPr>
              <a:t>Live</a:t>
            </a:r>
            <a:r>
              <a:rPr dirty="0" sz="2200" spc="-4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C55A11"/>
                </a:solidFill>
                <a:latin typeface="Arial"/>
                <a:cs typeface="Arial"/>
              </a:rPr>
              <a:t>VM</a:t>
            </a:r>
            <a:r>
              <a:rPr dirty="0" sz="2200" spc="-5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C55A11"/>
                </a:solidFill>
                <a:latin typeface="Arial"/>
                <a:cs typeface="Arial"/>
              </a:rPr>
              <a:t>migrations</a:t>
            </a:r>
            <a:r>
              <a:rPr dirty="0" sz="2200" spc="-4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C55A11"/>
                </a:solidFill>
                <a:latin typeface="Arial"/>
                <a:cs typeface="Arial"/>
              </a:rPr>
              <a:t>:</a:t>
            </a:r>
            <a:r>
              <a:rPr dirty="0" sz="2200" spc="-3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006FC0"/>
                </a:solidFill>
                <a:latin typeface="Arial"/>
                <a:cs typeface="Arial"/>
              </a:rPr>
              <a:t>Pre-</a:t>
            </a:r>
            <a:r>
              <a:rPr dirty="0" sz="2200" b="1">
                <a:solidFill>
                  <a:srgbClr val="006FC0"/>
                </a:solidFill>
                <a:latin typeface="Arial"/>
                <a:cs typeface="Arial"/>
              </a:rPr>
              <a:t>Copy</a:t>
            </a:r>
            <a:r>
              <a:rPr dirty="0" sz="2200" spc="-30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6FC0"/>
                </a:solidFill>
                <a:latin typeface="Arial"/>
                <a:cs typeface="Arial"/>
              </a:rPr>
              <a:t>technique</a:t>
            </a:r>
            <a:r>
              <a:rPr dirty="0" sz="2200" spc="-20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6FC0"/>
                </a:solidFill>
                <a:latin typeface="Arial"/>
                <a:cs typeface="Arial"/>
              </a:rPr>
              <a:t>-</a:t>
            </a:r>
            <a:r>
              <a:rPr dirty="0" sz="2200" spc="-45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200" spc="-50" b="1">
                <a:solidFill>
                  <a:srgbClr val="006FC0"/>
                </a:solidFill>
                <a:latin typeface="Arial"/>
                <a:cs typeface="Arial"/>
              </a:rPr>
              <a:t>1</a:t>
            </a:r>
            <a:endParaRPr sz="2200">
              <a:latin typeface="Arial"/>
              <a:cs typeface="Arial"/>
            </a:endParaRPr>
          </a:p>
          <a:p>
            <a:pPr marL="37465" marR="5080">
              <a:lnSpc>
                <a:spcPct val="100499"/>
              </a:lnSpc>
              <a:spcBef>
                <a:spcPts val="1580"/>
              </a:spcBef>
            </a:pPr>
            <a:r>
              <a:rPr dirty="0" sz="1900">
                <a:latin typeface="Calibri"/>
                <a:cs typeface="Calibri"/>
              </a:rPr>
              <a:t>In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Pre-</a:t>
            </a:r>
            <a:r>
              <a:rPr dirty="0" sz="1900">
                <a:latin typeface="Calibri"/>
                <a:cs typeface="Calibri"/>
              </a:rPr>
              <a:t>copy</a:t>
            </a:r>
            <a:r>
              <a:rPr dirty="0" sz="1900" spc="-1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migration,</a:t>
            </a:r>
            <a:r>
              <a:rPr dirty="0" sz="1900" spc="-1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VM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will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continue</a:t>
            </a:r>
            <a:r>
              <a:rPr dirty="0" sz="1900" spc="-2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in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running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condition</a:t>
            </a:r>
            <a:r>
              <a:rPr dirty="0" sz="1900" spc="-2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and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transfer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of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memory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contents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to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destination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is </a:t>
            </a:r>
            <a:r>
              <a:rPr dirty="0" sz="1900">
                <a:latin typeface="Calibri"/>
                <a:cs typeface="Calibri"/>
              </a:rPr>
              <a:t>done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simultaneously.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For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pre-</a:t>
            </a:r>
            <a:r>
              <a:rPr dirty="0" sz="1900">
                <a:latin typeface="Calibri"/>
                <a:cs typeface="Calibri"/>
              </a:rPr>
              <a:t>copy</a:t>
            </a:r>
            <a:r>
              <a:rPr dirty="0" sz="1900" spc="-1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VM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migration</a:t>
            </a:r>
            <a:r>
              <a:rPr dirty="0" sz="1900" spc="-2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process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there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are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mainly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six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stages</a:t>
            </a:r>
            <a:endParaRPr sz="1900">
              <a:latin typeface="Calibri"/>
              <a:cs typeface="Calibri"/>
            </a:endParaRPr>
          </a:p>
          <a:p>
            <a:pPr marL="469265" indent="-456565">
              <a:lnSpc>
                <a:spcPts val="2070"/>
              </a:lnSpc>
              <a:buClr>
                <a:srgbClr val="833B0A"/>
              </a:buClr>
              <a:buAutoNum type="arabicPeriod"/>
              <a:tabLst>
                <a:tab pos="469265" algn="l"/>
              </a:tabLst>
            </a:pPr>
            <a:r>
              <a:rPr dirty="0" sz="1800" b="1">
                <a:solidFill>
                  <a:srgbClr val="C00000"/>
                </a:solidFill>
                <a:latin typeface="Calibri"/>
                <a:cs typeface="Calibri"/>
              </a:rPr>
              <a:t>Selecting</a:t>
            </a:r>
            <a:r>
              <a:rPr dirty="0" sz="1800" spc="-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dirty="0" sz="1800" spc="-6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C00000"/>
                </a:solidFill>
                <a:latin typeface="Calibri"/>
                <a:cs typeface="Calibri"/>
              </a:rPr>
              <a:t>destination</a:t>
            </a:r>
            <a:r>
              <a:rPr dirty="0" sz="1800" spc="-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C00000"/>
                </a:solidFill>
                <a:latin typeface="Calibri"/>
                <a:cs typeface="Calibri"/>
              </a:rPr>
              <a:t>host</a:t>
            </a:r>
            <a:endParaRPr sz="1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300"/>
              </a:spcBef>
              <a:buClr>
                <a:srgbClr val="833B0A"/>
              </a:buClr>
              <a:buAutoNum type="arabicPeriod"/>
              <a:tabLst>
                <a:tab pos="469265" algn="l"/>
              </a:tabLst>
            </a:pPr>
            <a:r>
              <a:rPr dirty="0" sz="1800" b="1">
                <a:solidFill>
                  <a:srgbClr val="C00000"/>
                </a:solidFill>
                <a:latin typeface="Calibri"/>
                <a:cs typeface="Calibri"/>
              </a:rPr>
              <a:t>Reservation</a:t>
            </a:r>
            <a:r>
              <a:rPr dirty="0" sz="1800" spc="-6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dirty="0" sz="1800" spc="-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C00000"/>
                </a:solidFill>
                <a:latin typeface="Calibri"/>
                <a:cs typeface="Calibri"/>
              </a:rPr>
              <a:t>Resources</a:t>
            </a:r>
            <a:endParaRPr sz="1800">
              <a:latin typeface="Calibri"/>
              <a:cs typeface="Calibri"/>
            </a:endParaRPr>
          </a:p>
          <a:p>
            <a:pPr marL="480059">
              <a:lnSpc>
                <a:spcPct val="100000"/>
              </a:lnSpc>
              <a:spcBef>
                <a:spcPts val="275"/>
              </a:spcBef>
            </a:pPr>
            <a:r>
              <a:rPr dirty="0" sz="1800">
                <a:latin typeface="Calibri"/>
                <a:cs typeface="Calibri"/>
              </a:rPr>
              <a:t>This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step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makes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preparations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migration,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including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determining</a:t>
            </a:r>
            <a:endParaRPr sz="1800">
              <a:latin typeface="Calibri"/>
              <a:cs typeface="Calibri"/>
            </a:endParaRPr>
          </a:p>
          <a:p>
            <a:pPr marL="480059">
              <a:lnSpc>
                <a:spcPct val="100000"/>
              </a:lnSpc>
              <a:spcBef>
                <a:spcPts val="30"/>
              </a:spcBef>
            </a:pP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migrating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VM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destination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host.</a:t>
            </a:r>
            <a:endParaRPr sz="1800">
              <a:latin typeface="Calibri"/>
              <a:cs typeface="Calibri"/>
            </a:endParaRPr>
          </a:p>
          <a:p>
            <a:pPr marL="480059" marR="3647440">
              <a:lnSpc>
                <a:spcPct val="100600"/>
              </a:lnSpc>
              <a:spcBef>
                <a:spcPts val="260"/>
              </a:spcBef>
            </a:pPr>
            <a:r>
              <a:rPr dirty="0" sz="1800">
                <a:latin typeface="Calibri"/>
                <a:cs typeface="Calibri"/>
              </a:rPr>
              <a:t>Although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users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could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manually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make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VM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migrate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appointed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host,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most </a:t>
            </a:r>
            <a:r>
              <a:rPr dirty="0" sz="1800">
                <a:latin typeface="Calibri"/>
                <a:cs typeface="Calibri"/>
              </a:rPr>
              <a:t>circumstances,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migration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automatically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started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by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strategies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such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load </a:t>
            </a:r>
            <a:r>
              <a:rPr dirty="0" sz="1800">
                <a:latin typeface="Calibri"/>
                <a:cs typeface="Calibri"/>
              </a:rPr>
              <a:t>balancing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server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consolidation.</a:t>
            </a:r>
            <a:endParaRPr sz="1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300"/>
              </a:spcBef>
              <a:buClr>
                <a:srgbClr val="833B0A"/>
              </a:buClr>
              <a:buAutoNum type="arabicPeriod" startAt="3"/>
              <a:tabLst>
                <a:tab pos="469265" algn="l"/>
              </a:tabLst>
            </a:pPr>
            <a:r>
              <a:rPr dirty="0" sz="1800" b="1">
                <a:solidFill>
                  <a:srgbClr val="C00000"/>
                </a:solidFill>
                <a:latin typeface="Calibri"/>
                <a:cs typeface="Calibri"/>
              </a:rPr>
              <a:t>Iterative</a:t>
            </a:r>
            <a:r>
              <a:rPr dirty="0" sz="1800" spc="-7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C00000"/>
                </a:solidFill>
                <a:latin typeface="Calibri"/>
                <a:cs typeface="Calibri"/>
              </a:rPr>
              <a:t>pre-copying</a:t>
            </a:r>
            <a:r>
              <a:rPr dirty="0" sz="18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C00000"/>
                </a:solidFill>
                <a:latin typeface="Calibri"/>
                <a:cs typeface="Calibri"/>
              </a:rPr>
              <a:t>rounds</a:t>
            </a:r>
            <a:endParaRPr sz="1800">
              <a:latin typeface="Calibri"/>
              <a:cs typeface="Calibri"/>
            </a:endParaRPr>
          </a:p>
          <a:p>
            <a:pPr marL="480059" marR="3615690">
              <a:lnSpc>
                <a:spcPct val="101099"/>
              </a:lnSpc>
              <a:spcBef>
                <a:spcPts val="254"/>
              </a:spcBef>
            </a:pPr>
            <a:r>
              <a:rPr dirty="0" sz="1800">
                <a:latin typeface="Calibri"/>
                <a:cs typeface="Calibri"/>
              </a:rPr>
              <a:t>Since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whole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execution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state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VM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stored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memory,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sending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VM’s </a:t>
            </a:r>
            <a:r>
              <a:rPr dirty="0" sz="1800">
                <a:latin typeface="Calibri"/>
                <a:cs typeface="Calibri"/>
              </a:rPr>
              <a:t>memory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destination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node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ensures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continuity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service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provided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by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50">
                <a:latin typeface="Calibri"/>
                <a:cs typeface="Calibri"/>
              </a:rPr>
              <a:t>V</a:t>
            </a:r>
            <a:endParaRPr sz="1800">
              <a:latin typeface="Calibri"/>
              <a:cs typeface="Calibri"/>
            </a:endParaRPr>
          </a:p>
          <a:p>
            <a:pPr marL="480059" marR="3860800">
              <a:lnSpc>
                <a:spcPct val="100299"/>
              </a:lnSpc>
              <a:spcBef>
                <a:spcPts val="775"/>
              </a:spcBef>
            </a:pPr>
            <a:r>
              <a:rPr dirty="0" sz="1800">
                <a:latin typeface="Calibri"/>
                <a:cs typeface="Calibri"/>
              </a:rPr>
              <a:t>All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memory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transferred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first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round,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then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migration </a:t>
            </a:r>
            <a:r>
              <a:rPr dirty="0" sz="1800">
                <a:latin typeface="Calibri"/>
                <a:cs typeface="Calibri"/>
              </a:rPr>
              <a:t>controller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recopies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memory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which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changed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last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round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(dirty pages).</a:t>
            </a:r>
            <a:endParaRPr sz="1800">
              <a:latin typeface="Calibri"/>
              <a:cs typeface="Calibri"/>
            </a:endParaRPr>
          </a:p>
          <a:p>
            <a:pPr marL="480059" marR="3724275">
              <a:lnSpc>
                <a:spcPct val="100600"/>
              </a:lnSpc>
              <a:spcBef>
                <a:spcPts val="780"/>
              </a:spcBef>
            </a:pPr>
            <a:r>
              <a:rPr dirty="0" sz="1800">
                <a:latin typeface="Calibri"/>
                <a:cs typeface="Calibri"/>
              </a:rPr>
              <a:t>These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steps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keep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iterating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until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1)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Fixed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threshold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reached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2)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dirty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portion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memory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small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enough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handle the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final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copy.</a:t>
            </a:r>
            <a:endParaRPr sz="1800">
              <a:latin typeface="Calibri"/>
              <a:cs typeface="Calibri"/>
            </a:endParaRPr>
          </a:p>
          <a:p>
            <a:pPr marL="480059" marR="3537585">
              <a:lnSpc>
                <a:spcPct val="101099"/>
              </a:lnSpc>
              <a:spcBef>
                <a:spcPts val="875"/>
              </a:spcBef>
            </a:pPr>
            <a:r>
              <a:rPr dirty="0" sz="1800">
                <a:latin typeface="Calibri"/>
                <a:cs typeface="Calibri"/>
              </a:rPr>
              <a:t>Although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pre-</a:t>
            </a:r>
            <a:r>
              <a:rPr dirty="0" sz="1800">
                <a:latin typeface="Calibri"/>
                <a:cs typeface="Calibri"/>
              </a:rPr>
              <a:t>copying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memory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performed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iteratively,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execution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programs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not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obviously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interrupted.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33578" y="119634"/>
            <a:ext cx="260286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</p:txBody>
      </p:sp>
      <p:sp>
        <p:nvSpPr>
          <p:cNvPr id="2" name="object 2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82981" y="568833"/>
            <a:ext cx="7739380" cy="62788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8419">
              <a:lnSpc>
                <a:spcPct val="100000"/>
              </a:lnSpc>
              <a:spcBef>
                <a:spcPts val="95"/>
              </a:spcBef>
            </a:pPr>
            <a:r>
              <a:rPr dirty="0" sz="2200" b="1">
                <a:solidFill>
                  <a:srgbClr val="C55A11"/>
                </a:solidFill>
                <a:latin typeface="Arial"/>
                <a:cs typeface="Arial"/>
              </a:rPr>
              <a:t>Live</a:t>
            </a:r>
            <a:r>
              <a:rPr dirty="0" sz="2200" spc="-4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C55A11"/>
                </a:solidFill>
                <a:latin typeface="Arial"/>
                <a:cs typeface="Arial"/>
              </a:rPr>
              <a:t>VM</a:t>
            </a:r>
            <a:r>
              <a:rPr dirty="0" sz="2200" spc="-5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C55A11"/>
                </a:solidFill>
                <a:latin typeface="Arial"/>
                <a:cs typeface="Arial"/>
              </a:rPr>
              <a:t>migrations</a:t>
            </a:r>
            <a:r>
              <a:rPr dirty="0" sz="2200" spc="-4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C55A11"/>
                </a:solidFill>
                <a:latin typeface="Arial"/>
                <a:cs typeface="Arial"/>
              </a:rPr>
              <a:t>:</a:t>
            </a:r>
            <a:r>
              <a:rPr dirty="0" sz="2200" spc="-3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006FC0"/>
                </a:solidFill>
                <a:latin typeface="Arial"/>
                <a:cs typeface="Arial"/>
              </a:rPr>
              <a:t>Pre-</a:t>
            </a:r>
            <a:r>
              <a:rPr dirty="0" sz="2200" b="1">
                <a:solidFill>
                  <a:srgbClr val="006FC0"/>
                </a:solidFill>
                <a:latin typeface="Arial"/>
                <a:cs typeface="Arial"/>
              </a:rPr>
              <a:t>Copy</a:t>
            </a:r>
            <a:r>
              <a:rPr dirty="0" sz="2200" spc="-30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6FC0"/>
                </a:solidFill>
                <a:latin typeface="Arial"/>
                <a:cs typeface="Arial"/>
              </a:rPr>
              <a:t>technique</a:t>
            </a:r>
            <a:r>
              <a:rPr dirty="0" sz="2200" spc="-20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6FC0"/>
                </a:solidFill>
                <a:latin typeface="Arial"/>
                <a:cs typeface="Arial"/>
              </a:rPr>
              <a:t>-</a:t>
            </a:r>
            <a:r>
              <a:rPr dirty="0" sz="2200" spc="-45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200" spc="-50" b="1">
                <a:solidFill>
                  <a:srgbClr val="006FC0"/>
                </a:solidFill>
                <a:latin typeface="Arial"/>
                <a:cs typeface="Arial"/>
              </a:rPr>
              <a:t>2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65"/>
              </a:spcBef>
            </a:pPr>
            <a:endParaRPr sz="2200">
              <a:latin typeface="Arial"/>
              <a:cs typeface="Arial"/>
            </a:endParaRPr>
          </a:p>
          <a:p>
            <a:pPr algn="just" marL="467995" indent="-455295">
              <a:lnSpc>
                <a:spcPct val="100000"/>
              </a:lnSpc>
              <a:buClr>
                <a:srgbClr val="833B0A"/>
              </a:buClr>
              <a:buAutoNum type="arabicPeriod" startAt="4"/>
              <a:tabLst>
                <a:tab pos="467995" algn="l"/>
              </a:tabLst>
            </a:pP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Stop</a:t>
            </a:r>
            <a:r>
              <a:rPr dirty="0" sz="2000" spc="-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2000" spc="-2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transfer</a:t>
            </a:r>
            <a:r>
              <a:rPr dirty="0" sz="2000" spc="-2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VM</a:t>
            </a:r>
            <a:r>
              <a:rPr dirty="0" sz="2000" spc="-2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State</a:t>
            </a:r>
            <a:endParaRPr sz="2000">
              <a:latin typeface="Calibri"/>
              <a:cs typeface="Calibri"/>
            </a:endParaRPr>
          </a:p>
          <a:p>
            <a:pPr algn="just" marL="480695" marR="239395">
              <a:lnSpc>
                <a:spcPct val="100000"/>
              </a:lnSpc>
            </a:pPr>
            <a:r>
              <a:rPr dirty="0" sz="2000">
                <a:latin typeface="Calibri"/>
                <a:cs typeface="Calibri"/>
              </a:rPr>
              <a:t>Suspend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VM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copy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last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portion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data.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happens </a:t>
            </a:r>
            <a:r>
              <a:rPr dirty="0" sz="2000">
                <a:latin typeface="Calibri"/>
                <a:cs typeface="Calibri"/>
              </a:rPr>
              <a:t>when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last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round’s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memory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transferred.</a:t>
            </a:r>
            <a:endParaRPr sz="2000">
              <a:latin typeface="Calibri"/>
              <a:cs typeface="Calibri"/>
            </a:endParaRPr>
          </a:p>
          <a:p>
            <a:pPr algn="just" marL="480695" marR="238125">
              <a:lnSpc>
                <a:spcPts val="2400"/>
              </a:lnSpc>
              <a:spcBef>
                <a:spcPts val="70"/>
              </a:spcBef>
            </a:pPr>
            <a:r>
              <a:rPr dirty="0" sz="2000">
                <a:latin typeface="Calibri"/>
                <a:cs typeface="Calibri"/>
              </a:rPr>
              <a:t>Other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non-</a:t>
            </a:r>
            <a:r>
              <a:rPr dirty="0" sz="2000">
                <a:latin typeface="Calibri"/>
                <a:cs typeface="Calibri"/>
              </a:rPr>
              <a:t>memory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such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CPU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network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states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should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be </a:t>
            </a:r>
            <a:r>
              <a:rPr dirty="0" sz="2000">
                <a:latin typeface="Calibri"/>
                <a:cs typeface="Calibri"/>
              </a:rPr>
              <a:t>sent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well.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During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step,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VM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stopped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applications </a:t>
            </a:r>
            <a:r>
              <a:rPr dirty="0" sz="2000">
                <a:latin typeface="Calibri"/>
                <a:cs typeface="Calibri"/>
              </a:rPr>
              <a:t>will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longer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run.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“</a:t>
            </a:r>
            <a:r>
              <a:rPr dirty="0" sz="2000" b="1" i="1">
                <a:solidFill>
                  <a:srgbClr val="006FC0"/>
                </a:solidFill>
                <a:latin typeface="Calibri"/>
                <a:cs typeface="Calibri"/>
              </a:rPr>
              <a:t>service</a:t>
            </a:r>
            <a:r>
              <a:rPr dirty="0" sz="2000" spc="-50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000" b="1" i="1">
                <a:solidFill>
                  <a:srgbClr val="006FC0"/>
                </a:solidFill>
                <a:latin typeface="Calibri"/>
                <a:cs typeface="Calibri"/>
              </a:rPr>
              <a:t>unavailable</a:t>
            </a:r>
            <a:r>
              <a:rPr dirty="0" sz="2000">
                <a:latin typeface="Calibri"/>
                <a:cs typeface="Calibri"/>
              </a:rPr>
              <a:t>”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time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called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</a:t>
            </a:r>
            <a:endParaRPr sz="2000">
              <a:latin typeface="Calibri"/>
              <a:cs typeface="Calibri"/>
            </a:endParaRPr>
          </a:p>
          <a:p>
            <a:pPr algn="just" marL="480695">
              <a:lnSpc>
                <a:spcPts val="2320"/>
              </a:lnSpc>
            </a:pPr>
            <a:r>
              <a:rPr dirty="0" sz="2000">
                <a:latin typeface="Calibri"/>
                <a:cs typeface="Calibri"/>
              </a:rPr>
              <a:t>“</a:t>
            </a:r>
            <a:r>
              <a:rPr dirty="0" sz="2000" b="1" i="1">
                <a:solidFill>
                  <a:srgbClr val="006FC0"/>
                </a:solidFill>
                <a:latin typeface="Calibri"/>
                <a:cs typeface="Calibri"/>
              </a:rPr>
              <a:t>downtime</a:t>
            </a:r>
            <a:r>
              <a:rPr dirty="0" sz="2000">
                <a:latin typeface="Calibri"/>
                <a:cs typeface="Calibri"/>
              </a:rPr>
              <a:t>”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migration,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should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short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possible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</a:t>
            </a:r>
            <a:r>
              <a:rPr dirty="0" sz="2000" spc="-20">
                <a:latin typeface="Calibri"/>
                <a:cs typeface="Calibri"/>
              </a:rPr>
              <a:t> that</a:t>
            </a:r>
            <a:endParaRPr sz="2000">
              <a:latin typeface="Calibri"/>
              <a:cs typeface="Calibri"/>
            </a:endParaRPr>
          </a:p>
          <a:p>
            <a:pPr algn="just" marL="480695">
              <a:lnSpc>
                <a:spcPct val="100000"/>
              </a:lnSpc>
              <a:spcBef>
                <a:spcPts val="10"/>
              </a:spcBef>
            </a:pP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negligible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users.</a:t>
            </a:r>
            <a:endParaRPr sz="2000">
              <a:latin typeface="Calibri"/>
              <a:cs typeface="Calibri"/>
            </a:endParaRPr>
          </a:p>
          <a:p>
            <a:pPr algn="just" marL="467995" indent="-455295">
              <a:lnSpc>
                <a:spcPct val="100000"/>
              </a:lnSpc>
              <a:buClr>
                <a:srgbClr val="833B0A"/>
              </a:buClr>
              <a:buAutoNum type="arabicPeriod" startAt="5"/>
              <a:tabLst>
                <a:tab pos="467995" algn="l"/>
              </a:tabLst>
            </a:pP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Commitment</a:t>
            </a:r>
            <a:endParaRPr sz="2000">
              <a:latin typeface="Calibri"/>
              <a:cs typeface="Calibri"/>
            </a:endParaRPr>
          </a:p>
          <a:p>
            <a:pPr algn="just" marL="467995" indent="-455295">
              <a:lnSpc>
                <a:spcPct val="100000"/>
              </a:lnSpc>
              <a:buClr>
                <a:srgbClr val="833B0A"/>
              </a:buClr>
              <a:buAutoNum type="arabicPeriod" startAt="5"/>
              <a:tabLst>
                <a:tab pos="467995" algn="l"/>
              </a:tabLst>
            </a:pP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VM</a:t>
            </a:r>
            <a:r>
              <a:rPr dirty="0" sz="2000" spc="-2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activation</a:t>
            </a:r>
            <a:r>
              <a:rPr dirty="0" sz="2000" spc="-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at</a:t>
            </a:r>
            <a:r>
              <a:rPr dirty="0" sz="2000" spc="-2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dirty="0" sz="2000" spc="-1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destination</a:t>
            </a:r>
            <a:r>
              <a:rPr dirty="0" sz="20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server</a:t>
            </a:r>
            <a:endParaRPr sz="2000">
              <a:latin typeface="Calibri"/>
              <a:cs typeface="Calibri"/>
            </a:endParaRPr>
          </a:p>
          <a:p>
            <a:pPr marL="480695">
              <a:lnSpc>
                <a:spcPts val="2395"/>
              </a:lnSpc>
            </a:pPr>
            <a:r>
              <a:rPr dirty="0" sz="2000">
                <a:latin typeface="Calibri"/>
                <a:cs typeface="Calibri"/>
              </a:rPr>
              <a:t>Commit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activate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new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host.</a:t>
            </a:r>
            <a:endParaRPr sz="2000">
              <a:latin typeface="Calibri"/>
              <a:cs typeface="Calibri"/>
            </a:endParaRPr>
          </a:p>
          <a:p>
            <a:pPr marL="480695" marR="265430">
              <a:lnSpc>
                <a:spcPts val="2400"/>
              </a:lnSpc>
              <a:spcBef>
                <a:spcPts val="75"/>
              </a:spcBef>
            </a:pPr>
            <a:r>
              <a:rPr dirty="0" sz="2000">
                <a:latin typeface="Calibri"/>
                <a:cs typeface="Calibri"/>
              </a:rPr>
              <a:t>After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needed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copied,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destination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host,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VM </a:t>
            </a:r>
            <a:r>
              <a:rPr dirty="0" sz="2000">
                <a:latin typeface="Calibri"/>
                <a:cs typeface="Calibri"/>
              </a:rPr>
              <a:t>reloads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states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recovers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execution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programs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it,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and</a:t>
            </a:r>
            <a:endParaRPr sz="2000">
              <a:latin typeface="Calibri"/>
              <a:cs typeface="Calibri"/>
            </a:endParaRPr>
          </a:p>
          <a:p>
            <a:pPr marL="480695">
              <a:lnSpc>
                <a:spcPts val="2325"/>
              </a:lnSpc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service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provided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VM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continues.</a:t>
            </a:r>
            <a:endParaRPr sz="2000">
              <a:latin typeface="Calibri"/>
              <a:cs typeface="Calibri"/>
            </a:endParaRPr>
          </a:p>
          <a:p>
            <a:pPr marL="480695">
              <a:lnSpc>
                <a:spcPts val="2395"/>
              </a:lnSpc>
            </a:pPr>
            <a:r>
              <a:rPr dirty="0" sz="2000">
                <a:latin typeface="Calibri"/>
                <a:cs typeface="Calibri"/>
              </a:rPr>
              <a:t>Then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network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connection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redirected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new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VM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</a:t>
            </a:r>
            <a:endParaRPr sz="2000">
              <a:latin typeface="Calibri"/>
              <a:cs typeface="Calibri"/>
            </a:endParaRPr>
          </a:p>
          <a:p>
            <a:pPr marL="480695">
              <a:lnSpc>
                <a:spcPts val="2395"/>
              </a:lnSpc>
              <a:spcBef>
                <a:spcPts val="15"/>
              </a:spcBef>
            </a:pPr>
            <a:r>
              <a:rPr dirty="0" sz="2000">
                <a:latin typeface="Calibri"/>
                <a:cs typeface="Calibri"/>
              </a:rPr>
              <a:t>dependency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source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host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10">
                <a:latin typeface="Calibri"/>
                <a:cs typeface="Calibri"/>
              </a:rPr>
              <a:t> cleared.</a:t>
            </a:r>
            <a:endParaRPr sz="2000">
              <a:latin typeface="Calibri"/>
              <a:cs typeface="Calibri"/>
            </a:endParaRPr>
          </a:p>
          <a:p>
            <a:pPr marL="480695" marR="426720">
              <a:lnSpc>
                <a:spcPts val="2410"/>
              </a:lnSpc>
              <a:spcBef>
                <a:spcPts val="65"/>
              </a:spcBef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whole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migration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process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finishes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removing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original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VM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source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host.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33588" y="1316734"/>
            <a:ext cx="4029455" cy="5541262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33578" y="119634"/>
            <a:ext cx="260286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</p:txBody>
      </p:sp>
      <p:sp>
        <p:nvSpPr>
          <p:cNvPr id="2" name="object 2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82981" y="596849"/>
            <a:ext cx="7711440" cy="40811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2865">
              <a:lnSpc>
                <a:spcPct val="100000"/>
              </a:lnSpc>
              <a:spcBef>
                <a:spcPts val="95"/>
              </a:spcBef>
            </a:pPr>
            <a:r>
              <a:rPr dirty="0" sz="2200" b="1">
                <a:solidFill>
                  <a:srgbClr val="C55A11"/>
                </a:solidFill>
                <a:latin typeface="Arial"/>
                <a:cs typeface="Arial"/>
              </a:rPr>
              <a:t>Live</a:t>
            </a:r>
            <a:r>
              <a:rPr dirty="0" sz="2200" spc="-4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C55A11"/>
                </a:solidFill>
                <a:latin typeface="Arial"/>
                <a:cs typeface="Arial"/>
              </a:rPr>
              <a:t>VM</a:t>
            </a:r>
            <a:r>
              <a:rPr dirty="0" sz="2200" spc="-6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C55A11"/>
                </a:solidFill>
                <a:latin typeface="Arial"/>
                <a:cs typeface="Arial"/>
              </a:rPr>
              <a:t>migrations</a:t>
            </a:r>
            <a:r>
              <a:rPr dirty="0" sz="2200" spc="-4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C55A11"/>
                </a:solidFill>
                <a:latin typeface="Arial"/>
                <a:cs typeface="Arial"/>
              </a:rPr>
              <a:t>:</a:t>
            </a:r>
            <a:r>
              <a:rPr dirty="0" sz="2200" spc="-3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006FC0"/>
                </a:solidFill>
                <a:latin typeface="Arial"/>
                <a:cs typeface="Arial"/>
              </a:rPr>
              <a:t>Pre-</a:t>
            </a:r>
            <a:r>
              <a:rPr dirty="0" sz="2200" b="1">
                <a:solidFill>
                  <a:srgbClr val="006FC0"/>
                </a:solidFill>
                <a:latin typeface="Arial"/>
                <a:cs typeface="Arial"/>
              </a:rPr>
              <a:t>Copy</a:t>
            </a:r>
            <a:r>
              <a:rPr dirty="0" sz="2200" spc="-45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6FC0"/>
                </a:solidFill>
                <a:latin typeface="Arial"/>
                <a:cs typeface="Arial"/>
              </a:rPr>
              <a:t>technique</a:t>
            </a:r>
            <a:r>
              <a:rPr dirty="0" sz="2200" spc="-30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6FC0"/>
                </a:solidFill>
                <a:latin typeface="Arial"/>
                <a:cs typeface="Arial"/>
              </a:rPr>
              <a:t>-</a:t>
            </a:r>
            <a:r>
              <a:rPr dirty="0" sz="2200" spc="-50" b="1">
                <a:solidFill>
                  <a:srgbClr val="006FC0"/>
                </a:solidFill>
                <a:latin typeface="Arial"/>
                <a:cs typeface="Arial"/>
              </a:rPr>
              <a:t> 3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15"/>
              </a:spcBef>
            </a:pP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 b="1">
                <a:latin typeface="Calibri"/>
                <a:cs typeface="Calibri"/>
              </a:rPr>
              <a:t>Advantages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spc="-50" b="1"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833B0A"/>
              </a:buClr>
              <a:buChar char="▪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Low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VM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downtime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(required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copying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remaining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dirty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pages)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833B0A"/>
              </a:buClr>
              <a:buChar char="▪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Pre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copy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migration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advantageous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cases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few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memory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transfers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2000" b="1">
                <a:latin typeface="Calibri"/>
                <a:cs typeface="Calibri"/>
              </a:rPr>
              <a:t>Disadvantage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50" b="1"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833B0A"/>
              </a:buClr>
              <a:buChar char="▪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Repeated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copying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dirty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pages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increase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whole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migration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time</a:t>
            </a:r>
            <a:endParaRPr sz="2000">
              <a:latin typeface="Calibri"/>
              <a:cs typeface="Calibri"/>
            </a:endParaRPr>
          </a:p>
          <a:p>
            <a:pPr marL="355600" marR="588010" indent="-343535">
              <a:lnSpc>
                <a:spcPct val="120000"/>
              </a:lnSpc>
              <a:spcBef>
                <a:spcPts val="5"/>
              </a:spcBef>
              <a:buClr>
                <a:srgbClr val="833B0A"/>
              </a:buClr>
              <a:buChar char="▪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could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result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greater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transfer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time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downtime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case</a:t>
            </a:r>
            <a:r>
              <a:rPr dirty="0" sz="2000" spc="-25">
                <a:latin typeface="Calibri"/>
                <a:cs typeface="Calibri"/>
              </a:rPr>
              <a:t> of </a:t>
            </a:r>
            <a:r>
              <a:rPr dirty="0" sz="2000">
                <a:latin typeface="Calibri"/>
                <a:cs typeface="Calibri"/>
              </a:rPr>
              <a:t>more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memory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transfers</a:t>
            </a:r>
            <a:endParaRPr sz="2000">
              <a:latin typeface="Calibri"/>
              <a:cs typeface="Calibri"/>
            </a:endParaRPr>
          </a:p>
          <a:p>
            <a:pPr marL="552450" marR="304165" indent="-431800">
              <a:lnSpc>
                <a:spcPct val="120000"/>
              </a:lnSpc>
            </a:pPr>
            <a:r>
              <a:rPr dirty="0" sz="2000">
                <a:latin typeface="Calibri"/>
                <a:cs typeface="Calibri"/>
              </a:rPr>
              <a:t>E.g.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KVM,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Xen,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VMware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hypervisor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pre-</a:t>
            </a:r>
            <a:r>
              <a:rPr dirty="0" sz="2000">
                <a:latin typeface="Calibri"/>
                <a:cs typeface="Calibri"/>
              </a:rPr>
              <a:t>copy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technique</a:t>
            </a:r>
            <a:r>
              <a:rPr dirty="0" sz="2000" spc="-25">
                <a:latin typeface="Calibri"/>
                <a:cs typeface="Calibri"/>
              </a:rPr>
              <a:t> for </a:t>
            </a:r>
            <a:r>
              <a:rPr dirty="0" sz="2000">
                <a:latin typeface="Calibri"/>
                <a:cs typeface="Calibri"/>
              </a:rPr>
              <a:t>live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VM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migration.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2543" y="1120139"/>
            <a:ext cx="4029455" cy="5541264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33578" y="119634"/>
            <a:ext cx="260286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50063" y="622808"/>
            <a:ext cx="8899525" cy="61931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95885">
              <a:lnSpc>
                <a:spcPct val="100000"/>
              </a:lnSpc>
              <a:spcBef>
                <a:spcPts val="95"/>
              </a:spcBef>
            </a:pPr>
            <a:r>
              <a:rPr dirty="0" sz="2200" b="1">
                <a:solidFill>
                  <a:srgbClr val="C55A11"/>
                </a:solidFill>
                <a:latin typeface="Arial"/>
                <a:cs typeface="Arial"/>
              </a:rPr>
              <a:t>Live</a:t>
            </a:r>
            <a:r>
              <a:rPr dirty="0" sz="2200" spc="-3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C55A11"/>
                </a:solidFill>
                <a:latin typeface="Arial"/>
                <a:cs typeface="Arial"/>
              </a:rPr>
              <a:t>VM</a:t>
            </a:r>
            <a:r>
              <a:rPr dirty="0" sz="2200" spc="-4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C55A11"/>
                </a:solidFill>
                <a:latin typeface="Arial"/>
                <a:cs typeface="Arial"/>
              </a:rPr>
              <a:t>migrations</a:t>
            </a:r>
            <a:r>
              <a:rPr dirty="0" sz="2200" spc="-3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C55A11"/>
                </a:solidFill>
                <a:latin typeface="Arial"/>
                <a:cs typeface="Arial"/>
              </a:rPr>
              <a:t>:</a:t>
            </a:r>
            <a:r>
              <a:rPr dirty="0" sz="2200" spc="-2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spc="-20" b="1">
                <a:solidFill>
                  <a:srgbClr val="006FC0"/>
                </a:solidFill>
                <a:latin typeface="Arial"/>
                <a:cs typeface="Arial"/>
              </a:rPr>
              <a:t>Post-</a:t>
            </a:r>
            <a:r>
              <a:rPr dirty="0" sz="2200" b="1">
                <a:solidFill>
                  <a:srgbClr val="006FC0"/>
                </a:solidFill>
                <a:latin typeface="Arial"/>
                <a:cs typeface="Arial"/>
              </a:rPr>
              <a:t>Copy</a:t>
            </a:r>
            <a:r>
              <a:rPr dirty="0" sz="2200" spc="-5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6FC0"/>
                </a:solidFill>
                <a:latin typeface="Arial"/>
                <a:cs typeface="Arial"/>
              </a:rPr>
              <a:t>technique</a:t>
            </a:r>
            <a:r>
              <a:rPr dirty="0" sz="2200" spc="-35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6FC0"/>
                </a:solidFill>
                <a:latin typeface="Arial"/>
                <a:cs typeface="Arial"/>
              </a:rPr>
              <a:t>-</a:t>
            </a:r>
            <a:r>
              <a:rPr dirty="0" sz="2200" spc="-35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200" spc="-50" b="1">
                <a:solidFill>
                  <a:srgbClr val="006FC0"/>
                </a:solidFill>
                <a:latin typeface="Arial"/>
                <a:cs typeface="Arial"/>
              </a:rPr>
              <a:t>1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2200">
              <a:latin typeface="Arial"/>
              <a:cs typeface="Arial"/>
            </a:endParaRPr>
          </a:p>
          <a:p>
            <a:pPr marL="281940" marR="114300" indent="-269875">
              <a:lnSpc>
                <a:spcPct val="100499"/>
              </a:lnSpc>
              <a:buClr>
                <a:srgbClr val="833B0A"/>
              </a:buClr>
              <a:buChar char="▪"/>
              <a:tabLst>
                <a:tab pos="281940" algn="l"/>
              </a:tabLst>
            </a:pP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post-</a:t>
            </a:r>
            <a:r>
              <a:rPr dirty="0" sz="2000">
                <a:latin typeface="Calibri"/>
                <a:cs typeface="Calibri"/>
              </a:rPr>
              <a:t>copy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migration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technique,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processor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state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transferred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destination </a:t>
            </a:r>
            <a:r>
              <a:rPr dirty="0" sz="2000">
                <a:latin typeface="Calibri"/>
                <a:cs typeface="Calibri"/>
              </a:rPr>
              <a:t>server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before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memory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content</a:t>
            </a:r>
            <a:endParaRPr sz="2000">
              <a:latin typeface="Calibri"/>
              <a:cs typeface="Calibri"/>
            </a:endParaRPr>
          </a:p>
          <a:p>
            <a:pPr marL="281940" marR="599440" indent="-269875">
              <a:lnSpc>
                <a:spcPct val="100499"/>
              </a:lnSpc>
              <a:spcBef>
                <a:spcPts val="575"/>
              </a:spcBef>
              <a:buClr>
                <a:srgbClr val="833B0A"/>
              </a:buClr>
              <a:buChar char="▪"/>
              <a:tabLst>
                <a:tab pos="281940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prior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transfer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process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states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destination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machine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scheme </a:t>
            </a:r>
            <a:r>
              <a:rPr dirty="0" sz="2000">
                <a:latin typeface="Calibri"/>
                <a:cs typeface="Calibri"/>
              </a:rPr>
              <a:t>enables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VM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resume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instantly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target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machine.</a:t>
            </a:r>
            <a:endParaRPr sz="2000">
              <a:latin typeface="Calibri"/>
              <a:cs typeface="Calibri"/>
            </a:endParaRPr>
          </a:p>
          <a:p>
            <a:pPr marL="281940" indent="-269240">
              <a:lnSpc>
                <a:spcPct val="100000"/>
              </a:lnSpc>
              <a:spcBef>
                <a:spcPts val="590"/>
              </a:spcBef>
              <a:buClr>
                <a:srgbClr val="833B0A"/>
              </a:buClr>
              <a:buChar char="▪"/>
              <a:tabLst>
                <a:tab pos="281940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memory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contents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VM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copied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destination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source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while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VM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is</a:t>
            </a:r>
            <a:endParaRPr sz="2000">
              <a:latin typeface="Calibri"/>
              <a:cs typeface="Calibri"/>
            </a:endParaRPr>
          </a:p>
          <a:p>
            <a:pPr marL="281940">
              <a:lnSpc>
                <a:spcPct val="100000"/>
              </a:lnSpc>
              <a:spcBef>
                <a:spcPts val="10"/>
              </a:spcBef>
            </a:pPr>
            <a:r>
              <a:rPr dirty="0" sz="2000">
                <a:latin typeface="Calibri"/>
                <a:cs typeface="Calibri"/>
              </a:rPr>
              <a:t>running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target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host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almost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once.</a:t>
            </a:r>
            <a:endParaRPr sz="2000">
              <a:latin typeface="Calibri"/>
              <a:cs typeface="Calibri"/>
            </a:endParaRPr>
          </a:p>
          <a:p>
            <a:pPr marL="281940" marR="353060" indent="-269875">
              <a:lnSpc>
                <a:spcPct val="100499"/>
              </a:lnSpc>
              <a:spcBef>
                <a:spcPts val="580"/>
              </a:spcBef>
              <a:buClr>
                <a:srgbClr val="833B0A"/>
              </a:buClr>
              <a:buChar char="▪"/>
              <a:tabLst>
                <a:tab pos="281940" algn="l"/>
              </a:tabLst>
            </a:pPr>
            <a:r>
              <a:rPr dirty="0" sz="2000">
                <a:latin typeface="Calibri"/>
                <a:cs typeface="Calibri"/>
              </a:rPr>
              <a:t>Memory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faults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generated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memory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pages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have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been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fetched </a:t>
            </a:r>
            <a:r>
              <a:rPr dirty="0" sz="2000">
                <a:latin typeface="Calibri"/>
                <a:cs typeface="Calibri"/>
              </a:rPr>
              <a:t>yet,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where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missing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pages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fetched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source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machine.</a:t>
            </a:r>
            <a:endParaRPr sz="2000">
              <a:latin typeface="Calibri"/>
              <a:cs typeface="Calibri"/>
            </a:endParaRPr>
          </a:p>
          <a:p>
            <a:pPr marL="281940" marR="5080" indent="-269875">
              <a:lnSpc>
                <a:spcPct val="100299"/>
              </a:lnSpc>
              <a:spcBef>
                <a:spcPts val="580"/>
              </a:spcBef>
              <a:buClr>
                <a:srgbClr val="833B0A"/>
              </a:buClr>
              <a:buChar char="▪"/>
              <a:tabLst>
                <a:tab pos="281940" algn="l"/>
              </a:tabLst>
            </a:pP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excess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repetitive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memory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faults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result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significant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disruption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>
                <a:latin typeface="Calibri"/>
                <a:cs typeface="Calibri"/>
              </a:rPr>
              <a:t>service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quality,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addressed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considering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different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techniques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lower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>
                <a:latin typeface="Calibri"/>
                <a:cs typeface="Calibri"/>
              </a:rPr>
              <a:t>number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page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faults.</a:t>
            </a:r>
            <a:endParaRPr sz="2000">
              <a:latin typeface="Calibri"/>
              <a:cs typeface="Calibri"/>
            </a:endParaRPr>
          </a:p>
          <a:p>
            <a:pPr marL="281940">
              <a:lnSpc>
                <a:spcPts val="2395"/>
              </a:lnSpc>
            </a:pPr>
            <a:r>
              <a:rPr dirty="0" sz="2000">
                <a:latin typeface="Calibri"/>
                <a:cs typeface="Calibri"/>
              </a:rPr>
              <a:t>E.g.</a:t>
            </a:r>
            <a:r>
              <a:rPr dirty="0" sz="2000" spc="3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Demand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Paging,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Active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Push,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Memory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Prepaging</a:t>
            </a:r>
            <a:endParaRPr sz="2000">
              <a:latin typeface="Calibri"/>
              <a:cs typeface="Calibri"/>
            </a:endParaRPr>
          </a:p>
          <a:p>
            <a:pPr algn="just" marL="12700">
              <a:lnSpc>
                <a:spcPts val="2395"/>
              </a:lnSpc>
            </a:pPr>
            <a:r>
              <a:rPr dirty="0" sz="2000" b="1" i="1">
                <a:solidFill>
                  <a:srgbClr val="006FC0"/>
                </a:solidFill>
                <a:latin typeface="Calibri"/>
                <a:cs typeface="Calibri"/>
              </a:rPr>
              <a:t>Demand</a:t>
            </a:r>
            <a:r>
              <a:rPr dirty="0" sz="2000" spc="-50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000" b="1" i="1">
                <a:solidFill>
                  <a:srgbClr val="006FC0"/>
                </a:solidFill>
                <a:latin typeface="Calibri"/>
                <a:cs typeface="Calibri"/>
              </a:rPr>
              <a:t>paging:</a:t>
            </a:r>
            <a:r>
              <a:rPr dirty="0" sz="2000" spc="-75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technique,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when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VM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resumes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target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machine,</a:t>
            </a:r>
            <a:endParaRPr sz="2000">
              <a:latin typeface="Calibri"/>
              <a:cs typeface="Calibri"/>
            </a:endParaRPr>
          </a:p>
          <a:p>
            <a:pPr algn="just" marL="12700" marR="237490">
              <a:lnSpc>
                <a:spcPct val="100000"/>
              </a:lnSpc>
            </a:pPr>
            <a:r>
              <a:rPr dirty="0" sz="2000">
                <a:latin typeface="Calibri"/>
                <a:cs typeface="Calibri"/>
              </a:rPr>
              <a:t>requesting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memory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pages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read/write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operation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results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page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faults,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faulty </a:t>
            </a:r>
            <a:r>
              <a:rPr dirty="0" sz="2000">
                <a:latin typeface="Calibri"/>
                <a:cs typeface="Calibri"/>
              </a:rPr>
              <a:t>pages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serviced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retransmission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source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server.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servicing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faulty </a:t>
            </a:r>
            <a:r>
              <a:rPr dirty="0" sz="2000">
                <a:latin typeface="Calibri"/>
                <a:cs typeface="Calibri"/>
              </a:rPr>
              <a:t>pages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degrades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application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performance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but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provides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simple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slowest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2000" spc="-10">
                <a:latin typeface="Calibri"/>
                <a:cs typeface="Calibri"/>
              </a:rPr>
              <a:t>option.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57131" y="1284731"/>
            <a:ext cx="3134868" cy="5573265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33578" y="119634"/>
            <a:ext cx="260286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50063" y="669493"/>
            <a:ext cx="7720330" cy="50679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95"/>
              </a:spcBef>
            </a:pPr>
            <a:r>
              <a:rPr dirty="0" sz="2200" b="1">
                <a:solidFill>
                  <a:srgbClr val="C55A11"/>
                </a:solidFill>
                <a:latin typeface="Arial"/>
                <a:cs typeface="Arial"/>
              </a:rPr>
              <a:t>Live</a:t>
            </a:r>
            <a:r>
              <a:rPr dirty="0" sz="2200" spc="-4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C55A11"/>
                </a:solidFill>
                <a:latin typeface="Arial"/>
                <a:cs typeface="Arial"/>
              </a:rPr>
              <a:t>VM</a:t>
            </a:r>
            <a:r>
              <a:rPr dirty="0" sz="2200" spc="-6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C55A11"/>
                </a:solidFill>
                <a:latin typeface="Arial"/>
                <a:cs typeface="Arial"/>
              </a:rPr>
              <a:t>migrations</a:t>
            </a:r>
            <a:r>
              <a:rPr dirty="0" sz="2200" spc="-4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C55A11"/>
                </a:solidFill>
                <a:latin typeface="Arial"/>
                <a:cs typeface="Arial"/>
              </a:rPr>
              <a:t>:</a:t>
            </a:r>
            <a:r>
              <a:rPr dirty="0" sz="2200" spc="-3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spc="-20" b="1">
                <a:solidFill>
                  <a:srgbClr val="006FC0"/>
                </a:solidFill>
                <a:latin typeface="Arial"/>
                <a:cs typeface="Arial"/>
              </a:rPr>
              <a:t>Post-</a:t>
            </a:r>
            <a:r>
              <a:rPr dirty="0" sz="2200" b="1">
                <a:solidFill>
                  <a:srgbClr val="006FC0"/>
                </a:solidFill>
                <a:latin typeface="Arial"/>
                <a:cs typeface="Arial"/>
              </a:rPr>
              <a:t>Copy</a:t>
            </a:r>
            <a:r>
              <a:rPr dirty="0" sz="2200" spc="-20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6FC0"/>
                </a:solidFill>
                <a:latin typeface="Arial"/>
                <a:cs typeface="Arial"/>
              </a:rPr>
              <a:t>technique</a:t>
            </a:r>
            <a:r>
              <a:rPr dirty="0" sz="2200" spc="-45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6FC0"/>
                </a:solidFill>
                <a:latin typeface="Arial"/>
                <a:cs typeface="Arial"/>
              </a:rPr>
              <a:t>-</a:t>
            </a:r>
            <a:r>
              <a:rPr dirty="0" sz="2200" spc="-45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200" spc="-50" b="1">
                <a:solidFill>
                  <a:srgbClr val="006FC0"/>
                </a:solidFill>
                <a:latin typeface="Arial"/>
                <a:cs typeface="Arial"/>
              </a:rPr>
              <a:t>2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2200">
              <a:latin typeface="Arial"/>
              <a:cs typeface="Arial"/>
            </a:endParaRPr>
          </a:p>
          <a:p>
            <a:pPr marL="372110" marR="65405" indent="-360045">
              <a:lnSpc>
                <a:spcPct val="100099"/>
              </a:lnSpc>
              <a:buClr>
                <a:srgbClr val="833B0A"/>
              </a:buClr>
              <a:buFont typeface="Calibri"/>
              <a:buChar char="▪"/>
              <a:tabLst>
                <a:tab pos="372110" algn="l"/>
              </a:tabLst>
            </a:pPr>
            <a:r>
              <a:rPr dirty="0" sz="2200" b="1" i="1">
                <a:solidFill>
                  <a:srgbClr val="006FC0"/>
                </a:solidFill>
                <a:latin typeface="Calibri"/>
                <a:cs typeface="Calibri"/>
              </a:rPr>
              <a:t>Active</a:t>
            </a:r>
            <a:r>
              <a:rPr dirty="0" sz="2200" spc="-45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 i="1">
                <a:solidFill>
                  <a:srgbClr val="006FC0"/>
                </a:solidFill>
                <a:latin typeface="Calibri"/>
                <a:cs typeface="Calibri"/>
              </a:rPr>
              <a:t>push:</a:t>
            </a:r>
            <a:r>
              <a:rPr dirty="0" sz="2200" spc="-30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removes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residual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dependencies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from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source </a:t>
            </a:r>
            <a:r>
              <a:rPr dirty="0" sz="2200">
                <a:latin typeface="Calibri"/>
                <a:cs typeface="Calibri"/>
              </a:rPr>
              <a:t>server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pro-</a:t>
            </a:r>
            <a:r>
              <a:rPr dirty="0" sz="2200">
                <a:latin typeface="Calibri"/>
                <a:cs typeface="Calibri"/>
              </a:rPr>
              <a:t>actively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pushes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destination </a:t>
            </a:r>
            <a:r>
              <a:rPr dirty="0" sz="2200">
                <a:latin typeface="Calibri"/>
                <a:cs typeface="Calibri"/>
              </a:rPr>
              <a:t>server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even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when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running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destination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server.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If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50">
                <a:latin typeface="Calibri"/>
                <a:cs typeface="Calibri"/>
              </a:rPr>
              <a:t>a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fault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occurs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destination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demand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paging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used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deal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with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fault.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Therefore,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sent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only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once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either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via </a:t>
            </a:r>
            <a:r>
              <a:rPr dirty="0" sz="2200">
                <a:latin typeface="Calibri"/>
                <a:cs typeface="Calibri"/>
              </a:rPr>
              <a:t>active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push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demand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paging.</a:t>
            </a:r>
            <a:endParaRPr sz="2200">
              <a:latin typeface="Calibri"/>
              <a:cs typeface="Calibri"/>
            </a:endParaRPr>
          </a:p>
          <a:p>
            <a:pPr marL="372110" marR="5080" indent="-360045">
              <a:lnSpc>
                <a:spcPct val="100200"/>
              </a:lnSpc>
              <a:spcBef>
                <a:spcPts val="585"/>
              </a:spcBef>
              <a:buClr>
                <a:srgbClr val="833B0A"/>
              </a:buClr>
              <a:buFont typeface="Calibri"/>
              <a:buChar char="▪"/>
              <a:tabLst>
                <a:tab pos="372110" algn="l"/>
              </a:tabLst>
            </a:pPr>
            <a:r>
              <a:rPr dirty="0" sz="2200" b="1" i="1">
                <a:solidFill>
                  <a:srgbClr val="006FC0"/>
                </a:solidFill>
                <a:latin typeface="Calibri"/>
                <a:cs typeface="Calibri"/>
              </a:rPr>
              <a:t>Memory</a:t>
            </a:r>
            <a:r>
              <a:rPr dirty="0" sz="2200" spc="-70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 i="1">
                <a:solidFill>
                  <a:srgbClr val="006FC0"/>
                </a:solidFill>
                <a:latin typeface="Calibri"/>
                <a:cs typeface="Calibri"/>
              </a:rPr>
              <a:t>prepaging</a:t>
            </a:r>
            <a:r>
              <a:rPr dirty="0" sz="2200" spc="-50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approach</a:t>
            </a:r>
            <a:r>
              <a:rPr dirty="0" sz="2200" spc="-8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assumes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memory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access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in </a:t>
            </a:r>
            <a:r>
              <a:rPr dirty="0" sz="2200">
                <a:latin typeface="Calibri"/>
                <a:cs typeface="Calibri"/>
              </a:rPr>
              <a:t>time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location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predicts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corresponding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memory</a:t>
            </a:r>
            <a:r>
              <a:rPr dirty="0" sz="2200" spc="-10">
                <a:latin typeface="Calibri"/>
                <a:cs typeface="Calibri"/>
              </a:rPr>
              <a:t> pages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high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demand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probability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makes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pushing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more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efficient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thus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reducing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memory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faults</a:t>
            </a:r>
            <a:endParaRPr sz="2200">
              <a:latin typeface="Calibri"/>
              <a:cs typeface="Calibri"/>
            </a:endParaRPr>
          </a:p>
          <a:p>
            <a:pPr marL="372110" marR="336550">
              <a:lnSpc>
                <a:spcPct val="100000"/>
              </a:lnSpc>
              <a:spcBef>
                <a:spcPts val="1789"/>
              </a:spcBef>
            </a:pPr>
            <a:r>
              <a:rPr dirty="0" sz="2200">
                <a:latin typeface="Calibri"/>
                <a:cs typeface="Calibri"/>
              </a:rPr>
              <a:t>These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could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have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their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service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downtimes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total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migration </a:t>
            </a:r>
            <a:r>
              <a:rPr dirty="0" sz="2200">
                <a:latin typeface="Calibri"/>
                <a:cs typeface="Calibri"/>
              </a:rPr>
              <a:t>times</a:t>
            </a:r>
            <a:r>
              <a:rPr dirty="0" sz="2200" spc="4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affected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by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similar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re-transmission.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70392" y="1284730"/>
            <a:ext cx="3721607" cy="5573266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Live</a:t>
            </a:r>
            <a:r>
              <a:rPr dirty="0" spc="-3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VM</a:t>
            </a:r>
            <a:r>
              <a:rPr dirty="0" spc="-3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migrations</a:t>
            </a:r>
            <a:r>
              <a:rPr dirty="0" spc="-3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:</a:t>
            </a:r>
            <a:r>
              <a:rPr dirty="0" spc="-2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006FC0"/>
                </a:solidFill>
                <a:latin typeface="Arial"/>
                <a:cs typeface="Arial"/>
              </a:rPr>
              <a:t>Post-</a:t>
            </a:r>
            <a:r>
              <a:rPr dirty="0">
                <a:solidFill>
                  <a:srgbClr val="006FC0"/>
                </a:solidFill>
                <a:latin typeface="Arial"/>
                <a:cs typeface="Arial"/>
              </a:rPr>
              <a:t>Copy</a:t>
            </a:r>
            <a:r>
              <a:rPr dirty="0" spc="-1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6FC0"/>
                </a:solidFill>
                <a:latin typeface="Arial"/>
                <a:cs typeface="Arial"/>
              </a:rPr>
              <a:t>technique</a:t>
            </a:r>
            <a:r>
              <a:rPr dirty="0" spc="-3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6FC0"/>
                </a:solidFill>
                <a:latin typeface="Arial"/>
                <a:cs typeface="Arial"/>
              </a:rPr>
              <a:t>-</a:t>
            </a:r>
            <a:r>
              <a:rPr dirty="0" spc="-25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pc="-50">
                <a:solidFill>
                  <a:srgbClr val="006FC0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40842" y="1219351"/>
            <a:ext cx="10987405" cy="4296410"/>
          </a:xfrm>
          <a:prstGeom prst="rect">
            <a:avLst/>
          </a:prstGeom>
        </p:spPr>
        <p:txBody>
          <a:bodyPr wrap="square" lIns="0" tIns="1270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dirty="0" sz="2200" spc="-10" b="1">
                <a:solidFill>
                  <a:srgbClr val="006FC0"/>
                </a:solidFill>
                <a:latin typeface="Calibri"/>
                <a:cs typeface="Calibri"/>
              </a:rPr>
              <a:t>Disadvantages</a:t>
            </a:r>
            <a:endParaRPr sz="2200">
              <a:latin typeface="Calibri"/>
              <a:cs typeface="Calibri"/>
            </a:endParaRPr>
          </a:p>
          <a:p>
            <a:pPr marL="355600" marR="5080" indent="-342900">
              <a:lnSpc>
                <a:spcPct val="120000"/>
              </a:lnSpc>
              <a:spcBef>
                <a:spcPts val="370"/>
              </a:spcBef>
              <a:buClr>
                <a:srgbClr val="833B0A"/>
              </a:buClr>
              <a:buChar char="▪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There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challenge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reduce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overhead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Post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copy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migration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technique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occurs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due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to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generation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faults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different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time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intervals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during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execution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destination </a:t>
            </a:r>
            <a:r>
              <a:rPr dirty="0" sz="2200">
                <a:latin typeface="Calibri"/>
                <a:cs typeface="Calibri"/>
              </a:rPr>
              <a:t>host.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Each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time,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suspended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destination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host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waiting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re-</a:t>
            </a:r>
            <a:r>
              <a:rPr dirty="0" sz="2200" spc="-10">
                <a:latin typeface="Calibri"/>
                <a:cs typeface="Calibri"/>
              </a:rPr>
              <a:t>transmission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of </a:t>
            </a:r>
            <a:r>
              <a:rPr dirty="0" sz="2200">
                <a:latin typeface="Calibri"/>
                <a:cs typeface="Calibri"/>
              </a:rPr>
              <a:t>required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memory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from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source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host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continue.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130"/>
              </a:spcBef>
              <a:buClr>
                <a:srgbClr val="833B0A"/>
              </a:buClr>
              <a:buChar char="▪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There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need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minimize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amount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data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transfer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(memory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CPU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state)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over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25"/>
              </a:spcBef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network,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between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clusters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hosts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save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money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time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spent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network.</a:t>
            </a:r>
            <a:endParaRPr sz="2200">
              <a:latin typeface="Calibri"/>
              <a:cs typeface="Calibri"/>
            </a:endParaRPr>
          </a:p>
          <a:p>
            <a:pPr algn="just" marL="355600" marR="72390" indent="-342900">
              <a:lnSpc>
                <a:spcPct val="120000"/>
              </a:lnSpc>
              <a:spcBef>
                <a:spcPts val="605"/>
              </a:spcBef>
              <a:buClr>
                <a:srgbClr val="833B0A"/>
              </a:buClr>
              <a:buChar char="▪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repetition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fault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detection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main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drawback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post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copy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approach,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should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be </a:t>
            </a:r>
            <a:r>
              <a:rPr dirty="0" sz="2200">
                <a:latin typeface="Calibri"/>
                <a:cs typeface="Calibri"/>
              </a:rPr>
              <a:t>optimized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reduce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number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cycles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memory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re-transmission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from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source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host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will </a:t>
            </a:r>
            <a:r>
              <a:rPr dirty="0" sz="2200">
                <a:latin typeface="Calibri"/>
                <a:cs typeface="Calibri"/>
              </a:rPr>
              <a:t>increase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reliability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post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copy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migration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technique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Issues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to</a:t>
            </a:r>
            <a:r>
              <a:rPr dirty="0" spc="-2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be</a:t>
            </a:r>
            <a:r>
              <a:rPr dirty="0" spc="-2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handled</a:t>
            </a:r>
            <a:r>
              <a:rPr dirty="0" spc="-2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with</a:t>
            </a:r>
            <a:r>
              <a:rPr dirty="0" spc="-6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VM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migration</a:t>
            </a:r>
            <a:r>
              <a:rPr dirty="0" spc="-4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: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6FC0"/>
                </a:solidFill>
                <a:latin typeface="Arial"/>
                <a:cs typeface="Arial"/>
              </a:rPr>
              <a:t>Memory</a:t>
            </a:r>
            <a:r>
              <a:rPr dirty="0" spc="-15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006FC0"/>
                </a:solidFill>
                <a:latin typeface="Arial"/>
                <a:cs typeface="Arial"/>
              </a:rPr>
              <a:t>Migration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40842" y="1366924"/>
            <a:ext cx="11108055" cy="4744085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25"/>
              </a:spcBef>
              <a:buClr>
                <a:srgbClr val="833B0A"/>
              </a:buClr>
              <a:buChar char="▪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Memory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needs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migrated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range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hundreds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megabytes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few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25"/>
              </a:spcBef>
            </a:pPr>
            <a:r>
              <a:rPr dirty="0" sz="2200">
                <a:latin typeface="Calibri"/>
                <a:cs typeface="Calibri"/>
              </a:rPr>
              <a:t>gigabytes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typical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system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today,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needs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done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efficient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manner.</a:t>
            </a:r>
            <a:endParaRPr sz="2200">
              <a:latin typeface="Calibri"/>
              <a:cs typeface="Calibri"/>
            </a:endParaRPr>
          </a:p>
          <a:p>
            <a:pPr marL="355600" marR="5080" indent="-342900">
              <a:lnSpc>
                <a:spcPct val="120000"/>
              </a:lnSpc>
              <a:spcBef>
                <a:spcPts val="605"/>
              </a:spcBef>
              <a:buClr>
                <a:srgbClr val="833B0A"/>
              </a:buClr>
              <a:buChar char="▪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Internet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Suspend-</a:t>
            </a:r>
            <a:r>
              <a:rPr dirty="0" sz="2200">
                <a:latin typeface="Calibri"/>
                <a:cs typeface="Calibri"/>
              </a:rPr>
              <a:t>Resume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(ISR)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technique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1E4E79"/>
                </a:solidFill>
                <a:latin typeface="Calibri"/>
                <a:cs typeface="Calibri"/>
              </a:rPr>
              <a:t>exploits</a:t>
            </a:r>
            <a:r>
              <a:rPr dirty="0" sz="2200" spc="-50" b="1">
                <a:solidFill>
                  <a:srgbClr val="1E4E79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1E4E79"/>
                </a:solidFill>
                <a:latin typeface="Calibri"/>
                <a:cs typeface="Calibri"/>
              </a:rPr>
              <a:t>temporal</a:t>
            </a:r>
            <a:r>
              <a:rPr dirty="0" sz="2200" spc="-25" b="1">
                <a:solidFill>
                  <a:srgbClr val="1E4E79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1E4E79"/>
                </a:solidFill>
                <a:latin typeface="Calibri"/>
                <a:cs typeface="Calibri"/>
              </a:rPr>
              <a:t>locality</a:t>
            </a:r>
            <a:r>
              <a:rPr dirty="0" sz="2200" spc="-40" b="1">
                <a:solidFill>
                  <a:srgbClr val="1E4E79"/>
                </a:solidFill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memory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states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are </a:t>
            </a:r>
            <a:r>
              <a:rPr dirty="0" sz="2200">
                <a:latin typeface="Calibri"/>
                <a:cs typeface="Calibri"/>
              </a:rPr>
              <a:t>likely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have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considerable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overlap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suspended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resumed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instances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VM. </a:t>
            </a:r>
            <a:r>
              <a:rPr dirty="0" sz="2200">
                <a:latin typeface="Calibri"/>
                <a:cs typeface="Calibri"/>
              </a:rPr>
              <a:t>Temporal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locality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refers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fact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memory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states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differ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only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by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amount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work </a:t>
            </a:r>
            <a:r>
              <a:rPr dirty="0" sz="2200">
                <a:latin typeface="Calibri"/>
                <a:cs typeface="Calibri"/>
              </a:rPr>
              <a:t>done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since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was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last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suspended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before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being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initiated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migration.</a:t>
            </a:r>
            <a:endParaRPr sz="2200">
              <a:latin typeface="Calibri"/>
              <a:cs typeface="Calibri"/>
            </a:endParaRPr>
          </a:p>
          <a:p>
            <a:pPr marL="355600" marR="448309" indent="-342900">
              <a:lnSpc>
                <a:spcPct val="120000"/>
              </a:lnSpc>
              <a:spcBef>
                <a:spcPts val="600"/>
              </a:spcBef>
              <a:buClr>
                <a:srgbClr val="833B0A"/>
              </a:buClr>
              <a:buChar char="▪"/>
              <a:tabLst>
                <a:tab pos="355600" algn="l"/>
              </a:tabLst>
            </a:pPr>
            <a:r>
              <a:rPr dirty="0" sz="2200" spc="-10">
                <a:latin typeface="Calibri"/>
                <a:cs typeface="Calibri"/>
              </a:rPr>
              <a:t>Implementations </a:t>
            </a:r>
            <a:r>
              <a:rPr dirty="0" sz="2200">
                <a:latin typeface="Calibri"/>
                <a:cs typeface="Calibri"/>
              </a:rPr>
              <a:t>use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representation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tree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small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subfiles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exists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with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both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the </a:t>
            </a:r>
            <a:r>
              <a:rPr dirty="0" sz="2200">
                <a:latin typeface="Calibri"/>
                <a:cs typeface="Calibri"/>
              </a:rPr>
              <a:t>suspended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resumed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Instances.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caching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helps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send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only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those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have </a:t>
            </a:r>
            <a:r>
              <a:rPr dirty="0" sz="2200">
                <a:latin typeface="Calibri"/>
                <a:cs typeface="Calibri"/>
              </a:rPr>
              <a:t>changed,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but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downtime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may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high.</a:t>
            </a:r>
            <a:endParaRPr sz="2200">
              <a:latin typeface="Calibri"/>
              <a:cs typeface="Calibri"/>
            </a:endParaRPr>
          </a:p>
          <a:p>
            <a:pPr marL="12700" marR="422909">
              <a:lnSpc>
                <a:spcPct val="100499"/>
              </a:lnSpc>
              <a:spcBef>
                <a:spcPts val="2615"/>
              </a:spcBef>
            </a:pPr>
            <a:r>
              <a:rPr dirty="0" sz="2000">
                <a:latin typeface="Calibri"/>
                <a:cs typeface="Calibri"/>
              </a:rPr>
              <a:t>Refs: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u="sng" sz="20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https://www.brainkart.com/article/Migration-of-Memory,-Files,-and-Network-Resources_11346/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  <a:hlinkClick r:id="rId3"/>
              </a:rPr>
              <a:t>https://www.researchgate.net/publication/3958192_Internet_suspendresume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66471" y="132461"/>
            <a:ext cx="11544935" cy="5203190"/>
          </a:xfrm>
          <a:prstGeom prst="rect">
            <a:avLst/>
          </a:prstGeom>
        </p:spPr>
        <p:txBody>
          <a:bodyPr wrap="square" lIns="0" tIns="1181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CLOUD</a:t>
            </a:r>
            <a:r>
              <a:rPr dirty="0" sz="2400" spc="-1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395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48260">
              <a:lnSpc>
                <a:spcPct val="100000"/>
              </a:lnSpc>
              <a:spcBef>
                <a:spcPts val="830"/>
              </a:spcBef>
            </a:pP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Issues</a:t>
            </a:r>
            <a:r>
              <a:rPr dirty="0" sz="2400" spc="-2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to</a:t>
            </a:r>
            <a:r>
              <a:rPr dirty="0" sz="2400" spc="-2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be</a:t>
            </a:r>
            <a:r>
              <a:rPr dirty="0" sz="2400" spc="-3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handled</a:t>
            </a:r>
            <a:r>
              <a:rPr dirty="0" sz="2400" spc="-3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with</a:t>
            </a:r>
            <a:r>
              <a:rPr dirty="0" sz="2400" spc="-7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VM</a:t>
            </a:r>
            <a:r>
              <a:rPr dirty="0" sz="2400" spc="-2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migration</a:t>
            </a:r>
            <a:r>
              <a:rPr dirty="0" sz="2400" spc="-6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:</a:t>
            </a:r>
            <a:r>
              <a:rPr dirty="0" sz="2400" spc="-1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6FC0"/>
                </a:solidFill>
                <a:latin typeface="Arial"/>
                <a:cs typeface="Arial"/>
              </a:rPr>
              <a:t>File</a:t>
            </a:r>
            <a:r>
              <a:rPr dirty="0" sz="2400" spc="-40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6FC0"/>
                </a:solidFill>
                <a:latin typeface="Arial"/>
                <a:cs typeface="Arial"/>
              </a:rPr>
              <a:t>System</a:t>
            </a:r>
            <a:r>
              <a:rPr dirty="0" sz="2400" spc="20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6FC0"/>
                </a:solidFill>
                <a:latin typeface="Arial"/>
                <a:cs typeface="Arial"/>
              </a:rPr>
              <a:t>Migration</a:t>
            </a:r>
            <a:r>
              <a:rPr dirty="0" sz="2400" spc="-55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(Cont.)</a:t>
            </a:r>
            <a:endParaRPr sz="2400">
              <a:latin typeface="Arial"/>
              <a:cs typeface="Arial"/>
            </a:endParaRPr>
          </a:p>
          <a:p>
            <a:pPr marL="391160" marR="521970" indent="-342900">
              <a:lnSpc>
                <a:spcPct val="120000"/>
              </a:lnSpc>
              <a:spcBef>
                <a:spcPts val="2695"/>
              </a:spcBef>
              <a:buChar char="▪"/>
              <a:tabLst>
                <a:tab pos="391160" algn="l"/>
              </a:tabLst>
            </a:pP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support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VM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migration,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system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must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provide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each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VM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consistent,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location-</a:t>
            </a:r>
            <a:r>
              <a:rPr dirty="0" sz="2400">
                <a:latin typeface="Calibri"/>
                <a:cs typeface="Calibri"/>
              </a:rPr>
              <a:t>independent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view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system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available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all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hosts.</a:t>
            </a:r>
            <a:endParaRPr sz="2400">
              <a:latin typeface="Calibri"/>
              <a:cs typeface="Calibri"/>
            </a:endParaRPr>
          </a:p>
          <a:p>
            <a:pPr marL="391160" marR="36195" indent="-342900">
              <a:lnSpc>
                <a:spcPct val="120100"/>
              </a:lnSpc>
              <a:spcBef>
                <a:spcPts val="1495"/>
              </a:spcBef>
              <a:buChar char="▪"/>
              <a:tabLst>
                <a:tab pos="391160" algn="l"/>
              </a:tabLst>
            </a:pPr>
            <a:r>
              <a:rPr dirty="0" sz="2400">
                <a:latin typeface="Calibri"/>
                <a:cs typeface="Calibri"/>
              </a:rPr>
              <a:t>This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may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achieved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by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providing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each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VM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own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virtual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disk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which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system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mapped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transport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contents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this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virtual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disk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along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other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states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of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VM.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current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large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capacity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disks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may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make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feasible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send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over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network.</a:t>
            </a:r>
            <a:endParaRPr sz="2400">
              <a:latin typeface="Calibri"/>
              <a:cs typeface="Calibri"/>
            </a:endParaRPr>
          </a:p>
          <a:p>
            <a:pPr marL="48260" marR="5080">
              <a:lnSpc>
                <a:spcPct val="120000"/>
              </a:lnSpc>
              <a:spcBef>
                <a:spcPts val="1500"/>
              </a:spcBef>
            </a:pPr>
            <a:r>
              <a:rPr dirty="0" sz="2400">
                <a:latin typeface="Calibri"/>
                <a:cs typeface="Calibri"/>
              </a:rPr>
              <a:t>Another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way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have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global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system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across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all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machines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where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VM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could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located. </a:t>
            </a:r>
            <a:r>
              <a:rPr dirty="0" sz="2400">
                <a:latin typeface="Calibri"/>
                <a:cs typeface="Calibri"/>
              </a:rPr>
              <a:t>This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way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removes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need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copy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from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machine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another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because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all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are </a:t>
            </a:r>
            <a:r>
              <a:rPr dirty="0" sz="2400">
                <a:latin typeface="Calibri"/>
                <a:cs typeface="Calibri"/>
              </a:rPr>
              <a:t>network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accessible.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14629" y="194246"/>
            <a:ext cx="11572875" cy="5559425"/>
          </a:xfrm>
          <a:prstGeom prst="rect">
            <a:avLst/>
          </a:prstGeom>
        </p:spPr>
        <p:txBody>
          <a:bodyPr wrap="square" lIns="0" tIns="869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CLOUD</a:t>
            </a:r>
            <a:r>
              <a:rPr dirty="0" sz="2400" spc="-3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395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28575">
              <a:lnSpc>
                <a:spcPct val="100000"/>
              </a:lnSpc>
              <a:spcBef>
                <a:spcPts val="580"/>
              </a:spcBef>
            </a:pP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Issues</a:t>
            </a:r>
            <a:r>
              <a:rPr dirty="0" sz="2400" spc="-2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to</a:t>
            </a:r>
            <a:r>
              <a:rPr dirty="0" sz="2400" spc="-1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be</a:t>
            </a:r>
            <a:r>
              <a:rPr dirty="0" sz="2400" spc="-2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handled</a:t>
            </a:r>
            <a:r>
              <a:rPr dirty="0" sz="2400" spc="-2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with</a:t>
            </a:r>
            <a:r>
              <a:rPr dirty="0" sz="2400" spc="-6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VM</a:t>
            </a:r>
            <a:r>
              <a:rPr dirty="0" sz="2400" spc="-1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migration</a:t>
            </a:r>
            <a:r>
              <a:rPr dirty="0" sz="2400" spc="-5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:</a:t>
            </a: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6FC0"/>
                </a:solidFill>
                <a:latin typeface="Arial"/>
                <a:cs typeface="Arial"/>
              </a:rPr>
              <a:t>Network</a:t>
            </a:r>
            <a:r>
              <a:rPr dirty="0" sz="2400" spc="-40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6FC0"/>
                </a:solidFill>
                <a:latin typeface="Arial"/>
                <a:cs typeface="Arial"/>
              </a:rPr>
              <a:t>Migration</a:t>
            </a:r>
            <a:r>
              <a:rPr dirty="0" sz="2400" spc="-45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(Cont.)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Calibri"/>
                <a:cs typeface="Calibri"/>
              </a:rPr>
              <a:t>Migrating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VM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should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maintain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all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open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network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connections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without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relying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forwarding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2400">
                <a:latin typeface="Calibri"/>
                <a:cs typeface="Calibri"/>
              </a:rPr>
              <a:t>mechanisms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original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host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support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from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mobility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redirection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mechanisms.</a:t>
            </a:r>
            <a:endParaRPr sz="2400">
              <a:latin typeface="Calibri"/>
              <a:cs typeface="Calibri"/>
            </a:endParaRPr>
          </a:p>
          <a:p>
            <a:pPr marL="355600" marR="44450" indent="-342900">
              <a:lnSpc>
                <a:spcPct val="120000"/>
              </a:lnSpc>
              <a:spcBef>
                <a:spcPts val="600"/>
              </a:spcBef>
              <a:buClr>
                <a:srgbClr val="833B0A"/>
              </a:buClr>
              <a:buChar char="▪"/>
              <a:tabLst>
                <a:tab pos="355600" algn="l"/>
              </a:tabLst>
            </a:pP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enable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remote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systems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locate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communicate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VM,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each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VM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must</a:t>
            </a:r>
            <a:r>
              <a:rPr dirty="0" sz="2400" spc="-25">
                <a:latin typeface="Calibri"/>
                <a:cs typeface="Calibri"/>
              </a:rPr>
              <a:t> be </a:t>
            </a:r>
            <a:r>
              <a:rPr dirty="0" sz="2400">
                <a:latin typeface="Calibri"/>
                <a:cs typeface="Calibri"/>
              </a:rPr>
              <a:t>assigned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virtual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IP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address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known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other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entities.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This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address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distinct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from</a:t>
            </a:r>
            <a:r>
              <a:rPr dirty="0" sz="2400" spc="-25">
                <a:latin typeface="Calibri"/>
                <a:cs typeface="Calibri"/>
              </a:rPr>
              <a:t> the </a:t>
            </a:r>
            <a:r>
              <a:rPr dirty="0" sz="2400">
                <a:latin typeface="Calibri"/>
                <a:cs typeface="Calibri"/>
              </a:rPr>
              <a:t>IP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address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host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machine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where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VM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currently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located.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175"/>
              </a:spcBef>
              <a:buClr>
                <a:srgbClr val="833B0A"/>
              </a:buClr>
              <a:buChar char="▪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Each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VM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also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have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own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distinct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virtual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MAC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address.</a:t>
            </a:r>
            <a:endParaRPr sz="2400">
              <a:latin typeface="Calibri"/>
              <a:cs typeface="Calibri"/>
            </a:endParaRPr>
          </a:p>
          <a:p>
            <a:pPr marL="355600" marR="5080" indent="-342900">
              <a:lnSpc>
                <a:spcPct val="120000"/>
              </a:lnSpc>
              <a:spcBef>
                <a:spcPts val="600"/>
              </a:spcBef>
              <a:buClr>
                <a:srgbClr val="833B0A"/>
              </a:buClr>
              <a:buChar char="▪"/>
              <a:tabLst>
                <a:tab pos="355600" algn="l"/>
              </a:tabLst>
            </a:pP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VMM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maintains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mapping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virtual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IP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MAC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addresses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their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corresponding </a:t>
            </a:r>
            <a:r>
              <a:rPr dirty="0" sz="2400" spc="-20">
                <a:latin typeface="Calibri"/>
                <a:cs typeface="Calibri"/>
              </a:rPr>
              <a:t>VMs.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180"/>
              </a:spcBef>
              <a:buClr>
                <a:srgbClr val="833B0A"/>
              </a:buClr>
              <a:buChar char="▪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general,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migrating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VM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includes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all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protocol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states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carries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IP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address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it.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200025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168910">
              <a:lnSpc>
                <a:spcPct val="100000"/>
              </a:lnSpc>
              <a:spcBef>
                <a:spcPts val="355"/>
              </a:spcBef>
            </a:pP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Example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:</a:t>
            </a:r>
            <a:r>
              <a:rPr dirty="0" spc="-7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Live</a:t>
            </a:r>
            <a:r>
              <a:rPr dirty="0" sz="2200" spc="-4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migration</a:t>
            </a:r>
            <a:r>
              <a:rPr dirty="0" sz="2200" spc="-5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of</a:t>
            </a:r>
            <a:r>
              <a:rPr dirty="0" sz="2200" spc="-5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VM</a:t>
            </a:r>
            <a:r>
              <a:rPr dirty="0" sz="2200" spc="-6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between</a:t>
            </a:r>
            <a:r>
              <a:rPr dirty="0" sz="2200" spc="-5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two</a:t>
            </a:r>
            <a:r>
              <a:rPr dirty="0" sz="2200" spc="-6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C55A11"/>
                </a:solidFill>
                <a:latin typeface="Arial"/>
                <a:cs typeface="Arial"/>
              </a:rPr>
              <a:t>Xen-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enabled</a:t>
            </a:r>
            <a:r>
              <a:rPr dirty="0" sz="2200" spc="-4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C55A11"/>
                </a:solidFill>
                <a:latin typeface="Arial"/>
                <a:cs typeface="Arial"/>
              </a:rPr>
              <a:t>hosts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2456" y="2036814"/>
            <a:ext cx="8539300" cy="295239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2700" marR="5080">
              <a:lnSpc>
                <a:spcPct val="100499"/>
              </a:lnSpc>
              <a:spcBef>
                <a:spcPts val="80"/>
              </a:spcBef>
            </a:pPr>
            <a:r>
              <a:rPr dirty="0">
                <a:solidFill>
                  <a:srgbClr val="000000"/>
                </a:solidFill>
              </a:rPr>
              <a:t>Domain</a:t>
            </a:r>
            <a:r>
              <a:rPr dirty="0" spc="-6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0</a:t>
            </a:r>
            <a:r>
              <a:rPr dirty="0" spc="-5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(or</a:t>
            </a:r>
            <a:r>
              <a:rPr dirty="0" spc="-5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Dom0)</a:t>
            </a:r>
            <a:r>
              <a:rPr dirty="0" spc="-6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performs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tasks</a:t>
            </a:r>
            <a:r>
              <a:rPr dirty="0" spc="-5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to</a:t>
            </a:r>
            <a:r>
              <a:rPr dirty="0" spc="-5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create,</a:t>
            </a:r>
            <a:r>
              <a:rPr dirty="0" spc="-4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terminate,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or</a:t>
            </a:r>
            <a:r>
              <a:rPr dirty="0" spc="-6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migrate</a:t>
            </a:r>
            <a:r>
              <a:rPr dirty="0" spc="-40">
                <a:solidFill>
                  <a:srgbClr val="000000"/>
                </a:solidFill>
              </a:rPr>
              <a:t> </a:t>
            </a:r>
            <a:r>
              <a:rPr dirty="0" spc="-25">
                <a:solidFill>
                  <a:srgbClr val="000000"/>
                </a:solidFill>
              </a:rPr>
              <a:t>to </a:t>
            </a:r>
            <a:r>
              <a:rPr dirty="0">
                <a:solidFill>
                  <a:srgbClr val="000000"/>
                </a:solidFill>
              </a:rPr>
              <a:t>another</a:t>
            </a:r>
            <a:r>
              <a:rPr dirty="0" spc="-6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host.</a:t>
            </a:r>
            <a:r>
              <a:rPr dirty="0" spc="-5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Xen</a:t>
            </a:r>
            <a:r>
              <a:rPr dirty="0" spc="-5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uses</a:t>
            </a:r>
            <a:r>
              <a:rPr dirty="0" spc="-4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</a:t>
            </a:r>
            <a:r>
              <a:rPr dirty="0" spc="-5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send/recv</a:t>
            </a:r>
            <a:r>
              <a:rPr dirty="0" spc="-5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model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to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transfer</a:t>
            </a:r>
            <a:r>
              <a:rPr dirty="0" spc="-5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states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across</a:t>
            </a:r>
            <a:r>
              <a:rPr dirty="0" spc="-55">
                <a:solidFill>
                  <a:srgbClr val="000000"/>
                </a:solidFill>
              </a:rPr>
              <a:t> </a:t>
            </a:r>
            <a:r>
              <a:rPr dirty="0" spc="-20">
                <a:solidFill>
                  <a:srgbClr val="000000"/>
                </a:solidFill>
              </a:rPr>
              <a:t>VMs.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484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350"/>
              </a:spcBef>
            </a:pP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Live</a:t>
            </a:r>
            <a:r>
              <a:rPr dirty="0" sz="2200" spc="-4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migration</a:t>
            </a:r>
            <a:r>
              <a:rPr dirty="0" sz="220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of</a:t>
            </a:r>
            <a:r>
              <a:rPr dirty="0" sz="2200" spc="-4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VM</a:t>
            </a:r>
            <a:r>
              <a:rPr dirty="0" sz="2200" spc="-5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between</a:t>
            </a:r>
            <a:r>
              <a:rPr dirty="0" sz="220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two</a:t>
            </a:r>
            <a:r>
              <a:rPr dirty="0" sz="2200" spc="-6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spc="-20">
                <a:solidFill>
                  <a:srgbClr val="C55A11"/>
                </a:solidFill>
                <a:latin typeface="Arial"/>
                <a:cs typeface="Arial"/>
              </a:rPr>
              <a:t>Xen-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enabled</a:t>
            </a:r>
            <a:r>
              <a:rPr dirty="0" sz="2200" spc="-2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hosts</a:t>
            </a:r>
            <a:r>
              <a:rPr dirty="0" sz="2200" spc="-3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C55A11"/>
                </a:solidFill>
                <a:latin typeface="Arial"/>
                <a:cs typeface="Arial"/>
              </a:rPr>
              <a:t>explained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82625" y="1249451"/>
            <a:ext cx="11300460" cy="4986020"/>
          </a:xfrm>
          <a:prstGeom prst="rect">
            <a:avLst/>
          </a:prstGeom>
        </p:spPr>
        <p:txBody>
          <a:bodyPr wrap="square" lIns="0" tIns="15557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225"/>
              </a:spcBef>
              <a:buClr>
                <a:srgbClr val="833B0A"/>
              </a:buClr>
              <a:buChar char="▪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Migration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daemons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running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management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responsible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performing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migration.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130"/>
              </a:spcBef>
              <a:buClr>
                <a:srgbClr val="833B0A"/>
              </a:buClr>
              <a:buChar char="▪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Characteristic</a:t>
            </a:r>
            <a:r>
              <a:rPr dirty="0" sz="2200" spc="-9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Based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Compression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</a:t>
            </a:r>
            <a:r>
              <a:rPr dirty="0" sz="2200" b="1">
                <a:latin typeface="Calibri"/>
                <a:cs typeface="Calibri"/>
              </a:rPr>
              <a:t>CBC</a:t>
            </a:r>
            <a:r>
              <a:rPr dirty="0" sz="2200">
                <a:latin typeface="Calibri"/>
                <a:cs typeface="Calibri"/>
              </a:rPr>
              <a:t>)</a:t>
            </a:r>
            <a:r>
              <a:rPr dirty="0" sz="2200" spc="-8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algorithm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compresses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memory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pages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adaptively.</a:t>
            </a:r>
            <a:endParaRPr sz="2200">
              <a:latin typeface="Calibri"/>
              <a:cs typeface="Calibri"/>
            </a:endParaRPr>
          </a:p>
          <a:p>
            <a:pPr lvl="1" marL="733425" marR="55244" indent="-361315">
              <a:lnSpc>
                <a:spcPct val="120000"/>
              </a:lnSpc>
              <a:spcBef>
                <a:spcPts val="605"/>
              </a:spcBef>
              <a:buClr>
                <a:srgbClr val="833B0A"/>
              </a:buClr>
              <a:buFont typeface="Arial"/>
              <a:buChar char="•"/>
              <a:tabLst>
                <a:tab pos="733425" algn="l"/>
              </a:tabLst>
            </a:pPr>
            <a:r>
              <a:rPr dirty="0" sz="2200" b="1">
                <a:latin typeface="Calibri"/>
                <a:cs typeface="Calibri"/>
              </a:rPr>
              <a:t>Adaptive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compression</a:t>
            </a:r>
            <a:r>
              <a:rPr dirty="0" sz="2200" spc="-30" b="1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type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data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compression</a:t>
            </a:r>
            <a:r>
              <a:rPr dirty="0" sz="2200" spc="-45" b="1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changes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compression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algorithms </a:t>
            </a:r>
            <a:r>
              <a:rPr dirty="0" sz="2200">
                <a:latin typeface="Calibri"/>
                <a:cs typeface="Calibri"/>
              </a:rPr>
              <a:t>based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type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data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being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compressed.</a:t>
            </a:r>
            <a:endParaRPr sz="2200">
              <a:latin typeface="Calibri"/>
              <a:cs typeface="Calibri"/>
            </a:endParaRPr>
          </a:p>
          <a:p>
            <a:pPr marL="419100" indent="-406400">
              <a:lnSpc>
                <a:spcPct val="100000"/>
              </a:lnSpc>
              <a:spcBef>
                <a:spcPts val="1125"/>
              </a:spcBef>
              <a:buClr>
                <a:srgbClr val="833B0A"/>
              </a:buClr>
              <a:buChar char="▪"/>
              <a:tabLst>
                <a:tab pos="419100" algn="l"/>
              </a:tabLst>
            </a:pPr>
            <a:r>
              <a:rPr dirty="0" sz="2200">
                <a:latin typeface="Calibri"/>
                <a:cs typeface="Calibri"/>
              </a:rPr>
              <a:t>Shadow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tables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VMM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layer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trace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modifications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memory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migrated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VMs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30"/>
              </a:spcBef>
            </a:pPr>
            <a:r>
              <a:rPr dirty="0" sz="2200">
                <a:latin typeface="Calibri"/>
                <a:cs typeface="Calibri"/>
              </a:rPr>
              <a:t>during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precopy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phase.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Corresponding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flags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dirty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bitmap</a:t>
            </a:r>
            <a:endParaRPr sz="2200">
              <a:latin typeface="Calibri"/>
              <a:cs typeface="Calibri"/>
            </a:endParaRPr>
          </a:p>
          <a:p>
            <a:pPr marL="355600" marR="270510" indent="-342900">
              <a:lnSpc>
                <a:spcPct val="120000"/>
              </a:lnSpc>
              <a:spcBef>
                <a:spcPts val="600"/>
              </a:spcBef>
              <a:buClr>
                <a:srgbClr val="833B0A"/>
              </a:buClr>
              <a:buChar char="▪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At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start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each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precopy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round,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bitmap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sent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migration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daemon.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Then,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the </a:t>
            </a:r>
            <a:r>
              <a:rPr dirty="0" sz="2200">
                <a:latin typeface="Calibri"/>
                <a:cs typeface="Calibri"/>
              </a:rPr>
              <a:t>bitmap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cleared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shadow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tables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destroyed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re-</a:t>
            </a:r>
            <a:r>
              <a:rPr dirty="0" sz="2200">
                <a:latin typeface="Calibri"/>
                <a:cs typeface="Calibri"/>
              </a:rPr>
              <a:t>created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next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round.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130"/>
              </a:spcBef>
              <a:buClr>
                <a:srgbClr val="833B0A"/>
              </a:buClr>
              <a:buChar char="▪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system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resides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Xen’s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management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VM.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Memory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pages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denoted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by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bitmap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extracted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25"/>
              </a:spcBef>
            </a:pP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compressed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before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they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sent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destination.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135"/>
              </a:spcBef>
              <a:buClr>
                <a:srgbClr val="833B0A"/>
              </a:buClr>
              <a:buChar char="▪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compressed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data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then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decompressed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target.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484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350"/>
              </a:spcBef>
            </a:pPr>
            <a:r>
              <a:rPr dirty="0" sz="2200">
                <a:solidFill>
                  <a:srgbClr val="C55A11"/>
                </a:solidFill>
                <a:latin typeface="Arial"/>
                <a:cs typeface="Arial"/>
              </a:rPr>
              <a:t>Additional</a:t>
            </a:r>
            <a:r>
              <a:rPr dirty="0" sz="2200" spc="-7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C55A11"/>
                </a:solidFill>
                <a:latin typeface="Arial"/>
                <a:cs typeface="Arial"/>
              </a:rPr>
              <a:t>Reading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40842" y="1738629"/>
            <a:ext cx="6805930" cy="23729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22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https://www.cse.iitb.ac.in/~cs695/papers/livemigration.pdf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2200">
              <a:latin typeface="Calibri"/>
              <a:cs typeface="Calibri"/>
            </a:endParaRPr>
          </a:p>
          <a:p>
            <a:pPr marL="12700" marR="1076960">
              <a:lnSpc>
                <a:spcPts val="2630"/>
              </a:lnSpc>
            </a:pPr>
            <a:r>
              <a:rPr dirty="0" sz="2200">
                <a:latin typeface="Calibri"/>
                <a:cs typeface="Calibri"/>
              </a:rPr>
              <a:t>How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migrate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premise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AWS </a:t>
            </a:r>
            <a:r>
              <a:rPr dirty="0" u="sng" sz="22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3"/>
              </a:rPr>
              <a:t>https://www.youtube.com/watch?v=GTHxL8U0PiI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ts val="2635"/>
              </a:lnSpc>
              <a:spcBef>
                <a:spcPts val="2565"/>
              </a:spcBef>
            </a:pPr>
            <a:r>
              <a:rPr dirty="0" sz="2200">
                <a:latin typeface="Calibri"/>
                <a:cs typeface="Calibri"/>
              </a:rPr>
              <a:t>How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migrate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your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VM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AWS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ts val="2635"/>
              </a:lnSpc>
            </a:pPr>
            <a:r>
              <a:rPr dirty="0" u="sng" sz="22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4"/>
              </a:rPr>
              <a:t>https://www.youtube.com/watch?v=_SpRpC2Ez9c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765536" y="348995"/>
            <a:ext cx="1066800" cy="1079500"/>
          </a:xfrm>
          <a:custGeom>
            <a:avLst/>
            <a:gdLst/>
            <a:ahLst/>
            <a:cxnLst/>
            <a:rect l="l" t="t" r="r" b="b"/>
            <a:pathLst>
              <a:path w="1066800" h="1079500">
                <a:moveTo>
                  <a:pt x="1066800" y="0"/>
                </a:moveTo>
                <a:lnTo>
                  <a:pt x="0" y="0"/>
                </a:lnTo>
                <a:lnTo>
                  <a:pt x="0" y="45720"/>
                </a:lnTo>
                <a:lnTo>
                  <a:pt x="1021080" y="45720"/>
                </a:lnTo>
                <a:lnTo>
                  <a:pt x="1021080" y="1078992"/>
                </a:lnTo>
                <a:lnTo>
                  <a:pt x="1066800" y="1078992"/>
                </a:lnTo>
                <a:lnTo>
                  <a:pt x="1066800" y="45720"/>
                </a:lnTo>
                <a:lnTo>
                  <a:pt x="1066800" y="12192"/>
                </a:lnTo>
                <a:lnTo>
                  <a:pt x="1066800" y="0"/>
                </a:lnTo>
                <a:close/>
              </a:path>
            </a:pathLst>
          </a:custGeom>
          <a:solidFill>
            <a:srgbClr val="F4AF8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A logo for a university  Description automatically generated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0572" y="1171955"/>
            <a:ext cx="2461602" cy="3997452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367276" y="2089784"/>
            <a:ext cx="274256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C55A11"/>
                </a:solidFill>
                <a:latin typeface="Arial"/>
                <a:cs typeface="Arial"/>
              </a:rPr>
              <a:t>THANK</a:t>
            </a:r>
            <a:r>
              <a:rPr dirty="0" sz="3600" spc="-14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3600" spc="-25">
                <a:solidFill>
                  <a:srgbClr val="C55A11"/>
                </a:solidFill>
                <a:latin typeface="Arial"/>
                <a:cs typeface="Arial"/>
              </a:rPr>
              <a:t>YOU</a:t>
            </a:r>
            <a:endParaRPr sz="3600">
              <a:latin typeface="Arial"/>
              <a:cs typeface="Arial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4289297" y="2888742"/>
            <a:ext cx="4581525" cy="0"/>
          </a:xfrm>
          <a:custGeom>
            <a:avLst/>
            <a:gdLst/>
            <a:ahLst/>
            <a:cxnLst/>
            <a:rect l="l" t="t" r="r" b="b"/>
            <a:pathLst>
              <a:path w="4581525" h="0">
                <a:moveTo>
                  <a:pt x="0" y="0"/>
                </a:moveTo>
                <a:lnTo>
                  <a:pt x="4581398" y="0"/>
                </a:lnTo>
              </a:path>
            </a:pathLst>
          </a:custGeom>
          <a:ln w="38100">
            <a:solidFill>
              <a:srgbClr val="DFA1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367276" y="3221032"/>
            <a:ext cx="5217160" cy="123444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2400" b="1">
                <a:latin typeface="Calibri"/>
                <a:cs typeface="Calibri"/>
              </a:rPr>
              <a:t>Prafullata</a:t>
            </a:r>
            <a:r>
              <a:rPr dirty="0" sz="2400" spc="-3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Kiran</a:t>
            </a:r>
            <a:r>
              <a:rPr dirty="0" sz="2400" spc="-2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Auradkar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2000">
                <a:latin typeface="Calibri"/>
                <a:cs typeface="Calibri"/>
              </a:rPr>
              <a:t>Department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Computer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Science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Engineering</a:t>
            </a:r>
            <a:endParaRPr sz="2000">
              <a:latin typeface="Calibri"/>
              <a:cs typeface="Calibri"/>
            </a:endParaRPr>
          </a:p>
          <a:p>
            <a:pPr marL="24765">
              <a:lnSpc>
                <a:spcPct val="100000"/>
              </a:lnSpc>
              <a:spcBef>
                <a:spcPts val="745"/>
              </a:spcBef>
            </a:pPr>
            <a:r>
              <a:rPr dirty="0" sz="2400" spc="-10" b="1">
                <a:latin typeface="Calibri"/>
                <a:cs typeface="Calibri"/>
                <a:hlinkClick r:id="rId2"/>
              </a:rPr>
              <a:t>prafullatak@pes.edu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3944" y="5489447"/>
            <a:ext cx="1066800" cy="1079500"/>
          </a:xfrm>
          <a:custGeom>
            <a:avLst/>
            <a:gdLst/>
            <a:ahLst/>
            <a:cxnLst/>
            <a:rect l="l" t="t" r="r" b="b"/>
            <a:pathLst>
              <a:path w="1066800" h="1079500">
                <a:moveTo>
                  <a:pt x="1066800" y="1033272"/>
                </a:moveTo>
                <a:lnTo>
                  <a:pt x="45720" y="1033272"/>
                </a:lnTo>
                <a:lnTo>
                  <a:pt x="45720" y="0"/>
                </a:lnTo>
                <a:lnTo>
                  <a:pt x="0" y="0"/>
                </a:lnTo>
                <a:lnTo>
                  <a:pt x="0" y="1033272"/>
                </a:lnTo>
                <a:lnTo>
                  <a:pt x="0" y="1066800"/>
                </a:lnTo>
                <a:lnTo>
                  <a:pt x="0" y="1078992"/>
                </a:lnTo>
                <a:lnTo>
                  <a:pt x="1066800" y="1078992"/>
                </a:lnTo>
                <a:lnTo>
                  <a:pt x="1066800" y="1033272"/>
                </a:lnTo>
                <a:close/>
              </a:path>
            </a:pathLst>
          </a:custGeom>
          <a:solidFill>
            <a:srgbClr val="F4AF81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10855706" y="266077"/>
            <a:ext cx="1067435" cy="1078230"/>
          </a:xfrm>
          <a:custGeom>
            <a:avLst/>
            <a:gdLst/>
            <a:ahLst/>
            <a:cxnLst/>
            <a:rect l="l" t="t" r="r" b="b"/>
            <a:pathLst>
              <a:path w="1067434" h="1078230">
                <a:moveTo>
                  <a:pt x="1066914" y="11201"/>
                </a:moveTo>
                <a:lnTo>
                  <a:pt x="1066888" y="0"/>
                </a:lnTo>
                <a:lnTo>
                  <a:pt x="0" y="0"/>
                </a:lnTo>
                <a:lnTo>
                  <a:pt x="0" y="45707"/>
                </a:lnTo>
                <a:lnTo>
                  <a:pt x="1021207" y="45707"/>
                </a:lnTo>
                <a:lnTo>
                  <a:pt x="1021207" y="1078090"/>
                </a:lnTo>
                <a:lnTo>
                  <a:pt x="1066914" y="1078090"/>
                </a:lnTo>
                <a:lnTo>
                  <a:pt x="1066914" y="11201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A logo for a university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0853" y="1125982"/>
            <a:ext cx="2239539" cy="3636645"/>
          </a:xfrm>
          <a:prstGeom prst="rect">
            <a:avLst/>
          </a:prstGeom>
        </p:spPr>
      </p:pic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74184" y="1316863"/>
            <a:ext cx="3894454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C55A11"/>
                </a:solidFill>
              </a:rPr>
              <a:t>CLOUD</a:t>
            </a:r>
            <a:r>
              <a:rPr dirty="0" sz="3600" spc="-130">
                <a:solidFill>
                  <a:srgbClr val="C55A11"/>
                </a:solidFill>
              </a:rPr>
              <a:t> </a:t>
            </a:r>
            <a:r>
              <a:rPr dirty="0" sz="3600" spc="-10">
                <a:solidFill>
                  <a:srgbClr val="C55A11"/>
                </a:solidFill>
              </a:rPr>
              <a:t>COMPUTING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3169666" y="2390013"/>
            <a:ext cx="8382000" cy="1125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61531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Lightweight</a:t>
            </a:r>
            <a:r>
              <a:rPr dirty="0" sz="2400" spc="-9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virtualization</a:t>
            </a:r>
            <a:r>
              <a:rPr dirty="0" sz="2400" spc="-9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–</a:t>
            </a:r>
            <a:r>
              <a:rPr dirty="0" sz="2400" spc="-9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Containers,</a:t>
            </a:r>
            <a:r>
              <a:rPr dirty="0" sz="2400" spc="-80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namespaces,</a:t>
            </a:r>
            <a:r>
              <a:rPr dirty="0" sz="2400" spc="-90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395"/>
                </a:solidFill>
                <a:latin typeface="Calibri"/>
                <a:cs typeface="Calibri"/>
              </a:rPr>
              <a:t>cgroups</a:t>
            </a:r>
            <a:endParaRPr sz="2400">
              <a:latin typeface="Calibri"/>
              <a:cs typeface="Calibri"/>
            </a:endParaRPr>
          </a:p>
          <a:p>
            <a:pPr algn="ctr" marR="1716405">
              <a:lnSpc>
                <a:spcPct val="100000"/>
              </a:lnSpc>
              <a:spcBef>
                <a:spcPts val="25"/>
              </a:spcBef>
            </a:pPr>
            <a:r>
              <a:rPr dirty="0" sz="2400" spc="-50" b="1">
                <a:solidFill>
                  <a:srgbClr val="2E5395"/>
                </a:solidFill>
                <a:latin typeface="Calibri"/>
                <a:cs typeface="Calibri"/>
              </a:rPr>
              <a:t>&amp;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Deployment</a:t>
            </a:r>
            <a:r>
              <a:rPr dirty="0" sz="2400" spc="-40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of</a:t>
            </a:r>
            <a:r>
              <a:rPr dirty="0" sz="2400" spc="-40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cloud</a:t>
            </a:r>
            <a:r>
              <a:rPr dirty="0" sz="2400" spc="-50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native</a:t>
            </a:r>
            <a:r>
              <a:rPr dirty="0" sz="2400" spc="-20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applications</a:t>
            </a:r>
            <a:r>
              <a:rPr dirty="0" sz="2400" spc="-2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through</a:t>
            </a:r>
            <a:r>
              <a:rPr dirty="0" sz="2400" spc="-2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Docker,</a:t>
            </a:r>
            <a:r>
              <a:rPr dirty="0" sz="2400" spc="-50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395"/>
                </a:solidFill>
                <a:latin typeface="Calibri"/>
                <a:cs typeface="Calibri"/>
              </a:rPr>
              <a:t>UnionFS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81930" y="4112386"/>
            <a:ext cx="4581525" cy="0"/>
          </a:xfrm>
          <a:custGeom>
            <a:avLst/>
            <a:gdLst/>
            <a:ahLst/>
            <a:cxnLst/>
            <a:rect l="l" t="t" r="r" b="b"/>
            <a:pathLst>
              <a:path w="4581525" h="0">
                <a:moveTo>
                  <a:pt x="0" y="0"/>
                </a:moveTo>
                <a:lnTo>
                  <a:pt x="4581398" y="0"/>
                </a:lnTo>
              </a:path>
            </a:pathLst>
          </a:custGeom>
          <a:ln w="38100">
            <a:solidFill>
              <a:srgbClr val="C55A1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65521" y="4426711"/>
            <a:ext cx="5217160" cy="873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Arial"/>
                <a:cs typeface="Arial"/>
              </a:rPr>
              <a:t>Dr.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Prafullata</a:t>
            </a:r>
            <a:r>
              <a:rPr dirty="0" sz="2000" spc="-4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Kiran</a:t>
            </a:r>
            <a:r>
              <a:rPr dirty="0" sz="2000" spc="-1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Auradkar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dirty="0" sz="2000">
                <a:latin typeface="Calibri"/>
                <a:cs typeface="Calibri"/>
              </a:rPr>
              <a:t>Department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Computer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Science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Engineering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3842" y="5489702"/>
            <a:ext cx="1067435" cy="1078230"/>
          </a:xfrm>
          <a:custGeom>
            <a:avLst/>
            <a:gdLst/>
            <a:ahLst/>
            <a:cxnLst/>
            <a:rect l="l" t="t" r="r" b="b"/>
            <a:pathLst>
              <a:path w="1067435" h="1078229">
                <a:moveTo>
                  <a:pt x="1066888" y="1032446"/>
                </a:moveTo>
                <a:lnTo>
                  <a:pt x="45707" y="1032446"/>
                </a:lnTo>
                <a:lnTo>
                  <a:pt x="45707" y="0"/>
                </a:lnTo>
                <a:lnTo>
                  <a:pt x="0" y="0"/>
                </a:lnTo>
                <a:lnTo>
                  <a:pt x="0" y="1032446"/>
                </a:lnTo>
                <a:lnTo>
                  <a:pt x="0" y="1066888"/>
                </a:lnTo>
                <a:lnTo>
                  <a:pt x="0" y="1078153"/>
                </a:lnTo>
                <a:lnTo>
                  <a:pt x="1066888" y="1078153"/>
                </a:lnTo>
                <a:lnTo>
                  <a:pt x="1066888" y="1032446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38404" y="5442610"/>
            <a:ext cx="11408410" cy="100139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Arial"/>
                <a:cs typeface="Arial"/>
              </a:rPr>
              <a:t>Acknowledgements:</a:t>
            </a:r>
            <a:endParaRPr sz="1600">
              <a:latin typeface="Arial"/>
              <a:cs typeface="Arial"/>
            </a:endParaRPr>
          </a:p>
          <a:p>
            <a:pPr algn="just" marL="12700" marR="508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latin typeface="Arial"/>
                <a:cs typeface="Arial"/>
              </a:rPr>
              <a:t>Significant</a:t>
            </a:r>
            <a:r>
              <a:rPr dirty="0" sz="1200" spc="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information</a:t>
            </a:r>
            <a:r>
              <a:rPr dirty="0" sz="1200" spc="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</a:t>
            </a:r>
            <a:r>
              <a:rPr dirty="0" sz="1200" spc="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slide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deck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presented</a:t>
            </a:r>
            <a:r>
              <a:rPr dirty="0" sz="1200" spc="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through</a:t>
            </a:r>
            <a:r>
              <a:rPr dirty="0" sz="1200" spc="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Unit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2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of</a:t>
            </a:r>
            <a:r>
              <a:rPr dirty="0" sz="1200" spc="9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course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have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been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created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by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Dr.</a:t>
            </a:r>
            <a:r>
              <a:rPr dirty="0" sz="1200" spc="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H.L.</a:t>
            </a:r>
            <a:r>
              <a:rPr dirty="0" sz="1200" spc="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Phalachandra</a:t>
            </a:r>
            <a:r>
              <a:rPr dirty="0" sz="1200" spc="75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would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like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acknowledge</a:t>
            </a:r>
            <a:r>
              <a:rPr dirty="0" sz="1200" spc="85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and </a:t>
            </a:r>
            <a:r>
              <a:rPr dirty="0" sz="1200">
                <a:latin typeface="Arial"/>
                <a:cs typeface="Arial"/>
              </a:rPr>
              <a:t>thank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him for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same. There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have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been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some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information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which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 might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have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leveraged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from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content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of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Dr.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K.V.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Subramaniam’s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lecture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contents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too.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 may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have </a:t>
            </a:r>
            <a:r>
              <a:rPr dirty="0" sz="1200">
                <a:latin typeface="Arial"/>
                <a:cs typeface="Arial"/>
              </a:rPr>
              <a:t>supplemented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same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with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contents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from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books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other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sources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from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Internet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would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like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sincerely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thank,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acknowledge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reiterate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that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credit/rights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for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same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remain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with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original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authors/publishers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only.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These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are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intended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for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classroom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presentation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only.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Containers</a:t>
            </a:r>
            <a:r>
              <a:rPr dirty="0" spc="-9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–</a:t>
            </a:r>
            <a:r>
              <a:rPr dirty="0" spc="-9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Definitions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63169" y="1314449"/>
            <a:ext cx="11851640" cy="5034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5600" marR="219075" indent="-343535">
              <a:lnSpc>
                <a:spcPct val="110000"/>
              </a:lnSpc>
              <a:spcBef>
                <a:spcPts val="100"/>
              </a:spcBef>
              <a:buChar char="▪"/>
              <a:tabLst>
                <a:tab pos="355600" algn="l"/>
              </a:tabLst>
            </a:pPr>
            <a:r>
              <a:rPr dirty="0" sz="2100">
                <a:latin typeface="Calibri"/>
                <a:cs typeface="Calibri"/>
              </a:rPr>
              <a:t>Linux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Containers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or</a:t>
            </a:r>
            <a:r>
              <a:rPr dirty="0" sz="2100" spc="-2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LXC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is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an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operating-system-</a:t>
            </a:r>
            <a:r>
              <a:rPr dirty="0" sz="2100">
                <a:latin typeface="Calibri"/>
                <a:cs typeface="Calibri"/>
              </a:rPr>
              <a:t>level</a:t>
            </a:r>
            <a:r>
              <a:rPr dirty="0" sz="2100" spc="-10">
                <a:latin typeface="Calibri"/>
                <a:cs typeface="Calibri"/>
              </a:rPr>
              <a:t> virtualization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method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for</a:t>
            </a:r>
            <a:r>
              <a:rPr dirty="0" sz="2100" spc="-1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running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multiple</a:t>
            </a:r>
            <a:r>
              <a:rPr dirty="0" sz="2100" spc="-2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isolated </a:t>
            </a:r>
            <a:r>
              <a:rPr dirty="0" sz="2100">
                <a:latin typeface="Calibri"/>
                <a:cs typeface="Calibri"/>
              </a:rPr>
              <a:t>Linux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systems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(containers)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which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can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run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multiple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workloads,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on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control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host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running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single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linux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 spc="-25">
                <a:latin typeface="Calibri"/>
                <a:cs typeface="Calibri"/>
              </a:rPr>
              <a:t>OS </a:t>
            </a:r>
            <a:r>
              <a:rPr dirty="0" sz="2100" spc="-10">
                <a:latin typeface="Calibri"/>
                <a:cs typeface="Calibri"/>
              </a:rPr>
              <a:t>instance</a:t>
            </a:r>
            <a:endParaRPr sz="2100">
              <a:latin typeface="Calibri"/>
              <a:cs typeface="Calibri"/>
            </a:endParaRPr>
          </a:p>
          <a:p>
            <a:pPr marL="355600" marR="5080" indent="-343535">
              <a:lnSpc>
                <a:spcPct val="110000"/>
              </a:lnSpc>
              <a:spcBef>
                <a:spcPts val="409"/>
              </a:spcBef>
              <a:buChar char="▪"/>
              <a:tabLst>
                <a:tab pos="355600" algn="l"/>
              </a:tabLst>
            </a:pPr>
            <a:r>
              <a:rPr dirty="0" sz="2100">
                <a:latin typeface="Calibri"/>
                <a:cs typeface="Calibri"/>
              </a:rPr>
              <a:t>LXC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provides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virtual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environment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that</a:t>
            </a:r>
            <a:r>
              <a:rPr dirty="0" sz="2100" spc="-7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has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its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own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process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and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network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space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and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does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not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create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full-</a:t>
            </a:r>
            <a:r>
              <a:rPr dirty="0" sz="2100">
                <a:latin typeface="Calibri"/>
                <a:cs typeface="Calibri"/>
              </a:rPr>
              <a:t>fledged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virtual</a:t>
            </a:r>
            <a:r>
              <a:rPr dirty="0" sz="2100" spc="-65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machine.</a:t>
            </a:r>
            <a:endParaRPr sz="21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45"/>
              </a:spcBef>
              <a:buChar char="▪"/>
              <a:tabLst>
                <a:tab pos="355600" algn="l"/>
              </a:tabLst>
            </a:pPr>
            <a:r>
              <a:rPr dirty="0" sz="2100">
                <a:latin typeface="Calibri"/>
                <a:cs typeface="Calibri"/>
              </a:rPr>
              <a:t>LXC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uses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Linux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kernel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cgroups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and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namespace</a:t>
            </a:r>
            <a:r>
              <a:rPr dirty="0" sz="2100" spc="-6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isolation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functionality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to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achieve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the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same.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2200" spc="-10" b="1">
                <a:latin typeface="Calibri"/>
                <a:cs typeface="Calibri"/>
              </a:rPr>
              <a:t>Motivation</a:t>
            </a:r>
            <a:endParaRPr sz="2200">
              <a:latin typeface="Calibri"/>
              <a:cs typeface="Calibri"/>
            </a:endParaRPr>
          </a:p>
          <a:p>
            <a:pPr marL="355600" marR="113664" indent="-343535">
              <a:lnSpc>
                <a:spcPct val="110000"/>
              </a:lnSpc>
              <a:spcBef>
                <a:spcPts val="475"/>
              </a:spcBef>
              <a:buChar char="▪"/>
              <a:tabLst>
                <a:tab pos="355600" algn="l"/>
              </a:tabLst>
            </a:pPr>
            <a:r>
              <a:rPr dirty="0" sz="2100">
                <a:latin typeface="Calibri"/>
                <a:cs typeface="Calibri"/>
              </a:rPr>
              <a:t>VMs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support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the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objective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of</a:t>
            </a:r>
            <a:r>
              <a:rPr dirty="0" sz="2100" spc="-6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virtualizing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the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physical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systems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and</a:t>
            </a:r>
            <a:r>
              <a:rPr dirty="0" sz="2100" spc="-6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allowing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multiple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tenants/applications </a:t>
            </a:r>
            <a:r>
              <a:rPr dirty="0" sz="2100">
                <a:latin typeface="Calibri"/>
                <a:cs typeface="Calibri"/>
              </a:rPr>
              <a:t>to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be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isolated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and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share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the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physical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resources</a:t>
            </a:r>
            <a:r>
              <a:rPr dirty="0" sz="2100" spc="-2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along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with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Access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control</a:t>
            </a:r>
            <a:endParaRPr sz="21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60"/>
              </a:spcBef>
              <a:buChar char="▪"/>
              <a:tabLst>
                <a:tab pos="355600" algn="l"/>
              </a:tabLst>
            </a:pPr>
            <a:r>
              <a:rPr dirty="0" sz="2100">
                <a:latin typeface="Calibri"/>
                <a:cs typeface="Calibri"/>
              </a:rPr>
              <a:t>One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of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the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challenges</a:t>
            </a:r>
            <a:r>
              <a:rPr dirty="0" sz="2100" spc="-2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as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observed</a:t>
            </a:r>
            <a:r>
              <a:rPr dirty="0" sz="2100" spc="-1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is,</a:t>
            </a:r>
            <a:r>
              <a:rPr dirty="0" sz="2100" spc="-1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this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isolation</a:t>
            </a:r>
            <a:r>
              <a:rPr dirty="0" sz="2100" spc="-1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achieved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by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or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provided</a:t>
            </a:r>
            <a:r>
              <a:rPr dirty="0" sz="2100" spc="-2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by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VM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is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expensive</a:t>
            </a:r>
            <a:endParaRPr sz="2100">
              <a:latin typeface="Calibri"/>
              <a:cs typeface="Calibri"/>
            </a:endParaRPr>
          </a:p>
          <a:p>
            <a:pPr marL="355600" marR="61594" indent="-343535">
              <a:lnSpc>
                <a:spcPct val="110000"/>
              </a:lnSpc>
              <a:spcBef>
                <a:spcPts val="395"/>
              </a:spcBef>
              <a:buChar char="▪"/>
              <a:tabLst>
                <a:tab pos="355600" algn="l"/>
              </a:tabLst>
            </a:pPr>
            <a:r>
              <a:rPr dirty="0" sz="2100">
                <a:latin typeface="Calibri"/>
                <a:cs typeface="Calibri"/>
              </a:rPr>
              <a:t>Traditional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OSs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supporting</a:t>
            </a:r>
            <a:r>
              <a:rPr dirty="0" sz="2100" spc="-6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multiple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application</a:t>
            </a:r>
            <a:r>
              <a:rPr dirty="0" sz="2100" spc="-6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processes,</a:t>
            </a:r>
            <a:r>
              <a:rPr dirty="0" sz="2100" spc="-1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but</a:t>
            </a:r>
            <a:r>
              <a:rPr dirty="0" sz="2100" spc="-6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share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disk,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with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all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the</a:t>
            </a:r>
            <a:r>
              <a:rPr dirty="0" sz="2100" spc="-6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processes</a:t>
            </a:r>
            <a:r>
              <a:rPr dirty="0" sz="2100" spc="-10">
                <a:latin typeface="Calibri"/>
                <a:cs typeface="Calibri"/>
              </a:rPr>
              <a:t> capable </a:t>
            </a:r>
            <a:r>
              <a:rPr dirty="0" sz="2100">
                <a:latin typeface="Calibri"/>
                <a:cs typeface="Calibri"/>
              </a:rPr>
              <a:t>of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seeing</a:t>
            </a:r>
            <a:r>
              <a:rPr dirty="0" sz="2100" spc="-1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the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entire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filesystem with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access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control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built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on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top,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and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also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share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network.</a:t>
            </a:r>
            <a:endParaRPr sz="21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50"/>
              </a:spcBef>
              <a:buChar char="▪"/>
              <a:tabLst>
                <a:tab pos="355600" algn="l"/>
              </a:tabLst>
            </a:pPr>
            <a:r>
              <a:rPr dirty="0" sz="2100">
                <a:latin typeface="Calibri"/>
                <a:cs typeface="Calibri"/>
              </a:rPr>
              <a:t>Containers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using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light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weight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mechanism,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provide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this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virtualization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extending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the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isolation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provided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 spc="-25">
                <a:latin typeface="Calibri"/>
                <a:cs typeface="Calibri"/>
              </a:rPr>
              <a:t>by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6374" y="6355486"/>
            <a:ext cx="195389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latin typeface="Calibri"/>
                <a:cs typeface="Calibri"/>
              </a:rPr>
              <a:t>our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traditional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 spc="-25">
                <a:latin typeface="Calibri"/>
                <a:cs typeface="Calibri"/>
              </a:rPr>
              <a:t>OS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83864" y="6467317"/>
            <a:ext cx="9208135" cy="307975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25"/>
              </a:spcBef>
            </a:pPr>
            <a:r>
              <a:rPr dirty="0" sz="1400">
                <a:solidFill>
                  <a:srgbClr val="006FC0"/>
                </a:solidFill>
                <a:latin typeface="Arial"/>
                <a:cs typeface="Arial"/>
              </a:rPr>
              <a:t>Lxc</a:t>
            </a:r>
            <a:r>
              <a:rPr dirty="0" sz="1400" spc="-5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FC0"/>
                </a:solidFill>
                <a:latin typeface="Arial"/>
                <a:cs typeface="Arial"/>
              </a:rPr>
              <a:t>(tools)</a:t>
            </a:r>
            <a:r>
              <a:rPr dirty="0" sz="1400" spc="-5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FC0"/>
                </a:solidFill>
                <a:latin typeface="Arial"/>
                <a:cs typeface="Arial"/>
              </a:rPr>
              <a:t>is</a:t>
            </a:r>
            <a:r>
              <a:rPr dirty="0" sz="1400" spc="-2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FC0"/>
                </a:solidFill>
                <a:latin typeface="Arial"/>
                <a:cs typeface="Arial"/>
              </a:rPr>
              <a:t>an</a:t>
            </a:r>
            <a:r>
              <a:rPr dirty="0" sz="1400" spc="-2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FC0"/>
                </a:solidFill>
                <a:latin typeface="Arial"/>
                <a:cs typeface="Arial"/>
              </a:rPr>
              <a:t>user</a:t>
            </a:r>
            <a:r>
              <a:rPr dirty="0" sz="1400" spc="-35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FC0"/>
                </a:solidFill>
                <a:latin typeface="Arial"/>
                <a:cs typeface="Arial"/>
              </a:rPr>
              <a:t>space</a:t>
            </a:r>
            <a:r>
              <a:rPr dirty="0" sz="1400" spc="-35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FC0"/>
                </a:solidFill>
                <a:latin typeface="Arial"/>
                <a:cs typeface="Arial"/>
              </a:rPr>
              <a:t>toolset</a:t>
            </a:r>
            <a:r>
              <a:rPr dirty="0" sz="1400" spc="-45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FC0"/>
                </a:solidFill>
                <a:latin typeface="Arial"/>
                <a:cs typeface="Arial"/>
              </a:rPr>
              <a:t>for</a:t>
            </a:r>
            <a:r>
              <a:rPr dirty="0" sz="1400" spc="-3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FC0"/>
                </a:solidFill>
                <a:latin typeface="Arial"/>
                <a:cs typeface="Arial"/>
              </a:rPr>
              <a:t>creating</a:t>
            </a:r>
            <a:r>
              <a:rPr dirty="0" sz="1400" spc="-6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FC0"/>
                </a:solidFill>
                <a:latin typeface="Arial"/>
                <a:cs typeface="Arial"/>
              </a:rPr>
              <a:t>&amp; managing</a:t>
            </a:r>
            <a:r>
              <a:rPr dirty="0" sz="1400" spc="-45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FC0"/>
                </a:solidFill>
                <a:latin typeface="Arial"/>
                <a:cs typeface="Arial"/>
              </a:rPr>
              <a:t>Linux</a:t>
            </a:r>
            <a:r>
              <a:rPr dirty="0" sz="1400" spc="-3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FC0"/>
                </a:solidFill>
                <a:latin typeface="Arial"/>
                <a:cs typeface="Arial"/>
              </a:rPr>
              <a:t>Containers</a:t>
            </a:r>
            <a:r>
              <a:rPr dirty="0" sz="1400" spc="-25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FC0"/>
                </a:solidFill>
                <a:latin typeface="Arial"/>
                <a:cs typeface="Arial"/>
              </a:rPr>
              <a:t>–</a:t>
            </a:r>
            <a:r>
              <a:rPr dirty="0" sz="1400" spc="-15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FC0"/>
                </a:solidFill>
                <a:latin typeface="Arial"/>
                <a:cs typeface="Arial"/>
              </a:rPr>
              <a:t>different</a:t>
            </a:r>
            <a:r>
              <a:rPr dirty="0" sz="1400" spc="-45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FC0"/>
                </a:solidFill>
                <a:latin typeface="Arial"/>
                <a:cs typeface="Arial"/>
              </a:rPr>
              <a:t>from</a:t>
            </a:r>
            <a:r>
              <a:rPr dirty="0" sz="1400" spc="-45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FC0"/>
                </a:solidFill>
                <a:latin typeface="Arial"/>
                <a:cs typeface="Arial"/>
              </a:rPr>
              <a:t>LXC</a:t>
            </a:r>
            <a:r>
              <a:rPr dirty="0" sz="1400" spc="-15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FC0"/>
                </a:solidFill>
                <a:latin typeface="Arial"/>
                <a:cs typeface="Arial"/>
              </a:rPr>
              <a:t>Linux</a:t>
            </a:r>
            <a:r>
              <a:rPr dirty="0" sz="1400" spc="-3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006FC0"/>
                </a:solidFill>
                <a:latin typeface="Arial"/>
                <a:cs typeface="Arial"/>
              </a:rPr>
              <a:t>containers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5147" y="240751"/>
            <a:ext cx="3721100" cy="878840"/>
          </a:xfrm>
          <a:prstGeom prst="rect"/>
        </p:spPr>
        <p:txBody>
          <a:bodyPr wrap="square" lIns="0" tIns="406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2800">
                <a:solidFill>
                  <a:srgbClr val="C55A11"/>
                </a:solidFill>
              </a:rPr>
              <a:t>Container</a:t>
            </a:r>
            <a:r>
              <a:rPr dirty="0" sz="2800" spc="-120">
                <a:solidFill>
                  <a:srgbClr val="C55A11"/>
                </a:solidFill>
              </a:rPr>
              <a:t> </a:t>
            </a:r>
            <a:r>
              <a:rPr dirty="0" sz="2800" spc="-10">
                <a:solidFill>
                  <a:srgbClr val="C55A11"/>
                </a:solidFill>
              </a:rPr>
              <a:t>Characteristics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10220960" cy="38100"/>
          </a:xfrm>
          <a:custGeom>
            <a:avLst/>
            <a:gdLst/>
            <a:ahLst/>
            <a:cxnLst/>
            <a:rect l="l" t="t" r="r" b="b"/>
            <a:pathLst>
              <a:path w="10220960" h="38100">
                <a:moveTo>
                  <a:pt x="10220833" y="0"/>
                </a:moveTo>
                <a:lnTo>
                  <a:pt x="0" y="0"/>
                </a:lnTo>
                <a:lnTo>
                  <a:pt x="0" y="38100"/>
                </a:lnTo>
                <a:lnTo>
                  <a:pt x="10220833" y="38100"/>
                </a:lnTo>
                <a:lnTo>
                  <a:pt x="10220833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01853" y="1311681"/>
            <a:ext cx="7994015" cy="4832985"/>
          </a:xfrm>
          <a:prstGeom prst="rect">
            <a:avLst/>
          </a:prstGeom>
        </p:spPr>
        <p:txBody>
          <a:bodyPr wrap="square" lIns="0" tIns="15557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225"/>
              </a:spcBef>
              <a:buChar char="▪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Containers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sit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top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physical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server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host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OS.</a:t>
            </a:r>
            <a:endParaRPr sz="2200">
              <a:latin typeface="Calibri"/>
              <a:cs typeface="Calibri"/>
            </a:endParaRPr>
          </a:p>
          <a:p>
            <a:pPr marL="355600" marR="104775" indent="-342900">
              <a:lnSpc>
                <a:spcPct val="120000"/>
              </a:lnSpc>
              <a:spcBef>
                <a:spcPts val="600"/>
              </a:spcBef>
              <a:buChar char="▪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Each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container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shares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host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OS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kernel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and,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usually,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binaries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libraries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too,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but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read-</a:t>
            </a:r>
            <a:r>
              <a:rPr dirty="0" sz="2200">
                <a:latin typeface="Calibri"/>
                <a:cs typeface="Calibri"/>
              </a:rPr>
              <a:t>only.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reduces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management </a:t>
            </a:r>
            <a:r>
              <a:rPr dirty="0" sz="2200">
                <a:latin typeface="Calibri"/>
                <a:cs typeface="Calibri"/>
              </a:rPr>
              <a:t>overhead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where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single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needs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maintained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bug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fixes, </a:t>
            </a:r>
            <a:r>
              <a:rPr dirty="0" sz="2200">
                <a:latin typeface="Calibri"/>
                <a:cs typeface="Calibri"/>
              </a:rPr>
              <a:t>patches,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so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on.</a:t>
            </a:r>
            <a:endParaRPr sz="220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120100"/>
              </a:lnSpc>
              <a:spcBef>
                <a:spcPts val="600"/>
              </a:spcBef>
              <a:buChar char="▪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Containers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thus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exceptionally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“light”—</a:t>
            </a:r>
            <a:r>
              <a:rPr dirty="0" sz="2200">
                <a:latin typeface="Calibri"/>
                <a:cs typeface="Calibri"/>
              </a:rPr>
              <a:t>they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only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megabytes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size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take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just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seconds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start,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versus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gigabytes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minutes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VM.</a:t>
            </a:r>
            <a:endParaRPr sz="2200">
              <a:latin typeface="Calibri"/>
              <a:cs typeface="Calibri"/>
            </a:endParaRPr>
          </a:p>
          <a:p>
            <a:pPr algn="just" lvl="1" marL="733425" marR="685800" indent="-342900">
              <a:lnSpc>
                <a:spcPct val="120100"/>
              </a:lnSpc>
              <a:spcBef>
                <a:spcPts val="595"/>
              </a:spcBef>
              <a:buChar char="▪"/>
              <a:tabLst>
                <a:tab pos="733425" algn="l"/>
              </a:tabLst>
            </a:pPr>
            <a:r>
              <a:rPr dirty="0" sz="2200">
                <a:latin typeface="Calibri"/>
                <a:cs typeface="Calibri"/>
              </a:rPr>
              <a:t>Container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creation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similar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process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creation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</a:t>
            </a:r>
            <a:r>
              <a:rPr dirty="0" sz="2200" spc="-25">
                <a:latin typeface="Calibri"/>
                <a:cs typeface="Calibri"/>
              </a:rPr>
              <a:t> has </a:t>
            </a:r>
            <a:r>
              <a:rPr dirty="0" sz="2200">
                <a:latin typeface="Calibri"/>
                <a:cs typeface="Calibri"/>
              </a:rPr>
              <a:t>speed,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agility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portability.</a:t>
            </a:r>
            <a:endParaRPr sz="2200">
              <a:latin typeface="Calibri"/>
              <a:cs typeface="Calibri"/>
            </a:endParaRPr>
          </a:p>
          <a:p>
            <a:pPr algn="just" lvl="1" marL="734060" indent="-343535">
              <a:lnSpc>
                <a:spcPct val="100000"/>
              </a:lnSpc>
              <a:spcBef>
                <a:spcPts val="1130"/>
              </a:spcBef>
              <a:buChar char="▪"/>
              <a:tabLst>
                <a:tab pos="734060" algn="l"/>
              </a:tabLst>
            </a:pPr>
            <a:r>
              <a:rPr dirty="0" sz="2200">
                <a:latin typeface="Calibri"/>
                <a:cs typeface="Calibri"/>
              </a:rPr>
              <a:t>Thus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containers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have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higher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provisioning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performance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502158" y="1946764"/>
            <a:ext cx="3441065" cy="3728085"/>
            <a:chOff x="8502158" y="1946764"/>
            <a:chExt cx="3441065" cy="372808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02158" y="1946764"/>
              <a:ext cx="3440986" cy="372750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789035" y="3230244"/>
              <a:ext cx="2869565" cy="367665"/>
            </a:xfrm>
            <a:custGeom>
              <a:avLst/>
              <a:gdLst/>
              <a:ahLst/>
              <a:cxnLst/>
              <a:rect l="l" t="t" r="r" b="b"/>
              <a:pathLst>
                <a:path w="2869565" h="367664">
                  <a:moveTo>
                    <a:pt x="2808224" y="0"/>
                  </a:moveTo>
                  <a:lnTo>
                    <a:pt x="61214" y="0"/>
                  </a:lnTo>
                  <a:lnTo>
                    <a:pt x="37397" y="4814"/>
                  </a:lnTo>
                  <a:lnTo>
                    <a:pt x="17938" y="17938"/>
                  </a:lnTo>
                  <a:lnTo>
                    <a:pt x="4814" y="37397"/>
                  </a:lnTo>
                  <a:lnTo>
                    <a:pt x="0" y="61213"/>
                  </a:lnTo>
                  <a:lnTo>
                    <a:pt x="0" y="306450"/>
                  </a:lnTo>
                  <a:lnTo>
                    <a:pt x="4814" y="330267"/>
                  </a:lnTo>
                  <a:lnTo>
                    <a:pt x="17938" y="349726"/>
                  </a:lnTo>
                  <a:lnTo>
                    <a:pt x="37397" y="362850"/>
                  </a:lnTo>
                  <a:lnTo>
                    <a:pt x="61214" y="367664"/>
                  </a:lnTo>
                  <a:lnTo>
                    <a:pt x="2808224" y="367664"/>
                  </a:lnTo>
                  <a:lnTo>
                    <a:pt x="2832113" y="362850"/>
                  </a:lnTo>
                  <a:lnTo>
                    <a:pt x="2851610" y="349726"/>
                  </a:lnTo>
                  <a:lnTo>
                    <a:pt x="2864748" y="330267"/>
                  </a:lnTo>
                  <a:lnTo>
                    <a:pt x="2869565" y="306450"/>
                  </a:lnTo>
                  <a:lnTo>
                    <a:pt x="2869565" y="61213"/>
                  </a:lnTo>
                  <a:lnTo>
                    <a:pt x="2864748" y="37397"/>
                  </a:lnTo>
                  <a:lnTo>
                    <a:pt x="2851610" y="17938"/>
                  </a:lnTo>
                  <a:lnTo>
                    <a:pt x="2832113" y="4814"/>
                  </a:lnTo>
                  <a:lnTo>
                    <a:pt x="2808224" y="0"/>
                  </a:lnTo>
                  <a:close/>
                </a:path>
              </a:pathLst>
            </a:custGeom>
            <a:solidFill>
              <a:srgbClr val="4471C4">
                <a:alpha val="29803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789035" y="3230244"/>
              <a:ext cx="2869565" cy="367665"/>
            </a:xfrm>
            <a:custGeom>
              <a:avLst/>
              <a:gdLst/>
              <a:ahLst/>
              <a:cxnLst/>
              <a:rect l="l" t="t" r="r" b="b"/>
              <a:pathLst>
                <a:path w="2869565" h="367664">
                  <a:moveTo>
                    <a:pt x="0" y="61213"/>
                  </a:moveTo>
                  <a:lnTo>
                    <a:pt x="4814" y="37397"/>
                  </a:lnTo>
                  <a:lnTo>
                    <a:pt x="17938" y="17938"/>
                  </a:lnTo>
                  <a:lnTo>
                    <a:pt x="37397" y="4814"/>
                  </a:lnTo>
                  <a:lnTo>
                    <a:pt x="61214" y="0"/>
                  </a:lnTo>
                  <a:lnTo>
                    <a:pt x="2808224" y="0"/>
                  </a:lnTo>
                  <a:lnTo>
                    <a:pt x="2832113" y="4814"/>
                  </a:lnTo>
                  <a:lnTo>
                    <a:pt x="2851610" y="17938"/>
                  </a:lnTo>
                  <a:lnTo>
                    <a:pt x="2864748" y="37397"/>
                  </a:lnTo>
                  <a:lnTo>
                    <a:pt x="2869565" y="61213"/>
                  </a:lnTo>
                  <a:lnTo>
                    <a:pt x="2869565" y="306450"/>
                  </a:lnTo>
                  <a:lnTo>
                    <a:pt x="2864748" y="330267"/>
                  </a:lnTo>
                  <a:lnTo>
                    <a:pt x="2851610" y="349726"/>
                  </a:lnTo>
                  <a:lnTo>
                    <a:pt x="2832113" y="362850"/>
                  </a:lnTo>
                  <a:lnTo>
                    <a:pt x="2808224" y="367664"/>
                  </a:lnTo>
                  <a:lnTo>
                    <a:pt x="61214" y="367664"/>
                  </a:lnTo>
                  <a:lnTo>
                    <a:pt x="37397" y="362850"/>
                  </a:lnTo>
                  <a:lnTo>
                    <a:pt x="17938" y="349726"/>
                  </a:lnTo>
                  <a:lnTo>
                    <a:pt x="4814" y="330267"/>
                  </a:lnTo>
                  <a:lnTo>
                    <a:pt x="0" y="306450"/>
                  </a:lnTo>
                  <a:lnTo>
                    <a:pt x="0" y="61213"/>
                  </a:lnTo>
                  <a:close/>
                </a:path>
              </a:pathLst>
            </a:custGeom>
            <a:ln w="25399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8345" y="223900"/>
            <a:ext cx="2696210" cy="84709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CLOUD</a:t>
            </a:r>
            <a:r>
              <a:rPr dirty="0" sz="2400" spc="-1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395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24765">
              <a:lnSpc>
                <a:spcPct val="100000"/>
              </a:lnSpc>
              <a:spcBef>
                <a:spcPts val="355"/>
              </a:spcBef>
            </a:pP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Containers</a:t>
            </a:r>
            <a:r>
              <a:rPr dirty="0" sz="2400" spc="-7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(Cont.)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command-line in docker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8815" y="1570482"/>
            <a:ext cx="7257275" cy="227558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07568" y="1683511"/>
            <a:ext cx="10909300" cy="45370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7985125" marR="5080">
              <a:lnSpc>
                <a:spcPct val="100299"/>
              </a:lnSpc>
              <a:spcBef>
                <a:spcPts val="90"/>
              </a:spcBef>
            </a:pPr>
            <a:r>
              <a:rPr dirty="0" sz="2400" b="1">
                <a:solidFill>
                  <a:srgbClr val="833B0A"/>
                </a:solidFill>
                <a:latin typeface="Calibri"/>
                <a:cs typeface="Calibri"/>
              </a:rPr>
              <a:t>A</a:t>
            </a:r>
            <a:r>
              <a:rPr dirty="0" sz="2400" spc="-45" b="1">
                <a:solidFill>
                  <a:srgbClr val="833B0A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833B0A"/>
                </a:solidFill>
                <a:latin typeface="Calibri"/>
                <a:cs typeface="Calibri"/>
              </a:rPr>
              <a:t>basic</a:t>
            </a:r>
            <a:r>
              <a:rPr dirty="0" sz="2400" spc="-45" b="1">
                <a:solidFill>
                  <a:srgbClr val="833B0A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833B0A"/>
                </a:solidFill>
                <a:latin typeface="Calibri"/>
                <a:cs typeface="Calibri"/>
              </a:rPr>
              <a:t>computer</a:t>
            </a:r>
            <a:r>
              <a:rPr dirty="0" sz="2400" spc="-55" b="1">
                <a:solidFill>
                  <a:srgbClr val="833B0A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833B0A"/>
                </a:solidFill>
                <a:latin typeface="Calibri"/>
                <a:cs typeface="Calibri"/>
              </a:rPr>
              <a:t>stack </a:t>
            </a:r>
            <a:r>
              <a:rPr dirty="0" sz="2400" b="1">
                <a:solidFill>
                  <a:srgbClr val="833B0A"/>
                </a:solidFill>
                <a:latin typeface="Calibri"/>
                <a:cs typeface="Calibri"/>
              </a:rPr>
              <a:t>running</a:t>
            </a:r>
            <a:r>
              <a:rPr dirty="0" sz="2400" spc="-35" b="1">
                <a:solidFill>
                  <a:srgbClr val="833B0A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833B0A"/>
                </a:solidFill>
                <a:latin typeface="Calibri"/>
                <a:cs typeface="Calibri"/>
              </a:rPr>
              <a:t>two</a:t>
            </a:r>
            <a:r>
              <a:rPr dirty="0" sz="2400" spc="-45" b="1">
                <a:solidFill>
                  <a:srgbClr val="833B0A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833B0A"/>
                </a:solidFill>
                <a:latin typeface="Calibri"/>
                <a:cs typeface="Calibri"/>
              </a:rPr>
              <a:t>programs </a:t>
            </a:r>
            <a:r>
              <a:rPr dirty="0" sz="2400" b="1">
                <a:solidFill>
                  <a:srgbClr val="833B0A"/>
                </a:solidFill>
                <a:latin typeface="Calibri"/>
                <a:cs typeface="Calibri"/>
              </a:rPr>
              <a:t>that</a:t>
            </a:r>
            <a:r>
              <a:rPr dirty="0" sz="2400" spc="-50" b="1">
                <a:solidFill>
                  <a:srgbClr val="833B0A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833B0A"/>
                </a:solidFill>
                <a:latin typeface="Calibri"/>
                <a:cs typeface="Calibri"/>
              </a:rPr>
              <a:t>were</a:t>
            </a:r>
            <a:r>
              <a:rPr dirty="0" sz="2400" spc="-70" b="1">
                <a:solidFill>
                  <a:srgbClr val="833B0A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833B0A"/>
                </a:solidFill>
                <a:latin typeface="Calibri"/>
                <a:cs typeface="Calibri"/>
              </a:rPr>
              <a:t>started</a:t>
            </a:r>
            <a:r>
              <a:rPr dirty="0" sz="2400" spc="-50" b="1">
                <a:solidFill>
                  <a:srgbClr val="833B0A"/>
                </a:solidFill>
                <a:latin typeface="Calibri"/>
                <a:cs typeface="Calibri"/>
              </a:rPr>
              <a:t> </a:t>
            </a:r>
            <a:r>
              <a:rPr dirty="0" sz="2400" spc="-20" b="1">
                <a:solidFill>
                  <a:srgbClr val="833B0A"/>
                </a:solidFill>
                <a:latin typeface="Calibri"/>
                <a:cs typeface="Calibri"/>
              </a:rPr>
              <a:t>from </a:t>
            </a:r>
            <a:r>
              <a:rPr dirty="0" sz="2400" b="1">
                <a:solidFill>
                  <a:srgbClr val="833B0A"/>
                </a:solidFill>
                <a:latin typeface="Calibri"/>
                <a:cs typeface="Calibri"/>
              </a:rPr>
              <a:t>the</a:t>
            </a:r>
            <a:r>
              <a:rPr dirty="0" sz="2400" spc="-20" b="1">
                <a:solidFill>
                  <a:srgbClr val="833B0A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833B0A"/>
                </a:solidFill>
                <a:latin typeface="Calibri"/>
                <a:cs typeface="Calibri"/>
              </a:rPr>
              <a:t>command</a:t>
            </a:r>
            <a:r>
              <a:rPr dirty="0" sz="2400" spc="-60" b="1">
                <a:solidFill>
                  <a:srgbClr val="833B0A"/>
                </a:solidFill>
                <a:latin typeface="Calibri"/>
                <a:cs typeface="Calibri"/>
              </a:rPr>
              <a:t> </a:t>
            </a:r>
            <a:r>
              <a:rPr dirty="0" sz="2400" spc="-20" b="1">
                <a:solidFill>
                  <a:srgbClr val="833B0A"/>
                </a:solidFill>
                <a:latin typeface="Calibri"/>
                <a:cs typeface="Calibri"/>
              </a:rPr>
              <a:t>line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65"/>
              </a:spcBef>
            </a:pPr>
            <a:endParaRPr sz="2400">
              <a:latin typeface="Calibri"/>
              <a:cs typeface="Calibri"/>
            </a:endParaRPr>
          </a:p>
          <a:p>
            <a:pPr marL="372110" marR="659765" indent="-360045">
              <a:lnSpc>
                <a:spcPct val="120000"/>
              </a:lnSpc>
              <a:buFont typeface="Arial"/>
              <a:buChar char="•"/>
              <a:tabLst>
                <a:tab pos="372110" algn="l"/>
              </a:tabLst>
            </a:pPr>
            <a:r>
              <a:rPr dirty="0" sz="2400">
                <a:latin typeface="Calibri"/>
                <a:cs typeface="Calibri"/>
              </a:rPr>
              <a:t>Notice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command-</a:t>
            </a:r>
            <a:r>
              <a:rPr dirty="0" sz="2400">
                <a:latin typeface="Calibri"/>
                <a:cs typeface="Calibri"/>
              </a:rPr>
              <a:t>line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interface,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CLI,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runs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what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called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space </a:t>
            </a:r>
            <a:r>
              <a:rPr dirty="0" sz="2400">
                <a:latin typeface="Calibri"/>
                <a:cs typeface="Calibri"/>
              </a:rPr>
              <a:t>memory,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just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like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other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programs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run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top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operating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system.</a:t>
            </a:r>
            <a:endParaRPr sz="24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1180"/>
              </a:spcBef>
              <a:buFont typeface="Arial"/>
              <a:buChar char="•"/>
              <a:tabLst>
                <a:tab pos="372110" algn="l"/>
              </a:tabLst>
            </a:pPr>
            <a:r>
              <a:rPr dirty="0" sz="2400">
                <a:latin typeface="Calibri"/>
                <a:cs typeface="Calibri"/>
              </a:rPr>
              <a:t>Ideally,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programs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running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user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space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can’t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modify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kernel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space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memory.</a:t>
            </a:r>
            <a:endParaRPr sz="2400">
              <a:latin typeface="Calibri"/>
              <a:cs typeface="Calibri"/>
            </a:endParaRPr>
          </a:p>
          <a:p>
            <a:pPr marL="372110" marR="356235" indent="-360045">
              <a:lnSpc>
                <a:spcPct val="120000"/>
              </a:lnSpc>
              <a:spcBef>
                <a:spcPts val="600"/>
              </a:spcBef>
              <a:buFont typeface="Arial"/>
              <a:buChar char="•"/>
              <a:tabLst>
                <a:tab pos="372110" algn="l"/>
              </a:tabLst>
            </a:pPr>
            <a:r>
              <a:rPr dirty="0" sz="2400">
                <a:latin typeface="Calibri"/>
                <a:cs typeface="Calibri"/>
              </a:rPr>
              <a:t>Broadly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speaking,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operating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system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interface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between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all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programs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hardware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computer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running</a:t>
            </a:r>
            <a:r>
              <a:rPr dirty="0" sz="2400" spc="-25">
                <a:latin typeface="Calibri"/>
                <a:cs typeface="Calibri"/>
              </a:rPr>
              <a:t> on.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2968" y="230088"/>
            <a:ext cx="4543425" cy="878840"/>
          </a:xfrm>
          <a:prstGeom prst="rect"/>
        </p:spPr>
        <p:txBody>
          <a:bodyPr wrap="square" lIns="0" tIns="40640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320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2800" spc="-10">
                <a:solidFill>
                  <a:srgbClr val="C55A11"/>
                </a:solidFill>
              </a:rPr>
              <a:t>Contrasting</a:t>
            </a:r>
            <a:r>
              <a:rPr dirty="0" sz="2800" spc="-60">
                <a:solidFill>
                  <a:srgbClr val="C55A11"/>
                </a:solidFill>
              </a:rPr>
              <a:t> </a:t>
            </a:r>
            <a:r>
              <a:rPr dirty="0" sz="2800">
                <a:solidFill>
                  <a:srgbClr val="C55A11"/>
                </a:solidFill>
              </a:rPr>
              <a:t>Containers</a:t>
            </a:r>
            <a:r>
              <a:rPr dirty="0" sz="2800" spc="-50">
                <a:solidFill>
                  <a:srgbClr val="C55A11"/>
                </a:solidFill>
              </a:rPr>
              <a:t> </a:t>
            </a:r>
            <a:r>
              <a:rPr dirty="0" sz="2800">
                <a:solidFill>
                  <a:srgbClr val="C55A11"/>
                </a:solidFill>
              </a:rPr>
              <a:t>vs</a:t>
            </a:r>
            <a:r>
              <a:rPr dirty="0" sz="2800" spc="-80">
                <a:solidFill>
                  <a:srgbClr val="C55A11"/>
                </a:solidFill>
              </a:rPr>
              <a:t> </a:t>
            </a:r>
            <a:r>
              <a:rPr dirty="0" sz="2800" spc="-25">
                <a:solidFill>
                  <a:srgbClr val="C55A11"/>
                </a:solidFill>
              </a:rPr>
              <a:t>VMs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2673" y="2261730"/>
            <a:ext cx="5529326" cy="351560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68935" y="1483233"/>
            <a:ext cx="11632565" cy="53206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900" marR="6160770" indent="-457200">
              <a:lnSpc>
                <a:spcPct val="100000"/>
              </a:lnSpc>
              <a:spcBef>
                <a:spcPts val="95"/>
              </a:spcBef>
              <a:buClr>
                <a:srgbClr val="000000"/>
              </a:buClr>
              <a:buSzPct val="94736"/>
              <a:buAutoNum type="arabicPeriod"/>
              <a:tabLst>
                <a:tab pos="469900" algn="l"/>
              </a:tabLst>
            </a:pPr>
            <a:r>
              <a:rPr dirty="0" sz="1900">
                <a:solidFill>
                  <a:srgbClr val="C00000"/>
                </a:solidFill>
                <a:latin typeface="Calibri"/>
                <a:cs typeface="Calibri"/>
              </a:rPr>
              <a:t>Each</a:t>
            </a:r>
            <a:r>
              <a:rPr dirty="0" sz="1900" spc="-4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C00000"/>
                </a:solidFill>
                <a:latin typeface="Calibri"/>
                <a:cs typeface="Calibri"/>
              </a:rPr>
              <a:t>VM</a:t>
            </a:r>
            <a:r>
              <a:rPr dirty="0" sz="1900" spc="-5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C00000"/>
                </a:solidFill>
                <a:latin typeface="Calibri"/>
                <a:cs typeface="Calibri"/>
              </a:rPr>
              <a:t>includes</a:t>
            </a:r>
            <a:r>
              <a:rPr dirty="0" sz="1900" spc="-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dirty="0" sz="1900" spc="-5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C00000"/>
                </a:solidFill>
                <a:latin typeface="Calibri"/>
                <a:cs typeface="Calibri"/>
              </a:rPr>
              <a:t>separate</a:t>
            </a:r>
            <a:r>
              <a:rPr dirty="0" sz="1900" spc="-4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C00000"/>
                </a:solidFill>
                <a:latin typeface="Calibri"/>
                <a:cs typeface="Calibri"/>
              </a:rPr>
              <a:t>OS</a:t>
            </a:r>
            <a:r>
              <a:rPr dirty="0" sz="1900" spc="-4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C00000"/>
                </a:solidFill>
                <a:latin typeface="Calibri"/>
                <a:cs typeface="Calibri"/>
              </a:rPr>
              <a:t>image,</a:t>
            </a:r>
            <a:r>
              <a:rPr dirty="0" sz="1900" spc="-4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C00000"/>
                </a:solidFill>
                <a:latin typeface="Calibri"/>
                <a:cs typeface="Calibri"/>
              </a:rPr>
              <a:t>which</a:t>
            </a:r>
            <a:r>
              <a:rPr dirty="0" sz="190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C00000"/>
                </a:solidFill>
                <a:latin typeface="Calibri"/>
                <a:cs typeface="Calibri"/>
              </a:rPr>
              <a:t>adds </a:t>
            </a:r>
            <a:r>
              <a:rPr dirty="0" sz="1900">
                <a:solidFill>
                  <a:srgbClr val="C00000"/>
                </a:solidFill>
                <a:latin typeface="Calibri"/>
                <a:cs typeface="Calibri"/>
              </a:rPr>
              <a:t>overhead</a:t>
            </a:r>
            <a:r>
              <a:rPr dirty="0" sz="1900" spc="-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dirty="0" sz="1900" spc="-6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C00000"/>
                </a:solidFill>
                <a:latin typeface="Calibri"/>
                <a:cs typeface="Calibri"/>
              </a:rPr>
              <a:t>memory</a:t>
            </a:r>
            <a:r>
              <a:rPr dirty="0" sz="1900" spc="-5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1900" spc="-5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C00000"/>
                </a:solidFill>
                <a:latin typeface="Calibri"/>
                <a:cs typeface="Calibri"/>
              </a:rPr>
              <a:t>storage</a:t>
            </a:r>
            <a:r>
              <a:rPr dirty="0" sz="190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C00000"/>
                </a:solidFill>
                <a:latin typeface="Calibri"/>
                <a:cs typeface="Calibri"/>
              </a:rPr>
              <a:t>footprint.</a:t>
            </a:r>
            <a:endParaRPr sz="1900">
              <a:latin typeface="Calibri"/>
              <a:cs typeface="Calibri"/>
            </a:endParaRPr>
          </a:p>
          <a:p>
            <a:pPr marL="474345" marR="5490210">
              <a:lnSpc>
                <a:spcPct val="100000"/>
              </a:lnSpc>
              <a:spcBef>
                <a:spcPts val="605"/>
              </a:spcBef>
            </a:pPr>
            <a:r>
              <a:rPr dirty="0" sz="1900" spc="-10">
                <a:solidFill>
                  <a:srgbClr val="006FC0"/>
                </a:solidFill>
                <a:latin typeface="Calibri"/>
                <a:cs typeface="Calibri"/>
              </a:rPr>
              <a:t>Containers</a:t>
            </a:r>
            <a:r>
              <a:rPr dirty="0" sz="1900" spc="-4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reduce</a:t>
            </a:r>
            <a:r>
              <a:rPr dirty="0" sz="1900" spc="-3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management</a:t>
            </a:r>
            <a:r>
              <a:rPr dirty="0" sz="1900" spc="-4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overhead</a:t>
            </a:r>
            <a:r>
              <a:rPr dirty="0" sz="1900" spc="-3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as</a:t>
            </a:r>
            <a:r>
              <a:rPr dirty="0" sz="1900" spc="-6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they</a:t>
            </a:r>
            <a:r>
              <a:rPr dirty="0" sz="1900" spc="-4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share</a:t>
            </a:r>
            <a:r>
              <a:rPr dirty="0" sz="1900" spc="-50">
                <a:solidFill>
                  <a:srgbClr val="006FC0"/>
                </a:solidFill>
                <a:latin typeface="Calibri"/>
                <a:cs typeface="Calibri"/>
              </a:rPr>
              <a:t> a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common</a:t>
            </a:r>
            <a:r>
              <a:rPr dirty="0" sz="1900" spc="-4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OS,</a:t>
            </a:r>
            <a:r>
              <a:rPr dirty="0" sz="1900" spc="-4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only</a:t>
            </a:r>
            <a:r>
              <a:rPr dirty="0" sz="1900" spc="-3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1900" spc="-4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single</a:t>
            </a:r>
            <a:r>
              <a:rPr dirty="0" sz="1900" spc="-2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OS</a:t>
            </a:r>
            <a:r>
              <a:rPr dirty="0" sz="1900" spc="-3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needs</a:t>
            </a:r>
            <a:r>
              <a:rPr dirty="0" sz="1900" spc="-4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to</a:t>
            </a:r>
            <a:r>
              <a:rPr dirty="0" sz="1900" spc="-4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be</a:t>
            </a:r>
            <a:r>
              <a:rPr dirty="0" sz="1900" spc="-3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maintained</a:t>
            </a:r>
            <a:r>
              <a:rPr dirty="0" sz="1900" spc="-25">
                <a:solidFill>
                  <a:srgbClr val="006FC0"/>
                </a:solidFill>
                <a:latin typeface="Calibri"/>
                <a:cs typeface="Calibri"/>
              </a:rPr>
              <a:t> for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bug</a:t>
            </a:r>
            <a:r>
              <a:rPr dirty="0" sz="1900" spc="-3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fixes,</a:t>
            </a:r>
            <a:r>
              <a:rPr dirty="0" sz="1900" spc="-3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patches,</a:t>
            </a:r>
            <a:r>
              <a:rPr dirty="0" sz="1900" spc="-4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dirty="0" sz="1900" spc="-4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so</a:t>
            </a:r>
            <a:r>
              <a:rPr dirty="0" sz="1900" spc="-4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 spc="-25">
                <a:solidFill>
                  <a:srgbClr val="006FC0"/>
                </a:solidFill>
                <a:latin typeface="Calibri"/>
                <a:cs typeface="Calibri"/>
              </a:rPr>
              <a:t>on.</a:t>
            </a:r>
            <a:endParaRPr sz="19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AutoNum type="arabicPeriod" startAt="2"/>
              <a:tabLst>
                <a:tab pos="469265" algn="l"/>
              </a:tabLst>
            </a:pP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dirty="0" sz="1800" spc="-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terms</a:t>
            </a:r>
            <a:r>
              <a:rPr dirty="0" sz="1800" spc="-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dirty="0" sz="18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performance,</a:t>
            </a:r>
            <a:r>
              <a:rPr dirty="0" sz="1800" spc="-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VMs</a:t>
            </a:r>
            <a:r>
              <a:rPr dirty="0" sz="1800" spc="-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have</a:t>
            </a:r>
            <a:r>
              <a:rPr dirty="0" sz="1800" spc="-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to</a:t>
            </a:r>
            <a:r>
              <a:rPr dirty="0" sz="1800" spc="-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boot</a:t>
            </a:r>
            <a:r>
              <a:rPr dirty="0" sz="1800" spc="-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when</a:t>
            </a:r>
            <a:r>
              <a:rPr dirty="0" sz="1800" spc="-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provisioned</a:t>
            </a:r>
            <a:endParaRPr sz="1800">
              <a:latin typeface="Calibri"/>
              <a:cs typeface="Calibri"/>
            </a:endParaRPr>
          </a:p>
          <a:p>
            <a:pPr algn="just" marL="469900">
              <a:lnSpc>
                <a:spcPct val="100000"/>
              </a:lnSpc>
            </a:pP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making</a:t>
            </a:r>
            <a:r>
              <a:rPr dirty="0" sz="1800" spc="-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it</a:t>
            </a:r>
            <a:r>
              <a:rPr dirty="0" sz="1800" spc="-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slower,</a:t>
            </a:r>
            <a:r>
              <a:rPr dirty="0" sz="18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also</a:t>
            </a:r>
            <a:r>
              <a:rPr dirty="0" sz="18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have</a:t>
            </a:r>
            <a:r>
              <a:rPr dirty="0" sz="1800" spc="-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I/O</a:t>
            </a:r>
            <a:r>
              <a:rPr dirty="0" sz="1800" spc="-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performance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 overhead</a:t>
            </a:r>
            <a:endParaRPr sz="1800">
              <a:latin typeface="Calibri"/>
              <a:cs typeface="Calibri"/>
            </a:endParaRPr>
          </a:p>
          <a:p>
            <a:pPr algn="just" marL="474345" marR="5532120">
              <a:lnSpc>
                <a:spcPct val="100000"/>
              </a:lnSpc>
              <a:spcBef>
                <a:spcPts val="605"/>
              </a:spcBef>
            </a:pPr>
            <a:r>
              <a:rPr dirty="0" sz="1800" spc="-10">
                <a:solidFill>
                  <a:srgbClr val="006FC0"/>
                </a:solidFill>
                <a:latin typeface="Calibri"/>
                <a:cs typeface="Calibri"/>
              </a:rPr>
              <a:t>Containers</a:t>
            </a:r>
            <a:r>
              <a:rPr dirty="0" sz="1800" spc="-2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6FC0"/>
                </a:solidFill>
                <a:latin typeface="Calibri"/>
                <a:cs typeface="Calibri"/>
              </a:rPr>
              <a:t>have</a:t>
            </a:r>
            <a:r>
              <a:rPr dirty="0" sz="1800" spc="-3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6FC0"/>
                </a:solidFill>
                <a:latin typeface="Calibri"/>
                <a:cs typeface="Calibri"/>
              </a:rPr>
              <a:t>higher</a:t>
            </a:r>
            <a:r>
              <a:rPr dirty="0" sz="1800" spc="-2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6FC0"/>
                </a:solidFill>
                <a:latin typeface="Calibri"/>
                <a:cs typeface="Calibri"/>
              </a:rPr>
              <a:t>performance</a:t>
            </a:r>
            <a:r>
              <a:rPr dirty="0" sz="1800" spc="-1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6FC0"/>
                </a:solidFill>
                <a:latin typeface="Calibri"/>
                <a:cs typeface="Calibri"/>
              </a:rPr>
              <a:t>as</a:t>
            </a:r>
            <a:r>
              <a:rPr dirty="0" sz="1800" spc="-3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6FC0"/>
                </a:solidFill>
                <a:latin typeface="Calibri"/>
                <a:cs typeface="Calibri"/>
              </a:rPr>
              <a:t>its</a:t>
            </a:r>
            <a:r>
              <a:rPr dirty="0" sz="1800" spc="-3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6FC0"/>
                </a:solidFill>
                <a:latin typeface="Calibri"/>
                <a:cs typeface="Calibri"/>
              </a:rPr>
              <a:t>creation</a:t>
            </a:r>
            <a:r>
              <a:rPr dirty="0" sz="1800" spc="-2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6FC0"/>
                </a:solidFill>
                <a:latin typeface="Calibri"/>
                <a:cs typeface="Calibri"/>
              </a:rPr>
              <a:t>is</a:t>
            </a:r>
            <a:r>
              <a:rPr dirty="0" sz="1800" spc="-3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6FC0"/>
                </a:solidFill>
                <a:latin typeface="Calibri"/>
                <a:cs typeface="Calibri"/>
              </a:rPr>
              <a:t>similar </a:t>
            </a:r>
            <a:r>
              <a:rPr dirty="0" sz="1800">
                <a:solidFill>
                  <a:srgbClr val="006FC0"/>
                </a:solidFill>
                <a:latin typeface="Calibri"/>
                <a:cs typeface="Calibri"/>
              </a:rPr>
              <a:t>to</a:t>
            </a:r>
            <a:r>
              <a:rPr dirty="0" sz="1800" spc="-3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6FC0"/>
                </a:solidFill>
                <a:latin typeface="Calibri"/>
                <a:cs typeface="Calibri"/>
              </a:rPr>
              <a:t>process</a:t>
            </a:r>
            <a:r>
              <a:rPr dirty="0" sz="1800" spc="-3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6FC0"/>
                </a:solidFill>
                <a:latin typeface="Calibri"/>
                <a:cs typeface="Calibri"/>
              </a:rPr>
              <a:t>creation,</a:t>
            </a:r>
            <a:r>
              <a:rPr dirty="0" sz="1800" spc="-1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6FC0"/>
                </a:solidFill>
                <a:latin typeface="Calibri"/>
                <a:cs typeface="Calibri"/>
              </a:rPr>
              <a:t>so</a:t>
            </a:r>
            <a:r>
              <a:rPr dirty="0" sz="1800" spc="-3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6FC0"/>
                </a:solidFill>
                <a:latin typeface="Calibri"/>
                <a:cs typeface="Calibri"/>
              </a:rPr>
              <a:t>boots</a:t>
            </a:r>
            <a:r>
              <a:rPr dirty="0" sz="1800" spc="-3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6FC0"/>
                </a:solidFill>
                <a:latin typeface="Calibri"/>
                <a:cs typeface="Calibri"/>
              </a:rPr>
              <a:t>quickly</a:t>
            </a:r>
            <a:r>
              <a:rPr dirty="0" sz="1800" spc="-2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dirty="0" sz="1800" spc="-1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6FC0"/>
                </a:solidFill>
                <a:latin typeface="Calibri"/>
                <a:cs typeface="Calibri"/>
              </a:rPr>
              <a:t>it</a:t>
            </a:r>
            <a:r>
              <a:rPr dirty="0" sz="1800" spc="-4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6FC0"/>
                </a:solidFill>
                <a:latin typeface="Calibri"/>
                <a:cs typeface="Calibri"/>
              </a:rPr>
              <a:t>has</a:t>
            </a:r>
            <a:r>
              <a:rPr dirty="0" sz="1800" spc="-2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6FC0"/>
                </a:solidFill>
                <a:latin typeface="Calibri"/>
                <a:cs typeface="Calibri"/>
              </a:rPr>
              <a:t>speed,</a:t>
            </a:r>
            <a:r>
              <a:rPr dirty="0" sz="1800" spc="-3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6FC0"/>
                </a:solidFill>
                <a:latin typeface="Calibri"/>
                <a:cs typeface="Calibri"/>
              </a:rPr>
              <a:t>agility </a:t>
            </a:r>
            <a:r>
              <a:rPr dirty="0" sz="180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dirty="0" sz="1800" spc="-2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6FC0"/>
                </a:solidFill>
                <a:latin typeface="Calibri"/>
                <a:cs typeface="Calibri"/>
              </a:rPr>
              <a:t>portability</a:t>
            </a:r>
            <a:endParaRPr sz="1800">
              <a:latin typeface="Calibri"/>
              <a:cs typeface="Calibri"/>
            </a:endParaRPr>
          </a:p>
          <a:p>
            <a:pPr algn="just" marL="472440" indent="-459740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AutoNum type="arabicPeriod" startAt="3"/>
              <a:tabLst>
                <a:tab pos="472440" algn="l"/>
              </a:tabLst>
            </a:pP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VMs</a:t>
            </a:r>
            <a:r>
              <a:rPr dirty="0" sz="1800" spc="-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are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more</a:t>
            </a:r>
            <a:r>
              <a:rPr dirty="0" sz="1800" spc="-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flexible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as</a:t>
            </a:r>
            <a:r>
              <a:rPr dirty="0" sz="1800" spc="-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Hardware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is</a:t>
            </a:r>
            <a:r>
              <a:rPr dirty="0" sz="1800" spc="-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virtualized to</a:t>
            </a:r>
            <a:r>
              <a:rPr dirty="0" sz="1800" spc="-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C00000"/>
                </a:solidFill>
                <a:latin typeface="Calibri"/>
                <a:cs typeface="Calibri"/>
              </a:rPr>
              <a:t>run</a:t>
            </a:r>
            <a:endParaRPr sz="18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multiple OS</a:t>
            </a:r>
            <a:r>
              <a:rPr dirty="0" sz="1800" spc="-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instances.</a:t>
            </a:r>
            <a:endParaRPr sz="1800">
              <a:latin typeface="Calibri"/>
              <a:cs typeface="Calibri"/>
            </a:endParaRPr>
          </a:p>
          <a:p>
            <a:pPr marL="469900" marR="5494655">
              <a:lnSpc>
                <a:spcPct val="100000"/>
              </a:lnSpc>
              <a:spcBef>
                <a:spcPts val="595"/>
              </a:spcBef>
            </a:pPr>
            <a:r>
              <a:rPr dirty="0" sz="1900" spc="-10">
                <a:solidFill>
                  <a:srgbClr val="006FC0"/>
                </a:solidFill>
                <a:latin typeface="Calibri"/>
                <a:cs typeface="Calibri"/>
              </a:rPr>
              <a:t>Containers</a:t>
            </a:r>
            <a:r>
              <a:rPr dirty="0" sz="1900" spc="-2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run</a:t>
            </a:r>
            <a:r>
              <a:rPr dirty="0" sz="1900" spc="-2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on</a:t>
            </a:r>
            <a:r>
              <a:rPr dirty="0" sz="1900" spc="-3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1900" spc="-4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single</a:t>
            </a:r>
            <a:r>
              <a:rPr dirty="0" sz="1900" spc="-2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OS</a:t>
            </a:r>
            <a:r>
              <a:rPr dirty="0" sz="1900" spc="-3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dirty="0" sz="1900" spc="-3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also</a:t>
            </a:r>
            <a:r>
              <a:rPr dirty="0" sz="1900" spc="-4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can</a:t>
            </a:r>
            <a:r>
              <a:rPr dirty="0" sz="1900" spc="-3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support</a:t>
            </a:r>
            <a:r>
              <a:rPr dirty="0" sz="1900" spc="-2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006FC0"/>
                </a:solidFill>
                <a:latin typeface="Calibri"/>
                <a:cs typeface="Calibri"/>
              </a:rPr>
              <a:t>only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Ubuntu</a:t>
            </a:r>
            <a:r>
              <a:rPr dirty="0" sz="1900" spc="-2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006FC0"/>
                </a:solidFill>
                <a:latin typeface="Calibri"/>
                <a:cs typeface="Calibri"/>
              </a:rPr>
              <a:t>containers</a:t>
            </a:r>
            <a:r>
              <a:rPr dirty="0" sz="1900" spc="-2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of</a:t>
            </a:r>
            <a:r>
              <a:rPr dirty="0" sz="1900" spc="-4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that</a:t>
            </a:r>
            <a:r>
              <a:rPr dirty="0" sz="1900" spc="-3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type</a:t>
            </a:r>
            <a:r>
              <a:rPr dirty="0" sz="1900" spc="-3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of</a:t>
            </a:r>
            <a:r>
              <a:rPr dirty="0" sz="1900" spc="-4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OS</a:t>
            </a:r>
            <a:r>
              <a:rPr dirty="0" sz="1900" spc="-4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where</a:t>
            </a:r>
            <a:r>
              <a:rPr dirty="0" sz="1900" spc="-2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its</a:t>
            </a:r>
            <a:r>
              <a:rPr dirty="0" sz="1900" spc="-3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running</a:t>
            </a:r>
            <a:r>
              <a:rPr dirty="0" sz="1900" spc="-2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 spc="-25">
                <a:solidFill>
                  <a:srgbClr val="006FC0"/>
                </a:solidFill>
                <a:latin typeface="Calibri"/>
                <a:cs typeface="Calibri"/>
              </a:rPr>
              <a:t>or </a:t>
            </a:r>
            <a:r>
              <a:rPr dirty="0" sz="1900" spc="-10">
                <a:solidFill>
                  <a:srgbClr val="006FC0"/>
                </a:solidFill>
                <a:latin typeface="Calibri"/>
                <a:cs typeface="Calibri"/>
              </a:rPr>
              <a:t>containers</a:t>
            </a:r>
            <a:r>
              <a:rPr dirty="0" sz="1900" spc="-2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cannot</a:t>
            </a:r>
            <a:r>
              <a:rPr dirty="0" sz="1900" spc="-4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be</a:t>
            </a:r>
            <a:r>
              <a:rPr dirty="0" sz="1900" spc="-3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of</a:t>
            </a:r>
            <a:r>
              <a:rPr dirty="0" sz="1900" spc="-5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different</a:t>
            </a:r>
            <a:r>
              <a:rPr dirty="0" sz="1900" spc="-2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OS</a:t>
            </a:r>
            <a:r>
              <a:rPr dirty="0" sz="1900" spc="-3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006FC0"/>
                </a:solidFill>
                <a:latin typeface="Calibri"/>
                <a:cs typeface="Calibri"/>
              </a:rPr>
              <a:t>variants</a:t>
            </a:r>
            <a:endParaRPr sz="1900">
              <a:latin typeface="Calibri"/>
              <a:cs typeface="Calibri"/>
            </a:endParaRPr>
          </a:p>
          <a:p>
            <a:pPr marL="415290" indent="-342900">
              <a:lnSpc>
                <a:spcPct val="100000"/>
              </a:lnSpc>
              <a:spcBef>
                <a:spcPts val="315"/>
              </a:spcBef>
              <a:buClr>
                <a:srgbClr val="000000"/>
              </a:buClr>
              <a:buAutoNum type="arabicPeriod" startAt="4"/>
              <a:tabLst>
                <a:tab pos="415290" algn="l"/>
              </a:tabLst>
            </a:pP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VMs</a:t>
            </a:r>
            <a:r>
              <a:rPr dirty="0" sz="1800" spc="-5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consume</a:t>
            </a:r>
            <a:r>
              <a:rPr dirty="0" sz="18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more</a:t>
            </a:r>
            <a:r>
              <a:rPr dirty="0" sz="1800" spc="-4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resources</a:t>
            </a:r>
            <a:r>
              <a:rPr dirty="0" sz="180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1800" spc="-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come</a:t>
            </a:r>
            <a:r>
              <a:rPr dirty="0" sz="18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up</a:t>
            </a:r>
            <a:r>
              <a:rPr dirty="0" sz="1800" spc="-4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slower</a:t>
            </a:r>
            <a:r>
              <a:rPr dirty="0" sz="180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than</a:t>
            </a:r>
            <a:r>
              <a:rPr dirty="0" sz="1800" spc="-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Containers</a:t>
            </a:r>
            <a:r>
              <a:rPr dirty="0" sz="1900" spc="-3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which</a:t>
            </a:r>
            <a:r>
              <a:rPr dirty="0" sz="1900" spc="-3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come</a:t>
            </a:r>
            <a:r>
              <a:rPr dirty="0" sz="1900" spc="-5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up</a:t>
            </a:r>
            <a:r>
              <a:rPr dirty="0" sz="1900" spc="-4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more</a:t>
            </a:r>
            <a:r>
              <a:rPr dirty="0" sz="1900" spc="-2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quickly</a:t>
            </a:r>
            <a:r>
              <a:rPr dirty="0" sz="1900" spc="-4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dirty="0" sz="1900" spc="-4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consume</a:t>
            </a:r>
            <a:r>
              <a:rPr dirty="0" sz="1900" spc="-4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006FC0"/>
                </a:solidFill>
                <a:latin typeface="Calibri"/>
                <a:cs typeface="Calibri"/>
              </a:rPr>
              <a:t>fewer</a:t>
            </a:r>
            <a:endParaRPr sz="1900">
              <a:latin typeface="Calibri"/>
              <a:cs typeface="Calibri"/>
            </a:endParaRPr>
          </a:p>
          <a:p>
            <a:pPr marL="415290">
              <a:lnSpc>
                <a:spcPct val="100000"/>
              </a:lnSpc>
              <a:spcBef>
                <a:spcPts val="455"/>
              </a:spcBef>
            </a:pPr>
            <a:r>
              <a:rPr dirty="0" sz="1900" spc="-10">
                <a:solidFill>
                  <a:srgbClr val="006FC0"/>
                </a:solidFill>
                <a:latin typeface="Calibri"/>
                <a:cs typeface="Calibri"/>
              </a:rPr>
              <a:t>resources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VM</a:t>
            </a:r>
            <a:r>
              <a:rPr dirty="0" spc="-3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vs</a:t>
            </a:r>
            <a:r>
              <a:rPr dirty="0" spc="-1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Docker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762" y="1623500"/>
            <a:ext cx="8299450" cy="4494037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1137" y="6389293"/>
          <a:ext cx="5726430" cy="202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360"/>
                <a:gridCol w="2768600"/>
              </a:tblGrid>
              <a:tr h="202565">
                <a:tc>
                  <a:txBody>
                    <a:bodyPr/>
                    <a:lstStyle/>
                    <a:p>
                      <a:pPr marL="31750">
                        <a:lnSpc>
                          <a:spcPts val="1495"/>
                        </a:lnSpc>
                      </a:pPr>
                      <a:r>
                        <a:rPr dirty="0" sz="1600">
                          <a:solidFill>
                            <a:srgbClr val="7E7E7E"/>
                          </a:solidFill>
                          <a:latin typeface="Calibri"/>
                          <a:cs typeface="Calibri"/>
                        </a:rPr>
                        <a:t>More</a:t>
                      </a:r>
                      <a:r>
                        <a:rPr dirty="0" sz="1600" spc="-40">
                          <a:solidFill>
                            <a:srgbClr val="7E7E7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7E7E7E"/>
                          </a:solidFill>
                          <a:latin typeface="Calibri"/>
                          <a:cs typeface="Calibri"/>
                        </a:rPr>
                        <a:t>resource</a:t>
                      </a:r>
                      <a:r>
                        <a:rPr dirty="0" sz="1600" spc="-20">
                          <a:solidFill>
                            <a:srgbClr val="7E7E7E"/>
                          </a:solidFill>
                          <a:latin typeface="Calibri"/>
                          <a:cs typeface="Calibri"/>
                        </a:rPr>
                        <a:t> usage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94740">
                        <a:lnSpc>
                          <a:spcPts val="1495"/>
                        </a:lnSpc>
                      </a:pPr>
                      <a:r>
                        <a:rPr dirty="0" sz="1600">
                          <a:solidFill>
                            <a:srgbClr val="7E7E7E"/>
                          </a:solidFill>
                          <a:latin typeface="Calibri"/>
                          <a:cs typeface="Calibri"/>
                        </a:rPr>
                        <a:t>Less</a:t>
                      </a:r>
                      <a:r>
                        <a:rPr dirty="0" sz="1600" spc="-55">
                          <a:solidFill>
                            <a:srgbClr val="7E7E7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7E7E7E"/>
                          </a:solidFill>
                          <a:latin typeface="Calibri"/>
                          <a:cs typeface="Calibri"/>
                        </a:rPr>
                        <a:t>resource</a:t>
                      </a:r>
                      <a:r>
                        <a:rPr dirty="0" sz="1600" spc="-25">
                          <a:solidFill>
                            <a:srgbClr val="7E7E7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7E7E7E"/>
                          </a:solidFill>
                          <a:latin typeface="Calibri"/>
                          <a:cs typeface="Calibri"/>
                        </a:rPr>
                        <a:t>usage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13436" y="159248"/>
            <a:ext cx="11824335" cy="6412230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CLOUD</a:t>
            </a:r>
            <a:r>
              <a:rPr dirty="0" sz="2400" spc="-1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395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Docker</a:t>
            </a:r>
            <a:endParaRPr sz="2400">
              <a:latin typeface="Arial"/>
              <a:cs typeface="Arial"/>
            </a:endParaRPr>
          </a:p>
          <a:p>
            <a:pPr marL="355600" marR="2938145" indent="-342900">
              <a:lnSpc>
                <a:spcPct val="100800"/>
              </a:lnSpc>
              <a:spcBef>
                <a:spcPts val="2380"/>
              </a:spcBef>
              <a:buChar char="▪"/>
              <a:tabLst>
                <a:tab pos="355600" algn="l"/>
              </a:tabLst>
            </a:pPr>
            <a:r>
              <a:rPr dirty="0" sz="2400">
                <a:latin typeface="Calibri"/>
                <a:cs typeface="Calibri"/>
              </a:rPr>
              <a:t>Docker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open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platform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tool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which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makes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easier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create,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test, </a:t>
            </a:r>
            <a:r>
              <a:rPr dirty="0" sz="2400">
                <a:latin typeface="Calibri"/>
                <a:cs typeface="Calibri"/>
              </a:rPr>
              <a:t>ship,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deploy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execute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applications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using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containers.</a:t>
            </a:r>
            <a:endParaRPr sz="2400">
              <a:latin typeface="Calibri"/>
              <a:cs typeface="Calibri"/>
            </a:endParaRPr>
          </a:p>
          <a:p>
            <a:pPr marL="355600" marR="3164205" indent="-342900">
              <a:lnSpc>
                <a:spcPct val="100800"/>
              </a:lnSpc>
              <a:spcBef>
                <a:spcPts val="555"/>
              </a:spcBef>
              <a:buChar char="▪"/>
              <a:tabLst>
                <a:tab pos="355600" algn="l"/>
              </a:tabLst>
            </a:pPr>
            <a:r>
              <a:rPr dirty="0" sz="2400">
                <a:latin typeface="Calibri"/>
                <a:cs typeface="Calibri"/>
              </a:rPr>
              <a:t>Docker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containers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allow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separate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applications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from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the </a:t>
            </a:r>
            <a:r>
              <a:rPr dirty="0" sz="2400" spc="-10">
                <a:latin typeface="Calibri"/>
                <a:cs typeface="Calibri"/>
              </a:rPr>
              <a:t>infrastructure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enabling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faster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deployment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applications/software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▪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It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significantly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reduces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time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between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writing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code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running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in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25"/>
              </a:spcBef>
            </a:pPr>
            <a:r>
              <a:rPr dirty="0" sz="2400">
                <a:latin typeface="Calibri"/>
                <a:cs typeface="Calibri"/>
              </a:rPr>
              <a:t>production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by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providing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methodologies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shipping,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testing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deploying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code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quickly</a:t>
            </a:r>
            <a:endParaRPr sz="2400">
              <a:latin typeface="Calibri"/>
              <a:cs typeface="Calibri"/>
            </a:endParaRPr>
          </a:p>
          <a:p>
            <a:pPr marL="355600" marR="837565" indent="-342900">
              <a:lnSpc>
                <a:spcPct val="100800"/>
              </a:lnSpc>
              <a:spcBef>
                <a:spcPts val="555"/>
              </a:spcBef>
              <a:buChar char="▪"/>
              <a:tabLst>
                <a:tab pos="355600" algn="l"/>
              </a:tabLst>
            </a:pPr>
            <a:r>
              <a:rPr dirty="0" sz="2400">
                <a:latin typeface="Calibri"/>
                <a:cs typeface="Calibri"/>
              </a:rPr>
              <a:t>It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considered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tool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helps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package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run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application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loosely </a:t>
            </a:r>
            <a:r>
              <a:rPr dirty="0" sz="2400">
                <a:latin typeface="Calibri"/>
                <a:cs typeface="Calibri"/>
              </a:rPr>
              <a:t>isolated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environment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called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container.</a:t>
            </a:r>
            <a:endParaRPr sz="24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575"/>
              </a:spcBef>
              <a:buChar char="▪"/>
              <a:tabLst>
                <a:tab pos="372110" algn="l"/>
              </a:tabLst>
            </a:pPr>
            <a:r>
              <a:rPr dirty="0" sz="2400">
                <a:latin typeface="Calibri"/>
                <a:cs typeface="Calibri"/>
              </a:rPr>
              <a:t>It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could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looked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PaaS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product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level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virtualization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deliver</a:t>
            </a:r>
            <a:r>
              <a:rPr dirty="0" sz="2400" spc="-25">
                <a:latin typeface="Calibri"/>
                <a:cs typeface="Calibri"/>
              </a:rPr>
              <a:t> S/W</a:t>
            </a:r>
            <a:endParaRPr sz="2400">
              <a:latin typeface="Calibri"/>
              <a:cs typeface="Calibri"/>
            </a:endParaRPr>
          </a:p>
          <a:p>
            <a:pPr marL="372110">
              <a:lnSpc>
                <a:spcPct val="100000"/>
              </a:lnSpc>
              <a:spcBef>
                <a:spcPts val="30"/>
              </a:spcBef>
            </a:pPr>
            <a:r>
              <a:rPr dirty="0" sz="2400" spc="-10">
                <a:latin typeface="Calibri"/>
                <a:cs typeface="Calibri"/>
              </a:rPr>
              <a:t>packages</a:t>
            </a:r>
            <a:endParaRPr sz="2400">
              <a:latin typeface="Calibri"/>
              <a:cs typeface="Calibri"/>
            </a:endParaRPr>
          </a:p>
          <a:p>
            <a:pPr marL="372110" marR="5080" indent="-360045">
              <a:lnSpc>
                <a:spcPct val="100800"/>
              </a:lnSpc>
              <a:spcBef>
                <a:spcPts val="550"/>
              </a:spcBef>
              <a:buChar char="▪"/>
              <a:tabLst>
                <a:tab pos="372110" algn="l"/>
              </a:tabLst>
            </a:pPr>
            <a:r>
              <a:rPr dirty="0" sz="2400">
                <a:latin typeface="Calibri"/>
                <a:cs typeface="Calibri"/>
              </a:rPr>
              <a:t>Docker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provides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isolation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security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allow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many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containers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run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single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server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virtual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machine</a:t>
            </a:r>
            <a:endParaRPr sz="24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605"/>
              </a:spcBef>
              <a:buChar char="▪"/>
              <a:tabLst>
                <a:tab pos="372110" algn="l"/>
              </a:tabLst>
            </a:pPr>
            <a:r>
              <a:rPr dirty="0" sz="2400">
                <a:latin typeface="Calibri"/>
                <a:cs typeface="Calibri"/>
              </a:rPr>
              <a:t>Its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typical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find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between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8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-</a:t>
            </a:r>
            <a:r>
              <a:rPr dirty="0" sz="2400">
                <a:latin typeface="Calibri"/>
                <a:cs typeface="Calibri"/>
              </a:rPr>
              <a:t>18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containers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running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simultaneously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single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server/VM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01200" y="1191260"/>
            <a:ext cx="2356104" cy="1751838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0842" y="223900"/>
            <a:ext cx="11722735" cy="535813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455"/>
              </a:spcBef>
            </a:pP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CLOUD</a:t>
            </a:r>
            <a:r>
              <a:rPr dirty="0" sz="2400" spc="-1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395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Docker</a:t>
            </a:r>
            <a:r>
              <a:rPr dirty="0" sz="2400" spc="-10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(Cont.)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2400">
              <a:latin typeface="Arial"/>
              <a:cs typeface="Arial"/>
            </a:endParaRPr>
          </a:p>
          <a:p>
            <a:pPr marL="372110" marR="362585" indent="-360045">
              <a:lnSpc>
                <a:spcPct val="100800"/>
              </a:lnSpc>
              <a:buChar char="▪"/>
              <a:tabLst>
                <a:tab pos="372110" algn="l"/>
              </a:tabLst>
            </a:pPr>
            <a:r>
              <a:rPr dirty="0" sz="2400">
                <a:latin typeface="Calibri"/>
                <a:cs typeface="Calibri"/>
              </a:rPr>
              <a:t>Containers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created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using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Docker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contain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everything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needed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run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application,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so </a:t>
            </a:r>
            <a:r>
              <a:rPr dirty="0" sz="2400">
                <a:latin typeface="Calibri"/>
                <a:cs typeface="Calibri"/>
              </a:rPr>
              <a:t>you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do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not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need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rely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what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currently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installed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host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system</a:t>
            </a:r>
            <a:endParaRPr sz="24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575"/>
              </a:spcBef>
              <a:buChar char="▪"/>
              <a:tabLst>
                <a:tab pos="372110" algn="l"/>
              </a:tabLst>
            </a:pPr>
            <a:r>
              <a:rPr dirty="0" sz="2400">
                <a:latin typeface="Calibri"/>
                <a:cs typeface="Calibri"/>
              </a:rPr>
              <a:t>Docker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allows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these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containers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shared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way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would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work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identically.</a:t>
            </a:r>
            <a:endParaRPr sz="2400">
              <a:latin typeface="Calibri"/>
              <a:cs typeface="Calibri"/>
            </a:endParaRPr>
          </a:p>
          <a:p>
            <a:pPr marL="372110" marR="5080" indent="-360045">
              <a:lnSpc>
                <a:spcPct val="100800"/>
              </a:lnSpc>
              <a:spcBef>
                <a:spcPts val="580"/>
              </a:spcBef>
              <a:buChar char="▪"/>
              <a:tabLst>
                <a:tab pos="372110" algn="l"/>
              </a:tabLst>
            </a:pPr>
            <a:r>
              <a:rPr dirty="0" sz="2400">
                <a:latin typeface="Calibri"/>
                <a:cs typeface="Calibri"/>
              </a:rPr>
              <a:t>Docker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network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applications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such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web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servers,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databases,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mail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servers,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terminal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applications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like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text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editors,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compilers,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network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analysis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tools,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scripts.</a:t>
            </a:r>
            <a:endParaRPr sz="24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575"/>
              </a:spcBef>
              <a:buChar char="▪"/>
              <a:tabLst>
                <a:tab pos="733425" algn="l"/>
              </a:tabLst>
            </a:pP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some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cases,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it’s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even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used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run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GUI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applications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such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web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browsers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and</a:t>
            </a:r>
            <a:endParaRPr sz="2400">
              <a:latin typeface="Calibri"/>
              <a:cs typeface="Calibri"/>
            </a:endParaRPr>
          </a:p>
          <a:p>
            <a:pPr marL="733425">
              <a:lnSpc>
                <a:spcPct val="100000"/>
              </a:lnSpc>
              <a:spcBef>
                <a:spcPts val="25"/>
              </a:spcBef>
            </a:pPr>
            <a:r>
              <a:rPr dirty="0" sz="2400">
                <a:latin typeface="Calibri"/>
                <a:cs typeface="Calibri"/>
              </a:rPr>
              <a:t>productivity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software.</a:t>
            </a:r>
            <a:endParaRPr sz="24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600"/>
              </a:spcBef>
              <a:buChar char="▪"/>
              <a:tabLst>
                <a:tab pos="372110" algn="l"/>
              </a:tabLst>
            </a:pPr>
            <a:r>
              <a:rPr dirty="0" sz="2400">
                <a:latin typeface="Calibri"/>
                <a:cs typeface="Calibri"/>
              </a:rPr>
              <a:t>Docker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runs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Linux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software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most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systems.</a:t>
            </a:r>
            <a:endParaRPr sz="24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600"/>
              </a:spcBef>
              <a:buChar char="▪"/>
              <a:tabLst>
                <a:tab pos="733425" algn="l"/>
              </a:tabLst>
            </a:pPr>
            <a:r>
              <a:rPr dirty="0" sz="2400">
                <a:latin typeface="Calibri"/>
                <a:cs typeface="Calibri"/>
              </a:rPr>
              <a:t>Docker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also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available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native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application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both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macOS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Windows</a:t>
            </a:r>
            <a:endParaRPr sz="24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605"/>
              </a:spcBef>
              <a:buChar char="▪"/>
              <a:tabLst>
                <a:tab pos="733425" algn="l"/>
              </a:tabLst>
            </a:pPr>
            <a:r>
              <a:rPr dirty="0" sz="2400">
                <a:latin typeface="Calibri"/>
                <a:cs typeface="Calibri"/>
              </a:rPr>
              <a:t>Docker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run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native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Windows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applications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modern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Windows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server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machines.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4071" y="761"/>
            <a:ext cx="2602865" cy="847090"/>
          </a:xfrm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19050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Docker</a:t>
            </a:r>
            <a:r>
              <a:rPr dirty="0" spc="-10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Benefits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988822"/>
            <a:ext cx="8299450" cy="0"/>
          </a:xfrm>
          <a:custGeom>
            <a:avLst/>
            <a:gdLst/>
            <a:ahLst/>
            <a:cxnLst/>
            <a:rect l="l" t="t" r="r" b="b"/>
            <a:pathLst>
              <a:path w="8299450" h="0">
                <a:moveTo>
                  <a:pt x="0" y="0"/>
                </a:moveTo>
                <a:lnTo>
                  <a:pt x="8299450" y="0"/>
                </a:lnTo>
              </a:path>
            </a:pathLst>
          </a:custGeom>
          <a:ln w="38100">
            <a:solidFill>
              <a:srgbClr val="C55A1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0685" y="1322908"/>
            <a:ext cx="49053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C00000"/>
                </a:solidFill>
                <a:latin typeface="Arial"/>
                <a:cs typeface="Arial"/>
              </a:rPr>
              <a:t>Portability,</a:t>
            </a:r>
            <a:r>
              <a:rPr dirty="0" sz="2400" spc="-2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00000"/>
                </a:solidFill>
                <a:latin typeface="Arial"/>
                <a:cs typeface="Arial"/>
              </a:rPr>
              <a:t>Shipping</a:t>
            </a:r>
            <a:r>
              <a:rPr dirty="0" sz="2400" spc="-4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Arial"/>
                <a:cs typeface="Arial"/>
              </a:rPr>
              <a:t>Applications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16830" y="1322908"/>
            <a:ext cx="152082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C00000"/>
                </a:solidFill>
                <a:latin typeface="Arial"/>
                <a:cs typeface="Arial"/>
              </a:rPr>
              <a:t>Portability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153" y="1759254"/>
            <a:ext cx="5419799" cy="3896105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954521" y="1759204"/>
            <a:ext cx="5920105" cy="4352925"/>
            <a:chOff x="5954521" y="1759204"/>
            <a:chExt cx="5920105" cy="435292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54521" y="2316353"/>
              <a:ext cx="5567495" cy="379564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29518" y="1759204"/>
              <a:ext cx="1245107" cy="130238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85254" y="6305388"/>
            <a:ext cx="11538585" cy="523240"/>
          </a:xfrm>
          <a:prstGeom prst="rect">
            <a:avLst/>
          </a:prstGeom>
          <a:solidFill>
            <a:srgbClr val="FFD966"/>
          </a:solidFill>
        </p:spPr>
        <p:txBody>
          <a:bodyPr wrap="square" lIns="0" tIns="4127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25"/>
              </a:spcBef>
            </a:pPr>
            <a:r>
              <a:rPr dirty="0" sz="1400">
                <a:latin typeface="Arial"/>
                <a:cs typeface="Arial"/>
              </a:rPr>
              <a:t>Developers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use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Version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Control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Systems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(VCS)</a:t>
            </a:r>
            <a:r>
              <a:rPr dirty="0" sz="1400" spc="37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like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Git.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DevOps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also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uses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VCS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for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docs,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scripts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and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Dockerfiles.</a:t>
            </a:r>
            <a:endParaRPr sz="14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dirty="0" sz="1400">
                <a:latin typeface="Arial"/>
                <a:cs typeface="Arial"/>
              </a:rPr>
              <a:t>DevOps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could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use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Dockerfile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describes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how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build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image,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and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something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like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docker-</a:t>
            </a:r>
            <a:r>
              <a:rPr dirty="0" sz="1400" spc="-10">
                <a:latin typeface="Arial"/>
                <a:cs typeface="Arial"/>
              </a:rPr>
              <a:t>compose.yml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describe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how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orchestrate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them.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45085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13970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Docker</a:t>
            </a:r>
            <a:r>
              <a:rPr dirty="0" spc="-10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Architecture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96998" y="2571191"/>
            <a:ext cx="6695001" cy="396356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91795" y="1246784"/>
            <a:ext cx="11680825" cy="4832985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65"/>
              </a:spcBef>
              <a:buChar char="▪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uses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client-</a:t>
            </a:r>
            <a:r>
              <a:rPr dirty="0" sz="2200">
                <a:latin typeface="Calibri"/>
                <a:cs typeface="Calibri"/>
              </a:rPr>
              <a:t>server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architecture.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860"/>
              </a:spcBef>
              <a:buChar char="▪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client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talks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daemon,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does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heavy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lifting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building,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running,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and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265"/>
              </a:spcBef>
            </a:pPr>
            <a:r>
              <a:rPr dirty="0" sz="2200">
                <a:latin typeface="Calibri"/>
                <a:cs typeface="Calibri"/>
              </a:rPr>
              <a:t>distributing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your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containers.</a:t>
            </a:r>
            <a:endParaRPr sz="2200">
              <a:latin typeface="Calibri"/>
              <a:cs typeface="Calibri"/>
            </a:endParaRPr>
          </a:p>
          <a:p>
            <a:pPr marL="355600" marR="6491605" indent="-342900">
              <a:lnSpc>
                <a:spcPct val="110000"/>
              </a:lnSpc>
              <a:spcBef>
                <a:spcPts val="605"/>
              </a:spcBef>
              <a:buChar char="▪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client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daemon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on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same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system,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you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connect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50">
                <a:latin typeface="Calibri"/>
                <a:cs typeface="Calibri"/>
              </a:rPr>
              <a:t>a </a:t>
            </a: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client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remote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daemon.</a:t>
            </a:r>
            <a:endParaRPr sz="2200">
              <a:latin typeface="Calibri"/>
              <a:cs typeface="Calibri"/>
            </a:endParaRPr>
          </a:p>
          <a:p>
            <a:pPr algn="just" marL="355600" marR="6727190" indent="-342900">
              <a:lnSpc>
                <a:spcPct val="110000"/>
              </a:lnSpc>
              <a:spcBef>
                <a:spcPts val="600"/>
              </a:spcBef>
              <a:buChar char="▪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client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daemon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communicate </a:t>
            </a:r>
            <a:r>
              <a:rPr dirty="0" sz="2200">
                <a:latin typeface="Calibri"/>
                <a:cs typeface="Calibri"/>
              </a:rPr>
              <a:t>using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REST API,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over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UNIX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sockets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50">
                <a:latin typeface="Calibri"/>
                <a:cs typeface="Calibri"/>
              </a:rPr>
              <a:t>a </a:t>
            </a:r>
            <a:r>
              <a:rPr dirty="0" sz="2200">
                <a:latin typeface="Calibri"/>
                <a:cs typeface="Calibri"/>
              </a:rPr>
              <a:t>network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interface.</a:t>
            </a:r>
            <a:endParaRPr sz="2200">
              <a:latin typeface="Calibri"/>
              <a:cs typeface="Calibri"/>
            </a:endParaRPr>
          </a:p>
          <a:p>
            <a:pPr marL="355600" marR="6075680" indent="-342900">
              <a:lnSpc>
                <a:spcPct val="110000"/>
              </a:lnSpc>
              <a:spcBef>
                <a:spcPts val="605"/>
              </a:spcBef>
              <a:buChar char="▪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Another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client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Compose,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lets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you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work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with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applications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consisting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set of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containers.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17079" y="6631025"/>
            <a:ext cx="446151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Arial"/>
                <a:cs typeface="Arial"/>
              </a:rPr>
              <a:t>Reference:</a:t>
            </a:r>
            <a:r>
              <a:rPr dirty="0" sz="1400" spc="-10">
                <a:latin typeface="Arial"/>
                <a:cs typeface="Arial"/>
                <a:hlinkClick r:id="rId3"/>
              </a:rPr>
              <a:t>https://docs.docker.com/get-started/overview/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4447540"/>
            <a:chOff x="0" y="0"/>
            <a:chExt cx="12192000" cy="44475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61985" y="1234439"/>
              <a:ext cx="4430014" cy="321284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1297050"/>
              <a:ext cx="8291830" cy="38100"/>
            </a:xfrm>
            <a:custGeom>
              <a:avLst/>
              <a:gdLst/>
              <a:ahLst/>
              <a:cxnLst/>
              <a:rect l="l" t="t" r="r" b="b"/>
              <a:pathLst>
                <a:path w="8291830" h="38100">
                  <a:moveTo>
                    <a:pt x="8291576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8291576" y="38100"/>
                  </a:lnTo>
                  <a:lnTo>
                    <a:pt x="8291576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327152" y="173233"/>
            <a:ext cx="11118215" cy="6245225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CLOUD</a:t>
            </a:r>
            <a:r>
              <a:rPr dirty="0" sz="2400" spc="-1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395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Docker</a:t>
            </a:r>
            <a:r>
              <a:rPr dirty="0" sz="2400" spc="-7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Architecture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400" b="1">
                <a:solidFill>
                  <a:srgbClr val="006FC0"/>
                </a:solidFill>
                <a:latin typeface="Calibri"/>
                <a:cs typeface="Calibri"/>
              </a:rPr>
              <a:t>The</a:t>
            </a:r>
            <a:r>
              <a:rPr dirty="0" sz="2400" spc="-4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006FC0"/>
                </a:solidFill>
                <a:latin typeface="Calibri"/>
                <a:cs typeface="Calibri"/>
              </a:rPr>
              <a:t>Docker</a:t>
            </a:r>
            <a:r>
              <a:rPr dirty="0" sz="2400" spc="-5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006FC0"/>
                </a:solidFill>
                <a:latin typeface="Calibri"/>
                <a:cs typeface="Calibri"/>
              </a:rPr>
              <a:t>daemon</a:t>
            </a:r>
            <a:endParaRPr sz="2400">
              <a:latin typeface="Calibri"/>
              <a:cs typeface="Calibri"/>
            </a:endParaRPr>
          </a:p>
          <a:p>
            <a:pPr marL="354965" marR="4077335" indent="-342900">
              <a:lnSpc>
                <a:spcPct val="100400"/>
              </a:lnSpc>
              <a:spcBef>
                <a:spcPts val="215"/>
              </a:spcBef>
              <a:buChar char="▪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Docker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daemon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(dockerd)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listens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Docker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API </a:t>
            </a:r>
            <a:r>
              <a:rPr dirty="0" sz="2400">
                <a:latin typeface="Calibri"/>
                <a:cs typeface="Calibri"/>
              </a:rPr>
              <a:t>requests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manages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Docker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objects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such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images, </a:t>
            </a:r>
            <a:r>
              <a:rPr dirty="0" sz="2400">
                <a:latin typeface="Calibri"/>
                <a:cs typeface="Calibri"/>
              </a:rPr>
              <a:t>containers,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networks,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volumes.</a:t>
            </a:r>
            <a:endParaRPr sz="2400">
              <a:latin typeface="Calibri"/>
              <a:cs typeface="Calibri"/>
            </a:endParaRPr>
          </a:p>
          <a:p>
            <a:pPr marL="354965" marR="3752850" indent="-342900">
              <a:lnSpc>
                <a:spcPts val="2900"/>
              </a:lnSpc>
              <a:spcBef>
                <a:spcPts val="60"/>
              </a:spcBef>
              <a:buChar char="▪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daemon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also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communicate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other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daemons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to </a:t>
            </a:r>
            <a:r>
              <a:rPr dirty="0" sz="2400">
                <a:latin typeface="Calibri"/>
                <a:cs typeface="Calibri"/>
              </a:rPr>
              <a:t>manage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Docker</a:t>
            </a:r>
            <a:r>
              <a:rPr dirty="0" sz="2400" spc="-10">
                <a:latin typeface="Calibri"/>
                <a:cs typeface="Calibri"/>
              </a:rPr>
              <a:t> services.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2400" b="1">
                <a:solidFill>
                  <a:srgbClr val="006FC0"/>
                </a:solidFill>
                <a:latin typeface="Calibri"/>
                <a:cs typeface="Calibri"/>
              </a:rPr>
              <a:t>The</a:t>
            </a:r>
            <a:r>
              <a:rPr dirty="0" sz="2400" spc="-4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006FC0"/>
                </a:solidFill>
                <a:latin typeface="Calibri"/>
                <a:cs typeface="Calibri"/>
              </a:rPr>
              <a:t>Docker</a:t>
            </a:r>
            <a:r>
              <a:rPr dirty="0" sz="2400" spc="-5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006FC0"/>
                </a:solidFill>
                <a:latin typeface="Calibri"/>
                <a:cs typeface="Calibri"/>
              </a:rPr>
              <a:t>client</a:t>
            </a:r>
            <a:endParaRPr sz="2400">
              <a:latin typeface="Calibri"/>
              <a:cs typeface="Calibri"/>
            </a:endParaRPr>
          </a:p>
          <a:p>
            <a:pPr marL="354965" marR="3818890" indent="-342900">
              <a:lnSpc>
                <a:spcPct val="100800"/>
              </a:lnSpc>
              <a:spcBef>
                <a:spcPts val="204"/>
              </a:spcBef>
              <a:buChar char="▪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Docker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client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(docker)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primary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way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many </a:t>
            </a:r>
            <a:r>
              <a:rPr dirty="0" sz="2400">
                <a:latin typeface="Calibri"/>
                <a:cs typeface="Calibri"/>
              </a:rPr>
              <a:t>Docker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users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interact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Docker.</a:t>
            </a:r>
            <a:endParaRPr sz="2400">
              <a:latin typeface="Calibri"/>
              <a:cs typeface="Calibri"/>
            </a:endParaRPr>
          </a:p>
          <a:p>
            <a:pPr marL="354965" marR="5080" indent="-342900">
              <a:lnSpc>
                <a:spcPts val="2900"/>
              </a:lnSpc>
              <a:spcBef>
                <a:spcPts val="55"/>
              </a:spcBef>
              <a:buChar char="▪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When</a:t>
            </a:r>
            <a:r>
              <a:rPr dirty="0" sz="2400" spc="5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you</a:t>
            </a:r>
            <a:r>
              <a:rPr dirty="0" sz="2400" spc="5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</a:t>
            </a:r>
            <a:r>
              <a:rPr dirty="0" sz="2400" spc="5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commands</a:t>
            </a:r>
            <a:r>
              <a:rPr dirty="0" sz="2400" spc="5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such</a:t>
            </a:r>
            <a:r>
              <a:rPr dirty="0" sz="2400" spc="5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509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docker</a:t>
            </a:r>
            <a:r>
              <a:rPr dirty="0" sz="2400" spc="52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run</a:t>
            </a:r>
            <a:r>
              <a:rPr dirty="0" sz="2400">
                <a:latin typeface="Calibri"/>
                <a:cs typeface="Calibri"/>
              </a:rPr>
              <a:t>,</a:t>
            </a:r>
            <a:r>
              <a:rPr dirty="0" sz="2400" spc="5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5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client</a:t>
            </a:r>
            <a:r>
              <a:rPr dirty="0" sz="2400" spc="5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sends</a:t>
            </a:r>
            <a:r>
              <a:rPr dirty="0" sz="2400" spc="5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these</a:t>
            </a:r>
            <a:r>
              <a:rPr dirty="0" sz="2400" spc="5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commands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’dockerd’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(docker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daemon),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which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carries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them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out.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ts val="2785"/>
              </a:lnSpc>
              <a:buChar char="▪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docker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command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Docker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API.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Char char="▪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Docker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client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communicate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more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than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daemon.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13970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Docker</a:t>
            </a:r>
            <a:r>
              <a:rPr dirty="0" spc="-10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Architecture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6905" y="1304695"/>
            <a:ext cx="11430635" cy="4967605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Docker</a:t>
            </a:r>
            <a:r>
              <a:rPr dirty="0" sz="2200" spc="-5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spc="-20" b="1">
                <a:solidFill>
                  <a:srgbClr val="006FC0"/>
                </a:solidFill>
                <a:latin typeface="Calibri"/>
                <a:cs typeface="Calibri"/>
              </a:rPr>
              <a:t>Host</a:t>
            </a:r>
            <a:endParaRPr sz="2200">
              <a:latin typeface="Calibri"/>
              <a:cs typeface="Calibri"/>
            </a:endParaRPr>
          </a:p>
          <a:p>
            <a:pPr marL="355600" marR="15240" indent="-342900">
              <a:lnSpc>
                <a:spcPts val="3170"/>
              </a:lnSpc>
              <a:spcBef>
                <a:spcPts val="195"/>
              </a:spcBef>
              <a:buChar char="▪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Host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Daemon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running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host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(like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private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hub/registry)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connect </a:t>
            </a:r>
            <a:r>
              <a:rPr dirty="0" sz="2200">
                <a:latin typeface="Calibri"/>
                <a:cs typeface="Calibri"/>
              </a:rPr>
              <a:t>(like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public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docker_hub/registry)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Registry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stores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Images.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34"/>
              </a:spcBef>
              <a:buChar char="▪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Daemon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running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within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Host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responsible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Objects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images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and</a:t>
            </a:r>
            <a:endParaRPr sz="2200">
              <a:latin typeface="Calibri"/>
              <a:cs typeface="Calibri"/>
            </a:endParaRPr>
          </a:p>
          <a:p>
            <a:pPr algn="ctr" marR="9448165">
              <a:lnSpc>
                <a:spcPct val="100000"/>
              </a:lnSpc>
              <a:spcBef>
                <a:spcPts val="525"/>
              </a:spcBef>
            </a:pPr>
            <a:r>
              <a:rPr dirty="0" sz="2200" spc="-10">
                <a:latin typeface="Calibri"/>
                <a:cs typeface="Calibri"/>
              </a:rPr>
              <a:t>containers.</a:t>
            </a:r>
            <a:endParaRPr sz="2200">
              <a:latin typeface="Calibri"/>
              <a:cs typeface="Calibri"/>
            </a:endParaRPr>
          </a:p>
          <a:p>
            <a:pPr algn="ctr" marR="9497060">
              <a:lnSpc>
                <a:spcPct val="100000"/>
              </a:lnSpc>
              <a:spcBef>
                <a:spcPts val="530"/>
              </a:spcBef>
            </a:pP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Docker</a:t>
            </a:r>
            <a:r>
              <a:rPr dirty="0" sz="2200" spc="-5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Objects</a:t>
            </a:r>
            <a:r>
              <a:rPr dirty="0" sz="2200" spc="-7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spc="-50" b="1">
                <a:solidFill>
                  <a:srgbClr val="006FC0"/>
                </a:solidFill>
                <a:latin typeface="Calibri"/>
                <a:cs typeface="Calibri"/>
              </a:rPr>
              <a:t>: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dirty="0" sz="2200">
                <a:latin typeface="Calibri"/>
                <a:cs typeface="Calibri"/>
              </a:rPr>
              <a:t>There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objects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like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60"/>
              </a:spcBef>
              <a:buChar char="▪"/>
              <a:tabLst>
                <a:tab pos="354965" algn="l"/>
              </a:tabLst>
            </a:pPr>
            <a:r>
              <a:rPr dirty="0" sz="2200" spc="-10">
                <a:latin typeface="Calibri"/>
                <a:cs typeface="Calibri"/>
              </a:rPr>
              <a:t>Images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70"/>
              </a:spcBef>
              <a:buChar char="▪"/>
              <a:tabLst>
                <a:tab pos="354965" algn="l"/>
              </a:tabLst>
            </a:pPr>
            <a:r>
              <a:rPr dirty="0" sz="2200" spc="-10">
                <a:latin typeface="Calibri"/>
                <a:cs typeface="Calibri"/>
              </a:rPr>
              <a:t>Containers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65"/>
              </a:spcBef>
              <a:buChar char="▪"/>
              <a:tabLst>
                <a:tab pos="354965" algn="l"/>
              </a:tabLst>
            </a:pPr>
            <a:r>
              <a:rPr dirty="0" sz="2200" spc="-10">
                <a:latin typeface="Calibri"/>
                <a:cs typeface="Calibri"/>
              </a:rPr>
              <a:t>Networks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60"/>
              </a:spcBef>
              <a:buChar char="▪"/>
              <a:tabLst>
                <a:tab pos="354965" algn="l"/>
              </a:tabLst>
            </a:pPr>
            <a:r>
              <a:rPr dirty="0" sz="2200" spc="-10">
                <a:latin typeface="Calibri"/>
                <a:cs typeface="Calibri"/>
              </a:rPr>
              <a:t>Volumes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70"/>
              </a:spcBef>
              <a:buChar char="▪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Plugins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other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objects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created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used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while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using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docker.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65405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Docker</a:t>
            </a:r>
            <a:r>
              <a:rPr dirty="0" spc="-3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Objects</a:t>
            </a:r>
            <a:r>
              <a:rPr dirty="0" spc="-4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:</a:t>
            </a:r>
            <a:r>
              <a:rPr dirty="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006FC0"/>
                </a:solidFill>
                <a:latin typeface="Arial"/>
                <a:cs typeface="Arial"/>
              </a:rPr>
              <a:t>Images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16484" y="1304695"/>
            <a:ext cx="11505565" cy="46043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6985">
              <a:lnSpc>
                <a:spcPct val="120000"/>
              </a:lnSpc>
              <a:spcBef>
                <a:spcPts val="100"/>
              </a:spcBef>
            </a:pPr>
            <a:r>
              <a:rPr dirty="0" sz="2200" b="1">
                <a:solidFill>
                  <a:srgbClr val="C00000"/>
                </a:solidFill>
                <a:latin typeface="Calibri"/>
                <a:cs typeface="Calibri"/>
              </a:rPr>
              <a:t>Images</a:t>
            </a:r>
            <a:r>
              <a:rPr dirty="0" sz="2200" spc="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C00000"/>
                </a:solidFill>
                <a:latin typeface="Calibri"/>
                <a:cs typeface="Calibri"/>
              </a:rPr>
              <a:t>:</a:t>
            </a:r>
            <a:r>
              <a:rPr dirty="0" sz="2200" spc="4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read-</a:t>
            </a:r>
            <a:r>
              <a:rPr dirty="0" sz="2200">
                <a:latin typeface="Calibri"/>
                <a:cs typeface="Calibri"/>
              </a:rPr>
              <a:t>only</a:t>
            </a:r>
            <a:r>
              <a:rPr dirty="0" sz="2200" spc="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template</a:t>
            </a:r>
            <a:r>
              <a:rPr dirty="0" sz="2200" spc="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with</a:t>
            </a:r>
            <a:r>
              <a:rPr dirty="0" sz="2200" spc="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instructions</a:t>
            </a:r>
            <a:r>
              <a:rPr dirty="0" sz="2200" spc="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creating</a:t>
            </a:r>
            <a:r>
              <a:rPr dirty="0" sz="2200" spc="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container.</a:t>
            </a:r>
            <a:r>
              <a:rPr dirty="0" sz="2200" spc="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could</a:t>
            </a:r>
            <a:r>
              <a:rPr dirty="0" sz="2200" spc="4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be </a:t>
            </a:r>
            <a:r>
              <a:rPr dirty="0" sz="2200">
                <a:latin typeface="Calibri"/>
                <a:cs typeface="Calibri"/>
              </a:rPr>
              <a:t>based</a:t>
            </a:r>
            <a:r>
              <a:rPr dirty="0" sz="2200" spc="229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2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another</a:t>
            </a:r>
            <a:r>
              <a:rPr dirty="0" sz="2200" spc="2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image</a:t>
            </a:r>
            <a:r>
              <a:rPr dirty="0" sz="2200" spc="254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(available</a:t>
            </a:r>
            <a:r>
              <a:rPr dirty="0" sz="2200" spc="2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2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2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registry)</a:t>
            </a:r>
            <a:r>
              <a:rPr dirty="0" sz="2200" spc="254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with</a:t>
            </a:r>
            <a:r>
              <a:rPr dirty="0" sz="2200" spc="2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additional</a:t>
            </a:r>
            <a:r>
              <a:rPr dirty="0" sz="2200" spc="2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customizations.</a:t>
            </a:r>
            <a:r>
              <a:rPr dirty="0" sz="2200" spc="2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Eg.</a:t>
            </a:r>
            <a:r>
              <a:rPr dirty="0" sz="2200" spc="229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Image</a:t>
            </a:r>
            <a:r>
              <a:rPr dirty="0" sz="2200" spc="2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229">
                <a:latin typeface="Calibri"/>
                <a:cs typeface="Calibri"/>
              </a:rPr>
              <a:t> </a:t>
            </a:r>
            <a:r>
              <a:rPr dirty="0" sz="2200" spc="-50">
                <a:latin typeface="Calibri"/>
                <a:cs typeface="Calibri"/>
              </a:rPr>
              <a:t>a </a:t>
            </a:r>
            <a:r>
              <a:rPr dirty="0" sz="2200">
                <a:latin typeface="Calibri"/>
                <a:cs typeface="Calibri"/>
              </a:rPr>
              <a:t>Webserver</a:t>
            </a:r>
            <a:r>
              <a:rPr dirty="0" sz="2200" spc="75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..</a:t>
            </a:r>
            <a:r>
              <a:rPr dirty="0" sz="2200" spc="75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Original</a:t>
            </a:r>
            <a:r>
              <a:rPr dirty="0" sz="2200" spc="70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image</a:t>
            </a:r>
            <a:r>
              <a:rPr dirty="0" sz="2200" spc="80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80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Ubuntu</a:t>
            </a:r>
            <a:r>
              <a:rPr dirty="0" sz="2200" spc="70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customized</a:t>
            </a:r>
            <a:r>
              <a:rPr dirty="0" sz="2200" spc="75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with</a:t>
            </a:r>
            <a:r>
              <a:rPr dirty="0" sz="2200" spc="75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installation</a:t>
            </a:r>
            <a:r>
              <a:rPr dirty="0" sz="2200" spc="80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70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configuration</a:t>
            </a:r>
            <a:r>
              <a:rPr dirty="0" sz="2200" spc="80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80">
                <a:latin typeface="Calibri"/>
                <a:cs typeface="Calibri"/>
              </a:rPr>
              <a:t>  </a:t>
            </a:r>
            <a:r>
              <a:rPr dirty="0" sz="2200" spc="-25">
                <a:latin typeface="Calibri"/>
                <a:cs typeface="Calibri"/>
              </a:rPr>
              <a:t>the </a:t>
            </a:r>
            <a:r>
              <a:rPr dirty="0" sz="2200">
                <a:latin typeface="Calibri"/>
                <a:cs typeface="Calibri"/>
              </a:rPr>
              <a:t>webserver</a:t>
            </a:r>
            <a:r>
              <a:rPr dirty="0" sz="2200" spc="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created</a:t>
            </a:r>
            <a:r>
              <a:rPr dirty="0" sz="2200" spc="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only</a:t>
            </a:r>
            <a:r>
              <a:rPr dirty="0" sz="2200" spc="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read-</a:t>
            </a:r>
            <a:r>
              <a:rPr dirty="0" sz="2200">
                <a:latin typeface="Calibri"/>
                <a:cs typeface="Calibri"/>
              </a:rPr>
              <a:t>only</a:t>
            </a:r>
            <a:r>
              <a:rPr dirty="0" sz="2200" spc="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image</a:t>
            </a:r>
            <a:r>
              <a:rPr dirty="0" sz="2200" spc="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deployed</a:t>
            </a:r>
            <a:r>
              <a:rPr dirty="0" sz="2200" spc="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</a:t>
            </a:r>
            <a:r>
              <a:rPr dirty="0" sz="2200" spc="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application</a:t>
            </a:r>
            <a:r>
              <a:rPr dirty="0" sz="2200" spc="3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can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same.</a:t>
            </a:r>
            <a:endParaRPr sz="220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  <a:spcBef>
                <a:spcPts val="925"/>
              </a:spcBef>
            </a:pP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3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3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done</a:t>
            </a:r>
            <a:r>
              <a:rPr dirty="0" sz="2200" spc="3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using</a:t>
            </a:r>
            <a:r>
              <a:rPr dirty="0" sz="2200" spc="30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310">
                <a:latin typeface="Calibri"/>
                <a:cs typeface="Calibri"/>
              </a:rPr>
              <a:t> </a:t>
            </a:r>
            <a:r>
              <a:rPr dirty="0" sz="2200" b="1" i="1">
                <a:solidFill>
                  <a:srgbClr val="C00000"/>
                </a:solidFill>
                <a:latin typeface="Calibri"/>
                <a:cs typeface="Calibri"/>
              </a:rPr>
              <a:t>Dockerfile</a:t>
            </a:r>
            <a:r>
              <a:rPr dirty="0" sz="2200" spc="310" b="1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3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script</a:t>
            </a:r>
            <a:r>
              <a:rPr dirty="0" sz="2200" spc="3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file</a:t>
            </a:r>
            <a:r>
              <a:rPr dirty="0" sz="2200" spc="3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3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defines</a:t>
            </a:r>
            <a:r>
              <a:rPr dirty="0" sz="2200" spc="3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3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syntax</a:t>
            </a:r>
            <a:r>
              <a:rPr dirty="0" sz="2200" spc="30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3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indicate</a:t>
            </a:r>
            <a:r>
              <a:rPr dirty="0" sz="2200" spc="30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steps</a:t>
            </a:r>
            <a:r>
              <a:rPr dirty="0" sz="2200" spc="3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needed</a:t>
            </a:r>
            <a:r>
              <a:rPr dirty="0" sz="2200" spc="31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to</a:t>
            </a:r>
            <a:endParaRPr sz="220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  <a:spcBef>
                <a:spcPts val="530"/>
              </a:spcBef>
            </a:pPr>
            <a:r>
              <a:rPr dirty="0" sz="2200">
                <a:latin typeface="Calibri"/>
                <a:cs typeface="Calibri"/>
              </a:rPr>
              <a:t>create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image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(and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using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command).</a:t>
            </a:r>
            <a:endParaRPr sz="220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  <a:spcBef>
                <a:spcPts val="935"/>
              </a:spcBef>
            </a:pPr>
            <a:r>
              <a:rPr dirty="0" sz="2200">
                <a:latin typeface="Calibri"/>
                <a:cs typeface="Calibri"/>
              </a:rPr>
              <a:t>Each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instruction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Dockerfile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creates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b="1" i="1">
                <a:solidFill>
                  <a:srgbClr val="C00000"/>
                </a:solidFill>
                <a:latin typeface="Calibri"/>
                <a:cs typeface="Calibri"/>
              </a:rPr>
              <a:t>layer</a:t>
            </a:r>
            <a:r>
              <a:rPr dirty="0" sz="2200" spc="-25" b="1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image.</a:t>
            </a:r>
            <a:endParaRPr sz="2200">
              <a:latin typeface="Calibri"/>
              <a:cs typeface="Calibri"/>
            </a:endParaRPr>
          </a:p>
          <a:p>
            <a:pPr algn="just" marL="12700" marR="5080">
              <a:lnSpc>
                <a:spcPct val="120100"/>
              </a:lnSpc>
              <a:spcBef>
                <a:spcPts val="395"/>
              </a:spcBef>
            </a:pPr>
            <a:r>
              <a:rPr dirty="0" sz="2200">
                <a:latin typeface="Calibri"/>
                <a:cs typeface="Calibri"/>
              </a:rPr>
              <a:t>These</a:t>
            </a:r>
            <a:r>
              <a:rPr dirty="0" sz="2200" spc="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Dockerfiles</a:t>
            </a:r>
            <a:r>
              <a:rPr dirty="0" sz="2200" spc="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distributed</a:t>
            </a:r>
            <a:r>
              <a:rPr dirty="0" sz="2200" spc="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along</a:t>
            </a:r>
            <a:r>
              <a:rPr dirty="0" sz="2200" spc="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with software</a:t>
            </a:r>
            <a:r>
              <a:rPr dirty="0" sz="2200" spc="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author wants</a:t>
            </a:r>
            <a:r>
              <a:rPr dirty="0" sz="2200" spc="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put</a:t>
            </a:r>
            <a:r>
              <a:rPr dirty="0" sz="2200" spc="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into</a:t>
            </a:r>
            <a:r>
              <a:rPr dirty="0" sz="2200" spc="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 </a:t>
            </a:r>
            <a:r>
              <a:rPr dirty="0" sz="2200" spc="-10">
                <a:latin typeface="Calibri"/>
                <a:cs typeface="Calibri"/>
              </a:rPr>
              <a:t>image.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case,</a:t>
            </a:r>
            <a:r>
              <a:rPr dirty="0" sz="2200" spc="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you’re</a:t>
            </a:r>
            <a:r>
              <a:rPr dirty="0" sz="2200" spc="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not</a:t>
            </a:r>
            <a:r>
              <a:rPr dirty="0" sz="2200" spc="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technically</a:t>
            </a:r>
            <a:r>
              <a:rPr dirty="0" sz="2200" spc="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installing</a:t>
            </a:r>
            <a:r>
              <a:rPr dirty="0" sz="2200" spc="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</a:t>
            </a:r>
            <a:r>
              <a:rPr dirty="0" sz="2200" spc="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image.</a:t>
            </a:r>
            <a:r>
              <a:rPr dirty="0" sz="2200" spc="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Instead,</a:t>
            </a:r>
            <a:r>
              <a:rPr dirty="0" sz="2200" spc="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you’re</a:t>
            </a:r>
            <a:r>
              <a:rPr dirty="0" sz="2200" spc="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following</a:t>
            </a:r>
            <a:r>
              <a:rPr dirty="0" sz="2200" spc="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instructions</a:t>
            </a:r>
            <a:r>
              <a:rPr dirty="0" sz="2200" spc="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7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build </a:t>
            </a:r>
            <a:r>
              <a:rPr dirty="0" sz="2200">
                <a:latin typeface="Calibri"/>
                <a:cs typeface="Calibri"/>
              </a:rPr>
              <a:t>an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image.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7340" y="235711"/>
            <a:ext cx="260286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66191" y="690753"/>
            <a:ext cx="11730990" cy="52241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540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Docker</a:t>
            </a:r>
            <a:r>
              <a:rPr dirty="0" sz="2400" spc="-4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Objects</a:t>
            </a:r>
            <a:r>
              <a:rPr dirty="0" sz="2400" spc="-6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:</a:t>
            </a:r>
            <a:r>
              <a:rPr dirty="0" sz="2400" spc="-5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6FC0"/>
                </a:solidFill>
                <a:latin typeface="Arial"/>
                <a:cs typeface="Arial"/>
              </a:rPr>
              <a:t>Images</a:t>
            </a:r>
            <a:r>
              <a:rPr dirty="0" sz="2400" spc="-50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–</a:t>
            </a:r>
            <a:r>
              <a:rPr dirty="0" sz="2400" spc="-6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More</a:t>
            </a:r>
            <a:r>
              <a:rPr dirty="0" sz="2400" spc="-5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on</a:t>
            </a:r>
            <a:r>
              <a:rPr dirty="0" sz="2400" spc="-70" b="1"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Dockerfile</a:t>
            </a:r>
            <a:endParaRPr sz="2400">
              <a:latin typeface="Arial"/>
              <a:cs typeface="Arial"/>
            </a:endParaRPr>
          </a:p>
          <a:p>
            <a:pPr marL="372110" marR="378460" indent="-360045">
              <a:lnSpc>
                <a:spcPct val="110000"/>
              </a:lnSpc>
              <a:spcBef>
                <a:spcPts val="2045"/>
              </a:spcBef>
              <a:buChar char="▪"/>
              <a:tabLst>
                <a:tab pos="372110" algn="l"/>
              </a:tabLst>
            </a:pPr>
            <a:r>
              <a:rPr dirty="0" sz="2000">
                <a:latin typeface="Calibri"/>
                <a:cs typeface="Calibri"/>
              </a:rPr>
              <a:t>Distributing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Dockerfile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similar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distributing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image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files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using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your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own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distribution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mechanisms.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50">
                <a:latin typeface="Calibri"/>
                <a:cs typeface="Calibri"/>
              </a:rPr>
              <a:t>A </a:t>
            </a:r>
            <a:r>
              <a:rPr dirty="0" sz="2000">
                <a:latin typeface="Calibri"/>
                <a:cs typeface="Calibri"/>
              </a:rPr>
              <a:t>common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pattern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distribute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Dockerfile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software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common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version-</a:t>
            </a:r>
            <a:r>
              <a:rPr dirty="0" sz="2000">
                <a:latin typeface="Calibri"/>
                <a:cs typeface="Calibri"/>
              </a:rPr>
              <a:t>control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systems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like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Git.</a:t>
            </a:r>
            <a:endParaRPr sz="2000">
              <a:latin typeface="Calibri"/>
              <a:cs typeface="Calibri"/>
            </a:endParaRPr>
          </a:p>
          <a:p>
            <a:pPr lvl="1" marL="789305" indent="-417195">
              <a:lnSpc>
                <a:spcPct val="100000"/>
              </a:lnSpc>
              <a:spcBef>
                <a:spcPts val="1019"/>
              </a:spcBef>
              <a:buClr>
                <a:srgbClr val="833B0A"/>
              </a:buClr>
              <a:buFont typeface="Arial"/>
              <a:buChar char="•"/>
              <a:tabLst>
                <a:tab pos="789305" algn="l"/>
              </a:tabLst>
            </a:pPr>
            <a:r>
              <a:rPr dirty="0" sz="2000">
                <a:latin typeface="Calibri"/>
                <a:cs typeface="Calibri"/>
              </a:rPr>
              <a:t>If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have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Git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installed,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try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running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example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public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repository:</a:t>
            </a:r>
            <a:endParaRPr sz="2000">
              <a:latin typeface="Calibri"/>
              <a:cs typeface="Calibri"/>
            </a:endParaRPr>
          </a:p>
          <a:p>
            <a:pPr lvl="2" marL="1163955" indent="-358775">
              <a:lnSpc>
                <a:spcPct val="100000"/>
              </a:lnSpc>
              <a:spcBef>
                <a:spcPts val="1085"/>
              </a:spcBef>
              <a:buClr>
                <a:srgbClr val="000000"/>
              </a:buClr>
              <a:buFont typeface="Courier New"/>
              <a:buChar char="o"/>
              <a:tabLst>
                <a:tab pos="1163955" algn="l"/>
              </a:tabLst>
            </a:pPr>
            <a:r>
              <a:rPr dirty="0" sz="2000">
                <a:solidFill>
                  <a:srgbClr val="006FC0"/>
                </a:solidFill>
                <a:latin typeface="Calibri"/>
                <a:cs typeface="Calibri"/>
              </a:rPr>
              <a:t>git</a:t>
            </a:r>
            <a:r>
              <a:rPr dirty="0" sz="2000" spc="-2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06FC0"/>
                </a:solidFill>
                <a:latin typeface="Calibri"/>
                <a:cs typeface="Calibri"/>
              </a:rPr>
              <a:t>clone</a:t>
            </a:r>
            <a:r>
              <a:rPr dirty="0" sz="2000" spc="-1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006FC0"/>
                </a:solidFill>
                <a:latin typeface="Calibri"/>
                <a:cs typeface="Calibri"/>
                <a:hlinkClick r:id="rId2"/>
              </a:rPr>
              <a:t>https://github.com/dockerinaction/ch3_dockerfile.git</a:t>
            </a:r>
            <a:endParaRPr sz="2000">
              <a:latin typeface="Calibri"/>
              <a:cs typeface="Calibri"/>
            </a:endParaRPr>
          </a:p>
          <a:p>
            <a:pPr lvl="2" marL="1163955" indent="-358775">
              <a:lnSpc>
                <a:spcPct val="100000"/>
              </a:lnSpc>
              <a:spcBef>
                <a:spcPts val="1075"/>
              </a:spcBef>
              <a:buClr>
                <a:srgbClr val="000000"/>
              </a:buClr>
              <a:buFont typeface="Courier New"/>
              <a:buChar char="o"/>
              <a:tabLst>
                <a:tab pos="1163955" algn="l"/>
              </a:tabLst>
            </a:pPr>
            <a:r>
              <a:rPr dirty="0" sz="2000">
                <a:solidFill>
                  <a:srgbClr val="006FC0"/>
                </a:solidFill>
                <a:latin typeface="Calibri"/>
                <a:cs typeface="Calibri"/>
              </a:rPr>
              <a:t>docker</a:t>
            </a:r>
            <a:r>
              <a:rPr dirty="0" sz="2000" spc="-1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06FC0"/>
                </a:solidFill>
                <a:latin typeface="Calibri"/>
                <a:cs typeface="Calibri"/>
              </a:rPr>
              <a:t>build </a:t>
            </a:r>
            <a:r>
              <a:rPr dirty="0" sz="2000" spc="-10">
                <a:solidFill>
                  <a:srgbClr val="006FC0"/>
                </a:solidFill>
                <a:latin typeface="Calibri"/>
                <a:cs typeface="Calibri"/>
              </a:rPr>
              <a:t>-</a:t>
            </a:r>
            <a:r>
              <a:rPr dirty="0" sz="2000">
                <a:solidFill>
                  <a:srgbClr val="006FC0"/>
                </a:solidFill>
                <a:latin typeface="Calibri"/>
                <a:cs typeface="Calibri"/>
              </a:rPr>
              <a:t>t</a:t>
            </a:r>
            <a:r>
              <a:rPr dirty="0" sz="2000" spc="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006FC0"/>
                </a:solidFill>
                <a:latin typeface="Calibri"/>
                <a:cs typeface="Calibri"/>
              </a:rPr>
              <a:t>dia_ch3/dockerfile:latest</a:t>
            </a:r>
            <a:r>
              <a:rPr dirty="0" sz="2000" spc="1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006FC0"/>
                </a:solidFill>
                <a:latin typeface="Calibri"/>
                <a:cs typeface="Calibri"/>
              </a:rPr>
              <a:t>ch3_dockerfile</a:t>
            </a:r>
            <a:endParaRPr sz="2000">
              <a:latin typeface="Calibri"/>
              <a:cs typeface="Calibri"/>
            </a:endParaRPr>
          </a:p>
          <a:p>
            <a:pPr algn="just" marL="443865" marR="5080">
              <a:lnSpc>
                <a:spcPct val="110000"/>
              </a:lnSpc>
              <a:spcBef>
                <a:spcPts val="660"/>
              </a:spcBef>
            </a:pPr>
            <a:r>
              <a:rPr dirty="0" sz="2000" i="1">
                <a:latin typeface="Calibri"/>
                <a:cs typeface="Calibri"/>
              </a:rPr>
              <a:t>In</a:t>
            </a:r>
            <a:r>
              <a:rPr dirty="0" sz="2000" spc="4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this</a:t>
            </a:r>
            <a:r>
              <a:rPr dirty="0" sz="2000" spc="3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example,</a:t>
            </a:r>
            <a:r>
              <a:rPr dirty="0" sz="2000" spc="4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you</a:t>
            </a:r>
            <a:r>
              <a:rPr dirty="0" sz="2000" spc="5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copy</a:t>
            </a:r>
            <a:r>
              <a:rPr dirty="0" sz="2000" spc="5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the</a:t>
            </a:r>
            <a:r>
              <a:rPr dirty="0" sz="2000" spc="5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project</a:t>
            </a:r>
            <a:r>
              <a:rPr dirty="0" sz="2000" spc="5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from</a:t>
            </a:r>
            <a:r>
              <a:rPr dirty="0" sz="2000" spc="4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a</a:t>
            </a:r>
            <a:r>
              <a:rPr dirty="0" sz="2000" spc="5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public</a:t>
            </a:r>
            <a:r>
              <a:rPr dirty="0" sz="2000" spc="5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source</a:t>
            </a:r>
            <a:r>
              <a:rPr dirty="0" sz="2000" spc="6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repository</a:t>
            </a:r>
            <a:r>
              <a:rPr dirty="0" sz="2000" spc="5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onto</a:t>
            </a:r>
            <a:r>
              <a:rPr dirty="0" sz="2000" spc="6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your</a:t>
            </a:r>
            <a:r>
              <a:rPr dirty="0" sz="2000" spc="5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computer</a:t>
            </a:r>
            <a:r>
              <a:rPr dirty="0" sz="2000" spc="4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and</a:t>
            </a:r>
            <a:r>
              <a:rPr dirty="0" sz="2000" spc="4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then</a:t>
            </a:r>
            <a:r>
              <a:rPr dirty="0" sz="2000" spc="5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build</a:t>
            </a:r>
            <a:r>
              <a:rPr dirty="0" sz="2000" spc="60" i="1">
                <a:latin typeface="Calibri"/>
                <a:cs typeface="Calibri"/>
              </a:rPr>
              <a:t> </a:t>
            </a:r>
            <a:r>
              <a:rPr dirty="0" sz="2000" spc="-25" i="1">
                <a:latin typeface="Calibri"/>
                <a:cs typeface="Calibri"/>
              </a:rPr>
              <a:t>and </a:t>
            </a:r>
            <a:r>
              <a:rPr dirty="0" sz="2000" i="1">
                <a:latin typeface="Calibri"/>
                <a:cs typeface="Calibri"/>
              </a:rPr>
              <a:t>install</a:t>
            </a:r>
            <a:r>
              <a:rPr dirty="0" sz="2000" spc="6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a</a:t>
            </a:r>
            <a:r>
              <a:rPr dirty="0" sz="2000" spc="6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Docker</a:t>
            </a:r>
            <a:r>
              <a:rPr dirty="0" sz="2000" spc="7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image</a:t>
            </a:r>
            <a:r>
              <a:rPr dirty="0" sz="2000" spc="7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by</a:t>
            </a:r>
            <a:r>
              <a:rPr dirty="0" sz="2000" spc="7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using</a:t>
            </a:r>
            <a:r>
              <a:rPr dirty="0" sz="2000" spc="8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the</a:t>
            </a:r>
            <a:r>
              <a:rPr dirty="0" sz="2000" spc="7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Dockerfile</a:t>
            </a:r>
            <a:r>
              <a:rPr dirty="0" sz="2000" spc="8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included</a:t>
            </a:r>
            <a:r>
              <a:rPr dirty="0" sz="2000" spc="7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with</a:t>
            </a:r>
            <a:r>
              <a:rPr dirty="0" sz="2000" spc="8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that</a:t>
            </a:r>
            <a:r>
              <a:rPr dirty="0" sz="2000" spc="7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project.</a:t>
            </a:r>
            <a:r>
              <a:rPr dirty="0" sz="2000" spc="7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The</a:t>
            </a:r>
            <a:r>
              <a:rPr dirty="0" sz="2000" spc="8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value</a:t>
            </a:r>
            <a:r>
              <a:rPr dirty="0" sz="2000" spc="6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provided</a:t>
            </a:r>
            <a:r>
              <a:rPr dirty="0" sz="2000" spc="8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to</a:t>
            </a:r>
            <a:r>
              <a:rPr dirty="0" sz="2000" spc="8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the</a:t>
            </a:r>
            <a:r>
              <a:rPr dirty="0" sz="2000" spc="70" i="1">
                <a:latin typeface="Calibri"/>
                <a:cs typeface="Calibri"/>
              </a:rPr>
              <a:t> </a:t>
            </a:r>
            <a:r>
              <a:rPr dirty="0" sz="2000" spc="-10" i="1">
                <a:latin typeface="Calibri"/>
                <a:cs typeface="Calibri"/>
              </a:rPr>
              <a:t>-</a:t>
            </a:r>
            <a:r>
              <a:rPr dirty="0" sz="2000" i="1">
                <a:latin typeface="Calibri"/>
                <a:cs typeface="Calibri"/>
              </a:rPr>
              <a:t>t</a:t>
            </a:r>
            <a:r>
              <a:rPr dirty="0" sz="2000" spc="80" i="1">
                <a:latin typeface="Calibri"/>
                <a:cs typeface="Calibri"/>
              </a:rPr>
              <a:t> </a:t>
            </a:r>
            <a:r>
              <a:rPr dirty="0" sz="2000" spc="-10" i="1">
                <a:latin typeface="Calibri"/>
                <a:cs typeface="Calibri"/>
              </a:rPr>
              <a:t>option </a:t>
            </a:r>
            <a:r>
              <a:rPr dirty="0" sz="2000" i="1">
                <a:latin typeface="Calibri"/>
                <a:cs typeface="Calibri"/>
              </a:rPr>
              <a:t>of</a:t>
            </a:r>
            <a:r>
              <a:rPr dirty="0" sz="2000" spc="-2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docker</a:t>
            </a:r>
            <a:r>
              <a:rPr dirty="0" sz="2000" spc="-2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build</a:t>
            </a:r>
            <a:r>
              <a:rPr dirty="0" sz="2000" spc="-3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is</a:t>
            </a:r>
            <a:r>
              <a:rPr dirty="0" sz="2000" spc="-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the</a:t>
            </a:r>
            <a:r>
              <a:rPr dirty="0" sz="2000" spc="-3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repository</a:t>
            </a:r>
            <a:r>
              <a:rPr dirty="0" sz="2000" spc="-1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where</a:t>
            </a:r>
            <a:r>
              <a:rPr dirty="0" sz="2000" spc="-3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you</a:t>
            </a:r>
            <a:r>
              <a:rPr dirty="0" sz="2000" spc="-3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want</a:t>
            </a:r>
            <a:r>
              <a:rPr dirty="0" sz="2000" spc="-3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to</a:t>
            </a:r>
            <a:r>
              <a:rPr dirty="0" sz="2000" spc="-1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install</a:t>
            </a:r>
            <a:r>
              <a:rPr dirty="0" sz="2000" spc="-1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the</a:t>
            </a:r>
            <a:r>
              <a:rPr dirty="0" sz="2000" spc="-15" i="1">
                <a:latin typeface="Calibri"/>
                <a:cs typeface="Calibri"/>
              </a:rPr>
              <a:t> </a:t>
            </a:r>
            <a:r>
              <a:rPr dirty="0" sz="2000" spc="-10" i="1">
                <a:latin typeface="Calibri"/>
                <a:cs typeface="Calibri"/>
              </a:rPr>
              <a:t>image.</a:t>
            </a:r>
            <a:endParaRPr sz="2000">
              <a:latin typeface="Calibri"/>
              <a:cs typeface="Calibri"/>
            </a:endParaRPr>
          </a:p>
          <a:p>
            <a:pPr marL="372110" marR="47625" indent="-360045">
              <a:lnSpc>
                <a:spcPct val="110100"/>
              </a:lnSpc>
              <a:spcBef>
                <a:spcPts val="600"/>
              </a:spcBef>
              <a:buChar char="▪"/>
              <a:tabLst>
                <a:tab pos="372110" algn="l"/>
              </a:tabLst>
            </a:pPr>
            <a:r>
              <a:rPr dirty="0" sz="2000">
                <a:latin typeface="Calibri"/>
                <a:cs typeface="Calibri"/>
              </a:rPr>
              <a:t>Building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images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Dockerfile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light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way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move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projects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around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fits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existing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workflows.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Could </a:t>
            </a:r>
            <a:r>
              <a:rPr dirty="0" sz="2000">
                <a:latin typeface="Calibri"/>
                <a:cs typeface="Calibri"/>
              </a:rPr>
              <a:t>lead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unfavourable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experience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case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drift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dependencies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between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time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when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Dockerfile </a:t>
            </a:r>
            <a:r>
              <a:rPr dirty="0" sz="2000">
                <a:latin typeface="Calibri"/>
                <a:cs typeface="Calibri"/>
              </a:rPr>
              <a:t>was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authored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when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image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built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user’s</a:t>
            </a:r>
            <a:r>
              <a:rPr dirty="0" sz="2000" spc="-10">
                <a:latin typeface="Calibri"/>
                <a:cs typeface="Calibri"/>
              </a:rPr>
              <a:t> computer.</a:t>
            </a:r>
            <a:endParaRPr sz="20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840"/>
              </a:spcBef>
              <a:buChar char="▪"/>
              <a:tabLst>
                <a:tab pos="372110" algn="l"/>
              </a:tabLst>
            </a:pPr>
            <a:r>
              <a:rPr dirty="0" sz="2000">
                <a:latin typeface="Calibri"/>
                <a:cs typeface="Calibri"/>
              </a:rPr>
              <a:t>Docker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Images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removed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cleaned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up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with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8672" y="5881114"/>
            <a:ext cx="3496310" cy="910590"/>
          </a:xfrm>
          <a:prstGeom prst="rect">
            <a:avLst/>
          </a:prstGeom>
        </p:spPr>
        <p:txBody>
          <a:bodyPr wrap="square" lIns="0" tIns="150495" rIns="0" bIns="0" rtlCol="0" vert="horz">
            <a:spAutoFit/>
          </a:bodyPr>
          <a:lstStyle/>
          <a:p>
            <a:pPr marL="371475" indent="-358775">
              <a:lnSpc>
                <a:spcPct val="100000"/>
              </a:lnSpc>
              <a:spcBef>
                <a:spcPts val="1185"/>
              </a:spcBef>
              <a:buClr>
                <a:srgbClr val="000000"/>
              </a:buClr>
              <a:buFont typeface="Courier New"/>
              <a:buChar char="o"/>
              <a:tabLst>
                <a:tab pos="371475" algn="l"/>
              </a:tabLst>
            </a:pPr>
            <a:r>
              <a:rPr dirty="0" sz="2000">
                <a:solidFill>
                  <a:srgbClr val="006FC0"/>
                </a:solidFill>
                <a:latin typeface="Calibri"/>
                <a:cs typeface="Calibri"/>
              </a:rPr>
              <a:t>docker</a:t>
            </a:r>
            <a:r>
              <a:rPr dirty="0" sz="2000" spc="-2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06FC0"/>
                </a:solidFill>
                <a:latin typeface="Calibri"/>
                <a:cs typeface="Calibri"/>
              </a:rPr>
              <a:t>rmi </a:t>
            </a:r>
            <a:r>
              <a:rPr dirty="0" sz="2000" spc="-10">
                <a:solidFill>
                  <a:srgbClr val="006FC0"/>
                </a:solidFill>
                <a:latin typeface="Calibri"/>
                <a:cs typeface="Calibri"/>
              </a:rPr>
              <a:t>dia_ch3/dockerfile</a:t>
            </a:r>
            <a:endParaRPr sz="2000">
              <a:latin typeface="Calibri"/>
              <a:cs typeface="Calibri"/>
            </a:endParaRPr>
          </a:p>
          <a:p>
            <a:pPr marL="371475" indent="-358775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Courier New"/>
              <a:buChar char="o"/>
              <a:tabLst>
                <a:tab pos="371475" algn="l"/>
              </a:tabLst>
            </a:pPr>
            <a:r>
              <a:rPr dirty="0" sz="2000">
                <a:solidFill>
                  <a:srgbClr val="006FC0"/>
                </a:solidFill>
                <a:latin typeface="Calibri"/>
                <a:cs typeface="Calibri"/>
              </a:rPr>
              <a:t>rm</a:t>
            </a:r>
            <a:r>
              <a:rPr dirty="0" sz="2000" spc="-2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006FC0"/>
                </a:solidFill>
                <a:latin typeface="Calibri"/>
                <a:cs typeface="Calibri"/>
              </a:rPr>
              <a:t>-</a:t>
            </a:r>
            <a:r>
              <a:rPr dirty="0" sz="2000">
                <a:solidFill>
                  <a:srgbClr val="006FC0"/>
                </a:solidFill>
                <a:latin typeface="Calibri"/>
                <a:cs typeface="Calibri"/>
              </a:rPr>
              <a:t>rf</a:t>
            </a:r>
            <a:r>
              <a:rPr dirty="0" sz="2000" spc="-2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006FC0"/>
                </a:solidFill>
                <a:latin typeface="Calibri"/>
                <a:cs typeface="Calibri"/>
              </a:rPr>
              <a:t>ch3_dockerfile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78526" y="6578600"/>
            <a:ext cx="64916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Docker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Commands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–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Video</a:t>
            </a:r>
            <a:r>
              <a:rPr dirty="0" sz="1400" spc="3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Ref: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  <a:hlinkClick r:id="rId3"/>
              </a:rPr>
              <a:t>https://www.youtube.com/watch?v=nXV6qihj5uw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0610" y="571245"/>
            <a:ext cx="8882634" cy="2353055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0610" y="3581653"/>
            <a:ext cx="8882634" cy="2705100"/>
          </a:xfrm>
          <a:prstGeom prst="rect">
            <a:avLst/>
          </a:prstGeom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704" y="337565"/>
            <a:ext cx="11578590" cy="2701163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8620" y="231432"/>
            <a:ext cx="11098530" cy="6297930"/>
            <a:chOff x="388620" y="231432"/>
            <a:chExt cx="11098530" cy="62979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8620" y="231432"/>
              <a:ext cx="11098530" cy="544583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8620" y="5700140"/>
              <a:ext cx="11098530" cy="82878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2696" y="639444"/>
            <a:ext cx="11333099" cy="179463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0090" y="2983357"/>
            <a:ext cx="11155680" cy="1440561"/>
          </a:xfrm>
          <a:prstGeom prst="rect">
            <a:avLst/>
          </a:prstGeom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399" y="228472"/>
            <a:ext cx="10512806" cy="274497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9180" y="3246462"/>
            <a:ext cx="10141839" cy="3416554"/>
          </a:xfrm>
          <a:prstGeom prst="rect">
            <a:avLst/>
          </a:prstGeom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43740" cy="5045710"/>
            <a:chOff x="0" y="0"/>
            <a:chExt cx="12143740" cy="5045710"/>
          </a:xfrm>
        </p:grpSpPr>
        <p:sp>
          <p:nvSpPr>
            <p:cNvPr id="3" name="object 3"/>
            <p:cNvSpPr/>
            <p:nvPr/>
          </p:nvSpPr>
          <p:spPr>
            <a:xfrm>
              <a:off x="0" y="1297050"/>
              <a:ext cx="8291830" cy="38100"/>
            </a:xfrm>
            <a:custGeom>
              <a:avLst/>
              <a:gdLst/>
              <a:ahLst/>
              <a:cxnLst/>
              <a:rect l="l" t="t" r="r" b="b"/>
              <a:pathLst>
                <a:path w="8291830" h="38100">
                  <a:moveTo>
                    <a:pt x="8291576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8291576" y="38100"/>
                  </a:lnTo>
                  <a:lnTo>
                    <a:pt x="8291576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35697" y="1020952"/>
              <a:ext cx="4907660" cy="4024629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65405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Docker</a:t>
            </a:r>
            <a:r>
              <a:rPr dirty="0" spc="-2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Objects</a:t>
            </a:r>
            <a:r>
              <a:rPr dirty="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:</a:t>
            </a:r>
            <a:r>
              <a:rPr dirty="0" spc="-3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6FC0"/>
                </a:solidFill>
                <a:latin typeface="Arial"/>
                <a:cs typeface="Arial"/>
              </a:rPr>
              <a:t>Images</a:t>
            </a:r>
            <a:r>
              <a:rPr dirty="0" spc="-3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0000"/>
                </a:solidFill>
                <a:latin typeface="Arial"/>
                <a:cs typeface="Arial"/>
              </a:rPr>
              <a:t>-</a:t>
            </a:r>
            <a:r>
              <a:rPr dirty="0" spc="-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000000"/>
                </a:solidFill>
                <a:latin typeface="Arial"/>
                <a:cs typeface="Arial"/>
              </a:rPr>
              <a:t>layers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6484" y="1215999"/>
            <a:ext cx="11503660" cy="5580380"/>
          </a:xfrm>
          <a:prstGeom prst="rect">
            <a:avLst/>
          </a:prstGeom>
        </p:spPr>
        <p:txBody>
          <a:bodyPr wrap="square" lIns="0" tIns="166370" rIns="0" bIns="0" rtlCol="0" vert="horz">
            <a:spAutoFit/>
          </a:bodyPr>
          <a:lstStyle/>
          <a:p>
            <a:pPr marL="372110" indent="-359410">
              <a:lnSpc>
                <a:spcPct val="100000"/>
              </a:lnSpc>
              <a:spcBef>
                <a:spcPts val="1310"/>
              </a:spcBef>
              <a:buChar char="▪"/>
              <a:tabLst>
                <a:tab pos="372110" algn="l"/>
              </a:tabLst>
            </a:pPr>
            <a:r>
              <a:rPr dirty="0" sz="2000" spc="-10">
                <a:latin typeface="Calibri"/>
                <a:cs typeface="Calibri"/>
              </a:rPr>
              <a:t>Specification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Docker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Image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stored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10">
                <a:latin typeface="Calibri"/>
                <a:cs typeface="Calibri"/>
              </a:rPr>
              <a:t> Dockerfile</a:t>
            </a:r>
            <a:endParaRPr sz="20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1210"/>
              </a:spcBef>
              <a:buFont typeface="Arial"/>
              <a:buChar char="•"/>
              <a:tabLst>
                <a:tab pos="733425" algn="l"/>
              </a:tabLst>
            </a:pPr>
            <a:r>
              <a:rPr dirty="0" sz="2000">
                <a:latin typeface="Calibri"/>
                <a:cs typeface="Calibri"/>
              </a:rPr>
              <a:t>Should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only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container</a:t>
            </a:r>
            <a:endParaRPr sz="20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605"/>
              </a:spcBef>
              <a:buFont typeface="Arial"/>
              <a:buChar char="•"/>
              <a:tabLst>
                <a:tab pos="733425" algn="l"/>
              </a:tabLst>
            </a:pPr>
            <a:r>
              <a:rPr dirty="0" sz="2000">
                <a:latin typeface="Calibri"/>
                <a:cs typeface="Calibri"/>
              </a:rPr>
              <a:t>Only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definition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image</a:t>
            </a:r>
            <a:endParaRPr sz="20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670"/>
              </a:spcBef>
              <a:buChar char="▪"/>
              <a:tabLst>
                <a:tab pos="372110" algn="l"/>
              </a:tabLst>
            </a:pPr>
            <a:r>
              <a:rPr dirty="0" sz="2000">
                <a:latin typeface="Calibri"/>
                <a:cs typeface="Calibri"/>
              </a:rPr>
              <a:t>Image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built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Dockerfile</a:t>
            </a:r>
            <a:endParaRPr sz="20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985"/>
              </a:spcBef>
              <a:buChar char="▪"/>
              <a:tabLst>
                <a:tab pos="372110" algn="l"/>
              </a:tabLst>
            </a:pPr>
            <a:r>
              <a:rPr dirty="0" sz="2000">
                <a:latin typeface="Calibri"/>
                <a:cs typeface="Calibri"/>
              </a:rPr>
              <a:t>Specifies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read-</a:t>
            </a:r>
            <a:r>
              <a:rPr dirty="0" sz="2000">
                <a:latin typeface="Calibri"/>
                <a:cs typeface="Calibri"/>
              </a:rPr>
              <a:t>only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file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systems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various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programs</a:t>
            </a:r>
            <a:endParaRPr sz="2000">
              <a:latin typeface="Calibri"/>
              <a:cs typeface="Calibri"/>
            </a:endParaRPr>
          </a:p>
          <a:p>
            <a:pPr marL="372110">
              <a:lnSpc>
                <a:spcPct val="100000"/>
              </a:lnSpc>
              <a:spcBef>
                <a:spcPts val="25"/>
              </a:spcBef>
            </a:pP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installed E.g.</a:t>
            </a:r>
            <a:r>
              <a:rPr dirty="0" sz="2000" spc="3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web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server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+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libraries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275"/>
              </a:spcBef>
              <a:buChar char="▪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Each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instruction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Dockerfile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creates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b="1" i="1">
                <a:solidFill>
                  <a:srgbClr val="C00000"/>
                </a:solidFill>
                <a:latin typeface="Calibri"/>
                <a:cs typeface="Calibri"/>
              </a:rPr>
              <a:t>layer</a:t>
            </a:r>
            <a:r>
              <a:rPr dirty="0" sz="2000" spc="-60" b="1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image.</a:t>
            </a:r>
            <a:endParaRPr sz="2000">
              <a:latin typeface="Calibri"/>
              <a:cs typeface="Calibri"/>
            </a:endParaRPr>
          </a:p>
          <a:p>
            <a:pPr marL="355600" marR="5024120" indent="-343535">
              <a:lnSpc>
                <a:spcPct val="120000"/>
              </a:lnSpc>
              <a:spcBef>
                <a:spcPts val="600"/>
              </a:spcBef>
              <a:buChar char="▪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layer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files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file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metadata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packaged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and </a:t>
            </a:r>
            <a:r>
              <a:rPr dirty="0" sz="2000" spc="-10">
                <a:latin typeface="Calibri"/>
                <a:cs typeface="Calibri"/>
              </a:rPr>
              <a:t>distributed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atomic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unit.</a:t>
            </a:r>
            <a:endParaRPr sz="20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805"/>
              </a:spcBef>
              <a:buFont typeface="Arial"/>
              <a:buChar char="•"/>
              <a:tabLst>
                <a:tab pos="733425" algn="l"/>
              </a:tabLst>
            </a:pPr>
            <a:r>
              <a:rPr dirty="0" sz="2000">
                <a:latin typeface="Calibri"/>
                <a:cs typeface="Calibri"/>
              </a:rPr>
              <a:t>Internally,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Docker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treats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each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layer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like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image,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layers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often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called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intermediate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images.</a:t>
            </a:r>
            <a:endParaRPr sz="20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733425" algn="l"/>
              </a:tabLst>
            </a:pPr>
            <a:r>
              <a:rPr dirty="0" sz="2000">
                <a:latin typeface="Calibri"/>
                <a:cs typeface="Calibri"/>
              </a:rPr>
              <a:t>You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even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promote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layer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image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tagging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it.</a:t>
            </a:r>
            <a:endParaRPr sz="20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733425" algn="l"/>
              </a:tabLst>
            </a:pPr>
            <a:r>
              <a:rPr dirty="0" sz="2000">
                <a:latin typeface="Calibri"/>
                <a:cs typeface="Calibri"/>
              </a:rPr>
              <a:t>Most</a:t>
            </a:r>
            <a:r>
              <a:rPr dirty="0" sz="2000" spc="3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layers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build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upon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parent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layer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applying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filesystem changes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parent.</a:t>
            </a:r>
            <a:endParaRPr sz="20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590"/>
              </a:spcBef>
              <a:buFont typeface="Arial"/>
              <a:buChar char="•"/>
              <a:tabLst>
                <a:tab pos="733425" algn="l"/>
              </a:tabLst>
            </a:pPr>
            <a:r>
              <a:rPr dirty="0" sz="2000">
                <a:latin typeface="Calibri"/>
                <a:cs typeface="Calibri"/>
              </a:rPr>
              <a:t>Whenever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there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change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Dockerfile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image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rebuilt,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only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b="1" i="1">
                <a:latin typeface="Calibri"/>
                <a:cs typeface="Calibri"/>
              </a:rPr>
              <a:t>incremental</a:t>
            </a:r>
            <a:r>
              <a:rPr dirty="0" sz="2000" spc="-50" b="1" i="1">
                <a:latin typeface="Calibri"/>
                <a:cs typeface="Calibri"/>
              </a:rPr>
              <a:t> </a:t>
            </a:r>
            <a:r>
              <a:rPr dirty="0" sz="2000" b="1" i="1">
                <a:latin typeface="Calibri"/>
                <a:cs typeface="Calibri"/>
              </a:rPr>
              <a:t>changes</a:t>
            </a:r>
            <a:r>
              <a:rPr dirty="0" sz="2000" spc="-50" b="1" i="1">
                <a:latin typeface="Calibri"/>
                <a:cs typeface="Calibri"/>
              </a:rPr>
              <a:t> </a:t>
            </a:r>
            <a:r>
              <a:rPr dirty="0" sz="2000" spc="-25" b="1" i="1">
                <a:latin typeface="Calibri"/>
                <a:cs typeface="Calibri"/>
              </a:rPr>
              <a:t>are</a:t>
            </a:r>
            <a:endParaRPr sz="2000">
              <a:latin typeface="Calibri"/>
              <a:cs typeface="Calibri"/>
            </a:endParaRPr>
          </a:p>
          <a:p>
            <a:pPr marL="733425">
              <a:lnSpc>
                <a:spcPct val="100000"/>
              </a:lnSpc>
            </a:pPr>
            <a:r>
              <a:rPr dirty="0" sz="2000" b="1" i="1">
                <a:latin typeface="Calibri"/>
                <a:cs typeface="Calibri"/>
              </a:rPr>
              <a:t>rebuilt</a:t>
            </a:r>
            <a:r>
              <a:rPr dirty="0" sz="2000" spc="-65" b="1" i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(making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light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weight,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small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fast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when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compared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other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virtualized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technologies)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6334" y="233994"/>
            <a:ext cx="6575425" cy="847090"/>
          </a:xfrm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2225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Docker</a:t>
            </a:r>
            <a:r>
              <a:rPr dirty="0" spc="-3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Objects</a:t>
            </a:r>
            <a:r>
              <a:rPr dirty="0" spc="-5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:</a:t>
            </a:r>
            <a:r>
              <a:rPr dirty="0" spc="-4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6FC0"/>
                </a:solidFill>
                <a:latin typeface="Arial"/>
                <a:cs typeface="Arial"/>
              </a:rPr>
              <a:t>Images</a:t>
            </a:r>
            <a:r>
              <a:rPr dirty="0" spc="-4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&amp;</a:t>
            </a:r>
            <a:r>
              <a:rPr dirty="0" spc="-4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0000"/>
                </a:solidFill>
                <a:latin typeface="Arial"/>
                <a:cs typeface="Arial"/>
              </a:rPr>
              <a:t>Docker</a:t>
            </a:r>
            <a:r>
              <a:rPr dirty="0" spc="-3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000000"/>
                </a:solidFill>
                <a:latin typeface="Arial"/>
                <a:cs typeface="Arial"/>
              </a:rPr>
              <a:t>Registries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7720965" cy="38100"/>
          </a:xfrm>
          <a:custGeom>
            <a:avLst/>
            <a:gdLst/>
            <a:ahLst/>
            <a:cxnLst/>
            <a:rect l="l" t="t" r="r" b="b"/>
            <a:pathLst>
              <a:path w="7720965" h="38100">
                <a:moveTo>
                  <a:pt x="7720457" y="0"/>
                </a:moveTo>
                <a:lnTo>
                  <a:pt x="0" y="0"/>
                </a:lnTo>
                <a:lnTo>
                  <a:pt x="0" y="38100"/>
                </a:lnTo>
                <a:lnTo>
                  <a:pt x="7720457" y="38100"/>
                </a:lnTo>
                <a:lnTo>
                  <a:pt x="7720457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86334" y="1262938"/>
            <a:ext cx="6648450" cy="5594985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381635" indent="-359410">
              <a:lnSpc>
                <a:spcPct val="100000"/>
              </a:lnSpc>
              <a:spcBef>
                <a:spcPts val="509"/>
              </a:spcBef>
              <a:buChar char="▪"/>
              <a:tabLst>
                <a:tab pos="381635" algn="l"/>
              </a:tabLst>
            </a:pPr>
            <a:r>
              <a:rPr dirty="0" sz="2000">
                <a:latin typeface="Calibri"/>
                <a:cs typeface="Calibri"/>
              </a:rPr>
              <a:t>Image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+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temporary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R/W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file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system</a:t>
            </a:r>
            <a:endParaRPr sz="2000">
              <a:latin typeface="Calibri"/>
              <a:cs typeface="Calibri"/>
            </a:endParaRPr>
          </a:p>
          <a:p>
            <a:pPr lvl="1" marL="742950" indent="-361315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742950" algn="l"/>
              </a:tabLst>
            </a:pPr>
            <a:r>
              <a:rPr dirty="0" sz="2000">
                <a:latin typeface="Calibri"/>
                <a:cs typeface="Calibri"/>
              </a:rPr>
              <a:t>Used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temporary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storage</a:t>
            </a:r>
            <a:endParaRPr sz="2000">
              <a:latin typeface="Calibri"/>
              <a:cs typeface="Calibri"/>
            </a:endParaRPr>
          </a:p>
          <a:p>
            <a:pPr lvl="1" marL="742950" indent="-36131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742950" algn="l"/>
              </a:tabLst>
            </a:pPr>
            <a:r>
              <a:rPr dirty="0" sz="2000">
                <a:latin typeface="Calibri"/>
                <a:cs typeface="Calibri"/>
              </a:rPr>
              <a:t>Deleted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when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container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destroyed</a:t>
            </a:r>
            <a:endParaRPr sz="2000">
              <a:latin typeface="Calibri"/>
              <a:cs typeface="Calibri"/>
            </a:endParaRPr>
          </a:p>
          <a:p>
            <a:pPr marL="381635" indent="-359410">
              <a:lnSpc>
                <a:spcPct val="100000"/>
              </a:lnSpc>
              <a:spcBef>
                <a:spcPts val="575"/>
              </a:spcBef>
              <a:buChar char="▪"/>
              <a:tabLst>
                <a:tab pos="381635" algn="l"/>
              </a:tabLst>
            </a:pPr>
            <a:r>
              <a:rPr dirty="0" sz="2000">
                <a:latin typeface="Calibri"/>
                <a:cs typeface="Calibri"/>
              </a:rPr>
              <a:t>Multiple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containers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same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image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&amp;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their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own</a:t>
            </a:r>
            <a:endParaRPr sz="2000">
              <a:latin typeface="Calibri"/>
              <a:cs typeface="Calibri"/>
            </a:endParaRPr>
          </a:p>
          <a:p>
            <a:pPr marL="381635">
              <a:lnSpc>
                <a:spcPct val="100000"/>
              </a:lnSpc>
              <a:spcBef>
                <a:spcPts val="25"/>
              </a:spcBef>
            </a:pPr>
            <a:r>
              <a:rPr dirty="0" sz="2000">
                <a:latin typeface="Calibri"/>
                <a:cs typeface="Calibri"/>
              </a:rPr>
              <a:t>temporary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storage</a:t>
            </a:r>
            <a:endParaRPr sz="2000">
              <a:latin typeface="Calibri"/>
              <a:cs typeface="Calibri"/>
            </a:endParaRPr>
          </a:p>
          <a:p>
            <a:pPr marL="22225">
              <a:lnSpc>
                <a:spcPct val="100000"/>
              </a:lnSpc>
              <a:spcBef>
                <a:spcPts val="1290"/>
              </a:spcBef>
            </a:pP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Docker</a:t>
            </a:r>
            <a:r>
              <a:rPr dirty="0" sz="2200" spc="-5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spc="-10" b="1">
                <a:solidFill>
                  <a:srgbClr val="006FC0"/>
                </a:solidFill>
                <a:latin typeface="Calibri"/>
                <a:cs typeface="Calibri"/>
              </a:rPr>
              <a:t>registries:</a:t>
            </a:r>
            <a:endParaRPr sz="2200">
              <a:latin typeface="Calibri"/>
              <a:cs typeface="Calibri"/>
            </a:endParaRPr>
          </a:p>
          <a:p>
            <a:pPr marL="381635" indent="-359410">
              <a:lnSpc>
                <a:spcPct val="100000"/>
              </a:lnSpc>
              <a:spcBef>
                <a:spcPts val="334"/>
              </a:spcBef>
              <a:buFont typeface="Arial"/>
              <a:buChar char="•"/>
              <a:tabLst>
                <a:tab pos="381635" algn="l"/>
              </a:tabLst>
            </a:pP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Docker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registry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stores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Docker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images.</a:t>
            </a:r>
            <a:endParaRPr sz="2000">
              <a:latin typeface="Calibri"/>
              <a:cs typeface="Calibri"/>
            </a:endParaRPr>
          </a:p>
          <a:p>
            <a:pPr marL="381635" marR="327025" indent="-360045">
              <a:lnSpc>
                <a:spcPct val="110000"/>
              </a:lnSpc>
              <a:buClr>
                <a:srgbClr val="000000"/>
              </a:buClr>
              <a:buFont typeface="Arial"/>
              <a:buChar char="•"/>
              <a:tabLst>
                <a:tab pos="381635" algn="l"/>
              </a:tabLst>
            </a:pPr>
            <a:r>
              <a:rPr dirty="0" sz="2000" b="1" i="1">
                <a:solidFill>
                  <a:srgbClr val="C00000"/>
                </a:solidFill>
                <a:latin typeface="Calibri"/>
                <a:cs typeface="Calibri"/>
              </a:rPr>
              <a:t>Docker</a:t>
            </a:r>
            <a:r>
              <a:rPr dirty="0" sz="2000" spc="-40" b="1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 i="1">
                <a:solidFill>
                  <a:srgbClr val="C00000"/>
                </a:solidFill>
                <a:latin typeface="Calibri"/>
                <a:cs typeface="Calibri"/>
              </a:rPr>
              <a:t>Hub</a:t>
            </a:r>
            <a:r>
              <a:rPr dirty="0" sz="2000" spc="-55" b="1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public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registry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anyone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use,</a:t>
            </a:r>
            <a:r>
              <a:rPr dirty="0" sz="2000" spc="-25">
                <a:latin typeface="Calibri"/>
                <a:cs typeface="Calibri"/>
              </a:rPr>
              <a:t> and </a:t>
            </a:r>
            <a:r>
              <a:rPr dirty="0" sz="2000">
                <a:latin typeface="Calibri"/>
                <a:cs typeface="Calibri"/>
              </a:rPr>
              <a:t>Docker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configured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look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images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Docker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Hub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by </a:t>
            </a:r>
            <a:r>
              <a:rPr dirty="0" sz="2000" spc="-10">
                <a:latin typeface="Calibri"/>
                <a:cs typeface="Calibri"/>
              </a:rPr>
              <a:t>default.</a:t>
            </a:r>
            <a:endParaRPr sz="2000">
              <a:latin typeface="Calibri"/>
              <a:cs typeface="Calibri"/>
            </a:endParaRPr>
          </a:p>
          <a:p>
            <a:pPr marL="381635" indent="-359410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381635" algn="l"/>
              </a:tabLst>
            </a:pPr>
            <a:r>
              <a:rPr dirty="0" sz="2000">
                <a:latin typeface="Calibri"/>
                <a:cs typeface="Calibri"/>
              </a:rPr>
              <a:t>You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even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run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own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b="1" i="1">
                <a:solidFill>
                  <a:srgbClr val="C00000"/>
                </a:solidFill>
                <a:latin typeface="Calibri"/>
                <a:cs typeface="Calibri"/>
              </a:rPr>
              <a:t>private</a:t>
            </a:r>
            <a:r>
              <a:rPr dirty="0" sz="2000" spc="-35" b="1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 i="1">
                <a:solidFill>
                  <a:srgbClr val="C00000"/>
                </a:solidFill>
                <a:latin typeface="Calibri"/>
                <a:cs typeface="Calibri"/>
              </a:rPr>
              <a:t>registry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381635" marR="5080" indent="-360045">
              <a:lnSpc>
                <a:spcPts val="2640"/>
              </a:lnSpc>
              <a:spcBef>
                <a:spcPts val="125"/>
              </a:spcBef>
              <a:buFont typeface="Arial"/>
              <a:buChar char="•"/>
              <a:tabLst>
                <a:tab pos="381635" algn="l"/>
              </a:tabLst>
            </a:pPr>
            <a:r>
              <a:rPr dirty="0" sz="2000">
                <a:latin typeface="Calibri"/>
                <a:cs typeface="Calibri"/>
              </a:rPr>
              <a:t>When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docker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pull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or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docker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run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commands,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>
                <a:latin typeface="Calibri"/>
                <a:cs typeface="Calibri"/>
              </a:rPr>
              <a:t>required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images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pulled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your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configured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registry.</a:t>
            </a:r>
            <a:endParaRPr sz="2000">
              <a:latin typeface="Calibri"/>
              <a:cs typeface="Calibri"/>
            </a:endParaRPr>
          </a:p>
          <a:p>
            <a:pPr marL="381635" marR="469900" indent="-360045">
              <a:lnSpc>
                <a:spcPts val="2640"/>
              </a:lnSpc>
              <a:spcBef>
                <a:spcPts val="5"/>
              </a:spcBef>
              <a:buFont typeface="Arial"/>
              <a:buChar char="•"/>
              <a:tabLst>
                <a:tab pos="381635" algn="l"/>
              </a:tabLst>
            </a:pPr>
            <a:r>
              <a:rPr dirty="0" sz="2000">
                <a:latin typeface="Calibri"/>
                <a:cs typeface="Calibri"/>
              </a:rPr>
              <a:t>When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docker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push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command,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image</a:t>
            </a:r>
            <a:r>
              <a:rPr dirty="0" sz="2000" spc="-25">
                <a:latin typeface="Calibri"/>
                <a:cs typeface="Calibri"/>
              </a:rPr>
              <a:t> is </a:t>
            </a:r>
            <a:r>
              <a:rPr dirty="0" sz="2000">
                <a:latin typeface="Calibri"/>
                <a:cs typeface="Calibri"/>
              </a:rPr>
              <a:t>pushed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configured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registry.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400" spc="-10">
                <a:latin typeface="Arial"/>
                <a:cs typeface="Arial"/>
                <a:hlinkClick r:id="rId2"/>
              </a:rPr>
              <a:t>https://docs.docker.com/storage/storagedriver/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23125" y="493648"/>
            <a:ext cx="3986657" cy="3213354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6743700" y="3803015"/>
            <a:ext cx="5448300" cy="0"/>
          </a:xfrm>
          <a:custGeom>
            <a:avLst/>
            <a:gdLst/>
            <a:ahLst/>
            <a:cxnLst/>
            <a:rect l="l" t="t" r="r" b="b"/>
            <a:pathLst>
              <a:path w="5448300" h="0">
                <a:moveTo>
                  <a:pt x="0" y="0"/>
                </a:moveTo>
                <a:lnTo>
                  <a:pt x="5448300" y="0"/>
                </a:lnTo>
              </a:path>
            </a:pathLst>
          </a:custGeom>
          <a:ln w="28575">
            <a:solidFill>
              <a:srgbClr val="3D6DC2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17181" y="3877722"/>
            <a:ext cx="5243208" cy="2958211"/>
          </a:xfrm>
          <a:prstGeom prst="rect">
            <a:avLst/>
          </a:prstGeom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65405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Docker</a:t>
            </a:r>
            <a:r>
              <a:rPr dirty="0" spc="-3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Objects</a:t>
            </a:r>
            <a:r>
              <a:rPr dirty="0" spc="-4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:</a:t>
            </a:r>
            <a:r>
              <a:rPr dirty="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006FC0"/>
                </a:solidFill>
                <a:latin typeface="Arial"/>
                <a:cs typeface="Arial"/>
              </a:rPr>
              <a:t>Containers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2500" y="1216405"/>
            <a:ext cx="3548634" cy="17367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44830" y="1308963"/>
            <a:ext cx="11645265" cy="5528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3454400" indent="-342900">
              <a:lnSpc>
                <a:spcPct val="120000"/>
              </a:lnSpc>
              <a:spcBef>
                <a:spcPts val="100"/>
              </a:spcBef>
              <a:buChar char="▪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Docker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Containers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ready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applications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created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Docker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Images. </a:t>
            </a:r>
            <a:r>
              <a:rPr dirty="0" sz="2000" b="1">
                <a:solidFill>
                  <a:srgbClr val="006FC0"/>
                </a:solidFill>
                <a:latin typeface="Calibri"/>
                <a:cs typeface="Calibri"/>
              </a:rPr>
              <a:t>Or</a:t>
            </a:r>
            <a:r>
              <a:rPr dirty="0" sz="2000" spc="-3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say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they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running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instances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Images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they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hold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>
                <a:latin typeface="Calibri"/>
                <a:cs typeface="Calibri"/>
              </a:rPr>
              <a:t>entire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package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needed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run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application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6FC0"/>
                </a:solidFill>
                <a:latin typeface="Calibri"/>
                <a:cs typeface="Calibri"/>
              </a:rPr>
              <a:t>Or</a:t>
            </a:r>
            <a:r>
              <a:rPr dirty="0" sz="2000" spc="-3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could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also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looked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at</a:t>
            </a:r>
            <a:r>
              <a:rPr dirty="0" sz="2000" spc="5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runnable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instance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image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6FC0"/>
                </a:solidFill>
                <a:latin typeface="Calibri"/>
                <a:cs typeface="Calibri"/>
              </a:rPr>
              <a:t>Or</a:t>
            </a:r>
            <a:r>
              <a:rPr dirty="0" sz="2000" spc="-4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execution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environment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(sandbox).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Char char="▪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We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create,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start,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stop,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move,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delete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container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using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Docker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API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CLI.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Char char="▪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container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connected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more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networks.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Storage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could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attached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it,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even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new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image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480"/>
              </a:spcBef>
            </a:pPr>
            <a:r>
              <a:rPr dirty="0" sz="2000">
                <a:latin typeface="Calibri"/>
                <a:cs typeface="Calibri"/>
              </a:rPr>
              <a:t>could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created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based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current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state.</a:t>
            </a:r>
            <a:endParaRPr sz="2000">
              <a:latin typeface="Calibri"/>
              <a:cs typeface="Calibri"/>
            </a:endParaRPr>
          </a:p>
          <a:p>
            <a:pPr marL="355600" marR="54610" indent="-342900">
              <a:lnSpc>
                <a:spcPct val="120100"/>
              </a:lnSpc>
              <a:spcBef>
                <a:spcPts val="595"/>
              </a:spcBef>
              <a:buChar char="▪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container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relatively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well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isolated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other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containers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host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machine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isolation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also</a:t>
            </a:r>
            <a:r>
              <a:rPr dirty="0" sz="2000">
                <a:latin typeface="Calibri"/>
                <a:cs typeface="Calibri"/>
              </a:rPr>
              <a:t> be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controlled.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Processes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container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cannot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access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non-shared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objects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other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containers,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only </a:t>
            </a:r>
            <a:r>
              <a:rPr dirty="0" sz="2000">
                <a:latin typeface="Calibri"/>
                <a:cs typeface="Calibri"/>
              </a:rPr>
              <a:t>access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subset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objects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(like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files)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physical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machine.</a:t>
            </a:r>
            <a:endParaRPr sz="2000">
              <a:latin typeface="Calibri"/>
              <a:cs typeface="Calibri"/>
            </a:endParaRPr>
          </a:p>
          <a:p>
            <a:pPr marL="355600" marR="760095" indent="-342900">
              <a:lnSpc>
                <a:spcPct val="120000"/>
              </a:lnSpc>
              <a:spcBef>
                <a:spcPts val="600"/>
              </a:spcBef>
              <a:buChar char="▪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Docker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creates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name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spaces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when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container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created.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These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namespaces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restrict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what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>
                <a:latin typeface="Calibri"/>
                <a:cs typeface="Calibri"/>
              </a:rPr>
              <a:t>objects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processes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container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e.g.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subset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files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Char char="▪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container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defined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image</a:t>
            </a:r>
            <a:r>
              <a:rPr dirty="0" sz="2000" spc="409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configuration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options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provided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when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created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started.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484"/>
              </a:spcBef>
            </a:pPr>
            <a:r>
              <a:rPr dirty="0" sz="2000">
                <a:latin typeface="Calibri"/>
                <a:cs typeface="Calibri"/>
              </a:rPr>
              <a:t>When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container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removed,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changes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state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stored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persistent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storage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will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disappear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8260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380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285"/>
              </a:spcBef>
            </a:pPr>
            <a:r>
              <a:rPr dirty="0">
                <a:solidFill>
                  <a:srgbClr val="C55A11"/>
                </a:solidFill>
              </a:rPr>
              <a:t>Docker</a:t>
            </a:r>
            <a:r>
              <a:rPr dirty="0" spc="-7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running</a:t>
            </a:r>
            <a:r>
              <a:rPr dirty="0" spc="-4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three</a:t>
            </a:r>
            <a:r>
              <a:rPr dirty="0" spc="-35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containers</a:t>
            </a:r>
            <a:r>
              <a:rPr dirty="0" spc="-55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on</a:t>
            </a:r>
            <a:r>
              <a:rPr dirty="0" spc="-45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a</a:t>
            </a:r>
            <a:r>
              <a:rPr dirty="0" spc="-55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basic</a:t>
            </a:r>
            <a:r>
              <a:rPr dirty="0" spc="-45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Linux</a:t>
            </a:r>
            <a:r>
              <a:rPr dirty="0" spc="-6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computer</a:t>
            </a:r>
            <a:r>
              <a:rPr dirty="0" spc="-45">
                <a:solidFill>
                  <a:srgbClr val="C55A11"/>
                </a:solidFill>
              </a:rPr>
              <a:t> </a:t>
            </a:r>
            <a:r>
              <a:rPr dirty="0" spc="-10">
                <a:solidFill>
                  <a:srgbClr val="C55A11"/>
                </a:solidFill>
              </a:rPr>
              <a:t>system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07340" y="1445513"/>
            <a:ext cx="4845685" cy="25552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55600" marR="789940" indent="-342900">
              <a:lnSpc>
                <a:spcPct val="100499"/>
              </a:lnSpc>
              <a:spcBef>
                <a:spcPts val="90"/>
              </a:spcBef>
              <a:buChar char="▪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Running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Docker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means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running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two </a:t>
            </a:r>
            <a:r>
              <a:rPr dirty="0" sz="2000">
                <a:latin typeface="Calibri"/>
                <a:cs typeface="Calibri"/>
              </a:rPr>
              <a:t>programs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user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space.</a:t>
            </a:r>
            <a:endParaRPr sz="2000">
              <a:latin typeface="Calibri"/>
              <a:cs typeface="Calibri"/>
            </a:endParaRPr>
          </a:p>
          <a:p>
            <a:pPr lvl="1" marL="733425" marR="606425" indent="-361315">
              <a:lnSpc>
                <a:spcPct val="120100"/>
              </a:lnSpc>
              <a:spcBef>
                <a:spcPts val="95"/>
              </a:spcBef>
              <a:buFont typeface="Arial"/>
              <a:buChar char="•"/>
              <a:tabLst>
                <a:tab pos="733425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first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Docker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engine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that </a:t>
            </a:r>
            <a:r>
              <a:rPr dirty="0" sz="2000">
                <a:latin typeface="Calibri"/>
                <a:cs typeface="Calibri"/>
              </a:rPr>
              <a:t>should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always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running.</a:t>
            </a:r>
            <a:endParaRPr sz="2000">
              <a:latin typeface="Calibri"/>
              <a:cs typeface="Calibri"/>
            </a:endParaRPr>
          </a:p>
          <a:p>
            <a:pPr lvl="1" marL="733425" marR="5080" indent="-361315">
              <a:lnSpc>
                <a:spcPct val="120000"/>
              </a:lnSpc>
              <a:spcBef>
                <a:spcPts val="600"/>
              </a:spcBef>
              <a:buFont typeface="Arial"/>
              <a:buChar char="•"/>
              <a:tabLst>
                <a:tab pos="733425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second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Docker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CLI.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>
                <a:latin typeface="Calibri"/>
                <a:cs typeface="Calibri"/>
              </a:rPr>
              <a:t>Docker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program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users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interact</a:t>
            </a:r>
            <a:r>
              <a:rPr dirty="0" sz="2000" spc="5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start,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stop,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install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software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 descr="Chapter 1. Welcome to Docker - Docker in Action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53328" y="1516125"/>
            <a:ext cx="6529832" cy="36241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07340" y="4036821"/>
            <a:ext cx="4838700" cy="2661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200"/>
              </a:lnSpc>
              <a:spcBef>
                <a:spcPts val="100"/>
              </a:spcBef>
              <a:buChar char="▪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Each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container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running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child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process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Docker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engine,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wrapped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50">
                <a:latin typeface="Calibri"/>
                <a:cs typeface="Calibri"/>
              </a:rPr>
              <a:t>a </a:t>
            </a:r>
            <a:r>
              <a:rPr dirty="0" sz="2000">
                <a:latin typeface="Calibri"/>
                <a:cs typeface="Calibri"/>
              </a:rPr>
              <a:t>container,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delegate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process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is </a:t>
            </a:r>
            <a:r>
              <a:rPr dirty="0" sz="2000">
                <a:latin typeface="Calibri"/>
                <a:cs typeface="Calibri"/>
              </a:rPr>
              <a:t>running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its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own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memory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subspace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>
                <a:latin typeface="Calibri"/>
                <a:cs typeface="Calibri"/>
              </a:rPr>
              <a:t>user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space.</a:t>
            </a:r>
            <a:endParaRPr sz="2000">
              <a:latin typeface="Calibri"/>
              <a:cs typeface="Calibri"/>
            </a:endParaRPr>
          </a:p>
          <a:p>
            <a:pPr lvl="1" marL="733425" marR="85090" indent="-361315">
              <a:lnSpc>
                <a:spcPct val="120000"/>
              </a:lnSpc>
              <a:spcBef>
                <a:spcPts val="95"/>
              </a:spcBef>
              <a:buFont typeface="Arial"/>
              <a:buChar char="•"/>
              <a:tabLst>
                <a:tab pos="733425" algn="l"/>
              </a:tabLst>
            </a:pPr>
            <a:r>
              <a:rPr dirty="0" sz="2000">
                <a:latin typeface="Calibri"/>
                <a:cs typeface="Calibri"/>
              </a:rPr>
              <a:t>Programs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running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inside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container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access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only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their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own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memory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and </a:t>
            </a:r>
            <a:r>
              <a:rPr dirty="0" sz="2000">
                <a:latin typeface="Calibri"/>
                <a:cs typeface="Calibri"/>
              </a:rPr>
              <a:t>resources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scoped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container.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97244" y="5559653"/>
            <a:ext cx="5451475" cy="9423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299"/>
              </a:lnSpc>
              <a:spcBef>
                <a:spcPts val="95"/>
              </a:spcBef>
            </a:pPr>
            <a:r>
              <a:rPr dirty="0" sz="2000">
                <a:latin typeface="Calibri"/>
                <a:cs typeface="Calibri"/>
              </a:rPr>
              <a:t>Docker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looked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at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set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PaaS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products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OS-</a:t>
            </a:r>
            <a:r>
              <a:rPr dirty="0" sz="2000">
                <a:latin typeface="Calibri"/>
                <a:cs typeface="Calibri"/>
              </a:rPr>
              <a:t>level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virtualization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deliver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software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in </a:t>
            </a:r>
            <a:r>
              <a:rPr dirty="0" sz="2000">
                <a:latin typeface="Calibri"/>
                <a:cs typeface="Calibri"/>
              </a:rPr>
              <a:t>packages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called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containers.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59690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Running</a:t>
            </a:r>
            <a:r>
              <a:rPr dirty="0" spc="-3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a</a:t>
            </a:r>
            <a:r>
              <a:rPr dirty="0" spc="-2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program</a:t>
            </a:r>
            <a:r>
              <a:rPr dirty="0" spc="-2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with</a:t>
            </a:r>
            <a:r>
              <a:rPr dirty="0" spc="-6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Docker</a:t>
            </a:r>
          </a:p>
        </p:txBody>
      </p:sp>
      <p:sp>
        <p:nvSpPr>
          <p:cNvPr id="6" name="object 6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0200" y="1430528"/>
            <a:ext cx="3761104" cy="50076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har char="▪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What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happens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after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running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ts val="2635"/>
              </a:lnSpc>
              <a:spcBef>
                <a:spcPts val="10"/>
              </a:spcBef>
            </a:pPr>
            <a:r>
              <a:rPr dirty="0" sz="2200" b="1">
                <a:latin typeface="Calibri"/>
                <a:cs typeface="Calibri"/>
              </a:rPr>
              <a:t>docker</a:t>
            </a:r>
            <a:r>
              <a:rPr dirty="0" sz="2200" spc="-60" b="1">
                <a:latin typeface="Calibri"/>
                <a:cs typeface="Calibri"/>
              </a:rPr>
              <a:t> </a:t>
            </a:r>
            <a:r>
              <a:rPr dirty="0" sz="2200" spc="-25" b="1">
                <a:latin typeface="Calibri"/>
                <a:cs typeface="Calibri"/>
              </a:rPr>
              <a:t>run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ts val="2635"/>
              </a:lnSpc>
              <a:buChar char="▪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image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itself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collection</a:t>
            </a:r>
            <a:endParaRPr sz="2200">
              <a:latin typeface="Calibri"/>
              <a:cs typeface="Calibri"/>
            </a:endParaRPr>
          </a:p>
          <a:p>
            <a:pPr marL="355600" marR="17780">
              <a:lnSpc>
                <a:spcPct val="100000"/>
              </a:lnSpc>
              <a:spcBef>
                <a:spcPts val="5"/>
              </a:spcBef>
            </a:pP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files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metadata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which </a:t>
            </a:r>
            <a:r>
              <a:rPr dirty="0" sz="2200">
                <a:latin typeface="Calibri"/>
                <a:cs typeface="Calibri"/>
              </a:rPr>
              <a:t>includes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specific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program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execute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other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relevant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0"/>
              </a:spcBef>
            </a:pPr>
            <a:r>
              <a:rPr dirty="0" sz="2200">
                <a:latin typeface="Calibri"/>
                <a:cs typeface="Calibri"/>
              </a:rPr>
              <a:t>configuration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details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85"/>
              </a:spcBef>
            </a:pPr>
            <a:endParaRPr sz="2200">
              <a:latin typeface="Calibri"/>
              <a:cs typeface="Calibri"/>
            </a:endParaRPr>
          </a:p>
          <a:p>
            <a:pPr lvl="1" marL="442595" marR="890269" indent="-342900">
              <a:lnSpc>
                <a:spcPct val="100499"/>
              </a:lnSpc>
              <a:buChar char="▪"/>
              <a:tabLst>
                <a:tab pos="442595" algn="l"/>
              </a:tabLst>
            </a:pPr>
            <a:r>
              <a:rPr dirty="0" sz="2200">
                <a:latin typeface="Calibri"/>
                <a:cs typeface="Calibri"/>
              </a:rPr>
              <a:t>Running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50">
                <a:latin typeface="Calibri"/>
                <a:cs typeface="Calibri"/>
              </a:rPr>
              <a:t>a </a:t>
            </a:r>
            <a:r>
              <a:rPr dirty="0" sz="2200">
                <a:latin typeface="Calibri"/>
                <a:cs typeface="Calibri"/>
              </a:rPr>
              <a:t>second</a:t>
            </a:r>
            <a:r>
              <a:rPr dirty="0" sz="2200" spc="-8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time.</a:t>
            </a:r>
            <a:endParaRPr sz="2200">
              <a:latin typeface="Calibri"/>
              <a:cs typeface="Calibri"/>
            </a:endParaRPr>
          </a:p>
          <a:p>
            <a:pPr lvl="1" marL="442595" marR="45085" indent="-342900">
              <a:lnSpc>
                <a:spcPts val="2640"/>
              </a:lnSpc>
              <a:spcBef>
                <a:spcPts val="80"/>
              </a:spcBef>
              <a:buChar char="▪"/>
              <a:tabLst>
                <a:tab pos="442595" algn="l"/>
              </a:tabLst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image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already </a:t>
            </a:r>
            <a:r>
              <a:rPr dirty="0" sz="2200">
                <a:latin typeface="Calibri"/>
                <a:cs typeface="Calibri"/>
              </a:rPr>
              <a:t>installed,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so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start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new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container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right</a:t>
            </a:r>
            <a:endParaRPr sz="2200">
              <a:latin typeface="Calibri"/>
              <a:cs typeface="Calibri"/>
            </a:endParaRPr>
          </a:p>
          <a:p>
            <a:pPr marL="442595">
              <a:lnSpc>
                <a:spcPts val="2565"/>
              </a:lnSpc>
            </a:pPr>
            <a:r>
              <a:rPr dirty="0" sz="2200" spc="-10">
                <a:latin typeface="Calibri"/>
                <a:cs typeface="Calibri"/>
              </a:rPr>
              <a:t>away.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62458" y="1698672"/>
            <a:ext cx="7222296" cy="227824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484746" y="4297298"/>
            <a:ext cx="11424920" cy="0"/>
          </a:xfrm>
          <a:custGeom>
            <a:avLst/>
            <a:gdLst/>
            <a:ahLst/>
            <a:cxnLst/>
            <a:rect l="l" t="t" r="r" b="b"/>
            <a:pathLst>
              <a:path w="11424920" h="0">
                <a:moveTo>
                  <a:pt x="0" y="0"/>
                </a:moveTo>
                <a:lnTo>
                  <a:pt x="11424424" y="0"/>
                </a:lnTo>
              </a:path>
            </a:pathLst>
          </a:custGeom>
          <a:ln w="28575">
            <a:solidFill>
              <a:srgbClr val="3D6DC2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58938" y="5084913"/>
            <a:ext cx="7362102" cy="1016329"/>
          </a:xfrm>
          <a:prstGeom prst="rect">
            <a:avLst/>
          </a:prstGeom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150" rIns="0" bIns="0" rtlCol="0" vert="horz">
            <a:spAutoFit/>
          </a:bodyPr>
          <a:lstStyle/>
          <a:p>
            <a:pPr marL="50165">
              <a:lnSpc>
                <a:spcPct val="100000"/>
              </a:lnSpc>
              <a:spcBef>
                <a:spcPts val="450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9845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Namespaces</a:t>
            </a:r>
            <a:r>
              <a:rPr dirty="0" spc="-1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–</a:t>
            </a:r>
            <a:r>
              <a:rPr dirty="0" spc="-4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What’s</a:t>
            </a:r>
            <a:r>
              <a:rPr dirty="0" spc="-6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in</a:t>
            </a:r>
            <a:r>
              <a:rPr dirty="0" spc="-5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a</a:t>
            </a:r>
            <a:r>
              <a:rPr dirty="0" spc="-5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Name</a:t>
            </a:r>
            <a:r>
              <a:rPr dirty="0" spc="-3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in</a:t>
            </a:r>
            <a:r>
              <a:rPr dirty="0" spc="-4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25">
                <a:solidFill>
                  <a:srgbClr val="C55A11"/>
                </a:solidFill>
                <a:latin typeface="Arial"/>
                <a:cs typeface="Arial"/>
              </a:rPr>
              <a:t>CS?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04994" y="2023037"/>
            <a:ext cx="3064195" cy="457091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69849" y="1351968"/>
            <a:ext cx="10721340" cy="5046980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75"/>
              </a:spcBef>
              <a:buSzPct val="105882"/>
              <a:buChar char="▪"/>
              <a:tabLst>
                <a:tab pos="354965" algn="l"/>
              </a:tabLst>
            </a:pPr>
            <a:r>
              <a:rPr dirty="0" sz="1700">
                <a:latin typeface="Calibri"/>
                <a:cs typeface="Calibri"/>
              </a:rPr>
              <a:t>If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you</a:t>
            </a:r>
            <a:r>
              <a:rPr dirty="0" sz="1700" spc="-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can’t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name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object,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you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can’t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access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it.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E.g.</a:t>
            </a:r>
            <a:r>
              <a:rPr dirty="0" sz="1700" spc="3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Web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site</a:t>
            </a:r>
            <a:r>
              <a:rPr dirty="0" sz="1700" spc="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–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if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name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is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hidden,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can’t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access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SzPct val="105882"/>
              <a:buChar char="▪"/>
              <a:tabLst>
                <a:tab pos="354965" algn="l"/>
                <a:tab pos="1188085" algn="l"/>
              </a:tabLst>
            </a:pPr>
            <a:r>
              <a:rPr dirty="0" sz="1700">
                <a:latin typeface="Calibri"/>
                <a:cs typeface="Calibri"/>
              </a:rPr>
              <a:t>Paging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 spc="-50">
                <a:latin typeface="Calibri"/>
                <a:cs typeface="Calibri"/>
              </a:rPr>
              <a:t>:</a:t>
            </a:r>
            <a:r>
              <a:rPr dirty="0" sz="1700">
                <a:latin typeface="Calibri"/>
                <a:cs typeface="Calibri"/>
              </a:rPr>
              <a:t>	Processes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can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access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only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pages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its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name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spaces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but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cannot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access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physical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page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1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(i.e.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frame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number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1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in</a:t>
            </a:r>
            <a:endParaRPr sz="1700">
              <a:latin typeface="Calibri"/>
              <a:cs typeface="Calibri"/>
            </a:endParaRPr>
          </a:p>
          <a:p>
            <a:pPr marL="354965">
              <a:lnSpc>
                <a:spcPct val="100000"/>
              </a:lnSpc>
            </a:pP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diagram)</a:t>
            </a:r>
            <a:endParaRPr sz="1700">
              <a:latin typeface="Calibri"/>
              <a:cs typeface="Calibri"/>
            </a:endParaRPr>
          </a:p>
          <a:p>
            <a:pPr marL="354965" marR="1750695" indent="-342900">
              <a:lnSpc>
                <a:spcPct val="100000"/>
              </a:lnSpc>
              <a:spcBef>
                <a:spcPts val="600"/>
              </a:spcBef>
              <a:buSzPct val="105882"/>
              <a:buChar char="▪"/>
              <a:tabLst>
                <a:tab pos="354965" algn="l"/>
              </a:tabLst>
            </a:pPr>
            <a:r>
              <a:rPr dirty="0" sz="1700">
                <a:latin typeface="Calibri"/>
                <a:cs typeface="Calibri"/>
              </a:rPr>
              <a:t>Namespaces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are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feature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-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Linux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kernel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that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partitions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kernel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resources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such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that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one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set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of </a:t>
            </a:r>
            <a:r>
              <a:rPr dirty="0" sz="1700">
                <a:latin typeface="Calibri"/>
                <a:cs typeface="Calibri"/>
              </a:rPr>
              <a:t>processes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sees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one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set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resources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another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set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processes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sees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different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set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resources.</a:t>
            </a:r>
            <a:endParaRPr sz="1700">
              <a:latin typeface="Calibri"/>
              <a:cs typeface="Calibri"/>
            </a:endParaRPr>
          </a:p>
          <a:p>
            <a:pPr marL="354965" marR="584835" indent="-342900">
              <a:lnSpc>
                <a:spcPct val="100000"/>
              </a:lnSpc>
              <a:spcBef>
                <a:spcPts val="600"/>
              </a:spcBef>
              <a:buSzPct val="105882"/>
              <a:buChar char="▪"/>
              <a:tabLst>
                <a:tab pos="354965" algn="l"/>
              </a:tabLst>
            </a:pP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namespace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wraps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global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system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resource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abstraction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that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makes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it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appear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processes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within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the </a:t>
            </a:r>
            <a:r>
              <a:rPr dirty="0" sz="1700">
                <a:latin typeface="Calibri"/>
                <a:cs typeface="Calibri"/>
              </a:rPr>
              <a:t>namespace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that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they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have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their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own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isolated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instance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global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resource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SzPct val="105882"/>
              <a:buChar char="▪"/>
              <a:tabLst>
                <a:tab pos="354965" algn="l"/>
              </a:tabLst>
            </a:pP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feature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works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by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having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same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namespace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(with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name)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for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-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group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resources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and</a:t>
            </a:r>
            <a:endParaRPr sz="1700">
              <a:latin typeface="Calibri"/>
              <a:cs typeface="Calibri"/>
            </a:endParaRPr>
          </a:p>
          <a:p>
            <a:pPr marL="354965">
              <a:lnSpc>
                <a:spcPct val="100000"/>
              </a:lnSpc>
              <a:spcBef>
                <a:spcPts val="5"/>
              </a:spcBef>
            </a:pPr>
            <a:r>
              <a:rPr dirty="0" sz="1700" spc="-10">
                <a:latin typeface="Calibri"/>
                <a:cs typeface="Calibri"/>
              </a:rPr>
              <a:t>processes,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but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those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namespaces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refer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30"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C00000"/>
                </a:solidFill>
                <a:latin typeface="Calibri"/>
                <a:cs typeface="Calibri"/>
              </a:rPr>
              <a:t>distinct</a:t>
            </a:r>
            <a:r>
              <a:rPr dirty="0" sz="1700" spc="-20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C00000"/>
                </a:solidFill>
                <a:latin typeface="Calibri"/>
                <a:cs typeface="Calibri"/>
              </a:rPr>
              <a:t>resources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SzPct val="105882"/>
              <a:buChar char="▪"/>
              <a:tabLst>
                <a:tab pos="354965" algn="l"/>
              </a:tabLst>
            </a:pP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physical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computer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can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have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more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than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one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namespaces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(two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or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more)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SzPct val="105882"/>
              <a:buChar char="▪"/>
              <a:tabLst>
                <a:tab pos="354965" algn="l"/>
              </a:tabLst>
            </a:pPr>
            <a:r>
              <a:rPr dirty="0" sz="1700">
                <a:latin typeface="Calibri"/>
                <a:cs typeface="Calibri"/>
              </a:rPr>
              <a:t>All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resources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that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process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sees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can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be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considered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30">
                <a:latin typeface="Calibri"/>
                <a:cs typeface="Calibri"/>
              </a:rPr>
              <a:t> </a:t>
            </a:r>
            <a:r>
              <a:rPr dirty="0" sz="1700" spc="-10" b="1" i="1">
                <a:solidFill>
                  <a:srgbClr val="006FC0"/>
                </a:solidFill>
                <a:latin typeface="Calibri"/>
                <a:cs typeface="Calibri"/>
              </a:rPr>
              <a:t>namespace</a:t>
            </a:r>
            <a:endParaRPr sz="1700">
              <a:latin typeface="Calibri"/>
              <a:cs typeface="Calibri"/>
            </a:endParaRPr>
          </a:p>
          <a:p>
            <a:pPr lvl="1" marL="926465" indent="-342265">
              <a:lnSpc>
                <a:spcPct val="100000"/>
              </a:lnSpc>
              <a:spcBef>
                <a:spcPts val="600"/>
              </a:spcBef>
              <a:buSzPct val="105882"/>
              <a:buFont typeface="Arial"/>
              <a:buChar char="•"/>
              <a:tabLst>
                <a:tab pos="926465" algn="l"/>
              </a:tabLst>
            </a:pP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files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seen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by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-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process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is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 </a:t>
            </a:r>
            <a:r>
              <a:rPr dirty="0" sz="1700" b="1" i="1">
                <a:solidFill>
                  <a:srgbClr val="006FC0"/>
                </a:solidFill>
                <a:latin typeface="Calibri"/>
                <a:cs typeface="Calibri"/>
              </a:rPr>
              <a:t>file</a:t>
            </a:r>
            <a:r>
              <a:rPr dirty="0" sz="1700" spc="-15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700" spc="-10" b="1" i="1">
                <a:solidFill>
                  <a:srgbClr val="006FC0"/>
                </a:solidFill>
                <a:latin typeface="Calibri"/>
                <a:cs typeface="Calibri"/>
              </a:rPr>
              <a:t>namespace</a:t>
            </a:r>
            <a:endParaRPr sz="1700">
              <a:latin typeface="Calibri"/>
              <a:cs typeface="Calibri"/>
            </a:endParaRPr>
          </a:p>
          <a:p>
            <a:pPr lvl="1" marL="926465" indent="-342265">
              <a:lnSpc>
                <a:spcPct val="100000"/>
              </a:lnSpc>
              <a:spcBef>
                <a:spcPts val="795"/>
              </a:spcBef>
              <a:buSzPct val="105882"/>
              <a:buFont typeface="Arial"/>
              <a:buChar char="•"/>
              <a:tabLst>
                <a:tab pos="926465" algn="l"/>
              </a:tabLst>
            </a:pP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network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connections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are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part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15">
                <a:latin typeface="Calibri"/>
                <a:cs typeface="Calibri"/>
              </a:rPr>
              <a:t> </a:t>
            </a:r>
            <a:r>
              <a:rPr dirty="0" sz="1700" b="1" i="1">
                <a:solidFill>
                  <a:srgbClr val="006FC0"/>
                </a:solidFill>
                <a:latin typeface="Calibri"/>
                <a:cs typeface="Calibri"/>
              </a:rPr>
              <a:t>network</a:t>
            </a:r>
            <a:r>
              <a:rPr dirty="0" sz="1700" spc="-35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700" spc="-10" b="1">
                <a:solidFill>
                  <a:srgbClr val="006FC0"/>
                </a:solidFill>
                <a:latin typeface="Calibri"/>
                <a:cs typeface="Calibri"/>
              </a:rPr>
              <a:t>namespace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805"/>
              </a:spcBef>
              <a:buSzPct val="105882"/>
              <a:buFont typeface="Arial"/>
              <a:buChar char="•"/>
              <a:tabLst>
                <a:tab pos="354965" algn="l"/>
              </a:tabLst>
            </a:pPr>
            <a:r>
              <a:rPr dirty="0" sz="1700">
                <a:latin typeface="Calibri"/>
                <a:cs typeface="Calibri"/>
              </a:rPr>
              <a:t>Container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Access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is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restricted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only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subset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objects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(e.g.,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files)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on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physical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machine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using</a:t>
            </a:r>
            <a:endParaRPr sz="1700">
              <a:latin typeface="Calibri"/>
              <a:cs typeface="Calibri"/>
            </a:endParaRPr>
          </a:p>
          <a:p>
            <a:pPr marL="354965">
              <a:lnSpc>
                <a:spcPct val="100000"/>
              </a:lnSpc>
            </a:pPr>
            <a:r>
              <a:rPr dirty="0" sz="1700">
                <a:latin typeface="Calibri"/>
                <a:cs typeface="Calibri"/>
              </a:rPr>
              <a:t>these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namespaces.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Restriction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is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applied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on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what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can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be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seen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by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object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processes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container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 spc="-20">
                <a:latin typeface="Calibri"/>
                <a:cs typeface="Calibri"/>
              </a:rPr>
              <a:t>e.g.</a:t>
            </a:r>
            <a:endParaRPr sz="1700">
              <a:latin typeface="Calibri"/>
              <a:cs typeface="Calibri"/>
            </a:endParaRPr>
          </a:p>
          <a:p>
            <a:pPr lvl="1" marL="733425" indent="-342900">
              <a:lnSpc>
                <a:spcPct val="100000"/>
              </a:lnSpc>
              <a:spcBef>
                <a:spcPts val="600"/>
              </a:spcBef>
              <a:buSzPct val="105882"/>
              <a:buFont typeface="Arial"/>
              <a:buChar char="•"/>
              <a:tabLst>
                <a:tab pos="733425" algn="l"/>
              </a:tabLst>
            </a:pP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restrict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process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(and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container)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-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subset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-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files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use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file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namespace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2541" y="268985"/>
            <a:ext cx="260286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5991" y="740155"/>
            <a:ext cx="11741785" cy="6078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922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Docker</a:t>
            </a:r>
            <a:r>
              <a:rPr dirty="0" sz="2400" spc="-7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used</a:t>
            </a:r>
            <a:r>
              <a:rPr dirty="0" sz="2400" spc="-8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Namespaces</a:t>
            </a:r>
            <a:endParaRPr sz="2400">
              <a:latin typeface="Arial"/>
              <a:cs typeface="Arial"/>
            </a:endParaRPr>
          </a:p>
          <a:p>
            <a:pPr algn="just" marL="355600" marR="597535" indent="-342900">
              <a:lnSpc>
                <a:spcPct val="120000"/>
              </a:lnSpc>
              <a:spcBef>
                <a:spcPts val="1565"/>
              </a:spcBef>
              <a:buSzPct val="81818"/>
              <a:buChar char="▪"/>
              <a:tabLst>
                <a:tab pos="355600" algn="l"/>
                <a:tab pos="358140" algn="l"/>
              </a:tabLst>
            </a:pPr>
            <a:r>
              <a:rPr dirty="0" sz="2200">
                <a:latin typeface="Calibri"/>
                <a:cs typeface="Calibri"/>
              </a:rPr>
              <a:t>	Docker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builds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containers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runtime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using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10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major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system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features.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commands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be </a:t>
            </a:r>
            <a:r>
              <a:rPr dirty="0" sz="2200">
                <a:latin typeface="Calibri"/>
                <a:cs typeface="Calibri"/>
              </a:rPr>
              <a:t>used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illustrate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modify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features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suit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needs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contained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software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fit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the </a:t>
            </a:r>
            <a:r>
              <a:rPr dirty="0" sz="2200">
                <a:latin typeface="Calibri"/>
                <a:cs typeface="Calibri"/>
              </a:rPr>
              <a:t>environment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where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container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will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run.</a:t>
            </a:r>
            <a:endParaRPr sz="2200">
              <a:latin typeface="Calibri"/>
              <a:cs typeface="Calibri"/>
            </a:endParaRPr>
          </a:p>
          <a:p>
            <a:pPr algn="just" marL="423545" indent="-410845">
              <a:lnSpc>
                <a:spcPct val="100000"/>
              </a:lnSpc>
              <a:spcBef>
                <a:spcPts val="1125"/>
              </a:spcBef>
              <a:buSzPct val="81818"/>
              <a:buChar char="▪"/>
              <a:tabLst>
                <a:tab pos="423545" algn="l"/>
              </a:tabLst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specific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features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follows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(a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few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them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discussed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little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more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detail):</a:t>
            </a:r>
            <a:endParaRPr sz="2200">
              <a:latin typeface="Calibri"/>
              <a:cs typeface="Calibri"/>
            </a:endParaRPr>
          </a:p>
          <a:p>
            <a:pPr lvl="1" marL="733425" marR="932180" indent="-361315">
              <a:lnSpc>
                <a:spcPct val="120100"/>
              </a:lnSpc>
              <a:spcBef>
                <a:spcPts val="600"/>
              </a:spcBef>
              <a:buFont typeface="Arial"/>
              <a:buChar char="•"/>
              <a:tabLst>
                <a:tab pos="733425" algn="l"/>
              </a:tabLst>
            </a:pPr>
            <a:r>
              <a:rPr dirty="0" sz="2200">
                <a:latin typeface="Calibri"/>
                <a:cs typeface="Calibri"/>
              </a:rPr>
              <a:t>PID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namespace—</a:t>
            </a:r>
            <a:r>
              <a:rPr dirty="0" sz="2200">
                <a:latin typeface="Calibri"/>
                <a:cs typeface="Calibri"/>
              </a:rPr>
              <a:t>Process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isolation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through</a:t>
            </a:r>
            <a:r>
              <a:rPr dirty="0" sz="2200" spc="4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identifiers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(PID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number)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–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not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aware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what </a:t>
            </a:r>
            <a:r>
              <a:rPr dirty="0" sz="2200">
                <a:latin typeface="Calibri"/>
                <a:cs typeface="Calibri"/>
              </a:rPr>
              <a:t>happens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outside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own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processes</a:t>
            </a:r>
            <a:endParaRPr sz="2200">
              <a:latin typeface="Calibri"/>
              <a:cs typeface="Calibri"/>
            </a:endParaRPr>
          </a:p>
          <a:p>
            <a:pPr lvl="1" marL="733425" marR="682625" indent="-361315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Font typeface="Arial"/>
              <a:buChar char="•"/>
              <a:tabLst>
                <a:tab pos="733425" algn="l"/>
              </a:tabLst>
            </a:pP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UTS</a:t>
            </a:r>
            <a:r>
              <a:rPr dirty="0" sz="2200" spc="-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 spc="-20">
                <a:solidFill>
                  <a:srgbClr val="C00000"/>
                </a:solidFill>
                <a:latin typeface="Calibri"/>
                <a:cs typeface="Calibri"/>
              </a:rPr>
              <a:t>namespace—</a:t>
            </a: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allows</a:t>
            </a:r>
            <a:r>
              <a:rPr dirty="0" sz="2200" spc="-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for</a:t>
            </a:r>
            <a:r>
              <a:rPr dirty="0" sz="2200" spc="-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having</a:t>
            </a:r>
            <a:r>
              <a:rPr dirty="0" sz="2200" spc="-5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multiple</a:t>
            </a:r>
            <a:r>
              <a:rPr dirty="0" sz="22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hostnames</a:t>
            </a:r>
            <a:r>
              <a:rPr dirty="0" sz="2200" spc="-1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on</a:t>
            </a:r>
            <a:r>
              <a:rPr dirty="0" sz="22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dirty="0" sz="2200" spc="-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single</a:t>
            </a:r>
            <a:r>
              <a:rPr dirty="0" sz="22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physical</a:t>
            </a:r>
            <a:r>
              <a:rPr dirty="0" sz="2200" spc="-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host</a:t>
            </a:r>
            <a:r>
              <a:rPr dirty="0" sz="22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-</a:t>
            </a:r>
            <a:r>
              <a:rPr dirty="0" sz="2200" spc="-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Host</a:t>
            </a:r>
            <a:r>
              <a:rPr dirty="0" sz="2200" spc="-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 spc="-25">
                <a:solidFill>
                  <a:srgbClr val="C00000"/>
                </a:solidFill>
                <a:latin typeface="Calibri"/>
                <a:cs typeface="Calibri"/>
              </a:rPr>
              <a:t>and </a:t>
            </a: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domain</a:t>
            </a:r>
            <a:r>
              <a:rPr dirty="0" sz="2200" spc="-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name</a:t>
            </a:r>
            <a:r>
              <a:rPr dirty="0" sz="2200" spc="-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(as</a:t>
            </a:r>
            <a:r>
              <a:rPr dirty="0" sz="22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other</a:t>
            </a:r>
            <a:r>
              <a:rPr dirty="0" sz="2200" spc="-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things</a:t>
            </a:r>
            <a:r>
              <a:rPr dirty="0" sz="2200" spc="-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like</a:t>
            </a:r>
            <a:r>
              <a:rPr dirty="0" sz="22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IP</a:t>
            </a:r>
            <a:r>
              <a:rPr dirty="0" sz="2200" spc="-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can</a:t>
            </a:r>
            <a:r>
              <a:rPr dirty="0" sz="2200" spc="-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C00000"/>
                </a:solidFill>
                <a:latin typeface="Calibri"/>
                <a:cs typeface="Calibri"/>
              </a:rPr>
              <a:t>change)</a:t>
            </a:r>
            <a:endParaRPr sz="2200">
              <a:latin typeface="Calibri"/>
              <a:cs typeface="Calibri"/>
            </a:endParaRPr>
          </a:p>
          <a:p>
            <a:pPr lvl="1" marL="733425" marR="513715" indent="-361315">
              <a:lnSpc>
                <a:spcPct val="120000"/>
              </a:lnSpc>
              <a:spcBef>
                <a:spcPts val="605"/>
              </a:spcBef>
              <a:buClr>
                <a:srgbClr val="000000"/>
              </a:buClr>
              <a:buFont typeface="Arial"/>
              <a:buChar char="•"/>
              <a:tabLst>
                <a:tab pos="733425" algn="l"/>
              </a:tabLst>
            </a:pPr>
            <a:r>
              <a:rPr dirty="0" sz="2200">
                <a:solidFill>
                  <a:srgbClr val="538135"/>
                </a:solidFill>
                <a:latin typeface="Calibri"/>
                <a:cs typeface="Calibri"/>
              </a:rPr>
              <a:t>MNT</a:t>
            </a:r>
            <a:r>
              <a:rPr dirty="0" sz="2200" spc="-20">
                <a:solidFill>
                  <a:srgbClr val="538135"/>
                </a:solidFill>
                <a:latin typeface="Calibri"/>
                <a:cs typeface="Calibri"/>
              </a:rPr>
              <a:t> namespace—</a:t>
            </a:r>
            <a:r>
              <a:rPr dirty="0" sz="2200">
                <a:solidFill>
                  <a:srgbClr val="538135"/>
                </a:solidFill>
                <a:latin typeface="Calibri"/>
                <a:cs typeface="Calibri"/>
              </a:rPr>
              <a:t>isolate</a:t>
            </a:r>
            <a:r>
              <a:rPr dirty="0" sz="2200" spc="-35">
                <a:solidFill>
                  <a:srgbClr val="538135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538135"/>
                </a:solidFill>
                <a:latin typeface="Calibri"/>
                <a:cs typeface="Calibri"/>
              </a:rPr>
              <a:t>a</a:t>
            </a:r>
            <a:r>
              <a:rPr dirty="0" sz="2200" spc="-20">
                <a:solidFill>
                  <a:srgbClr val="538135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538135"/>
                </a:solidFill>
                <a:latin typeface="Calibri"/>
                <a:cs typeface="Calibri"/>
              </a:rPr>
              <a:t>set</a:t>
            </a:r>
            <a:r>
              <a:rPr dirty="0" sz="2200" spc="-20">
                <a:solidFill>
                  <a:srgbClr val="538135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538135"/>
                </a:solidFill>
                <a:latin typeface="Calibri"/>
                <a:cs typeface="Calibri"/>
              </a:rPr>
              <a:t>of</a:t>
            </a:r>
            <a:r>
              <a:rPr dirty="0" sz="2200" spc="-25">
                <a:solidFill>
                  <a:srgbClr val="538135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538135"/>
                </a:solidFill>
                <a:latin typeface="Calibri"/>
                <a:cs typeface="Calibri"/>
              </a:rPr>
              <a:t>mount</a:t>
            </a:r>
            <a:r>
              <a:rPr dirty="0" sz="2200" spc="-30">
                <a:solidFill>
                  <a:srgbClr val="538135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538135"/>
                </a:solidFill>
                <a:latin typeface="Calibri"/>
                <a:cs typeface="Calibri"/>
              </a:rPr>
              <a:t>points</a:t>
            </a:r>
            <a:r>
              <a:rPr dirty="0" sz="2200" spc="-35">
                <a:solidFill>
                  <a:srgbClr val="538135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538135"/>
                </a:solidFill>
                <a:latin typeface="Calibri"/>
                <a:cs typeface="Calibri"/>
              </a:rPr>
              <a:t>such</a:t>
            </a:r>
            <a:r>
              <a:rPr dirty="0" sz="2200" spc="-30">
                <a:solidFill>
                  <a:srgbClr val="538135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538135"/>
                </a:solidFill>
                <a:latin typeface="Calibri"/>
                <a:cs typeface="Calibri"/>
              </a:rPr>
              <a:t>that</a:t>
            </a:r>
            <a:r>
              <a:rPr dirty="0" sz="2200" spc="-35">
                <a:solidFill>
                  <a:srgbClr val="538135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538135"/>
                </a:solidFill>
                <a:latin typeface="Calibri"/>
                <a:cs typeface="Calibri"/>
              </a:rPr>
              <a:t>processes</a:t>
            </a:r>
            <a:r>
              <a:rPr dirty="0" sz="2200" spc="-20">
                <a:solidFill>
                  <a:srgbClr val="538135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538135"/>
                </a:solidFill>
                <a:latin typeface="Calibri"/>
                <a:cs typeface="Calibri"/>
              </a:rPr>
              <a:t>in</a:t>
            </a:r>
            <a:r>
              <a:rPr dirty="0" sz="2200" spc="-30">
                <a:solidFill>
                  <a:srgbClr val="538135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538135"/>
                </a:solidFill>
                <a:latin typeface="Calibri"/>
                <a:cs typeface="Calibri"/>
              </a:rPr>
              <a:t>different</a:t>
            </a:r>
            <a:r>
              <a:rPr dirty="0" sz="2200" spc="-20">
                <a:solidFill>
                  <a:srgbClr val="538135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538135"/>
                </a:solidFill>
                <a:latin typeface="Calibri"/>
                <a:cs typeface="Calibri"/>
              </a:rPr>
              <a:t>namespaces </a:t>
            </a:r>
            <a:r>
              <a:rPr dirty="0" sz="2200">
                <a:solidFill>
                  <a:srgbClr val="538135"/>
                </a:solidFill>
                <a:latin typeface="Calibri"/>
                <a:cs typeface="Calibri"/>
              </a:rPr>
              <a:t>cannot</a:t>
            </a:r>
            <a:r>
              <a:rPr dirty="0" sz="2200" spc="-50">
                <a:solidFill>
                  <a:srgbClr val="538135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538135"/>
                </a:solidFill>
                <a:latin typeface="Calibri"/>
                <a:cs typeface="Calibri"/>
              </a:rPr>
              <a:t>view</a:t>
            </a:r>
            <a:r>
              <a:rPr dirty="0" sz="2200" spc="-50">
                <a:solidFill>
                  <a:srgbClr val="538135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538135"/>
                </a:solidFill>
                <a:latin typeface="Calibri"/>
                <a:cs typeface="Calibri"/>
              </a:rPr>
              <a:t>each</a:t>
            </a:r>
            <a:r>
              <a:rPr dirty="0" sz="2200" spc="-50">
                <a:solidFill>
                  <a:srgbClr val="538135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538135"/>
                </a:solidFill>
                <a:latin typeface="Calibri"/>
                <a:cs typeface="Calibri"/>
              </a:rPr>
              <a:t>others</a:t>
            </a:r>
            <a:r>
              <a:rPr dirty="0" sz="2200" spc="-50">
                <a:solidFill>
                  <a:srgbClr val="538135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538135"/>
                </a:solidFill>
                <a:latin typeface="Calibri"/>
                <a:cs typeface="Calibri"/>
              </a:rPr>
              <a:t>files.</a:t>
            </a:r>
            <a:r>
              <a:rPr dirty="0" sz="2200" spc="-50">
                <a:solidFill>
                  <a:srgbClr val="538135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538135"/>
                </a:solidFill>
                <a:latin typeface="Calibri"/>
                <a:cs typeface="Calibri"/>
              </a:rPr>
              <a:t>(almost</a:t>
            </a:r>
            <a:r>
              <a:rPr dirty="0" sz="2200" spc="-50">
                <a:solidFill>
                  <a:srgbClr val="538135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538135"/>
                </a:solidFill>
                <a:latin typeface="Calibri"/>
                <a:cs typeface="Calibri"/>
              </a:rPr>
              <a:t>like</a:t>
            </a:r>
            <a:r>
              <a:rPr dirty="0" sz="2200" spc="-50">
                <a:solidFill>
                  <a:srgbClr val="538135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538135"/>
                </a:solidFill>
                <a:latin typeface="Calibri"/>
                <a:cs typeface="Calibri"/>
              </a:rPr>
              <a:t>chroot)</a:t>
            </a:r>
            <a:r>
              <a:rPr dirty="0" sz="2200" spc="-50">
                <a:solidFill>
                  <a:srgbClr val="538135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538135"/>
                </a:solidFill>
                <a:latin typeface="Calibri"/>
                <a:cs typeface="Calibri"/>
              </a:rPr>
              <a:t>(Filesystem</a:t>
            </a:r>
            <a:r>
              <a:rPr dirty="0" sz="2200" spc="-30">
                <a:solidFill>
                  <a:srgbClr val="538135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538135"/>
                </a:solidFill>
                <a:latin typeface="Calibri"/>
                <a:cs typeface="Calibri"/>
              </a:rPr>
              <a:t>access</a:t>
            </a:r>
            <a:r>
              <a:rPr dirty="0" sz="2200" spc="-35">
                <a:solidFill>
                  <a:srgbClr val="538135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538135"/>
                </a:solidFill>
                <a:latin typeface="Calibri"/>
                <a:cs typeface="Calibri"/>
              </a:rPr>
              <a:t>&amp;</a:t>
            </a:r>
            <a:r>
              <a:rPr dirty="0" sz="2200" spc="-40">
                <a:solidFill>
                  <a:srgbClr val="538135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538135"/>
                </a:solidFill>
                <a:latin typeface="Calibri"/>
                <a:cs typeface="Calibri"/>
              </a:rPr>
              <a:t>structure)</a:t>
            </a:r>
            <a:endParaRPr sz="22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1125"/>
              </a:spcBef>
              <a:buFont typeface="Arial"/>
              <a:buChar char="•"/>
              <a:tabLst>
                <a:tab pos="733425" algn="l"/>
              </a:tabLst>
            </a:pPr>
            <a:r>
              <a:rPr dirty="0" sz="2200">
                <a:latin typeface="Calibri"/>
                <a:cs typeface="Calibri"/>
              </a:rPr>
              <a:t>IPC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namespace—</a:t>
            </a:r>
            <a:r>
              <a:rPr dirty="0" sz="2200">
                <a:latin typeface="Calibri"/>
                <a:cs typeface="Calibri"/>
              </a:rPr>
              <a:t>provides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isolation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container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process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communication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over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shared</a:t>
            </a:r>
            <a:endParaRPr sz="2200">
              <a:latin typeface="Calibri"/>
              <a:cs typeface="Calibri"/>
            </a:endParaRPr>
          </a:p>
          <a:p>
            <a:pPr marL="733425">
              <a:lnSpc>
                <a:spcPct val="100000"/>
              </a:lnSpc>
              <a:spcBef>
                <a:spcPts val="530"/>
              </a:spcBef>
            </a:pPr>
            <a:r>
              <a:rPr dirty="0" sz="2200">
                <a:latin typeface="Calibri"/>
                <a:cs typeface="Calibri"/>
              </a:rPr>
              <a:t>memory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having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ability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invite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other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processes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read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from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shared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memory</a:t>
            </a:r>
            <a:endParaRPr sz="2200">
              <a:latin typeface="Calibri"/>
              <a:cs typeface="Calibri"/>
            </a:endParaRPr>
          </a:p>
          <a:p>
            <a:pPr marL="7437755">
              <a:lnSpc>
                <a:spcPct val="100000"/>
              </a:lnSpc>
              <a:spcBef>
                <a:spcPts val="505"/>
              </a:spcBef>
            </a:pPr>
            <a:r>
              <a:rPr dirty="0" sz="1400" spc="-10">
                <a:latin typeface="Arial"/>
                <a:cs typeface="Arial"/>
                <a:hlinkClick r:id="rId2"/>
              </a:rPr>
              <a:t>https://www.redhat.com/sysadmin/7-linux-namespaces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Docker</a:t>
            </a:r>
            <a:r>
              <a:rPr dirty="0" spc="-8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used</a:t>
            </a:r>
            <a:r>
              <a:rPr dirty="0" spc="-9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Namespaces</a:t>
            </a:r>
            <a:r>
              <a:rPr dirty="0" spc="-6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(Cont.)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9725" marR="59690" indent="-361315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Font typeface="Arial"/>
              <a:buChar char="•"/>
              <a:tabLst>
                <a:tab pos="340360" algn="l"/>
              </a:tabLst>
            </a:pPr>
            <a:r>
              <a:rPr dirty="0"/>
              <a:t>NET</a:t>
            </a:r>
            <a:r>
              <a:rPr dirty="0" spc="-15"/>
              <a:t> </a:t>
            </a:r>
            <a:r>
              <a:rPr dirty="0" spc="-20"/>
              <a:t>namespace—</a:t>
            </a:r>
            <a:r>
              <a:rPr dirty="0"/>
              <a:t>allow</a:t>
            </a:r>
            <a:r>
              <a:rPr dirty="0" spc="-35"/>
              <a:t> </a:t>
            </a:r>
            <a:r>
              <a:rPr dirty="0"/>
              <a:t>processes</a:t>
            </a:r>
            <a:r>
              <a:rPr dirty="0" spc="-25"/>
              <a:t> </a:t>
            </a:r>
            <a:r>
              <a:rPr dirty="0"/>
              <a:t>inside</a:t>
            </a:r>
            <a:r>
              <a:rPr dirty="0" spc="-35"/>
              <a:t> </a:t>
            </a:r>
            <a:r>
              <a:rPr dirty="0"/>
              <a:t>each</a:t>
            </a:r>
            <a:r>
              <a:rPr dirty="0" spc="-30"/>
              <a:t> </a:t>
            </a:r>
            <a:r>
              <a:rPr dirty="0"/>
              <a:t>namespace</a:t>
            </a:r>
            <a:r>
              <a:rPr dirty="0" spc="-30"/>
              <a:t> </a:t>
            </a:r>
            <a:r>
              <a:rPr dirty="0"/>
              <a:t>instance</a:t>
            </a:r>
            <a:r>
              <a:rPr dirty="0" spc="-35"/>
              <a:t> </a:t>
            </a:r>
            <a:r>
              <a:rPr dirty="0"/>
              <a:t>to</a:t>
            </a:r>
            <a:r>
              <a:rPr dirty="0" spc="-20"/>
              <a:t> </a:t>
            </a:r>
            <a:r>
              <a:rPr dirty="0"/>
              <a:t>have</a:t>
            </a:r>
            <a:r>
              <a:rPr dirty="0" spc="-35"/>
              <a:t> </a:t>
            </a:r>
            <a:r>
              <a:rPr dirty="0"/>
              <a:t>access</a:t>
            </a:r>
            <a:r>
              <a:rPr dirty="0" spc="-35"/>
              <a:t> </a:t>
            </a:r>
            <a:r>
              <a:rPr dirty="0"/>
              <a:t>to</a:t>
            </a:r>
            <a:r>
              <a:rPr dirty="0" spc="-25"/>
              <a:t> </a:t>
            </a:r>
            <a:r>
              <a:rPr dirty="0"/>
              <a:t>a</a:t>
            </a:r>
            <a:r>
              <a:rPr dirty="0" spc="-20"/>
              <a:t> </a:t>
            </a:r>
            <a:r>
              <a:rPr dirty="0" spc="-25"/>
              <a:t>new </a:t>
            </a:r>
            <a:r>
              <a:rPr dirty="0"/>
              <a:t>IP</a:t>
            </a:r>
            <a:r>
              <a:rPr dirty="0" spc="-30"/>
              <a:t> </a:t>
            </a:r>
            <a:r>
              <a:rPr dirty="0"/>
              <a:t>address</a:t>
            </a:r>
            <a:r>
              <a:rPr dirty="0" spc="-25"/>
              <a:t> </a:t>
            </a:r>
            <a:r>
              <a:rPr dirty="0"/>
              <a:t>along</a:t>
            </a:r>
            <a:r>
              <a:rPr dirty="0" spc="-40"/>
              <a:t> </a:t>
            </a:r>
            <a:r>
              <a:rPr dirty="0"/>
              <a:t>with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5"/>
              <a:t> </a:t>
            </a:r>
            <a:r>
              <a:rPr dirty="0"/>
              <a:t>full</a:t>
            </a:r>
            <a:r>
              <a:rPr dirty="0" spc="-25"/>
              <a:t> </a:t>
            </a:r>
            <a:r>
              <a:rPr dirty="0"/>
              <a:t>range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ports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465"/>
              <a:t> </a:t>
            </a:r>
            <a:r>
              <a:rPr dirty="0"/>
              <a:t>Network access</a:t>
            </a:r>
            <a:r>
              <a:rPr dirty="0" spc="-15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 spc="-10"/>
              <a:t>structure</a:t>
            </a:r>
          </a:p>
          <a:p>
            <a:pPr marL="339725" marR="342265" indent="-361315">
              <a:lnSpc>
                <a:spcPct val="120000"/>
              </a:lnSpc>
              <a:spcBef>
                <a:spcPts val="600"/>
              </a:spcBef>
              <a:buFont typeface="Arial"/>
              <a:buChar char="•"/>
              <a:tabLst>
                <a:tab pos="340360" algn="l"/>
              </a:tabLst>
            </a:pPr>
            <a:r>
              <a:rPr dirty="0">
                <a:solidFill>
                  <a:srgbClr val="000000"/>
                </a:solidFill>
              </a:rPr>
              <a:t>USR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 spc="-20">
                <a:solidFill>
                  <a:srgbClr val="000000"/>
                </a:solidFill>
              </a:rPr>
              <a:t>namespace—</a:t>
            </a:r>
            <a:r>
              <a:rPr dirty="0">
                <a:solidFill>
                  <a:srgbClr val="000000"/>
                </a:solidFill>
              </a:rPr>
              <a:t>provides</a:t>
            </a:r>
            <a:r>
              <a:rPr dirty="0" spc="-4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user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 spc="-20">
                <a:solidFill>
                  <a:srgbClr val="000000"/>
                </a:solidFill>
              </a:rPr>
              <a:t>name-</a:t>
            </a:r>
            <a:r>
              <a:rPr dirty="0">
                <a:solidFill>
                  <a:srgbClr val="000000"/>
                </a:solidFill>
              </a:rPr>
              <a:t>UID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mapping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isolating</a:t>
            </a:r>
            <a:r>
              <a:rPr dirty="0" spc="-5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changes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names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from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 spc="-25">
                <a:solidFill>
                  <a:srgbClr val="000000"/>
                </a:solidFill>
              </a:rPr>
              <a:t>the </a:t>
            </a:r>
            <a:r>
              <a:rPr dirty="0">
                <a:solidFill>
                  <a:srgbClr val="000000"/>
                </a:solidFill>
              </a:rPr>
              <a:t>metadata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within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container</a:t>
            </a:r>
          </a:p>
          <a:p>
            <a:pPr marL="339725" indent="-360680">
              <a:lnSpc>
                <a:spcPct val="100000"/>
              </a:lnSpc>
              <a:spcBef>
                <a:spcPts val="1130"/>
              </a:spcBef>
              <a:buClr>
                <a:srgbClr val="000000"/>
              </a:buClr>
              <a:buFont typeface="Arial"/>
              <a:buChar char="•"/>
              <a:tabLst>
                <a:tab pos="340360" algn="l"/>
              </a:tabLst>
            </a:pPr>
            <a:r>
              <a:rPr dirty="0"/>
              <a:t>chroot</a:t>
            </a:r>
            <a:r>
              <a:rPr dirty="0" spc="-50"/>
              <a:t> </a:t>
            </a:r>
            <a:r>
              <a:rPr dirty="0" spc="-10"/>
              <a:t>syscall—</a:t>
            </a:r>
            <a:r>
              <a:rPr dirty="0"/>
              <a:t>Controls</a:t>
            </a:r>
            <a:r>
              <a:rPr dirty="0" spc="-50"/>
              <a:t> </a:t>
            </a:r>
            <a:r>
              <a:rPr dirty="0"/>
              <a:t>the</a:t>
            </a:r>
            <a:r>
              <a:rPr dirty="0" spc="-40"/>
              <a:t> </a:t>
            </a:r>
            <a:r>
              <a:rPr dirty="0"/>
              <a:t>location</a:t>
            </a:r>
            <a:r>
              <a:rPr dirty="0" spc="-45"/>
              <a:t> </a:t>
            </a:r>
            <a:r>
              <a:rPr dirty="0"/>
              <a:t>of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45"/>
              <a:t> </a:t>
            </a:r>
            <a:r>
              <a:rPr dirty="0"/>
              <a:t>filesystem</a:t>
            </a:r>
            <a:r>
              <a:rPr dirty="0" spc="-20"/>
              <a:t> root</a:t>
            </a:r>
          </a:p>
          <a:p>
            <a:pPr marL="339725" marR="5080" indent="-361315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Font typeface="Arial"/>
              <a:buChar char="•"/>
              <a:tabLst>
                <a:tab pos="340360" algn="l"/>
              </a:tabLst>
            </a:pPr>
            <a:r>
              <a:rPr dirty="0" spc="-10"/>
              <a:t>cgroups—</a:t>
            </a:r>
            <a:r>
              <a:rPr dirty="0"/>
              <a:t>Controlling</a:t>
            </a:r>
            <a:r>
              <a:rPr dirty="0" spc="-50"/>
              <a:t> </a:t>
            </a:r>
            <a:r>
              <a:rPr dirty="0"/>
              <a:t>and</a:t>
            </a:r>
            <a:r>
              <a:rPr dirty="0" spc="-40"/>
              <a:t> </a:t>
            </a:r>
            <a:r>
              <a:rPr dirty="0"/>
              <a:t>accounting</a:t>
            </a:r>
            <a:r>
              <a:rPr dirty="0" spc="-25"/>
              <a:t> </a:t>
            </a:r>
            <a:r>
              <a:rPr dirty="0"/>
              <a:t>resources</a:t>
            </a:r>
            <a:r>
              <a:rPr dirty="0" spc="-30"/>
              <a:t> </a:t>
            </a:r>
            <a:r>
              <a:rPr dirty="0" spc="-25"/>
              <a:t>–</a:t>
            </a:r>
            <a:r>
              <a:rPr dirty="0"/>
              <a:t>rather</a:t>
            </a:r>
            <a:r>
              <a:rPr dirty="0" spc="-15"/>
              <a:t> </a:t>
            </a:r>
            <a:r>
              <a:rPr dirty="0"/>
              <a:t>than</a:t>
            </a:r>
            <a:r>
              <a:rPr dirty="0" spc="-25"/>
              <a:t> </a:t>
            </a:r>
            <a:r>
              <a:rPr dirty="0"/>
              <a:t>a</a:t>
            </a:r>
            <a:r>
              <a:rPr dirty="0" spc="-20"/>
              <a:t> </a:t>
            </a:r>
            <a:r>
              <a:rPr dirty="0"/>
              <a:t>hierarchical</a:t>
            </a:r>
            <a:r>
              <a:rPr dirty="0" spc="-55"/>
              <a:t> </a:t>
            </a:r>
            <a:r>
              <a:rPr dirty="0"/>
              <a:t>cgroup</a:t>
            </a:r>
            <a:r>
              <a:rPr dirty="0" spc="-25"/>
              <a:t> </a:t>
            </a:r>
            <a:r>
              <a:rPr dirty="0" spc="-10"/>
              <a:t>creation, </a:t>
            </a:r>
            <a:r>
              <a:rPr dirty="0"/>
              <a:t>there</a:t>
            </a:r>
            <a:r>
              <a:rPr dirty="0" spc="-35"/>
              <a:t> </a:t>
            </a:r>
            <a:r>
              <a:rPr dirty="0"/>
              <a:t>is</a:t>
            </a:r>
            <a:r>
              <a:rPr dirty="0" spc="-40"/>
              <a:t> </a:t>
            </a:r>
            <a:r>
              <a:rPr dirty="0"/>
              <a:t>a</a:t>
            </a:r>
            <a:r>
              <a:rPr dirty="0" spc="-45"/>
              <a:t> </a:t>
            </a:r>
            <a:r>
              <a:rPr dirty="0"/>
              <a:t>new</a:t>
            </a:r>
            <a:r>
              <a:rPr dirty="0" spc="-25"/>
              <a:t> </a:t>
            </a:r>
            <a:r>
              <a:rPr dirty="0"/>
              <a:t>cgroup</a:t>
            </a:r>
            <a:r>
              <a:rPr dirty="0" spc="-45"/>
              <a:t> </a:t>
            </a:r>
            <a:r>
              <a:rPr dirty="0"/>
              <a:t>with</a:t>
            </a:r>
            <a:r>
              <a:rPr dirty="0" spc="-40"/>
              <a:t> </a:t>
            </a:r>
            <a:r>
              <a:rPr dirty="0"/>
              <a:t>a</a:t>
            </a:r>
            <a:r>
              <a:rPr dirty="0" spc="-45"/>
              <a:t> </a:t>
            </a:r>
            <a:r>
              <a:rPr dirty="0"/>
              <a:t>root</a:t>
            </a:r>
            <a:r>
              <a:rPr dirty="0" spc="-50"/>
              <a:t> </a:t>
            </a:r>
            <a:r>
              <a:rPr dirty="0"/>
              <a:t>directory</a:t>
            </a:r>
            <a:r>
              <a:rPr dirty="0" spc="-30"/>
              <a:t> </a:t>
            </a:r>
            <a:r>
              <a:rPr dirty="0"/>
              <a:t>created</a:t>
            </a:r>
            <a:r>
              <a:rPr dirty="0" spc="-45"/>
              <a:t> </a:t>
            </a:r>
            <a:r>
              <a:rPr dirty="0"/>
              <a:t>to</a:t>
            </a:r>
            <a:r>
              <a:rPr dirty="0" spc="-35"/>
              <a:t> </a:t>
            </a:r>
            <a:r>
              <a:rPr dirty="0"/>
              <a:t>isolate</a:t>
            </a:r>
            <a:r>
              <a:rPr dirty="0" spc="-45"/>
              <a:t> </a:t>
            </a:r>
            <a:r>
              <a:rPr dirty="0"/>
              <a:t>resources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45"/>
              <a:t> </a:t>
            </a:r>
            <a:r>
              <a:rPr dirty="0"/>
              <a:t>not</a:t>
            </a:r>
            <a:r>
              <a:rPr dirty="0" spc="-35"/>
              <a:t> </a:t>
            </a:r>
            <a:r>
              <a:rPr dirty="0" spc="-10"/>
              <a:t>allow navigation</a:t>
            </a:r>
          </a:p>
          <a:p>
            <a:pPr marL="339725" indent="-360680">
              <a:lnSpc>
                <a:spcPct val="100000"/>
              </a:lnSpc>
              <a:spcBef>
                <a:spcPts val="1130"/>
              </a:spcBef>
              <a:buFont typeface="Arial"/>
              <a:buChar char="•"/>
              <a:tabLst>
                <a:tab pos="340360" algn="l"/>
              </a:tabLst>
            </a:pPr>
            <a:r>
              <a:rPr dirty="0">
                <a:solidFill>
                  <a:srgbClr val="000000"/>
                </a:solidFill>
              </a:rPr>
              <a:t>CAP</a:t>
            </a:r>
            <a:r>
              <a:rPr dirty="0" spc="-4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drop—</a:t>
            </a:r>
            <a:r>
              <a:rPr dirty="0">
                <a:solidFill>
                  <a:srgbClr val="000000"/>
                </a:solidFill>
              </a:rPr>
              <a:t>Operating</a:t>
            </a:r>
            <a:r>
              <a:rPr dirty="0" spc="-7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system</a:t>
            </a:r>
            <a:r>
              <a:rPr dirty="0" spc="-4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feature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restrictions</a:t>
            </a:r>
          </a:p>
          <a:p>
            <a:pPr marL="339725" indent="-360680">
              <a:lnSpc>
                <a:spcPct val="100000"/>
              </a:lnSpc>
              <a:spcBef>
                <a:spcPts val="1130"/>
              </a:spcBef>
              <a:buFont typeface="Arial"/>
              <a:buChar char="•"/>
              <a:tabLst>
                <a:tab pos="340360" algn="l"/>
              </a:tabLst>
            </a:pPr>
            <a:r>
              <a:rPr dirty="0">
                <a:solidFill>
                  <a:srgbClr val="000000"/>
                </a:solidFill>
              </a:rPr>
              <a:t>Security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 spc="-20">
                <a:solidFill>
                  <a:srgbClr val="000000"/>
                </a:solidFill>
              </a:rPr>
              <a:t>modules—</a:t>
            </a:r>
            <a:r>
              <a:rPr dirty="0">
                <a:solidFill>
                  <a:srgbClr val="000000"/>
                </a:solidFill>
              </a:rPr>
              <a:t>Mandatory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access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controls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761223" y="6578600"/>
            <a:ext cx="43167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Arial"/>
                <a:cs typeface="Arial"/>
                <a:hlinkClick r:id="rId2"/>
              </a:rPr>
              <a:t>https://www.redhat.com/sysadmin/7-linux-namespaces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201295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Access</a:t>
            </a:r>
            <a:r>
              <a:rPr dirty="0" spc="-2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Control</a:t>
            </a:r>
            <a:r>
              <a:rPr dirty="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of</a:t>
            </a:r>
            <a:r>
              <a:rPr dirty="0" spc="-4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objects</a:t>
            </a:r>
            <a:r>
              <a:rPr dirty="0" spc="-5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:</a:t>
            </a:r>
            <a:r>
              <a:rPr dirty="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AF50"/>
                </a:solidFill>
                <a:latin typeface="Arial"/>
                <a:cs typeface="Arial"/>
              </a:rPr>
              <a:t>Illustration</a:t>
            </a:r>
            <a:r>
              <a:rPr dirty="0" spc="-75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AF50"/>
                </a:solidFill>
                <a:latin typeface="Arial"/>
                <a:cs typeface="Arial"/>
              </a:rPr>
              <a:t>of</a:t>
            </a:r>
            <a:r>
              <a:rPr dirty="0" spc="-35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AF50"/>
                </a:solidFill>
                <a:latin typeface="Arial"/>
                <a:cs typeface="Arial"/>
              </a:rPr>
              <a:t>name</a:t>
            </a:r>
            <a:r>
              <a:rPr dirty="0" spc="-4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AF50"/>
                </a:solidFill>
                <a:latin typeface="Arial"/>
                <a:cs typeface="Arial"/>
              </a:rPr>
              <a:t>space</a:t>
            </a:r>
            <a:r>
              <a:rPr dirty="0" spc="-35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AF50"/>
                </a:solidFill>
                <a:latin typeface="Arial"/>
                <a:cs typeface="Arial"/>
              </a:rPr>
              <a:t>(in</a:t>
            </a:r>
            <a:r>
              <a:rPr dirty="0" spc="-6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AF50"/>
                </a:solidFill>
                <a:latin typeface="Arial"/>
                <a:cs typeface="Arial"/>
              </a:rPr>
              <a:t>this</a:t>
            </a:r>
            <a:r>
              <a:rPr dirty="0" spc="-6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AF50"/>
                </a:solidFill>
                <a:latin typeface="Arial"/>
                <a:cs typeface="Arial"/>
              </a:rPr>
              <a:t>case</a:t>
            </a:r>
            <a:r>
              <a:rPr dirty="0" spc="-3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 spc="-20">
                <a:solidFill>
                  <a:srgbClr val="00AF50"/>
                </a:solidFill>
                <a:latin typeface="Arial"/>
                <a:cs typeface="Arial"/>
              </a:rPr>
              <a:t>MNT)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78027" y="1933194"/>
            <a:ext cx="4876800" cy="401764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15"/>
              </a:spcBef>
              <a:buSzPct val="75000"/>
              <a:buFont typeface="Arial"/>
              <a:buChar char="•"/>
              <a:tabLst>
                <a:tab pos="355600" algn="l"/>
              </a:tabLst>
            </a:pPr>
            <a:r>
              <a:rPr dirty="0" sz="2400" spc="-10">
                <a:latin typeface="Calibri"/>
                <a:cs typeface="Calibri"/>
              </a:rPr>
              <a:t>Processes</a:t>
            </a:r>
            <a:endParaRPr sz="2400">
              <a:latin typeface="Calibri"/>
              <a:cs typeface="Calibri"/>
            </a:endParaRPr>
          </a:p>
          <a:p>
            <a:pPr lvl="1" marL="812800" indent="-342900">
              <a:lnSpc>
                <a:spcPct val="100000"/>
              </a:lnSpc>
              <a:spcBef>
                <a:spcPts val="215"/>
              </a:spcBef>
              <a:buSzPct val="75000"/>
              <a:buFont typeface="Arial"/>
              <a:buChar char="•"/>
              <a:tabLst>
                <a:tab pos="812800" algn="l"/>
              </a:tabLst>
            </a:pP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container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1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access</a:t>
            </a:r>
            <a:endParaRPr sz="2400">
              <a:latin typeface="Calibri"/>
              <a:cs typeface="Calibri"/>
            </a:endParaRPr>
          </a:p>
          <a:p>
            <a:pPr lvl="2" marL="1270000" indent="-342900">
              <a:lnSpc>
                <a:spcPct val="100000"/>
              </a:lnSpc>
              <a:spcBef>
                <a:spcPts val="204"/>
              </a:spcBef>
              <a:buSzPct val="75000"/>
              <a:buFont typeface="Arial"/>
              <a:buChar char="•"/>
              <a:tabLst>
                <a:tab pos="1270000" algn="l"/>
              </a:tabLst>
            </a:pPr>
            <a:r>
              <a:rPr dirty="0" sz="2400">
                <a:latin typeface="Calibri"/>
                <a:cs typeface="Calibri"/>
              </a:rPr>
              <a:t>Shared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/usr</a:t>
            </a:r>
            <a:endParaRPr sz="2400">
              <a:latin typeface="Calibri"/>
              <a:cs typeface="Calibri"/>
            </a:endParaRPr>
          </a:p>
          <a:p>
            <a:pPr lvl="2" marL="1270000" indent="-342900">
              <a:lnSpc>
                <a:spcPct val="100000"/>
              </a:lnSpc>
              <a:spcBef>
                <a:spcPts val="215"/>
              </a:spcBef>
              <a:buSzPct val="75000"/>
              <a:buFont typeface="Arial"/>
              <a:buChar char="•"/>
              <a:tabLst>
                <a:tab pos="1270000" algn="l"/>
              </a:tabLst>
            </a:pPr>
            <a:r>
              <a:rPr dirty="0" sz="2400" spc="-10">
                <a:latin typeface="Calibri"/>
                <a:cs typeface="Calibri"/>
              </a:rPr>
              <a:t>Non-</a:t>
            </a:r>
            <a:r>
              <a:rPr dirty="0" sz="2400">
                <a:latin typeface="Calibri"/>
                <a:cs typeface="Calibri"/>
              </a:rPr>
              <a:t>shared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/mnt</a:t>
            </a:r>
            <a:endParaRPr sz="2400">
              <a:latin typeface="Calibri"/>
              <a:cs typeface="Calibri"/>
            </a:endParaRPr>
          </a:p>
          <a:p>
            <a:pPr lvl="2" marL="1270000" indent="-342900">
              <a:lnSpc>
                <a:spcPct val="100000"/>
              </a:lnSpc>
              <a:spcBef>
                <a:spcPts val="219"/>
              </a:spcBef>
              <a:buSzPct val="75000"/>
              <a:buFont typeface="Arial"/>
              <a:buChar char="•"/>
              <a:tabLst>
                <a:tab pos="1270000" algn="l"/>
              </a:tabLst>
            </a:pPr>
            <a:r>
              <a:rPr dirty="0" sz="2400">
                <a:latin typeface="Calibri"/>
                <a:cs typeface="Calibri"/>
              </a:rPr>
              <a:t>Cannot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access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/mnt2</a:t>
            </a:r>
            <a:endParaRPr sz="2400">
              <a:latin typeface="Calibri"/>
              <a:cs typeface="Calibri"/>
            </a:endParaRPr>
          </a:p>
          <a:p>
            <a:pPr lvl="1" marL="812800" indent="-342900">
              <a:lnSpc>
                <a:spcPct val="100000"/>
              </a:lnSpc>
              <a:spcBef>
                <a:spcPts val="200"/>
              </a:spcBef>
              <a:buSzPct val="75000"/>
              <a:buFont typeface="Arial"/>
              <a:buChar char="•"/>
              <a:tabLst>
                <a:tab pos="812800" algn="l"/>
              </a:tabLst>
            </a:pP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container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2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access</a:t>
            </a:r>
            <a:endParaRPr sz="2400">
              <a:latin typeface="Calibri"/>
              <a:cs typeface="Calibri"/>
            </a:endParaRPr>
          </a:p>
          <a:p>
            <a:pPr lvl="2" marL="1270000" indent="-342900">
              <a:lnSpc>
                <a:spcPct val="100000"/>
              </a:lnSpc>
              <a:spcBef>
                <a:spcPts val="220"/>
              </a:spcBef>
              <a:buSzPct val="75000"/>
              <a:buFont typeface="Arial"/>
              <a:buChar char="•"/>
              <a:tabLst>
                <a:tab pos="1270000" algn="l"/>
              </a:tabLst>
            </a:pPr>
            <a:r>
              <a:rPr dirty="0" sz="2400">
                <a:latin typeface="Calibri"/>
                <a:cs typeface="Calibri"/>
              </a:rPr>
              <a:t>Shared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/usr</a:t>
            </a:r>
            <a:endParaRPr sz="2400">
              <a:latin typeface="Calibri"/>
              <a:cs typeface="Calibri"/>
            </a:endParaRPr>
          </a:p>
          <a:p>
            <a:pPr lvl="2" marL="1270000" indent="-342900">
              <a:lnSpc>
                <a:spcPct val="100000"/>
              </a:lnSpc>
              <a:spcBef>
                <a:spcPts val="215"/>
              </a:spcBef>
              <a:buSzPct val="75000"/>
              <a:buFont typeface="Arial"/>
              <a:buChar char="•"/>
              <a:tabLst>
                <a:tab pos="1270000" algn="l"/>
              </a:tabLst>
            </a:pPr>
            <a:r>
              <a:rPr dirty="0" sz="2400" spc="-10">
                <a:latin typeface="Calibri"/>
                <a:cs typeface="Calibri"/>
              </a:rPr>
              <a:t>Non-</a:t>
            </a:r>
            <a:r>
              <a:rPr dirty="0" sz="2400">
                <a:latin typeface="Calibri"/>
                <a:cs typeface="Calibri"/>
              </a:rPr>
              <a:t>shared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/mnt2</a:t>
            </a:r>
            <a:endParaRPr sz="2400">
              <a:latin typeface="Calibri"/>
              <a:cs typeface="Calibri"/>
            </a:endParaRPr>
          </a:p>
          <a:p>
            <a:pPr lvl="2" marL="1270000" indent="-342900">
              <a:lnSpc>
                <a:spcPct val="100000"/>
              </a:lnSpc>
              <a:spcBef>
                <a:spcPts val="204"/>
              </a:spcBef>
              <a:buSzPct val="75000"/>
              <a:buFont typeface="Arial"/>
              <a:buChar char="•"/>
              <a:tabLst>
                <a:tab pos="1270000" algn="l"/>
              </a:tabLst>
            </a:pPr>
            <a:r>
              <a:rPr dirty="0" sz="2400">
                <a:latin typeface="Calibri"/>
                <a:cs typeface="Calibri"/>
              </a:rPr>
              <a:t>Cannot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access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/mnt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20"/>
              </a:spcBef>
              <a:buSzPct val="75000"/>
              <a:buFont typeface="Arial"/>
              <a:buChar char="•"/>
              <a:tabLst>
                <a:tab pos="355600" algn="l"/>
              </a:tabLst>
            </a:pPr>
            <a:r>
              <a:rPr dirty="0" sz="2400">
                <a:latin typeface="Calibri"/>
                <a:cs typeface="Calibri"/>
              </a:rPr>
              <a:t>These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two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different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namespaces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6631051" y="2091385"/>
            <a:ext cx="146939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libri"/>
                <a:cs typeface="Calibri"/>
              </a:rPr>
              <a:t>Container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5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9409556" y="2132457"/>
            <a:ext cx="14687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libri"/>
                <a:cs typeface="Calibri"/>
              </a:rPr>
              <a:t>Container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 spc="-5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202679" y="3447237"/>
            <a:ext cx="4950460" cy="2469515"/>
            <a:chOff x="6202679" y="3447237"/>
            <a:chExt cx="4950460" cy="2469515"/>
          </a:xfrm>
        </p:grpSpPr>
        <p:sp>
          <p:nvSpPr>
            <p:cNvPr id="6" name="object 6"/>
            <p:cNvSpPr/>
            <p:nvPr/>
          </p:nvSpPr>
          <p:spPr>
            <a:xfrm>
              <a:off x="10906633" y="4339717"/>
              <a:ext cx="0" cy="1123950"/>
            </a:xfrm>
            <a:custGeom>
              <a:avLst/>
              <a:gdLst/>
              <a:ahLst/>
              <a:cxnLst/>
              <a:rect l="l" t="t" r="r" b="b"/>
              <a:pathLst>
                <a:path w="0" h="1123950">
                  <a:moveTo>
                    <a:pt x="0" y="0"/>
                  </a:moveTo>
                  <a:lnTo>
                    <a:pt x="0" y="1123949"/>
                  </a:lnTo>
                </a:path>
              </a:pathLst>
            </a:custGeom>
            <a:ln w="9525">
              <a:solidFill>
                <a:srgbClr val="3966B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900540" y="3843655"/>
              <a:ext cx="2006600" cy="119380"/>
            </a:xfrm>
            <a:custGeom>
              <a:avLst/>
              <a:gdLst/>
              <a:ahLst/>
              <a:cxnLst/>
              <a:rect l="l" t="t" r="r" b="b"/>
              <a:pathLst>
                <a:path w="2006600" h="119379">
                  <a:moveTo>
                    <a:pt x="0" y="0"/>
                  </a:moveTo>
                  <a:lnTo>
                    <a:pt x="0" y="59944"/>
                  </a:lnTo>
                  <a:lnTo>
                    <a:pt x="2006091" y="59944"/>
                  </a:lnTo>
                  <a:lnTo>
                    <a:pt x="2006091" y="118872"/>
                  </a:lnTo>
                </a:path>
              </a:pathLst>
            </a:custGeom>
            <a:ln w="9525">
              <a:solidFill>
                <a:srgbClr val="345A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614028" y="4339717"/>
              <a:ext cx="1146810" cy="118745"/>
            </a:xfrm>
            <a:custGeom>
              <a:avLst/>
              <a:gdLst/>
              <a:ahLst/>
              <a:cxnLst/>
              <a:rect l="l" t="t" r="r" b="b"/>
              <a:pathLst>
                <a:path w="1146809" h="118745">
                  <a:moveTo>
                    <a:pt x="573151" y="0"/>
                  </a:moveTo>
                  <a:lnTo>
                    <a:pt x="573151" y="59816"/>
                  </a:lnTo>
                  <a:lnTo>
                    <a:pt x="1146302" y="59816"/>
                  </a:lnTo>
                  <a:lnTo>
                    <a:pt x="1146302" y="118744"/>
                  </a:lnTo>
                </a:path>
                <a:path w="1146809" h="118745">
                  <a:moveTo>
                    <a:pt x="573151" y="0"/>
                  </a:moveTo>
                  <a:lnTo>
                    <a:pt x="573151" y="59816"/>
                  </a:lnTo>
                  <a:lnTo>
                    <a:pt x="0" y="59816"/>
                  </a:lnTo>
                  <a:lnTo>
                    <a:pt x="0" y="118744"/>
                  </a:lnTo>
                </a:path>
              </a:pathLst>
            </a:custGeom>
            <a:ln w="9525">
              <a:solidFill>
                <a:srgbClr val="3966B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900540" y="3843655"/>
              <a:ext cx="287020" cy="119380"/>
            </a:xfrm>
            <a:custGeom>
              <a:avLst/>
              <a:gdLst/>
              <a:ahLst/>
              <a:cxnLst/>
              <a:rect l="l" t="t" r="r" b="b"/>
              <a:pathLst>
                <a:path w="287020" h="119379">
                  <a:moveTo>
                    <a:pt x="0" y="0"/>
                  </a:moveTo>
                  <a:lnTo>
                    <a:pt x="0" y="59944"/>
                  </a:lnTo>
                  <a:lnTo>
                    <a:pt x="286638" y="59944"/>
                  </a:lnTo>
                  <a:lnTo>
                    <a:pt x="286638" y="118872"/>
                  </a:lnTo>
                </a:path>
              </a:pathLst>
            </a:custGeom>
            <a:ln w="9525">
              <a:solidFill>
                <a:srgbClr val="345A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453758" y="4339717"/>
              <a:ext cx="1014094" cy="1137920"/>
            </a:xfrm>
            <a:custGeom>
              <a:avLst/>
              <a:gdLst/>
              <a:ahLst/>
              <a:cxnLst/>
              <a:rect l="l" t="t" r="r" b="b"/>
              <a:pathLst>
                <a:path w="1014095" h="1137920">
                  <a:moveTo>
                    <a:pt x="0" y="0"/>
                  </a:moveTo>
                  <a:lnTo>
                    <a:pt x="0" y="1072514"/>
                  </a:lnTo>
                  <a:lnTo>
                    <a:pt x="1013967" y="1072514"/>
                  </a:lnTo>
                  <a:lnTo>
                    <a:pt x="1013967" y="1131569"/>
                  </a:lnTo>
                </a:path>
                <a:path w="1014095" h="1137920">
                  <a:moveTo>
                    <a:pt x="0" y="0"/>
                  </a:moveTo>
                  <a:lnTo>
                    <a:pt x="0" y="1078864"/>
                  </a:lnTo>
                  <a:lnTo>
                    <a:pt x="10794" y="1078864"/>
                  </a:lnTo>
                  <a:lnTo>
                    <a:pt x="10794" y="1137792"/>
                  </a:lnTo>
                </a:path>
              </a:pathLst>
            </a:custGeom>
            <a:ln w="9525">
              <a:solidFill>
                <a:srgbClr val="3966B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453758" y="3843655"/>
              <a:ext cx="2447290" cy="119380"/>
            </a:xfrm>
            <a:custGeom>
              <a:avLst/>
              <a:gdLst/>
              <a:ahLst/>
              <a:cxnLst/>
              <a:rect l="l" t="t" r="r" b="b"/>
              <a:pathLst>
                <a:path w="2447290" h="119379">
                  <a:moveTo>
                    <a:pt x="2446782" y="0"/>
                  </a:moveTo>
                  <a:lnTo>
                    <a:pt x="2446782" y="59944"/>
                  </a:lnTo>
                  <a:lnTo>
                    <a:pt x="0" y="59944"/>
                  </a:lnTo>
                  <a:lnTo>
                    <a:pt x="0" y="118872"/>
                  </a:lnTo>
                </a:path>
              </a:pathLst>
            </a:custGeom>
            <a:ln w="9525">
              <a:solidFill>
                <a:srgbClr val="345A9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0223" y="3447237"/>
              <a:ext cx="496836" cy="45725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92133" y="3466592"/>
              <a:ext cx="416941" cy="37706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02679" y="3942562"/>
              <a:ext cx="498348" cy="45874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45351" y="3962527"/>
              <a:ext cx="416814" cy="37719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13347" y="5457444"/>
              <a:ext cx="498348" cy="45874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56019" y="5477510"/>
              <a:ext cx="416940" cy="37710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16139" y="5451348"/>
              <a:ext cx="498348" cy="45874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59192" y="5471286"/>
              <a:ext cx="416940" cy="37708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936735" y="3942562"/>
              <a:ext cx="496836" cy="45874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978772" y="3962527"/>
              <a:ext cx="416813" cy="37719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362187" y="4439361"/>
              <a:ext cx="498348" cy="45725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405622" y="4458462"/>
              <a:ext cx="416813" cy="37718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509759" y="4439361"/>
              <a:ext cx="496836" cy="45725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551923" y="4458462"/>
              <a:ext cx="416814" cy="37718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655808" y="3942562"/>
              <a:ext cx="496836" cy="45874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98226" y="3962527"/>
              <a:ext cx="416941" cy="37719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655808" y="5443727"/>
              <a:ext cx="496836" cy="45874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698226" y="5463667"/>
              <a:ext cx="416941" cy="37716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0906633" y="4339717"/>
              <a:ext cx="0" cy="1123950"/>
            </a:xfrm>
            <a:custGeom>
              <a:avLst/>
              <a:gdLst/>
              <a:ahLst/>
              <a:cxnLst/>
              <a:rect l="l" t="t" r="r" b="b"/>
              <a:pathLst>
                <a:path w="0" h="1123950">
                  <a:moveTo>
                    <a:pt x="0" y="0"/>
                  </a:moveTo>
                  <a:lnTo>
                    <a:pt x="0" y="1123949"/>
                  </a:lnTo>
                </a:path>
              </a:pathLst>
            </a:custGeom>
            <a:ln w="9525">
              <a:solidFill>
                <a:srgbClr val="3966B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8900540" y="3843655"/>
              <a:ext cx="2006600" cy="119380"/>
            </a:xfrm>
            <a:custGeom>
              <a:avLst/>
              <a:gdLst/>
              <a:ahLst/>
              <a:cxnLst/>
              <a:rect l="l" t="t" r="r" b="b"/>
              <a:pathLst>
                <a:path w="2006600" h="119379">
                  <a:moveTo>
                    <a:pt x="0" y="0"/>
                  </a:moveTo>
                  <a:lnTo>
                    <a:pt x="0" y="59944"/>
                  </a:lnTo>
                  <a:lnTo>
                    <a:pt x="2006091" y="59944"/>
                  </a:lnTo>
                  <a:lnTo>
                    <a:pt x="2006091" y="118872"/>
                  </a:lnTo>
                </a:path>
              </a:pathLst>
            </a:custGeom>
            <a:ln w="9525">
              <a:solidFill>
                <a:srgbClr val="345A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8614028" y="4339717"/>
              <a:ext cx="1146810" cy="118745"/>
            </a:xfrm>
            <a:custGeom>
              <a:avLst/>
              <a:gdLst/>
              <a:ahLst/>
              <a:cxnLst/>
              <a:rect l="l" t="t" r="r" b="b"/>
              <a:pathLst>
                <a:path w="1146809" h="118745">
                  <a:moveTo>
                    <a:pt x="573151" y="0"/>
                  </a:moveTo>
                  <a:lnTo>
                    <a:pt x="573151" y="59816"/>
                  </a:lnTo>
                  <a:lnTo>
                    <a:pt x="1146302" y="59816"/>
                  </a:lnTo>
                  <a:lnTo>
                    <a:pt x="1146302" y="118744"/>
                  </a:lnTo>
                </a:path>
                <a:path w="1146809" h="118745">
                  <a:moveTo>
                    <a:pt x="573151" y="0"/>
                  </a:moveTo>
                  <a:lnTo>
                    <a:pt x="573151" y="59816"/>
                  </a:lnTo>
                  <a:lnTo>
                    <a:pt x="0" y="59816"/>
                  </a:lnTo>
                  <a:lnTo>
                    <a:pt x="0" y="118744"/>
                  </a:lnTo>
                </a:path>
              </a:pathLst>
            </a:custGeom>
            <a:ln w="9525">
              <a:solidFill>
                <a:srgbClr val="3966B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8900540" y="3843655"/>
              <a:ext cx="287020" cy="119380"/>
            </a:xfrm>
            <a:custGeom>
              <a:avLst/>
              <a:gdLst/>
              <a:ahLst/>
              <a:cxnLst/>
              <a:rect l="l" t="t" r="r" b="b"/>
              <a:pathLst>
                <a:path w="287020" h="119379">
                  <a:moveTo>
                    <a:pt x="0" y="0"/>
                  </a:moveTo>
                  <a:lnTo>
                    <a:pt x="0" y="59944"/>
                  </a:lnTo>
                  <a:lnTo>
                    <a:pt x="286638" y="59944"/>
                  </a:lnTo>
                  <a:lnTo>
                    <a:pt x="286638" y="118872"/>
                  </a:lnTo>
                </a:path>
              </a:pathLst>
            </a:custGeom>
            <a:ln w="9525">
              <a:solidFill>
                <a:srgbClr val="345A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453758" y="4339717"/>
              <a:ext cx="1014094" cy="1137920"/>
            </a:xfrm>
            <a:custGeom>
              <a:avLst/>
              <a:gdLst/>
              <a:ahLst/>
              <a:cxnLst/>
              <a:rect l="l" t="t" r="r" b="b"/>
              <a:pathLst>
                <a:path w="1014095" h="1137920">
                  <a:moveTo>
                    <a:pt x="0" y="0"/>
                  </a:moveTo>
                  <a:lnTo>
                    <a:pt x="0" y="1072514"/>
                  </a:lnTo>
                  <a:lnTo>
                    <a:pt x="1013967" y="1072514"/>
                  </a:lnTo>
                  <a:lnTo>
                    <a:pt x="1013967" y="1131569"/>
                  </a:lnTo>
                </a:path>
                <a:path w="1014095" h="1137920">
                  <a:moveTo>
                    <a:pt x="0" y="0"/>
                  </a:moveTo>
                  <a:lnTo>
                    <a:pt x="0" y="1078864"/>
                  </a:lnTo>
                  <a:lnTo>
                    <a:pt x="10794" y="1078864"/>
                  </a:lnTo>
                  <a:lnTo>
                    <a:pt x="10794" y="1137792"/>
                  </a:lnTo>
                </a:path>
              </a:pathLst>
            </a:custGeom>
            <a:ln w="9525">
              <a:solidFill>
                <a:srgbClr val="3966B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6453758" y="3843655"/>
              <a:ext cx="2447290" cy="119380"/>
            </a:xfrm>
            <a:custGeom>
              <a:avLst/>
              <a:gdLst/>
              <a:ahLst/>
              <a:cxnLst/>
              <a:rect l="l" t="t" r="r" b="b"/>
              <a:pathLst>
                <a:path w="2447290" h="119379">
                  <a:moveTo>
                    <a:pt x="2446782" y="0"/>
                  </a:moveTo>
                  <a:lnTo>
                    <a:pt x="2446782" y="59944"/>
                  </a:lnTo>
                  <a:lnTo>
                    <a:pt x="0" y="59944"/>
                  </a:lnTo>
                  <a:lnTo>
                    <a:pt x="0" y="118872"/>
                  </a:lnTo>
                </a:path>
              </a:pathLst>
            </a:custGeom>
            <a:ln w="9525">
              <a:solidFill>
                <a:srgbClr val="345A9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0223" y="3447237"/>
              <a:ext cx="496836" cy="45725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92133" y="3466592"/>
              <a:ext cx="416941" cy="377063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9146793" y="3519042"/>
            <a:ext cx="793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aseline="2136" sz="1950" spc="-217" b="1">
                <a:latin typeface="Arial"/>
                <a:cs typeface="Arial"/>
              </a:rPr>
              <a:t>/</a:t>
            </a:r>
            <a:r>
              <a:rPr dirty="0" sz="1400" spc="-145">
                <a:latin typeface="Arial"/>
                <a:cs typeface="Arial"/>
              </a:rPr>
              <a:t>/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202679" y="3942562"/>
            <a:ext cx="498475" cy="459105"/>
            <a:chOff x="6202679" y="3942562"/>
            <a:chExt cx="498475" cy="459105"/>
          </a:xfrm>
        </p:grpSpPr>
        <p:pic>
          <p:nvPicPr>
            <p:cNvPr id="40" name="object 4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202679" y="3942562"/>
              <a:ext cx="498348" cy="458749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45351" y="3962526"/>
              <a:ext cx="416814" cy="377190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6699884" y="4014977"/>
            <a:ext cx="3257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2136" sz="1950" spc="-1702" b="1">
                <a:latin typeface="Arial"/>
                <a:cs typeface="Arial"/>
              </a:rPr>
              <a:t>m</a:t>
            </a:r>
            <a:r>
              <a:rPr dirty="0" sz="1400" spc="-60">
                <a:latin typeface="Arial"/>
                <a:cs typeface="Arial"/>
              </a:rPr>
              <a:t>m</a:t>
            </a:r>
            <a:r>
              <a:rPr dirty="0" baseline="2136" sz="1950" spc="-1177" b="1">
                <a:latin typeface="Arial"/>
                <a:cs typeface="Arial"/>
              </a:rPr>
              <a:t>n</a:t>
            </a:r>
            <a:r>
              <a:rPr dirty="0" sz="1400" spc="-45">
                <a:latin typeface="Arial"/>
                <a:cs typeface="Arial"/>
              </a:rPr>
              <a:t>n</a:t>
            </a:r>
            <a:r>
              <a:rPr dirty="0" baseline="2136" sz="1950" spc="-637" b="1">
                <a:latin typeface="Arial"/>
                <a:cs typeface="Arial"/>
              </a:rPr>
              <a:t>t</a:t>
            </a:r>
            <a:r>
              <a:rPr dirty="0" sz="1400" spc="-10">
                <a:latin typeface="Arial"/>
                <a:cs typeface="Arial"/>
              </a:rPr>
              <a:t>t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8936735" y="3942562"/>
            <a:ext cx="497205" cy="459105"/>
            <a:chOff x="8936735" y="3942562"/>
            <a:chExt cx="497205" cy="459105"/>
          </a:xfrm>
        </p:grpSpPr>
        <p:pic>
          <p:nvPicPr>
            <p:cNvPr id="52" name="object 5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936735" y="3942562"/>
              <a:ext cx="496836" cy="458749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978772" y="3962526"/>
              <a:ext cx="416813" cy="377190"/>
            </a:xfrm>
            <a:prstGeom prst="rect">
              <a:avLst/>
            </a:prstGeom>
          </p:spPr>
        </p:pic>
      </p:grpSp>
      <p:sp>
        <p:nvSpPr>
          <p:cNvPr id="54" name="object 54"/>
          <p:cNvSpPr txBox="1"/>
          <p:nvPr/>
        </p:nvSpPr>
        <p:spPr>
          <a:xfrm>
            <a:off x="9433686" y="4014977"/>
            <a:ext cx="27749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2136" sz="1950" spc="-1185" b="1">
                <a:latin typeface="Arial"/>
                <a:cs typeface="Arial"/>
              </a:rPr>
              <a:t>u</a:t>
            </a:r>
            <a:r>
              <a:rPr dirty="0" sz="1400" spc="-25">
                <a:latin typeface="Arial"/>
                <a:cs typeface="Arial"/>
              </a:rPr>
              <a:t>u</a:t>
            </a:r>
            <a:r>
              <a:rPr dirty="0" baseline="2136" sz="1950" spc="-1080" b="1">
                <a:latin typeface="Arial"/>
                <a:cs typeface="Arial"/>
              </a:rPr>
              <a:t>s</a:t>
            </a:r>
            <a:r>
              <a:rPr dirty="0" sz="1400" spc="-5">
                <a:latin typeface="Arial"/>
                <a:cs typeface="Arial"/>
              </a:rPr>
              <a:t>s</a:t>
            </a:r>
            <a:r>
              <a:rPr dirty="0" baseline="2136" sz="1950" spc="-765" b="1">
                <a:latin typeface="Arial"/>
                <a:cs typeface="Arial"/>
              </a:rPr>
              <a:t>r</a:t>
            </a:r>
            <a:r>
              <a:rPr dirty="0" sz="1400" spc="-5">
                <a:latin typeface="Arial"/>
                <a:cs typeface="Arial"/>
              </a:rPr>
              <a:t>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10655807" y="3942562"/>
            <a:ext cx="497205" cy="459105"/>
            <a:chOff x="10655807" y="3942562"/>
            <a:chExt cx="497205" cy="459105"/>
          </a:xfrm>
        </p:grpSpPr>
        <p:pic>
          <p:nvPicPr>
            <p:cNvPr id="64" name="object 6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655807" y="3942562"/>
              <a:ext cx="496836" cy="458749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98225" y="3962526"/>
              <a:ext cx="416941" cy="377190"/>
            </a:xfrm>
            <a:prstGeom prst="rect">
              <a:avLst/>
            </a:prstGeom>
          </p:spPr>
        </p:pic>
      </p:grpSp>
      <p:sp>
        <p:nvSpPr>
          <p:cNvPr id="66" name="object 66"/>
          <p:cNvSpPr txBox="1"/>
          <p:nvPr/>
        </p:nvSpPr>
        <p:spPr>
          <a:xfrm>
            <a:off x="11153393" y="4014977"/>
            <a:ext cx="41910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2136" sz="1950" spc="-1702" b="1">
                <a:latin typeface="Arial"/>
                <a:cs typeface="Arial"/>
              </a:rPr>
              <a:t>m</a:t>
            </a:r>
            <a:r>
              <a:rPr dirty="0" sz="1400" spc="-60">
                <a:latin typeface="Arial"/>
                <a:cs typeface="Arial"/>
              </a:rPr>
              <a:t>m</a:t>
            </a:r>
            <a:r>
              <a:rPr dirty="0" baseline="2136" sz="1950" spc="-1177" b="1">
                <a:latin typeface="Arial"/>
                <a:cs typeface="Arial"/>
              </a:rPr>
              <a:t>n</a:t>
            </a:r>
            <a:r>
              <a:rPr dirty="0" sz="1400" spc="-40">
                <a:latin typeface="Arial"/>
                <a:cs typeface="Arial"/>
              </a:rPr>
              <a:t>n</a:t>
            </a:r>
            <a:r>
              <a:rPr dirty="0" baseline="2136" sz="1950" spc="-637" b="1">
                <a:latin typeface="Arial"/>
                <a:cs typeface="Arial"/>
              </a:rPr>
              <a:t>t</a:t>
            </a:r>
            <a:r>
              <a:rPr dirty="0" sz="1400" spc="-10">
                <a:latin typeface="Arial"/>
                <a:cs typeface="Arial"/>
              </a:rPr>
              <a:t>t</a:t>
            </a:r>
            <a:r>
              <a:rPr dirty="0" sz="1400" spc="-785">
                <a:latin typeface="Arial"/>
                <a:cs typeface="Arial"/>
              </a:rPr>
              <a:t>2</a:t>
            </a:r>
            <a:r>
              <a:rPr dirty="0" baseline="2136" sz="1950" spc="-30" b="1">
                <a:latin typeface="Arial"/>
                <a:cs typeface="Arial"/>
              </a:rPr>
              <a:t>2</a:t>
            </a:r>
            <a:endParaRPr baseline="2136" sz="1950">
              <a:latin typeface="Arial"/>
              <a:cs typeface="Arial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8362188" y="4439361"/>
            <a:ext cx="498475" cy="457834"/>
            <a:chOff x="8362188" y="4439361"/>
            <a:chExt cx="498475" cy="457834"/>
          </a:xfrm>
        </p:grpSpPr>
        <p:pic>
          <p:nvPicPr>
            <p:cNvPr id="56" name="object 5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362188" y="4439361"/>
              <a:ext cx="498348" cy="45725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405622" y="4458461"/>
              <a:ext cx="416813" cy="377189"/>
            </a:xfrm>
            <a:prstGeom prst="rect">
              <a:avLst/>
            </a:prstGeom>
          </p:spPr>
        </p:pic>
      </p:grpSp>
      <p:sp>
        <p:nvSpPr>
          <p:cNvPr id="58" name="object 58"/>
          <p:cNvSpPr txBox="1"/>
          <p:nvPr/>
        </p:nvSpPr>
        <p:spPr>
          <a:xfrm>
            <a:off x="8860281" y="4511166"/>
            <a:ext cx="27241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2136" sz="1950" spc="-1192" b="1">
                <a:latin typeface="Arial"/>
                <a:cs typeface="Arial"/>
              </a:rPr>
              <a:t>b</a:t>
            </a:r>
            <a:r>
              <a:rPr dirty="0" sz="1400" spc="-40">
                <a:latin typeface="Arial"/>
                <a:cs typeface="Arial"/>
              </a:rPr>
              <a:t>b</a:t>
            </a:r>
            <a:r>
              <a:rPr dirty="0" baseline="2136" sz="1950" spc="-547" b="1">
                <a:latin typeface="Arial"/>
                <a:cs typeface="Arial"/>
              </a:rPr>
              <a:t>i</a:t>
            </a:r>
            <a:r>
              <a:rPr dirty="0" sz="1400" spc="-25">
                <a:latin typeface="Arial"/>
                <a:cs typeface="Arial"/>
              </a:rPr>
              <a:t>i</a:t>
            </a:r>
            <a:r>
              <a:rPr dirty="0" sz="1400" spc="-770">
                <a:latin typeface="Arial"/>
                <a:cs typeface="Arial"/>
              </a:rPr>
              <a:t>n</a:t>
            </a:r>
            <a:r>
              <a:rPr dirty="0" baseline="2136" sz="1950" spc="-22" b="1">
                <a:latin typeface="Arial"/>
                <a:cs typeface="Arial"/>
              </a:rPr>
              <a:t>n</a:t>
            </a:r>
            <a:endParaRPr baseline="2136" sz="1950">
              <a:latin typeface="Arial"/>
              <a:cs typeface="Arial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9509759" y="4439361"/>
            <a:ext cx="497205" cy="457834"/>
            <a:chOff x="9509759" y="4439361"/>
            <a:chExt cx="497205" cy="457834"/>
          </a:xfrm>
        </p:grpSpPr>
        <p:pic>
          <p:nvPicPr>
            <p:cNvPr id="60" name="object 6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9509759" y="4439361"/>
              <a:ext cx="496836" cy="45725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9551923" y="4458461"/>
              <a:ext cx="416814" cy="377189"/>
            </a:xfrm>
            <a:prstGeom prst="rect">
              <a:avLst/>
            </a:prstGeom>
          </p:spPr>
        </p:pic>
      </p:grpSp>
      <p:sp>
        <p:nvSpPr>
          <p:cNvPr id="62" name="object 62"/>
          <p:cNvSpPr txBox="1"/>
          <p:nvPr/>
        </p:nvSpPr>
        <p:spPr>
          <a:xfrm>
            <a:off x="10006965" y="4511166"/>
            <a:ext cx="27241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2136" sz="1950" spc="-1072" b="1">
                <a:latin typeface="Arial"/>
                <a:cs typeface="Arial"/>
              </a:rPr>
              <a:t>s</a:t>
            </a:r>
            <a:r>
              <a:rPr dirty="0" sz="1400" spc="-25">
                <a:latin typeface="Arial"/>
                <a:cs typeface="Arial"/>
              </a:rPr>
              <a:t>s</a:t>
            </a:r>
            <a:r>
              <a:rPr dirty="0" baseline="2136" sz="1950" spc="-750" b="1">
                <a:latin typeface="Arial"/>
                <a:cs typeface="Arial"/>
              </a:rPr>
              <a:t>r</a:t>
            </a:r>
            <a:r>
              <a:rPr dirty="0" sz="1400" spc="-10">
                <a:latin typeface="Arial"/>
                <a:cs typeface="Arial"/>
              </a:rPr>
              <a:t>r</a:t>
            </a:r>
            <a:r>
              <a:rPr dirty="0" sz="1400" spc="-695">
                <a:latin typeface="Arial"/>
                <a:cs typeface="Arial"/>
              </a:rPr>
              <a:t>c</a:t>
            </a:r>
            <a:r>
              <a:rPr dirty="0" baseline="2136" sz="1950" spc="-30" b="1">
                <a:latin typeface="Arial"/>
                <a:cs typeface="Arial"/>
              </a:rPr>
              <a:t>c</a:t>
            </a:r>
            <a:endParaRPr baseline="2136" sz="195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6213347" y="5457444"/>
            <a:ext cx="498475" cy="459105"/>
            <a:chOff x="6213347" y="5457444"/>
            <a:chExt cx="498475" cy="459105"/>
          </a:xfrm>
        </p:grpSpPr>
        <p:pic>
          <p:nvPicPr>
            <p:cNvPr id="44" name="object 4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213347" y="5457444"/>
              <a:ext cx="498348" cy="458749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56019" y="5477510"/>
              <a:ext cx="416940" cy="377101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6710553" y="5523991"/>
            <a:ext cx="3276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2136" sz="1950" spc="-1192" b="1">
                <a:latin typeface="Arial"/>
                <a:cs typeface="Arial"/>
              </a:rPr>
              <a:t>d</a:t>
            </a:r>
            <a:r>
              <a:rPr dirty="0" sz="1400" spc="-30">
                <a:latin typeface="Arial"/>
                <a:cs typeface="Arial"/>
              </a:rPr>
              <a:t>d</a:t>
            </a:r>
            <a:r>
              <a:rPr dirty="0" baseline="2136" sz="1950" spc="-540" b="1">
                <a:latin typeface="Arial"/>
                <a:cs typeface="Arial"/>
              </a:rPr>
              <a:t>i</a:t>
            </a:r>
            <a:r>
              <a:rPr dirty="0" sz="1400" spc="-10">
                <a:latin typeface="Arial"/>
                <a:cs typeface="Arial"/>
              </a:rPr>
              <a:t>i</a:t>
            </a:r>
            <a:r>
              <a:rPr dirty="0" sz="1400" spc="-450">
                <a:latin typeface="Arial"/>
                <a:cs typeface="Arial"/>
              </a:rPr>
              <a:t>r</a:t>
            </a:r>
            <a:r>
              <a:rPr dirty="0" baseline="2136" sz="1950" spc="-120" b="1">
                <a:latin typeface="Arial"/>
                <a:cs typeface="Arial"/>
              </a:rPr>
              <a:t>r</a:t>
            </a:r>
            <a:r>
              <a:rPr dirty="0" sz="1400" spc="-725">
                <a:latin typeface="Arial"/>
                <a:cs typeface="Arial"/>
              </a:rPr>
              <a:t>1</a:t>
            </a:r>
            <a:r>
              <a:rPr dirty="0" baseline="2136" sz="1950" spc="-15" b="1">
                <a:latin typeface="Arial"/>
                <a:cs typeface="Arial"/>
              </a:rPr>
              <a:t>1</a:t>
            </a:r>
            <a:endParaRPr baseline="2136" sz="1950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7216140" y="5451347"/>
            <a:ext cx="498475" cy="459105"/>
            <a:chOff x="7216140" y="5451347"/>
            <a:chExt cx="498475" cy="459105"/>
          </a:xfrm>
        </p:grpSpPr>
        <p:pic>
          <p:nvPicPr>
            <p:cNvPr id="48" name="object 4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216140" y="5451347"/>
              <a:ext cx="498348" cy="45874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59193" y="5471286"/>
              <a:ext cx="416940" cy="377088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7713980" y="5531307"/>
            <a:ext cx="3276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2136" sz="1950" spc="-1192" b="1">
                <a:latin typeface="Arial"/>
                <a:cs typeface="Arial"/>
              </a:rPr>
              <a:t>d</a:t>
            </a:r>
            <a:r>
              <a:rPr dirty="0" sz="1400" spc="-30">
                <a:latin typeface="Arial"/>
                <a:cs typeface="Arial"/>
              </a:rPr>
              <a:t>d</a:t>
            </a:r>
            <a:r>
              <a:rPr dirty="0" baseline="2136" sz="1950" spc="-540" b="1">
                <a:latin typeface="Arial"/>
                <a:cs typeface="Arial"/>
              </a:rPr>
              <a:t>i</a:t>
            </a:r>
            <a:r>
              <a:rPr dirty="0" sz="1400" spc="-10">
                <a:latin typeface="Arial"/>
                <a:cs typeface="Arial"/>
              </a:rPr>
              <a:t>i</a:t>
            </a:r>
            <a:r>
              <a:rPr dirty="0" sz="1400" spc="-450">
                <a:latin typeface="Arial"/>
                <a:cs typeface="Arial"/>
              </a:rPr>
              <a:t>r</a:t>
            </a:r>
            <a:r>
              <a:rPr dirty="0" baseline="2136" sz="1950" spc="-120" b="1">
                <a:latin typeface="Arial"/>
                <a:cs typeface="Arial"/>
              </a:rPr>
              <a:t>r</a:t>
            </a:r>
            <a:r>
              <a:rPr dirty="0" sz="1400" spc="-725">
                <a:latin typeface="Arial"/>
                <a:cs typeface="Arial"/>
              </a:rPr>
              <a:t>2</a:t>
            </a:r>
            <a:r>
              <a:rPr dirty="0" baseline="2136" sz="1950" spc="-15" b="1">
                <a:latin typeface="Arial"/>
                <a:cs typeface="Arial"/>
              </a:rPr>
              <a:t>2</a:t>
            </a:r>
            <a:endParaRPr baseline="2136" sz="1950">
              <a:latin typeface="Arial"/>
              <a:cs typeface="Arial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10655807" y="5443728"/>
            <a:ext cx="497205" cy="459105"/>
            <a:chOff x="10655807" y="5443728"/>
            <a:chExt cx="497205" cy="459105"/>
          </a:xfrm>
        </p:grpSpPr>
        <p:pic>
          <p:nvPicPr>
            <p:cNvPr id="68" name="object 6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655807" y="5443728"/>
              <a:ext cx="496836" cy="458749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698225" y="5463667"/>
              <a:ext cx="416941" cy="377164"/>
            </a:xfrm>
            <a:prstGeom prst="rect">
              <a:avLst/>
            </a:prstGeom>
          </p:spPr>
        </p:pic>
      </p:grpSp>
      <p:sp>
        <p:nvSpPr>
          <p:cNvPr id="70" name="object 70"/>
          <p:cNvSpPr txBox="1"/>
          <p:nvPr/>
        </p:nvSpPr>
        <p:spPr>
          <a:xfrm>
            <a:off x="11153393" y="5516372"/>
            <a:ext cx="35560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2136" sz="1950" spc="-1395" b="1">
                <a:latin typeface="Arial"/>
                <a:cs typeface="Arial"/>
              </a:rPr>
              <a:t>D</a:t>
            </a:r>
            <a:r>
              <a:rPr dirty="0" sz="1400" spc="-120">
                <a:latin typeface="Arial"/>
                <a:cs typeface="Arial"/>
              </a:rPr>
              <a:t>D</a:t>
            </a:r>
            <a:r>
              <a:rPr dirty="0" baseline="2136" sz="1950" spc="-412" b="1">
                <a:latin typeface="Arial"/>
                <a:cs typeface="Arial"/>
              </a:rPr>
              <a:t>i</a:t>
            </a:r>
            <a:r>
              <a:rPr dirty="0" sz="1400" spc="-70">
                <a:latin typeface="Arial"/>
                <a:cs typeface="Arial"/>
              </a:rPr>
              <a:t>i</a:t>
            </a:r>
            <a:r>
              <a:rPr dirty="0" baseline="2136" sz="1950" spc="-697" b="1">
                <a:latin typeface="Arial"/>
                <a:cs typeface="Arial"/>
              </a:rPr>
              <a:t>r</a:t>
            </a:r>
            <a:r>
              <a:rPr dirty="0" sz="1400" spc="-25">
                <a:latin typeface="Arial"/>
                <a:cs typeface="Arial"/>
              </a:rPr>
              <a:t>r</a:t>
            </a:r>
            <a:r>
              <a:rPr dirty="0" baseline="2136" sz="1950" spc="-1095" b="1">
                <a:latin typeface="Arial"/>
                <a:cs typeface="Arial"/>
              </a:rPr>
              <a:t>3</a:t>
            </a:r>
            <a:r>
              <a:rPr dirty="0" sz="1400" spc="-10">
                <a:latin typeface="Arial"/>
                <a:cs typeface="Arial"/>
              </a:rPr>
              <a:t>3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6048755" y="2545079"/>
            <a:ext cx="5192395" cy="3168650"/>
            <a:chOff x="6048755" y="2545079"/>
            <a:chExt cx="5192395" cy="3168650"/>
          </a:xfrm>
        </p:grpSpPr>
        <p:pic>
          <p:nvPicPr>
            <p:cNvPr id="72" name="object 7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048755" y="2545079"/>
              <a:ext cx="3747515" cy="3090672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6095999" y="2569844"/>
              <a:ext cx="3657600" cy="3000375"/>
            </a:xfrm>
            <a:custGeom>
              <a:avLst/>
              <a:gdLst/>
              <a:ahLst/>
              <a:cxnLst/>
              <a:rect l="l" t="t" r="r" b="b"/>
              <a:pathLst>
                <a:path w="3657600" h="3000375">
                  <a:moveTo>
                    <a:pt x="0" y="500125"/>
                  </a:moveTo>
                  <a:lnTo>
                    <a:pt x="2289" y="451958"/>
                  </a:lnTo>
                  <a:lnTo>
                    <a:pt x="9017" y="405086"/>
                  </a:lnTo>
                  <a:lnTo>
                    <a:pt x="19975" y="359720"/>
                  </a:lnTo>
                  <a:lnTo>
                    <a:pt x="34952" y="316069"/>
                  </a:lnTo>
                  <a:lnTo>
                    <a:pt x="53740" y="274342"/>
                  </a:lnTo>
                  <a:lnTo>
                    <a:pt x="76128" y="234749"/>
                  </a:lnTo>
                  <a:lnTo>
                    <a:pt x="101908" y="197500"/>
                  </a:lnTo>
                  <a:lnTo>
                    <a:pt x="130870" y="162803"/>
                  </a:lnTo>
                  <a:lnTo>
                    <a:pt x="162803" y="130870"/>
                  </a:lnTo>
                  <a:lnTo>
                    <a:pt x="197500" y="101908"/>
                  </a:lnTo>
                  <a:lnTo>
                    <a:pt x="234749" y="76128"/>
                  </a:lnTo>
                  <a:lnTo>
                    <a:pt x="274342" y="53740"/>
                  </a:lnTo>
                  <a:lnTo>
                    <a:pt x="316069" y="34952"/>
                  </a:lnTo>
                  <a:lnTo>
                    <a:pt x="359720" y="19975"/>
                  </a:lnTo>
                  <a:lnTo>
                    <a:pt x="405086" y="9017"/>
                  </a:lnTo>
                  <a:lnTo>
                    <a:pt x="451958" y="2289"/>
                  </a:lnTo>
                  <a:lnTo>
                    <a:pt x="500125" y="0"/>
                  </a:lnTo>
                  <a:lnTo>
                    <a:pt x="3157220" y="0"/>
                  </a:lnTo>
                  <a:lnTo>
                    <a:pt x="3205387" y="2289"/>
                  </a:lnTo>
                  <a:lnTo>
                    <a:pt x="3252259" y="9017"/>
                  </a:lnTo>
                  <a:lnTo>
                    <a:pt x="3297625" y="19975"/>
                  </a:lnTo>
                  <a:lnTo>
                    <a:pt x="3341276" y="34952"/>
                  </a:lnTo>
                  <a:lnTo>
                    <a:pt x="3383003" y="53740"/>
                  </a:lnTo>
                  <a:lnTo>
                    <a:pt x="3422596" y="76128"/>
                  </a:lnTo>
                  <a:lnTo>
                    <a:pt x="3459845" y="101908"/>
                  </a:lnTo>
                  <a:lnTo>
                    <a:pt x="3494542" y="130870"/>
                  </a:lnTo>
                  <a:lnTo>
                    <a:pt x="3526475" y="162803"/>
                  </a:lnTo>
                  <a:lnTo>
                    <a:pt x="3555437" y="197500"/>
                  </a:lnTo>
                  <a:lnTo>
                    <a:pt x="3581217" y="234749"/>
                  </a:lnTo>
                  <a:lnTo>
                    <a:pt x="3603605" y="274342"/>
                  </a:lnTo>
                  <a:lnTo>
                    <a:pt x="3622393" y="316069"/>
                  </a:lnTo>
                  <a:lnTo>
                    <a:pt x="3637370" y="359720"/>
                  </a:lnTo>
                  <a:lnTo>
                    <a:pt x="3648328" y="405086"/>
                  </a:lnTo>
                  <a:lnTo>
                    <a:pt x="3655056" y="451958"/>
                  </a:lnTo>
                  <a:lnTo>
                    <a:pt x="3657346" y="500125"/>
                  </a:lnTo>
                  <a:lnTo>
                    <a:pt x="3657346" y="2500375"/>
                  </a:lnTo>
                  <a:lnTo>
                    <a:pt x="3655056" y="2548522"/>
                  </a:lnTo>
                  <a:lnTo>
                    <a:pt x="3648328" y="2595375"/>
                  </a:lnTo>
                  <a:lnTo>
                    <a:pt x="3637370" y="2640725"/>
                  </a:lnTo>
                  <a:lnTo>
                    <a:pt x="3622393" y="2684362"/>
                  </a:lnTo>
                  <a:lnTo>
                    <a:pt x="3603605" y="2726077"/>
                  </a:lnTo>
                  <a:lnTo>
                    <a:pt x="3581217" y="2765659"/>
                  </a:lnTo>
                  <a:lnTo>
                    <a:pt x="3555437" y="2802900"/>
                  </a:lnTo>
                  <a:lnTo>
                    <a:pt x="3526475" y="2837589"/>
                  </a:lnTo>
                  <a:lnTo>
                    <a:pt x="3494542" y="2869518"/>
                  </a:lnTo>
                  <a:lnTo>
                    <a:pt x="3459845" y="2898475"/>
                  </a:lnTo>
                  <a:lnTo>
                    <a:pt x="3422596" y="2924251"/>
                  </a:lnTo>
                  <a:lnTo>
                    <a:pt x="3383003" y="2946637"/>
                  </a:lnTo>
                  <a:lnTo>
                    <a:pt x="3341276" y="2965424"/>
                  </a:lnTo>
                  <a:lnTo>
                    <a:pt x="3297625" y="2980400"/>
                  </a:lnTo>
                  <a:lnTo>
                    <a:pt x="3252259" y="2991357"/>
                  </a:lnTo>
                  <a:lnTo>
                    <a:pt x="3205387" y="2998085"/>
                  </a:lnTo>
                  <a:lnTo>
                    <a:pt x="3157220" y="3000374"/>
                  </a:lnTo>
                  <a:lnTo>
                    <a:pt x="500125" y="3000374"/>
                  </a:lnTo>
                  <a:lnTo>
                    <a:pt x="451958" y="2998085"/>
                  </a:lnTo>
                  <a:lnTo>
                    <a:pt x="405086" y="2991357"/>
                  </a:lnTo>
                  <a:lnTo>
                    <a:pt x="359720" y="2980400"/>
                  </a:lnTo>
                  <a:lnTo>
                    <a:pt x="316069" y="2965424"/>
                  </a:lnTo>
                  <a:lnTo>
                    <a:pt x="274342" y="2946637"/>
                  </a:lnTo>
                  <a:lnTo>
                    <a:pt x="234749" y="2924251"/>
                  </a:lnTo>
                  <a:lnTo>
                    <a:pt x="197500" y="2898475"/>
                  </a:lnTo>
                  <a:lnTo>
                    <a:pt x="162803" y="2869518"/>
                  </a:lnTo>
                  <a:lnTo>
                    <a:pt x="130870" y="2837589"/>
                  </a:lnTo>
                  <a:lnTo>
                    <a:pt x="101908" y="2802900"/>
                  </a:lnTo>
                  <a:lnTo>
                    <a:pt x="76128" y="2765659"/>
                  </a:lnTo>
                  <a:lnTo>
                    <a:pt x="53740" y="2726077"/>
                  </a:lnTo>
                  <a:lnTo>
                    <a:pt x="34952" y="2684362"/>
                  </a:lnTo>
                  <a:lnTo>
                    <a:pt x="19975" y="2640725"/>
                  </a:lnTo>
                  <a:lnTo>
                    <a:pt x="9017" y="2595375"/>
                  </a:lnTo>
                  <a:lnTo>
                    <a:pt x="2289" y="2548522"/>
                  </a:lnTo>
                  <a:lnTo>
                    <a:pt x="0" y="2500375"/>
                  </a:lnTo>
                  <a:lnTo>
                    <a:pt x="0" y="500125"/>
                  </a:lnTo>
                  <a:close/>
                </a:path>
              </a:pathLst>
            </a:custGeom>
            <a:ln w="9525">
              <a:solidFill>
                <a:srgbClr val="3D6DC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4" name="object 7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834883" y="2622803"/>
              <a:ext cx="3406139" cy="3090672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7882508" y="2647949"/>
              <a:ext cx="3316604" cy="3000375"/>
            </a:xfrm>
            <a:custGeom>
              <a:avLst/>
              <a:gdLst/>
              <a:ahLst/>
              <a:cxnLst/>
              <a:rect l="l" t="t" r="r" b="b"/>
              <a:pathLst>
                <a:path w="3316604" h="3000375">
                  <a:moveTo>
                    <a:pt x="0" y="499999"/>
                  </a:moveTo>
                  <a:lnTo>
                    <a:pt x="2289" y="451832"/>
                  </a:lnTo>
                  <a:lnTo>
                    <a:pt x="9017" y="404964"/>
                  </a:lnTo>
                  <a:lnTo>
                    <a:pt x="19974" y="359604"/>
                  </a:lnTo>
                  <a:lnTo>
                    <a:pt x="34950" y="315959"/>
                  </a:lnTo>
                  <a:lnTo>
                    <a:pt x="53737" y="274241"/>
                  </a:lnTo>
                  <a:lnTo>
                    <a:pt x="76123" y="234658"/>
                  </a:lnTo>
                  <a:lnTo>
                    <a:pt x="101899" y="197419"/>
                  </a:lnTo>
                  <a:lnTo>
                    <a:pt x="130856" y="162734"/>
                  </a:lnTo>
                  <a:lnTo>
                    <a:pt x="162785" y="130812"/>
                  </a:lnTo>
                  <a:lnTo>
                    <a:pt x="197474" y="101861"/>
                  </a:lnTo>
                  <a:lnTo>
                    <a:pt x="234715" y="76092"/>
                  </a:lnTo>
                  <a:lnTo>
                    <a:pt x="274297" y="53713"/>
                  </a:lnTo>
                  <a:lnTo>
                    <a:pt x="316012" y="34934"/>
                  </a:lnTo>
                  <a:lnTo>
                    <a:pt x="359649" y="19964"/>
                  </a:lnTo>
                  <a:lnTo>
                    <a:pt x="404999" y="9012"/>
                  </a:lnTo>
                  <a:lnTo>
                    <a:pt x="451852" y="2288"/>
                  </a:lnTo>
                  <a:lnTo>
                    <a:pt x="499999" y="0"/>
                  </a:lnTo>
                  <a:lnTo>
                    <a:pt x="2815971" y="0"/>
                  </a:lnTo>
                  <a:lnTo>
                    <a:pt x="2864138" y="2288"/>
                  </a:lnTo>
                  <a:lnTo>
                    <a:pt x="2911010" y="9012"/>
                  </a:lnTo>
                  <a:lnTo>
                    <a:pt x="2956376" y="19964"/>
                  </a:lnTo>
                  <a:lnTo>
                    <a:pt x="3000027" y="34934"/>
                  </a:lnTo>
                  <a:lnTo>
                    <a:pt x="3041754" y="53713"/>
                  </a:lnTo>
                  <a:lnTo>
                    <a:pt x="3081347" y="76092"/>
                  </a:lnTo>
                  <a:lnTo>
                    <a:pt x="3118596" y="101861"/>
                  </a:lnTo>
                  <a:lnTo>
                    <a:pt x="3153293" y="130812"/>
                  </a:lnTo>
                  <a:lnTo>
                    <a:pt x="3185226" y="162734"/>
                  </a:lnTo>
                  <a:lnTo>
                    <a:pt x="3214188" y="197419"/>
                  </a:lnTo>
                  <a:lnTo>
                    <a:pt x="3239968" y="234658"/>
                  </a:lnTo>
                  <a:lnTo>
                    <a:pt x="3262356" y="274241"/>
                  </a:lnTo>
                  <a:lnTo>
                    <a:pt x="3281144" y="315959"/>
                  </a:lnTo>
                  <a:lnTo>
                    <a:pt x="3296121" y="359604"/>
                  </a:lnTo>
                  <a:lnTo>
                    <a:pt x="3307079" y="404964"/>
                  </a:lnTo>
                  <a:lnTo>
                    <a:pt x="3313807" y="451832"/>
                  </a:lnTo>
                  <a:lnTo>
                    <a:pt x="3316097" y="499999"/>
                  </a:lnTo>
                  <a:lnTo>
                    <a:pt x="3316097" y="2500249"/>
                  </a:lnTo>
                  <a:lnTo>
                    <a:pt x="3313807" y="2548415"/>
                  </a:lnTo>
                  <a:lnTo>
                    <a:pt x="3307079" y="2595285"/>
                  </a:lnTo>
                  <a:lnTo>
                    <a:pt x="3296121" y="2640649"/>
                  </a:lnTo>
                  <a:lnTo>
                    <a:pt x="3281144" y="2684296"/>
                  </a:lnTo>
                  <a:lnTo>
                    <a:pt x="3262356" y="2726019"/>
                  </a:lnTo>
                  <a:lnTo>
                    <a:pt x="3239968" y="2765607"/>
                  </a:lnTo>
                  <a:lnTo>
                    <a:pt x="3214188" y="2802851"/>
                  </a:lnTo>
                  <a:lnTo>
                    <a:pt x="3185226" y="2837542"/>
                  </a:lnTo>
                  <a:lnTo>
                    <a:pt x="3153293" y="2869470"/>
                  </a:lnTo>
                  <a:lnTo>
                    <a:pt x="3118596" y="2898426"/>
                  </a:lnTo>
                  <a:lnTo>
                    <a:pt x="3081347" y="2924200"/>
                  </a:lnTo>
                  <a:lnTo>
                    <a:pt x="3041754" y="2946584"/>
                  </a:lnTo>
                  <a:lnTo>
                    <a:pt x="3000027" y="2965367"/>
                  </a:lnTo>
                  <a:lnTo>
                    <a:pt x="2956376" y="2980341"/>
                  </a:lnTo>
                  <a:lnTo>
                    <a:pt x="2911010" y="2991296"/>
                  </a:lnTo>
                  <a:lnTo>
                    <a:pt x="2864138" y="2998022"/>
                  </a:lnTo>
                  <a:lnTo>
                    <a:pt x="2815971" y="3000311"/>
                  </a:lnTo>
                  <a:lnTo>
                    <a:pt x="499999" y="3000311"/>
                  </a:lnTo>
                  <a:lnTo>
                    <a:pt x="451852" y="2998022"/>
                  </a:lnTo>
                  <a:lnTo>
                    <a:pt x="404999" y="2991296"/>
                  </a:lnTo>
                  <a:lnTo>
                    <a:pt x="359649" y="2980341"/>
                  </a:lnTo>
                  <a:lnTo>
                    <a:pt x="316012" y="2965367"/>
                  </a:lnTo>
                  <a:lnTo>
                    <a:pt x="274297" y="2946584"/>
                  </a:lnTo>
                  <a:lnTo>
                    <a:pt x="234715" y="2924200"/>
                  </a:lnTo>
                  <a:lnTo>
                    <a:pt x="197474" y="2898426"/>
                  </a:lnTo>
                  <a:lnTo>
                    <a:pt x="162785" y="2869470"/>
                  </a:lnTo>
                  <a:lnTo>
                    <a:pt x="130856" y="2837542"/>
                  </a:lnTo>
                  <a:lnTo>
                    <a:pt x="101899" y="2802851"/>
                  </a:lnTo>
                  <a:lnTo>
                    <a:pt x="76123" y="2765607"/>
                  </a:lnTo>
                  <a:lnTo>
                    <a:pt x="53737" y="2726019"/>
                  </a:lnTo>
                  <a:lnTo>
                    <a:pt x="34950" y="2684296"/>
                  </a:lnTo>
                  <a:lnTo>
                    <a:pt x="19974" y="2640649"/>
                  </a:lnTo>
                  <a:lnTo>
                    <a:pt x="9017" y="2595285"/>
                  </a:lnTo>
                  <a:lnTo>
                    <a:pt x="2289" y="2548415"/>
                  </a:lnTo>
                  <a:lnTo>
                    <a:pt x="0" y="2500249"/>
                  </a:lnTo>
                  <a:lnTo>
                    <a:pt x="0" y="499999"/>
                  </a:lnTo>
                  <a:close/>
                </a:path>
              </a:pathLst>
            </a:custGeom>
            <a:ln w="9525">
              <a:solidFill>
                <a:srgbClr val="E7E6E6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45085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57150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Linux</a:t>
            </a:r>
            <a:r>
              <a:rPr dirty="0" spc="-11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Filesystems</a:t>
            </a:r>
            <a:r>
              <a:rPr dirty="0" spc="-5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before</a:t>
            </a:r>
            <a:r>
              <a:rPr dirty="0" spc="-9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Namespaces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25323" y="1375438"/>
            <a:ext cx="4893310" cy="4552315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25"/>
              </a:spcBef>
              <a:buSzPct val="75000"/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/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root</a:t>
            </a:r>
            <a:r>
              <a:rPr dirty="0" sz="2400" spc="-30" i="1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file</a:t>
            </a:r>
            <a:r>
              <a:rPr dirty="0" sz="2400" spc="-15" i="1">
                <a:latin typeface="Calibri"/>
                <a:cs typeface="Calibri"/>
              </a:rPr>
              <a:t> </a:t>
            </a:r>
            <a:r>
              <a:rPr dirty="0" sz="2400" spc="-10" i="1">
                <a:latin typeface="Calibri"/>
                <a:cs typeface="Calibri"/>
              </a:rPr>
              <a:t>system</a:t>
            </a:r>
            <a:endParaRPr sz="2400">
              <a:latin typeface="Calibri"/>
              <a:cs typeface="Calibri"/>
            </a:endParaRPr>
          </a:p>
          <a:p>
            <a:pPr lvl="1" marL="812165" indent="-342265">
              <a:lnSpc>
                <a:spcPct val="100000"/>
              </a:lnSpc>
              <a:spcBef>
                <a:spcPts val="825"/>
              </a:spcBef>
              <a:buSzPct val="75000"/>
              <a:buFont typeface="Arial"/>
              <a:buChar char="•"/>
              <a:tabLst>
                <a:tab pos="812165" algn="l"/>
              </a:tabLst>
            </a:pPr>
            <a:r>
              <a:rPr dirty="0" sz="2400">
                <a:latin typeface="Calibri"/>
                <a:cs typeface="Calibri"/>
              </a:rPr>
              <a:t>Contains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vmunix</a:t>
            </a:r>
            <a:r>
              <a:rPr dirty="0" sz="2400" spc="-45" i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–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OS</a:t>
            </a:r>
            <a:endParaRPr sz="2400">
              <a:latin typeface="Calibri"/>
              <a:cs typeface="Calibri"/>
            </a:endParaRPr>
          </a:p>
          <a:p>
            <a:pPr lvl="1" marL="812165" indent="-342265">
              <a:lnSpc>
                <a:spcPct val="100000"/>
              </a:lnSpc>
              <a:spcBef>
                <a:spcPts val="605"/>
              </a:spcBef>
              <a:buSzPct val="75000"/>
              <a:buFont typeface="Arial"/>
              <a:buChar char="•"/>
              <a:tabLst>
                <a:tab pos="812165" algn="l"/>
              </a:tabLst>
            </a:pPr>
            <a:r>
              <a:rPr dirty="0" sz="2400" i="1">
                <a:latin typeface="Calibri"/>
                <a:cs typeface="Calibri"/>
              </a:rPr>
              <a:t>usr,</a:t>
            </a:r>
            <a:r>
              <a:rPr dirty="0" sz="2400" spc="-25" i="1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bin,</a:t>
            </a:r>
            <a:r>
              <a:rPr dirty="0" sz="2400" spc="-25" i="1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src</a:t>
            </a:r>
            <a:r>
              <a:rPr dirty="0" sz="2400" spc="-30" i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all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subdirectories</a:t>
            </a:r>
            <a:endParaRPr sz="2400">
              <a:latin typeface="Calibri"/>
              <a:cs typeface="Calibri"/>
            </a:endParaRPr>
          </a:p>
          <a:p>
            <a:pPr marL="355600" marR="207010" indent="-342900">
              <a:lnSpc>
                <a:spcPts val="2590"/>
              </a:lnSpc>
              <a:spcBef>
                <a:spcPts val="1045"/>
              </a:spcBef>
              <a:buSzPct val="75000"/>
              <a:buFont typeface="Arial"/>
              <a:buChar char="•"/>
              <a:tabLst>
                <a:tab pos="355600" algn="l"/>
              </a:tabLst>
            </a:pPr>
            <a:r>
              <a:rPr dirty="0" sz="2400" i="1">
                <a:latin typeface="Calibri"/>
                <a:cs typeface="Calibri"/>
              </a:rPr>
              <a:t>O1,</a:t>
            </a:r>
            <a:r>
              <a:rPr dirty="0" sz="2400" spc="-50" i="1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O2</a:t>
            </a:r>
            <a:r>
              <a:rPr dirty="0" sz="2400" spc="-60" i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volumes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containing </a:t>
            </a:r>
            <a:r>
              <a:rPr dirty="0" sz="2400">
                <a:latin typeface="Calibri"/>
                <a:cs typeface="Calibri"/>
              </a:rPr>
              <a:t>different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versions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application </a:t>
            </a:r>
            <a:r>
              <a:rPr dirty="0" sz="2400">
                <a:latin typeface="Calibri"/>
                <a:cs typeface="Calibri"/>
              </a:rPr>
              <a:t>(e.g.,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Oracle)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80"/>
              </a:spcBef>
              <a:buSzPct val="75000"/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Mounted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at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/mnt</a:t>
            </a:r>
            <a:r>
              <a:rPr dirty="0" sz="2400" spc="-55" i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 i="1">
                <a:latin typeface="Calibri"/>
                <a:cs typeface="Calibri"/>
              </a:rPr>
              <a:t>/mnt2</a:t>
            </a:r>
            <a:endParaRPr sz="2400">
              <a:latin typeface="Calibri"/>
              <a:cs typeface="Calibri"/>
            </a:endParaRPr>
          </a:p>
          <a:p>
            <a:pPr marL="355600" marR="765810" indent="-342900">
              <a:lnSpc>
                <a:spcPts val="2590"/>
              </a:lnSpc>
              <a:spcBef>
                <a:spcPts val="1035"/>
              </a:spcBef>
              <a:buSzPct val="75000"/>
              <a:buFont typeface="Arial"/>
              <a:buChar char="•"/>
              <a:tabLst>
                <a:tab pos="355600" algn="l"/>
              </a:tabLst>
            </a:pPr>
            <a:r>
              <a:rPr dirty="0" sz="2400">
                <a:latin typeface="Calibri"/>
                <a:cs typeface="Calibri"/>
              </a:rPr>
              <a:t>This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namespace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visible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all </a:t>
            </a:r>
            <a:r>
              <a:rPr dirty="0" sz="2400" spc="-10">
                <a:latin typeface="Calibri"/>
                <a:cs typeface="Calibri"/>
              </a:rPr>
              <a:t>processes</a:t>
            </a:r>
            <a:endParaRPr sz="2400">
              <a:latin typeface="Calibri"/>
              <a:cs typeface="Calibri"/>
            </a:endParaRPr>
          </a:p>
          <a:p>
            <a:pPr marL="355600" marR="870585" indent="-342900">
              <a:lnSpc>
                <a:spcPts val="2590"/>
              </a:lnSpc>
              <a:spcBef>
                <a:spcPts val="1015"/>
              </a:spcBef>
              <a:buSzPct val="75000"/>
              <a:buFont typeface="Arial"/>
              <a:buChar char="•"/>
              <a:tabLst>
                <a:tab pos="355600" algn="l"/>
              </a:tabLst>
            </a:pPr>
            <a:r>
              <a:rPr dirty="0" sz="2400">
                <a:latin typeface="Calibri"/>
                <a:cs typeface="Calibri"/>
              </a:rPr>
              <a:t>Access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directories </a:t>
            </a:r>
            <a:r>
              <a:rPr dirty="0" sz="2400">
                <a:latin typeface="Calibri"/>
                <a:cs typeface="Calibri"/>
              </a:rPr>
              <a:t>controlled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by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access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rights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917374" y="2840761"/>
            <a:ext cx="4587240" cy="2310130"/>
            <a:chOff x="5917374" y="2840761"/>
            <a:chExt cx="4587240" cy="2310130"/>
          </a:xfrm>
        </p:grpSpPr>
        <p:sp>
          <p:nvSpPr>
            <p:cNvPr id="6" name="object 6"/>
            <p:cNvSpPr/>
            <p:nvPr/>
          </p:nvSpPr>
          <p:spPr>
            <a:xfrm>
              <a:off x="10499471" y="3852926"/>
              <a:ext cx="0" cy="1277620"/>
            </a:xfrm>
            <a:custGeom>
              <a:avLst/>
              <a:gdLst/>
              <a:ahLst/>
              <a:cxnLst/>
              <a:rect l="l" t="t" r="r" b="b"/>
              <a:pathLst>
                <a:path w="0" h="1277620">
                  <a:moveTo>
                    <a:pt x="0" y="0"/>
                  </a:moveTo>
                  <a:lnTo>
                    <a:pt x="0" y="1277112"/>
                  </a:lnTo>
                </a:path>
              </a:pathLst>
            </a:custGeom>
            <a:ln w="9525">
              <a:solidFill>
                <a:srgbClr val="3966B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437244" y="3289554"/>
              <a:ext cx="2062480" cy="135255"/>
            </a:xfrm>
            <a:custGeom>
              <a:avLst/>
              <a:gdLst/>
              <a:ahLst/>
              <a:cxnLst/>
              <a:rect l="l" t="t" r="r" b="b"/>
              <a:pathLst>
                <a:path w="2062479" h="135254">
                  <a:moveTo>
                    <a:pt x="0" y="0"/>
                  </a:moveTo>
                  <a:lnTo>
                    <a:pt x="0" y="67945"/>
                  </a:lnTo>
                  <a:lnTo>
                    <a:pt x="2062226" y="67945"/>
                  </a:lnTo>
                  <a:lnTo>
                    <a:pt x="2062226" y="134874"/>
                  </a:lnTo>
                </a:path>
              </a:pathLst>
            </a:custGeom>
            <a:ln w="9525">
              <a:solidFill>
                <a:srgbClr val="345A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142732" y="3852926"/>
              <a:ext cx="1178560" cy="135255"/>
            </a:xfrm>
            <a:custGeom>
              <a:avLst/>
              <a:gdLst/>
              <a:ahLst/>
              <a:cxnLst/>
              <a:rect l="l" t="t" r="r" b="b"/>
              <a:pathLst>
                <a:path w="1178559" h="135254">
                  <a:moveTo>
                    <a:pt x="589152" y="0"/>
                  </a:moveTo>
                  <a:lnTo>
                    <a:pt x="589152" y="68072"/>
                  </a:lnTo>
                  <a:lnTo>
                    <a:pt x="1178306" y="68072"/>
                  </a:lnTo>
                  <a:lnTo>
                    <a:pt x="1178306" y="135000"/>
                  </a:lnTo>
                </a:path>
                <a:path w="1178559" h="135254">
                  <a:moveTo>
                    <a:pt x="589152" y="0"/>
                  </a:moveTo>
                  <a:lnTo>
                    <a:pt x="589152" y="68072"/>
                  </a:lnTo>
                  <a:lnTo>
                    <a:pt x="0" y="68072"/>
                  </a:lnTo>
                  <a:lnTo>
                    <a:pt x="0" y="135000"/>
                  </a:lnTo>
                </a:path>
              </a:pathLst>
            </a:custGeom>
            <a:ln w="9525">
              <a:solidFill>
                <a:srgbClr val="3966B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437244" y="3289554"/>
              <a:ext cx="294640" cy="135255"/>
            </a:xfrm>
            <a:custGeom>
              <a:avLst/>
              <a:gdLst/>
              <a:ahLst/>
              <a:cxnLst/>
              <a:rect l="l" t="t" r="r" b="b"/>
              <a:pathLst>
                <a:path w="294640" h="135254">
                  <a:moveTo>
                    <a:pt x="0" y="0"/>
                  </a:moveTo>
                  <a:lnTo>
                    <a:pt x="0" y="67945"/>
                  </a:lnTo>
                  <a:lnTo>
                    <a:pt x="294639" y="67945"/>
                  </a:lnTo>
                  <a:lnTo>
                    <a:pt x="294639" y="134874"/>
                  </a:lnTo>
                </a:path>
              </a:pathLst>
            </a:custGeom>
            <a:ln w="9525">
              <a:solidFill>
                <a:srgbClr val="345A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922136" y="3852926"/>
              <a:ext cx="1042669" cy="1292860"/>
            </a:xfrm>
            <a:custGeom>
              <a:avLst/>
              <a:gdLst/>
              <a:ahLst/>
              <a:cxnLst/>
              <a:rect l="l" t="t" r="r" b="b"/>
              <a:pathLst>
                <a:path w="1042670" h="1292860">
                  <a:moveTo>
                    <a:pt x="0" y="0"/>
                  </a:moveTo>
                  <a:lnTo>
                    <a:pt x="0" y="1218692"/>
                  </a:lnTo>
                  <a:lnTo>
                    <a:pt x="1042162" y="1218692"/>
                  </a:lnTo>
                  <a:lnTo>
                    <a:pt x="1042162" y="1285621"/>
                  </a:lnTo>
                </a:path>
                <a:path w="1042670" h="1292860">
                  <a:moveTo>
                    <a:pt x="0" y="0"/>
                  </a:moveTo>
                  <a:lnTo>
                    <a:pt x="0" y="1225804"/>
                  </a:lnTo>
                  <a:lnTo>
                    <a:pt x="11049" y="1225804"/>
                  </a:lnTo>
                  <a:lnTo>
                    <a:pt x="11049" y="1292733"/>
                  </a:lnTo>
                </a:path>
              </a:pathLst>
            </a:custGeom>
            <a:ln w="9525">
              <a:solidFill>
                <a:srgbClr val="3966B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922136" y="3289554"/>
              <a:ext cx="2515235" cy="135255"/>
            </a:xfrm>
            <a:custGeom>
              <a:avLst/>
              <a:gdLst/>
              <a:ahLst/>
              <a:cxnLst/>
              <a:rect l="l" t="t" r="r" b="b"/>
              <a:pathLst>
                <a:path w="2515234" h="135254">
                  <a:moveTo>
                    <a:pt x="2515108" y="0"/>
                  </a:moveTo>
                  <a:lnTo>
                    <a:pt x="2515108" y="67945"/>
                  </a:lnTo>
                  <a:lnTo>
                    <a:pt x="0" y="67945"/>
                  </a:lnTo>
                  <a:lnTo>
                    <a:pt x="0" y="134874"/>
                  </a:lnTo>
                </a:path>
              </a:pathLst>
            </a:custGeom>
            <a:ln w="9525">
              <a:solidFill>
                <a:srgbClr val="345A9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80832" y="2840761"/>
              <a:ext cx="509003" cy="51051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22995" y="2861056"/>
              <a:ext cx="428498" cy="428498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8704580" y="2913633"/>
            <a:ext cx="8572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5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664708" y="3404628"/>
            <a:ext cx="509270" cy="509270"/>
            <a:chOff x="5664708" y="3404628"/>
            <a:chExt cx="509270" cy="509270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64708" y="3404628"/>
              <a:ext cx="509003" cy="50900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07888" y="3424427"/>
              <a:ext cx="428498" cy="428498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6189090" y="3477259"/>
            <a:ext cx="3867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25">
                <a:latin typeface="Arial"/>
                <a:cs typeface="Arial"/>
              </a:rPr>
              <a:t>mnt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474964" y="3404628"/>
            <a:ext cx="509270" cy="509270"/>
            <a:chOff x="8474964" y="3404628"/>
            <a:chExt cx="509270" cy="509270"/>
          </a:xfrm>
        </p:grpSpPr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474964" y="3404628"/>
              <a:ext cx="509003" cy="509003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517636" y="3424427"/>
              <a:ext cx="428498" cy="428498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8999346" y="3477259"/>
            <a:ext cx="326390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25">
                <a:latin typeface="Arial"/>
                <a:cs typeface="Arial"/>
              </a:rPr>
              <a:t>usr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0242804" y="3404628"/>
            <a:ext cx="509270" cy="509270"/>
            <a:chOff x="10242804" y="3404628"/>
            <a:chExt cx="509270" cy="509270"/>
          </a:xfrm>
        </p:grpSpPr>
        <p:pic>
          <p:nvPicPr>
            <p:cNvPr id="40" name="object 4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242804" y="3404628"/>
              <a:ext cx="509003" cy="509003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285222" y="3424427"/>
              <a:ext cx="428498" cy="428498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10767186" y="3477259"/>
            <a:ext cx="50609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20">
                <a:latin typeface="Arial"/>
                <a:cs typeface="Arial"/>
              </a:rPr>
              <a:t>mnt2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885176" y="3968508"/>
            <a:ext cx="510540" cy="509270"/>
            <a:chOff x="7885176" y="3968508"/>
            <a:chExt cx="510540" cy="509270"/>
          </a:xfrm>
        </p:grpSpPr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85176" y="3968508"/>
              <a:ext cx="510514" cy="509003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928483" y="3987926"/>
              <a:ext cx="428498" cy="428498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8410193" y="4040885"/>
            <a:ext cx="31496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>
                <a:latin typeface="Arial"/>
                <a:cs typeface="Arial"/>
              </a:rPr>
              <a:t>bin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9064752" y="3968508"/>
            <a:ext cx="509270" cy="509270"/>
            <a:chOff x="9064752" y="3968508"/>
            <a:chExt cx="509270" cy="509270"/>
          </a:xfrm>
        </p:grpSpPr>
        <p:pic>
          <p:nvPicPr>
            <p:cNvPr id="36" name="object 3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064752" y="3968508"/>
              <a:ext cx="509003" cy="509003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106789" y="3987926"/>
              <a:ext cx="428497" cy="428498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9588500" y="4040885"/>
            <a:ext cx="31432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>
                <a:latin typeface="Arial"/>
                <a:cs typeface="Arial"/>
              </a:rPr>
              <a:t>src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5644896" y="4201642"/>
            <a:ext cx="594995" cy="501650"/>
            <a:chOff x="5644896" y="4201642"/>
            <a:chExt cx="594995" cy="501650"/>
          </a:xfrm>
        </p:grpSpPr>
        <p:pic>
          <p:nvPicPr>
            <p:cNvPr id="48" name="object 4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644896" y="4201642"/>
              <a:ext cx="594398" cy="449605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675376" y="4248924"/>
              <a:ext cx="531901" cy="454139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5692140" y="4271645"/>
              <a:ext cx="504825" cy="314325"/>
            </a:xfrm>
            <a:custGeom>
              <a:avLst/>
              <a:gdLst/>
              <a:ahLst/>
              <a:cxnLst/>
              <a:rect l="l" t="t" r="r" b="b"/>
              <a:pathLst>
                <a:path w="504825" h="314325">
                  <a:moveTo>
                    <a:pt x="504825" y="0"/>
                  </a:moveTo>
                  <a:lnTo>
                    <a:pt x="456158" y="26478"/>
                  </a:lnTo>
                  <a:lnTo>
                    <a:pt x="401543" y="36182"/>
                  </a:lnTo>
                  <a:lnTo>
                    <a:pt x="332267" y="42546"/>
                  </a:lnTo>
                  <a:lnTo>
                    <a:pt x="252475" y="44830"/>
                  </a:lnTo>
                  <a:lnTo>
                    <a:pt x="172671" y="42546"/>
                  </a:lnTo>
                  <a:lnTo>
                    <a:pt x="103363" y="36182"/>
                  </a:lnTo>
                  <a:lnTo>
                    <a:pt x="48711" y="26478"/>
                  </a:lnTo>
                  <a:lnTo>
                    <a:pt x="12870" y="14172"/>
                  </a:lnTo>
                  <a:lnTo>
                    <a:pt x="0" y="0"/>
                  </a:lnTo>
                  <a:lnTo>
                    <a:pt x="0" y="269112"/>
                  </a:lnTo>
                  <a:lnTo>
                    <a:pt x="48711" y="295591"/>
                  </a:lnTo>
                  <a:lnTo>
                    <a:pt x="103363" y="305295"/>
                  </a:lnTo>
                  <a:lnTo>
                    <a:pt x="172671" y="311659"/>
                  </a:lnTo>
                  <a:lnTo>
                    <a:pt x="252475" y="313943"/>
                  </a:lnTo>
                  <a:lnTo>
                    <a:pt x="332267" y="311659"/>
                  </a:lnTo>
                  <a:lnTo>
                    <a:pt x="401543" y="305295"/>
                  </a:lnTo>
                  <a:lnTo>
                    <a:pt x="456158" y="295591"/>
                  </a:lnTo>
                  <a:lnTo>
                    <a:pt x="491967" y="283285"/>
                  </a:lnTo>
                  <a:lnTo>
                    <a:pt x="504825" y="269112"/>
                  </a:lnTo>
                  <a:lnTo>
                    <a:pt x="504825" y="0"/>
                  </a:lnTo>
                  <a:close/>
                </a:path>
              </a:pathLst>
            </a:custGeom>
            <a:solidFill>
              <a:srgbClr val="C4DF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5692140" y="4226814"/>
              <a:ext cx="504825" cy="90170"/>
            </a:xfrm>
            <a:custGeom>
              <a:avLst/>
              <a:gdLst/>
              <a:ahLst/>
              <a:cxnLst/>
              <a:rect l="l" t="t" r="r" b="b"/>
              <a:pathLst>
                <a:path w="504825" h="90170">
                  <a:moveTo>
                    <a:pt x="252475" y="0"/>
                  </a:moveTo>
                  <a:lnTo>
                    <a:pt x="172671" y="2284"/>
                  </a:lnTo>
                  <a:lnTo>
                    <a:pt x="103363" y="8648"/>
                  </a:lnTo>
                  <a:lnTo>
                    <a:pt x="48711" y="18352"/>
                  </a:lnTo>
                  <a:lnTo>
                    <a:pt x="0" y="44831"/>
                  </a:lnTo>
                  <a:lnTo>
                    <a:pt x="12870" y="59003"/>
                  </a:lnTo>
                  <a:lnTo>
                    <a:pt x="48711" y="71309"/>
                  </a:lnTo>
                  <a:lnTo>
                    <a:pt x="103363" y="81013"/>
                  </a:lnTo>
                  <a:lnTo>
                    <a:pt x="172671" y="87377"/>
                  </a:lnTo>
                  <a:lnTo>
                    <a:pt x="252475" y="89662"/>
                  </a:lnTo>
                  <a:lnTo>
                    <a:pt x="332267" y="87377"/>
                  </a:lnTo>
                  <a:lnTo>
                    <a:pt x="401543" y="81013"/>
                  </a:lnTo>
                  <a:lnTo>
                    <a:pt x="456158" y="71309"/>
                  </a:lnTo>
                  <a:lnTo>
                    <a:pt x="491967" y="59003"/>
                  </a:lnTo>
                  <a:lnTo>
                    <a:pt x="504825" y="44831"/>
                  </a:lnTo>
                  <a:lnTo>
                    <a:pt x="491967" y="30658"/>
                  </a:lnTo>
                  <a:lnTo>
                    <a:pt x="456158" y="18352"/>
                  </a:lnTo>
                  <a:lnTo>
                    <a:pt x="401543" y="8648"/>
                  </a:lnTo>
                  <a:lnTo>
                    <a:pt x="332267" y="2284"/>
                  </a:lnTo>
                  <a:lnTo>
                    <a:pt x="252475" y="0"/>
                  </a:lnTo>
                  <a:close/>
                </a:path>
              </a:pathLst>
            </a:custGeom>
            <a:solidFill>
              <a:srgbClr val="DCEB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5692140" y="4226814"/>
              <a:ext cx="504825" cy="358775"/>
            </a:xfrm>
            <a:custGeom>
              <a:avLst/>
              <a:gdLst/>
              <a:ahLst/>
              <a:cxnLst/>
              <a:rect l="l" t="t" r="r" b="b"/>
              <a:pathLst>
                <a:path w="504825" h="358775">
                  <a:moveTo>
                    <a:pt x="504825" y="44831"/>
                  </a:moveTo>
                  <a:lnTo>
                    <a:pt x="456158" y="71309"/>
                  </a:lnTo>
                  <a:lnTo>
                    <a:pt x="401543" y="81013"/>
                  </a:lnTo>
                  <a:lnTo>
                    <a:pt x="332267" y="87377"/>
                  </a:lnTo>
                  <a:lnTo>
                    <a:pt x="252475" y="89662"/>
                  </a:lnTo>
                  <a:lnTo>
                    <a:pt x="172671" y="87377"/>
                  </a:lnTo>
                  <a:lnTo>
                    <a:pt x="103363" y="81013"/>
                  </a:lnTo>
                  <a:lnTo>
                    <a:pt x="48711" y="71309"/>
                  </a:lnTo>
                  <a:lnTo>
                    <a:pt x="0" y="44831"/>
                  </a:lnTo>
                  <a:lnTo>
                    <a:pt x="12870" y="30658"/>
                  </a:lnTo>
                  <a:lnTo>
                    <a:pt x="48711" y="18352"/>
                  </a:lnTo>
                  <a:lnTo>
                    <a:pt x="103363" y="8648"/>
                  </a:lnTo>
                  <a:lnTo>
                    <a:pt x="172671" y="2284"/>
                  </a:lnTo>
                  <a:lnTo>
                    <a:pt x="252475" y="0"/>
                  </a:lnTo>
                  <a:lnTo>
                    <a:pt x="332267" y="2284"/>
                  </a:lnTo>
                  <a:lnTo>
                    <a:pt x="401543" y="8648"/>
                  </a:lnTo>
                  <a:lnTo>
                    <a:pt x="456158" y="18352"/>
                  </a:lnTo>
                  <a:lnTo>
                    <a:pt x="491967" y="30658"/>
                  </a:lnTo>
                  <a:lnTo>
                    <a:pt x="504825" y="44831"/>
                  </a:lnTo>
                  <a:lnTo>
                    <a:pt x="504825" y="313944"/>
                  </a:lnTo>
                  <a:lnTo>
                    <a:pt x="456158" y="340422"/>
                  </a:lnTo>
                  <a:lnTo>
                    <a:pt x="401543" y="350126"/>
                  </a:lnTo>
                  <a:lnTo>
                    <a:pt x="332267" y="356490"/>
                  </a:lnTo>
                  <a:lnTo>
                    <a:pt x="252475" y="358775"/>
                  </a:lnTo>
                  <a:lnTo>
                    <a:pt x="172671" y="356490"/>
                  </a:lnTo>
                  <a:lnTo>
                    <a:pt x="103363" y="350126"/>
                  </a:lnTo>
                  <a:lnTo>
                    <a:pt x="48711" y="340422"/>
                  </a:lnTo>
                  <a:lnTo>
                    <a:pt x="12870" y="328116"/>
                  </a:lnTo>
                  <a:lnTo>
                    <a:pt x="0" y="313944"/>
                  </a:lnTo>
                  <a:lnTo>
                    <a:pt x="0" y="44831"/>
                  </a:lnTo>
                </a:path>
              </a:pathLst>
            </a:custGeom>
            <a:ln w="9525">
              <a:solidFill>
                <a:srgbClr val="FFBD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/>
          <p:cNvSpPr txBox="1"/>
          <p:nvPr/>
        </p:nvSpPr>
        <p:spPr>
          <a:xfrm>
            <a:off x="5813552" y="4304157"/>
            <a:ext cx="2635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"/>
                <a:cs typeface="Arial"/>
              </a:rPr>
              <a:t>O1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10175747" y="4201642"/>
            <a:ext cx="596265" cy="501650"/>
            <a:chOff x="10175747" y="4201642"/>
            <a:chExt cx="596265" cy="501650"/>
          </a:xfrm>
        </p:grpSpPr>
        <p:pic>
          <p:nvPicPr>
            <p:cNvPr id="55" name="object 5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0175747" y="4201642"/>
              <a:ext cx="595909" cy="449605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207751" y="4248924"/>
              <a:ext cx="531901" cy="454139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10223245" y="4271645"/>
              <a:ext cx="504825" cy="314325"/>
            </a:xfrm>
            <a:custGeom>
              <a:avLst/>
              <a:gdLst/>
              <a:ahLst/>
              <a:cxnLst/>
              <a:rect l="l" t="t" r="r" b="b"/>
              <a:pathLst>
                <a:path w="504825" h="314325">
                  <a:moveTo>
                    <a:pt x="504825" y="0"/>
                  </a:moveTo>
                  <a:lnTo>
                    <a:pt x="456122" y="26478"/>
                  </a:lnTo>
                  <a:lnTo>
                    <a:pt x="401488" y="36182"/>
                  </a:lnTo>
                  <a:lnTo>
                    <a:pt x="332218" y="42546"/>
                  </a:lnTo>
                  <a:lnTo>
                    <a:pt x="252475" y="44830"/>
                  </a:lnTo>
                  <a:lnTo>
                    <a:pt x="172671" y="42546"/>
                  </a:lnTo>
                  <a:lnTo>
                    <a:pt x="103363" y="36182"/>
                  </a:lnTo>
                  <a:lnTo>
                    <a:pt x="48711" y="26478"/>
                  </a:lnTo>
                  <a:lnTo>
                    <a:pt x="12870" y="14172"/>
                  </a:lnTo>
                  <a:lnTo>
                    <a:pt x="0" y="0"/>
                  </a:lnTo>
                  <a:lnTo>
                    <a:pt x="0" y="269112"/>
                  </a:lnTo>
                  <a:lnTo>
                    <a:pt x="48711" y="295591"/>
                  </a:lnTo>
                  <a:lnTo>
                    <a:pt x="103363" y="305295"/>
                  </a:lnTo>
                  <a:lnTo>
                    <a:pt x="172671" y="311659"/>
                  </a:lnTo>
                  <a:lnTo>
                    <a:pt x="252475" y="313943"/>
                  </a:lnTo>
                  <a:lnTo>
                    <a:pt x="332218" y="311659"/>
                  </a:lnTo>
                  <a:lnTo>
                    <a:pt x="401488" y="305295"/>
                  </a:lnTo>
                  <a:lnTo>
                    <a:pt x="456122" y="295591"/>
                  </a:lnTo>
                  <a:lnTo>
                    <a:pt x="491955" y="283285"/>
                  </a:lnTo>
                  <a:lnTo>
                    <a:pt x="504825" y="269112"/>
                  </a:lnTo>
                  <a:lnTo>
                    <a:pt x="504825" y="0"/>
                  </a:lnTo>
                  <a:close/>
                </a:path>
              </a:pathLst>
            </a:custGeom>
            <a:solidFill>
              <a:srgbClr val="C4DF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10223245" y="4226814"/>
              <a:ext cx="504825" cy="90170"/>
            </a:xfrm>
            <a:custGeom>
              <a:avLst/>
              <a:gdLst/>
              <a:ahLst/>
              <a:cxnLst/>
              <a:rect l="l" t="t" r="r" b="b"/>
              <a:pathLst>
                <a:path w="504825" h="90170">
                  <a:moveTo>
                    <a:pt x="252475" y="0"/>
                  </a:moveTo>
                  <a:lnTo>
                    <a:pt x="172671" y="2284"/>
                  </a:lnTo>
                  <a:lnTo>
                    <a:pt x="103363" y="8648"/>
                  </a:lnTo>
                  <a:lnTo>
                    <a:pt x="48711" y="18352"/>
                  </a:lnTo>
                  <a:lnTo>
                    <a:pt x="0" y="44831"/>
                  </a:lnTo>
                  <a:lnTo>
                    <a:pt x="12870" y="59003"/>
                  </a:lnTo>
                  <a:lnTo>
                    <a:pt x="48711" y="71309"/>
                  </a:lnTo>
                  <a:lnTo>
                    <a:pt x="103363" y="81013"/>
                  </a:lnTo>
                  <a:lnTo>
                    <a:pt x="172671" y="87377"/>
                  </a:lnTo>
                  <a:lnTo>
                    <a:pt x="252475" y="89662"/>
                  </a:lnTo>
                  <a:lnTo>
                    <a:pt x="332218" y="87377"/>
                  </a:lnTo>
                  <a:lnTo>
                    <a:pt x="401488" y="81013"/>
                  </a:lnTo>
                  <a:lnTo>
                    <a:pt x="456122" y="71309"/>
                  </a:lnTo>
                  <a:lnTo>
                    <a:pt x="491955" y="59003"/>
                  </a:lnTo>
                  <a:lnTo>
                    <a:pt x="504825" y="44831"/>
                  </a:lnTo>
                  <a:lnTo>
                    <a:pt x="491955" y="30658"/>
                  </a:lnTo>
                  <a:lnTo>
                    <a:pt x="456122" y="18352"/>
                  </a:lnTo>
                  <a:lnTo>
                    <a:pt x="401488" y="8648"/>
                  </a:lnTo>
                  <a:lnTo>
                    <a:pt x="332218" y="2284"/>
                  </a:lnTo>
                  <a:lnTo>
                    <a:pt x="252475" y="0"/>
                  </a:lnTo>
                  <a:close/>
                </a:path>
              </a:pathLst>
            </a:custGeom>
            <a:solidFill>
              <a:srgbClr val="DCEB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10223245" y="4226814"/>
              <a:ext cx="504825" cy="358775"/>
            </a:xfrm>
            <a:custGeom>
              <a:avLst/>
              <a:gdLst/>
              <a:ahLst/>
              <a:cxnLst/>
              <a:rect l="l" t="t" r="r" b="b"/>
              <a:pathLst>
                <a:path w="504825" h="358775">
                  <a:moveTo>
                    <a:pt x="504825" y="44831"/>
                  </a:moveTo>
                  <a:lnTo>
                    <a:pt x="456122" y="71309"/>
                  </a:lnTo>
                  <a:lnTo>
                    <a:pt x="401488" y="81013"/>
                  </a:lnTo>
                  <a:lnTo>
                    <a:pt x="332218" y="87377"/>
                  </a:lnTo>
                  <a:lnTo>
                    <a:pt x="252475" y="89662"/>
                  </a:lnTo>
                  <a:lnTo>
                    <a:pt x="172671" y="87377"/>
                  </a:lnTo>
                  <a:lnTo>
                    <a:pt x="103363" y="81013"/>
                  </a:lnTo>
                  <a:lnTo>
                    <a:pt x="48711" y="71309"/>
                  </a:lnTo>
                  <a:lnTo>
                    <a:pt x="0" y="44831"/>
                  </a:lnTo>
                  <a:lnTo>
                    <a:pt x="12870" y="30658"/>
                  </a:lnTo>
                  <a:lnTo>
                    <a:pt x="48711" y="18352"/>
                  </a:lnTo>
                  <a:lnTo>
                    <a:pt x="103363" y="8648"/>
                  </a:lnTo>
                  <a:lnTo>
                    <a:pt x="172671" y="2284"/>
                  </a:lnTo>
                  <a:lnTo>
                    <a:pt x="252475" y="0"/>
                  </a:lnTo>
                  <a:lnTo>
                    <a:pt x="332218" y="2284"/>
                  </a:lnTo>
                  <a:lnTo>
                    <a:pt x="401488" y="8648"/>
                  </a:lnTo>
                  <a:lnTo>
                    <a:pt x="456122" y="18352"/>
                  </a:lnTo>
                  <a:lnTo>
                    <a:pt x="491955" y="30658"/>
                  </a:lnTo>
                  <a:lnTo>
                    <a:pt x="504825" y="44831"/>
                  </a:lnTo>
                  <a:lnTo>
                    <a:pt x="504825" y="313944"/>
                  </a:lnTo>
                  <a:lnTo>
                    <a:pt x="456122" y="340422"/>
                  </a:lnTo>
                  <a:lnTo>
                    <a:pt x="401488" y="350126"/>
                  </a:lnTo>
                  <a:lnTo>
                    <a:pt x="332218" y="356490"/>
                  </a:lnTo>
                  <a:lnTo>
                    <a:pt x="252475" y="358775"/>
                  </a:lnTo>
                  <a:lnTo>
                    <a:pt x="172671" y="356490"/>
                  </a:lnTo>
                  <a:lnTo>
                    <a:pt x="103363" y="350126"/>
                  </a:lnTo>
                  <a:lnTo>
                    <a:pt x="48711" y="340422"/>
                  </a:lnTo>
                  <a:lnTo>
                    <a:pt x="12870" y="328116"/>
                  </a:lnTo>
                  <a:lnTo>
                    <a:pt x="0" y="313944"/>
                  </a:lnTo>
                  <a:lnTo>
                    <a:pt x="0" y="44831"/>
                  </a:lnTo>
                </a:path>
              </a:pathLst>
            </a:custGeom>
            <a:ln w="9525">
              <a:solidFill>
                <a:srgbClr val="FFBD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/>
          <p:cNvSpPr txBox="1"/>
          <p:nvPr/>
        </p:nvSpPr>
        <p:spPr>
          <a:xfrm>
            <a:off x="10345039" y="4304157"/>
            <a:ext cx="2635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"/>
                <a:cs typeface="Arial"/>
              </a:rPr>
              <a:t>O2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676900" y="5125211"/>
            <a:ext cx="509270" cy="510540"/>
            <a:chOff x="5676900" y="5125211"/>
            <a:chExt cx="509270" cy="510540"/>
          </a:xfrm>
        </p:grpSpPr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76900" y="5125211"/>
              <a:ext cx="509003" cy="51051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18936" y="5145658"/>
              <a:ext cx="428498" cy="428498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6200394" y="5191759"/>
            <a:ext cx="38735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0">
                <a:latin typeface="Arial"/>
                <a:cs typeface="Arial"/>
              </a:rPr>
              <a:t>dir1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707123" y="5119115"/>
            <a:ext cx="509270" cy="509270"/>
            <a:chOff x="6707123" y="5119115"/>
            <a:chExt cx="509270" cy="509270"/>
          </a:xfrm>
        </p:grpSpPr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07123" y="5119115"/>
              <a:ext cx="509003" cy="50900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50049" y="5138546"/>
              <a:ext cx="428498" cy="428497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7231506" y="5199329"/>
            <a:ext cx="387350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20">
                <a:latin typeface="Arial"/>
                <a:cs typeface="Arial"/>
              </a:rPr>
              <a:t>dir2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10242804" y="5109971"/>
            <a:ext cx="509270" cy="509270"/>
            <a:chOff x="10242804" y="5109971"/>
            <a:chExt cx="509270" cy="509270"/>
          </a:xfrm>
        </p:grpSpPr>
        <p:pic>
          <p:nvPicPr>
            <p:cNvPr id="44" name="object 4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242804" y="5109971"/>
              <a:ext cx="509003" cy="509003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285222" y="5130037"/>
              <a:ext cx="428498" cy="428498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10767186" y="5183251"/>
            <a:ext cx="42354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0">
                <a:latin typeface="Arial"/>
                <a:cs typeface="Arial"/>
              </a:rPr>
              <a:t>Dir3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Linux</a:t>
            </a:r>
            <a:r>
              <a:rPr dirty="0" spc="-9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Filesystems</a:t>
            </a:r>
            <a:r>
              <a:rPr dirty="0" spc="-4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after</a:t>
            </a:r>
            <a:r>
              <a:rPr dirty="0" spc="-8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Namespaces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21640" y="1332128"/>
            <a:ext cx="5916295" cy="1550035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30"/>
              </a:spcBef>
              <a:buSzPct val="81818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File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namespace:</a:t>
            </a:r>
            <a:r>
              <a:rPr dirty="0" sz="2200" spc="445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mount</a:t>
            </a:r>
            <a:r>
              <a:rPr dirty="0" sz="2200" spc="-35" i="1">
                <a:latin typeface="Calibri"/>
                <a:cs typeface="Calibri"/>
              </a:rPr>
              <a:t> </a:t>
            </a:r>
            <a:r>
              <a:rPr dirty="0" sz="2200" spc="-10" i="1">
                <a:latin typeface="Calibri"/>
                <a:cs typeface="Calibri"/>
              </a:rPr>
              <a:t>namespace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ts val="2510"/>
              </a:lnSpc>
              <a:spcBef>
                <a:spcPts val="735"/>
              </a:spcBef>
              <a:buSzPct val="81818"/>
              <a:buFont typeface="Arial"/>
              <a:buChar char="•"/>
              <a:tabLst>
                <a:tab pos="354965" algn="l"/>
              </a:tabLst>
            </a:pPr>
            <a:r>
              <a:rPr dirty="0" sz="2200" i="1">
                <a:latin typeface="Calibri"/>
                <a:cs typeface="Calibri"/>
              </a:rPr>
              <a:t>O1,</a:t>
            </a:r>
            <a:r>
              <a:rPr dirty="0" sz="2200" spc="-40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O2</a:t>
            </a:r>
            <a:r>
              <a:rPr dirty="0" sz="2200" spc="-40" i="1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volumes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containing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different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versions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ts val="2510"/>
              </a:lnSpc>
            </a:pP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application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(e.g.,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Oracle)</a:t>
            </a:r>
            <a:endParaRPr sz="2200">
              <a:latin typeface="Calibri"/>
              <a:cs typeface="Calibri"/>
            </a:endParaRPr>
          </a:p>
          <a:p>
            <a:pPr lvl="1" marL="812165" indent="-342265">
              <a:lnSpc>
                <a:spcPct val="100000"/>
              </a:lnSpc>
              <a:spcBef>
                <a:spcPts val="240"/>
              </a:spcBef>
              <a:buSzPct val="81818"/>
              <a:buFont typeface="Arial"/>
              <a:buChar char="•"/>
              <a:tabLst>
                <a:tab pos="812165" algn="l"/>
              </a:tabLst>
            </a:pPr>
            <a:r>
              <a:rPr dirty="0" sz="2200">
                <a:latin typeface="Calibri"/>
                <a:cs typeface="Calibri"/>
              </a:rPr>
              <a:t>Mounted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at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/mnt</a:t>
            </a:r>
            <a:r>
              <a:rPr dirty="0" sz="2200" spc="-15" i="1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20" i="1">
                <a:latin typeface="Calibri"/>
                <a:cs typeface="Calibri"/>
              </a:rPr>
              <a:t>/mnt2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1640" y="2855266"/>
            <a:ext cx="5280660" cy="1614805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40"/>
              </a:spcBef>
              <a:buSzPct val="81818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namespace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visible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all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processes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ts val="2510"/>
              </a:lnSpc>
              <a:spcBef>
                <a:spcPts val="745"/>
              </a:spcBef>
              <a:buSzPct val="81818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Access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files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directories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controlled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by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ts val="2510"/>
              </a:lnSpc>
            </a:pPr>
            <a:r>
              <a:rPr dirty="0" sz="2200">
                <a:latin typeface="Calibri"/>
                <a:cs typeface="Calibri"/>
              </a:rPr>
              <a:t>access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rights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30"/>
              </a:spcBef>
              <a:buSzPct val="81818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namespace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process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in?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8839" y="4446505"/>
            <a:ext cx="5292725" cy="105600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25"/>
              </a:spcBef>
              <a:buSzPct val="81818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Look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 i="1">
                <a:latin typeface="Calibri"/>
                <a:cs typeface="Calibri"/>
              </a:rPr>
              <a:t>/proc/pid/ns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ts val="2510"/>
              </a:lnSpc>
              <a:spcBef>
                <a:spcPts val="229"/>
              </a:spcBef>
              <a:buSzPct val="81818"/>
              <a:buFont typeface="Arial"/>
              <a:buChar char="•"/>
              <a:tabLst>
                <a:tab pos="354965" algn="l"/>
              </a:tabLst>
            </a:pPr>
            <a:r>
              <a:rPr dirty="0" sz="2200" i="1">
                <a:latin typeface="Calibri"/>
                <a:cs typeface="Calibri"/>
              </a:rPr>
              <a:t>ls</a:t>
            </a:r>
            <a:r>
              <a:rPr dirty="0" sz="2200" spc="-40" i="1">
                <a:latin typeface="Calibri"/>
                <a:cs typeface="Calibri"/>
              </a:rPr>
              <a:t> </a:t>
            </a:r>
            <a:r>
              <a:rPr dirty="0" sz="2200" spc="-25" i="1">
                <a:latin typeface="Calibri"/>
                <a:cs typeface="Calibri"/>
              </a:rPr>
              <a:t>–</a:t>
            </a:r>
            <a:r>
              <a:rPr dirty="0" sz="2200" i="1">
                <a:latin typeface="Calibri"/>
                <a:cs typeface="Calibri"/>
              </a:rPr>
              <a:t>l</a:t>
            </a:r>
            <a:r>
              <a:rPr dirty="0" sz="2200" spc="-15" i="1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/proc/pidx/mnt</a:t>
            </a:r>
            <a:r>
              <a:rPr dirty="0" sz="2200" spc="-50" i="1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may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show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below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ts val="2510"/>
              </a:lnSpc>
            </a:pPr>
            <a:r>
              <a:rPr dirty="0" sz="2200">
                <a:latin typeface="Calibri"/>
                <a:cs typeface="Calibri"/>
              </a:rPr>
              <a:t>(4026531840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namespace</a:t>
            </a:r>
            <a:r>
              <a:rPr dirty="0" sz="2200" spc="-25">
                <a:latin typeface="Calibri"/>
                <a:cs typeface="Calibri"/>
              </a:rPr>
              <a:t> id)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656133" y="2907779"/>
            <a:ext cx="4485640" cy="2193925"/>
            <a:chOff x="6656133" y="2907779"/>
            <a:chExt cx="4485640" cy="2193925"/>
          </a:xfrm>
        </p:grpSpPr>
        <p:sp>
          <p:nvSpPr>
            <p:cNvPr id="9" name="object 9"/>
            <p:cNvSpPr/>
            <p:nvPr/>
          </p:nvSpPr>
          <p:spPr>
            <a:xfrm>
              <a:off x="10017759" y="3869055"/>
              <a:ext cx="1118870" cy="128270"/>
            </a:xfrm>
            <a:custGeom>
              <a:avLst/>
              <a:gdLst/>
              <a:ahLst/>
              <a:cxnLst/>
              <a:rect l="l" t="t" r="r" b="b"/>
              <a:pathLst>
                <a:path w="1118870" h="128270">
                  <a:moveTo>
                    <a:pt x="559435" y="0"/>
                  </a:moveTo>
                  <a:lnTo>
                    <a:pt x="559435" y="64643"/>
                  </a:lnTo>
                  <a:lnTo>
                    <a:pt x="1118870" y="64643"/>
                  </a:lnTo>
                  <a:lnTo>
                    <a:pt x="1118870" y="128270"/>
                  </a:lnTo>
                </a:path>
                <a:path w="1118870" h="128270">
                  <a:moveTo>
                    <a:pt x="559435" y="0"/>
                  </a:moveTo>
                  <a:lnTo>
                    <a:pt x="559435" y="64643"/>
                  </a:lnTo>
                  <a:lnTo>
                    <a:pt x="0" y="64643"/>
                  </a:lnTo>
                  <a:lnTo>
                    <a:pt x="0" y="128270"/>
                  </a:lnTo>
                </a:path>
              </a:pathLst>
            </a:custGeom>
            <a:ln w="9525">
              <a:solidFill>
                <a:srgbClr val="3966B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898762" y="3334004"/>
              <a:ext cx="1678939" cy="128270"/>
            </a:xfrm>
            <a:custGeom>
              <a:avLst/>
              <a:gdLst/>
              <a:ahLst/>
              <a:cxnLst/>
              <a:rect l="l" t="t" r="r" b="b"/>
              <a:pathLst>
                <a:path w="1678940" h="128270">
                  <a:moveTo>
                    <a:pt x="0" y="0"/>
                  </a:moveTo>
                  <a:lnTo>
                    <a:pt x="0" y="64643"/>
                  </a:lnTo>
                  <a:lnTo>
                    <a:pt x="1678431" y="64643"/>
                  </a:lnTo>
                  <a:lnTo>
                    <a:pt x="1678431" y="128270"/>
                  </a:lnTo>
                </a:path>
              </a:pathLst>
            </a:custGeom>
            <a:ln w="9524">
              <a:solidFill>
                <a:srgbClr val="345A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898762" y="3869055"/>
              <a:ext cx="0" cy="1212850"/>
            </a:xfrm>
            <a:custGeom>
              <a:avLst/>
              <a:gdLst/>
              <a:ahLst/>
              <a:cxnLst/>
              <a:rect l="l" t="t" r="r" b="b"/>
              <a:pathLst>
                <a:path w="0" h="1212850">
                  <a:moveTo>
                    <a:pt x="0" y="0"/>
                  </a:moveTo>
                  <a:lnTo>
                    <a:pt x="0" y="1212723"/>
                  </a:lnTo>
                </a:path>
              </a:pathLst>
            </a:custGeom>
            <a:ln w="9525">
              <a:solidFill>
                <a:srgbClr val="3966B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8898762" y="3334004"/>
              <a:ext cx="0" cy="128270"/>
            </a:xfrm>
            <a:custGeom>
              <a:avLst/>
              <a:gdLst/>
              <a:ahLst/>
              <a:cxnLst/>
              <a:rect l="l" t="t" r="r" b="b"/>
              <a:pathLst>
                <a:path w="0" h="128270">
                  <a:moveTo>
                    <a:pt x="0" y="0"/>
                  </a:moveTo>
                  <a:lnTo>
                    <a:pt x="0" y="128270"/>
                  </a:lnTo>
                </a:path>
              </a:pathLst>
            </a:custGeom>
            <a:ln w="9525">
              <a:solidFill>
                <a:srgbClr val="345A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660895" y="3869055"/>
              <a:ext cx="1118870" cy="1228090"/>
            </a:xfrm>
            <a:custGeom>
              <a:avLst/>
              <a:gdLst/>
              <a:ahLst/>
              <a:cxnLst/>
              <a:rect l="l" t="t" r="r" b="b"/>
              <a:pathLst>
                <a:path w="1118870" h="1228089">
                  <a:moveTo>
                    <a:pt x="559434" y="0"/>
                  </a:moveTo>
                  <a:lnTo>
                    <a:pt x="559434" y="1157224"/>
                  </a:lnTo>
                  <a:lnTo>
                    <a:pt x="1118870" y="1157224"/>
                  </a:lnTo>
                  <a:lnTo>
                    <a:pt x="1118870" y="1220851"/>
                  </a:lnTo>
                </a:path>
                <a:path w="1118870" h="1228089">
                  <a:moveTo>
                    <a:pt x="559434" y="0"/>
                  </a:moveTo>
                  <a:lnTo>
                    <a:pt x="559434" y="1163955"/>
                  </a:lnTo>
                  <a:lnTo>
                    <a:pt x="0" y="1163955"/>
                  </a:lnTo>
                  <a:lnTo>
                    <a:pt x="0" y="1227582"/>
                  </a:lnTo>
                </a:path>
              </a:pathLst>
            </a:custGeom>
            <a:ln w="9525">
              <a:solidFill>
                <a:srgbClr val="3966B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220330" y="3334004"/>
              <a:ext cx="1678939" cy="128270"/>
            </a:xfrm>
            <a:custGeom>
              <a:avLst/>
              <a:gdLst/>
              <a:ahLst/>
              <a:cxnLst/>
              <a:rect l="l" t="t" r="r" b="b"/>
              <a:pathLst>
                <a:path w="1678940" h="128270">
                  <a:moveTo>
                    <a:pt x="1678432" y="0"/>
                  </a:moveTo>
                  <a:lnTo>
                    <a:pt x="1678432" y="64643"/>
                  </a:lnTo>
                  <a:lnTo>
                    <a:pt x="0" y="64643"/>
                  </a:lnTo>
                  <a:lnTo>
                    <a:pt x="0" y="128270"/>
                  </a:lnTo>
                </a:path>
              </a:pathLst>
            </a:custGeom>
            <a:ln w="9524">
              <a:solidFill>
                <a:srgbClr val="345A9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3271" y="2907779"/>
              <a:ext cx="487692" cy="48769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95308" y="2927222"/>
              <a:ext cx="406908" cy="40678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9155430" y="2969132"/>
            <a:ext cx="8572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5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973823" y="3442703"/>
            <a:ext cx="488315" cy="488315"/>
            <a:chOff x="6973823" y="3442703"/>
            <a:chExt cx="488315" cy="488315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73823" y="3442703"/>
              <a:ext cx="487692" cy="48769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16876" y="3462274"/>
              <a:ext cx="406907" cy="406781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7476870" y="3503752"/>
            <a:ext cx="386080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25">
                <a:latin typeface="Arial"/>
                <a:cs typeface="Arial"/>
              </a:rPr>
              <a:t>mnt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8653271" y="3442703"/>
            <a:ext cx="488315" cy="488315"/>
            <a:chOff x="8653271" y="3442703"/>
            <a:chExt cx="488315" cy="488315"/>
          </a:xfrm>
        </p:grpSpPr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3271" y="3442703"/>
              <a:ext cx="487692" cy="48769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95308" y="3462274"/>
              <a:ext cx="406908" cy="406781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9155430" y="3387597"/>
            <a:ext cx="386715" cy="51879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12700" marR="5080">
              <a:lnSpc>
                <a:spcPts val="1839"/>
              </a:lnSpc>
              <a:spcBef>
                <a:spcPts val="330"/>
              </a:spcBef>
            </a:pPr>
            <a:r>
              <a:rPr dirty="0" sz="1700" spc="-25">
                <a:latin typeface="Arial"/>
                <a:cs typeface="Arial"/>
              </a:rPr>
              <a:t>mnt </a:t>
            </a:r>
            <a:r>
              <a:rPr dirty="0" sz="1700" spc="-50">
                <a:latin typeface="Arial"/>
                <a:cs typeface="Arial"/>
              </a:rPr>
              <a:t>2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0331195" y="3442703"/>
            <a:ext cx="488315" cy="488315"/>
            <a:chOff x="10331195" y="3442703"/>
            <a:chExt cx="488315" cy="488315"/>
          </a:xfrm>
        </p:grpSpPr>
        <p:pic>
          <p:nvPicPr>
            <p:cNvPr id="39" name="object 3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331195" y="3442703"/>
              <a:ext cx="487692" cy="48769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373740" y="3462274"/>
              <a:ext cx="406907" cy="406781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10833861" y="3503752"/>
            <a:ext cx="326390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25">
                <a:latin typeface="Arial"/>
                <a:cs typeface="Arial"/>
              </a:rPr>
              <a:t>usr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9771888" y="3977627"/>
            <a:ext cx="488315" cy="488315"/>
            <a:chOff x="9771888" y="3977627"/>
            <a:chExt cx="488315" cy="488315"/>
          </a:xfrm>
        </p:grpSpPr>
        <p:pic>
          <p:nvPicPr>
            <p:cNvPr id="43" name="object 4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771888" y="3977627"/>
              <a:ext cx="487692" cy="48769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814306" y="3997325"/>
              <a:ext cx="406780" cy="406781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10274554" y="4039361"/>
            <a:ext cx="31496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>
                <a:latin typeface="Arial"/>
                <a:cs typeface="Arial"/>
              </a:rPr>
              <a:t>bin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6923531" y="3977627"/>
            <a:ext cx="4455160" cy="684530"/>
            <a:chOff x="6923531" y="3977627"/>
            <a:chExt cx="4455160" cy="684530"/>
          </a:xfrm>
        </p:grpSpPr>
        <p:pic>
          <p:nvPicPr>
            <p:cNvPr id="47" name="object 4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890503" y="3977627"/>
              <a:ext cx="487692" cy="487692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933175" y="3997325"/>
              <a:ext cx="406907" cy="406781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923531" y="4160494"/>
              <a:ext cx="594398" cy="449605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954011" y="4207776"/>
              <a:ext cx="531901" cy="454139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6970267" y="4230116"/>
              <a:ext cx="504825" cy="314325"/>
            </a:xfrm>
            <a:custGeom>
              <a:avLst/>
              <a:gdLst/>
              <a:ahLst/>
              <a:cxnLst/>
              <a:rect l="l" t="t" r="r" b="b"/>
              <a:pathLst>
                <a:path w="504825" h="314325">
                  <a:moveTo>
                    <a:pt x="504825" y="0"/>
                  </a:moveTo>
                  <a:lnTo>
                    <a:pt x="456122" y="26478"/>
                  </a:lnTo>
                  <a:lnTo>
                    <a:pt x="401488" y="36182"/>
                  </a:lnTo>
                  <a:lnTo>
                    <a:pt x="332218" y="42546"/>
                  </a:lnTo>
                  <a:lnTo>
                    <a:pt x="252475" y="44830"/>
                  </a:lnTo>
                  <a:lnTo>
                    <a:pt x="172671" y="42546"/>
                  </a:lnTo>
                  <a:lnTo>
                    <a:pt x="103363" y="36182"/>
                  </a:lnTo>
                  <a:lnTo>
                    <a:pt x="48711" y="26478"/>
                  </a:lnTo>
                  <a:lnTo>
                    <a:pt x="12870" y="14172"/>
                  </a:lnTo>
                  <a:lnTo>
                    <a:pt x="0" y="0"/>
                  </a:lnTo>
                  <a:lnTo>
                    <a:pt x="0" y="268985"/>
                  </a:lnTo>
                  <a:lnTo>
                    <a:pt x="48711" y="295509"/>
                  </a:lnTo>
                  <a:lnTo>
                    <a:pt x="103363" y="305251"/>
                  </a:lnTo>
                  <a:lnTo>
                    <a:pt x="172671" y="311645"/>
                  </a:lnTo>
                  <a:lnTo>
                    <a:pt x="252475" y="313943"/>
                  </a:lnTo>
                  <a:lnTo>
                    <a:pt x="332218" y="311645"/>
                  </a:lnTo>
                  <a:lnTo>
                    <a:pt x="401488" y="305251"/>
                  </a:lnTo>
                  <a:lnTo>
                    <a:pt x="456122" y="295509"/>
                  </a:lnTo>
                  <a:lnTo>
                    <a:pt x="491955" y="283171"/>
                  </a:lnTo>
                  <a:lnTo>
                    <a:pt x="504825" y="268985"/>
                  </a:lnTo>
                  <a:lnTo>
                    <a:pt x="504825" y="0"/>
                  </a:lnTo>
                  <a:close/>
                </a:path>
              </a:pathLst>
            </a:custGeom>
            <a:solidFill>
              <a:srgbClr val="C4DF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6970267" y="4185285"/>
              <a:ext cx="504825" cy="90170"/>
            </a:xfrm>
            <a:custGeom>
              <a:avLst/>
              <a:gdLst/>
              <a:ahLst/>
              <a:cxnLst/>
              <a:rect l="l" t="t" r="r" b="b"/>
              <a:pathLst>
                <a:path w="504825" h="90170">
                  <a:moveTo>
                    <a:pt x="252475" y="0"/>
                  </a:moveTo>
                  <a:lnTo>
                    <a:pt x="172671" y="2284"/>
                  </a:lnTo>
                  <a:lnTo>
                    <a:pt x="103363" y="8648"/>
                  </a:lnTo>
                  <a:lnTo>
                    <a:pt x="48711" y="18352"/>
                  </a:lnTo>
                  <a:lnTo>
                    <a:pt x="0" y="44831"/>
                  </a:lnTo>
                  <a:lnTo>
                    <a:pt x="12870" y="59003"/>
                  </a:lnTo>
                  <a:lnTo>
                    <a:pt x="48711" y="71309"/>
                  </a:lnTo>
                  <a:lnTo>
                    <a:pt x="103363" y="81013"/>
                  </a:lnTo>
                  <a:lnTo>
                    <a:pt x="172671" y="87377"/>
                  </a:lnTo>
                  <a:lnTo>
                    <a:pt x="252475" y="89662"/>
                  </a:lnTo>
                  <a:lnTo>
                    <a:pt x="332218" y="87377"/>
                  </a:lnTo>
                  <a:lnTo>
                    <a:pt x="401488" y="81013"/>
                  </a:lnTo>
                  <a:lnTo>
                    <a:pt x="456122" y="71309"/>
                  </a:lnTo>
                  <a:lnTo>
                    <a:pt x="491955" y="59003"/>
                  </a:lnTo>
                  <a:lnTo>
                    <a:pt x="504825" y="44831"/>
                  </a:lnTo>
                  <a:lnTo>
                    <a:pt x="491955" y="30658"/>
                  </a:lnTo>
                  <a:lnTo>
                    <a:pt x="456122" y="18352"/>
                  </a:lnTo>
                  <a:lnTo>
                    <a:pt x="401488" y="8648"/>
                  </a:lnTo>
                  <a:lnTo>
                    <a:pt x="332218" y="2284"/>
                  </a:lnTo>
                  <a:lnTo>
                    <a:pt x="252475" y="0"/>
                  </a:lnTo>
                  <a:close/>
                </a:path>
              </a:pathLst>
            </a:custGeom>
            <a:solidFill>
              <a:srgbClr val="DCEB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6970267" y="4185285"/>
              <a:ext cx="504825" cy="358775"/>
            </a:xfrm>
            <a:custGeom>
              <a:avLst/>
              <a:gdLst/>
              <a:ahLst/>
              <a:cxnLst/>
              <a:rect l="l" t="t" r="r" b="b"/>
              <a:pathLst>
                <a:path w="504825" h="358775">
                  <a:moveTo>
                    <a:pt x="504825" y="44831"/>
                  </a:moveTo>
                  <a:lnTo>
                    <a:pt x="456122" y="71309"/>
                  </a:lnTo>
                  <a:lnTo>
                    <a:pt x="401488" y="81013"/>
                  </a:lnTo>
                  <a:lnTo>
                    <a:pt x="332218" y="87377"/>
                  </a:lnTo>
                  <a:lnTo>
                    <a:pt x="252475" y="89662"/>
                  </a:lnTo>
                  <a:lnTo>
                    <a:pt x="172671" y="87377"/>
                  </a:lnTo>
                  <a:lnTo>
                    <a:pt x="103363" y="81013"/>
                  </a:lnTo>
                  <a:lnTo>
                    <a:pt x="48711" y="71309"/>
                  </a:lnTo>
                  <a:lnTo>
                    <a:pt x="0" y="44831"/>
                  </a:lnTo>
                  <a:lnTo>
                    <a:pt x="12870" y="30658"/>
                  </a:lnTo>
                  <a:lnTo>
                    <a:pt x="48711" y="18352"/>
                  </a:lnTo>
                  <a:lnTo>
                    <a:pt x="103363" y="8648"/>
                  </a:lnTo>
                  <a:lnTo>
                    <a:pt x="172671" y="2284"/>
                  </a:lnTo>
                  <a:lnTo>
                    <a:pt x="252475" y="0"/>
                  </a:lnTo>
                  <a:lnTo>
                    <a:pt x="332218" y="2284"/>
                  </a:lnTo>
                  <a:lnTo>
                    <a:pt x="401488" y="8648"/>
                  </a:lnTo>
                  <a:lnTo>
                    <a:pt x="456122" y="18352"/>
                  </a:lnTo>
                  <a:lnTo>
                    <a:pt x="491955" y="30658"/>
                  </a:lnTo>
                  <a:lnTo>
                    <a:pt x="504825" y="44831"/>
                  </a:lnTo>
                  <a:lnTo>
                    <a:pt x="504825" y="313816"/>
                  </a:lnTo>
                  <a:lnTo>
                    <a:pt x="456122" y="340340"/>
                  </a:lnTo>
                  <a:lnTo>
                    <a:pt x="401488" y="350082"/>
                  </a:lnTo>
                  <a:lnTo>
                    <a:pt x="332218" y="356476"/>
                  </a:lnTo>
                  <a:lnTo>
                    <a:pt x="252475" y="358775"/>
                  </a:lnTo>
                  <a:lnTo>
                    <a:pt x="172671" y="356476"/>
                  </a:lnTo>
                  <a:lnTo>
                    <a:pt x="103363" y="350082"/>
                  </a:lnTo>
                  <a:lnTo>
                    <a:pt x="48711" y="340340"/>
                  </a:lnTo>
                  <a:lnTo>
                    <a:pt x="12870" y="328002"/>
                  </a:lnTo>
                  <a:lnTo>
                    <a:pt x="0" y="313816"/>
                  </a:lnTo>
                  <a:lnTo>
                    <a:pt x="0" y="44831"/>
                  </a:lnTo>
                </a:path>
              </a:pathLst>
            </a:custGeom>
            <a:ln w="9525">
              <a:solidFill>
                <a:srgbClr val="FFBD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/>
          <p:cNvSpPr txBox="1"/>
          <p:nvPr/>
        </p:nvSpPr>
        <p:spPr>
          <a:xfrm>
            <a:off x="11393551" y="4039361"/>
            <a:ext cx="31432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>
                <a:latin typeface="Arial"/>
                <a:cs typeface="Arial"/>
              </a:rPr>
              <a:t>src</a:t>
            </a:r>
            <a:endParaRPr sz="17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091553" y="4262754"/>
            <a:ext cx="2641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"/>
                <a:cs typeface="Arial"/>
              </a:rPr>
              <a:t>O1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8616695" y="4160494"/>
            <a:ext cx="596265" cy="501650"/>
            <a:chOff x="8616695" y="4160494"/>
            <a:chExt cx="596265" cy="501650"/>
          </a:xfrm>
        </p:grpSpPr>
        <p:pic>
          <p:nvPicPr>
            <p:cNvPr id="57" name="object 5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616695" y="4160494"/>
              <a:ext cx="595909" cy="449605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648699" y="4207776"/>
              <a:ext cx="531901" cy="454139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8664574" y="4230115"/>
              <a:ext cx="504825" cy="314325"/>
            </a:xfrm>
            <a:custGeom>
              <a:avLst/>
              <a:gdLst/>
              <a:ahLst/>
              <a:cxnLst/>
              <a:rect l="l" t="t" r="r" b="b"/>
              <a:pathLst>
                <a:path w="504825" h="314325">
                  <a:moveTo>
                    <a:pt x="504825" y="0"/>
                  </a:moveTo>
                  <a:lnTo>
                    <a:pt x="456122" y="26478"/>
                  </a:lnTo>
                  <a:lnTo>
                    <a:pt x="401488" y="36182"/>
                  </a:lnTo>
                  <a:lnTo>
                    <a:pt x="332218" y="42546"/>
                  </a:lnTo>
                  <a:lnTo>
                    <a:pt x="252475" y="44830"/>
                  </a:lnTo>
                  <a:lnTo>
                    <a:pt x="172671" y="42546"/>
                  </a:lnTo>
                  <a:lnTo>
                    <a:pt x="103363" y="36182"/>
                  </a:lnTo>
                  <a:lnTo>
                    <a:pt x="48711" y="26478"/>
                  </a:lnTo>
                  <a:lnTo>
                    <a:pt x="12870" y="14172"/>
                  </a:lnTo>
                  <a:lnTo>
                    <a:pt x="0" y="0"/>
                  </a:lnTo>
                  <a:lnTo>
                    <a:pt x="0" y="268985"/>
                  </a:lnTo>
                  <a:lnTo>
                    <a:pt x="48711" y="295509"/>
                  </a:lnTo>
                  <a:lnTo>
                    <a:pt x="103363" y="305251"/>
                  </a:lnTo>
                  <a:lnTo>
                    <a:pt x="172671" y="311645"/>
                  </a:lnTo>
                  <a:lnTo>
                    <a:pt x="252475" y="313943"/>
                  </a:lnTo>
                  <a:lnTo>
                    <a:pt x="332218" y="311645"/>
                  </a:lnTo>
                  <a:lnTo>
                    <a:pt x="401488" y="305251"/>
                  </a:lnTo>
                  <a:lnTo>
                    <a:pt x="456122" y="295509"/>
                  </a:lnTo>
                  <a:lnTo>
                    <a:pt x="491955" y="283171"/>
                  </a:lnTo>
                  <a:lnTo>
                    <a:pt x="504825" y="268985"/>
                  </a:lnTo>
                  <a:lnTo>
                    <a:pt x="504825" y="0"/>
                  </a:lnTo>
                  <a:close/>
                </a:path>
              </a:pathLst>
            </a:custGeom>
            <a:solidFill>
              <a:srgbClr val="C4DF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8664574" y="4185284"/>
              <a:ext cx="504825" cy="90170"/>
            </a:xfrm>
            <a:custGeom>
              <a:avLst/>
              <a:gdLst/>
              <a:ahLst/>
              <a:cxnLst/>
              <a:rect l="l" t="t" r="r" b="b"/>
              <a:pathLst>
                <a:path w="504825" h="90170">
                  <a:moveTo>
                    <a:pt x="252475" y="0"/>
                  </a:moveTo>
                  <a:lnTo>
                    <a:pt x="172671" y="2284"/>
                  </a:lnTo>
                  <a:lnTo>
                    <a:pt x="103363" y="8648"/>
                  </a:lnTo>
                  <a:lnTo>
                    <a:pt x="48711" y="18352"/>
                  </a:lnTo>
                  <a:lnTo>
                    <a:pt x="0" y="44831"/>
                  </a:lnTo>
                  <a:lnTo>
                    <a:pt x="12870" y="59003"/>
                  </a:lnTo>
                  <a:lnTo>
                    <a:pt x="48711" y="71309"/>
                  </a:lnTo>
                  <a:lnTo>
                    <a:pt x="103363" y="81013"/>
                  </a:lnTo>
                  <a:lnTo>
                    <a:pt x="172671" y="87377"/>
                  </a:lnTo>
                  <a:lnTo>
                    <a:pt x="252475" y="89662"/>
                  </a:lnTo>
                  <a:lnTo>
                    <a:pt x="332218" y="87377"/>
                  </a:lnTo>
                  <a:lnTo>
                    <a:pt x="401488" y="81013"/>
                  </a:lnTo>
                  <a:lnTo>
                    <a:pt x="456122" y="71309"/>
                  </a:lnTo>
                  <a:lnTo>
                    <a:pt x="491955" y="59003"/>
                  </a:lnTo>
                  <a:lnTo>
                    <a:pt x="504825" y="44831"/>
                  </a:lnTo>
                  <a:lnTo>
                    <a:pt x="491955" y="30658"/>
                  </a:lnTo>
                  <a:lnTo>
                    <a:pt x="456122" y="18352"/>
                  </a:lnTo>
                  <a:lnTo>
                    <a:pt x="401488" y="8648"/>
                  </a:lnTo>
                  <a:lnTo>
                    <a:pt x="332218" y="2284"/>
                  </a:lnTo>
                  <a:lnTo>
                    <a:pt x="252475" y="0"/>
                  </a:lnTo>
                  <a:close/>
                </a:path>
              </a:pathLst>
            </a:custGeom>
            <a:solidFill>
              <a:srgbClr val="DCEB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8664574" y="4185284"/>
              <a:ext cx="504825" cy="358775"/>
            </a:xfrm>
            <a:custGeom>
              <a:avLst/>
              <a:gdLst/>
              <a:ahLst/>
              <a:cxnLst/>
              <a:rect l="l" t="t" r="r" b="b"/>
              <a:pathLst>
                <a:path w="504825" h="358775">
                  <a:moveTo>
                    <a:pt x="504825" y="44831"/>
                  </a:moveTo>
                  <a:lnTo>
                    <a:pt x="456122" y="71309"/>
                  </a:lnTo>
                  <a:lnTo>
                    <a:pt x="401488" y="81013"/>
                  </a:lnTo>
                  <a:lnTo>
                    <a:pt x="332218" y="87377"/>
                  </a:lnTo>
                  <a:lnTo>
                    <a:pt x="252475" y="89662"/>
                  </a:lnTo>
                  <a:lnTo>
                    <a:pt x="172671" y="87377"/>
                  </a:lnTo>
                  <a:lnTo>
                    <a:pt x="103363" y="81013"/>
                  </a:lnTo>
                  <a:lnTo>
                    <a:pt x="48711" y="71309"/>
                  </a:lnTo>
                  <a:lnTo>
                    <a:pt x="0" y="44831"/>
                  </a:lnTo>
                  <a:lnTo>
                    <a:pt x="12870" y="30658"/>
                  </a:lnTo>
                  <a:lnTo>
                    <a:pt x="48711" y="18352"/>
                  </a:lnTo>
                  <a:lnTo>
                    <a:pt x="103363" y="8648"/>
                  </a:lnTo>
                  <a:lnTo>
                    <a:pt x="172671" y="2284"/>
                  </a:lnTo>
                  <a:lnTo>
                    <a:pt x="252475" y="0"/>
                  </a:lnTo>
                  <a:lnTo>
                    <a:pt x="332218" y="2284"/>
                  </a:lnTo>
                  <a:lnTo>
                    <a:pt x="401488" y="8648"/>
                  </a:lnTo>
                  <a:lnTo>
                    <a:pt x="456122" y="18352"/>
                  </a:lnTo>
                  <a:lnTo>
                    <a:pt x="491955" y="30658"/>
                  </a:lnTo>
                  <a:lnTo>
                    <a:pt x="504825" y="44831"/>
                  </a:lnTo>
                  <a:lnTo>
                    <a:pt x="504825" y="313816"/>
                  </a:lnTo>
                  <a:lnTo>
                    <a:pt x="456122" y="340340"/>
                  </a:lnTo>
                  <a:lnTo>
                    <a:pt x="401488" y="350082"/>
                  </a:lnTo>
                  <a:lnTo>
                    <a:pt x="332218" y="356476"/>
                  </a:lnTo>
                  <a:lnTo>
                    <a:pt x="252475" y="358775"/>
                  </a:lnTo>
                  <a:lnTo>
                    <a:pt x="172671" y="356476"/>
                  </a:lnTo>
                  <a:lnTo>
                    <a:pt x="103363" y="350082"/>
                  </a:lnTo>
                  <a:lnTo>
                    <a:pt x="48711" y="340340"/>
                  </a:lnTo>
                  <a:lnTo>
                    <a:pt x="12870" y="328002"/>
                  </a:lnTo>
                  <a:lnTo>
                    <a:pt x="0" y="313816"/>
                  </a:lnTo>
                  <a:lnTo>
                    <a:pt x="0" y="44831"/>
                  </a:lnTo>
                </a:path>
              </a:pathLst>
            </a:custGeom>
            <a:ln w="9525">
              <a:solidFill>
                <a:srgbClr val="FFBD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/>
          <p:cNvSpPr txBox="1"/>
          <p:nvPr/>
        </p:nvSpPr>
        <p:spPr>
          <a:xfrm>
            <a:off x="8786241" y="4262754"/>
            <a:ext cx="2635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"/>
                <a:cs typeface="Arial"/>
              </a:rPr>
              <a:t>O2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414515" y="5076431"/>
            <a:ext cx="488315" cy="488315"/>
            <a:chOff x="6414515" y="5076431"/>
            <a:chExt cx="488315" cy="488315"/>
          </a:xfrm>
        </p:grpSpPr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14515" y="5076431"/>
              <a:ext cx="487692" cy="48769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57441" y="5096636"/>
              <a:ext cx="406908" cy="406781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6917181" y="5132323"/>
            <a:ext cx="38735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0">
                <a:latin typeface="Arial"/>
                <a:cs typeface="Arial"/>
              </a:rPr>
              <a:t>dir1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533131" y="5070335"/>
            <a:ext cx="488315" cy="488315"/>
            <a:chOff x="7533131" y="5070335"/>
            <a:chExt cx="488315" cy="488315"/>
          </a:xfrm>
        </p:grpSpPr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33131" y="5070335"/>
              <a:ext cx="487692" cy="48769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76438" y="5089906"/>
              <a:ext cx="406780" cy="406781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8036432" y="5139944"/>
            <a:ext cx="38735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0">
                <a:latin typeface="Arial"/>
                <a:cs typeface="Arial"/>
              </a:rPr>
              <a:t>dir2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8653271" y="5062715"/>
            <a:ext cx="488315" cy="488315"/>
            <a:chOff x="8653271" y="5062715"/>
            <a:chExt cx="488315" cy="488315"/>
          </a:xfrm>
        </p:grpSpPr>
        <p:pic>
          <p:nvPicPr>
            <p:cNvPr id="35" name="object 3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53271" y="5062715"/>
              <a:ext cx="487692" cy="48769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95308" y="5081778"/>
              <a:ext cx="406908" cy="406781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9155430" y="5124069"/>
            <a:ext cx="38735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0">
                <a:latin typeface="Arial"/>
                <a:cs typeface="Arial"/>
              </a:rPr>
              <a:t>dir3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97355" y="5689193"/>
            <a:ext cx="55575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1600" spc="-10">
                <a:latin typeface="Calibri"/>
                <a:cs typeface="Calibri"/>
              </a:rPr>
              <a:t>lrwxrwxrwx.</a:t>
            </a:r>
            <a:r>
              <a:rPr dirty="0" sz="1600" spc="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1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mtk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mtk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0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Jan</a:t>
            </a:r>
            <a:r>
              <a:rPr dirty="0" sz="1600" spc="3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8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04:12</a:t>
            </a:r>
            <a:r>
              <a:rPr dirty="0" sz="1600" spc="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mnt</a:t>
            </a:r>
            <a:r>
              <a:rPr dirty="0" sz="1600" spc="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-&gt;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mnt:[4026531840]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8083" y="305943"/>
            <a:ext cx="11255883" cy="384441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8083" y="4726292"/>
            <a:ext cx="11255883" cy="1107605"/>
          </a:xfrm>
          <a:prstGeom prst="rect">
            <a:avLst/>
          </a:prstGeom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6675" rIns="0" bIns="0" rtlCol="0" vert="horz">
            <a:spAutoFit/>
          </a:bodyPr>
          <a:lstStyle/>
          <a:p>
            <a:pPr marL="201295">
              <a:lnSpc>
                <a:spcPct val="100000"/>
              </a:lnSpc>
              <a:spcBef>
                <a:spcPts val="52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430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Illustration</a:t>
            </a:r>
            <a:r>
              <a:rPr dirty="0" spc="-7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of</a:t>
            </a:r>
            <a:r>
              <a:rPr dirty="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Namespace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Operations</a:t>
            </a:r>
            <a:r>
              <a:rPr dirty="0" spc="-6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:</a:t>
            </a:r>
            <a:r>
              <a:rPr dirty="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E.g.</a:t>
            </a:r>
            <a:r>
              <a:rPr dirty="0" spc="-5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MNT</a:t>
            </a:r>
            <a:r>
              <a:rPr dirty="0" spc="-4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Namespace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14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/>
              <a:t>Creation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10"/>
              <a:t>Namespace</a:t>
            </a:r>
          </a:p>
          <a:p>
            <a:pPr marL="438150" marR="490220" indent="-360045">
              <a:lnSpc>
                <a:spcPct val="120000"/>
              </a:lnSpc>
              <a:spcBef>
                <a:spcPts val="280"/>
              </a:spcBef>
              <a:buSzPct val="81818"/>
              <a:buFont typeface="Arial"/>
              <a:buChar char="•"/>
              <a:tabLst>
                <a:tab pos="438150" algn="l"/>
              </a:tabLst>
            </a:pP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dirty="0" spc="-4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create</a:t>
            </a:r>
            <a:r>
              <a:rPr dirty="0" spc="-4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dirty="0" spc="-5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namespace,</a:t>
            </a:r>
            <a:r>
              <a:rPr dirty="0" spc="-4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must</a:t>
            </a:r>
            <a:r>
              <a:rPr dirty="0" spc="-3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create</a:t>
            </a:r>
            <a:r>
              <a:rPr dirty="0" spc="-4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50" b="0">
                <a:solidFill>
                  <a:srgbClr val="000000"/>
                </a:solidFill>
                <a:latin typeface="Calibri"/>
                <a:cs typeface="Calibri"/>
              </a:rPr>
              <a:t>a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process</a:t>
            </a:r>
            <a:r>
              <a:rPr dirty="0" spc="-3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with</a:t>
            </a:r>
            <a:r>
              <a:rPr dirty="0" spc="-3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that</a:t>
            </a:r>
            <a:r>
              <a:rPr dirty="0" spc="-2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namespace</a:t>
            </a:r>
          </a:p>
          <a:p>
            <a:pPr marL="438150" marR="673100" indent="-360045">
              <a:lnSpc>
                <a:spcPct val="120100"/>
              </a:lnSpc>
              <a:spcBef>
                <a:spcPts val="500"/>
              </a:spcBef>
              <a:buClr>
                <a:srgbClr val="000000"/>
              </a:buClr>
              <a:buSzPct val="81818"/>
              <a:buFont typeface="Arial"/>
              <a:buChar char="•"/>
              <a:tabLst>
                <a:tab pos="438150" algn="l"/>
              </a:tabLst>
            </a:pPr>
            <a:r>
              <a:rPr dirty="0" b="0" i="1">
                <a:solidFill>
                  <a:srgbClr val="C00000"/>
                </a:solidFill>
                <a:latin typeface="Calibri"/>
                <a:cs typeface="Calibri"/>
              </a:rPr>
              <a:t>pid</a:t>
            </a:r>
            <a:r>
              <a:rPr dirty="0" spc="-50" b="0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b="0" i="1">
                <a:solidFill>
                  <a:srgbClr val="C00000"/>
                </a:solidFill>
                <a:latin typeface="Calibri"/>
                <a:cs typeface="Calibri"/>
              </a:rPr>
              <a:t>=</a:t>
            </a:r>
            <a:r>
              <a:rPr dirty="0" spc="-45" b="0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b="0" i="1">
                <a:solidFill>
                  <a:srgbClr val="C00000"/>
                </a:solidFill>
                <a:latin typeface="Calibri"/>
                <a:cs typeface="Calibri"/>
              </a:rPr>
              <a:t>clone(childFunc,</a:t>
            </a:r>
            <a:r>
              <a:rPr dirty="0" spc="-60" b="0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pc="-10" b="0" i="1">
                <a:solidFill>
                  <a:srgbClr val="C00000"/>
                </a:solidFill>
                <a:latin typeface="Calibri"/>
                <a:cs typeface="Calibri"/>
              </a:rPr>
              <a:t>stackTop, CLONE_NEWNS</a:t>
            </a:r>
            <a:r>
              <a:rPr dirty="0" spc="-45" b="0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b="0" i="1">
                <a:solidFill>
                  <a:srgbClr val="C00000"/>
                </a:solidFill>
                <a:latin typeface="Calibri"/>
                <a:cs typeface="Calibri"/>
              </a:rPr>
              <a:t>|</a:t>
            </a:r>
            <a:r>
              <a:rPr dirty="0" spc="-60" b="0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b="0" i="1">
                <a:solidFill>
                  <a:srgbClr val="C00000"/>
                </a:solidFill>
                <a:latin typeface="Calibri"/>
                <a:cs typeface="Calibri"/>
              </a:rPr>
              <a:t>SIGCHLD,</a:t>
            </a:r>
            <a:r>
              <a:rPr dirty="0" spc="-35" b="0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pc="-10" b="0" i="1">
                <a:solidFill>
                  <a:srgbClr val="C00000"/>
                </a:solidFill>
                <a:latin typeface="Calibri"/>
                <a:cs typeface="Calibri"/>
              </a:rPr>
              <a:t>argv[1]);</a:t>
            </a:r>
          </a:p>
          <a:p>
            <a:pPr marL="437515" indent="-359410">
              <a:lnSpc>
                <a:spcPct val="100000"/>
              </a:lnSpc>
              <a:spcBef>
                <a:spcPts val="1019"/>
              </a:spcBef>
              <a:buSzPct val="81818"/>
              <a:buFont typeface="Arial"/>
              <a:buChar char="•"/>
              <a:tabLst>
                <a:tab pos="437515" algn="l"/>
              </a:tabLst>
            </a:pP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Creates</a:t>
            </a:r>
            <a:r>
              <a:rPr dirty="0" spc="-3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dirty="0" spc="-3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new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child,</a:t>
            </a:r>
            <a:r>
              <a:rPr dirty="0" spc="-5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like</a:t>
            </a:r>
            <a:r>
              <a:rPr dirty="0" spc="-3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10" b="0" i="1">
                <a:solidFill>
                  <a:srgbClr val="000000"/>
                </a:solidFill>
                <a:latin typeface="Calibri"/>
                <a:cs typeface="Calibri"/>
              </a:rPr>
              <a:t>fork()</a:t>
            </a:r>
          </a:p>
          <a:p>
            <a:pPr marL="438150" marR="43180" indent="-360045">
              <a:lnSpc>
                <a:spcPct val="120100"/>
              </a:lnSpc>
              <a:spcBef>
                <a:spcPts val="500"/>
              </a:spcBef>
              <a:buSzPct val="81818"/>
              <a:buFont typeface="Arial"/>
              <a:buChar char="•"/>
              <a:tabLst>
                <a:tab pos="438150" algn="l"/>
              </a:tabLst>
            </a:pPr>
            <a:r>
              <a:rPr dirty="0" b="0" i="1">
                <a:solidFill>
                  <a:srgbClr val="000000"/>
                </a:solidFill>
                <a:latin typeface="Calibri"/>
                <a:cs typeface="Calibri"/>
              </a:rPr>
              <a:t>NEWNS</a:t>
            </a:r>
            <a:r>
              <a:rPr dirty="0" spc="-15" b="0" i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flag</a:t>
            </a:r>
            <a:r>
              <a:rPr dirty="0" spc="-3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indicates</a:t>
            </a:r>
            <a:r>
              <a:rPr dirty="0" spc="-3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that</a:t>
            </a:r>
            <a:r>
              <a:rPr dirty="0" spc="-4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child</a:t>
            </a:r>
            <a:r>
              <a:rPr dirty="0" spc="-4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has</a:t>
            </a:r>
            <a:r>
              <a:rPr dirty="0" spc="-2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dirty="0" spc="-3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"/>
                <a:cs typeface="Calibri"/>
              </a:rPr>
              <a:t>new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mount</a:t>
            </a:r>
            <a:r>
              <a:rPr dirty="0" spc="-5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namespace</a:t>
            </a:r>
          </a:p>
          <a:p>
            <a:pPr marL="438150" marR="5080" indent="-360045">
              <a:lnSpc>
                <a:spcPct val="120000"/>
              </a:lnSpc>
              <a:spcBef>
                <a:spcPts val="505"/>
              </a:spcBef>
              <a:buSzPct val="81818"/>
              <a:buFont typeface="Arial"/>
              <a:buChar char="•"/>
              <a:tabLst>
                <a:tab pos="438150" algn="l"/>
              </a:tabLst>
            </a:pP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Child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can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do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 i="1">
                <a:solidFill>
                  <a:srgbClr val="000000"/>
                </a:solidFill>
                <a:latin typeface="Calibri"/>
                <a:cs typeface="Calibri"/>
              </a:rPr>
              <a:t>mount</a:t>
            </a:r>
            <a:r>
              <a:rPr dirty="0" spc="-20" b="0" i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 i="1">
                <a:solidFill>
                  <a:srgbClr val="000000"/>
                </a:solidFill>
                <a:latin typeface="Calibri"/>
                <a:cs typeface="Calibri"/>
              </a:rPr>
              <a:t>umount</a:t>
            </a:r>
            <a:r>
              <a:rPr dirty="0" spc="-25" b="0" i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 modify namespace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55460" y="2678477"/>
            <a:ext cx="1617980" cy="884555"/>
          </a:xfrm>
          <a:prstGeom prst="rect">
            <a:avLst/>
          </a:prstGeom>
        </p:spPr>
        <p:txBody>
          <a:bodyPr wrap="square" lIns="0" tIns="137160" rIns="0" bIns="0" rtlCol="0" vert="horz">
            <a:spAutoFit/>
          </a:bodyPr>
          <a:lstStyle/>
          <a:p>
            <a:pPr marL="372110" indent="-359410">
              <a:lnSpc>
                <a:spcPct val="100000"/>
              </a:lnSpc>
              <a:spcBef>
                <a:spcPts val="1080"/>
              </a:spcBef>
              <a:buSzPct val="87500"/>
              <a:buFont typeface="Arial"/>
              <a:buChar char="•"/>
              <a:tabLst>
                <a:tab pos="372110" algn="l"/>
              </a:tabLst>
            </a:pPr>
            <a:r>
              <a:rPr dirty="0" sz="2000">
                <a:latin typeface="Calibri"/>
                <a:cs typeface="Calibri"/>
              </a:rPr>
              <a:t>(int</a:t>
            </a:r>
            <a:r>
              <a:rPr dirty="0" sz="2000" spc="-25">
                <a:latin typeface="Calibri"/>
                <a:cs typeface="Calibri"/>
              </a:rPr>
              <a:t> fd,</a:t>
            </a:r>
            <a:endParaRPr sz="2000">
              <a:latin typeface="Calibri"/>
              <a:cs typeface="Calibri"/>
            </a:endParaRPr>
          </a:p>
          <a:p>
            <a:pPr marL="428625" indent="-415925">
              <a:lnSpc>
                <a:spcPct val="100000"/>
              </a:lnSpc>
              <a:spcBef>
                <a:spcPts val="980"/>
              </a:spcBef>
              <a:buSzPct val="87500"/>
              <a:buFont typeface="Arial"/>
              <a:buChar char="•"/>
              <a:tabLst>
                <a:tab pos="428625" algn="l"/>
              </a:tabLst>
            </a:pPr>
            <a:r>
              <a:rPr dirty="0" sz="2000">
                <a:latin typeface="Calibri"/>
                <a:cs typeface="Calibri"/>
              </a:rPr>
              <a:t>int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nstype);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89928" y="1401021"/>
            <a:ext cx="5278755" cy="4244975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78105" marR="450215" indent="-66040">
              <a:lnSpc>
                <a:spcPct val="135200"/>
              </a:lnSpc>
              <a:spcBef>
                <a:spcPts val="20"/>
              </a:spcBef>
            </a:pP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Programs</a:t>
            </a:r>
            <a:r>
              <a:rPr dirty="0" sz="2200" spc="-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to</a:t>
            </a:r>
            <a:r>
              <a:rPr dirty="0" sz="2200" spc="-3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be</a:t>
            </a:r>
            <a:r>
              <a:rPr dirty="0" sz="2200" spc="-4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joining</a:t>
            </a:r>
            <a:r>
              <a:rPr dirty="0" sz="2200" spc="-4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into</a:t>
            </a:r>
            <a:r>
              <a:rPr dirty="0" sz="2200" spc="-4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200" spc="-2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spc="-10" b="1">
                <a:solidFill>
                  <a:srgbClr val="006FC0"/>
                </a:solidFill>
                <a:latin typeface="Calibri"/>
                <a:cs typeface="Calibri"/>
              </a:rPr>
              <a:t>namespace </a:t>
            </a:r>
            <a:r>
              <a:rPr dirty="0" sz="2000">
                <a:latin typeface="Calibri"/>
                <a:cs typeface="Calibri"/>
              </a:rPr>
              <a:t>Allows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program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join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existing</a:t>
            </a:r>
            <a:r>
              <a:rPr dirty="0" sz="2000" spc="-10">
                <a:latin typeface="Calibri"/>
                <a:cs typeface="Calibri"/>
              </a:rPr>
              <a:t> namespace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int</a:t>
            </a:r>
            <a:r>
              <a:rPr dirty="0" sz="2000" spc="-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C00000"/>
                </a:solidFill>
                <a:latin typeface="Calibri"/>
                <a:cs typeface="Calibri"/>
              </a:rPr>
              <a:t>setns</a:t>
            </a:r>
            <a:endParaRPr sz="2000">
              <a:latin typeface="Calibri"/>
              <a:cs typeface="Calibri"/>
            </a:endParaRPr>
          </a:p>
          <a:p>
            <a:pPr marL="1925955">
              <a:lnSpc>
                <a:spcPct val="100000"/>
              </a:lnSpc>
              <a:spcBef>
                <a:spcPts val="985"/>
              </a:spcBef>
            </a:pPr>
            <a:r>
              <a:rPr dirty="0" sz="2000">
                <a:latin typeface="Calibri"/>
                <a:cs typeface="Calibri"/>
              </a:rPr>
              <a:t>//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namespace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join</a:t>
            </a:r>
            <a:endParaRPr sz="2000">
              <a:latin typeface="Calibri"/>
              <a:cs typeface="Calibri"/>
            </a:endParaRPr>
          </a:p>
          <a:p>
            <a:pPr marL="1899285">
              <a:lnSpc>
                <a:spcPct val="100000"/>
              </a:lnSpc>
              <a:spcBef>
                <a:spcPts val="985"/>
              </a:spcBef>
            </a:pPr>
            <a:r>
              <a:rPr dirty="0" sz="2000">
                <a:latin typeface="Calibri"/>
                <a:cs typeface="Calibri"/>
              </a:rPr>
              <a:t>//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type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ns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14"/>
              </a:spcBef>
            </a:pPr>
            <a:endParaRPr sz="2000">
              <a:latin typeface="Calibri"/>
              <a:cs typeface="Calibri"/>
            </a:endParaRPr>
          </a:p>
          <a:p>
            <a:pPr marL="78105">
              <a:lnSpc>
                <a:spcPct val="100000"/>
              </a:lnSpc>
            </a:pP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int</a:t>
            </a:r>
            <a:r>
              <a:rPr dirty="0" sz="2000" spc="-4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unshare</a:t>
            </a:r>
            <a:r>
              <a:rPr dirty="0" sz="200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(int</a:t>
            </a:r>
            <a:r>
              <a:rPr dirty="0" sz="2000" spc="-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flags);</a:t>
            </a:r>
            <a:r>
              <a:rPr dirty="0" sz="20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//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namespace</a:t>
            </a:r>
            <a:endParaRPr sz="2000">
              <a:latin typeface="Calibri"/>
              <a:cs typeface="Calibri"/>
            </a:endParaRPr>
          </a:p>
          <a:p>
            <a:pPr marL="437515" indent="-359410">
              <a:lnSpc>
                <a:spcPct val="100000"/>
              </a:lnSpc>
              <a:spcBef>
                <a:spcPts val="985"/>
              </a:spcBef>
              <a:buSzPct val="87500"/>
              <a:buFont typeface="Arial"/>
              <a:buChar char="•"/>
              <a:tabLst>
                <a:tab pos="437515" algn="l"/>
              </a:tabLst>
            </a:pPr>
            <a:r>
              <a:rPr dirty="0" sz="2000">
                <a:latin typeface="Calibri"/>
                <a:cs typeface="Calibri"/>
              </a:rPr>
              <a:t>CLONE_NEWNS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specifies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mount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namespace</a:t>
            </a:r>
            <a:endParaRPr sz="2000">
              <a:latin typeface="Calibri"/>
              <a:cs typeface="Calibri"/>
            </a:endParaRPr>
          </a:p>
          <a:p>
            <a:pPr marL="437515" marR="5080" indent="-360045">
              <a:lnSpc>
                <a:spcPct val="120000"/>
              </a:lnSpc>
              <a:spcBef>
                <a:spcPts val="495"/>
              </a:spcBef>
              <a:buSzPct val="87500"/>
              <a:buFont typeface="Arial"/>
              <a:buChar char="•"/>
              <a:tabLst>
                <a:tab pos="437515" algn="l"/>
              </a:tabLst>
            </a:pPr>
            <a:r>
              <a:rPr dirty="0" sz="2000">
                <a:latin typeface="Calibri"/>
                <a:cs typeface="Calibri"/>
              </a:rPr>
              <a:t>Similar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clone();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allows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caller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create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new </a:t>
            </a:r>
            <a:r>
              <a:rPr dirty="0" sz="2000" spc="-10">
                <a:latin typeface="Calibri"/>
                <a:cs typeface="Calibri"/>
              </a:rPr>
              <a:t>namespace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87298"/>
            <a:ext cx="12191999" cy="5080000"/>
          </a:xfrm>
          <a:prstGeom prst="rect">
            <a:avLst/>
          </a:prstGeom>
        </p:spPr>
      </p:pic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666" y="457225"/>
            <a:ext cx="11894693" cy="5536882"/>
          </a:xfrm>
          <a:prstGeom prst="rect">
            <a:avLst/>
          </a:prstGeom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4520"/>
            <a:ext cx="12192000" cy="6753859"/>
            <a:chOff x="0" y="104520"/>
            <a:chExt cx="12192000" cy="675385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4520"/>
              <a:ext cx="12191999" cy="30907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1243" y="3195319"/>
              <a:ext cx="10496804" cy="188417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1662" y="5079490"/>
              <a:ext cx="9857994" cy="17785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2216" y="202183"/>
            <a:ext cx="5374005" cy="847090"/>
          </a:xfrm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13335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UTS</a:t>
            </a:r>
            <a:r>
              <a:rPr dirty="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(Unix</a:t>
            </a:r>
            <a:r>
              <a:rPr dirty="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Time</a:t>
            </a:r>
            <a:r>
              <a:rPr dirty="0" spc="-3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Sharing)</a:t>
            </a:r>
            <a:r>
              <a:rPr dirty="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Namespace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202293" y="429641"/>
            <a:ext cx="1619885" cy="1991995"/>
          </a:xfrm>
          <a:prstGeom prst="rect">
            <a:avLst/>
          </a:prstGeom>
          <a:solidFill>
            <a:srgbClr val="1F4E79">
              <a:alpha val="79998"/>
            </a:srgbClr>
          </a:solidFill>
          <a:ln w="9525">
            <a:solidFill>
              <a:srgbClr val="A4A4A4"/>
            </a:solidFill>
          </a:ln>
        </p:spPr>
        <p:txBody>
          <a:bodyPr wrap="square" lIns="0" tIns="40005" rIns="0" bIns="0" rtlCol="0" vert="horz">
            <a:spAutoFit/>
          </a:bodyPr>
          <a:lstStyle/>
          <a:p>
            <a:pPr marL="99060" marR="89535" indent="182880">
              <a:lnSpc>
                <a:spcPct val="100000"/>
              </a:lnSpc>
              <a:spcBef>
                <a:spcPts val="315"/>
              </a:spcBef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“global”</a:t>
            </a:r>
            <a:r>
              <a:rPr dirty="0" sz="140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(i.e.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root)</a:t>
            </a:r>
            <a:r>
              <a:rPr dirty="0" sz="14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namespace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3118" y="1342770"/>
            <a:ext cx="8232140" cy="3229610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00"/>
              </a:spcBef>
              <a:buSzPct val="75000"/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Per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namespace</a:t>
            </a:r>
            <a:endParaRPr sz="2400">
              <a:latin typeface="Calibri"/>
              <a:cs typeface="Calibri"/>
            </a:endParaRPr>
          </a:p>
          <a:p>
            <a:pPr lvl="1" marL="812165" indent="-342265">
              <a:lnSpc>
                <a:spcPct val="100000"/>
              </a:lnSpc>
              <a:spcBef>
                <a:spcPts val="204"/>
              </a:spcBef>
              <a:buSzPct val="75000"/>
              <a:buFont typeface="Arial"/>
              <a:buChar char="•"/>
              <a:tabLst>
                <a:tab pos="812165" algn="l"/>
              </a:tabLst>
            </a:pPr>
            <a:r>
              <a:rPr dirty="0" sz="2400" spc="-10">
                <a:latin typeface="Calibri"/>
                <a:cs typeface="Calibri"/>
              </a:rPr>
              <a:t>Hostname</a:t>
            </a:r>
            <a:endParaRPr sz="2400">
              <a:latin typeface="Calibri"/>
              <a:cs typeface="Calibri"/>
            </a:endParaRPr>
          </a:p>
          <a:p>
            <a:pPr lvl="1" marL="812165" indent="-342265">
              <a:lnSpc>
                <a:spcPct val="100000"/>
              </a:lnSpc>
              <a:spcBef>
                <a:spcPts val="219"/>
              </a:spcBef>
              <a:buSzPct val="75000"/>
              <a:buFont typeface="Arial"/>
              <a:buChar char="•"/>
              <a:tabLst>
                <a:tab pos="812165" algn="l"/>
              </a:tabLst>
            </a:pPr>
            <a:r>
              <a:rPr dirty="0" sz="2400">
                <a:latin typeface="Calibri"/>
                <a:cs typeface="Calibri"/>
              </a:rPr>
              <a:t>NIS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domain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name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(Network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Information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Service)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10"/>
              </a:spcBef>
              <a:buSzPct val="75000"/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Reported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by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commands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such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hostname</a:t>
            </a:r>
            <a:endParaRPr sz="2400">
              <a:latin typeface="Calibri"/>
              <a:cs typeface="Calibri"/>
            </a:endParaRPr>
          </a:p>
          <a:p>
            <a:pPr marL="355600" marR="5080" indent="-342900">
              <a:lnSpc>
                <a:spcPts val="2590"/>
              </a:lnSpc>
              <a:spcBef>
                <a:spcPts val="1045"/>
              </a:spcBef>
              <a:buSzPct val="75000"/>
              <a:buFont typeface="Arial"/>
              <a:buChar char="•"/>
              <a:tabLst>
                <a:tab pos="355600" algn="l"/>
              </a:tabLst>
            </a:pPr>
            <a:r>
              <a:rPr dirty="0" sz="2400">
                <a:latin typeface="Calibri"/>
                <a:cs typeface="Calibri"/>
              </a:rPr>
              <a:t>Processes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namespace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change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UTS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values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–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only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reflected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child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namespace</a:t>
            </a:r>
            <a:endParaRPr sz="2400">
              <a:latin typeface="Calibri"/>
              <a:cs typeface="Calibri"/>
            </a:endParaRPr>
          </a:p>
          <a:p>
            <a:pPr marL="355600" marR="735330" indent="-342900">
              <a:lnSpc>
                <a:spcPts val="2590"/>
              </a:lnSpc>
              <a:spcBef>
                <a:spcPts val="1005"/>
              </a:spcBef>
              <a:buSzPct val="75000"/>
              <a:buFont typeface="Arial"/>
              <a:buChar char="•"/>
              <a:tabLst>
                <a:tab pos="355600" algn="l"/>
              </a:tabLst>
            </a:pPr>
            <a:r>
              <a:rPr dirty="0" sz="2400">
                <a:latin typeface="Calibri"/>
                <a:cs typeface="Calibri"/>
              </a:rPr>
              <a:t>Allows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containers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have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their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own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FQDN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(Fully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qualified </a:t>
            </a:r>
            <a:r>
              <a:rPr dirty="0" sz="2400">
                <a:latin typeface="Calibri"/>
                <a:cs typeface="Calibri"/>
              </a:rPr>
              <a:t>Domain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Name)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78442" y="896874"/>
            <a:ext cx="1267460" cy="1412240"/>
          </a:xfrm>
          <a:prstGeom prst="rect">
            <a:avLst/>
          </a:prstGeom>
          <a:solidFill>
            <a:srgbClr val="1F4E79">
              <a:alpha val="79998"/>
            </a:srgbClr>
          </a:solidFill>
          <a:ln w="9525">
            <a:solidFill>
              <a:srgbClr val="A4A4A4"/>
            </a:solidFill>
          </a:ln>
        </p:spPr>
        <p:txBody>
          <a:bodyPr wrap="square" lIns="0" tIns="400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15"/>
              </a:spcBef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UTS</a:t>
            </a:r>
            <a:r>
              <a:rPr dirty="0" sz="1400" spc="-25" b="1">
                <a:solidFill>
                  <a:srgbClr val="FFFFFF"/>
                </a:solidFill>
                <a:latin typeface="Arial"/>
                <a:cs typeface="Arial"/>
              </a:rPr>
              <a:t> NS</a:t>
            </a:r>
            <a:endParaRPr sz="1400">
              <a:latin typeface="Arial"/>
              <a:cs typeface="Arial"/>
            </a:endParaRPr>
          </a:p>
          <a:p>
            <a:pPr algn="ctr" marL="140970" marR="135255">
              <a:lnSpc>
                <a:spcPct val="100699"/>
              </a:lnSpc>
              <a:spcBef>
                <a:spcPts val="1215"/>
              </a:spcBef>
            </a:pPr>
            <a:r>
              <a:rPr dirty="0" sz="1400" spc="-10">
                <a:solidFill>
                  <a:srgbClr val="FFFFFF"/>
                </a:solidFill>
                <a:latin typeface="Consolas"/>
                <a:cs typeface="Consolas"/>
              </a:rPr>
              <a:t>globalhost rootns.com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20707" y="2528570"/>
            <a:ext cx="1595755" cy="1990089"/>
          </a:xfrm>
          <a:prstGeom prst="rect">
            <a:avLst/>
          </a:prstGeom>
          <a:solidFill>
            <a:srgbClr val="00AF50">
              <a:alpha val="79998"/>
            </a:srgbClr>
          </a:solidFill>
          <a:ln w="9525">
            <a:solidFill>
              <a:srgbClr val="A4A4A4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314325" marR="303530" indent="152400">
              <a:lnSpc>
                <a:spcPct val="100000"/>
              </a:lnSpc>
              <a:spcBef>
                <a:spcPts val="320"/>
              </a:spcBef>
            </a:pP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“green” namespace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78442" y="3034410"/>
            <a:ext cx="1267460" cy="1384300"/>
          </a:xfrm>
          <a:prstGeom prst="rect">
            <a:avLst/>
          </a:prstGeom>
          <a:solidFill>
            <a:srgbClr val="00AF50">
              <a:alpha val="79998"/>
            </a:srgbClr>
          </a:solidFill>
          <a:ln w="9525">
            <a:solidFill>
              <a:srgbClr val="A4A4A4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UTS</a:t>
            </a:r>
            <a:r>
              <a:rPr dirty="0" sz="1400" spc="-25" b="1">
                <a:solidFill>
                  <a:srgbClr val="FFFFFF"/>
                </a:solidFill>
                <a:latin typeface="Arial"/>
                <a:cs typeface="Arial"/>
              </a:rPr>
              <a:t> NS</a:t>
            </a:r>
            <a:endParaRPr sz="1400">
              <a:latin typeface="Arial"/>
              <a:cs typeface="Arial"/>
            </a:endParaRPr>
          </a:p>
          <a:p>
            <a:pPr algn="ctr" marL="92075" marR="86995" indent="1905">
              <a:lnSpc>
                <a:spcPct val="100699"/>
              </a:lnSpc>
              <a:spcBef>
                <a:spcPts val="1215"/>
              </a:spcBef>
            </a:pPr>
            <a:r>
              <a:rPr dirty="0" sz="1400" spc="-10">
                <a:solidFill>
                  <a:srgbClr val="FFFFFF"/>
                </a:solidFill>
                <a:latin typeface="Consolas"/>
                <a:cs typeface="Consolas"/>
              </a:rPr>
              <a:t>greenhost greenns.org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4525" y="5198745"/>
            <a:ext cx="8519160" cy="1550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395"/>
              </a:lnSpc>
              <a:spcBef>
                <a:spcPts val="100"/>
              </a:spcBef>
            </a:pPr>
            <a:r>
              <a:rPr dirty="0" sz="2000" b="1">
                <a:latin typeface="Calibri"/>
                <a:cs typeface="Calibri"/>
              </a:rPr>
              <a:t>UTS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namespace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about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isolating</a:t>
            </a:r>
            <a:r>
              <a:rPr dirty="0" sz="2000" spc="-10">
                <a:latin typeface="Calibri"/>
                <a:cs typeface="Calibri"/>
              </a:rPr>
              <a:t> hostnames.</a:t>
            </a:r>
            <a:endParaRPr sz="2000">
              <a:latin typeface="Calibri"/>
              <a:cs typeface="Calibri"/>
            </a:endParaRPr>
          </a:p>
          <a:p>
            <a:pPr marL="12700" marR="360045">
              <a:lnSpc>
                <a:spcPts val="2410"/>
              </a:lnSpc>
              <a:spcBef>
                <a:spcPts val="70"/>
              </a:spcBef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UTS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namespace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isolate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two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specific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elements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system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that </a:t>
            </a:r>
            <a:r>
              <a:rPr dirty="0" sz="2000">
                <a:latin typeface="Calibri"/>
                <a:cs typeface="Calibri"/>
              </a:rPr>
              <a:t>relate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uname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system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call.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310"/>
              </a:lnSpc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UTS</a:t>
            </a:r>
            <a:r>
              <a:rPr dirty="0" sz="2000">
                <a:latin typeface="Calibri"/>
                <a:cs typeface="Calibri"/>
              </a:rPr>
              <a:t>(UNIX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Time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Sharing)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namespace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named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after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structure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to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2000">
                <a:latin typeface="Calibri"/>
                <a:cs typeface="Calibri"/>
              </a:rPr>
              <a:t>store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information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returned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uname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system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call.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70002" y="5151381"/>
            <a:ext cx="8953500" cy="1706880"/>
          </a:xfrm>
          <a:custGeom>
            <a:avLst/>
            <a:gdLst/>
            <a:ahLst/>
            <a:cxnLst/>
            <a:rect l="l" t="t" r="r" b="b"/>
            <a:pathLst>
              <a:path w="8953500" h="1706879">
                <a:moveTo>
                  <a:pt x="8953246" y="1706618"/>
                </a:moveTo>
                <a:lnTo>
                  <a:pt x="8953246" y="0"/>
                </a:lnTo>
                <a:lnTo>
                  <a:pt x="0" y="0"/>
                </a:lnTo>
                <a:lnTo>
                  <a:pt x="0" y="1706618"/>
                </a:lnTo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211436" y="4625721"/>
            <a:ext cx="1614170" cy="1991995"/>
          </a:xfrm>
          <a:prstGeom prst="rect">
            <a:avLst/>
          </a:prstGeom>
          <a:solidFill>
            <a:srgbClr val="C00000">
              <a:alpha val="79998"/>
            </a:srgbClr>
          </a:solidFill>
          <a:ln w="9525">
            <a:solidFill>
              <a:srgbClr val="A4A4A4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322580" marR="311785" indent="255904">
              <a:lnSpc>
                <a:spcPct val="100000"/>
              </a:lnSpc>
              <a:spcBef>
                <a:spcPts val="325"/>
              </a:spcBef>
            </a:pP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“red” namespace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83903" y="5121008"/>
            <a:ext cx="1267460" cy="1384300"/>
          </a:xfrm>
          <a:prstGeom prst="rect">
            <a:avLst/>
          </a:prstGeom>
          <a:solidFill>
            <a:srgbClr val="C00000">
              <a:alpha val="79998"/>
            </a:srgbClr>
          </a:solidFill>
          <a:ln w="9525">
            <a:solidFill>
              <a:srgbClr val="A4A4A4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25"/>
              </a:spcBef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UTS</a:t>
            </a:r>
            <a:r>
              <a:rPr dirty="0" sz="1400" spc="-25" b="1">
                <a:solidFill>
                  <a:srgbClr val="FFFFFF"/>
                </a:solidFill>
                <a:latin typeface="Arial"/>
                <a:cs typeface="Arial"/>
              </a:rPr>
              <a:t> NS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225"/>
              </a:spcBef>
            </a:pPr>
            <a:r>
              <a:rPr dirty="0" sz="1400" spc="-10">
                <a:solidFill>
                  <a:srgbClr val="FFFFFF"/>
                </a:solidFill>
                <a:latin typeface="Consolas"/>
                <a:cs typeface="Consolas"/>
              </a:rPr>
              <a:t>redhost</a:t>
            </a:r>
            <a:endParaRPr sz="1400">
              <a:latin typeface="Consolas"/>
              <a:cs typeface="Consolas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400" spc="-10">
                <a:solidFill>
                  <a:srgbClr val="FFFFFF"/>
                </a:solidFill>
                <a:latin typeface="Consolas"/>
                <a:cs typeface="Consolas"/>
              </a:rPr>
              <a:t>redns.com</a:t>
            </a:r>
            <a:endParaRPr sz="1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7892" y="939038"/>
            <a:ext cx="6356984" cy="2189353"/>
          </a:xfrm>
          <a:prstGeom prst="rect">
            <a:avLst/>
          </a:prstGeom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3753" y="34670"/>
            <a:ext cx="2602865" cy="85979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CLOUD</a:t>
            </a:r>
            <a:r>
              <a:rPr dirty="0" sz="2400" spc="-1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395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NET</a:t>
            </a:r>
            <a:r>
              <a:rPr dirty="0" sz="2400" spc="-4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namespace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923" y="1025144"/>
            <a:ext cx="8299450" cy="0"/>
          </a:xfrm>
          <a:custGeom>
            <a:avLst/>
            <a:gdLst/>
            <a:ahLst/>
            <a:cxnLst/>
            <a:rect l="l" t="t" r="r" b="b"/>
            <a:pathLst>
              <a:path w="8299450" h="0">
                <a:moveTo>
                  <a:pt x="0" y="0"/>
                </a:moveTo>
                <a:lnTo>
                  <a:pt x="8299451" y="0"/>
                </a:lnTo>
              </a:path>
            </a:pathLst>
          </a:custGeom>
          <a:ln w="38100">
            <a:solidFill>
              <a:srgbClr val="C55A1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24408" y="965682"/>
            <a:ext cx="9546590" cy="5241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marR="5080" indent="-342900">
              <a:lnSpc>
                <a:spcPct val="120000"/>
              </a:lnSpc>
              <a:spcBef>
                <a:spcPts val="100"/>
              </a:spcBef>
              <a:buSzPct val="69230"/>
              <a:buFont typeface="Arial"/>
              <a:buChar char="•"/>
              <a:tabLst>
                <a:tab pos="354965" algn="l"/>
              </a:tabLst>
            </a:pPr>
            <a:r>
              <a:rPr dirty="0" sz="2600">
                <a:latin typeface="Calibri"/>
                <a:cs typeface="Calibri"/>
              </a:rPr>
              <a:t>It’s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virtual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network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barrier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encapsulating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process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isolate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its </a:t>
            </a:r>
            <a:r>
              <a:rPr dirty="0" sz="2600">
                <a:latin typeface="Calibri"/>
                <a:cs typeface="Calibri"/>
              </a:rPr>
              <a:t>network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connectivity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(in/out)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resources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(i.e.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network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interfaces, </a:t>
            </a:r>
            <a:r>
              <a:rPr dirty="0" sz="2600">
                <a:latin typeface="Calibri"/>
                <a:cs typeface="Calibri"/>
              </a:rPr>
              <a:t>route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tables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rules)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from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linux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core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other</a:t>
            </a:r>
            <a:r>
              <a:rPr dirty="0" sz="2600" spc="-10">
                <a:latin typeface="Calibri"/>
                <a:cs typeface="Calibri"/>
              </a:rPr>
              <a:t> processes.</a:t>
            </a:r>
            <a:endParaRPr sz="2600">
              <a:latin typeface="Calibri"/>
              <a:cs typeface="Calibri"/>
            </a:endParaRPr>
          </a:p>
          <a:p>
            <a:pPr marL="354965" marR="59055" indent="-342900">
              <a:lnSpc>
                <a:spcPct val="120000"/>
              </a:lnSpc>
              <a:buSzPct val="69230"/>
              <a:buFont typeface="Arial"/>
              <a:buChar char="•"/>
              <a:tabLst>
                <a:tab pos="354965" algn="l"/>
              </a:tabLst>
            </a:pPr>
            <a:r>
              <a:rPr dirty="0" sz="2600">
                <a:latin typeface="Calibri"/>
                <a:cs typeface="Calibri"/>
              </a:rPr>
              <a:t>It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allow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processes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inside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each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namespace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instance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have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access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to </a:t>
            </a:r>
            <a:r>
              <a:rPr dirty="0" sz="2600">
                <a:latin typeface="Calibri"/>
                <a:cs typeface="Calibri"/>
              </a:rPr>
              <a:t>per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namespace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network</a:t>
            </a:r>
            <a:r>
              <a:rPr dirty="0" sz="2600" spc="-10">
                <a:latin typeface="Calibri"/>
                <a:cs typeface="Calibri"/>
              </a:rPr>
              <a:t> objects</a:t>
            </a:r>
            <a:endParaRPr sz="2600">
              <a:latin typeface="Calibri"/>
              <a:cs typeface="Calibri"/>
            </a:endParaRPr>
          </a:p>
          <a:p>
            <a:pPr lvl="1" marL="812165" indent="-342265">
              <a:lnSpc>
                <a:spcPct val="100000"/>
              </a:lnSpc>
              <a:spcBef>
                <a:spcPts val="755"/>
              </a:spcBef>
              <a:buSzPct val="69230"/>
              <a:buFont typeface="Arial"/>
              <a:buChar char="•"/>
              <a:tabLst>
                <a:tab pos="812165" algn="l"/>
              </a:tabLst>
            </a:pPr>
            <a:r>
              <a:rPr dirty="0" sz="2600">
                <a:latin typeface="Calibri"/>
                <a:cs typeface="Calibri"/>
              </a:rPr>
              <a:t>Network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devices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(ethernets)</a:t>
            </a:r>
            <a:endParaRPr sz="2600">
              <a:latin typeface="Calibri"/>
              <a:cs typeface="Calibri"/>
            </a:endParaRPr>
          </a:p>
          <a:p>
            <a:pPr lvl="1" marL="812165" indent="-342265">
              <a:lnSpc>
                <a:spcPct val="100000"/>
              </a:lnSpc>
              <a:spcBef>
                <a:spcPts val="495"/>
              </a:spcBef>
              <a:buSzPct val="69230"/>
              <a:buFont typeface="Arial"/>
              <a:buChar char="•"/>
              <a:tabLst>
                <a:tab pos="812165" algn="l"/>
              </a:tabLst>
            </a:pPr>
            <a:r>
              <a:rPr dirty="0" sz="2600" spc="-10">
                <a:latin typeface="Calibri"/>
                <a:cs typeface="Calibri"/>
              </a:rPr>
              <a:t>Bridges</a:t>
            </a:r>
            <a:endParaRPr sz="2600">
              <a:latin typeface="Calibri"/>
              <a:cs typeface="Calibri"/>
            </a:endParaRPr>
          </a:p>
          <a:p>
            <a:pPr lvl="1" marL="812165" indent="-342265">
              <a:lnSpc>
                <a:spcPct val="100000"/>
              </a:lnSpc>
              <a:spcBef>
                <a:spcPts val="505"/>
              </a:spcBef>
              <a:buSzPct val="69230"/>
              <a:buFont typeface="Arial"/>
              <a:buChar char="•"/>
              <a:tabLst>
                <a:tab pos="812165" algn="l"/>
              </a:tabLst>
            </a:pPr>
            <a:r>
              <a:rPr dirty="0" sz="2600">
                <a:latin typeface="Calibri"/>
                <a:cs typeface="Calibri"/>
              </a:rPr>
              <a:t>Routing</a:t>
            </a:r>
            <a:r>
              <a:rPr dirty="0" sz="2600" spc="-10">
                <a:latin typeface="Calibri"/>
                <a:cs typeface="Calibri"/>
              </a:rPr>
              <a:t> tables</a:t>
            </a:r>
            <a:endParaRPr sz="2600">
              <a:latin typeface="Calibri"/>
              <a:cs typeface="Calibri"/>
            </a:endParaRPr>
          </a:p>
          <a:p>
            <a:pPr lvl="1" marL="812165" indent="-342265">
              <a:lnSpc>
                <a:spcPct val="100000"/>
              </a:lnSpc>
              <a:spcBef>
                <a:spcPts val="505"/>
              </a:spcBef>
              <a:buSzPct val="69230"/>
              <a:buFont typeface="Arial"/>
              <a:buChar char="•"/>
              <a:tabLst>
                <a:tab pos="812165" algn="l"/>
              </a:tabLst>
            </a:pPr>
            <a:r>
              <a:rPr dirty="0" sz="2600">
                <a:latin typeface="Calibri"/>
                <a:cs typeface="Calibri"/>
              </a:rPr>
              <a:t>IP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addresses</a:t>
            </a:r>
            <a:endParaRPr sz="2600">
              <a:latin typeface="Calibri"/>
              <a:cs typeface="Calibri"/>
            </a:endParaRPr>
          </a:p>
          <a:p>
            <a:pPr lvl="1" marL="812165" indent="-342265">
              <a:lnSpc>
                <a:spcPct val="100000"/>
              </a:lnSpc>
              <a:spcBef>
                <a:spcPts val="495"/>
              </a:spcBef>
              <a:buSzPct val="69230"/>
              <a:buFont typeface="Arial"/>
              <a:buChar char="•"/>
              <a:tabLst>
                <a:tab pos="812165" algn="l"/>
              </a:tabLst>
            </a:pPr>
            <a:r>
              <a:rPr dirty="0" sz="2600" spc="-10">
                <a:latin typeface="Calibri"/>
                <a:cs typeface="Calibri"/>
              </a:rPr>
              <a:t>ports</a:t>
            </a:r>
            <a:endParaRPr sz="26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875"/>
              </a:spcBef>
              <a:buSzPct val="69230"/>
              <a:buFont typeface="Arial"/>
              <a:buChar char="•"/>
              <a:tabLst>
                <a:tab pos="354965" algn="l"/>
              </a:tabLst>
            </a:pPr>
            <a:r>
              <a:rPr dirty="0" sz="2600">
                <a:latin typeface="Calibri"/>
                <a:cs typeface="Calibri"/>
              </a:rPr>
              <a:t>Various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commands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support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network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namespace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such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as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ip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575925" y="1465452"/>
            <a:ext cx="1415415" cy="1331595"/>
          </a:xfrm>
          <a:prstGeom prst="rect">
            <a:avLst/>
          </a:prstGeom>
          <a:solidFill>
            <a:srgbClr val="1F4E79">
              <a:alpha val="79998"/>
            </a:srgbClr>
          </a:solidFill>
          <a:ln w="9525">
            <a:solidFill>
              <a:srgbClr val="A4A4A4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marL="452120">
              <a:lnSpc>
                <a:spcPct val="100000"/>
              </a:lnSpc>
              <a:spcBef>
                <a:spcPts val="305"/>
              </a:spcBef>
            </a:pP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NET</a:t>
            </a:r>
            <a:r>
              <a:rPr dirty="0" sz="11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25" b="1">
                <a:solidFill>
                  <a:srgbClr val="FFFFFF"/>
                </a:solidFill>
                <a:latin typeface="Arial"/>
                <a:cs typeface="Arial"/>
              </a:rPr>
              <a:t>NS</a:t>
            </a:r>
            <a:endParaRPr sz="110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000">
                <a:solidFill>
                  <a:srgbClr val="FFFFFF"/>
                </a:solidFill>
                <a:latin typeface="Consolas"/>
                <a:cs typeface="Consolas"/>
              </a:rPr>
              <a:t>lo:</a:t>
            </a:r>
            <a:r>
              <a:rPr dirty="0" sz="10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Consolas"/>
                <a:cs typeface="Consolas"/>
              </a:rPr>
              <a:t>UNKNOWN…</a:t>
            </a:r>
            <a:endParaRPr sz="1000">
              <a:latin typeface="Consolas"/>
              <a:cs typeface="Consolas"/>
            </a:endParaRPr>
          </a:p>
          <a:p>
            <a:pPr algn="just" marL="92075" marR="685800">
              <a:lnSpc>
                <a:spcPct val="100000"/>
              </a:lnSpc>
            </a:pPr>
            <a:r>
              <a:rPr dirty="0" sz="1000">
                <a:solidFill>
                  <a:srgbClr val="FFFFFF"/>
                </a:solidFill>
                <a:latin typeface="Consolas"/>
                <a:cs typeface="Consolas"/>
              </a:rPr>
              <a:t>eth0:</a:t>
            </a:r>
            <a:r>
              <a:rPr dirty="0" sz="1000" spc="-25">
                <a:solidFill>
                  <a:srgbClr val="FFFFFF"/>
                </a:solidFill>
                <a:latin typeface="Consolas"/>
                <a:cs typeface="Consolas"/>
              </a:rPr>
              <a:t> UP… </a:t>
            </a:r>
            <a:r>
              <a:rPr dirty="0" sz="1000">
                <a:solidFill>
                  <a:srgbClr val="FFFFFF"/>
                </a:solidFill>
                <a:latin typeface="Consolas"/>
                <a:cs typeface="Consolas"/>
              </a:rPr>
              <a:t>eth1:</a:t>
            </a:r>
            <a:r>
              <a:rPr dirty="0" sz="1000" spc="-25">
                <a:solidFill>
                  <a:srgbClr val="FFFFFF"/>
                </a:solidFill>
                <a:latin typeface="Consolas"/>
                <a:cs typeface="Consolas"/>
              </a:rPr>
              <a:t> UP… </a:t>
            </a:r>
            <a:r>
              <a:rPr dirty="0" sz="1000">
                <a:solidFill>
                  <a:srgbClr val="FFFFFF"/>
                </a:solidFill>
                <a:latin typeface="Consolas"/>
                <a:cs typeface="Consolas"/>
              </a:rPr>
              <a:t>br0:</a:t>
            </a:r>
            <a:r>
              <a:rPr dirty="0" sz="10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FFFFFF"/>
                </a:solidFill>
                <a:latin typeface="Consolas"/>
                <a:cs typeface="Consolas"/>
              </a:rPr>
              <a:t>UP…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Consolas"/>
              <a:cs typeface="Consolas"/>
            </a:endParaRPr>
          </a:p>
          <a:p>
            <a:pPr marL="92075" marR="474980">
              <a:lnSpc>
                <a:spcPct val="100000"/>
              </a:lnSpc>
            </a:pPr>
            <a:r>
              <a:rPr dirty="0" sz="1000">
                <a:solidFill>
                  <a:srgbClr val="FFFFFF"/>
                </a:solidFill>
                <a:latin typeface="Consolas"/>
                <a:cs typeface="Consolas"/>
              </a:rPr>
              <a:t>app1</a:t>
            </a:r>
            <a:r>
              <a:rPr dirty="0" sz="10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Consolas"/>
                <a:cs typeface="Consolas"/>
              </a:rPr>
              <a:t>IP:5000 </a:t>
            </a:r>
            <a:r>
              <a:rPr dirty="0" sz="1000">
                <a:solidFill>
                  <a:srgbClr val="FFFFFF"/>
                </a:solidFill>
                <a:latin typeface="Consolas"/>
                <a:cs typeface="Consolas"/>
              </a:rPr>
              <a:t>app2</a:t>
            </a:r>
            <a:r>
              <a:rPr dirty="0" sz="10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Consolas"/>
                <a:cs typeface="Consolas"/>
              </a:rPr>
              <a:t>IP:6000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79329" y="1025016"/>
            <a:ext cx="1809114" cy="1877695"/>
          </a:xfrm>
          <a:prstGeom prst="rect">
            <a:avLst/>
          </a:prstGeom>
          <a:solidFill>
            <a:srgbClr val="1F4E79">
              <a:alpha val="79998"/>
            </a:srgbClr>
          </a:solidFill>
          <a:ln w="9525">
            <a:solidFill>
              <a:srgbClr val="A4A4A4"/>
            </a:solidFill>
          </a:ln>
        </p:spPr>
        <p:txBody>
          <a:bodyPr wrap="square" lIns="0" tIns="41910" rIns="0" bIns="0" rtlCol="0" vert="horz">
            <a:spAutoFit/>
          </a:bodyPr>
          <a:lstStyle/>
          <a:p>
            <a:pPr marL="523875" marR="304165" indent="-212090">
              <a:lnSpc>
                <a:spcPct val="100000"/>
              </a:lnSpc>
              <a:spcBef>
                <a:spcPts val="330"/>
              </a:spcBef>
            </a:pP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“global”</a:t>
            </a:r>
            <a:r>
              <a:rPr dirty="0" sz="11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(i.e.</a:t>
            </a:r>
            <a:r>
              <a:rPr dirty="0" sz="11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FFFFFF"/>
                </a:solidFill>
                <a:latin typeface="Arial"/>
                <a:cs typeface="Arial"/>
              </a:rPr>
              <a:t>root) namespace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1100">
              <a:latin typeface="Arial"/>
              <a:cs typeface="Arial"/>
            </a:endParaRPr>
          </a:p>
          <a:p>
            <a:pPr marL="288925">
              <a:lnSpc>
                <a:spcPct val="100000"/>
              </a:lnSpc>
            </a:pPr>
            <a:r>
              <a:rPr dirty="0" sz="1000">
                <a:solidFill>
                  <a:srgbClr val="FFFFFF"/>
                </a:solidFill>
                <a:latin typeface="Consolas"/>
                <a:cs typeface="Consolas"/>
              </a:rPr>
              <a:t>app3</a:t>
            </a:r>
            <a:r>
              <a:rPr dirty="0" sz="10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Consolas"/>
                <a:cs typeface="Consolas"/>
              </a:rPr>
              <a:t>IP:7000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62945" y="3003550"/>
            <a:ext cx="1782445" cy="1876425"/>
          </a:xfrm>
          <a:prstGeom prst="rect">
            <a:avLst/>
          </a:prstGeom>
          <a:solidFill>
            <a:srgbClr val="00AF50">
              <a:alpha val="79998"/>
            </a:srgbClr>
          </a:solidFill>
          <a:ln w="9525">
            <a:solidFill>
              <a:srgbClr val="A4A4A4"/>
            </a:solidFill>
          </a:ln>
        </p:spPr>
        <p:txBody>
          <a:bodyPr wrap="square" lIns="0" tIns="41910" rIns="0" bIns="0" rtlCol="0" vert="horz">
            <a:spAutoFit/>
          </a:bodyPr>
          <a:lstStyle/>
          <a:p>
            <a:pPr marL="170180">
              <a:lnSpc>
                <a:spcPct val="100000"/>
              </a:lnSpc>
              <a:spcBef>
                <a:spcPts val="330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“green”</a:t>
            </a:r>
            <a:r>
              <a:rPr dirty="0" sz="12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namespace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575925" y="3480434"/>
            <a:ext cx="1415415" cy="1304925"/>
          </a:xfrm>
          <a:prstGeom prst="rect">
            <a:avLst/>
          </a:prstGeom>
          <a:solidFill>
            <a:srgbClr val="00AF50">
              <a:alpha val="79998"/>
            </a:srgbClr>
          </a:solidFill>
          <a:ln w="9525">
            <a:solidFill>
              <a:srgbClr val="A4A4A4"/>
            </a:solidFill>
          </a:ln>
        </p:spPr>
        <p:txBody>
          <a:bodyPr wrap="square" lIns="0" tIns="41910" rIns="0" bIns="0" rtlCol="0" vert="horz">
            <a:spAutoFit/>
          </a:bodyPr>
          <a:lstStyle/>
          <a:p>
            <a:pPr marL="452120">
              <a:lnSpc>
                <a:spcPct val="100000"/>
              </a:lnSpc>
              <a:spcBef>
                <a:spcPts val="330"/>
              </a:spcBef>
            </a:pP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NET</a:t>
            </a:r>
            <a:r>
              <a:rPr dirty="0" sz="11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25" b="1">
                <a:solidFill>
                  <a:srgbClr val="FFFFFF"/>
                </a:solidFill>
                <a:latin typeface="Arial"/>
                <a:cs typeface="Arial"/>
              </a:rPr>
              <a:t>NS</a:t>
            </a:r>
            <a:endParaRPr sz="110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  <a:spcBef>
                <a:spcPts val="1185"/>
              </a:spcBef>
            </a:pPr>
            <a:r>
              <a:rPr dirty="0" sz="1000">
                <a:solidFill>
                  <a:srgbClr val="FFFFFF"/>
                </a:solidFill>
                <a:latin typeface="Consolas"/>
                <a:cs typeface="Consolas"/>
              </a:rPr>
              <a:t>lo:</a:t>
            </a:r>
            <a:r>
              <a:rPr dirty="0" sz="10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Consolas"/>
                <a:cs typeface="Consolas"/>
              </a:rPr>
              <a:t>UNKNOWN…</a:t>
            </a:r>
            <a:endParaRPr sz="10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000">
                <a:solidFill>
                  <a:srgbClr val="FFFFFF"/>
                </a:solidFill>
                <a:latin typeface="Consolas"/>
                <a:cs typeface="Consolas"/>
              </a:rPr>
              <a:t>eth0:</a:t>
            </a:r>
            <a:r>
              <a:rPr dirty="0" sz="1000" spc="-25">
                <a:solidFill>
                  <a:srgbClr val="FFFFFF"/>
                </a:solidFill>
                <a:latin typeface="Consolas"/>
                <a:cs typeface="Consolas"/>
              </a:rPr>
              <a:t> UP…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Consolas"/>
              <a:cs typeface="Consolas"/>
            </a:endParaRPr>
          </a:p>
          <a:p>
            <a:pPr marL="92075" marR="474980">
              <a:lnSpc>
                <a:spcPct val="100000"/>
              </a:lnSpc>
            </a:pPr>
            <a:r>
              <a:rPr dirty="0" sz="1000">
                <a:solidFill>
                  <a:srgbClr val="FFFFFF"/>
                </a:solidFill>
                <a:latin typeface="Consolas"/>
                <a:cs typeface="Consolas"/>
              </a:rPr>
              <a:t>app1</a:t>
            </a:r>
            <a:r>
              <a:rPr dirty="0" sz="10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Consolas"/>
                <a:cs typeface="Consolas"/>
              </a:rPr>
              <a:t>IP:1000 </a:t>
            </a:r>
            <a:r>
              <a:rPr dirty="0" sz="1000">
                <a:solidFill>
                  <a:srgbClr val="FFFFFF"/>
                </a:solidFill>
                <a:latin typeface="Consolas"/>
                <a:cs typeface="Consolas"/>
              </a:rPr>
              <a:t>app2</a:t>
            </a:r>
            <a:r>
              <a:rPr dirty="0" sz="10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Consolas"/>
                <a:cs typeface="Consolas"/>
              </a:rPr>
              <a:t>IP:7000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389489" y="4980431"/>
            <a:ext cx="1802764" cy="1877695"/>
          </a:xfrm>
          <a:custGeom>
            <a:avLst/>
            <a:gdLst/>
            <a:ahLst/>
            <a:cxnLst/>
            <a:rect l="l" t="t" r="r" b="b"/>
            <a:pathLst>
              <a:path w="1802765" h="1877695">
                <a:moveTo>
                  <a:pt x="1802510" y="0"/>
                </a:moveTo>
                <a:lnTo>
                  <a:pt x="0" y="0"/>
                </a:lnTo>
                <a:lnTo>
                  <a:pt x="0" y="1877567"/>
                </a:lnTo>
                <a:lnTo>
                  <a:pt x="1802510" y="1877567"/>
                </a:lnTo>
                <a:lnTo>
                  <a:pt x="1802510" y="0"/>
                </a:lnTo>
                <a:close/>
              </a:path>
            </a:pathLst>
          </a:custGeom>
          <a:solidFill>
            <a:srgbClr val="C00000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389489" y="4980431"/>
            <a:ext cx="1802764" cy="1877695"/>
          </a:xfrm>
          <a:prstGeom prst="rect">
            <a:avLst/>
          </a:prstGeom>
          <a:ln w="9525">
            <a:solidFill>
              <a:srgbClr val="A4A4A4"/>
            </a:solidFill>
          </a:ln>
        </p:spPr>
        <p:txBody>
          <a:bodyPr wrap="square" lIns="0" tIns="42544" rIns="0" bIns="0" rtlCol="0" vert="horz">
            <a:spAutoFit/>
          </a:bodyPr>
          <a:lstStyle/>
          <a:p>
            <a:pPr marL="270510">
              <a:lnSpc>
                <a:spcPct val="100000"/>
              </a:lnSpc>
              <a:spcBef>
                <a:spcPts val="334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“red”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namespace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582020" y="5447365"/>
            <a:ext cx="1415415" cy="1304925"/>
          </a:xfrm>
          <a:custGeom>
            <a:avLst/>
            <a:gdLst/>
            <a:ahLst/>
            <a:cxnLst/>
            <a:rect l="l" t="t" r="r" b="b"/>
            <a:pathLst>
              <a:path w="1415415" h="1304925">
                <a:moveTo>
                  <a:pt x="1415415" y="0"/>
                </a:moveTo>
                <a:lnTo>
                  <a:pt x="0" y="0"/>
                </a:lnTo>
                <a:lnTo>
                  <a:pt x="0" y="1304671"/>
                </a:lnTo>
                <a:lnTo>
                  <a:pt x="1415415" y="1304671"/>
                </a:lnTo>
                <a:lnTo>
                  <a:pt x="1415415" y="0"/>
                </a:lnTo>
                <a:close/>
              </a:path>
            </a:pathLst>
          </a:custGeom>
          <a:solidFill>
            <a:srgbClr val="C00000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0582020" y="5447365"/>
            <a:ext cx="1415415" cy="1304925"/>
          </a:xfrm>
          <a:prstGeom prst="rect">
            <a:avLst/>
          </a:prstGeom>
          <a:solidFill>
            <a:srgbClr val="C00000">
              <a:alpha val="79998"/>
            </a:srgbClr>
          </a:solidFill>
          <a:ln w="9525">
            <a:solidFill>
              <a:srgbClr val="A4A4A4"/>
            </a:solidFill>
          </a:ln>
        </p:spPr>
        <p:txBody>
          <a:bodyPr wrap="square" lIns="0" tIns="42545" rIns="0" bIns="0" rtlCol="0" vert="horz">
            <a:spAutoFit/>
          </a:bodyPr>
          <a:lstStyle/>
          <a:p>
            <a:pPr marL="452120">
              <a:lnSpc>
                <a:spcPct val="100000"/>
              </a:lnSpc>
              <a:spcBef>
                <a:spcPts val="335"/>
              </a:spcBef>
            </a:pP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NET</a:t>
            </a:r>
            <a:r>
              <a:rPr dirty="0" sz="11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25" b="1">
                <a:solidFill>
                  <a:srgbClr val="FFFFFF"/>
                </a:solidFill>
                <a:latin typeface="Arial"/>
                <a:cs typeface="Arial"/>
              </a:rPr>
              <a:t>NS</a:t>
            </a:r>
            <a:endParaRPr sz="110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  <a:spcBef>
                <a:spcPts val="1060"/>
              </a:spcBef>
            </a:pPr>
            <a:r>
              <a:rPr dirty="0" sz="1000">
                <a:solidFill>
                  <a:srgbClr val="FFFFFF"/>
                </a:solidFill>
                <a:latin typeface="Consolas"/>
                <a:cs typeface="Consolas"/>
              </a:rPr>
              <a:t>lo:</a:t>
            </a:r>
            <a:r>
              <a:rPr dirty="0" sz="10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Consolas"/>
                <a:cs typeface="Consolas"/>
              </a:rPr>
              <a:t>UNKNOWN…</a:t>
            </a:r>
            <a:endParaRPr sz="10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000">
                <a:solidFill>
                  <a:srgbClr val="FFFFFF"/>
                </a:solidFill>
                <a:latin typeface="Consolas"/>
                <a:cs typeface="Consolas"/>
              </a:rPr>
              <a:t>eth0:</a:t>
            </a:r>
            <a:r>
              <a:rPr dirty="0" sz="10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FFFFFF"/>
                </a:solidFill>
                <a:latin typeface="Consolas"/>
                <a:cs typeface="Consolas"/>
              </a:rPr>
              <a:t>DOWN…</a:t>
            </a:r>
            <a:endParaRPr sz="10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000">
                <a:solidFill>
                  <a:srgbClr val="FFFFFF"/>
                </a:solidFill>
                <a:latin typeface="Consolas"/>
                <a:cs typeface="Consolas"/>
              </a:rPr>
              <a:t>eth1:</a:t>
            </a:r>
            <a:r>
              <a:rPr dirty="0" sz="1000" spc="-25">
                <a:solidFill>
                  <a:srgbClr val="FFFFFF"/>
                </a:solidFill>
                <a:latin typeface="Consolas"/>
                <a:cs typeface="Consolas"/>
              </a:rPr>
              <a:t> UP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Consolas"/>
              <a:cs typeface="Consolas"/>
            </a:endParaRPr>
          </a:p>
          <a:p>
            <a:pPr marL="92075" marR="474980">
              <a:lnSpc>
                <a:spcPct val="100000"/>
              </a:lnSpc>
              <a:spcBef>
                <a:spcPts val="5"/>
              </a:spcBef>
            </a:pPr>
            <a:r>
              <a:rPr dirty="0" sz="1000">
                <a:solidFill>
                  <a:srgbClr val="FFFFFF"/>
                </a:solidFill>
                <a:latin typeface="Consolas"/>
                <a:cs typeface="Consolas"/>
              </a:rPr>
              <a:t>app1</a:t>
            </a:r>
            <a:r>
              <a:rPr dirty="0" sz="10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Consolas"/>
                <a:cs typeface="Consolas"/>
              </a:rPr>
              <a:t>IP:7000 </a:t>
            </a:r>
            <a:r>
              <a:rPr dirty="0" sz="1000">
                <a:solidFill>
                  <a:srgbClr val="FFFFFF"/>
                </a:solidFill>
                <a:latin typeface="Consolas"/>
                <a:cs typeface="Consolas"/>
              </a:rPr>
              <a:t>app2</a:t>
            </a:r>
            <a:r>
              <a:rPr dirty="0" sz="10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Consolas"/>
                <a:cs typeface="Consolas"/>
              </a:rPr>
              <a:t>IP:9000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8716" y="210438"/>
            <a:ext cx="11108690" cy="6437630"/>
            <a:chOff x="598716" y="210438"/>
            <a:chExt cx="11108690" cy="64376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8716" y="210438"/>
              <a:ext cx="8551926" cy="321856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48556" y="2721508"/>
              <a:ext cx="7758683" cy="392607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41473"/>
            <a:ext cx="12191999" cy="2575052"/>
          </a:xfrm>
          <a:prstGeom prst="rect">
            <a:avLst/>
          </a:prstGeom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19939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0660">
              <a:lnSpc>
                <a:spcPct val="100000"/>
              </a:lnSpc>
              <a:spcBef>
                <a:spcPts val="355"/>
              </a:spcBef>
            </a:pPr>
            <a:r>
              <a:rPr dirty="0" spc="-25">
                <a:solidFill>
                  <a:srgbClr val="C55A11"/>
                </a:solidFill>
                <a:latin typeface="Arial"/>
                <a:cs typeface="Arial"/>
              </a:rPr>
              <a:t>NET</a:t>
            </a:r>
          </a:p>
        </p:txBody>
      </p:sp>
      <p:sp>
        <p:nvSpPr>
          <p:cNvPr id="6" name="object 6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" name="object 2"/>
          <p:cNvGrpSpPr/>
          <p:nvPr/>
        </p:nvGrpSpPr>
        <p:grpSpPr>
          <a:xfrm>
            <a:off x="4712588" y="2105977"/>
            <a:ext cx="7349490" cy="4295140"/>
            <a:chOff x="4712588" y="2105977"/>
            <a:chExt cx="7349490" cy="42951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12588" y="2344232"/>
              <a:ext cx="4151389" cy="4056785"/>
            </a:xfrm>
            <a:prstGeom prst="rect">
              <a:avLst/>
            </a:prstGeom>
          </p:spPr>
        </p:pic>
        <p:pic>
          <p:nvPicPr>
            <p:cNvPr id="4" name="object 4" descr="https://developers.redhat.com/blog/wp-content/uploads/2018/10/veth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74505" y="2105977"/>
              <a:ext cx="3187446" cy="420214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24764" y="1341307"/>
            <a:ext cx="11807825" cy="5443220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483870" indent="-359410">
              <a:lnSpc>
                <a:spcPct val="100000"/>
              </a:lnSpc>
              <a:spcBef>
                <a:spcPts val="335"/>
              </a:spcBef>
              <a:buClr>
                <a:srgbClr val="833B0A"/>
              </a:buClr>
              <a:buChar char="▪"/>
              <a:tabLst>
                <a:tab pos="483870" algn="l"/>
              </a:tabLst>
            </a:pP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VETH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(virtual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Ethernet)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configuration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shown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when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namespaces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need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communicate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</a:t>
            </a:r>
            <a:endParaRPr sz="2000">
              <a:latin typeface="Calibri"/>
              <a:cs typeface="Calibri"/>
            </a:endParaRPr>
          </a:p>
          <a:p>
            <a:pPr marL="484505">
              <a:lnSpc>
                <a:spcPct val="100000"/>
              </a:lnSpc>
              <a:spcBef>
                <a:spcPts val="240"/>
              </a:spcBef>
            </a:pPr>
            <a:r>
              <a:rPr dirty="0" sz="2000">
                <a:latin typeface="Calibri"/>
                <a:cs typeface="Calibri"/>
              </a:rPr>
              <a:t>main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host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namespace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between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each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other.</a:t>
            </a:r>
            <a:endParaRPr sz="2000">
              <a:latin typeface="Calibri"/>
              <a:cs typeface="Calibri"/>
            </a:endParaRPr>
          </a:p>
          <a:p>
            <a:pPr marL="483870" indent="-359410">
              <a:lnSpc>
                <a:spcPct val="100000"/>
              </a:lnSpc>
              <a:spcBef>
                <a:spcPts val="840"/>
              </a:spcBef>
              <a:buClr>
                <a:srgbClr val="833B0A"/>
              </a:buClr>
              <a:buChar char="▪"/>
              <a:tabLst>
                <a:tab pos="483870" algn="l"/>
              </a:tabLst>
            </a:pPr>
            <a:r>
              <a:rPr dirty="0" sz="2000">
                <a:latin typeface="Calibri"/>
                <a:cs typeface="Calibri"/>
              </a:rPr>
              <a:t>veths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–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create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veth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pair,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move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inside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namespace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configure</a:t>
            </a:r>
            <a:endParaRPr sz="2000">
              <a:latin typeface="Calibri"/>
              <a:cs typeface="Calibri"/>
            </a:endParaRPr>
          </a:p>
          <a:p>
            <a:pPr marL="484505" marR="8344534" indent="-360045">
              <a:lnSpc>
                <a:spcPct val="110000"/>
              </a:lnSpc>
              <a:spcBef>
                <a:spcPts val="600"/>
              </a:spcBef>
              <a:buClr>
                <a:srgbClr val="833B0A"/>
              </a:buClr>
              <a:buChar char="▪"/>
              <a:tabLst>
                <a:tab pos="484505" algn="l"/>
              </a:tabLst>
            </a:pPr>
            <a:r>
              <a:rPr dirty="0" sz="2000">
                <a:latin typeface="Calibri"/>
                <a:cs typeface="Calibri"/>
              </a:rPr>
              <a:t>Acts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pipe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between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50">
                <a:latin typeface="Calibri"/>
                <a:cs typeface="Calibri"/>
              </a:rPr>
              <a:t>2 </a:t>
            </a:r>
            <a:r>
              <a:rPr dirty="0" sz="2000" spc="-10">
                <a:latin typeface="Calibri"/>
                <a:cs typeface="Calibri"/>
              </a:rPr>
              <a:t>namespaces</a:t>
            </a:r>
            <a:endParaRPr sz="2000">
              <a:latin typeface="Calibri"/>
              <a:cs typeface="Calibri"/>
            </a:endParaRPr>
          </a:p>
          <a:p>
            <a:pPr marL="483870" indent="-359410">
              <a:lnSpc>
                <a:spcPct val="100000"/>
              </a:lnSpc>
              <a:spcBef>
                <a:spcPts val="840"/>
              </a:spcBef>
              <a:buClr>
                <a:srgbClr val="833B0A"/>
              </a:buClr>
              <a:buChar char="▪"/>
              <a:tabLst>
                <a:tab pos="483870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VETH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(virtual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Ethernet)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device</a:t>
            </a:r>
            <a:endParaRPr sz="2000">
              <a:latin typeface="Calibri"/>
              <a:cs typeface="Calibri"/>
            </a:endParaRPr>
          </a:p>
          <a:p>
            <a:pPr marL="484505">
              <a:lnSpc>
                <a:spcPct val="100000"/>
              </a:lnSpc>
              <a:spcBef>
                <a:spcPts val="245"/>
              </a:spcBef>
            </a:pP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local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Ethernet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tunnel.</a:t>
            </a:r>
            <a:endParaRPr sz="2000">
              <a:latin typeface="Calibri"/>
              <a:cs typeface="Calibri"/>
            </a:endParaRPr>
          </a:p>
          <a:p>
            <a:pPr algn="just" marL="481965" indent="-357505">
              <a:lnSpc>
                <a:spcPct val="100000"/>
              </a:lnSpc>
              <a:spcBef>
                <a:spcPts val="840"/>
              </a:spcBef>
              <a:buClr>
                <a:srgbClr val="833B0A"/>
              </a:buClr>
              <a:buChar char="▪"/>
              <a:tabLst>
                <a:tab pos="481965" algn="l"/>
              </a:tabLst>
            </a:pPr>
            <a:r>
              <a:rPr dirty="0" sz="2000">
                <a:latin typeface="Calibri"/>
                <a:cs typeface="Calibri"/>
              </a:rPr>
              <a:t>Devices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created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pairs</a:t>
            </a:r>
            <a:endParaRPr sz="2000">
              <a:latin typeface="Calibri"/>
              <a:cs typeface="Calibri"/>
            </a:endParaRPr>
          </a:p>
          <a:p>
            <a:pPr algn="just" marL="482600" marR="7494270" indent="-358140">
              <a:lnSpc>
                <a:spcPct val="110100"/>
              </a:lnSpc>
              <a:spcBef>
                <a:spcPts val="595"/>
              </a:spcBef>
              <a:buClr>
                <a:srgbClr val="833B0A"/>
              </a:buClr>
              <a:buChar char="▪"/>
              <a:tabLst>
                <a:tab pos="484505" algn="l"/>
              </a:tabLst>
            </a:pPr>
            <a:r>
              <a:rPr dirty="0" sz="2000">
                <a:latin typeface="Calibri"/>
                <a:cs typeface="Calibri"/>
              </a:rPr>
              <a:t>Packets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transmitted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device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in </a:t>
            </a:r>
            <a:r>
              <a:rPr dirty="0" sz="2000" spc="-25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pair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immediately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received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on </a:t>
            </a:r>
            <a:r>
              <a:rPr dirty="0" sz="2000" spc="-25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other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device.</a:t>
            </a:r>
            <a:endParaRPr sz="2000">
              <a:latin typeface="Calibri"/>
              <a:cs typeface="Calibri"/>
            </a:endParaRPr>
          </a:p>
          <a:p>
            <a:pPr algn="just" marL="481965" indent="-357505">
              <a:lnSpc>
                <a:spcPct val="100000"/>
              </a:lnSpc>
              <a:spcBef>
                <a:spcPts val="840"/>
              </a:spcBef>
              <a:buClr>
                <a:srgbClr val="833B0A"/>
              </a:buClr>
              <a:buChar char="▪"/>
              <a:tabLst>
                <a:tab pos="481965" algn="l"/>
              </a:tabLst>
            </a:pPr>
            <a:r>
              <a:rPr dirty="0" sz="2000">
                <a:latin typeface="Calibri"/>
                <a:cs typeface="Calibri"/>
              </a:rPr>
              <a:t>When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either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device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down,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link</a:t>
            </a:r>
            <a:endParaRPr sz="2000">
              <a:latin typeface="Calibri"/>
              <a:cs typeface="Calibri"/>
            </a:endParaRPr>
          </a:p>
          <a:p>
            <a:pPr algn="just" marL="484505">
              <a:lnSpc>
                <a:spcPct val="100000"/>
              </a:lnSpc>
              <a:spcBef>
                <a:spcPts val="240"/>
              </a:spcBef>
            </a:pPr>
            <a:r>
              <a:rPr dirty="0" sz="2000">
                <a:latin typeface="Calibri"/>
                <a:cs typeface="Calibri"/>
              </a:rPr>
              <a:t>state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pair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down.</a:t>
            </a:r>
            <a:endParaRPr sz="2000">
              <a:latin typeface="Calibri"/>
              <a:cs typeface="Calibri"/>
            </a:endParaRPr>
          </a:p>
          <a:p>
            <a:pPr marL="12700" marR="4850130">
              <a:lnSpc>
                <a:spcPct val="100000"/>
              </a:lnSpc>
              <a:spcBef>
                <a:spcPts val="1375"/>
              </a:spcBef>
            </a:pPr>
            <a:r>
              <a:rPr dirty="0" sz="1400" spc="-10">
                <a:latin typeface="Arial"/>
                <a:cs typeface="Arial"/>
                <a:hlinkClick r:id="rId4"/>
              </a:rPr>
              <a:t>https://developers.redhat.com/blog/2018/10/22/introduction-to-linux-interfaces-for-</a:t>
            </a:r>
            <a:r>
              <a:rPr dirty="0" sz="1400">
                <a:latin typeface="Arial"/>
                <a:cs typeface="Arial"/>
                <a:hlinkClick r:id="rId4"/>
              </a:rPr>
              <a:t>virtual-</a:t>
            </a:r>
            <a:r>
              <a:rPr dirty="0" sz="1400" spc="-10">
                <a:latin typeface="Arial"/>
                <a:cs typeface="Arial"/>
              </a:rPr>
              <a:t>networking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30530" y="-701"/>
            <a:ext cx="5399405" cy="847090"/>
          </a:xfrm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86360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Filesystem</a:t>
            </a:r>
            <a:r>
              <a:rPr dirty="0" spc="-1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root</a:t>
            </a:r>
            <a:r>
              <a:rPr dirty="0" spc="-3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-</a:t>
            </a:r>
            <a:r>
              <a:rPr dirty="0" spc="-4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chroot</a:t>
            </a:r>
            <a:r>
              <a:rPr dirty="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name</a:t>
            </a:r>
            <a:r>
              <a:rPr dirty="0" spc="-4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space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979169"/>
            <a:ext cx="8299450" cy="0"/>
          </a:xfrm>
          <a:custGeom>
            <a:avLst/>
            <a:gdLst/>
            <a:ahLst/>
            <a:cxnLst/>
            <a:rect l="l" t="t" r="r" b="b"/>
            <a:pathLst>
              <a:path w="8299450" h="0">
                <a:moveTo>
                  <a:pt x="0" y="0"/>
                </a:moveTo>
                <a:lnTo>
                  <a:pt x="8299450" y="0"/>
                </a:lnTo>
              </a:path>
            </a:pathLst>
          </a:custGeom>
          <a:ln w="38100">
            <a:solidFill>
              <a:srgbClr val="C55A1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93039" y="1004735"/>
            <a:ext cx="7620634" cy="31718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84"/>
              </a:spcBef>
              <a:buSzPct val="105882"/>
              <a:buFont typeface="Arial"/>
              <a:buChar char="•"/>
              <a:tabLst>
                <a:tab pos="354965" algn="l"/>
              </a:tabLst>
            </a:pP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OS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has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-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file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system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started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at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 spc="-20">
                <a:latin typeface="Calibri"/>
                <a:cs typeface="Calibri"/>
              </a:rPr>
              <a:t>root</a:t>
            </a:r>
            <a:endParaRPr sz="1700">
              <a:latin typeface="Calibri"/>
              <a:cs typeface="Calibri"/>
            </a:endParaRPr>
          </a:p>
          <a:p>
            <a:pPr lvl="1" marL="812165" indent="-342265">
              <a:lnSpc>
                <a:spcPct val="100000"/>
              </a:lnSpc>
              <a:spcBef>
                <a:spcPts val="505"/>
              </a:spcBef>
              <a:buSzPct val="105882"/>
              <a:buFont typeface="Arial"/>
              <a:buChar char="•"/>
              <a:tabLst>
                <a:tab pos="812165" algn="l"/>
              </a:tabLst>
            </a:pPr>
            <a:r>
              <a:rPr dirty="0" sz="1700">
                <a:latin typeface="Calibri"/>
                <a:cs typeface="Calibri"/>
              </a:rPr>
              <a:t>/bin,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so</a:t>
            </a:r>
            <a:r>
              <a:rPr dirty="0" sz="1700" spc="-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on,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contain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programs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libraries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SzPct val="105882"/>
              <a:buFont typeface="Arial"/>
              <a:buChar char="•"/>
              <a:tabLst>
                <a:tab pos="354965" algn="l"/>
              </a:tabLst>
            </a:pPr>
            <a:r>
              <a:rPr dirty="0" sz="1700">
                <a:latin typeface="Calibri"/>
                <a:cs typeface="Calibri"/>
              </a:rPr>
              <a:t>If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you</a:t>
            </a:r>
            <a:r>
              <a:rPr dirty="0" sz="1700" spc="-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want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run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program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which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uses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different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version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/bin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so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on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SzPct val="105882"/>
              <a:buFont typeface="Arial"/>
              <a:buChar char="•"/>
              <a:tabLst>
                <a:tab pos="354965" algn="l"/>
              </a:tabLst>
            </a:pPr>
            <a:r>
              <a:rPr dirty="0" sz="1700">
                <a:latin typeface="Calibri"/>
                <a:cs typeface="Calibri"/>
              </a:rPr>
              <a:t>This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can</a:t>
            </a:r>
            <a:r>
              <a:rPr dirty="0" sz="1700" spc="-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be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achieved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using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chroot</a:t>
            </a:r>
            <a:endParaRPr sz="1700">
              <a:latin typeface="Calibri"/>
              <a:cs typeface="Calibri"/>
            </a:endParaRPr>
          </a:p>
          <a:p>
            <a:pPr lvl="1" marL="812165" indent="-342265">
              <a:lnSpc>
                <a:spcPct val="100000"/>
              </a:lnSpc>
              <a:spcBef>
                <a:spcPts val="505"/>
              </a:spcBef>
              <a:buSzPct val="105882"/>
              <a:buFont typeface="Arial"/>
              <a:buChar char="•"/>
              <a:tabLst>
                <a:tab pos="812165" algn="l"/>
              </a:tabLst>
            </a:pPr>
            <a:r>
              <a:rPr dirty="0" sz="1700">
                <a:latin typeface="Calibri"/>
                <a:cs typeface="Calibri"/>
              </a:rPr>
              <a:t>Mount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new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/bin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on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some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place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(say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/mnt)</a:t>
            </a:r>
            <a:endParaRPr sz="1700">
              <a:latin typeface="Calibri"/>
              <a:cs typeface="Calibri"/>
            </a:endParaRPr>
          </a:p>
          <a:p>
            <a:pPr lvl="1" marL="812165" indent="-342265">
              <a:lnSpc>
                <a:spcPct val="100000"/>
              </a:lnSpc>
              <a:spcBef>
                <a:spcPts val="505"/>
              </a:spcBef>
              <a:buSzPct val="105882"/>
              <a:buFont typeface="Arial"/>
              <a:buChar char="•"/>
              <a:tabLst>
                <a:tab pos="812165" algn="l"/>
              </a:tabLst>
            </a:pPr>
            <a:r>
              <a:rPr dirty="0" sz="1700">
                <a:latin typeface="Calibri"/>
                <a:cs typeface="Calibri"/>
              </a:rPr>
              <a:t>Issue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chroot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/mnt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 spc="-10" i="1">
                <a:latin typeface="Calibri"/>
                <a:cs typeface="Calibri"/>
              </a:rPr>
              <a:t>command</a:t>
            </a:r>
            <a:endParaRPr sz="1700">
              <a:latin typeface="Calibri"/>
              <a:cs typeface="Calibri"/>
            </a:endParaRPr>
          </a:p>
          <a:p>
            <a:pPr lvl="1" marL="812165" indent="-342265">
              <a:lnSpc>
                <a:spcPct val="100000"/>
              </a:lnSpc>
              <a:spcBef>
                <a:spcPts val="490"/>
              </a:spcBef>
              <a:buSzPct val="105882"/>
              <a:buFont typeface="Arial"/>
              <a:buChar char="•"/>
              <a:tabLst>
                <a:tab pos="812165" algn="l"/>
              </a:tabLst>
            </a:pPr>
            <a:r>
              <a:rPr dirty="0" sz="1700" i="1">
                <a:latin typeface="Calibri"/>
                <a:cs typeface="Calibri"/>
              </a:rPr>
              <a:t>command</a:t>
            </a:r>
            <a:r>
              <a:rPr dirty="0" sz="1700" spc="-10" i="1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will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then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see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root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as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/mnt,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not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real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 spc="-20">
                <a:latin typeface="Calibri"/>
                <a:cs typeface="Calibri"/>
              </a:rPr>
              <a:t>root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010"/>
              </a:spcBef>
              <a:buSzPct val="105882"/>
              <a:buFont typeface="Arial"/>
              <a:buChar char="•"/>
              <a:tabLst>
                <a:tab pos="354965" algn="l"/>
              </a:tabLst>
            </a:pPr>
            <a:r>
              <a:rPr dirty="0" sz="1700">
                <a:latin typeface="Calibri"/>
                <a:cs typeface="Calibri"/>
              </a:rPr>
              <a:t>Using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this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technique,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can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give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each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process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on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system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its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own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file</a:t>
            </a:r>
            <a:r>
              <a:rPr dirty="0" sz="1700" spc="-10">
                <a:latin typeface="Calibri"/>
                <a:cs typeface="Calibri"/>
              </a:rPr>
              <a:t> system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SzPct val="105882"/>
              <a:buFont typeface="Arial"/>
              <a:buChar char="•"/>
              <a:tabLst>
                <a:tab pos="354965" algn="l"/>
              </a:tabLst>
            </a:pPr>
            <a:r>
              <a:rPr dirty="0" sz="1700">
                <a:latin typeface="Calibri"/>
                <a:cs typeface="Calibri"/>
              </a:rPr>
              <a:t>Changes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root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directory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for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currently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running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processes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as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well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as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it</a:t>
            </a:r>
            <a:r>
              <a:rPr dirty="0" sz="1700" spc="-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children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for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15706" y="1137158"/>
            <a:ext cx="4197477" cy="229184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18236" y="4164988"/>
            <a:ext cx="2082800" cy="784225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marL="372110" indent="-359410">
              <a:lnSpc>
                <a:spcPct val="100000"/>
              </a:lnSpc>
              <a:spcBef>
                <a:spcPts val="960"/>
              </a:spcBef>
              <a:buSzPct val="105882"/>
              <a:buFont typeface="Arial"/>
              <a:buChar char="•"/>
              <a:tabLst>
                <a:tab pos="372110" algn="l"/>
              </a:tabLst>
            </a:pPr>
            <a:r>
              <a:rPr dirty="0" sz="1700">
                <a:latin typeface="Calibri"/>
                <a:cs typeface="Calibri"/>
              </a:rPr>
              <a:t>Search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 spc="-20">
                <a:latin typeface="Calibri"/>
                <a:cs typeface="Calibri"/>
              </a:rPr>
              <a:t>paths</a:t>
            </a:r>
            <a:endParaRPr sz="17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1010"/>
              </a:spcBef>
              <a:buSzPct val="105882"/>
              <a:buFont typeface="Arial"/>
              <a:buChar char="•"/>
              <a:tabLst>
                <a:tab pos="372110" algn="l"/>
              </a:tabLst>
            </a:pPr>
            <a:r>
              <a:rPr dirty="0" sz="1700">
                <a:latin typeface="Calibri"/>
                <a:cs typeface="Calibri"/>
              </a:rPr>
              <a:t>Relative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directories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3039" y="5046979"/>
            <a:ext cx="7245984" cy="54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SzPct val="105882"/>
              <a:buFont typeface="Arial"/>
              <a:buChar char="•"/>
              <a:tabLst>
                <a:tab pos="355600" algn="l"/>
              </a:tabLst>
            </a:pPr>
            <a:r>
              <a:rPr dirty="0" sz="1700">
                <a:latin typeface="Calibri"/>
                <a:cs typeface="Calibri"/>
              </a:rPr>
              <a:t>Using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chroot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can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be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escaped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given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proper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capabilities,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thus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pivot_root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is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often </a:t>
            </a:r>
            <a:r>
              <a:rPr dirty="0" sz="1700">
                <a:latin typeface="Calibri"/>
                <a:cs typeface="Calibri"/>
              </a:rPr>
              <a:t>used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instead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5000" y="5582562"/>
            <a:ext cx="7315834" cy="1169670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60"/>
              </a:spcBef>
              <a:buSzPct val="105882"/>
              <a:buFont typeface="Arial"/>
              <a:buChar char="•"/>
              <a:tabLst>
                <a:tab pos="354965" algn="l"/>
              </a:tabLst>
            </a:pPr>
            <a:r>
              <a:rPr dirty="0" sz="1700">
                <a:latin typeface="Calibri"/>
                <a:cs typeface="Calibri"/>
              </a:rPr>
              <a:t>chroot;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points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processes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file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system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root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new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directory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010"/>
              </a:spcBef>
              <a:buSzPct val="105882"/>
              <a:buFont typeface="Arial"/>
              <a:buChar char="•"/>
              <a:tabLst>
                <a:tab pos="354965" algn="l"/>
              </a:tabLst>
            </a:pPr>
            <a:r>
              <a:rPr dirty="0" sz="1700">
                <a:latin typeface="Calibri"/>
                <a:cs typeface="Calibri"/>
              </a:rPr>
              <a:t>pivot_root;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detaches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new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root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attaches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it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process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root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directory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SzPct val="105882"/>
              <a:buFont typeface="Arial"/>
              <a:buChar char="•"/>
              <a:tabLst>
                <a:tab pos="354965" algn="l"/>
              </a:tabLst>
            </a:pPr>
            <a:r>
              <a:rPr dirty="0" sz="1700">
                <a:latin typeface="Calibri"/>
                <a:cs typeface="Calibri"/>
              </a:rPr>
              <a:t>pivot_root</a:t>
            </a:r>
            <a:r>
              <a:rPr dirty="0" sz="1700" spc="40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info</a:t>
            </a:r>
            <a:r>
              <a:rPr dirty="0" sz="1700" spc="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at</a:t>
            </a:r>
            <a:r>
              <a:rPr dirty="0" sz="1700" spc="2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  <a:hlinkClick r:id="rId3"/>
              </a:rPr>
              <a:t>https://man7.org/linux/man-pages/man8/pivot_root.8.html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38440" y="4320806"/>
            <a:ext cx="4290695" cy="1558290"/>
          </a:xfrm>
          <a:prstGeom prst="rect">
            <a:avLst/>
          </a:prstGeom>
          <a:solidFill>
            <a:srgbClr val="FFD966"/>
          </a:solidFill>
        </p:spPr>
        <p:txBody>
          <a:bodyPr wrap="square" lIns="0" tIns="6350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500"/>
              </a:spcBef>
            </a:pPr>
            <a:r>
              <a:rPr dirty="0" sz="1700">
                <a:latin typeface="Calibri"/>
                <a:cs typeface="Calibri"/>
              </a:rPr>
              <a:t>Often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used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when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building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system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images</a:t>
            </a:r>
            <a:endParaRPr sz="1700">
              <a:latin typeface="Calibri"/>
              <a:cs typeface="Calibri"/>
            </a:endParaRPr>
          </a:p>
          <a:p>
            <a:pPr marL="378460" indent="-286385">
              <a:lnSpc>
                <a:spcPct val="100000"/>
              </a:lnSpc>
              <a:spcBef>
                <a:spcPts val="1010"/>
              </a:spcBef>
              <a:buChar char="▪"/>
              <a:tabLst>
                <a:tab pos="378460" algn="l"/>
              </a:tabLst>
            </a:pPr>
            <a:r>
              <a:rPr dirty="0" sz="1700">
                <a:latin typeface="Calibri"/>
                <a:cs typeface="Calibri"/>
              </a:rPr>
              <a:t>chroot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temp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directory</a:t>
            </a:r>
            <a:endParaRPr sz="1700">
              <a:latin typeface="Calibri"/>
              <a:cs typeface="Calibri"/>
            </a:endParaRPr>
          </a:p>
          <a:p>
            <a:pPr marL="378460" indent="-286385">
              <a:lnSpc>
                <a:spcPct val="100000"/>
              </a:lnSpc>
              <a:spcBef>
                <a:spcPts val="1010"/>
              </a:spcBef>
              <a:buChar char="▪"/>
              <a:tabLst>
                <a:tab pos="378460" algn="l"/>
              </a:tabLst>
            </a:pPr>
            <a:r>
              <a:rPr dirty="0" sz="1700">
                <a:latin typeface="Calibri"/>
                <a:cs typeface="Calibri"/>
              </a:rPr>
              <a:t>Download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install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packages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chroot</a:t>
            </a:r>
            <a:endParaRPr sz="1700">
              <a:latin typeface="Calibri"/>
              <a:cs typeface="Calibri"/>
            </a:endParaRPr>
          </a:p>
          <a:p>
            <a:pPr marL="378460" indent="-286385">
              <a:lnSpc>
                <a:spcPct val="100000"/>
              </a:lnSpc>
              <a:spcBef>
                <a:spcPts val="1010"/>
              </a:spcBef>
              <a:buChar char="▪"/>
              <a:tabLst>
                <a:tab pos="378460" algn="l"/>
              </a:tabLst>
            </a:pPr>
            <a:r>
              <a:rPr dirty="0" sz="1700">
                <a:latin typeface="Calibri"/>
                <a:cs typeface="Calibri"/>
              </a:rPr>
              <a:t>Compress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chroot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as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system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root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FS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8711" y="489966"/>
            <a:ext cx="9472676" cy="390791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2797" y="4686147"/>
            <a:ext cx="6887591" cy="1448054"/>
          </a:xfrm>
          <a:prstGeom prst="rect">
            <a:avLst/>
          </a:prstGeom>
        </p:spPr>
      </p:pic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188595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0660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Cgroups</a:t>
            </a:r>
            <a:r>
              <a:rPr dirty="0" spc="-5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(or</a:t>
            </a:r>
            <a:r>
              <a:rPr dirty="0" spc="-4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Control</a:t>
            </a:r>
            <a:r>
              <a:rPr dirty="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groups)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42645" y="1364132"/>
            <a:ext cx="11489690" cy="5211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4965" marR="395605" indent="-342900">
              <a:lnSpc>
                <a:spcPct val="120000"/>
              </a:lnSpc>
              <a:spcBef>
                <a:spcPts val="100"/>
              </a:spcBef>
              <a:buSzPct val="81818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Cgroup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linux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feature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limit,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police,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account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resource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usage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set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processes. </a:t>
            </a: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uses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cgroups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limit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system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resources.</a:t>
            </a:r>
            <a:endParaRPr sz="2200">
              <a:latin typeface="Calibri"/>
              <a:cs typeface="Calibri"/>
            </a:endParaRPr>
          </a:p>
          <a:p>
            <a:pPr algn="just" marL="354965" marR="125730" indent="-342900">
              <a:lnSpc>
                <a:spcPct val="120000"/>
              </a:lnSpc>
              <a:spcBef>
                <a:spcPts val="705"/>
              </a:spcBef>
              <a:buSzPct val="81818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Cgroups</a:t>
            </a:r>
            <a:r>
              <a:rPr dirty="0" sz="2200" spc="4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-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provides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mechanisms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(fine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grain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control)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allocate,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monitor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limit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resources </a:t>
            </a:r>
            <a:r>
              <a:rPr dirty="0" sz="2200" spc="-20">
                <a:latin typeface="Calibri"/>
                <a:cs typeface="Calibri"/>
              </a:rPr>
              <a:t>such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b="1" i="1">
                <a:solidFill>
                  <a:srgbClr val="006FC0"/>
                </a:solidFill>
                <a:latin typeface="Calibri"/>
                <a:cs typeface="Calibri"/>
              </a:rPr>
              <a:t>CPU</a:t>
            </a:r>
            <a:r>
              <a:rPr dirty="0" sz="2200" spc="-30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 i="1">
                <a:solidFill>
                  <a:srgbClr val="006FC0"/>
                </a:solidFill>
                <a:latin typeface="Calibri"/>
                <a:cs typeface="Calibri"/>
              </a:rPr>
              <a:t>time,</a:t>
            </a:r>
            <a:r>
              <a:rPr dirty="0" sz="2200" spc="-35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 i="1">
                <a:solidFill>
                  <a:srgbClr val="006FC0"/>
                </a:solidFill>
                <a:latin typeface="Calibri"/>
                <a:cs typeface="Calibri"/>
              </a:rPr>
              <a:t>system</a:t>
            </a:r>
            <a:r>
              <a:rPr dirty="0" sz="2200" spc="-40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 i="1">
                <a:solidFill>
                  <a:srgbClr val="006FC0"/>
                </a:solidFill>
                <a:latin typeface="Calibri"/>
                <a:cs typeface="Calibri"/>
              </a:rPr>
              <a:t>memory,</a:t>
            </a:r>
            <a:r>
              <a:rPr dirty="0" sz="2200" spc="-40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 i="1">
                <a:solidFill>
                  <a:srgbClr val="006FC0"/>
                </a:solidFill>
                <a:latin typeface="Calibri"/>
                <a:cs typeface="Calibri"/>
              </a:rPr>
              <a:t>block</a:t>
            </a:r>
            <a:r>
              <a:rPr dirty="0" sz="2200" spc="-40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 i="1">
                <a:solidFill>
                  <a:srgbClr val="006FC0"/>
                </a:solidFill>
                <a:latin typeface="Calibri"/>
                <a:cs typeface="Calibri"/>
              </a:rPr>
              <a:t>IO</a:t>
            </a:r>
            <a:r>
              <a:rPr dirty="0" sz="2200" spc="-40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 i="1">
                <a:solidFill>
                  <a:srgbClr val="006FC0"/>
                </a:solidFill>
                <a:latin typeface="Calibri"/>
                <a:cs typeface="Calibri"/>
              </a:rPr>
              <a:t>or</a:t>
            </a:r>
            <a:r>
              <a:rPr dirty="0" sz="2200" spc="-25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 i="1">
                <a:solidFill>
                  <a:srgbClr val="006FC0"/>
                </a:solidFill>
                <a:latin typeface="Calibri"/>
                <a:cs typeface="Calibri"/>
              </a:rPr>
              <a:t>disk</a:t>
            </a:r>
            <a:r>
              <a:rPr dirty="0" sz="2200" spc="-50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 i="1">
                <a:solidFill>
                  <a:srgbClr val="006FC0"/>
                </a:solidFill>
                <a:latin typeface="Calibri"/>
                <a:cs typeface="Calibri"/>
              </a:rPr>
              <a:t>bandwidth,</a:t>
            </a:r>
            <a:r>
              <a:rPr dirty="0" sz="2200" spc="-30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 i="1">
                <a:solidFill>
                  <a:srgbClr val="006FC0"/>
                </a:solidFill>
                <a:latin typeface="Calibri"/>
                <a:cs typeface="Calibri"/>
              </a:rPr>
              <a:t>network</a:t>
            </a:r>
            <a:r>
              <a:rPr dirty="0" sz="2200" spc="-35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 i="1">
                <a:solidFill>
                  <a:srgbClr val="006FC0"/>
                </a:solidFill>
                <a:latin typeface="Calibri"/>
                <a:cs typeface="Calibri"/>
              </a:rPr>
              <a:t>bandwidth,</a:t>
            </a:r>
            <a:r>
              <a:rPr dirty="0" sz="2200" spc="-30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 i="1">
                <a:solidFill>
                  <a:srgbClr val="006FC0"/>
                </a:solidFill>
                <a:latin typeface="Calibri"/>
                <a:cs typeface="Calibri"/>
              </a:rPr>
              <a:t>or</a:t>
            </a:r>
            <a:r>
              <a:rPr dirty="0" sz="2200" spc="-40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spc="-10" b="1" i="1">
                <a:solidFill>
                  <a:srgbClr val="006FC0"/>
                </a:solidFill>
                <a:latin typeface="Calibri"/>
                <a:cs typeface="Calibri"/>
              </a:rPr>
              <a:t>combinations </a:t>
            </a:r>
            <a:r>
              <a:rPr dirty="0" sz="2200" b="1" i="1">
                <a:solidFill>
                  <a:srgbClr val="006FC0"/>
                </a:solidFill>
                <a:latin typeface="Calibri"/>
                <a:cs typeface="Calibri"/>
              </a:rPr>
              <a:t>of</a:t>
            </a:r>
            <a:r>
              <a:rPr dirty="0" sz="2200" spc="-45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 i="1">
                <a:solidFill>
                  <a:srgbClr val="006FC0"/>
                </a:solidFill>
                <a:latin typeface="Calibri"/>
                <a:cs typeface="Calibri"/>
              </a:rPr>
              <a:t>these</a:t>
            </a:r>
            <a:r>
              <a:rPr dirty="0" sz="2200" spc="-50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 i="1">
                <a:solidFill>
                  <a:srgbClr val="006FC0"/>
                </a:solidFill>
                <a:latin typeface="Calibri"/>
                <a:cs typeface="Calibri"/>
              </a:rPr>
              <a:t>resources</a:t>
            </a:r>
            <a:r>
              <a:rPr dirty="0" sz="2200" spc="-35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—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among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user-</a:t>
            </a:r>
            <a:r>
              <a:rPr dirty="0" sz="2200">
                <a:latin typeface="Calibri"/>
                <a:cs typeface="Calibri"/>
              </a:rPr>
              <a:t>defined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groups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tasks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(processes)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running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system.</a:t>
            </a:r>
            <a:endParaRPr sz="2200">
              <a:latin typeface="Calibri"/>
              <a:cs typeface="Calibri"/>
            </a:endParaRPr>
          </a:p>
          <a:p>
            <a:pPr marL="354965" marR="5080" indent="-342900">
              <a:lnSpc>
                <a:spcPct val="120000"/>
              </a:lnSpc>
              <a:spcBef>
                <a:spcPts val="700"/>
              </a:spcBef>
              <a:buSzPct val="81818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Cgroups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works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resource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types.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So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works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by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dividing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resources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into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groups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assigning </a:t>
            </a:r>
            <a:r>
              <a:rPr dirty="0" sz="2200">
                <a:latin typeface="Calibri"/>
                <a:cs typeface="Calibri"/>
              </a:rPr>
              <a:t>tasks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those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groups,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deny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access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certain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resources,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even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reconfigure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our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cgroups </a:t>
            </a:r>
            <a:r>
              <a:rPr dirty="0" sz="2200">
                <a:latin typeface="Calibri"/>
                <a:cs typeface="Calibri"/>
              </a:rPr>
              <a:t>dynamically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running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system.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20"/>
              </a:spcBef>
              <a:buSzPct val="81818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When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you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install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binary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linux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box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like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ubuntu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will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install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cgroup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related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packages</a:t>
            </a:r>
            <a:endParaRPr sz="2200">
              <a:latin typeface="Calibri"/>
              <a:cs typeface="Calibri"/>
            </a:endParaRPr>
          </a:p>
          <a:p>
            <a:pPr marL="354965">
              <a:lnSpc>
                <a:spcPct val="100000"/>
              </a:lnSpc>
              <a:spcBef>
                <a:spcPts val="530"/>
              </a:spcBef>
            </a:pP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create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subsystem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directories.</a:t>
            </a:r>
            <a:endParaRPr sz="2200">
              <a:latin typeface="Calibri"/>
              <a:cs typeface="Calibri"/>
            </a:endParaRPr>
          </a:p>
          <a:p>
            <a:pPr marL="354965" marR="431800" indent="-342900">
              <a:lnSpc>
                <a:spcPct val="120000"/>
              </a:lnSpc>
              <a:spcBef>
                <a:spcPts val="710"/>
              </a:spcBef>
              <a:buSzPct val="81818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Hardware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resources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appropriately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divided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up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among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tasks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users,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increasing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overall efficiency.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0842" y="223900"/>
            <a:ext cx="7070090" cy="6285865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455"/>
              </a:spcBef>
            </a:pP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CLOUD</a:t>
            </a:r>
            <a:r>
              <a:rPr dirty="0" sz="2400" spc="-1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395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Linux</a:t>
            </a:r>
            <a:r>
              <a:rPr dirty="0" sz="2400" spc="-4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cgroups</a:t>
            </a:r>
            <a:r>
              <a:rPr dirty="0" sz="2400" spc="-15" b="1">
                <a:solidFill>
                  <a:srgbClr val="C55A11"/>
                </a:solidFill>
                <a:latin typeface="Arial"/>
                <a:cs typeface="Arial"/>
              </a:rPr>
              <a:t> 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-</a:t>
            </a:r>
            <a:r>
              <a:rPr dirty="0" sz="2400" spc="-1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Functionality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2400">
              <a:latin typeface="Arial"/>
              <a:cs typeface="Arial"/>
            </a:endParaRPr>
          </a:p>
          <a:p>
            <a:pPr marL="469265" indent="-342265">
              <a:lnSpc>
                <a:spcPct val="100000"/>
              </a:lnSpc>
              <a:spcBef>
                <a:spcPts val="5"/>
              </a:spcBef>
              <a:buSzPct val="75000"/>
              <a:buFont typeface="Arial"/>
              <a:buChar char="•"/>
              <a:tabLst>
                <a:tab pos="469265" algn="l"/>
              </a:tabLst>
            </a:pPr>
            <a:r>
              <a:rPr dirty="0" sz="2400" spc="-10">
                <a:latin typeface="Calibri"/>
                <a:cs typeface="Calibri"/>
              </a:rPr>
              <a:t>Access</a:t>
            </a:r>
            <a:endParaRPr sz="2400">
              <a:latin typeface="Calibri"/>
              <a:cs typeface="Calibri"/>
            </a:endParaRPr>
          </a:p>
          <a:p>
            <a:pPr lvl="1" marL="995044" indent="-410845">
              <a:lnSpc>
                <a:spcPct val="100000"/>
              </a:lnSpc>
              <a:spcBef>
                <a:spcPts val="204"/>
              </a:spcBef>
              <a:buSzPct val="75000"/>
              <a:buFont typeface="Arial"/>
              <a:buChar char="•"/>
              <a:tabLst>
                <a:tab pos="995044" algn="l"/>
              </a:tabLst>
            </a:pPr>
            <a:r>
              <a:rPr dirty="0" sz="2400">
                <a:latin typeface="Calibri"/>
                <a:cs typeface="Calibri"/>
              </a:rPr>
              <a:t>which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devices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per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cgroup</a:t>
            </a:r>
            <a:endParaRPr sz="2400">
              <a:latin typeface="Calibri"/>
              <a:cs typeface="Calibri"/>
            </a:endParaRPr>
          </a:p>
          <a:p>
            <a:pPr marL="469265" indent="-342265">
              <a:lnSpc>
                <a:spcPct val="100000"/>
              </a:lnSpc>
              <a:spcBef>
                <a:spcPts val="720"/>
              </a:spcBef>
              <a:buSzPct val="75000"/>
              <a:buFont typeface="Arial"/>
              <a:buChar char="•"/>
              <a:tabLst>
                <a:tab pos="469265" algn="l"/>
              </a:tabLst>
            </a:pPr>
            <a:r>
              <a:rPr dirty="0" sz="2400">
                <a:latin typeface="Calibri"/>
                <a:cs typeface="Calibri"/>
              </a:rPr>
              <a:t>Resource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limiting</a:t>
            </a:r>
            <a:endParaRPr sz="2400">
              <a:latin typeface="Calibri"/>
              <a:cs typeface="Calibri"/>
            </a:endParaRPr>
          </a:p>
          <a:p>
            <a:pPr lvl="1" marL="995044" indent="-410845">
              <a:lnSpc>
                <a:spcPct val="100000"/>
              </a:lnSpc>
              <a:spcBef>
                <a:spcPts val="204"/>
              </a:spcBef>
              <a:buSzPct val="75000"/>
              <a:buFont typeface="Arial"/>
              <a:buChar char="•"/>
              <a:tabLst>
                <a:tab pos="995044" algn="l"/>
              </a:tabLst>
            </a:pPr>
            <a:r>
              <a:rPr dirty="0" sz="2400">
                <a:latin typeface="Calibri"/>
                <a:cs typeface="Calibri"/>
              </a:rPr>
              <a:t>memory,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CPU,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device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accessibility,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block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I/O,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etc.</a:t>
            </a:r>
            <a:endParaRPr sz="2400">
              <a:latin typeface="Calibri"/>
              <a:cs typeface="Calibri"/>
            </a:endParaRPr>
          </a:p>
          <a:p>
            <a:pPr marL="469265" indent="-342265">
              <a:lnSpc>
                <a:spcPct val="100000"/>
              </a:lnSpc>
              <a:spcBef>
                <a:spcPts val="720"/>
              </a:spcBef>
              <a:buSzPct val="75000"/>
              <a:buFont typeface="Arial"/>
              <a:buChar char="•"/>
              <a:tabLst>
                <a:tab pos="469265" algn="l"/>
              </a:tabLst>
            </a:pPr>
            <a:r>
              <a:rPr dirty="0" sz="2400" spc="-10">
                <a:latin typeface="Calibri"/>
                <a:cs typeface="Calibri"/>
              </a:rPr>
              <a:t>Prioritization</a:t>
            </a:r>
            <a:endParaRPr sz="2400">
              <a:latin typeface="Calibri"/>
              <a:cs typeface="Calibri"/>
            </a:endParaRPr>
          </a:p>
          <a:p>
            <a:pPr lvl="1" marL="995044" indent="-410845">
              <a:lnSpc>
                <a:spcPct val="100000"/>
              </a:lnSpc>
              <a:spcBef>
                <a:spcPts val="204"/>
              </a:spcBef>
              <a:buSzPct val="75000"/>
              <a:buFont typeface="Arial"/>
              <a:buChar char="•"/>
              <a:tabLst>
                <a:tab pos="995044" algn="l"/>
              </a:tabLst>
            </a:pPr>
            <a:r>
              <a:rPr dirty="0" sz="2400">
                <a:latin typeface="Calibri"/>
                <a:cs typeface="Calibri"/>
              </a:rPr>
              <a:t>who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gets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more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CPU,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memory,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etc.</a:t>
            </a:r>
            <a:endParaRPr sz="2400">
              <a:latin typeface="Calibri"/>
              <a:cs typeface="Calibri"/>
            </a:endParaRPr>
          </a:p>
          <a:p>
            <a:pPr marL="469265" indent="-342265">
              <a:lnSpc>
                <a:spcPct val="100000"/>
              </a:lnSpc>
              <a:spcBef>
                <a:spcPts val="720"/>
              </a:spcBef>
              <a:buSzPct val="75000"/>
              <a:buFont typeface="Arial"/>
              <a:buChar char="•"/>
              <a:tabLst>
                <a:tab pos="469265" algn="l"/>
              </a:tabLst>
            </a:pPr>
            <a:r>
              <a:rPr dirty="0" sz="2400" spc="-10">
                <a:latin typeface="Calibri"/>
                <a:cs typeface="Calibri"/>
              </a:rPr>
              <a:t>Accounting</a:t>
            </a:r>
            <a:endParaRPr sz="2400">
              <a:latin typeface="Calibri"/>
              <a:cs typeface="Calibri"/>
            </a:endParaRPr>
          </a:p>
          <a:p>
            <a:pPr lvl="1" marL="995044" indent="-410845">
              <a:lnSpc>
                <a:spcPct val="100000"/>
              </a:lnSpc>
              <a:spcBef>
                <a:spcPts val="204"/>
              </a:spcBef>
              <a:buSzPct val="75000"/>
              <a:buFont typeface="Arial"/>
              <a:buChar char="•"/>
              <a:tabLst>
                <a:tab pos="995044" algn="l"/>
              </a:tabLst>
            </a:pPr>
            <a:r>
              <a:rPr dirty="0" sz="2400">
                <a:latin typeface="Calibri"/>
                <a:cs typeface="Calibri"/>
              </a:rPr>
              <a:t>resource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usage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per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cgroup</a:t>
            </a:r>
            <a:endParaRPr sz="2400">
              <a:latin typeface="Calibri"/>
              <a:cs typeface="Calibri"/>
            </a:endParaRPr>
          </a:p>
          <a:p>
            <a:pPr marL="469265" indent="-342265">
              <a:lnSpc>
                <a:spcPct val="100000"/>
              </a:lnSpc>
              <a:spcBef>
                <a:spcPts val="720"/>
              </a:spcBef>
              <a:buSzPct val="75000"/>
              <a:buFont typeface="Arial"/>
              <a:buChar char="•"/>
              <a:tabLst>
                <a:tab pos="469265" algn="l"/>
              </a:tabLst>
            </a:pPr>
            <a:r>
              <a:rPr dirty="0" sz="2400" spc="-10">
                <a:latin typeface="Calibri"/>
                <a:cs typeface="Calibri"/>
              </a:rPr>
              <a:t>Control</a:t>
            </a:r>
            <a:endParaRPr sz="2400">
              <a:latin typeface="Calibri"/>
              <a:cs typeface="Calibri"/>
            </a:endParaRPr>
          </a:p>
          <a:p>
            <a:pPr lvl="1" marL="995044" indent="-410845">
              <a:lnSpc>
                <a:spcPct val="100000"/>
              </a:lnSpc>
              <a:spcBef>
                <a:spcPts val="204"/>
              </a:spcBef>
              <a:buSzPct val="75000"/>
              <a:buFont typeface="Arial"/>
              <a:buChar char="•"/>
              <a:tabLst>
                <a:tab pos="995044" algn="l"/>
              </a:tabLst>
            </a:pPr>
            <a:r>
              <a:rPr dirty="0" sz="2400">
                <a:latin typeface="Calibri"/>
                <a:cs typeface="Calibri"/>
              </a:rPr>
              <a:t>freezing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&amp;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check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pointing</a:t>
            </a:r>
            <a:endParaRPr sz="2400">
              <a:latin typeface="Calibri"/>
              <a:cs typeface="Calibri"/>
            </a:endParaRPr>
          </a:p>
          <a:p>
            <a:pPr marL="469265" indent="-342265">
              <a:lnSpc>
                <a:spcPct val="100000"/>
              </a:lnSpc>
              <a:spcBef>
                <a:spcPts val="720"/>
              </a:spcBef>
              <a:buSzPct val="75000"/>
              <a:buFont typeface="Arial"/>
              <a:buChar char="•"/>
              <a:tabLst>
                <a:tab pos="469265" algn="l"/>
              </a:tabLst>
            </a:pPr>
            <a:r>
              <a:rPr dirty="0" sz="2400" spc="-10">
                <a:latin typeface="Calibri"/>
                <a:cs typeface="Calibri"/>
              </a:rPr>
              <a:t>Injection</a:t>
            </a:r>
            <a:endParaRPr sz="2400">
              <a:latin typeface="Calibri"/>
              <a:cs typeface="Calibri"/>
            </a:endParaRPr>
          </a:p>
          <a:p>
            <a:pPr lvl="1" marL="995044" indent="-410845">
              <a:lnSpc>
                <a:spcPct val="100000"/>
              </a:lnSpc>
              <a:spcBef>
                <a:spcPts val="204"/>
              </a:spcBef>
              <a:buSzPct val="75000"/>
              <a:buFont typeface="Arial"/>
              <a:buChar char="•"/>
              <a:tabLst>
                <a:tab pos="995044" algn="l"/>
              </a:tabLst>
            </a:pPr>
            <a:r>
              <a:rPr dirty="0" sz="2400">
                <a:latin typeface="Calibri"/>
                <a:cs typeface="Calibri"/>
              </a:rPr>
              <a:t>packet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tagging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0842" y="223900"/>
            <a:ext cx="10279380" cy="4057015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455"/>
              </a:spcBef>
            </a:pP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CLOUD</a:t>
            </a:r>
            <a:r>
              <a:rPr dirty="0" sz="2400" spc="-1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395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Linux</a:t>
            </a:r>
            <a:r>
              <a:rPr dirty="0" sz="2400" spc="-4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cgroups</a:t>
            </a:r>
            <a:r>
              <a:rPr dirty="0" sz="2400" spc="-1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-</a:t>
            </a:r>
            <a:r>
              <a:rPr dirty="0" sz="2400" spc="-20" b="1">
                <a:solidFill>
                  <a:srgbClr val="C55A11"/>
                </a:solidFill>
                <a:latin typeface="Arial"/>
                <a:cs typeface="Arial"/>
              </a:rPr>
              <a:t> usage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00"/>
              </a:spcBef>
            </a:pPr>
            <a:endParaRPr sz="2400">
              <a:latin typeface="Arial"/>
              <a:cs typeface="Arial"/>
            </a:endParaRPr>
          </a:p>
          <a:p>
            <a:pPr marL="363220" indent="-342900">
              <a:lnSpc>
                <a:spcPct val="100000"/>
              </a:lnSpc>
              <a:buSzPct val="75000"/>
              <a:buFont typeface="Arial"/>
              <a:buChar char="•"/>
              <a:tabLst>
                <a:tab pos="363220" algn="l"/>
              </a:tabLst>
            </a:pPr>
            <a:r>
              <a:rPr dirty="0" sz="2400">
                <a:latin typeface="Calibri"/>
                <a:cs typeface="Calibri"/>
              </a:rPr>
              <a:t>cgroups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hierarchically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structured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where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each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groups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created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50"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  <a:p>
            <a:pPr marL="363220">
              <a:lnSpc>
                <a:spcPct val="100000"/>
              </a:lnSpc>
              <a:spcBef>
                <a:spcPts val="580"/>
              </a:spcBef>
            </a:pPr>
            <a:r>
              <a:rPr dirty="0" sz="2400">
                <a:latin typeface="Calibri"/>
                <a:cs typeface="Calibri"/>
              </a:rPr>
              <a:t>resource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number.</a:t>
            </a:r>
            <a:endParaRPr sz="2400">
              <a:latin typeface="Calibri"/>
              <a:cs typeface="Calibri"/>
            </a:endParaRPr>
          </a:p>
          <a:p>
            <a:pPr marL="363220" indent="-342900">
              <a:lnSpc>
                <a:spcPct val="100000"/>
              </a:lnSpc>
              <a:spcBef>
                <a:spcPts val="1775"/>
              </a:spcBef>
              <a:buSzPct val="75000"/>
              <a:buFont typeface="Arial"/>
              <a:buChar char="•"/>
              <a:tabLst>
                <a:tab pos="363220" algn="l"/>
              </a:tabLst>
            </a:pPr>
            <a:r>
              <a:rPr dirty="0" sz="2400">
                <a:latin typeface="Calibri"/>
                <a:cs typeface="Calibri"/>
              </a:rPr>
              <a:t>Tasks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assigned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cgroups</a:t>
            </a:r>
            <a:endParaRPr sz="2400">
              <a:latin typeface="Calibri"/>
              <a:cs typeface="Calibri"/>
            </a:endParaRPr>
          </a:p>
          <a:p>
            <a:pPr marL="363220" indent="-342900">
              <a:lnSpc>
                <a:spcPct val="100000"/>
              </a:lnSpc>
              <a:spcBef>
                <a:spcPts val="1780"/>
              </a:spcBef>
              <a:buSzPct val="75000"/>
              <a:buFont typeface="Arial"/>
              <a:buChar char="•"/>
              <a:tabLst>
                <a:tab pos="363220" algn="l"/>
              </a:tabLst>
            </a:pPr>
            <a:r>
              <a:rPr dirty="0" sz="2400">
                <a:latin typeface="Calibri"/>
                <a:cs typeface="Calibri"/>
              </a:rPr>
              <a:t>Each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cgroups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resource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limitation</a:t>
            </a:r>
            <a:endParaRPr sz="2400">
              <a:latin typeface="Calibri"/>
              <a:cs typeface="Calibri"/>
            </a:endParaRPr>
          </a:p>
          <a:p>
            <a:pPr marL="363220" indent="-342900">
              <a:lnSpc>
                <a:spcPct val="100000"/>
              </a:lnSpc>
              <a:spcBef>
                <a:spcPts val="1775"/>
              </a:spcBef>
              <a:buSzPct val="75000"/>
              <a:buFont typeface="Arial"/>
              <a:buChar char="•"/>
              <a:tabLst>
                <a:tab pos="363220" algn="l"/>
              </a:tabLst>
            </a:pPr>
            <a:r>
              <a:rPr dirty="0" sz="2400">
                <a:latin typeface="Calibri"/>
                <a:cs typeface="Calibri"/>
              </a:rPr>
              <a:t>There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hierarchy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each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resource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59934" y="2367537"/>
            <a:ext cx="4006537" cy="3256400"/>
          </a:xfrm>
          <a:prstGeom prst="rect">
            <a:avLst/>
          </a:prstGeom>
        </p:spPr>
      </p:pic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40842" y="223900"/>
            <a:ext cx="8508365" cy="4069079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455"/>
              </a:spcBef>
            </a:pP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CLOUD</a:t>
            </a:r>
            <a:r>
              <a:rPr dirty="0" sz="2400" spc="-1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395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What</a:t>
            </a:r>
            <a:r>
              <a:rPr dirty="0" sz="2400" spc="-4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resources</a:t>
            </a:r>
            <a:r>
              <a:rPr dirty="0" sz="2400" spc="-4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can</a:t>
            </a:r>
            <a:r>
              <a:rPr dirty="0" sz="2400" spc="-5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we</a:t>
            </a:r>
            <a:r>
              <a:rPr dirty="0" sz="2400" spc="-7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limit?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70"/>
              </a:spcBef>
            </a:pPr>
            <a:endParaRPr sz="2400">
              <a:latin typeface="Arial"/>
              <a:cs typeface="Arial"/>
            </a:endParaRPr>
          </a:p>
          <a:p>
            <a:pPr marL="158115">
              <a:lnSpc>
                <a:spcPct val="100000"/>
              </a:lnSpc>
            </a:pPr>
            <a:r>
              <a:rPr dirty="0" sz="2400">
                <a:latin typeface="Calibri"/>
                <a:cs typeface="Calibri"/>
              </a:rPr>
              <a:t>All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following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limited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10">
                <a:latin typeface="Calibri"/>
                <a:cs typeface="Calibri"/>
              </a:rPr>
              <a:t> Cgroup</a:t>
            </a:r>
            <a:endParaRPr sz="2400">
              <a:latin typeface="Calibri"/>
              <a:cs typeface="Calibri"/>
            </a:endParaRPr>
          </a:p>
          <a:p>
            <a:pPr marL="501015" indent="-342900">
              <a:lnSpc>
                <a:spcPct val="100000"/>
              </a:lnSpc>
              <a:spcBef>
                <a:spcPts val="710"/>
              </a:spcBef>
              <a:buSzPct val="75000"/>
              <a:buFont typeface="Arial"/>
              <a:buChar char="•"/>
              <a:tabLst>
                <a:tab pos="501015" algn="l"/>
              </a:tabLst>
            </a:pPr>
            <a:r>
              <a:rPr dirty="0" sz="2400" spc="-10">
                <a:latin typeface="Calibri"/>
                <a:cs typeface="Calibri"/>
              </a:rPr>
              <a:t>Memory</a:t>
            </a:r>
            <a:endParaRPr sz="2400">
              <a:latin typeface="Calibri"/>
              <a:cs typeface="Calibri"/>
            </a:endParaRPr>
          </a:p>
          <a:p>
            <a:pPr marL="501015" indent="-342900">
              <a:lnSpc>
                <a:spcPct val="100000"/>
              </a:lnSpc>
              <a:spcBef>
                <a:spcPts val="710"/>
              </a:spcBef>
              <a:buSzPct val="75000"/>
              <a:buFont typeface="Arial"/>
              <a:buChar char="•"/>
              <a:tabLst>
                <a:tab pos="501015" algn="l"/>
              </a:tabLst>
            </a:pPr>
            <a:r>
              <a:rPr dirty="0" sz="2400" spc="-25">
                <a:latin typeface="Calibri"/>
                <a:cs typeface="Calibri"/>
              </a:rPr>
              <a:t>CPU</a:t>
            </a:r>
            <a:endParaRPr sz="2400">
              <a:latin typeface="Calibri"/>
              <a:cs typeface="Calibri"/>
            </a:endParaRPr>
          </a:p>
          <a:p>
            <a:pPr marL="501015" indent="-342900">
              <a:lnSpc>
                <a:spcPct val="100000"/>
              </a:lnSpc>
              <a:spcBef>
                <a:spcPts val="720"/>
              </a:spcBef>
              <a:buSzPct val="75000"/>
              <a:buFont typeface="Arial"/>
              <a:buChar char="•"/>
              <a:tabLst>
                <a:tab pos="501015" algn="l"/>
              </a:tabLst>
            </a:pPr>
            <a:r>
              <a:rPr dirty="0" sz="2400">
                <a:latin typeface="Calibri"/>
                <a:cs typeface="Calibri"/>
              </a:rPr>
              <a:t>Block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IO</a:t>
            </a:r>
            <a:endParaRPr sz="2400">
              <a:latin typeface="Calibri"/>
              <a:cs typeface="Calibri"/>
            </a:endParaRPr>
          </a:p>
          <a:p>
            <a:pPr marL="501015" indent="-342900">
              <a:lnSpc>
                <a:spcPct val="100000"/>
              </a:lnSpc>
              <a:spcBef>
                <a:spcPts val="710"/>
              </a:spcBef>
              <a:buSzPct val="75000"/>
              <a:buFont typeface="Arial"/>
              <a:buChar char="•"/>
              <a:tabLst>
                <a:tab pos="501015" algn="l"/>
              </a:tabLst>
            </a:pPr>
            <a:r>
              <a:rPr dirty="0" sz="2400">
                <a:latin typeface="Calibri"/>
                <a:cs typeface="Calibri"/>
              </a:rPr>
              <a:t>Devices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(which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devices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allowing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creation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devices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..)</a:t>
            </a:r>
            <a:endParaRPr sz="2400">
              <a:latin typeface="Calibri"/>
              <a:cs typeface="Calibri"/>
            </a:endParaRPr>
          </a:p>
          <a:p>
            <a:pPr marL="501015" indent="-342900">
              <a:lnSpc>
                <a:spcPct val="100000"/>
              </a:lnSpc>
              <a:spcBef>
                <a:spcPts val="705"/>
              </a:spcBef>
              <a:buSzPct val="75000"/>
              <a:buFont typeface="Arial"/>
              <a:buChar char="•"/>
              <a:tabLst>
                <a:tab pos="501015" algn="l"/>
              </a:tabLst>
            </a:pPr>
            <a:r>
              <a:rPr dirty="0" sz="2400" spc="-10">
                <a:latin typeface="Calibri"/>
                <a:cs typeface="Calibri"/>
              </a:rPr>
              <a:t>Network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2" name="object 2" descr="A close up of a logo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0126" y="469900"/>
            <a:ext cx="933323" cy="1398524"/>
          </a:xfrm>
          <a:prstGeom prst="rect">
            <a:avLst/>
          </a:prstGeom>
        </p:spPr>
      </p:pic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cgroup</a:t>
            </a:r>
            <a:r>
              <a:rPr dirty="0" spc="-15">
                <a:solidFill>
                  <a:srgbClr val="C55A11"/>
                </a:solidFill>
                <a:latin typeface="Arial"/>
                <a:cs typeface="Arial"/>
              </a:rPr>
              <a:t> 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Examples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562" y="1688338"/>
            <a:ext cx="5861558" cy="40120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0" y="1653413"/>
            <a:ext cx="5997448" cy="40120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73327" y="6199733"/>
            <a:ext cx="51936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Each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cgroup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resource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limitation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associated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with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it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56515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2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57785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What</a:t>
            </a:r>
            <a:r>
              <a:rPr dirty="0" spc="-4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resources</a:t>
            </a:r>
            <a:r>
              <a:rPr dirty="0" spc="-4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can</a:t>
            </a:r>
            <a:r>
              <a:rPr dirty="0" spc="-5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we</a:t>
            </a:r>
            <a:r>
              <a:rPr dirty="0" spc="-7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limit?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50342" y="1385163"/>
            <a:ext cx="5508625" cy="4141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92075" indent="-342900">
              <a:lnSpc>
                <a:spcPct val="120000"/>
              </a:lnSpc>
              <a:spcBef>
                <a:spcPts val="100"/>
              </a:spcBef>
              <a:buSzPct val="87500"/>
              <a:buFont typeface="Arial"/>
              <a:buChar char="•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When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process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creates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child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process,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child </a:t>
            </a:r>
            <a:r>
              <a:rPr dirty="0" sz="2000">
                <a:latin typeface="Calibri"/>
                <a:cs typeface="Calibri"/>
              </a:rPr>
              <a:t>process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stays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same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cgroup</a:t>
            </a:r>
            <a:endParaRPr sz="2000">
              <a:latin typeface="Calibri"/>
              <a:cs typeface="Calibri"/>
            </a:endParaRPr>
          </a:p>
          <a:p>
            <a:pPr lvl="1" marL="812165" indent="-342265">
              <a:lnSpc>
                <a:spcPct val="100000"/>
              </a:lnSpc>
              <a:spcBef>
                <a:spcPts val="1080"/>
              </a:spcBef>
              <a:buSzPct val="87500"/>
              <a:buFont typeface="Arial"/>
              <a:buChar char="•"/>
              <a:tabLst>
                <a:tab pos="812165" algn="l"/>
              </a:tabLst>
            </a:pPr>
            <a:r>
              <a:rPr dirty="0" sz="2000">
                <a:latin typeface="Calibri"/>
                <a:cs typeface="Calibri"/>
              </a:rPr>
              <a:t>Good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servers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such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NFS</a:t>
            </a:r>
            <a:endParaRPr sz="2000">
              <a:latin typeface="Calibri"/>
              <a:cs typeface="Calibri"/>
            </a:endParaRPr>
          </a:p>
          <a:p>
            <a:pPr lvl="1" marL="812165" indent="-342265">
              <a:lnSpc>
                <a:spcPct val="100000"/>
              </a:lnSpc>
              <a:spcBef>
                <a:spcPts val="1080"/>
              </a:spcBef>
              <a:buSzPct val="87500"/>
              <a:buFont typeface="Arial"/>
              <a:buChar char="•"/>
              <a:tabLst>
                <a:tab pos="812165" algn="l"/>
              </a:tabLst>
            </a:pPr>
            <a:r>
              <a:rPr dirty="0" sz="2000">
                <a:latin typeface="Calibri"/>
                <a:cs typeface="Calibri"/>
              </a:rPr>
              <a:t>Typical</a:t>
            </a:r>
            <a:r>
              <a:rPr dirty="0" sz="2000" spc="-10">
                <a:latin typeface="Calibri"/>
                <a:cs typeface="Calibri"/>
              </a:rPr>
              <a:t> operation</a:t>
            </a:r>
            <a:endParaRPr sz="2000">
              <a:latin typeface="Calibri"/>
              <a:cs typeface="Calibri"/>
            </a:endParaRPr>
          </a:p>
          <a:p>
            <a:pPr lvl="2" marL="1269365" indent="-342265">
              <a:lnSpc>
                <a:spcPct val="100000"/>
              </a:lnSpc>
              <a:spcBef>
                <a:spcPts val="1080"/>
              </a:spcBef>
              <a:buSzPct val="87500"/>
              <a:buFont typeface="Arial"/>
              <a:buChar char="•"/>
              <a:tabLst>
                <a:tab pos="1269365" algn="l"/>
              </a:tabLst>
            </a:pPr>
            <a:r>
              <a:rPr dirty="0" sz="2000">
                <a:latin typeface="Calibri"/>
                <a:cs typeface="Calibri"/>
              </a:rPr>
              <a:t>Receive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request</a:t>
            </a:r>
            <a:endParaRPr sz="2000">
              <a:latin typeface="Calibri"/>
              <a:cs typeface="Calibri"/>
            </a:endParaRPr>
          </a:p>
          <a:p>
            <a:pPr lvl="2" marL="1269365" indent="-342265">
              <a:lnSpc>
                <a:spcPct val="100000"/>
              </a:lnSpc>
              <a:spcBef>
                <a:spcPts val="1080"/>
              </a:spcBef>
              <a:buSzPct val="87500"/>
              <a:buFont typeface="Arial"/>
              <a:buChar char="•"/>
              <a:tabLst>
                <a:tab pos="1269365" algn="l"/>
              </a:tabLst>
            </a:pPr>
            <a:r>
              <a:rPr dirty="0" sz="2000">
                <a:latin typeface="Calibri"/>
                <a:cs typeface="Calibri"/>
              </a:rPr>
              <a:t>Fork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child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process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request</a:t>
            </a:r>
            <a:endParaRPr sz="2000">
              <a:latin typeface="Calibri"/>
              <a:cs typeface="Calibri"/>
            </a:endParaRPr>
          </a:p>
          <a:p>
            <a:pPr lvl="2" marL="1269365" indent="-342265">
              <a:lnSpc>
                <a:spcPct val="100000"/>
              </a:lnSpc>
              <a:spcBef>
                <a:spcPts val="1080"/>
              </a:spcBef>
              <a:buSzPct val="87500"/>
              <a:buFont typeface="Arial"/>
              <a:buChar char="•"/>
              <a:tabLst>
                <a:tab pos="1269365" algn="l"/>
              </a:tabLst>
            </a:pPr>
            <a:r>
              <a:rPr dirty="0" sz="2000">
                <a:latin typeface="Calibri"/>
                <a:cs typeface="Calibri"/>
              </a:rPr>
              <a:t>Child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terminates </a:t>
            </a:r>
            <a:r>
              <a:rPr dirty="0" sz="2000">
                <a:latin typeface="Calibri"/>
                <a:cs typeface="Calibri"/>
              </a:rPr>
              <a:t>when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request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complete</a:t>
            </a:r>
            <a:endParaRPr sz="2000">
              <a:latin typeface="Calibri"/>
              <a:cs typeface="Calibri"/>
            </a:endParaRPr>
          </a:p>
          <a:p>
            <a:pPr lvl="2" marL="1269365" marR="81915" indent="-342900">
              <a:lnSpc>
                <a:spcPct val="120100"/>
              </a:lnSpc>
              <a:spcBef>
                <a:spcPts val="600"/>
              </a:spcBef>
              <a:buSzPct val="87500"/>
              <a:buFont typeface="Arial"/>
              <a:buChar char="•"/>
              <a:tabLst>
                <a:tab pos="1269365" algn="l"/>
              </a:tabLst>
            </a:pPr>
            <a:r>
              <a:rPr dirty="0" sz="2000">
                <a:latin typeface="Calibri"/>
                <a:cs typeface="Calibri"/>
              </a:rPr>
              <a:t>All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children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will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have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resource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limitation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parent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=&gt;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resource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limitation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of </a:t>
            </a:r>
            <a:r>
              <a:rPr dirty="0" sz="2000">
                <a:latin typeface="Calibri"/>
                <a:cs typeface="Calibri"/>
              </a:rPr>
              <a:t>parent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will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apply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processing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requests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40209" y="2462358"/>
            <a:ext cx="5844526" cy="3096011"/>
          </a:xfrm>
          <a:prstGeom prst="rect">
            <a:avLst/>
          </a:prstGeom>
        </p:spPr>
      </p:pic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0116" y="627380"/>
            <a:ext cx="8478520" cy="59029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Arial"/>
                <a:cs typeface="Arial"/>
              </a:rPr>
              <a:t>Try</a:t>
            </a:r>
            <a:r>
              <a:rPr dirty="0" sz="2000" spc="-4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the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following</a:t>
            </a:r>
            <a:r>
              <a:rPr dirty="0" sz="2000" spc="-7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on</a:t>
            </a:r>
            <a:r>
              <a:rPr dirty="0" sz="2000" spc="-2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your</a:t>
            </a:r>
            <a:r>
              <a:rPr dirty="0" sz="2000" spc="-1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docker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command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line: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Arial"/>
              <a:cs typeface="Arial"/>
            </a:endParaRPr>
          </a:p>
          <a:p>
            <a:pPr marL="12700" marR="541655">
              <a:lnSpc>
                <a:spcPct val="100000"/>
              </a:lnSpc>
            </a:pPr>
            <a:r>
              <a:rPr dirty="0" sz="2000">
                <a:latin typeface="Arial"/>
                <a:cs typeface="Arial"/>
              </a:rPr>
              <a:t>docker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run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-d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--name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mycontainer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--cpus="0.5"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ubuntu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sleep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1000 </a:t>
            </a:r>
            <a:r>
              <a:rPr dirty="0" sz="2000">
                <a:latin typeface="Arial"/>
                <a:cs typeface="Arial"/>
              </a:rPr>
              <a:t>docker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run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-d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--name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mycontainer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--memory=100m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ubuntu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sleep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1000 </a:t>
            </a:r>
            <a:r>
              <a:rPr dirty="0" sz="2000">
                <a:latin typeface="Arial"/>
                <a:cs typeface="Arial"/>
              </a:rPr>
              <a:t>docker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exec</a:t>
            </a:r>
            <a:r>
              <a:rPr dirty="0" sz="2000" spc="-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mycontainer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cat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/sys/fs/cgroup/cpu/cpu.cfs_quota_us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latin typeface="Arial"/>
                <a:cs typeface="Arial"/>
              </a:rPr>
              <a:t>docker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exec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mycontainer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cat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/sys/fs/cgroup/memory/memory.limit_in_bytes</a:t>
            </a:r>
            <a:endParaRPr sz="2000">
              <a:latin typeface="Arial"/>
              <a:cs typeface="Arial"/>
            </a:endParaRPr>
          </a:p>
          <a:p>
            <a:pPr marL="12700" marR="5634355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Arial"/>
                <a:cs typeface="Arial"/>
              </a:rPr>
              <a:t>docker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stats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mycontainer </a:t>
            </a:r>
            <a:r>
              <a:rPr dirty="0" sz="2000">
                <a:latin typeface="Arial"/>
                <a:cs typeface="Arial"/>
              </a:rPr>
              <a:t>docker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rm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-f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mycontainer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latin typeface="Arial"/>
                <a:cs typeface="Arial"/>
              </a:rPr>
              <a:t>Example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With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stress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test: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latin typeface="Arial"/>
                <a:cs typeface="Arial"/>
              </a:rPr>
              <a:t>docker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run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-d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--name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mem_test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--memory=100m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ubuntu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sleep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1000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latin typeface="Arial"/>
                <a:cs typeface="Arial"/>
              </a:rPr>
              <a:t>docker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exec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-it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mem_test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apt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update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&amp;&amp;</a:t>
            </a:r>
            <a:r>
              <a:rPr dirty="0" sz="2000" spc="-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apt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install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-y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stress</a:t>
            </a:r>
            <a:endParaRPr sz="2000">
              <a:latin typeface="Arial"/>
              <a:cs typeface="Arial"/>
            </a:endParaRPr>
          </a:p>
          <a:p>
            <a:pPr marL="12700" marR="553085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Arial"/>
                <a:cs typeface="Arial"/>
              </a:rPr>
              <a:t>docker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exec</a:t>
            </a:r>
            <a:r>
              <a:rPr dirty="0" sz="2000" spc="-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-it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mem_test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stress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--vm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1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--</a:t>
            </a:r>
            <a:r>
              <a:rPr dirty="0" sz="2000" spc="-10">
                <a:latin typeface="Arial"/>
                <a:cs typeface="Arial"/>
              </a:rPr>
              <a:t>vm-</a:t>
            </a:r>
            <a:r>
              <a:rPr dirty="0" sz="2000">
                <a:latin typeface="Arial"/>
                <a:cs typeface="Arial"/>
              </a:rPr>
              <a:t>bytes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150m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--timeout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30s </a:t>
            </a:r>
            <a:r>
              <a:rPr dirty="0" sz="2000">
                <a:latin typeface="Arial"/>
                <a:cs typeface="Arial"/>
              </a:rPr>
              <a:t>(The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container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should</a:t>
            </a:r>
            <a:r>
              <a:rPr dirty="0" sz="2000" spc="-1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be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killed</a:t>
            </a:r>
            <a:r>
              <a:rPr dirty="0" sz="2000" spc="-25" b="1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by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Out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of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Memory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(OOM)</a:t>
            </a:r>
            <a:r>
              <a:rPr dirty="0" sz="2000" spc="-5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killer</a:t>
            </a:r>
            <a:r>
              <a:rPr dirty="0" sz="2000" spc="-10">
                <a:latin typeface="Arial"/>
                <a:cs typeface="Arial"/>
              </a:rPr>
              <a:t>.)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Arial"/>
                <a:cs typeface="Arial"/>
              </a:rPr>
              <a:t>docker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logs</a:t>
            </a:r>
            <a:r>
              <a:rPr dirty="0" sz="2000" spc="-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mem_test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latin typeface="Arial"/>
                <a:cs typeface="Arial"/>
              </a:rPr>
              <a:t>docker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ps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-a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| grep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mem_test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latin typeface="Arial"/>
                <a:cs typeface="Arial"/>
              </a:rPr>
              <a:t>(It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should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show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Exited</a:t>
            </a:r>
            <a:r>
              <a:rPr dirty="0" sz="2000" spc="-4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(137)</a:t>
            </a:r>
            <a:r>
              <a:rPr dirty="0" sz="2000">
                <a:latin typeface="Arial"/>
                <a:cs typeface="Arial"/>
              </a:rPr>
              <a:t>,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meaning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it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was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terminated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due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to</a:t>
            </a:r>
            <a:r>
              <a:rPr dirty="0" sz="2000" spc="-10">
                <a:latin typeface="Arial"/>
                <a:cs typeface="Arial"/>
              </a:rPr>
              <a:t> OOM.)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54914" y="212658"/>
            <a:ext cx="11703050" cy="557911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64769">
              <a:lnSpc>
                <a:spcPct val="100000"/>
              </a:lnSpc>
              <a:spcBef>
                <a:spcPts val="455"/>
              </a:spcBef>
            </a:pP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CLOUD</a:t>
            </a:r>
            <a:r>
              <a:rPr dirty="0" sz="2400" spc="-3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395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33020">
              <a:lnSpc>
                <a:spcPct val="100000"/>
              </a:lnSpc>
              <a:spcBef>
                <a:spcPts val="355"/>
              </a:spcBef>
            </a:pP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Container</a:t>
            </a:r>
            <a:r>
              <a:rPr dirty="0" sz="2400" spc="-4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Filesystem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endParaRPr sz="2400">
              <a:latin typeface="Arial"/>
              <a:cs typeface="Arial"/>
            </a:endParaRPr>
          </a:p>
          <a:p>
            <a:pPr marL="372110" indent="-359410">
              <a:lnSpc>
                <a:spcPct val="100000"/>
              </a:lnSpc>
              <a:buFont typeface="Arial"/>
              <a:buChar char="•"/>
              <a:tabLst>
                <a:tab pos="372110" algn="l"/>
              </a:tabLst>
            </a:pPr>
            <a:r>
              <a:rPr dirty="0" sz="2400">
                <a:latin typeface="Calibri"/>
                <a:cs typeface="Calibri"/>
              </a:rPr>
              <a:t>Programs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running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inside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containers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know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nothing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about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image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layers.</a:t>
            </a:r>
            <a:endParaRPr sz="24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1175"/>
              </a:spcBef>
              <a:buFont typeface="Arial"/>
              <a:buChar char="•"/>
              <a:tabLst>
                <a:tab pos="372110" algn="l"/>
              </a:tabLst>
            </a:pPr>
            <a:r>
              <a:rPr dirty="0" sz="2400">
                <a:latin typeface="Calibri"/>
                <a:cs typeface="Calibri"/>
              </a:rPr>
              <a:t>From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inside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container,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filesystem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operates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though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it’s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not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running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container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or</a:t>
            </a:r>
            <a:endParaRPr sz="2400">
              <a:latin typeface="Calibri"/>
              <a:cs typeface="Calibri"/>
            </a:endParaRPr>
          </a:p>
          <a:p>
            <a:pPr marL="372110">
              <a:lnSpc>
                <a:spcPct val="100000"/>
              </a:lnSpc>
              <a:spcBef>
                <a:spcPts val="580"/>
              </a:spcBef>
            </a:pPr>
            <a:r>
              <a:rPr dirty="0" sz="2400">
                <a:latin typeface="Calibri"/>
                <a:cs typeface="Calibri"/>
              </a:rPr>
              <a:t>operating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image.</a:t>
            </a:r>
            <a:endParaRPr sz="2400">
              <a:latin typeface="Calibri"/>
              <a:cs typeface="Calibri"/>
            </a:endParaRPr>
          </a:p>
          <a:p>
            <a:pPr marL="372110" marR="360045" indent="-360045">
              <a:lnSpc>
                <a:spcPct val="120000"/>
              </a:lnSpc>
              <a:spcBef>
                <a:spcPts val="600"/>
              </a:spcBef>
              <a:buFont typeface="Arial"/>
              <a:buChar char="•"/>
              <a:tabLst>
                <a:tab pos="372110" algn="l"/>
              </a:tabLst>
            </a:pPr>
            <a:r>
              <a:rPr dirty="0" sz="2400">
                <a:latin typeface="Calibri"/>
                <a:cs typeface="Calibri"/>
              </a:rPr>
              <a:t>From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perspective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container,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exclusive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copies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provided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by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the </a:t>
            </a:r>
            <a:r>
              <a:rPr dirty="0" sz="2400">
                <a:latin typeface="Calibri"/>
                <a:cs typeface="Calibri"/>
              </a:rPr>
              <a:t>image.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This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made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possible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something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called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union</a:t>
            </a:r>
            <a:r>
              <a:rPr dirty="0" sz="2400" spc="-30" i="1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filesystem</a:t>
            </a:r>
            <a:r>
              <a:rPr dirty="0" sz="2400" spc="-30" i="1">
                <a:latin typeface="Calibri"/>
                <a:cs typeface="Calibri"/>
              </a:rPr>
              <a:t> </a:t>
            </a:r>
            <a:r>
              <a:rPr dirty="0" sz="2400" spc="-10" i="1">
                <a:latin typeface="Calibri"/>
                <a:cs typeface="Calibri"/>
              </a:rPr>
              <a:t>(UFS).</a:t>
            </a:r>
            <a:endParaRPr sz="24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1180"/>
              </a:spcBef>
              <a:buFont typeface="Arial"/>
              <a:buChar char="•"/>
              <a:tabLst>
                <a:tab pos="372110" algn="l"/>
              </a:tabLst>
            </a:pPr>
            <a:r>
              <a:rPr dirty="0" sz="2400">
                <a:latin typeface="Calibri"/>
                <a:cs typeface="Calibri"/>
              </a:rPr>
              <a:t>Docker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variety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union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filesystems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will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select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best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fit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your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system.</a:t>
            </a:r>
            <a:endParaRPr sz="2400">
              <a:latin typeface="Calibri"/>
              <a:cs typeface="Calibri"/>
            </a:endParaRPr>
          </a:p>
          <a:p>
            <a:pPr marL="372110" marR="1276985" indent="-360045">
              <a:lnSpc>
                <a:spcPct val="120000"/>
              </a:lnSpc>
              <a:spcBef>
                <a:spcPts val="600"/>
              </a:spcBef>
              <a:buFont typeface="Arial"/>
              <a:buChar char="•"/>
              <a:tabLst>
                <a:tab pos="372110" algn="l"/>
              </a:tabLst>
            </a:pP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union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filesystem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part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critical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set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tools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combine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create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effective </a:t>
            </a:r>
            <a:r>
              <a:rPr dirty="0" sz="2400">
                <a:latin typeface="Calibri"/>
                <a:cs typeface="Calibri"/>
              </a:rPr>
              <a:t>filesystem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isolation.</a:t>
            </a:r>
            <a:endParaRPr sz="24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1175"/>
              </a:spcBef>
              <a:buFont typeface="Arial"/>
              <a:buChar char="•"/>
              <a:tabLst>
                <a:tab pos="372110" algn="l"/>
              </a:tabLst>
            </a:pP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other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tools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MNT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namespaces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chroot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system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call.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Union</a:t>
            </a:r>
            <a:r>
              <a:rPr dirty="0" spc="-5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Filesystem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64668" y="1324225"/>
            <a:ext cx="11216640" cy="33267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53060" marR="5080" indent="-340360">
              <a:lnSpc>
                <a:spcPct val="120000"/>
              </a:lnSpc>
              <a:spcBef>
                <a:spcPts val="95"/>
              </a:spcBef>
              <a:buChar char="▪"/>
              <a:tabLst>
                <a:tab pos="355600" algn="l"/>
              </a:tabLst>
            </a:pPr>
            <a:r>
              <a:rPr dirty="0" sz="2400">
                <a:latin typeface="Calibri"/>
                <a:cs typeface="Calibri"/>
              </a:rPr>
              <a:t>Union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type of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filesystem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create an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illusion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merging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contents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10">
                <a:latin typeface="Calibri"/>
                <a:cs typeface="Calibri"/>
              </a:rPr>
              <a:t> several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directories</a:t>
            </a:r>
            <a:r>
              <a:rPr dirty="0" sz="2400" spc="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(created</a:t>
            </a:r>
            <a:r>
              <a:rPr dirty="0" sz="2400" spc="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layers)</a:t>
            </a:r>
            <a:r>
              <a:rPr dirty="0" sz="2400" spc="5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into</a:t>
            </a:r>
            <a:r>
              <a:rPr dirty="0" sz="2400" spc="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one</a:t>
            </a:r>
            <a:r>
              <a:rPr dirty="0" sz="2400" spc="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without</a:t>
            </a:r>
            <a:r>
              <a:rPr dirty="0" sz="2400" spc="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modifying</a:t>
            </a:r>
            <a:r>
              <a:rPr dirty="0" sz="2400" spc="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its</a:t>
            </a:r>
            <a:r>
              <a:rPr dirty="0" sz="2400" spc="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original</a:t>
            </a:r>
            <a:r>
              <a:rPr dirty="0" sz="2400" spc="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(physical)</a:t>
            </a:r>
            <a:r>
              <a:rPr dirty="0" sz="2400" spc="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sources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which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shown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single,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merged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view</a:t>
            </a:r>
            <a:endParaRPr sz="2400">
              <a:latin typeface="Calibri"/>
              <a:cs typeface="Calibri"/>
            </a:endParaRPr>
          </a:p>
          <a:p>
            <a:pPr algn="just" marL="353060" indent="-340360">
              <a:lnSpc>
                <a:spcPct val="100000"/>
              </a:lnSpc>
              <a:spcBef>
                <a:spcPts val="1175"/>
              </a:spcBef>
              <a:buChar char="▪"/>
              <a:tabLst>
                <a:tab pos="353060" algn="l"/>
              </a:tabLst>
            </a:pPr>
            <a:r>
              <a:rPr dirty="0" sz="2400">
                <a:latin typeface="Calibri"/>
                <a:cs typeface="Calibri"/>
              </a:rPr>
              <a:t>Union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system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operates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by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creating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layers,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making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them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very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lightweight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fast.</a:t>
            </a:r>
            <a:endParaRPr sz="2400">
              <a:latin typeface="Calibri"/>
              <a:cs typeface="Calibri"/>
            </a:endParaRPr>
          </a:p>
          <a:p>
            <a:pPr algn="just" marL="353060" indent="-340360">
              <a:lnSpc>
                <a:spcPct val="100000"/>
              </a:lnSpc>
              <a:spcBef>
                <a:spcPts val="1180"/>
              </a:spcBef>
              <a:buChar char="▪"/>
              <a:tabLst>
                <a:tab pos="353060" algn="l"/>
              </a:tabLst>
            </a:pPr>
            <a:r>
              <a:rPr dirty="0" sz="2400">
                <a:latin typeface="Calibri"/>
                <a:cs typeface="Calibri"/>
              </a:rPr>
              <a:t>Docker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Engine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UnionFS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provide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building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blocks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containers.</a:t>
            </a:r>
            <a:endParaRPr sz="2400">
              <a:latin typeface="Calibri"/>
              <a:cs typeface="Calibri"/>
            </a:endParaRPr>
          </a:p>
          <a:p>
            <a:pPr algn="just" marL="353060" marR="6985" indent="-340360">
              <a:lnSpc>
                <a:spcPct val="120000"/>
              </a:lnSpc>
              <a:spcBef>
                <a:spcPts val="600"/>
              </a:spcBef>
              <a:buChar char="▪"/>
              <a:tabLst>
                <a:tab pos="355600" algn="l"/>
              </a:tabLst>
            </a:pPr>
            <a:r>
              <a:rPr dirty="0" sz="2400">
                <a:latin typeface="Calibri"/>
                <a:cs typeface="Calibri"/>
              </a:rPr>
              <a:t>Docker</a:t>
            </a:r>
            <a:r>
              <a:rPr dirty="0" sz="2400" spc="1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Engine</a:t>
            </a:r>
            <a:r>
              <a:rPr dirty="0" sz="2400" spc="2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1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</a:t>
            </a:r>
            <a:r>
              <a:rPr dirty="0" sz="2400" spc="1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multiple</a:t>
            </a:r>
            <a:r>
              <a:rPr dirty="0" sz="2400" spc="1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UnionFS</a:t>
            </a:r>
            <a:r>
              <a:rPr dirty="0" sz="2400" spc="1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variants,</a:t>
            </a:r>
            <a:r>
              <a:rPr dirty="0" sz="2400" spc="20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including</a:t>
            </a:r>
            <a:r>
              <a:rPr dirty="0" sz="2400" spc="1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AUFS,</a:t>
            </a:r>
            <a:r>
              <a:rPr dirty="0" sz="2400" spc="2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overlay2,</a:t>
            </a:r>
            <a:r>
              <a:rPr dirty="0" sz="2400" spc="2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btrfs,</a:t>
            </a:r>
            <a:r>
              <a:rPr dirty="0" sz="2400" spc="19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vfs, </a:t>
            </a:r>
            <a:r>
              <a:rPr dirty="0" sz="2400" spc="-2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DeviceMapper.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7741" y="6518249"/>
            <a:ext cx="44589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Arial"/>
                <a:cs typeface="Arial"/>
              </a:rPr>
              <a:t>Reference:</a:t>
            </a:r>
            <a:r>
              <a:rPr dirty="0" sz="1400" spc="-10">
                <a:latin typeface="Arial"/>
                <a:cs typeface="Arial"/>
                <a:hlinkClick r:id="rId2"/>
              </a:rPr>
              <a:t>https://docs.docker.com/get-started/overview/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03105" y="6470700"/>
            <a:ext cx="244411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Arial"/>
                <a:cs typeface="Arial"/>
                <a:hlinkClick r:id="rId3"/>
              </a:rPr>
              <a:t>https://martinheinz.dev/blog/44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84479" y="40386"/>
            <a:ext cx="3931920" cy="847090"/>
          </a:xfrm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unionfs</a:t>
            </a:r>
            <a:r>
              <a:rPr dirty="0" spc="-8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features</a:t>
            </a:r>
            <a:r>
              <a:rPr dirty="0" spc="-5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-</a:t>
            </a:r>
            <a:r>
              <a:rPr dirty="0" spc="-6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Layering</a:t>
            </a:r>
          </a:p>
        </p:txBody>
      </p:sp>
      <p:grpSp>
        <p:nvGrpSpPr>
          <p:cNvPr id="2" name="object 2"/>
          <p:cNvGrpSpPr/>
          <p:nvPr/>
        </p:nvGrpSpPr>
        <p:grpSpPr>
          <a:xfrm>
            <a:off x="9419970" y="0"/>
            <a:ext cx="2725420" cy="3860165"/>
            <a:chOff x="9419970" y="0"/>
            <a:chExt cx="2725420" cy="3860165"/>
          </a:xfrm>
        </p:grpSpPr>
        <p:sp>
          <p:nvSpPr>
            <p:cNvPr id="3" name="object 3"/>
            <p:cNvSpPr/>
            <p:nvPr/>
          </p:nvSpPr>
          <p:spPr>
            <a:xfrm>
              <a:off x="9429495" y="2470150"/>
              <a:ext cx="2706370" cy="1380490"/>
            </a:xfrm>
            <a:custGeom>
              <a:avLst/>
              <a:gdLst/>
              <a:ahLst/>
              <a:cxnLst/>
              <a:rect l="l" t="t" r="r" b="b"/>
              <a:pathLst>
                <a:path w="2706370" h="1380489">
                  <a:moveTo>
                    <a:pt x="2706243" y="0"/>
                  </a:moveTo>
                  <a:lnTo>
                    <a:pt x="0" y="0"/>
                  </a:lnTo>
                  <a:lnTo>
                    <a:pt x="0" y="1380108"/>
                  </a:lnTo>
                  <a:lnTo>
                    <a:pt x="2706243" y="1380108"/>
                  </a:lnTo>
                  <a:lnTo>
                    <a:pt x="2706243" y="0"/>
                  </a:lnTo>
                  <a:close/>
                </a:path>
              </a:pathLst>
            </a:custGeom>
            <a:solidFill>
              <a:srgbClr val="A8D0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9429495" y="2470150"/>
              <a:ext cx="2706370" cy="1380490"/>
            </a:xfrm>
            <a:custGeom>
              <a:avLst/>
              <a:gdLst/>
              <a:ahLst/>
              <a:cxnLst/>
              <a:rect l="l" t="t" r="r" b="b"/>
              <a:pathLst>
                <a:path w="2706370" h="1380489">
                  <a:moveTo>
                    <a:pt x="0" y="1380108"/>
                  </a:moveTo>
                  <a:lnTo>
                    <a:pt x="2706243" y="1380108"/>
                  </a:lnTo>
                  <a:lnTo>
                    <a:pt x="2706243" y="0"/>
                  </a:lnTo>
                  <a:lnTo>
                    <a:pt x="0" y="0"/>
                  </a:lnTo>
                  <a:lnTo>
                    <a:pt x="0" y="1380108"/>
                  </a:lnTo>
                  <a:close/>
                </a:path>
              </a:pathLst>
            </a:custGeom>
            <a:ln w="19050">
              <a:solidFill>
                <a:srgbClr val="007D9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0" y="996569"/>
            <a:ext cx="8299450" cy="0"/>
          </a:xfrm>
          <a:custGeom>
            <a:avLst/>
            <a:gdLst/>
            <a:ahLst/>
            <a:cxnLst/>
            <a:rect l="l" t="t" r="r" b="b"/>
            <a:pathLst>
              <a:path w="8299450" h="0">
                <a:moveTo>
                  <a:pt x="0" y="0"/>
                </a:moveTo>
                <a:lnTo>
                  <a:pt x="8299450" y="0"/>
                </a:lnTo>
              </a:path>
            </a:pathLst>
          </a:custGeom>
          <a:ln w="38100">
            <a:solidFill>
              <a:srgbClr val="C55A1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16179" y="1076655"/>
            <a:ext cx="446913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19100" indent="-406400">
              <a:lnSpc>
                <a:spcPct val="100000"/>
              </a:lnSpc>
              <a:spcBef>
                <a:spcPts val="105"/>
              </a:spcBef>
              <a:buSzPct val="110000"/>
              <a:buChar char="▪"/>
              <a:tabLst>
                <a:tab pos="419100" algn="l"/>
              </a:tabLst>
            </a:pPr>
            <a:r>
              <a:rPr dirty="0" sz="2000">
                <a:latin typeface="Calibri"/>
                <a:cs typeface="Calibri"/>
              </a:rPr>
              <a:t>unionfs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permits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layering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file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systems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0623" y="1390243"/>
            <a:ext cx="4291330" cy="861060"/>
          </a:xfrm>
          <a:prstGeom prst="rect">
            <a:avLst/>
          </a:prstGeom>
        </p:spPr>
        <p:txBody>
          <a:bodyPr wrap="square" lIns="0" tIns="125095" rIns="0" bIns="0" rtlCol="0" vert="horz">
            <a:spAutoFit/>
          </a:bodyPr>
          <a:lstStyle/>
          <a:p>
            <a:pPr marL="372110" indent="-359410">
              <a:lnSpc>
                <a:spcPct val="100000"/>
              </a:lnSpc>
              <a:spcBef>
                <a:spcPts val="985"/>
              </a:spcBef>
              <a:buFont typeface="Arial"/>
              <a:buChar char="•"/>
              <a:tabLst>
                <a:tab pos="372110" algn="l"/>
              </a:tabLst>
            </a:pPr>
            <a:r>
              <a:rPr dirty="0" sz="2000" i="1">
                <a:latin typeface="Calibri"/>
                <a:cs typeface="Calibri"/>
              </a:rPr>
              <a:t>/Fruits</a:t>
            </a:r>
            <a:r>
              <a:rPr dirty="0" sz="2000" spc="-45" i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contains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files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Apple,</a:t>
            </a:r>
            <a:r>
              <a:rPr dirty="0" sz="2000" spc="-60" i="1">
                <a:latin typeface="Calibri"/>
                <a:cs typeface="Calibri"/>
              </a:rPr>
              <a:t> </a:t>
            </a:r>
            <a:r>
              <a:rPr dirty="0" sz="2000" spc="-10" i="1">
                <a:latin typeface="Calibri"/>
                <a:cs typeface="Calibri"/>
              </a:rPr>
              <a:t>Tomato</a:t>
            </a:r>
            <a:endParaRPr sz="20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890"/>
              </a:spcBef>
              <a:buFont typeface="Arial"/>
              <a:buChar char="•"/>
              <a:tabLst>
                <a:tab pos="372110" algn="l"/>
              </a:tabLst>
            </a:pPr>
            <a:r>
              <a:rPr dirty="0" sz="2000" i="1">
                <a:latin typeface="Calibri"/>
                <a:cs typeface="Calibri"/>
              </a:rPr>
              <a:t>/Vegetables</a:t>
            </a:r>
            <a:r>
              <a:rPr dirty="0" sz="2000" spc="-80" i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contains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Carrots,</a:t>
            </a:r>
            <a:r>
              <a:rPr dirty="0" sz="2000" spc="-40" i="1">
                <a:latin typeface="Calibri"/>
                <a:cs typeface="Calibri"/>
              </a:rPr>
              <a:t> </a:t>
            </a:r>
            <a:r>
              <a:rPr dirty="0" sz="2000" spc="-10" i="1">
                <a:latin typeface="Calibri"/>
                <a:cs typeface="Calibri"/>
              </a:rPr>
              <a:t>Tomato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9419970" y="1065911"/>
            <a:ext cx="2725420" cy="1399540"/>
            <a:chOff x="9419970" y="1065911"/>
            <a:chExt cx="2725420" cy="1399540"/>
          </a:xfrm>
        </p:grpSpPr>
        <p:sp>
          <p:nvSpPr>
            <p:cNvPr id="15" name="object 15"/>
            <p:cNvSpPr/>
            <p:nvPr/>
          </p:nvSpPr>
          <p:spPr>
            <a:xfrm>
              <a:off x="9429495" y="1075436"/>
              <a:ext cx="2706370" cy="1380490"/>
            </a:xfrm>
            <a:custGeom>
              <a:avLst/>
              <a:gdLst/>
              <a:ahLst/>
              <a:cxnLst/>
              <a:rect l="l" t="t" r="r" b="b"/>
              <a:pathLst>
                <a:path w="2706370" h="1380489">
                  <a:moveTo>
                    <a:pt x="2706243" y="0"/>
                  </a:moveTo>
                  <a:lnTo>
                    <a:pt x="0" y="0"/>
                  </a:lnTo>
                  <a:lnTo>
                    <a:pt x="0" y="1380109"/>
                  </a:lnTo>
                  <a:lnTo>
                    <a:pt x="2706243" y="1380109"/>
                  </a:lnTo>
                  <a:lnTo>
                    <a:pt x="2706243" y="0"/>
                  </a:lnTo>
                  <a:close/>
                </a:path>
              </a:pathLst>
            </a:custGeom>
            <a:solidFill>
              <a:srgbClr val="ADAB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9429495" y="1075436"/>
              <a:ext cx="2706370" cy="1380490"/>
            </a:xfrm>
            <a:custGeom>
              <a:avLst/>
              <a:gdLst/>
              <a:ahLst/>
              <a:cxnLst/>
              <a:rect l="l" t="t" r="r" b="b"/>
              <a:pathLst>
                <a:path w="2706370" h="1380489">
                  <a:moveTo>
                    <a:pt x="0" y="1380109"/>
                  </a:moveTo>
                  <a:lnTo>
                    <a:pt x="2706243" y="1380109"/>
                  </a:lnTo>
                  <a:lnTo>
                    <a:pt x="2706243" y="0"/>
                  </a:lnTo>
                  <a:lnTo>
                    <a:pt x="0" y="0"/>
                  </a:lnTo>
                  <a:lnTo>
                    <a:pt x="0" y="1380109"/>
                  </a:lnTo>
                  <a:close/>
                </a:path>
              </a:pathLst>
            </a:custGeom>
            <a:ln w="19050">
              <a:solidFill>
                <a:srgbClr val="007D9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10537063" y="1097737"/>
            <a:ext cx="49212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Corbel"/>
                <a:cs typeface="Corbel"/>
              </a:rPr>
              <a:t>/Fruits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568688" y="1484490"/>
            <a:ext cx="1204595" cy="760095"/>
          </a:xfrm>
          <a:custGeom>
            <a:avLst/>
            <a:gdLst/>
            <a:ahLst/>
            <a:cxnLst/>
            <a:rect l="l" t="t" r="r" b="b"/>
            <a:pathLst>
              <a:path w="1204595" h="760094">
                <a:moveTo>
                  <a:pt x="0" y="759980"/>
                </a:moveTo>
                <a:lnTo>
                  <a:pt x="1204531" y="759980"/>
                </a:lnTo>
                <a:lnTo>
                  <a:pt x="1204531" y="0"/>
                </a:lnTo>
                <a:lnTo>
                  <a:pt x="0" y="0"/>
                </a:lnTo>
                <a:lnTo>
                  <a:pt x="0" y="759980"/>
                </a:lnTo>
                <a:close/>
              </a:path>
            </a:pathLst>
          </a:custGeom>
          <a:ln w="11999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9568688" y="1484490"/>
            <a:ext cx="1204595" cy="760095"/>
          </a:xfrm>
          <a:prstGeom prst="rect">
            <a:avLst/>
          </a:prstGeom>
          <a:solidFill>
            <a:srgbClr val="F4AF81"/>
          </a:solidFill>
        </p:spPr>
        <p:txBody>
          <a:bodyPr wrap="square" lIns="0" tIns="590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65"/>
              </a:spcBef>
            </a:pPr>
            <a:endParaRPr sz="1400">
              <a:latin typeface="Times New Roman"/>
              <a:cs typeface="Times New Roman"/>
            </a:endParaRPr>
          </a:p>
          <a:p>
            <a:pPr marL="387350">
              <a:lnSpc>
                <a:spcPct val="100000"/>
              </a:lnSpc>
            </a:pPr>
            <a:r>
              <a:rPr dirty="0" sz="1400" spc="-10">
                <a:latin typeface="Corbel"/>
                <a:cs typeface="Corbel"/>
              </a:rPr>
              <a:t>Apple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0806683" y="1484490"/>
            <a:ext cx="1204595" cy="760095"/>
          </a:xfrm>
          <a:custGeom>
            <a:avLst/>
            <a:gdLst/>
            <a:ahLst/>
            <a:cxnLst/>
            <a:rect l="l" t="t" r="r" b="b"/>
            <a:pathLst>
              <a:path w="1204595" h="760094">
                <a:moveTo>
                  <a:pt x="0" y="759980"/>
                </a:moveTo>
                <a:lnTo>
                  <a:pt x="1204531" y="759980"/>
                </a:lnTo>
                <a:lnTo>
                  <a:pt x="1204531" y="0"/>
                </a:lnTo>
                <a:lnTo>
                  <a:pt x="0" y="0"/>
                </a:lnTo>
                <a:lnTo>
                  <a:pt x="0" y="759980"/>
                </a:lnTo>
                <a:close/>
              </a:path>
            </a:pathLst>
          </a:custGeom>
          <a:ln w="11999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0806683" y="1484490"/>
            <a:ext cx="1204595" cy="760095"/>
          </a:xfrm>
          <a:prstGeom prst="rect">
            <a:avLst/>
          </a:prstGeom>
          <a:solidFill>
            <a:srgbClr val="F4AF81"/>
          </a:solidFill>
        </p:spPr>
        <p:txBody>
          <a:bodyPr wrap="square" lIns="0" tIns="590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65"/>
              </a:spcBef>
            </a:pPr>
            <a:endParaRPr sz="1400">
              <a:latin typeface="Times New Roman"/>
              <a:cs typeface="Times New Roman"/>
            </a:endParaRPr>
          </a:p>
          <a:p>
            <a:pPr marL="229870">
              <a:lnSpc>
                <a:spcPct val="100000"/>
              </a:lnSpc>
            </a:pPr>
            <a:r>
              <a:rPr dirty="0" sz="1400" spc="-10">
                <a:latin typeface="Corbel"/>
                <a:cs typeface="Corbel"/>
              </a:rPr>
              <a:t>Tomatoes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0623" y="2335733"/>
            <a:ext cx="6845934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 i="1">
                <a:solidFill>
                  <a:srgbClr val="00AF50"/>
                </a:solidFill>
                <a:latin typeface="Calibri"/>
                <a:cs typeface="Calibri"/>
              </a:rPr>
              <a:t>mount</a:t>
            </a:r>
            <a:r>
              <a:rPr dirty="0" sz="2000" spc="-20" b="1" i="1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dirty="0" sz="2000" spc="-15" b="1" i="1">
                <a:solidFill>
                  <a:srgbClr val="00AF50"/>
                </a:solidFill>
                <a:latin typeface="Calibri"/>
                <a:cs typeface="Calibri"/>
              </a:rPr>
              <a:t>–</a:t>
            </a:r>
            <a:r>
              <a:rPr dirty="0" sz="2000" b="1" i="1">
                <a:solidFill>
                  <a:srgbClr val="00AF50"/>
                </a:solidFill>
                <a:latin typeface="Calibri"/>
                <a:cs typeface="Calibri"/>
              </a:rPr>
              <a:t>t</a:t>
            </a:r>
            <a:r>
              <a:rPr dirty="0" sz="2000" spc="-5" b="1" i="1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dirty="0" sz="2000" b="1" i="1">
                <a:solidFill>
                  <a:srgbClr val="00AF50"/>
                </a:solidFill>
                <a:latin typeface="Calibri"/>
                <a:cs typeface="Calibri"/>
              </a:rPr>
              <a:t>unionfs</a:t>
            </a:r>
            <a:r>
              <a:rPr dirty="0" sz="2000" spc="-25" b="1" i="1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dirty="0" sz="2000" spc="-15" b="1" i="1">
                <a:solidFill>
                  <a:srgbClr val="00AF50"/>
                </a:solidFill>
                <a:latin typeface="Calibri"/>
                <a:cs typeface="Calibri"/>
              </a:rPr>
              <a:t>–</a:t>
            </a:r>
            <a:r>
              <a:rPr dirty="0" sz="2000" b="1" i="1">
                <a:solidFill>
                  <a:srgbClr val="00AF50"/>
                </a:solidFill>
                <a:latin typeface="Calibri"/>
                <a:cs typeface="Calibri"/>
              </a:rPr>
              <a:t>o </a:t>
            </a:r>
            <a:r>
              <a:rPr dirty="0" sz="2000" spc="-10" b="1" i="1">
                <a:solidFill>
                  <a:srgbClr val="00AF50"/>
                </a:solidFill>
                <a:latin typeface="Calibri"/>
                <a:cs typeface="Calibri"/>
              </a:rPr>
              <a:t>dirs=/Fruits:/Vegetables</a:t>
            </a:r>
            <a:r>
              <a:rPr dirty="0" sz="2000" spc="-30" b="1" i="1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dirty="0" sz="2000" b="1" i="1">
                <a:solidFill>
                  <a:srgbClr val="00AF50"/>
                </a:solidFill>
                <a:latin typeface="Calibri"/>
                <a:cs typeface="Calibri"/>
              </a:rPr>
              <a:t>none</a:t>
            </a:r>
            <a:r>
              <a:rPr dirty="0" sz="2000" spc="-25" b="1" i="1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dirty="0" sz="2000" spc="-10" b="1" i="1">
                <a:solidFill>
                  <a:srgbClr val="00AF50"/>
                </a:solidFill>
                <a:latin typeface="Calibri"/>
                <a:cs typeface="Calibri"/>
              </a:rPr>
              <a:t>/mnt/healthy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8374126" y="2163952"/>
            <a:ext cx="641350" cy="407034"/>
            <a:chOff x="8374126" y="2163952"/>
            <a:chExt cx="641350" cy="407034"/>
          </a:xfrm>
        </p:grpSpPr>
        <p:sp>
          <p:nvSpPr>
            <p:cNvPr id="52" name="object 52"/>
            <p:cNvSpPr/>
            <p:nvPr/>
          </p:nvSpPr>
          <p:spPr>
            <a:xfrm>
              <a:off x="8386826" y="2176652"/>
              <a:ext cx="615950" cy="381635"/>
            </a:xfrm>
            <a:custGeom>
              <a:avLst/>
              <a:gdLst/>
              <a:ahLst/>
              <a:cxnLst/>
              <a:rect l="l" t="t" r="r" b="b"/>
              <a:pathLst>
                <a:path w="615950" h="381635">
                  <a:moveTo>
                    <a:pt x="425196" y="0"/>
                  </a:moveTo>
                  <a:lnTo>
                    <a:pt x="425196" y="95376"/>
                  </a:lnTo>
                  <a:lnTo>
                    <a:pt x="0" y="95376"/>
                  </a:lnTo>
                  <a:lnTo>
                    <a:pt x="0" y="286131"/>
                  </a:lnTo>
                  <a:lnTo>
                    <a:pt x="425196" y="286131"/>
                  </a:lnTo>
                  <a:lnTo>
                    <a:pt x="425196" y="381508"/>
                  </a:lnTo>
                  <a:lnTo>
                    <a:pt x="615950" y="190754"/>
                  </a:lnTo>
                  <a:lnTo>
                    <a:pt x="425196" y="0"/>
                  </a:lnTo>
                  <a:close/>
                </a:path>
              </a:pathLst>
            </a:custGeom>
            <a:solidFill>
              <a:srgbClr val="D0CE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8386826" y="2176652"/>
              <a:ext cx="615950" cy="381635"/>
            </a:xfrm>
            <a:custGeom>
              <a:avLst/>
              <a:gdLst/>
              <a:ahLst/>
              <a:cxnLst/>
              <a:rect l="l" t="t" r="r" b="b"/>
              <a:pathLst>
                <a:path w="615950" h="381635">
                  <a:moveTo>
                    <a:pt x="0" y="95376"/>
                  </a:moveTo>
                  <a:lnTo>
                    <a:pt x="425196" y="95376"/>
                  </a:lnTo>
                  <a:lnTo>
                    <a:pt x="425196" y="0"/>
                  </a:lnTo>
                  <a:lnTo>
                    <a:pt x="615950" y="190754"/>
                  </a:lnTo>
                  <a:lnTo>
                    <a:pt x="425196" y="381508"/>
                  </a:lnTo>
                  <a:lnTo>
                    <a:pt x="425196" y="286131"/>
                  </a:lnTo>
                  <a:lnTo>
                    <a:pt x="0" y="286131"/>
                  </a:lnTo>
                  <a:lnTo>
                    <a:pt x="0" y="95376"/>
                  </a:lnTo>
                  <a:close/>
                </a:path>
              </a:pathLst>
            </a:custGeom>
            <a:ln w="254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0332846" y="2493010"/>
            <a:ext cx="90106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Corbel"/>
                <a:cs typeface="Corbel"/>
              </a:rPr>
              <a:t>/Vegetables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5223" y="2640304"/>
            <a:ext cx="5536565" cy="861060"/>
          </a:xfrm>
          <a:prstGeom prst="rect">
            <a:avLst/>
          </a:prstGeom>
        </p:spPr>
        <p:txBody>
          <a:bodyPr wrap="square" lIns="0" tIns="125095" rIns="0" bIns="0" rtlCol="0" vert="horz">
            <a:spAutoFit/>
          </a:bodyPr>
          <a:lstStyle/>
          <a:p>
            <a:pPr marL="397510" indent="-359410">
              <a:lnSpc>
                <a:spcPct val="100000"/>
              </a:lnSpc>
              <a:spcBef>
                <a:spcPts val="985"/>
              </a:spcBef>
              <a:buFont typeface="Arial"/>
              <a:buChar char="•"/>
              <a:tabLst>
                <a:tab pos="397510" algn="l"/>
              </a:tabLst>
            </a:pPr>
            <a:r>
              <a:rPr dirty="0" sz="2000" i="1">
                <a:latin typeface="Calibri"/>
                <a:cs typeface="Calibri"/>
              </a:rPr>
              <a:t>/mnt/healthy</a:t>
            </a:r>
            <a:r>
              <a:rPr dirty="0" sz="2000" spc="-45" i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3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files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–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Apple,</a:t>
            </a:r>
            <a:r>
              <a:rPr dirty="0" sz="2000" spc="-4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Tomato,</a:t>
            </a:r>
            <a:r>
              <a:rPr dirty="0" sz="2000" spc="-35" i="1">
                <a:latin typeface="Calibri"/>
                <a:cs typeface="Calibri"/>
              </a:rPr>
              <a:t> </a:t>
            </a:r>
            <a:r>
              <a:rPr dirty="0" sz="2000" spc="-10" i="1">
                <a:latin typeface="Calibri"/>
                <a:cs typeface="Calibri"/>
              </a:rPr>
              <a:t>Carrots</a:t>
            </a:r>
            <a:endParaRPr sz="2000">
              <a:latin typeface="Calibri"/>
              <a:cs typeface="Calibri"/>
            </a:endParaRPr>
          </a:p>
          <a:p>
            <a:pPr marL="397510" indent="-359410">
              <a:lnSpc>
                <a:spcPct val="100000"/>
              </a:lnSpc>
              <a:spcBef>
                <a:spcPts val="890"/>
              </a:spcBef>
              <a:buFont typeface="Arial"/>
              <a:buChar char="•"/>
              <a:tabLst>
                <a:tab pos="397510" algn="l"/>
              </a:tabLst>
            </a:pPr>
            <a:r>
              <a:rPr dirty="0" sz="2000" i="1">
                <a:latin typeface="Calibri"/>
                <a:cs typeface="Calibri"/>
              </a:rPr>
              <a:t>Tomato</a:t>
            </a:r>
            <a:r>
              <a:rPr dirty="0" sz="2000" spc="-30" i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comes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/Fruits</a:t>
            </a:r>
            <a:r>
              <a:rPr dirty="0" sz="2000" spc="-20" i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(1</a:t>
            </a:r>
            <a:r>
              <a:rPr dirty="0" baseline="25641" sz="1950">
                <a:latin typeface="Calibri"/>
                <a:cs typeface="Calibri"/>
              </a:rPr>
              <a:t>st</a:t>
            </a:r>
            <a:r>
              <a:rPr dirty="0" baseline="25641" sz="1950" spc="209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dirs</a:t>
            </a:r>
            <a:r>
              <a:rPr dirty="0" sz="2000" spc="-25" i="1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option)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558019" y="2918650"/>
            <a:ext cx="1203325" cy="761365"/>
          </a:xfrm>
          <a:custGeom>
            <a:avLst/>
            <a:gdLst/>
            <a:ahLst/>
            <a:cxnLst/>
            <a:rect l="l" t="t" r="r" b="b"/>
            <a:pathLst>
              <a:path w="1203325" h="761364">
                <a:moveTo>
                  <a:pt x="0" y="761301"/>
                </a:moveTo>
                <a:lnTo>
                  <a:pt x="1203198" y="761301"/>
                </a:lnTo>
                <a:lnTo>
                  <a:pt x="1203198" y="0"/>
                </a:lnTo>
                <a:lnTo>
                  <a:pt x="0" y="0"/>
                </a:lnTo>
                <a:lnTo>
                  <a:pt x="0" y="761301"/>
                </a:lnTo>
                <a:close/>
              </a:path>
            </a:pathLst>
          </a:custGeom>
          <a:ln w="11999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9558019" y="2918650"/>
            <a:ext cx="1203325" cy="761365"/>
          </a:xfrm>
          <a:prstGeom prst="rect">
            <a:avLst/>
          </a:prstGeom>
          <a:solidFill>
            <a:srgbClr val="BAD5ED"/>
          </a:solidFill>
        </p:spPr>
        <p:txBody>
          <a:bodyPr wrap="square" lIns="0" tIns="596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70"/>
              </a:spcBef>
            </a:pPr>
            <a:endParaRPr sz="1400">
              <a:latin typeface="Times New Roman"/>
              <a:cs typeface="Times New Roman"/>
            </a:endParaRPr>
          </a:p>
          <a:p>
            <a:pPr marL="332105">
              <a:lnSpc>
                <a:spcPct val="100000"/>
              </a:lnSpc>
            </a:pPr>
            <a:r>
              <a:rPr dirty="0" sz="1400" spc="-10">
                <a:latin typeface="Corbel"/>
                <a:cs typeface="Corbel"/>
              </a:rPr>
              <a:t>Carrots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0796016" y="2918650"/>
            <a:ext cx="1203325" cy="761365"/>
          </a:xfrm>
          <a:custGeom>
            <a:avLst/>
            <a:gdLst/>
            <a:ahLst/>
            <a:cxnLst/>
            <a:rect l="l" t="t" r="r" b="b"/>
            <a:pathLst>
              <a:path w="1203325" h="761364">
                <a:moveTo>
                  <a:pt x="0" y="761301"/>
                </a:moveTo>
                <a:lnTo>
                  <a:pt x="1203198" y="761301"/>
                </a:lnTo>
                <a:lnTo>
                  <a:pt x="1203198" y="0"/>
                </a:lnTo>
                <a:lnTo>
                  <a:pt x="0" y="0"/>
                </a:lnTo>
                <a:lnTo>
                  <a:pt x="0" y="761301"/>
                </a:lnTo>
                <a:close/>
              </a:path>
            </a:pathLst>
          </a:custGeom>
          <a:ln w="11999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0796016" y="2918650"/>
            <a:ext cx="1203325" cy="761365"/>
          </a:xfrm>
          <a:prstGeom prst="rect">
            <a:avLst/>
          </a:prstGeom>
          <a:solidFill>
            <a:srgbClr val="BAD5ED"/>
          </a:solidFill>
        </p:spPr>
        <p:txBody>
          <a:bodyPr wrap="square" lIns="0" tIns="596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70"/>
              </a:spcBef>
            </a:pPr>
            <a:endParaRPr sz="1400">
              <a:latin typeface="Times New Roman"/>
              <a:cs typeface="Times New Roman"/>
            </a:endParaRPr>
          </a:p>
          <a:p>
            <a:pPr marL="229870">
              <a:lnSpc>
                <a:spcPct val="100000"/>
              </a:lnSpc>
            </a:pPr>
            <a:r>
              <a:rPr dirty="0" sz="1400" spc="-10">
                <a:latin typeface="Corbel"/>
                <a:cs typeface="Corbel"/>
              </a:rPr>
              <a:t>Tomatoes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6179" y="3586098"/>
            <a:ext cx="495046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11480" indent="-398780">
              <a:lnSpc>
                <a:spcPct val="100000"/>
              </a:lnSpc>
              <a:spcBef>
                <a:spcPts val="105"/>
              </a:spcBef>
              <a:buChar char="▪"/>
              <a:tabLst>
                <a:tab pos="411480" algn="l"/>
              </a:tabLst>
            </a:pP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if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/Fruits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layered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top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/Vegetables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37477" y="4007332"/>
            <a:ext cx="7857490" cy="2489200"/>
          </a:xfrm>
          <a:custGeom>
            <a:avLst/>
            <a:gdLst/>
            <a:ahLst/>
            <a:cxnLst/>
            <a:rect l="l" t="t" r="r" b="b"/>
            <a:pathLst>
              <a:path w="7857490" h="2489200">
                <a:moveTo>
                  <a:pt x="7856982" y="0"/>
                </a:moveTo>
                <a:lnTo>
                  <a:pt x="0" y="0"/>
                </a:lnTo>
                <a:lnTo>
                  <a:pt x="0" y="2488946"/>
                </a:lnTo>
                <a:lnTo>
                  <a:pt x="7856982" y="2488946"/>
                </a:lnTo>
                <a:lnTo>
                  <a:pt x="7856982" y="0"/>
                </a:lnTo>
                <a:close/>
              </a:path>
            </a:pathLst>
          </a:custGeom>
          <a:solidFill>
            <a:srgbClr val="BAD5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328879" y="4061205"/>
            <a:ext cx="62706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2265" indent="-342265">
              <a:lnSpc>
                <a:spcPct val="100000"/>
              </a:lnSpc>
              <a:spcBef>
                <a:spcPts val="100"/>
              </a:spcBef>
              <a:buChar char="▪"/>
              <a:tabLst>
                <a:tab pos="342265" algn="l"/>
              </a:tabLst>
            </a:pPr>
            <a:r>
              <a:rPr dirty="0" sz="2000" spc="-10">
                <a:latin typeface="Calibri"/>
                <a:cs typeface="Calibri"/>
              </a:rPr>
              <a:t>-</a:t>
            </a:r>
            <a:r>
              <a:rPr dirty="0" sz="2000">
                <a:latin typeface="Calibri"/>
                <a:cs typeface="Calibri"/>
              </a:rPr>
              <a:t>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cow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option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mount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command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enables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copy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write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33323" y="4365530"/>
            <a:ext cx="4339590" cy="1276985"/>
          </a:xfrm>
          <a:prstGeom prst="rect">
            <a:avLst/>
          </a:prstGeom>
        </p:spPr>
        <p:txBody>
          <a:bodyPr wrap="square" lIns="0" tIns="124460" rIns="0" bIns="0" rtlCol="0" vert="horz">
            <a:spAutoFit/>
          </a:bodyPr>
          <a:lstStyle/>
          <a:p>
            <a:pPr marL="359410" indent="-359410">
              <a:lnSpc>
                <a:spcPct val="100000"/>
              </a:lnSpc>
              <a:spcBef>
                <a:spcPts val="980"/>
              </a:spcBef>
              <a:buFont typeface="Arial"/>
              <a:buChar char="•"/>
              <a:tabLst>
                <a:tab pos="359410" algn="l"/>
              </a:tabLst>
            </a:pPr>
            <a:r>
              <a:rPr dirty="0" sz="2000" i="1">
                <a:latin typeface="Calibri"/>
                <a:cs typeface="Calibri"/>
              </a:rPr>
              <a:t>If</a:t>
            </a:r>
            <a:r>
              <a:rPr dirty="0" sz="2000" spc="-2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change</a:t>
            </a:r>
            <a:r>
              <a:rPr dirty="0" sz="2000" spc="-3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is</a:t>
            </a:r>
            <a:r>
              <a:rPr dirty="0" sz="2000" spc="-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made</a:t>
            </a:r>
            <a:r>
              <a:rPr dirty="0" sz="2000" spc="-2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to</a:t>
            </a:r>
            <a:r>
              <a:rPr dirty="0" sz="2000" spc="-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a</a:t>
            </a:r>
            <a:r>
              <a:rPr dirty="0" sz="2000" spc="-20" i="1">
                <a:latin typeface="Calibri"/>
                <a:cs typeface="Calibri"/>
              </a:rPr>
              <a:t> file</a:t>
            </a:r>
            <a:endParaRPr sz="2000">
              <a:latin typeface="Calibri"/>
              <a:cs typeface="Calibri"/>
            </a:endParaRPr>
          </a:p>
          <a:p>
            <a:pPr marL="359410" indent="-359410">
              <a:lnSpc>
                <a:spcPct val="100000"/>
              </a:lnSpc>
              <a:spcBef>
                <a:spcPts val="890"/>
              </a:spcBef>
              <a:buFont typeface="Arial"/>
              <a:buChar char="•"/>
              <a:tabLst>
                <a:tab pos="359410" algn="l"/>
              </a:tabLst>
            </a:pPr>
            <a:r>
              <a:rPr dirty="0" sz="2000" i="1">
                <a:latin typeface="Calibri"/>
                <a:cs typeface="Calibri"/>
              </a:rPr>
              <a:t>Original</a:t>
            </a:r>
            <a:r>
              <a:rPr dirty="0" sz="2000" spc="-1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file</a:t>
            </a:r>
            <a:r>
              <a:rPr dirty="0" sz="2000" spc="-1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is</a:t>
            </a:r>
            <a:r>
              <a:rPr dirty="0" sz="2000" spc="-2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not</a:t>
            </a:r>
            <a:r>
              <a:rPr dirty="0" sz="2000" spc="-20" i="1">
                <a:latin typeface="Calibri"/>
                <a:cs typeface="Calibri"/>
              </a:rPr>
              <a:t> </a:t>
            </a:r>
            <a:r>
              <a:rPr dirty="0" sz="2000" spc="-10" i="1">
                <a:latin typeface="Calibri"/>
                <a:cs typeface="Calibri"/>
              </a:rPr>
              <a:t>modified</a:t>
            </a:r>
            <a:endParaRPr sz="2000">
              <a:latin typeface="Calibri"/>
              <a:cs typeface="Calibri"/>
            </a:endParaRPr>
          </a:p>
          <a:p>
            <a:pPr marL="359410" indent="-359410">
              <a:lnSpc>
                <a:spcPct val="100000"/>
              </a:lnSpc>
              <a:spcBef>
                <a:spcPts val="880"/>
              </a:spcBef>
              <a:buFont typeface="Arial"/>
              <a:buChar char="•"/>
              <a:tabLst>
                <a:tab pos="359410" algn="l"/>
              </a:tabLst>
            </a:pPr>
            <a:r>
              <a:rPr dirty="0" sz="2000" i="1">
                <a:latin typeface="Calibri"/>
                <a:cs typeface="Calibri"/>
              </a:rPr>
              <a:t>New</a:t>
            </a:r>
            <a:r>
              <a:rPr dirty="0" sz="2000" spc="-3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file</a:t>
            </a:r>
            <a:r>
              <a:rPr dirty="0" sz="2000" spc="-2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is</a:t>
            </a:r>
            <a:r>
              <a:rPr dirty="0" sz="2000" spc="-1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created</a:t>
            </a:r>
            <a:r>
              <a:rPr dirty="0" sz="2000" spc="-3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in</a:t>
            </a:r>
            <a:r>
              <a:rPr dirty="0" sz="2000" spc="-1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a</a:t>
            </a:r>
            <a:r>
              <a:rPr dirty="0" sz="2000" spc="-2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hidden</a:t>
            </a:r>
            <a:r>
              <a:rPr dirty="0" sz="2000" spc="-55" i="1">
                <a:latin typeface="Calibri"/>
                <a:cs typeface="Calibri"/>
              </a:rPr>
              <a:t> </a:t>
            </a:r>
            <a:r>
              <a:rPr dirty="0" sz="2000" spc="-10" i="1">
                <a:latin typeface="Calibri"/>
                <a:cs typeface="Calibri"/>
              </a:rPr>
              <a:t>location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28879" y="5667319"/>
            <a:ext cx="7595870" cy="756920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342265" indent="-342265">
              <a:lnSpc>
                <a:spcPct val="100000"/>
              </a:lnSpc>
              <a:spcBef>
                <a:spcPts val="575"/>
              </a:spcBef>
              <a:buChar char="▪"/>
              <a:tabLst>
                <a:tab pos="342265" algn="l"/>
              </a:tabLst>
            </a:pPr>
            <a:r>
              <a:rPr dirty="0" sz="2000">
                <a:latin typeface="Calibri"/>
                <a:cs typeface="Calibri"/>
              </a:rPr>
              <a:t>If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/Fruits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mounted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ro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(read-</a:t>
            </a:r>
            <a:r>
              <a:rPr dirty="0" sz="2000">
                <a:latin typeface="Calibri"/>
                <a:cs typeface="Calibri"/>
              </a:rPr>
              <a:t>only),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changes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will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recorded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50">
                <a:latin typeface="Calibri"/>
                <a:cs typeface="Calibri"/>
              </a:rPr>
              <a:t>a</a:t>
            </a:r>
            <a:endParaRPr sz="2000">
              <a:latin typeface="Calibri"/>
              <a:cs typeface="Calibri"/>
            </a:endParaRPr>
          </a:p>
          <a:p>
            <a:pPr marL="342900">
              <a:lnSpc>
                <a:spcPct val="100000"/>
              </a:lnSpc>
              <a:spcBef>
                <a:spcPts val="480"/>
              </a:spcBef>
            </a:pPr>
            <a:r>
              <a:rPr dirty="0" sz="2000">
                <a:latin typeface="Calibri"/>
                <a:cs typeface="Calibri"/>
              </a:rPr>
              <a:t>temporary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layer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9431146" y="5431244"/>
            <a:ext cx="2770505" cy="1161415"/>
            <a:chOff x="9431146" y="5431244"/>
            <a:chExt cx="2770505" cy="1161415"/>
          </a:xfrm>
        </p:grpSpPr>
        <p:sp>
          <p:nvSpPr>
            <p:cNvPr id="31" name="object 31"/>
            <p:cNvSpPr/>
            <p:nvPr/>
          </p:nvSpPr>
          <p:spPr>
            <a:xfrm>
              <a:off x="9440671" y="5440769"/>
              <a:ext cx="2751455" cy="1142365"/>
            </a:xfrm>
            <a:custGeom>
              <a:avLst/>
              <a:gdLst/>
              <a:ahLst/>
              <a:cxnLst/>
              <a:rect l="l" t="t" r="r" b="b"/>
              <a:pathLst>
                <a:path w="2751454" h="1142365">
                  <a:moveTo>
                    <a:pt x="2751328" y="0"/>
                  </a:moveTo>
                  <a:lnTo>
                    <a:pt x="0" y="0"/>
                  </a:lnTo>
                  <a:lnTo>
                    <a:pt x="0" y="1142111"/>
                  </a:lnTo>
                  <a:lnTo>
                    <a:pt x="2751328" y="1142111"/>
                  </a:lnTo>
                  <a:lnTo>
                    <a:pt x="2751328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9440671" y="5440769"/>
              <a:ext cx="2751455" cy="1142365"/>
            </a:xfrm>
            <a:custGeom>
              <a:avLst/>
              <a:gdLst/>
              <a:ahLst/>
              <a:cxnLst/>
              <a:rect l="l" t="t" r="r" b="b"/>
              <a:pathLst>
                <a:path w="2751454" h="1142365">
                  <a:moveTo>
                    <a:pt x="2751328" y="0"/>
                  </a:moveTo>
                  <a:lnTo>
                    <a:pt x="0" y="0"/>
                  </a:lnTo>
                  <a:lnTo>
                    <a:pt x="0" y="1142111"/>
                  </a:lnTo>
                  <a:lnTo>
                    <a:pt x="2751328" y="1142111"/>
                  </a:lnTo>
                </a:path>
              </a:pathLst>
            </a:custGeom>
            <a:ln w="19050">
              <a:solidFill>
                <a:srgbClr val="007D9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" name="object 34"/>
          <p:cNvGrpSpPr/>
          <p:nvPr/>
        </p:nvGrpSpPr>
        <p:grpSpPr>
          <a:xfrm>
            <a:off x="9431146" y="4278248"/>
            <a:ext cx="2770505" cy="1161415"/>
            <a:chOff x="9431146" y="4278248"/>
            <a:chExt cx="2770505" cy="1161415"/>
          </a:xfrm>
        </p:grpSpPr>
        <p:sp>
          <p:nvSpPr>
            <p:cNvPr id="35" name="object 35"/>
            <p:cNvSpPr/>
            <p:nvPr/>
          </p:nvSpPr>
          <p:spPr>
            <a:xfrm>
              <a:off x="9440671" y="4309617"/>
              <a:ext cx="2751455" cy="1120775"/>
            </a:xfrm>
            <a:custGeom>
              <a:avLst/>
              <a:gdLst/>
              <a:ahLst/>
              <a:cxnLst/>
              <a:rect l="l" t="t" r="r" b="b"/>
              <a:pathLst>
                <a:path w="2751454" h="1120775">
                  <a:moveTo>
                    <a:pt x="0" y="1120266"/>
                  </a:moveTo>
                  <a:lnTo>
                    <a:pt x="2751328" y="1120266"/>
                  </a:lnTo>
                  <a:lnTo>
                    <a:pt x="2751328" y="0"/>
                  </a:lnTo>
                  <a:lnTo>
                    <a:pt x="0" y="0"/>
                  </a:lnTo>
                  <a:lnTo>
                    <a:pt x="0" y="1120266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9440671" y="4287773"/>
              <a:ext cx="2751455" cy="1142365"/>
            </a:xfrm>
            <a:custGeom>
              <a:avLst/>
              <a:gdLst/>
              <a:ahLst/>
              <a:cxnLst/>
              <a:rect l="l" t="t" r="r" b="b"/>
              <a:pathLst>
                <a:path w="2751454" h="1142364">
                  <a:moveTo>
                    <a:pt x="2751328" y="0"/>
                  </a:moveTo>
                  <a:lnTo>
                    <a:pt x="0" y="0"/>
                  </a:lnTo>
                  <a:lnTo>
                    <a:pt x="0" y="1142111"/>
                  </a:lnTo>
                  <a:lnTo>
                    <a:pt x="2751328" y="1142111"/>
                  </a:lnTo>
                </a:path>
              </a:pathLst>
            </a:custGeom>
            <a:ln w="19049">
              <a:solidFill>
                <a:srgbClr val="007D9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/>
          <p:nvPr/>
        </p:nvSpPr>
        <p:spPr>
          <a:xfrm>
            <a:off x="9429495" y="4007459"/>
            <a:ext cx="2762885" cy="302260"/>
          </a:xfrm>
          <a:custGeom>
            <a:avLst/>
            <a:gdLst/>
            <a:ahLst/>
            <a:cxnLst/>
            <a:rect l="l" t="t" r="r" b="b"/>
            <a:pathLst>
              <a:path w="2762884" h="302260">
                <a:moveTo>
                  <a:pt x="2762504" y="0"/>
                </a:moveTo>
                <a:lnTo>
                  <a:pt x="0" y="0"/>
                </a:lnTo>
                <a:lnTo>
                  <a:pt x="0" y="302158"/>
                </a:lnTo>
                <a:lnTo>
                  <a:pt x="2762504" y="302158"/>
                </a:lnTo>
              </a:path>
            </a:pathLst>
          </a:custGeom>
          <a:ln w="19049">
            <a:solidFill>
              <a:srgbClr val="007D9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9429495" y="4007459"/>
            <a:ext cx="2762885" cy="302260"/>
          </a:xfrm>
          <a:prstGeom prst="rect">
            <a:avLst/>
          </a:prstGeom>
          <a:solidFill>
            <a:srgbClr val="EC7C30"/>
          </a:solidFill>
        </p:spPr>
        <p:txBody>
          <a:bodyPr wrap="square" lIns="0" tIns="36195" rIns="0" bIns="0" rtlCol="0" vert="horz">
            <a:spAutoFit/>
          </a:bodyPr>
          <a:lstStyle/>
          <a:p>
            <a:pPr algn="ctr" marL="40640">
              <a:lnSpc>
                <a:spcPct val="100000"/>
              </a:lnSpc>
              <a:spcBef>
                <a:spcPts val="285"/>
              </a:spcBef>
            </a:pPr>
            <a:r>
              <a:rPr dirty="0" sz="1400" b="1">
                <a:solidFill>
                  <a:srgbClr val="FFFF00"/>
                </a:solidFill>
                <a:latin typeface="Corbel"/>
                <a:cs typeface="Corbel"/>
              </a:rPr>
              <a:t>CoW</a:t>
            </a:r>
            <a:r>
              <a:rPr dirty="0" sz="1400" spc="-25" b="1">
                <a:solidFill>
                  <a:srgbClr val="FFFF00"/>
                </a:solidFill>
                <a:latin typeface="Corbel"/>
                <a:cs typeface="Corbel"/>
              </a:rPr>
              <a:t> </a:t>
            </a:r>
            <a:r>
              <a:rPr dirty="0" sz="1400" spc="-10" b="1">
                <a:solidFill>
                  <a:srgbClr val="FFFF00"/>
                </a:solidFill>
                <a:latin typeface="Corbel"/>
                <a:cs typeface="Corbel"/>
              </a:rPr>
              <a:t>layer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0595229" y="4311141"/>
            <a:ext cx="49149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Corbel"/>
                <a:cs typeface="Corbel"/>
              </a:rPr>
              <a:t>/Fruits</a:t>
            </a:r>
            <a:endParaRPr sz="1400">
              <a:latin typeface="Corbel"/>
              <a:cs typeface="Corbe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8383143" y="4885690"/>
            <a:ext cx="648970" cy="478790"/>
            <a:chOff x="8383143" y="4885690"/>
            <a:chExt cx="648970" cy="478790"/>
          </a:xfrm>
        </p:grpSpPr>
        <p:sp>
          <p:nvSpPr>
            <p:cNvPr id="49" name="object 49"/>
            <p:cNvSpPr/>
            <p:nvPr/>
          </p:nvSpPr>
          <p:spPr>
            <a:xfrm>
              <a:off x="8395843" y="4898390"/>
              <a:ext cx="623570" cy="453390"/>
            </a:xfrm>
            <a:custGeom>
              <a:avLst/>
              <a:gdLst/>
              <a:ahLst/>
              <a:cxnLst/>
              <a:rect l="l" t="t" r="r" b="b"/>
              <a:pathLst>
                <a:path w="623570" h="453389">
                  <a:moveTo>
                    <a:pt x="397001" y="0"/>
                  </a:moveTo>
                  <a:lnTo>
                    <a:pt x="397001" y="113157"/>
                  </a:lnTo>
                  <a:lnTo>
                    <a:pt x="0" y="113157"/>
                  </a:lnTo>
                  <a:lnTo>
                    <a:pt x="0" y="339725"/>
                  </a:lnTo>
                  <a:lnTo>
                    <a:pt x="397001" y="339725"/>
                  </a:lnTo>
                  <a:lnTo>
                    <a:pt x="397001" y="452882"/>
                  </a:lnTo>
                  <a:lnTo>
                    <a:pt x="623442" y="226441"/>
                  </a:lnTo>
                  <a:lnTo>
                    <a:pt x="397001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8395843" y="4898390"/>
              <a:ext cx="623570" cy="453390"/>
            </a:xfrm>
            <a:custGeom>
              <a:avLst/>
              <a:gdLst/>
              <a:ahLst/>
              <a:cxnLst/>
              <a:rect l="l" t="t" r="r" b="b"/>
              <a:pathLst>
                <a:path w="623570" h="453389">
                  <a:moveTo>
                    <a:pt x="0" y="113157"/>
                  </a:moveTo>
                  <a:lnTo>
                    <a:pt x="397001" y="113157"/>
                  </a:lnTo>
                  <a:lnTo>
                    <a:pt x="397001" y="0"/>
                  </a:lnTo>
                  <a:lnTo>
                    <a:pt x="623442" y="226441"/>
                  </a:lnTo>
                  <a:lnTo>
                    <a:pt x="397001" y="452882"/>
                  </a:lnTo>
                  <a:lnTo>
                    <a:pt x="397001" y="339725"/>
                  </a:lnTo>
                  <a:lnTo>
                    <a:pt x="0" y="339725"/>
                  </a:lnTo>
                  <a:lnTo>
                    <a:pt x="0" y="113157"/>
                  </a:lnTo>
                  <a:close/>
                </a:path>
              </a:pathLst>
            </a:custGeom>
            <a:ln w="254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/>
          <p:nvPr/>
        </p:nvSpPr>
        <p:spPr>
          <a:xfrm>
            <a:off x="9584563" y="4625847"/>
            <a:ext cx="1245870" cy="629920"/>
          </a:xfrm>
          <a:custGeom>
            <a:avLst/>
            <a:gdLst/>
            <a:ahLst/>
            <a:cxnLst/>
            <a:rect l="l" t="t" r="r" b="b"/>
            <a:pathLst>
              <a:path w="1245870" h="629920">
                <a:moveTo>
                  <a:pt x="0" y="629411"/>
                </a:moveTo>
                <a:lnTo>
                  <a:pt x="1245374" y="629411"/>
                </a:lnTo>
                <a:lnTo>
                  <a:pt x="1245374" y="0"/>
                </a:lnTo>
                <a:lnTo>
                  <a:pt x="0" y="0"/>
                </a:lnTo>
                <a:lnTo>
                  <a:pt x="0" y="629411"/>
                </a:lnTo>
                <a:close/>
              </a:path>
            </a:pathLst>
          </a:custGeom>
          <a:ln w="11999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9584563" y="4625847"/>
            <a:ext cx="1245870" cy="629920"/>
          </a:xfrm>
          <a:prstGeom prst="rect">
            <a:avLst/>
          </a:prstGeom>
          <a:solidFill>
            <a:srgbClr val="F4AF81"/>
          </a:solidFill>
        </p:spPr>
        <p:txBody>
          <a:bodyPr wrap="square" lIns="0" tIns="198755" rIns="0" bIns="0" rtlCol="0" vert="horz">
            <a:spAutoFit/>
          </a:bodyPr>
          <a:lstStyle/>
          <a:p>
            <a:pPr marL="407670">
              <a:lnSpc>
                <a:spcPct val="100000"/>
              </a:lnSpc>
              <a:spcBef>
                <a:spcPts val="1565"/>
              </a:spcBef>
            </a:pPr>
            <a:r>
              <a:rPr dirty="0" sz="1400" spc="-10">
                <a:latin typeface="Corbel"/>
                <a:cs typeface="Corbel"/>
              </a:rPr>
              <a:t>Apple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0864468" y="4625847"/>
            <a:ext cx="1245870" cy="629920"/>
          </a:xfrm>
          <a:custGeom>
            <a:avLst/>
            <a:gdLst/>
            <a:ahLst/>
            <a:cxnLst/>
            <a:rect l="l" t="t" r="r" b="b"/>
            <a:pathLst>
              <a:path w="1245870" h="629920">
                <a:moveTo>
                  <a:pt x="0" y="629411"/>
                </a:moveTo>
                <a:lnTo>
                  <a:pt x="1245374" y="629411"/>
                </a:lnTo>
                <a:lnTo>
                  <a:pt x="1245374" y="0"/>
                </a:lnTo>
                <a:lnTo>
                  <a:pt x="0" y="0"/>
                </a:lnTo>
                <a:lnTo>
                  <a:pt x="0" y="629411"/>
                </a:lnTo>
                <a:close/>
              </a:path>
            </a:pathLst>
          </a:custGeom>
          <a:ln w="11999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10864468" y="4625847"/>
            <a:ext cx="1245870" cy="629920"/>
          </a:xfrm>
          <a:prstGeom prst="rect">
            <a:avLst/>
          </a:prstGeom>
          <a:solidFill>
            <a:srgbClr val="F4AF81"/>
          </a:solidFill>
        </p:spPr>
        <p:txBody>
          <a:bodyPr wrap="square" lIns="0" tIns="198755" rIns="0" bIns="0" rtlCol="0" vert="horz">
            <a:spAutoFit/>
          </a:bodyPr>
          <a:lstStyle/>
          <a:p>
            <a:pPr marL="251460">
              <a:lnSpc>
                <a:spcPct val="100000"/>
              </a:lnSpc>
              <a:spcBef>
                <a:spcPts val="1565"/>
              </a:spcBef>
            </a:pPr>
            <a:r>
              <a:rPr dirty="0" sz="1400" spc="-10">
                <a:latin typeface="Corbel"/>
                <a:cs typeface="Corbel"/>
              </a:rPr>
              <a:t>Tomatoes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391013" y="5463946"/>
            <a:ext cx="90170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Corbel"/>
                <a:cs typeface="Corbel"/>
              </a:rPr>
              <a:t>/Vegetables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9573514" y="5812739"/>
            <a:ext cx="1244600" cy="628650"/>
          </a:xfrm>
          <a:custGeom>
            <a:avLst/>
            <a:gdLst/>
            <a:ahLst/>
            <a:cxnLst/>
            <a:rect l="l" t="t" r="r" b="b"/>
            <a:pathLst>
              <a:path w="1244600" h="628650">
                <a:moveTo>
                  <a:pt x="0" y="628332"/>
                </a:moveTo>
                <a:lnTo>
                  <a:pt x="1243990" y="628332"/>
                </a:lnTo>
                <a:lnTo>
                  <a:pt x="1243990" y="0"/>
                </a:lnTo>
                <a:lnTo>
                  <a:pt x="0" y="0"/>
                </a:lnTo>
                <a:lnTo>
                  <a:pt x="0" y="628332"/>
                </a:lnTo>
                <a:close/>
              </a:path>
            </a:pathLst>
          </a:custGeom>
          <a:ln w="11999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9573514" y="5812739"/>
            <a:ext cx="1244600" cy="628650"/>
          </a:xfrm>
          <a:prstGeom prst="rect">
            <a:avLst/>
          </a:prstGeom>
          <a:solidFill>
            <a:srgbClr val="BAD5ED"/>
          </a:solidFill>
        </p:spPr>
        <p:txBody>
          <a:bodyPr wrap="square" lIns="0" tIns="198755" rIns="0" bIns="0" rtlCol="0" vert="horz">
            <a:spAutoFit/>
          </a:bodyPr>
          <a:lstStyle/>
          <a:p>
            <a:pPr marL="353060">
              <a:lnSpc>
                <a:spcPct val="100000"/>
              </a:lnSpc>
              <a:spcBef>
                <a:spcPts val="1565"/>
              </a:spcBef>
            </a:pPr>
            <a:r>
              <a:rPr dirty="0" sz="1400" spc="-10">
                <a:latin typeface="Corbel"/>
                <a:cs typeface="Corbel"/>
              </a:rPr>
              <a:t>Carrots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0853419" y="5812739"/>
            <a:ext cx="1244600" cy="628650"/>
          </a:xfrm>
          <a:custGeom>
            <a:avLst/>
            <a:gdLst/>
            <a:ahLst/>
            <a:cxnLst/>
            <a:rect l="l" t="t" r="r" b="b"/>
            <a:pathLst>
              <a:path w="1244600" h="628650">
                <a:moveTo>
                  <a:pt x="0" y="628332"/>
                </a:moveTo>
                <a:lnTo>
                  <a:pt x="1243990" y="628332"/>
                </a:lnTo>
                <a:lnTo>
                  <a:pt x="1243990" y="0"/>
                </a:lnTo>
                <a:lnTo>
                  <a:pt x="0" y="0"/>
                </a:lnTo>
                <a:lnTo>
                  <a:pt x="0" y="628332"/>
                </a:lnTo>
                <a:close/>
              </a:path>
            </a:pathLst>
          </a:custGeom>
          <a:ln w="11999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10853419" y="5812739"/>
            <a:ext cx="1244600" cy="628650"/>
          </a:xfrm>
          <a:prstGeom prst="rect">
            <a:avLst/>
          </a:prstGeom>
          <a:solidFill>
            <a:srgbClr val="BAD5ED"/>
          </a:solidFill>
        </p:spPr>
        <p:txBody>
          <a:bodyPr wrap="square" lIns="0" tIns="198755" rIns="0" bIns="0" rtlCol="0" vert="horz">
            <a:spAutoFit/>
          </a:bodyPr>
          <a:lstStyle/>
          <a:p>
            <a:pPr marL="249554">
              <a:lnSpc>
                <a:spcPct val="100000"/>
              </a:lnSpc>
              <a:spcBef>
                <a:spcPts val="1565"/>
              </a:spcBef>
            </a:pPr>
            <a:r>
              <a:rPr dirty="0" sz="1400" spc="-10">
                <a:latin typeface="Corbel"/>
                <a:cs typeface="Corbel"/>
              </a:rPr>
              <a:t>Tomatoes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1879" y="6518249"/>
            <a:ext cx="315341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Arial"/>
                <a:cs typeface="Arial"/>
                <a:hlinkClick r:id="rId2"/>
              </a:rPr>
              <a:t>http://www.linuxjournal.com/article/7714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2367" y="729361"/>
            <a:ext cx="10355199" cy="4340352"/>
          </a:xfrm>
          <a:prstGeom prst="rect">
            <a:avLst/>
          </a:prstGeom>
        </p:spPr>
      </p:pic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91211" y="190626"/>
            <a:ext cx="3022600" cy="847090"/>
          </a:xfrm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Docker</a:t>
            </a:r>
            <a:r>
              <a:rPr dirty="0" spc="-4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and</a:t>
            </a:r>
            <a:r>
              <a:rPr dirty="0" spc="-6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UnionFS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37849" y="2482790"/>
            <a:ext cx="6454150" cy="330311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91211" y="1236624"/>
            <a:ext cx="6303010" cy="2839720"/>
          </a:xfrm>
          <a:prstGeom prst="rect">
            <a:avLst/>
          </a:prstGeom>
        </p:spPr>
        <p:txBody>
          <a:bodyPr wrap="square" lIns="0" tIns="1270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dirty="0" sz="2200" spc="-10" b="1">
                <a:solidFill>
                  <a:srgbClr val="C00000"/>
                </a:solidFill>
                <a:latin typeface="Calibri"/>
                <a:cs typeface="Calibri"/>
              </a:rPr>
              <a:t>Incremental</a:t>
            </a:r>
            <a:r>
              <a:rPr dirty="0" sz="2200" spc="-2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 spc="-10" b="1">
                <a:solidFill>
                  <a:srgbClr val="C00000"/>
                </a:solidFill>
                <a:latin typeface="Calibri"/>
                <a:cs typeface="Calibri"/>
              </a:rPr>
              <a:t>Images</a:t>
            </a:r>
            <a:endParaRPr sz="2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900"/>
              </a:spcBef>
              <a:buChar char="▪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Union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35">
                <a:latin typeface="Calibri"/>
                <a:cs typeface="Calibri"/>
              </a:rPr>
              <a:t>FS</a:t>
            </a:r>
            <a:endParaRPr sz="22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1125"/>
              </a:spcBef>
              <a:buFont typeface="Arial"/>
              <a:buChar char="•"/>
              <a:tabLst>
                <a:tab pos="733425" algn="l"/>
              </a:tabLst>
            </a:pPr>
            <a:r>
              <a:rPr dirty="0" sz="2200">
                <a:latin typeface="Calibri"/>
                <a:cs typeface="Calibri"/>
              </a:rPr>
              <a:t>Files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from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separate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(branches)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overlaid</a:t>
            </a:r>
            <a:endParaRPr sz="22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1135"/>
              </a:spcBef>
              <a:buFont typeface="Arial"/>
              <a:buChar char="•"/>
              <a:tabLst>
                <a:tab pos="733425" algn="l"/>
              </a:tabLst>
            </a:pPr>
            <a:r>
              <a:rPr dirty="0" sz="2200">
                <a:latin typeface="Calibri"/>
                <a:cs typeface="Calibri"/>
              </a:rPr>
              <a:t>Forming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single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coherent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35">
                <a:latin typeface="Calibri"/>
                <a:cs typeface="Calibri"/>
              </a:rPr>
              <a:t>FS</a:t>
            </a:r>
            <a:endParaRPr sz="22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1125"/>
              </a:spcBef>
              <a:buFont typeface="Arial"/>
              <a:buChar char="•"/>
              <a:tabLst>
                <a:tab pos="733425" algn="l"/>
              </a:tabLst>
            </a:pPr>
            <a:r>
              <a:rPr dirty="0" sz="2200">
                <a:latin typeface="Calibri"/>
                <a:cs typeface="Calibri"/>
              </a:rPr>
              <a:t>Branches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may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 </a:t>
            </a:r>
            <a:r>
              <a:rPr dirty="0" sz="2200" spc="-10">
                <a:latin typeface="Calibri"/>
                <a:cs typeface="Calibri"/>
              </a:rPr>
              <a:t>read-</a:t>
            </a:r>
            <a:r>
              <a:rPr dirty="0" sz="2200">
                <a:latin typeface="Calibri"/>
                <a:cs typeface="Calibri"/>
              </a:rPr>
              <a:t>only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read-write</a:t>
            </a:r>
            <a:endParaRPr sz="2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130"/>
              </a:spcBef>
              <a:buChar char="▪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Layers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1180" y="4126763"/>
            <a:ext cx="5163820" cy="26689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3380" marR="561975" indent="-361315">
              <a:lnSpc>
                <a:spcPct val="120000"/>
              </a:lnSpc>
              <a:spcBef>
                <a:spcPts val="100"/>
              </a:spcBef>
              <a:buFont typeface="Arial"/>
              <a:buChar char="•"/>
              <a:tabLst>
                <a:tab pos="373380" algn="l"/>
              </a:tabLst>
            </a:pPr>
            <a:r>
              <a:rPr dirty="0" sz="2200">
                <a:latin typeface="Calibri"/>
                <a:cs typeface="Calibri"/>
              </a:rPr>
              <a:t>Each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layer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mounted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top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prior layers</a:t>
            </a:r>
            <a:endParaRPr sz="2200">
              <a:latin typeface="Calibri"/>
              <a:cs typeface="Calibri"/>
            </a:endParaRPr>
          </a:p>
          <a:p>
            <a:pPr marL="373380" indent="-360680">
              <a:lnSpc>
                <a:spcPct val="100000"/>
              </a:lnSpc>
              <a:spcBef>
                <a:spcPts val="1125"/>
              </a:spcBef>
              <a:buFont typeface="Arial"/>
              <a:buChar char="•"/>
              <a:tabLst>
                <a:tab pos="373380" algn="l"/>
              </a:tabLst>
            </a:pPr>
            <a:r>
              <a:rPr dirty="0" sz="2200">
                <a:latin typeface="Calibri"/>
                <a:cs typeface="Calibri"/>
              </a:rPr>
              <a:t>First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layer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=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base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image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(scratch,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busybox,</a:t>
            </a:r>
            <a:endParaRPr sz="2200">
              <a:latin typeface="Calibri"/>
              <a:cs typeface="Calibri"/>
            </a:endParaRPr>
          </a:p>
          <a:p>
            <a:pPr marL="373380">
              <a:lnSpc>
                <a:spcPct val="100000"/>
              </a:lnSpc>
              <a:spcBef>
                <a:spcPts val="535"/>
              </a:spcBef>
            </a:pPr>
            <a:r>
              <a:rPr dirty="0" sz="2200">
                <a:latin typeface="Calibri"/>
                <a:cs typeface="Calibri"/>
              </a:rPr>
              <a:t>ubuntu,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…)</a:t>
            </a:r>
            <a:endParaRPr sz="2200">
              <a:latin typeface="Calibri"/>
              <a:cs typeface="Calibri"/>
            </a:endParaRPr>
          </a:p>
          <a:p>
            <a:pPr marL="373380" indent="-360680">
              <a:lnSpc>
                <a:spcPct val="100000"/>
              </a:lnSpc>
              <a:spcBef>
                <a:spcPts val="1125"/>
              </a:spcBef>
              <a:buFont typeface="Arial"/>
              <a:buChar char="•"/>
              <a:tabLst>
                <a:tab pos="373380" algn="l"/>
              </a:tabLst>
            </a:pP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10">
                <a:latin typeface="Calibri"/>
                <a:cs typeface="Calibri"/>
              </a:rPr>
              <a:t> read-</a:t>
            </a:r>
            <a:r>
              <a:rPr dirty="0" sz="2200">
                <a:latin typeface="Calibri"/>
                <a:cs typeface="Calibri"/>
              </a:rPr>
              <a:t>only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layer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=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image</a:t>
            </a:r>
            <a:endParaRPr sz="2200">
              <a:latin typeface="Calibri"/>
              <a:cs typeface="Calibri"/>
            </a:endParaRPr>
          </a:p>
          <a:p>
            <a:pPr marL="373380" indent="-360680">
              <a:lnSpc>
                <a:spcPct val="100000"/>
              </a:lnSpc>
              <a:spcBef>
                <a:spcPts val="1130"/>
              </a:spcBef>
              <a:buFont typeface="Arial"/>
              <a:buChar char="•"/>
              <a:tabLst>
                <a:tab pos="373380" algn="l"/>
              </a:tabLst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top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read-</a:t>
            </a:r>
            <a:r>
              <a:rPr dirty="0" sz="2200">
                <a:latin typeface="Calibri"/>
                <a:cs typeface="Calibri"/>
              </a:rPr>
              <a:t>write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layer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=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container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38670" y="6449059"/>
            <a:ext cx="51930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Arial"/>
                <a:cs typeface="Arial"/>
                <a:hlinkClick r:id="rId3"/>
              </a:rPr>
              <a:t>https://www.slideshare.net/cm13/introduction-to-docker-48784005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0842" y="223900"/>
            <a:ext cx="11431905" cy="631571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455"/>
              </a:spcBef>
            </a:pP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CLOUD</a:t>
            </a:r>
            <a:r>
              <a:rPr dirty="0" sz="2400" spc="-1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395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Weaknesses</a:t>
            </a:r>
            <a:r>
              <a:rPr dirty="0" sz="2400" spc="-2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of</a:t>
            </a:r>
            <a:r>
              <a:rPr dirty="0" sz="2400" spc="-4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Union</a:t>
            </a:r>
            <a:r>
              <a:rPr dirty="0" sz="2400" spc="-5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Filesystem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2400">
              <a:latin typeface="Arial"/>
              <a:cs typeface="Arial"/>
            </a:endParaRPr>
          </a:p>
          <a:p>
            <a:pPr marL="365125" indent="-342900">
              <a:lnSpc>
                <a:spcPct val="100000"/>
              </a:lnSpc>
              <a:spcBef>
                <a:spcPts val="5"/>
              </a:spcBef>
              <a:buChar char="▪"/>
              <a:tabLst>
                <a:tab pos="365125" algn="l"/>
              </a:tabLst>
            </a:pPr>
            <a:r>
              <a:rPr dirty="0" sz="2400">
                <a:latin typeface="Calibri"/>
                <a:cs typeface="Calibri"/>
              </a:rPr>
              <a:t>Different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filesystems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have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different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rules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about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attributes,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sizes,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names,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and</a:t>
            </a:r>
            <a:endParaRPr sz="2400">
              <a:latin typeface="Calibri"/>
              <a:cs typeface="Calibri"/>
            </a:endParaRPr>
          </a:p>
          <a:p>
            <a:pPr marL="365125">
              <a:lnSpc>
                <a:spcPct val="100000"/>
              </a:lnSpc>
              <a:spcBef>
                <a:spcPts val="575"/>
              </a:spcBef>
            </a:pPr>
            <a:r>
              <a:rPr dirty="0" sz="2400" spc="-10">
                <a:latin typeface="Calibri"/>
                <a:cs typeface="Calibri"/>
              </a:rPr>
              <a:t>characters.</a:t>
            </a:r>
            <a:endParaRPr sz="2400">
              <a:latin typeface="Calibri"/>
              <a:cs typeface="Calibri"/>
            </a:endParaRPr>
          </a:p>
          <a:p>
            <a:pPr algn="just" marL="362585" marR="5080" indent="-340360">
              <a:lnSpc>
                <a:spcPct val="120000"/>
              </a:lnSpc>
              <a:spcBef>
                <a:spcPts val="600"/>
              </a:spcBef>
              <a:buChar char="▪"/>
              <a:tabLst>
                <a:tab pos="365125" algn="l"/>
              </a:tabLst>
            </a:pPr>
            <a:r>
              <a:rPr dirty="0" sz="2400">
                <a:latin typeface="Calibri"/>
                <a:cs typeface="Calibri"/>
              </a:rPr>
              <a:t>Union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filesystems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position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where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they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often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need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translate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between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rules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different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filesystems.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best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cases,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they’re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able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provide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acceptable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translations.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worst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cases,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features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omitted.</a:t>
            </a:r>
            <a:endParaRPr sz="2400">
              <a:latin typeface="Calibri"/>
              <a:cs typeface="Calibri"/>
            </a:endParaRPr>
          </a:p>
          <a:p>
            <a:pPr algn="just" marL="362585" indent="-340360">
              <a:lnSpc>
                <a:spcPct val="100000"/>
              </a:lnSpc>
              <a:spcBef>
                <a:spcPts val="1175"/>
              </a:spcBef>
              <a:buChar char="▪"/>
              <a:tabLst>
                <a:tab pos="362585" algn="l"/>
              </a:tabLst>
            </a:pPr>
            <a:r>
              <a:rPr dirty="0" sz="2400">
                <a:latin typeface="Calibri"/>
                <a:cs typeface="Calibri"/>
              </a:rPr>
              <a:t>Union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filesystems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pattern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called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0" i="1">
                <a:latin typeface="Calibri"/>
                <a:cs typeface="Calibri"/>
              </a:rPr>
              <a:t>copy-on-</a:t>
            </a:r>
            <a:r>
              <a:rPr dirty="0" sz="2400" i="1">
                <a:latin typeface="Calibri"/>
                <a:cs typeface="Calibri"/>
              </a:rPr>
              <a:t>write,</a:t>
            </a:r>
            <a:r>
              <a:rPr dirty="0" sz="2400" spc="-35" i="1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and</a:t>
            </a:r>
            <a:r>
              <a:rPr dirty="0" sz="2400" spc="-40" i="1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that</a:t>
            </a:r>
            <a:r>
              <a:rPr dirty="0" sz="2400" spc="-45" i="1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makes</a:t>
            </a:r>
            <a:r>
              <a:rPr dirty="0" sz="2400" spc="-50" i="1">
                <a:latin typeface="Calibri"/>
                <a:cs typeface="Calibri"/>
              </a:rPr>
              <a:t> </a:t>
            </a:r>
            <a:r>
              <a:rPr dirty="0" sz="2400" spc="-10" i="1">
                <a:latin typeface="Calibri"/>
                <a:cs typeface="Calibri"/>
              </a:rPr>
              <a:t>implementing</a:t>
            </a:r>
            <a:endParaRPr sz="2400">
              <a:latin typeface="Calibri"/>
              <a:cs typeface="Calibri"/>
            </a:endParaRPr>
          </a:p>
          <a:p>
            <a:pPr algn="just" marL="365125">
              <a:lnSpc>
                <a:spcPct val="100000"/>
              </a:lnSpc>
              <a:spcBef>
                <a:spcPts val="580"/>
              </a:spcBef>
            </a:pPr>
            <a:r>
              <a:rPr dirty="0" sz="2400" spc="-10">
                <a:latin typeface="Calibri"/>
                <a:cs typeface="Calibri"/>
              </a:rPr>
              <a:t>memory-</a:t>
            </a:r>
            <a:r>
              <a:rPr dirty="0" sz="2400">
                <a:latin typeface="Calibri"/>
                <a:cs typeface="Calibri"/>
              </a:rPr>
              <a:t>mapped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files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(the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mmap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system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call)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difficult.</a:t>
            </a:r>
            <a:endParaRPr sz="2400">
              <a:latin typeface="Calibri"/>
              <a:cs typeface="Calibri"/>
            </a:endParaRPr>
          </a:p>
          <a:p>
            <a:pPr marL="365125" marR="626745" indent="-342900">
              <a:lnSpc>
                <a:spcPct val="120000"/>
              </a:lnSpc>
              <a:spcBef>
                <a:spcPts val="600"/>
              </a:spcBef>
              <a:buChar char="▪"/>
              <a:tabLst>
                <a:tab pos="365125" algn="l"/>
              </a:tabLst>
            </a:pPr>
            <a:r>
              <a:rPr dirty="0" sz="2400">
                <a:latin typeface="Calibri"/>
                <a:cs typeface="Calibri"/>
              </a:rPr>
              <a:t>Most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issues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arise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writing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union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filesystem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addressed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without </a:t>
            </a:r>
            <a:r>
              <a:rPr dirty="0" sz="2400">
                <a:latin typeface="Calibri"/>
                <a:cs typeface="Calibri"/>
              </a:rPr>
              <a:t>changing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storage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provider.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These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solved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volumes</a:t>
            </a:r>
            <a:endParaRPr sz="2400">
              <a:latin typeface="Calibri"/>
              <a:cs typeface="Calibri"/>
            </a:endParaRPr>
          </a:p>
          <a:p>
            <a:pPr marL="365125" indent="-342900">
              <a:lnSpc>
                <a:spcPct val="100000"/>
              </a:lnSpc>
              <a:spcBef>
                <a:spcPts val="1175"/>
              </a:spcBef>
              <a:buChar char="▪"/>
              <a:tabLst>
                <a:tab pos="365125" algn="l"/>
              </a:tabLst>
            </a:pP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union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filesystem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not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appropriate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working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long-</a:t>
            </a:r>
            <a:r>
              <a:rPr dirty="0" sz="2400">
                <a:latin typeface="Calibri"/>
                <a:cs typeface="Calibri"/>
              </a:rPr>
              <a:t>lived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data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sharing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data</a:t>
            </a:r>
            <a:endParaRPr sz="2400">
              <a:latin typeface="Calibri"/>
              <a:cs typeface="Calibri"/>
            </a:endParaRPr>
          </a:p>
          <a:p>
            <a:pPr marL="365125">
              <a:lnSpc>
                <a:spcPct val="100000"/>
              </a:lnSpc>
              <a:spcBef>
                <a:spcPts val="580"/>
              </a:spcBef>
            </a:pPr>
            <a:r>
              <a:rPr dirty="0" sz="2400">
                <a:latin typeface="Calibri"/>
                <a:cs typeface="Calibri"/>
              </a:rPr>
              <a:t>between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containers,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container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host.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0842" y="223900"/>
            <a:ext cx="10754995" cy="4756785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455"/>
              </a:spcBef>
            </a:pP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CLOUD</a:t>
            </a:r>
            <a:r>
              <a:rPr dirty="0" sz="2400" spc="-1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395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Summary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95"/>
              </a:spcBef>
            </a:pPr>
            <a:endParaRPr sz="2400">
              <a:latin typeface="Arial"/>
              <a:cs typeface="Arial"/>
            </a:endParaRPr>
          </a:p>
          <a:p>
            <a:pPr marL="469265" indent="-342265">
              <a:lnSpc>
                <a:spcPct val="100000"/>
              </a:lnSpc>
              <a:spcBef>
                <a:spcPts val="5"/>
              </a:spcBef>
              <a:buSzPct val="75000"/>
              <a:buFont typeface="Arial"/>
              <a:buChar char="•"/>
              <a:tabLst>
                <a:tab pos="469265" algn="l"/>
              </a:tabLst>
            </a:pPr>
            <a:r>
              <a:rPr dirty="0" sz="2400">
                <a:latin typeface="Calibri"/>
                <a:cs typeface="Calibri"/>
              </a:rPr>
              <a:t>Use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namespaces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controlling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resource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access</a:t>
            </a:r>
            <a:endParaRPr sz="2400">
              <a:latin typeface="Calibri"/>
              <a:cs typeface="Calibri"/>
            </a:endParaRPr>
          </a:p>
          <a:p>
            <a:pPr lvl="1" marL="926465" marR="5080" indent="-342900">
              <a:lnSpc>
                <a:spcPct val="120000"/>
              </a:lnSpc>
              <a:spcBef>
                <a:spcPts val="600"/>
              </a:spcBef>
              <a:buSzPct val="75000"/>
              <a:buFont typeface="Arial"/>
              <a:buChar char="•"/>
              <a:tabLst>
                <a:tab pos="926465" algn="l"/>
              </a:tabLst>
            </a:pPr>
            <a:r>
              <a:rPr dirty="0" sz="2400">
                <a:latin typeface="Calibri"/>
                <a:cs typeface="Calibri"/>
              </a:rPr>
              <a:t>Docker</a:t>
            </a:r>
            <a:r>
              <a:rPr dirty="0" sz="2400" spc="4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has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developed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their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own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namespace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technology</a:t>
            </a:r>
            <a:r>
              <a:rPr dirty="0" sz="2400" spc="409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called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namespaces</a:t>
            </a:r>
            <a:r>
              <a:rPr dirty="0" sz="2400" spc="-40" b="1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to </a:t>
            </a:r>
            <a:r>
              <a:rPr dirty="0" sz="2400">
                <a:latin typeface="Calibri"/>
                <a:cs typeface="Calibri"/>
              </a:rPr>
              <a:t>provide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isolated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workspace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called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container.</a:t>
            </a:r>
            <a:endParaRPr sz="2400">
              <a:latin typeface="Calibri"/>
              <a:cs typeface="Calibri"/>
            </a:endParaRPr>
          </a:p>
          <a:p>
            <a:pPr lvl="1" marL="926465" indent="-342265">
              <a:lnSpc>
                <a:spcPct val="100000"/>
              </a:lnSpc>
              <a:spcBef>
                <a:spcPts val="1175"/>
              </a:spcBef>
              <a:buSzPct val="75000"/>
              <a:buFont typeface="Arial"/>
              <a:buChar char="•"/>
              <a:tabLst>
                <a:tab pos="926465" algn="l"/>
              </a:tabLst>
            </a:pPr>
            <a:r>
              <a:rPr dirty="0" sz="2400">
                <a:latin typeface="Calibri"/>
                <a:cs typeface="Calibri"/>
              </a:rPr>
              <a:t>When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you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run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container,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Docker</a:t>
            </a:r>
            <a:r>
              <a:rPr dirty="0" sz="2400" spc="-55" b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creates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set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namespaces</a:t>
            </a:r>
            <a:r>
              <a:rPr dirty="0" sz="2400" spc="-25" b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that</a:t>
            </a:r>
            <a:endParaRPr sz="2400">
              <a:latin typeface="Calibri"/>
              <a:cs typeface="Calibri"/>
            </a:endParaRPr>
          </a:p>
          <a:p>
            <a:pPr marL="926465">
              <a:lnSpc>
                <a:spcPct val="100000"/>
              </a:lnSpc>
              <a:spcBef>
                <a:spcPts val="580"/>
              </a:spcBef>
            </a:pPr>
            <a:r>
              <a:rPr dirty="0" sz="2400" spc="-10">
                <a:latin typeface="Calibri"/>
                <a:cs typeface="Calibri"/>
              </a:rPr>
              <a:t>container.</a:t>
            </a:r>
            <a:endParaRPr sz="2400">
              <a:latin typeface="Calibri"/>
              <a:cs typeface="Calibri"/>
            </a:endParaRPr>
          </a:p>
          <a:p>
            <a:pPr lvl="1" marL="926465" indent="-342265">
              <a:lnSpc>
                <a:spcPct val="100000"/>
              </a:lnSpc>
              <a:spcBef>
                <a:spcPts val="1175"/>
              </a:spcBef>
              <a:buSzPct val="75000"/>
              <a:buFont typeface="Arial"/>
              <a:buChar char="•"/>
              <a:tabLst>
                <a:tab pos="926465" algn="l"/>
              </a:tabLst>
            </a:pPr>
            <a:r>
              <a:rPr dirty="0" sz="2400">
                <a:latin typeface="Calibri"/>
                <a:cs typeface="Calibri"/>
              </a:rPr>
              <a:t>These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namespaces</a:t>
            </a:r>
            <a:r>
              <a:rPr dirty="0" sz="2400" spc="-50" b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provide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layer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isolation.</a:t>
            </a:r>
            <a:endParaRPr sz="2400">
              <a:latin typeface="Calibri"/>
              <a:cs typeface="Calibri"/>
            </a:endParaRPr>
          </a:p>
          <a:p>
            <a:pPr marL="469265" indent="-342265">
              <a:lnSpc>
                <a:spcPct val="100000"/>
              </a:lnSpc>
              <a:spcBef>
                <a:spcPts val="1180"/>
              </a:spcBef>
              <a:buSzPct val="75000"/>
              <a:buFont typeface="Arial"/>
              <a:buChar char="•"/>
              <a:tabLst>
                <a:tab pos="469265" algn="l"/>
              </a:tabLst>
            </a:pPr>
            <a:r>
              <a:rPr dirty="0" sz="2400">
                <a:latin typeface="Calibri"/>
                <a:cs typeface="Calibri"/>
              </a:rPr>
              <a:t>Use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cgroups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resource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sharing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Container</a:t>
            </a:r>
            <a:r>
              <a:rPr dirty="0" spc="-7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Software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97891" y="1572539"/>
            <a:ext cx="3483610" cy="4050029"/>
          </a:xfrm>
          <a:prstGeom prst="rect">
            <a:avLst/>
          </a:prstGeom>
        </p:spPr>
        <p:txBody>
          <a:bodyPr wrap="square" lIns="0" tIns="180340" rIns="0" bIns="0" rtlCol="0" vert="horz">
            <a:spAutoFit/>
          </a:bodyPr>
          <a:lstStyle/>
          <a:p>
            <a:pPr marL="414655" indent="-401955">
              <a:lnSpc>
                <a:spcPct val="100000"/>
              </a:lnSpc>
              <a:spcBef>
                <a:spcPts val="1420"/>
              </a:spcBef>
              <a:buAutoNum type="arabicPeriod"/>
              <a:tabLst>
                <a:tab pos="414655" algn="l"/>
              </a:tabLst>
            </a:pPr>
            <a:r>
              <a:rPr dirty="0" sz="2200" spc="-10" b="1">
                <a:latin typeface="Calibri"/>
                <a:cs typeface="Calibri"/>
              </a:rPr>
              <a:t>Docker</a:t>
            </a:r>
            <a:endParaRPr sz="2200">
              <a:latin typeface="Calibri"/>
              <a:cs typeface="Calibri"/>
            </a:endParaRPr>
          </a:p>
          <a:p>
            <a:pPr marL="414655" indent="-401955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414655" algn="l"/>
              </a:tabLst>
            </a:pPr>
            <a:r>
              <a:rPr dirty="0" sz="2200" b="1">
                <a:latin typeface="Calibri"/>
                <a:cs typeface="Calibri"/>
              </a:rPr>
              <a:t>AWS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Fargate</a:t>
            </a:r>
            <a:endParaRPr sz="2200">
              <a:latin typeface="Calibri"/>
              <a:cs typeface="Calibri"/>
            </a:endParaRPr>
          </a:p>
          <a:p>
            <a:pPr marL="414655" indent="-401955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414655" algn="l"/>
              </a:tabLst>
            </a:pPr>
            <a:r>
              <a:rPr dirty="0" sz="2200" b="1">
                <a:latin typeface="Calibri"/>
                <a:cs typeface="Calibri"/>
              </a:rPr>
              <a:t>Google</a:t>
            </a:r>
            <a:r>
              <a:rPr dirty="0" sz="2200" spc="-7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Kubernetes</a:t>
            </a:r>
            <a:r>
              <a:rPr dirty="0" sz="2200" spc="-55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Engine</a:t>
            </a:r>
            <a:endParaRPr sz="2200">
              <a:latin typeface="Calibri"/>
              <a:cs typeface="Calibri"/>
            </a:endParaRPr>
          </a:p>
          <a:p>
            <a:pPr marL="414655" indent="-401955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414655" algn="l"/>
              </a:tabLst>
            </a:pPr>
            <a:r>
              <a:rPr dirty="0" sz="2200" b="1">
                <a:latin typeface="Calibri"/>
                <a:cs typeface="Calibri"/>
              </a:rPr>
              <a:t>Amazon</a:t>
            </a:r>
            <a:r>
              <a:rPr dirty="0" sz="2200" spc="-70" b="1">
                <a:latin typeface="Calibri"/>
                <a:cs typeface="Calibri"/>
              </a:rPr>
              <a:t> </a:t>
            </a:r>
            <a:r>
              <a:rPr dirty="0" sz="2200" spc="-25" b="1">
                <a:latin typeface="Calibri"/>
                <a:cs typeface="Calibri"/>
              </a:rPr>
              <a:t>ECS</a:t>
            </a:r>
            <a:endParaRPr sz="2200">
              <a:latin typeface="Calibri"/>
              <a:cs typeface="Calibri"/>
            </a:endParaRPr>
          </a:p>
          <a:p>
            <a:pPr marL="414655" indent="-401955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414655" algn="l"/>
              </a:tabLst>
            </a:pPr>
            <a:r>
              <a:rPr dirty="0" sz="2200" spc="-25" b="1">
                <a:latin typeface="Calibri"/>
                <a:cs typeface="Calibri"/>
              </a:rPr>
              <a:t>LXC</a:t>
            </a:r>
            <a:endParaRPr sz="2200">
              <a:latin typeface="Calibri"/>
              <a:cs typeface="Calibri"/>
            </a:endParaRPr>
          </a:p>
          <a:p>
            <a:pPr marL="414655" indent="-401955">
              <a:lnSpc>
                <a:spcPct val="100000"/>
              </a:lnSpc>
              <a:spcBef>
                <a:spcPts val="1325"/>
              </a:spcBef>
              <a:buAutoNum type="arabicPeriod"/>
              <a:tabLst>
                <a:tab pos="414655" algn="l"/>
              </a:tabLst>
            </a:pPr>
            <a:r>
              <a:rPr dirty="0" sz="2200" b="1">
                <a:latin typeface="Calibri"/>
                <a:cs typeface="Calibri"/>
              </a:rPr>
              <a:t>Microsoft</a:t>
            </a:r>
            <a:r>
              <a:rPr dirty="0" sz="2200" spc="-80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Azure</a:t>
            </a:r>
            <a:endParaRPr sz="2200">
              <a:latin typeface="Calibri"/>
              <a:cs typeface="Calibri"/>
            </a:endParaRPr>
          </a:p>
          <a:p>
            <a:pPr marL="414655" indent="-401955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414655" algn="l"/>
              </a:tabLst>
            </a:pPr>
            <a:r>
              <a:rPr dirty="0" sz="2200" b="1">
                <a:latin typeface="Calibri"/>
                <a:cs typeface="Calibri"/>
              </a:rPr>
              <a:t>Google</a:t>
            </a:r>
            <a:r>
              <a:rPr dirty="0" sz="2200" spc="-5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Cloud</a:t>
            </a:r>
            <a:r>
              <a:rPr dirty="0" sz="2200" spc="-70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Platform</a:t>
            </a:r>
            <a:endParaRPr sz="2200">
              <a:latin typeface="Calibri"/>
              <a:cs typeface="Calibri"/>
            </a:endParaRPr>
          </a:p>
          <a:p>
            <a:pPr marL="414655" indent="-401955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414655" algn="l"/>
              </a:tabLst>
            </a:pPr>
            <a:r>
              <a:rPr dirty="0" sz="2200" b="1">
                <a:latin typeface="Calibri"/>
                <a:cs typeface="Calibri"/>
              </a:rPr>
              <a:t>Core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spc="-25" b="1">
                <a:latin typeface="Calibri"/>
                <a:cs typeface="Calibri"/>
              </a:rPr>
              <a:t>OS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5" name="object 5" descr="Application Container Market Size | Global Industry Report, 2019-20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83076" y="1786001"/>
            <a:ext cx="8408797" cy="4602099"/>
          </a:xfrm>
          <a:prstGeom prst="rect">
            <a:avLst/>
          </a:prstGeom>
        </p:spPr>
      </p:pic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0842" y="223900"/>
            <a:ext cx="10358755" cy="5211445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455"/>
              </a:spcBef>
            </a:pP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CLOUD</a:t>
            </a:r>
            <a:r>
              <a:rPr dirty="0" sz="2400" spc="-1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395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Additional</a:t>
            </a:r>
            <a:r>
              <a:rPr dirty="0" sz="2400" spc="-7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References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870"/>
              </a:lnSpc>
              <a:spcBef>
                <a:spcPts val="2695"/>
              </a:spcBef>
            </a:pPr>
            <a:r>
              <a:rPr dirty="0" sz="2400">
                <a:latin typeface="Calibri"/>
                <a:cs typeface="Calibri"/>
              </a:rPr>
              <a:t>Containers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VMs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870"/>
              </a:lnSpc>
            </a:pPr>
            <a:r>
              <a:rPr dirty="0" u="sng" sz="24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https://www.redhat.com/en/topics/containers/containers-</a:t>
            </a:r>
            <a:r>
              <a:rPr dirty="0" u="sng" sz="2400" spc="-25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vs-vms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870"/>
              </a:lnSpc>
              <a:spcBef>
                <a:spcPts val="2905"/>
              </a:spcBef>
            </a:pPr>
            <a:r>
              <a:rPr dirty="0" sz="2400">
                <a:latin typeface="Calibri"/>
                <a:cs typeface="Calibri"/>
              </a:rPr>
              <a:t>Docker</a:t>
            </a:r>
            <a:r>
              <a:rPr dirty="0" sz="2400" spc="-10">
                <a:latin typeface="Calibri"/>
                <a:cs typeface="Calibri"/>
              </a:rPr>
              <a:t> container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870"/>
              </a:lnSpc>
            </a:pPr>
            <a:r>
              <a:rPr dirty="0" u="sng" sz="24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3"/>
              </a:rPr>
              <a:t>https://www.simplilearn.com/tutorials/docker-tutorial/what-is-docker-container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400" spc="-10">
                <a:latin typeface="Calibri"/>
                <a:cs typeface="Calibri"/>
                <a:hlinkClick r:id="rId4"/>
              </a:rPr>
              <a:t>https://www.xda-</a:t>
            </a:r>
            <a:r>
              <a:rPr dirty="0" sz="2400" spc="-20">
                <a:latin typeface="Calibri"/>
                <a:cs typeface="Calibri"/>
                <a:hlinkClick r:id="rId4"/>
              </a:rPr>
              <a:t>developers.com/best-</a:t>
            </a:r>
            <a:r>
              <a:rPr dirty="0" sz="2400" spc="-10">
                <a:latin typeface="Calibri"/>
                <a:cs typeface="Calibri"/>
                <a:hlinkClick r:id="rId4"/>
              </a:rPr>
              <a:t>docker-containers-</a:t>
            </a:r>
            <a:r>
              <a:rPr dirty="0" sz="2400" spc="-20">
                <a:latin typeface="Calibri"/>
                <a:cs typeface="Calibri"/>
                <a:hlinkClick r:id="rId4"/>
              </a:rPr>
              <a:t>for-</a:t>
            </a:r>
            <a:r>
              <a:rPr dirty="0" sz="2400" spc="-10">
                <a:latin typeface="Calibri"/>
                <a:cs typeface="Calibri"/>
                <a:hlinkClick r:id="rId4"/>
              </a:rPr>
              <a:t>developers/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2400">
              <a:latin typeface="Calibri"/>
              <a:cs typeface="Calibri"/>
            </a:endParaRPr>
          </a:p>
          <a:p>
            <a:pPr marL="12700" marR="4502150">
              <a:lnSpc>
                <a:spcPts val="2860"/>
              </a:lnSpc>
              <a:spcBef>
                <a:spcPts val="5"/>
              </a:spcBef>
            </a:pPr>
            <a:r>
              <a:rPr dirty="0" sz="2400" spc="-10">
                <a:latin typeface="Calibri"/>
                <a:cs typeface="Calibri"/>
              </a:rPr>
              <a:t>Understanding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Linux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containers </a:t>
            </a:r>
            <a:r>
              <a:rPr dirty="0" u="sng" sz="24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5"/>
              </a:rPr>
              <a:t>https://www.redhat.com/en/topics/containers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ts val="2880"/>
              </a:lnSpc>
            </a:pPr>
            <a:r>
              <a:rPr dirty="0" u="sng" sz="24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6"/>
              </a:rPr>
              <a:t>https://www.cio.com/article/2924995/what-</a:t>
            </a:r>
            <a:r>
              <a:rPr dirty="0" u="sng" sz="2400" spc="-2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6"/>
              </a:rPr>
              <a:t>are-</a:t>
            </a:r>
            <a:r>
              <a:rPr dirty="0" u="sng" sz="24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6"/>
              </a:rPr>
              <a:t>containers-</a:t>
            </a:r>
            <a:r>
              <a:rPr dirty="0" u="sng" sz="2400" spc="-2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6"/>
              </a:rPr>
              <a:t>and-</a:t>
            </a:r>
            <a:r>
              <a:rPr dirty="0" u="sng" sz="24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6"/>
              </a:rPr>
              <a:t>why-do-you-</a:t>
            </a:r>
            <a:r>
              <a:rPr dirty="0" u="sng" sz="240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6"/>
              </a:rPr>
              <a:t>need-</a:t>
            </a:r>
            <a:r>
              <a:rPr dirty="0" u="sng" sz="24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6"/>
              </a:rPr>
              <a:t>them.html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86029" y="223900"/>
            <a:ext cx="10766425" cy="635508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299085">
              <a:lnSpc>
                <a:spcPct val="100000"/>
              </a:lnSpc>
              <a:spcBef>
                <a:spcPts val="455"/>
              </a:spcBef>
            </a:pP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CLOUD</a:t>
            </a:r>
            <a:r>
              <a:rPr dirty="0" sz="2400" spc="-1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395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267335">
              <a:lnSpc>
                <a:spcPct val="100000"/>
              </a:lnSpc>
              <a:spcBef>
                <a:spcPts val="355"/>
              </a:spcBef>
            </a:pP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Additional</a:t>
            </a:r>
            <a:r>
              <a:rPr dirty="0" sz="2400" spc="-7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Reading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15"/>
              </a:spcBef>
            </a:pPr>
            <a:endParaRPr sz="2400">
              <a:latin typeface="Arial"/>
              <a:cs typeface="Arial"/>
            </a:endParaRPr>
          </a:p>
          <a:p>
            <a:pPr marL="461645" marR="5080" indent="-360045">
              <a:lnSpc>
                <a:spcPct val="120100"/>
              </a:lnSpc>
              <a:buFont typeface="Arial"/>
              <a:buChar char="•"/>
              <a:tabLst>
                <a:tab pos="461645" algn="l"/>
              </a:tabLst>
            </a:pPr>
            <a:r>
              <a:rPr dirty="0" u="sng" sz="240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https://access.redhat.com/documentation/en-</a:t>
            </a:r>
            <a:r>
              <a:rPr dirty="0" u="sng" sz="240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US/Red_Hat_Enterprise_Linux/6/html/Resource_Management_Guide/sec-</a:t>
            </a:r>
            <a:r>
              <a:rPr dirty="0" u="sng" sz="24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Relationships_Between_Subsystems_Hierarchies_Control_Groups_and_Tasks.html</a:t>
            </a:r>
            <a:endParaRPr sz="2400">
              <a:latin typeface="Calibri"/>
              <a:cs typeface="Calibri"/>
            </a:endParaRPr>
          </a:p>
          <a:p>
            <a:pPr marL="461009" indent="-359410">
              <a:lnSpc>
                <a:spcPct val="100000"/>
              </a:lnSpc>
              <a:spcBef>
                <a:spcPts val="1180"/>
              </a:spcBef>
              <a:buFont typeface="Arial"/>
              <a:buChar char="•"/>
              <a:tabLst>
                <a:tab pos="461009" algn="l"/>
              </a:tabLst>
            </a:pPr>
            <a:r>
              <a:rPr dirty="0" sz="2400" spc="-10">
                <a:latin typeface="Calibri"/>
                <a:cs typeface="Calibri"/>
                <a:hlinkClick r:id="rId3"/>
              </a:rPr>
              <a:t>https://en.wikipedia.org/wiki/Cgroups</a:t>
            </a:r>
            <a:endParaRPr sz="2400">
              <a:latin typeface="Calibri"/>
              <a:cs typeface="Calibri"/>
            </a:endParaRPr>
          </a:p>
          <a:p>
            <a:pPr marL="407034" indent="-342900">
              <a:lnSpc>
                <a:spcPct val="100000"/>
              </a:lnSpc>
              <a:spcBef>
                <a:spcPts val="1830"/>
              </a:spcBef>
              <a:buClr>
                <a:srgbClr val="000000"/>
              </a:buClr>
              <a:buSzPct val="75000"/>
              <a:buFont typeface="Arial"/>
              <a:buChar char="•"/>
              <a:tabLst>
                <a:tab pos="407034" algn="l"/>
              </a:tabLst>
            </a:pPr>
            <a:r>
              <a:rPr dirty="0" u="sng" sz="24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https://www.youtube.com/watch?v=sK5i-N34im8</a:t>
            </a:r>
            <a:endParaRPr sz="2400">
              <a:latin typeface="Calibri"/>
              <a:cs typeface="Calibri"/>
            </a:endParaRPr>
          </a:p>
          <a:p>
            <a:pPr lvl="1" marL="864235" marR="357505" indent="-342900">
              <a:lnSpc>
                <a:spcPts val="2590"/>
              </a:lnSpc>
              <a:spcBef>
                <a:spcPts val="530"/>
              </a:spcBef>
              <a:buSzPct val="75000"/>
              <a:buFont typeface="Arial"/>
              <a:buChar char="•"/>
              <a:tabLst>
                <a:tab pos="864235" algn="l"/>
              </a:tabLst>
            </a:pPr>
            <a:r>
              <a:rPr dirty="0" sz="2400">
                <a:latin typeface="Calibri"/>
                <a:cs typeface="Calibri"/>
              </a:rPr>
              <a:t>Cgroups,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namespaces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beyond: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What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containers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made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from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–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Jerome </a:t>
            </a:r>
            <a:r>
              <a:rPr dirty="0" sz="2400">
                <a:latin typeface="Calibri"/>
                <a:cs typeface="Calibri"/>
              </a:rPr>
              <a:t>Pettazzoni,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Docker</a:t>
            </a:r>
            <a:endParaRPr sz="2400">
              <a:latin typeface="Calibri"/>
              <a:cs typeface="Calibri"/>
            </a:endParaRPr>
          </a:p>
          <a:p>
            <a:pPr marL="521334">
              <a:lnSpc>
                <a:spcPct val="100000"/>
              </a:lnSpc>
              <a:spcBef>
                <a:spcPts val="185"/>
              </a:spcBef>
            </a:pPr>
            <a:r>
              <a:rPr dirty="0" sz="2400" spc="-10">
                <a:latin typeface="Calibri"/>
                <a:cs typeface="Calibri"/>
                <a:hlinkClick r:id="rId5"/>
              </a:rPr>
              <a:t>https://www.youtube.com/watch?v=nXV6qihj5uw</a:t>
            </a:r>
            <a:endParaRPr sz="2400">
              <a:latin typeface="Calibri"/>
              <a:cs typeface="Calibri"/>
            </a:endParaRPr>
          </a:p>
          <a:p>
            <a:pPr marL="372110" marR="95250" indent="-360045">
              <a:lnSpc>
                <a:spcPct val="120000"/>
              </a:lnSpc>
              <a:spcBef>
                <a:spcPts val="800"/>
              </a:spcBef>
              <a:buFont typeface="Arial"/>
              <a:buChar char="•"/>
              <a:tabLst>
                <a:tab pos="372110" algn="l"/>
              </a:tabLst>
            </a:pPr>
            <a:r>
              <a:rPr dirty="0" u="sng" sz="240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https://access.redhat.com/documentation/en-</a:t>
            </a:r>
            <a:r>
              <a:rPr dirty="0" u="sng" sz="240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US/Red_Hat_Enterprise_Linux/6/html/Resource_Management_Guide/sec-</a:t>
            </a:r>
            <a:r>
              <a:rPr dirty="0" u="sng" sz="24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Relationships_Between_Subsystems_Hierarchies_Control_Groups_and_Tasks.html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765409" y="349516"/>
            <a:ext cx="1067435" cy="1078230"/>
          </a:xfrm>
          <a:custGeom>
            <a:avLst/>
            <a:gdLst/>
            <a:ahLst/>
            <a:cxnLst/>
            <a:rect l="l" t="t" r="r" b="b"/>
            <a:pathLst>
              <a:path w="1067434" h="1078230">
                <a:moveTo>
                  <a:pt x="1066901" y="0"/>
                </a:moveTo>
                <a:lnTo>
                  <a:pt x="0" y="0"/>
                </a:lnTo>
                <a:lnTo>
                  <a:pt x="0" y="45707"/>
                </a:lnTo>
                <a:lnTo>
                  <a:pt x="1021080" y="45707"/>
                </a:lnTo>
                <a:lnTo>
                  <a:pt x="1021080" y="1078090"/>
                </a:lnTo>
                <a:lnTo>
                  <a:pt x="1066787" y="1078090"/>
                </a:lnTo>
                <a:lnTo>
                  <a:pt x="1066787" y="45707"/>
                </a:lnTo>
                <a:lnTo>
                  <a:pt x="1066901" y="0"/>
                </a:lnTo>
                <a:close/>
              </a:path>
            </a:pathLst>
          </a:custGeom>
          <a:solidFill>
            <a:srgbClr val="F4AF8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A logo for a university  Description automatically generated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0614" y="1172591"/>
            <a:ext cx="2461497" cy="3997071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367276" y="2089784"/>
            <a:ext cx="274256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C55A11"/>
                </a:solidFill>
                <a:latin typeface="Arial"/>
                <a:cs typeface="Arial"/>
              </a:rPr>
              <a:t>THANK</a:t>
            </a:r>
            <a:r>
              <a:rPr dirty="0" sz="3600" spc="-14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3600" spc="-25">
                <a:solidFill>
                  <a:srgbClr val="C55A11"/>
                </a:solidFill>
                <a:latin typeface="Arial"/>
                <a:cs typeface="Arial"/>
              </a:rPr>
              <a:t>YOU</a:t>
            </a:r>
            <a:endParaRPr sz="3600">
              <a:latin typeface="Arial"/>
              <a:cs typeface="Arial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4287901" y="2887345"/>
            <a:ext cx="4581525" cy="0"/>
          </a:xfrm>
          <a:custGeom>
            <a:avLst/>
            <a:gdLst/>
            <a:ahLst/>
            <a:cxnLst/>
            <a:rect l="l" t="t" r="r" b="b"/>
            <a:pathLst>
              <a:path w="4581525" h="0">
                <a:moveTo>
                  <a:pt x="0" y="0"/>
                </a:moveTo>
                <a:lnTo>
                  <a:pt x="4581525" y="0"/>
                </a:lnTo>
              </a:path>
            </a:pathLst>
          </a:custGeom>
          <a:ln w="38100">
            <a:solidFill>
              <a:srgbClr val="DFA1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367276" y="3221591"/>
            <a:ext cx="5217160" cy="123380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z="2400" b="1">
                <a:latin typeface="Calibri"/>
                <a:cs typeface="Calibri"/>
              </a:rPr>
              <a:t>Prafullata</a:t>
            </a:r>
            <a:r>
              <a:rPr dirty="0" sz="2400" spc="-3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Kiran</a:t>
            </a:r>
            <a:r>
              <a:rPr dirty="0" sz="2400" spc="-2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Auradkar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2000">
                <a:latin typeface="Calibri"/>
                <a:cs typeface="Calibri"/>
              </a:rPr>
              <a:t>Department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Computer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Science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Engineering</a:t>
            </a:r>
            <a:endParaRPr sz="2000">
              <a:latin typeface="Calibri"/>
              <a:cs typeface="Calibri"/>
            </a:endParaRPr>
          </a:p>
          <a:p>
            <a:pPr marL="24765">
              <a:lnSpc>
                <a:spcPct val="100000"/>
              </a:lnSpc>
              <a:spcBef>
                <a:spcPts val="745"/>
              </a:spcBef>
            </a:pPr>
            <a:r>
              <a:rPr dirty="0" sz="2400" spc="-10" b="1">
                <a:latin typeface="Calibri"/>
                <a:cs typeface="Calibri"/>
                <a:hlinkClick r:id="rId2"/>
              </a:rPr>
              <a:t>prafullatak@pes.edu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3842" y="5489702"/>
            <a:ext cx="1067435" cy="1078230"/>
          </a:xfrm>
          <a:custGeom>
            <a:avLst/>
            <a:gdLst/>
            <a:ahLst/>
            <a:cxnLst/>
            <a:rect l="l" t="t" r="r" b="b"/>
            <a:pathLst>
              <a:path w="1067435" h="1078229">
                <a:moveTo>
                  <a:pt x="1066888" y="1032446"/>
                </a:moveTo>
                <a:lnTo>
                  <a:pt x="45707" y="1032446"/>
                </a:lnTo>
                <a:lnTo>
                  <a:pt x="45707" y="0"/>
                </a:lnTo>
                <a:lnTo>
                  <a:pt x="0" y="0"/>
                </a:lnTo>
                <a:lnTo>
                  <a:pt x="0" y="1032446"/>
                </a:lnTo>
                <a:lnTo>
                  <a:pt x="0" y="1066888"/>
                </a:lnTo>
                <a:lnTo>
                  <a:pt x="0" y="1078153"/>
                </a:lnTo>
                <a:lnTo>
                  <a:pt x="1066888" y="1078153"/>
                </a:lnTo>
                <a:lnTo>
                  <a:pt x="1066888" y="1032446"/>
                </a:lnTo>
                <a:close/>
              </a:path>
            </a:pathLst>
          </a:custGeom>
          <a:solidFill>
            <a:srgbClr val="F4AF81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10855706" y="266077"/>
            <a:ext cx="1067435" cy="1078230"/>
          </a:xfrm>
          <a:custGeom>
            <a:avLst/>
            <a:gdLst/>
            <a:ahLst/>
            <a:cxnLst/>
            <a:rect l="l" t="t" r="r" b="b"/>
            <a:pathLst>
              <a:path w="1067434" h="1078230">
                <a:moveTo>
                  <a:pt x="1066914" y="11201"/>
                </a:moveTo>
                <a:lnTo>
                  <a:pt x="1066888" y="0"/>
                </a:lnTo>
                <a:lnTo>
                  <a:pt x="0" y="0"/>
                </a:lnTo>
                <a:lnTo>
                  <a:pt x="0" y="45707"/>
                </a:lnTo>
                <a:lnTo>
                  <a:pt x="1021207" y="45707"/>
                </a:lnTo>
                <a:lnTo>
                  <a:pt x="1021207" y="1078090"/>
                </a:lnTo>
                <a:lnTo>
                  <a:pt x="1066914" y="1078090"/>
                </a:lnTo>
                <a:lnTo>
                  <a:pt x="1066914" y="11201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A logo for a university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0853" y="1125982"/>
            <a:ext cx="2239539" cy="3636645"/>
          </a:xfrm>
          <a:prstGeom prst="rect">
            <a:avLst/>
          </a:prstGeom>
        </p:spPr>
      </p:pic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74184" y="1316863"/>
            <a:ext cx="3894454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C55A11"/>
                </a:solidFill>
              </a:rPr>
              <a:t>CLOUD</a:t>
            </a:r>
            <a:r>
              <a:rPr dirty="0" sz="3600" spc="-130">
                <a:solidFill>
                  <a:srgbClr val="C55A11"/>
                </a:solidFill>
              </a:rPr>
              <a:t> </a:t>
            </a:r>
            <a:r>
              <a:rPr dirty="0" sz="3600" spc="-10">
                <a:solidFill>
                  <a:srgbClr val="C55A11"/>
                </a:solidFill>
              </a:rPr>
              <a:t>COMPUTING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3169666" y="2390013"/>
            <a:ext cx="8382000" cy="1125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61531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Lightweight</a:t>
            </a:r>
            <a:r>
              <a:rPr dirty="0" sz="2400" spc="-9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virtualization</a:t>
            </a:r>
            <a:r>
              <a:rPr dirty="0" sz="2400" spc="-9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–</a:t>
            </a:r>
            <a:r>
              <a:rPr dirty="0" sz="2400" spc="-9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Containers,</a:t>
            </a:r>
            <a:r>
              <a:rPr dirty="0" sz="2400" spc="-80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namespaces,</a:t>
            </a:r>
            <a:r>
              <a:rPr dirty="0" sz="2400" spc="-90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395"/>
                </a:solidFill>
                <a:latin typeface="Calibri"/>
                <a:cs typeface="Calibri"/>
              </a:rPr>
              <a:t>cgroups</a:t>
            </a:r>
            <a:endParaRPr sz="2400">
              <a:latin typeface="Calibri"/>
              <a:cs typeface="Calibri"/>
            </a:endParaRPr>
          </a:p>
          <a:p>
            <a:pPr algn="ctr" marR="1716405">
              <a:lnSpc>
                <a:spcPct val="100000"/>
              </a:lnSpc>
              <a:spcBef>
                <a:spcPts val="25"/>
              </a:spcBef>
            </a:pPr>
            <a:r>
              <a:rPr dirty="0" sz="2400" spc="-50" b="1">
                <a:solidFill>
                  <a:srgbClr val="2E5395"/>
                </a:solidFill>
                <a:latin typeface="Calibri"/>
                <a:cs typeface="Calibri"/>
              </a:rPr>
              <a:t>&amp;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Deployment</a:t>
            </a:r>
            <a:r>
              <a:rPr dirty="0" sz="2400" spc="-40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of</a:t>
            </a:r>
            <a:r>
              <a:rPr dirty="0" sz="2400" spc="-40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cloud</a:t>
            </a:r>
            <a:r>
              <a:rPr dirty="0" sz="2400" spc="-50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native</a:t>
            </a:r>
            <a:r>
              <a:rPr dirty="0" sz="2400" spc="-20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applications</a:t>
            </a:r>
            <a:r>
              <a:rPr dirty="0" sz="2400" spc="-2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through</a:t>
            </a:r>
            <a:r>
              <a:rPr dirty="0" sz="2400" spc="-2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Docker,</a:t>
            </a:r>
            <a:r>
              <a:rPr dirty="0" sz="2400" spc="-50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395"/>
                </a:solidFill>
                <a:latin typeface="Calibri"/>
                <a:cs typeface="Calibri"/>
              </a:rPr>
              <a:t>UnionFS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81930" y="4112386"/>
            <a:ext cx="4581525" cy="0"/>
          </a:xfrm>
          <a:custGeom>
            <a:avLst/>
            <a:gdLst/>
            <a:ahLst/>
            <a:cxnLst/>
            <a:rect l="l" t="t" r="r" b="b"/>
            <a:pathLst>
              <a:path w="4581525" h="0">
                <a:moveTo>
                  <a:pt x="0" y="0"/>
                </a:moveTo>
                <a:lnTo>
                  <a:pt x="4581398" y="0"/>
                </a:lnTo>
              </a:path>
            </a:pathLst>
          </a:custGeom>
          <a:ln w="38100">
            <a:solidFill>
              <a:srgbClr val="C55A1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65521" y="4426711"/>
            <a:ext cx="5217160" cy="873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Arial"/>
                <a:cs typeface="Arial"/>
              </a:rPr>
              <a:t>Dr.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Prafullata</a:t>
            </a:r>
            <a:r>
              <a:rPr dirty="0" sz="2000" spc="-4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Kiran</a:t>
            </a:r>
            <a:r>
              <a:rPr dirty="0" sz="2000" spc="-1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Auradkar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dirty="0" sz="2000">
                <a:latin typeface="Calibri"/>
                <a:cs typeface="Calibri"/>
              </a:rPr>
              <a:t>Department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Computer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Science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Engineering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3842" y="5489702"/>
            <a:ext cx="1067435" cy="1078230"/>
          </a:xfrm>
          <a:custGeom>
            <a:avLst/>
            <a:gdLst/>
            <a:ahLst/>
            <a:cxnLst/>
            <a:rect l="l" t="t" r="r" b="b"/>
            <a:pathLst>
              <a:path w="1067435" h="1078229">
                <a:moveTo>
                  <a:pt x="1066888" y="1032446"/>
                </a:moveTo>
                <a:lnTo>
                  <a:pt x="45707" y="1032446"/>
                </a:lnTo>
                <a:lnTo>
                  <a:pt x="45707" y="0"/>
                </a:lnTo>
                <a:lnTo>
                  <a:pt x="0" y="0"/>
                </a:lnTo>
                <a:lnTo>
                  <a:pt x="0" y="1032446"/>
                </a:lnTo>
                <a:lnTo>
                  <a:pt x="0" y="1066888"/>
                </a:lnTo>
                <a:lnTo>
                  <a:pt x="0" y="1078153"/>
                </a:lnTo>
                <a:lnTo>
                  <a:pt x="1066888" y="1078153"/>
                </a:lnTo>
                <a:lnTo>
                  <a:pt x="1066888" y="1032446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38404" y="5442610"/>
            <a:ext cx="11408410" cy="100139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Arial"/>
                <a:cs typeface="Arial"/>
              </a:rPr>
              <a:t>Acknowledgements:</a:t>
            </a:r>
            <a:endParaRPr sz="1600">
              <a:latin typeface="Arial"/>
              <a:cs typeface="Arial"/>
            </a:endParaRPr>
          </a:p>
          <a:p>
            <a:pPr algn="just" marL="12700" marR="508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latin typeface="Arial"/>
                <a:cs typeface="Arial"/>
              </a:rPr>
              <a:t>Significant</a:t>
            </a:r>
            <a:r>
              <a:rPr dirty="0" sz="1200" spc="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information</a:t>
            </a:r>
            <a:r>
              <a:rPr dirty="0" sz="1200" spc="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</a:t>
            </a:r>
            <a:r>
              <a:rPr dirty="0" sz="1200" spc="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slide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deck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presented</a:t>
            </a:r>
            <a:r>
              <a:rPr dirty="0" sz="1200" spc="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through</a:t>
            </a:r>
            <a:r>
              <a:rPr dirty="0" sz="1200" spc="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Unit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2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of</a:t>
            </a:r>
            <a:r>
              <a:rPr dirty="0" sz="1200" spc="9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course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have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been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created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by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Dr.</a:t>
            </a:r>
            <a:r>
              <a:rPr dirty="0" sz="1200" spc="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H.L.</a:t>
            </a:r>
            <a:r>
              <a:rPr dirty="0" sz="1200" spc="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Phalachandra</a:t>
            </a:r>
            <a:r>
              <a:rPr dirty="0" sz="1200" spc="75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would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like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acknowledge</a:t>
            </a:r>
            <a:r>
              <a:rPr dirty="0" sz="1200" spc="85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and </a:t>
            </a:r>
            <a:r>
              <a:rPr dirty="0" sz="1200">
                <a:latin typeface="Arial"/>
                <a:cs typeface="Arial"/>
              </a:rPr>
              <a:t>thank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him for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same. There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have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been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some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information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which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 might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have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leveraged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from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content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of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Dr.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K.V.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Subramaniam’s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lecture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contents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too.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 may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have </a:t>
            </a:r>
            <a:r>
              <a:rPr dirty="0" sz="1200">
                <a:latin typeface="Arial"/>
                <a:cs typeface="Arial"/>
              </a:rPr>
              <a:t>supplemented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same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with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contents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from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books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other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sources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from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Internet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would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like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sincerely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thank,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acknowledge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reiterate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that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credit/rights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for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same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remain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with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original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authors/publishers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only.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These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are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intended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for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classroom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presentation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only.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Containers</a:t>
            </a:r>
            <a:r>
              <a:rPr dirty="0" spc="-9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–</a:t>
            </a:r>
            <a:r>
              <a:rPr dirty="0" spc="-9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Definitions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63169" y="1314449"/>
            <a:ext cx="11851640" cy="5034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5600" marR="219075" indent="-343535">
              <a:lnSpc>
                <a:spcPct val="110000"/>
              </a:lnSpc>
              <a:spcBef>
                <a:spcPts val="100"/>
              </a:spcBef>
              <a:buChar char="▪"/>
              <a:tabLst>
                <a:tab pos="355600" algn="l"/>
              </a:tabLst>
            </a:pPr>
            <a:r>
              <a:rPr dirty="0" sz="2100">
                <a:latin typeface="Calibri"/>
                <a:cs typeface="Calibri"/>
              </a:rPr>
              <a:t>Linux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Containers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or</a:t>
            </a:r>
            <a:r>
              <a:rPr dirty="0" sz="2100" spc="-2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LXC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is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an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operating-system-</a:t>
            </a:r>
            <a:r>
              <a:rPr dirty="0" sz="2100">
                <a:latin typeface="Calibri"/>
                <a:cs typeface="Calibri"/>
              </a:rPr>
              <a:t>level</a:t>
            </a:r>
            <a:r>
              <a:rPr dirty="0" sz="2100" spc="-10">
                <a:latin typeface="Calibri"/>
                <a:cs typeface="Calibri"/>
              </a:rPr>
              <a:t> virtualization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method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for</a:t>
            </a:r>
            <a:r>
              <a:rPr dirty="0" sz="2100" spc="-1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running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multiple</a:t>
            </a:r>
            <a:r>
              <a:rPr dirty="0" sz="2100" spc="-2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isolated </a:t>
            </a:r>
            <a:r>
              <a:rPr dirty="0" sz="2100">
                <a:latin typeface="Calibri"/>
                <a:cs typeface="Calibri"/>
              </a:rPr>
              <a:t>Linux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systems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(containers)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which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can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run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multiple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workloads,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on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control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host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running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single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linux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 spc="-25">
                <a:latin typeface="Calibri"/>
                <a:cs typeface="Calibri"/>
              </a:rPr>
              <a:t>OS </a:t>
            </a:r>
            <a:r>
              <a:rPr dirty="0" sz="2100" spc="-10">
                <a:latin typeface="Calibri"/>
                <a:cs typeface="Calibri"/>
              </a:rPr>
              <a:t>instance</a:t>
            </a:r>
            <a:endParaRPr sz="2100">
              <a:latin typeface="Calibri"/>
              <a:cs typeface="Calibri"/>
            </a:endParaRPr>
          </a:p>
          <a:p>
            <a:pPr marL="355600" marR="5080" indent="-343535">
              <a:lnSpc>
                <a:spcPct val="110000"/>
              </a:lnSpc>
              <a:spcBef>
                <a:spcPts val="409"/>
              </a:spcBef>
              <a:buChar char="▪"/>
              <a:tabLst>
                <a:tab pos="355600" algn="l"/>
              </a:tabLst>
            </a:pPr>
            <a:r>
              <a:rPr dirty="0" sz="2100">
                <a:latin typeface="Calibri"/>
                <a:cs typeface="Calibri"/>
              </a:rPr>
              <a:t>LXC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provides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virtual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environment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that</a:t>
            </a:r>
            <a:r>
              <a:rPr dirty="0" sz="2100" spc="-7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has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its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own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process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and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network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space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and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does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not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create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full-</a:t>
            </a:r>
            <a:r>
              <a:rPr dirty="0" sz="2100">
                <a:latin typeface="Calibri"/>
                <a:cs typeface="Calibri"/>
              </a:rPr>
              <a:t>fledged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virtual</a:t>
            </a:r>
            <a:r>
              <a:rPr dirty="0" sz="2100" spc="-65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machine.</a:t>
            </a:r>
            <a:endParaRPr sz="21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45"/>
              </a:spcBef>
              <a:buChar char="▪"/>
              <a:tabLst>
                <a:tab pos="355600" algn="l"/>
              </a:tabLst>
            </a:pPr>
            <a:r>
              <a:rPr dirty="0" sz="2100">
                <a:latin typeface="Calibri"/>
                <a:cs typeface="Calibri"/>
              </a:rPr>
              <a:t>LXC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uses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Linux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kernel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cgroups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and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namespace</a:t>
            </a:r>
            <a:r>
              <a:rPr dirty="0" sz="2100" spc="-6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isolation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functionality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to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achieve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the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same.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2200" spc="-10" b="1">
                <a:latin typeface="Calibri"/>
                <a:cs typeface="Calibri"/>
              </a:rPr>
              <a:t>Motivation</a:t>
            </a:r>
            <a:endParaRPr sz="2200">
              <a:latin typeface="Calibri"/>
              <a:cs typeface="Calibri"/>
            </a:endParaRPr>
          </a:p>
          <a:p>
            <a:pPr marL="355600" marR="113664" indent="-343535">
              <a:lnSpc>
                <a:spcPct val="110000"/>
              </a:lnSpc>
              <a:spcBef>
                <a:spcPts val="475"/>
              </a:spcBef>
              <a:buChar char="▪"/>
              <a:tabLst>
                <a:tab pos="355600" algn="l"/>
              </a:tabLst>
            </a:pPr>
            <a:r>
              <a:rPr dirty="0" sz="2100">
                <a:latin typeface="Calibri"/>
                <a:cs typeface="Calibri"/>
              </a:rPr>
              <a:t>VMs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support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the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objective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of</a:t>
            </a:r>
            <a:r>
              <a:rPr dirty="0" sz="2100" spc="-6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virtualizing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the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physical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systems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and</a:t>
            </a:r>
            <a:r>
              <a:rPr dirty="0" sz="2100" spc="-6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allowing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multiple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tenants/applications </a:t>
            </a:r>
            <a:r>
              <a:rPr dirty="0" sz="2100">
                <a:latin typeface="Calibri"/>
                <a:cs typeface="Calibri"/>
              </a:rPr>
              <a:t>to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be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isolated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and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share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the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physical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resources</a:t>
            </a:r>
            <a:r>
              <a:rPr dirty="0" sz="2100" spc="-2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along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with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Access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control</a:t>
            </a:r>
            <a:endParaRPr sz="21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60"/>
              </a:spcBef>
              <a:buChar char="▪"/>
              <a:tabLst>
                <a:tab pos="355600" algn="l"/>
              </a:tabLst>
            </a:pPr>
            <a:r>
              <a:rPr dirty="0" sz="2100">
                <a:latin typeface="Calibri"/>
                <a:cs typeface="Calibri"/>
              </a:rPr>
              <a:t>One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of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the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challenges</a:t>
            </a:r>
            <a:r>
              <a:rPr dirty="0" sz="2100" spc="-2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as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observed</a:t>
            </a:r>
            <a:r>
              <a:rPr dirty="0" sz="2100" spc="-1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is,</a:t>
            </a:r>
            <a:r>
              <a:rPr dirty="0" sz="2100" spc="-1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this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isolation</a:t>
            </a:r>
            <a:r>
              <a:rPr dirty="0" sz="2100" spc="-1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achieved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by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or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provided</a:t>
            </a:r>
            <a:r>
              <a:rPr dirty="0" sz="2100" spc="-2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by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VM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is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expensive</a:t>
            </a:r>
            <a:endParaRPr sz="2100">
              <a:latin typeface="Calibri"/>
              <a:cs typeface="Calibri"/>
            </a:endParaRPr>
          </a:p>
          <a:p>
            <a:pPr marL="355600" marR="61594" indent="-343535">
              <a:lnSpc>
                <a:spcPct val="110000"/>
              </a:lnSpc>
              <a:spcBef>
                <a:spcPts val="395"/>
              </a:spcBef>
              <a:buChar char="▪"/>
              <a:tabLst>
                <a:tab pos="355600" algn="l"/>
              </a:tabLst>
            </a:pPr>
            <a:r>
              <a:rPr dirty="0" sz="2100">
                <a:latin typeface="Calibri"/>
                <a:cs typeface="Calibri"/>
              </a:rPr>
              <a:t>Traditional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OSs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supporting</a:t>
            </a:r>
            <a:r>
              <a:rPr dirty="0" sz="2100" spc="-6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multiple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application</a:t>
            </a:r>
            <a:r>
              <a:rPr dirty="0" sz="2100" spc="-6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processes,</a:t>
            </a:r>
            <a:r>
              <a:rPr dirty="0" sz="2100" spc="-1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but</a:t>
            </a:r>
            <a:r>
              <a:rPr dirty="0" sz="2100" spc="-6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share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disk,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with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all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the</a:t>
            </a:r>
            <a:r>
              <a:rPr dirty="0" sz="2100" spc="-6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processes</a:t>
            </a:r>
            <a:r>
              <a:rPr dirty="0" sz="2100" spc="-10">
                <a:latin typeface="Calibri"/>
                <a:cs typeface="Calibri"/>
              </a:rPr>
              <a:t> capable </a:t>
            </a:r>
            <a:r>
              <a:rPr dirty="0" sz="2100">
                <a:latin typeface="Calibri"/>
                <a:cs typeface="Calibri"/>
              </a:rPr>
              <a:t>of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seeing</a:t>
            </a:r>
            <a:r>
              <a:rPr dirty="0" sz="2100" spc="-1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the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entire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filesystem with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access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control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built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on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top,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and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also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share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network.</a:t>
            </a:r>
            <a:endParaRPr sz="21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50"/>
              </a:spcBef>
              <a:buChar char="▪"/>
              <a:tabLst>
                <a:tab pos="355600" algn="l"/>
              </a:tabLst>
            </a:pPr>
            <a:r>
              <a:rPr dirty="0" sz="2100">
                <a:latin typeface="Calibri"/>
                <a:cs typeface="Calibri"/>
              </a:rPr>
              <a:t>Containers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using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light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weight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mechanism,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provide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this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virtualization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extending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the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isolation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provided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 spc="-25">
                <a:latin typeface="Calibri"/>
                <a:cs typeface="Calibri"/>
              </a:rPr>
              <a:t>by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6374" y="6355486"/>
            <a:ext cx="195389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latin typeface="Calibri"/>
                <a:cs typeface="Calibri"/>
              </a:rPr>
              <a:t>our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traditional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 spc="-25">
                <a:latin typeface="Calibri"/>
                <a:cs typeface="Calibri"/>
              </a:rPr>
              <a:t>OS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83864" y="6467317"/>
            <a:ext cx="9208135" cy="307975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25"/>
              </a:spcBef>
            </a:pPr>
            <a:r>
              <a:rPr dirty="0" sz="1400">
                <a:solidFill>
                  <a:srgbClr val="006FC0"/>
                </a:solidFill>
                <a:latin typeface="Arial"/>
                <a:cs typeface="Arial"/>
              </a:rPr>
              <a:t>Lxc</a:t>
            </a:r>
            <a:r>
              <a:rPr dirty="0" sz="1400" spc="-5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FC0"/>
                </a:solidFill>
                <a:latin typeface="Arial"/>
                <a:cs typeface="Arial"/>
              </a:rPr>
              <a:t>(tools)</a:t>
            </a:r>
            <a:r>
              <a:rPr dirty="0" sz="1400" spc="-5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FC0"/>
                </a:solidFill>
                <a:latin typeface="Arial"/>
                <a:cs typeface="Arial"/>
              </a:rPr>
              <a:t>is</a:t>
            </a:r>
            <a:r>
              <a:rPr dirty="0" sz="1400" spc="-2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FC0"/>
                </a:solidFill>
                <a:latin typeface="Arial"/>
                <a:cs typeface="Arial"/>
              </a:rPr>
              <a:t>an</a:t>
            </a:r>
            <a:r>
              <a:rPr dirty="0" sz="1400" spc="-2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FC0"/>
                </a:solidFill>
                <a:latin typeface="Arial"/>
                <a:cs typeface="Arial"/>
              </a:rPr>
              <a:t>user</a:t>
            </a:r>
            <a:r>
              <a:rPr dirty="0" sz="1400" spc="-35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FC0"/>
                </a:solidFill>
                <a:latin typeface="Arial"/>
                <a:cs typeface="Arial"/>
              </a:rPr>
              <a:t>space</a:t>
            </a:r>
            <a:r>
              <a:rPr dirty="0" sz="1400" spc="-35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FC0"/>
                </a:solidFill>
                <a:latin typeface="Arial"/>
                <a:cs typeface="Arial"/>
              </a:rPr>
              <a:t>toolset</a:t>
            </a:r>
            <a:r>
              <a:rPr dirty="0" sz="1400" spc="-45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FC0"/>
                </a:solidFill>
                <a:latin typeface="Arial"/>
                <a:cs typeface="Arial"/>
              </a:rPr>
              <a:t>for</a:t>
            </a:r>
            <a:r>
              <a:rPr dirty="0" sz="1400" spc="-3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FC0"/>
                </a:solidFill>
                <a:latin typeface="Arial"/>
                <a:cs typeface="Arial"/>
              </a:rPr>
              <a:t>creating</a:t>
            </a:r>
            <a:r>
              <a:rPr dirty="0" sz="1400" spc="-6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FC0"/>
                </a:solidFill>
                <a:latin typeface="Arial"/>
                <a:cs typeface="Arial"/>
              </a:rPr>
              <a:t>&amp; managing</a:t>
            </a:r>
            <a:r>
              <a:rPr dirty="0" sz="1400" spc="-45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FC0"/>
                </a:solidFill>
                <a:latin typeface="Arial"/>
                <a:cs typeface="Arial"/>
              </a:rPr>
              <a:t>Linux</a:t>
            </a:r>
            <a:r>
              <a:rPr dirty="0" sz="1400" spc="-3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FC0"/>
                </a:solidFill>
                <a:latin typeface="Arial"/>
                <a:cs typeface="Arial"/>
              </a:rPr>
              <a:t>Containers</a:t>
            </a:r>
            <a:r>
              <a:rPr dirty="0" sz="1400" spc="-25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FC0"/>
                </a:solidFill>
                <a:latin typeface="Arial"/>
                <a:cs typeface="Arial"/>
              </a:rPr>
              <a:t>–</a:t>
            </a:r>
            <a:r>
              <a:rPr dirty="0" sz="1400" spc="-15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FC0"/>
                </a:solidFill>
                <a:latin typeface="Arial"/>
                <a:cs typeface="Arial"/>
              </a:rPr>
              <a:t>different</a:t>
            </a:r>
            <a:r>
              <a:rPr dirty="0" sz="1400" spc="-45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FC0"/>
                </a:solidFill>
                <a:latin typeface="Arial"/>
                <a:cs typeface="Arial"/>
              </a:rPr>
              <a:t>from</a:t>
            </a:r>
            <a:r>
              <a:rPr dirty="0" sz="1400" spc="-45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FC0"/>
                </a:solidFill>
                <a:latin typeface="Arial"/>
                <a:cs typeface="Arial"/>
              </a:rPr>
              <a:t>LXC</a:t>
            </a:r>
            <a:r>
              <a:rPr dirty="0" sz="1400" spc="-15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6FC0"/>
                </a:solidFill>
                <a:latin typeface="Arial"/>
                <a:cs typeface="Arial"/>
              </a:rPr>
              <a:t>Linux</a:t>
            </a:r>
            <a:r>
              <a:rPr dirty="0" sz="1400" spc="-3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006FC0"/>
                </a:solidFill>
                <a:latin typeface="Arial"/>
                <a:cs typeface="Arial"/>
              </a:rPr>
              <a:t>containers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5147" y="240751"/>
            <a:ext cx="3721100" cy="878840"/>
          </a:xfrm>
          <a:prstGeom prst="rect"/>
        </p:spPr>
        <p:txBody>
          <a:bodyPr wrap="square" lIns="0" tIns="406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2800">
                <a:solidFill>
                  <a:srgbClr val="C55A11"/>
                </a:solidFill>
              </a:rPr>
              <a:t>Container</a:t>
            </a:r>
            <a:r>
              <a:rPr dirty="0" sz="2800" spc="-120">
                <a:solidFill>
                  <a:srgbClr val="C55A11"/>
                </a:solidFill>
              </a:rPr>
              <a:t> </a:t>
            </a:r>
            <a:r>
              <a:rPr dirty="0" sz="2800" spc="-10">
                <a:solidFill>
                  <a:srgbClr val="C55A11"/>
                </a:solidFill>
              </a:rPr>
              <a:t>Characteristics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10220960" cy="38100"/>
          </a:xfrm>
          <a:custGeom>
            <a:avLst/>
            <a:gdLst/>
            <a:ahLst/>
            <a:cxnLst/>
            <a:rect l="l" t="t" r="r" b="b"/>
            <a:pathLst>
              <a:path w="10220960" h="38100">
                <a:moveTo>
                  <a:pt x="10220833" y="0"/>
                </a:moveTo>
                <a:lnTo>
                  <a:pt x="0" y="0"/>
                </a:lnTo>
                <a:lnTo>
                  <a:pt x="0" y="38100"/>
                </a:lnTo>
                <a:lnTo>
                  <a:pt x="10220833" y="38100"/>
                </a:lnTo>
                <a:lnTo>
                  <a:pt x="10220833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01853" y="1311681"/>
            <a:ext cx="7994015" cy="4832985"/>
          </a:xfrm>
          <a:prstGeom prst="rect">
            <a:avLst/>
          </a:prstGeom>
        </p:spPr>
        <p:txBody>
          <a:bodyPr wrap="square" lIns="0" tIns="15557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225"/>
              </a:spcBef>
              <a:buChar char="▪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Containers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sit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top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physical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server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host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OS.</a:t>
            </a:r>
            <a:endParaRPr sz="2200">
              <a:latin typeface="Calibri"/>
              <a:cs typeface="Calibri"/>
            </a:endParaRPr>
          </a:p>
          <a:p>
            <a:pPr marL="355600" marR="104775" indent="-342900">
              <a:lnSpc>
                <a:spcPct val="120000"/>
              </a:lnSpc>
              <a:spcBef>
                <a:spcPts val="600"/>
              </a:spcBef>
              <a:buChar char="▪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Each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container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shares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host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OS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kernel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and,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usually,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binaries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libraries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too,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but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read-</a:t>
            </a:r>
            <a:r>
              <a:rPr dirty="0" sz="2200">
                <a:latin typeface="Calibri"/>
                <a:cs typeface="Calibri"/>
              </a:rPr>
              <a:t>only.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reduces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management </a:t>
            </a:r>
            <a:r>
              <a:rPr dirty="0" sz="2200">
                <a:latin typeface="Calibri"/>
                <a:cs typeface="Calibri"/>
              </a:rPr>
              <a:t>overhead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where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single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needs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maintained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bug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fixes, </a:t>
            </a:r>
            <a:r>
              <a:rPr dirty="0" sz="2200">
                <a:latin typeface="Calibri"/>
                <a:cs typeface="Calibri"/>
              </a:rPr>
              <a:t>patches,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so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on.</a:t>
            </a:r>
            <a:endParaRPr sz="220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120100"/>
              </a:lnSpc>
              <a:spcBef>
                <a:spcPts val="600"/>
              </a:spcBef>
              <a:buChar char="▪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Containers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thus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exceptionally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“light”—</a:t>
            </a:r>
            <a:r>
              <a:rPr dirty="0" sz="2200">
                <a:latin typeface="Calibri"/>
                <a:cs typeface="Calibri"/>
              </a:rPr>
              <a:t>they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only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megabytes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size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take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just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seconds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start,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versus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gigabytes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minutes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VM.</a:t>
            </a:r>
            <a:endParaRPr sz="2200">
              <a:latin typeface="Calibri"/>
              <a:cs typeface="Calibri"/>
            </a:endParaRPr>
          </a:p>
          <a:p>
            <a:pPr algn="just" lvl="1" marL="733425" marR="685800" indent="-342900">
              <a:lnSpc>
                <a:spcPct val="120100"/>
              </a:lnSpc>
              <a:spcBef>
                <a:spcPts val="595"/>
              </a:spcBef>
              <a:buChar char="▪"/>
              <a:tabLst>
                <a:tab pos="733425" algn="l"/>
              </a:tabLst>
            </a:pPr>
            <a:r>
              <a:rPr dirty="0" sz="2200">
                <a:latin typeface="Calibri"/>
                <a:cs typeface="Calibri"/>
              </a:rPr>
              <a:t>Container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creation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similar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process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creation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</a:t>
            </a:r>
            <a:r>
              <a:rPr dirty="0" sz="2200" spc="-25">
                <a:latin typeface="Calibri"/>
                <a:cs typeface="Calibri"/>
              </a:rPr>
              <a:t> has </a:t>
            </a:r>
            <a:r>
              <a:rPr dirty="0" sz="2200">
                <a:latin typeface="Calibri"/>
                <a:cs typeface="Calibri"/>
              </a:rPr>
              <a:t>speed,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agility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portability.</a:t>
            </a:r>
            <a:endParaRPr sz="2200">
              <a:latin typeface="Calibri"/>
              <a:cs typeface="Calibri"/>
            </a:endParaRPr>
          </a:p>
          <a:p>
            <a:pPr algn="just" lvl="1" marL="734060" indent="-343535">
              <a:lnSpc>
                <a:spcPct val="100000"/>
              </a:lnSpc>
              <a:spcBef>
                <a:spcPts val="1130"/>
              </a:spcBef>
              <a:buChar char="▪"/>
              <a:tabLst>
                <a:tab pos="734060" algn="l"/>
              </a:tabLst>
            </a:pPr>
            <a:r>
              <a:rPr dirty="0" sz="2200">
                <a:latin typeface="Calibri"/>
                <a:cs typeface="Calibri"/>
              </a:rPr>
              <a:t>Thus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containers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have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higher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provisioning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performance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502158" y="1946764"/>
            <a:ext cx="3441065" cy="3728085"/>
            <a:chOff x="8502158" y="1946764"/>
            <a:chExt cx="3441065" cy="372808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02158" y="1946764"/>
              <a:ext cx="3440986" cy="372750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789035" y="3230244"/>
              <a:ext cx="2869565" cy="367665"/>
            </a:xfrm>
            <a:custGeom>
              <a:avLst/>
              <a:gdLst/>
              <a:ahLst/>
              <a:cxnLst/>
              <a:rect l="l" t="t" r="r" b="b"/>
              <a:pathLst>
                <a:path w="2869565" h="367664">
                  <a:moveTo>
                    <a:pt x="2808224" y="0"/>
                  </a:moveTo>
                  <a:lnTo>
                    <a:pt x="61214" y="0"/>
                  </a:lnTo>
                  <a:lnTo>
                    <a:pt x="37397" y="4814"/>
                  </a:lnTo>
                  <a:lnTo>
                    <a:pt x="17938" y="17938"/>
                  </a:lnTo>
                  <a:lnTo>
                    <a:pt x="4814" y="37397"/>
                  </a:lnTo>
                  <a:lnTo>
                    <a:pt x="0" y="61213"/>
                  </a:lnTo>
                  <a:lnTo>
                    <a:pt x="0" y="306450"/>
                  </a:lnTo>
                  <a:lnTo>
                    <a:pt x="4814" y="330267"/>
                  </a:lnTo>
                  <a:lnTo>
                    <a:pt x="17938" y="349726"/>
                  </a:lnTo>
                  <a:lnTo>
                    <a:pt x="37397" y="362850"/>
                  </a:lnTo>
                  <a:lnTo>
                    <a:pt x="61214" y="367664"/>
                  </a:lnTo>
                  <a:lnTo>
                    <a:pt x="2808224" y="367664"/>
                  </a:lnTo>
                  <a:lnTo>
                    <a:pt x="2832113" y="362850"/>
                  </a:lnTo>
                  <a:lnTo>
                    <a:pt x="2851610" y="349726"/>
                  </a:lnTo>
                  <a:lnTo>
                    <a:pt x="2864748" y="330267"/>
                  </a:lnTo>
                  <a:lnTo>
                    <a:pt x="2869565" y="306450"/>
                  </a:lnTo>
                  <a:lnTo>
                    <a:pt x="2869565" y="61213"/>
                  </a:lnTo>
                  <a:lnTo>
                    <a:pt x="2864748" y="37397"/>
                  </a:lnTo>
                  <a:lnTo>
                    <a:pt x="2851610" y="17938"/>
                  </a:lnTo>
                  <a:lnTo>
                    <a:pt x="2832113" y="4814"/>
                  </a:lnTo>
                  <a:lnTo>
                    <a:pt x="2808224" y="0"/>
                  </a:lnTo>
                  <a:close/>
                </a:path>
              </a:pathLst>
            </a:custGeom>
            <a:solidFill>
              <a:srgbClr val="4471C4">
                <a:alpha val="29803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789035" y="3230244"/>
              <a:ext cx="2869565" cy="367665"/>
            </a:xfrm>
            <a:custGeom>
              <a:avLst/>
              <a:gdLst/>
              <a:ahLst/>
              <a:cxnLst/>
              <a:rect l="l" t="t" r="r" b="b"/>
              <a:pathLst>
                <a:path w="2869565" h="367664">
                  <a:moveTo>
                    <a:pt x="0" y="61213"/>
                  </a:moveTo>
                  <a:lnTo>
                    <a:pt x="4814" y="37397"/>
                  </a:lnTo>
                  <a:lnTo>
                    <a:pt x="17938" y="17938"/>
                  </a:lnTo>
                  <a:lnTo>
                    <a:pt x="37397" y="4814"/>
                  </a:lnTo>
                  <a:lnTo>
                    <a:pt x="61214" y="0"/>
                  </a:lnTo>
                  <a:lnTo>
                    <a:pt x="2808224" y="0"/>
                  </a:lnTo>
                  <a:lnTo>
                    <a:pt x="2832113" y="4814"/>
                  </a:lnTo>
                  <a:lnTo>
                    <a:pt x="2851610" y="17938"/>
                  </a:lnTo>
                  <a:lnTo>
                    <a:pt x="2864748" y="37397"/>
                  </a:lnTo>
                  <a:lnTo>
                    <a:pt x="2869565" y="61213"/>
                  </a:lnTo>
                  <a:lnTo>
                    <a:pt x="2869565" y="306450"/>
                  </a:lnTo>
                  <a:lnTo>
                    <a:pt x="2864748" y="330267"/>
                  </a:lnTo>
                  <a:lnTo>
                    <a:pt x="2851610" y="349726"/>
                  </a:lnTo>
                  <a:lnTo>
                    <a:pt x="2832113" y="362850"/>
                  </a:lnTo>
                  <a:lnTo>
                    <a:pt x="2808224" y="367664"/>
                  </a:lnTo>
                  <a:lnTo>
                    <a:pt x="61214" y="367664"/>
                  </a:lnTo>
                  <a:lnTo>
                    <a:pt x="37397" y="362850"/>
                  </a:lnTo>
                  <a:lnTo>
                    <a:pt x="17938" y="349726"/>
                  </a:lnTo>
                  <a:lnTo>
                    <a:pt x="4814" y="330267"/>
                  </a:lnTo>
                  <a:lnTo>
                    <a:pt x="0" y="306450"/>
                  </a:lnTo>
                  <a:lnTo>
                    <a:pt x="0" y="61213"/>
                  </a:lnTo>
                  <a:close/>
                </a:path>
              </a:pathLst>
            </a:custGeom>
            <a:ln w="25399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8345" y="223900"/>
            <a:ext cx="2696210" cy="84709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CLOUD</a:t>
            </a:r>
            <a:r>
              <a:rPr dirty="0" sz="2400" spc="-1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395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24765">
              <a:lnSpc>
                <a:spcPct val="100000"/>
              </a:lnSpc>
              <a:spcBef>
                <a:spcPts val="355"/>
              </a:spcBef>
            </a:pP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Containers</a:t>
            </a:r>
            <a:r>
              <a:rPr dirty="0" sz="2400" spc="-7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(Cont.)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command-line in docker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8815" y="1570482"/>
            <a:ext cx="7257275" cy="227558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07568" y="1683511"/>
            <a:ext cx="10909300" cy="45370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7985125" marR="5080">
              <a:lnSpc>
                <a:spcPct val="100299"/>
              </a:lnSpc>
              <a:spcBef>
                <a:spcPts val="90"/>
              </a:spcBef>
            </a:pPr>
            <a:r>
              <a:rPr dirty="0" sz="2400" b="1">
                <a:solidFill>
                  <a:srgbClr val="833B0A"/>
                </a:solidFill>
                <a:latin typeface="Calibri"/>
                <a:cs typeface="Calibri"/>
              </a:rPr>
              <a:t>A</a:t>
            </a:r>
            <a:r>
              <a:rPr dirty="0" sz="2400" spc="-45" b="1">
                <a:solidFill>
                  <a:srgbClr val="833B0A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833B0A"/>
                </a:solidFill>
                <a:latin typeface="Calibri"/>
                <a:cs typeface="Calibri"/>
              </a:rPr>
              <a:t>basic</a:t>
            </a:r>
            <a:r>
              <a:rPr dirty="0" sz="2400" spc="-45" b="1">
                <a:solidFill>
                  <a:srgbClr val="833B0A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833B0A"/>
                </a:solidFill>
                <a:latin typeface="Calibri"/>
                <a:cs typeface="Calibri"/>
              </a:rPr>
              <a:t>computer</a:t>
            </a:r>
            <a:r>
              <a:rPr dirty="0" sz="2400" spc="-55" b="1">
                <a:solidFill>
                  <a:srgbClr val="833B0A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833B0A"/>
                </a:solidFill>
                <a:latin typeface="Calibri"/>
                <a:cs typeface="Calibri"/>
              </a:rPr>
              <a:t>stack </a:t>
            </a:r>
            <a:r>
              <a:rPr dirty="0" sz="2400" b="1">
                <a:solidFill>
                  <a:srgbClr val="833B0A"/>
                </a:solidFill>
                <a:latin typeface="Calibri"/>
                <a:cs typeface="Calibri"/>
              </a:rPr>
              <a:t>running</a:t>
            </a:r>
            <a:r>
              <a:rPr dirty="0" sz="2400" spc="-35" b="1">
                <a:solidFill>
                  <a:srgbClr val="833B0A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833B0A"/>
                </a:solidFill>
                <a:latin typeface="Calibri"/>
                <a:cs typeface="Calibri"/>
              </a:rPr>
              <a:t>two</a:t>
            </a:r>
            <a:r>
              <a:rPr dirty="0" sz="2400" spc="-45" b="1">
                <a:solidFill>
                  <a:srgbClr val="833B0A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833B0A"/>
                </a:solidFill>
                <a:latin typeface="Calibri"/>
                <a:cs typeface="Calibri"/>
              </a:rPr>
              <a:t>programs </a:t>
            </a:r>
            <a:r>
              <a:rPr dirty="0" sz="2400" b="1">
                <a:solidFill>
                  <a:srgbClr val="833B0A"/>
                </a:solidFill>
                <a:latin typeface="Calibri"/>
                <a:cs typeface="Calibri"/>
              </a:rPr>
              <a:t>that</a:t>
            </a:r>
            <a:r>
              <a:rPr dirty="0" sz="2400" spc="-50" b="1">
                <a:solidFill>
                  <a:srgbClr val="833B0A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833B0A"/>
                </a:solidFill>
                <a:latin typeface="Calibri"/>
                <a:cs typeface="Calibri"/>
              </a:rPr>
              <a:t>were</a:t>
            </a:r>
            <a:r>
              <a:rPr dirty="0" sz="2400" spc="-70" b="1">
                <a:solidFill>
                  <a:srgbClr val="833B0A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833B0A"/>
                </a:solidFill>
                <a:latin typeface="Calibri"/>
                <a:cs typeface="Calibri"/>
              </a:rPr>
              <a:t>started</a:t>
            </a:r>
            <a:r>
              <a:rPr dirty="0" sz="2400" spc="-50" b="1">
                <a:solidFill>
                  <a:srgbClr val="833B0A"/>
                </a:solidFill>
                <a:latin typeface="Calibri"/>
                <a:cs typeface="Calibri"/>
              </a:rPr>
              <a:t> </a:t>
            </a:r>
            <a:r>
              <a:rPr dirty="0" sz="2400" spc="-20" b="1">
                <a:solidFill>
                  <a:srgbClr val="833B0A"/>
                </a:solidFill>
                <a:latin typeface="Calibri"/>
                <a:cs typeface="Calibri"/>
              </a:rPr>
              <a:t>from </a:t>
            </a:r>
            <a:r>
              <a:rPr dirty="0" sz="2400" b="1">
                <a:solidFill>
                  <a:srgbClr val="833B0A"/>
                </a:solidFill>
                <a:latin typeface="Calibri"/>
                <a:cs typeface="Calibri"/>
              </a:rPr>
              <a:t>the</a:t>
            </a:r>
            <a:r>
              <a:rPr dirty="0" sz="2400" spc="-20" b="1">
                <a:solidFill>
                  <a:srgbClr val="833B0A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833B0A"/>
                </a:solidFill>
                <a:latin typeface="Calibri"/>
                <a:cs typeface="Calibri"/>
              </a:rPr>
              <a:t>command</a:t>
            </a:r>
            <a:r>
              <a:rPr dirty="0" sz="2400" spc="-60" b="1">
                <a:solidFill>
                  <a:srgbClr val="833B0A"/>
                </a:solidFill>
                <a:latin typeface="Calibri"/>
                <a:cs typeface="Calibri"/>
              </a:rPr>
              <a:t> </a:t>
            </a:r>
            <a:r>
              <a:rPr dirty="0" sz="2400" spc="-20" b="1">
                <a:solidFill>
                  <a:srgbClr val="833B0A"/>
                </a:solidFill>
                <a:latin typeface="Calibri"/>
                <a:cs typeface="Calibri"/>
              </a:rPr>
              <a:t>line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65"/>
              </a:spcBef>
            </a:pPr>
            <a:endParaRPr sz="2400">
              <a:latin typeface="Calibri"/>
              <a:cs typeface="Calibri"/>
            </a:endParaRPr>
          </a:p>
          <a:p>
            <a:pPr marL="372110" marR="659765" indent="-360045">
              <a:lnSpc>
                <a:spcPct val="120000"/>
              </a:lnSpc>
              <a:buFont typeface="Arial"/>
              <a:buChar char="•"/>
              <a:tabLst>
                <a:tab pos="372110" algn="l"/>
              </a:tabLst>
            </a:pPr>
            <a:r>
              <a:rPr dirty="0" sz="2400">
                <a:latin typeface="Calibri"/>
                <a:cs typeface="Calibri"/>
              </a:rPr>
              <a:t>Notice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command-</a:t>
            </a:r>
            <a:r>
              <a:rPr dirty="0" sz="2400">
                <a:latin typeface="Calibri"/>
                <a:cs typeface="Calibri"/>
              </a:rPr>
              <a:t>line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interface,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CLI,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runs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what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called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space </a:t>
            </a:r>
            <a:r>
              <a:rPr dirty="0" sz="2400">
                <a:latin typeface="Calibri"/>
                <a:cs typeface="Calibri"/>
              </a:rPr>
              <a:t>memory,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just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like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other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programs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run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top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operating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system.</a:t>
            </a:r>
            <a:endParaRPr sz="24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1180"/>
              </a:spcBef>
              <a:buFont typeface="Arial"/>
              <a:buChar char="•"/>
              <a:tabLst>
                <a:tab pos="372110" algn="l"/>
              </a:tabLst>
            </a:pPr>
            <a:r>
              <a:rPr dirty="0" sz="2400">
                <a:latin typeface="Calibri"/>
                <a:cs typeface="Calibri"/>
              </a:rPr>
              <a:t>Ideally,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programs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running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user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space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can’t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modify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kernel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space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memory.</a:t>
            </a:r>
            <a:endParaRPr sz="2400">
              <a:latin typeface="Calibri"/>
              <a:cs typeface="Calibri"/>
            </a:endParaRPr>
          </a:p>
          <a:p>
            <a:pPr marL="372110" marR="356235" indent="-360045">
              <a:lnSpc>
                <a:spcPct val="120000"/>
              </a:lnSpc>
              <a:spcBef>
                <a:spcPts val="600"/>
              </a:spcBef>
              <a:buFont typeface="Arial"/>
              <a:buChar char="•"/>
              <a:tabLst>
                <a:tab pos="372110" algn="l"/>
              </a:tabLst>
            </a:pPr>
            <a:r>
              <a:rPr dirty="0" sz="2400">
                <a:latin typeface="Calibri"/>
                <a:cs typeface="Calibri"/>
              </a:rPr>
              <a:t>Broadly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speaking,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operating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system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interface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between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all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programs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hardware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computer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running</a:t>
            </a:r>
            <a:r>
              <a:rPr dirty="0" sz="2400" spc="-25">
                <a:latin typeface="Calibri"/>
                <a:cs typeface="Calibri"/>
              </a:rPr>
              <a:t> on.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2968" y="230088"/>
            <a:ext cx="4543425" cy="878840"/>
          </a:xfrm>
          <a:prstGeom prst="rect"/>
        </p:spPr>
        <p:txBody>
          <a:bodyPr wrap="square" lIns="0" tIns="40640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320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2800" spc="-10">
                <a:solidFill>
                  <a:srgbClr val="C55A11"/>
                </a:solidFill>
              </a:rPr>
              <a:t>Contrasting</a:t>
            </a:r>
            <a:r>
              <a:rPr dirty="0" sz="2800" spc="-60">
                <a:solidFill>
                  <a:srgbClr val="C55A11"/>
                </a:solidFill>
              </a:rPr>
              <a:t> </a:t>
            </a:r>
            <a:r>
              <a:rPr dirty="0" sz="2800">
                <a:solidFill>
                  <a:srgbClr val="C55A11"/>
                </a:solidFill>
              </a:rPr>
              <a:t>Containers</a:t>
            </a:r>
            <a:r>
              <a:rPr dirty="0" sz="2800" spc="-50">
                <a:solidFill>
                  <a:srgbClr val="C55A11"/>
                </a:solidFill>
              </a:rPr>
              <a:t> </a:t>
            </a:r>
            <a:r>
              <a:rPr dirty="0" sz="2800">
                <a:solidFill>
                  <a:srgbClr val="C55A11"/>
                </a:solidFill>
              </a:rPr>
              <a:t>vs</a:t>
            </a:r>
            <a:r>
              <a:rPr dirty="0" sz="2800" spc="-80">
                <a:solidFill>
                  <a:srgbClr val="C55A11"/>
                </a:solidFill>
              </a:rPr>
              <a:t> </a:t>
            </a:r>
            <a:r>
              <a:rPr dirty="0" sz="2800" spc="-25">
                <a:solidFill>
                  <a:srgbClr val="C55A11"/>
                </a:solidFill>
              </a:rPr>
              <a:t>VMs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2673" y="2261730"/>
            <a:ext cx="5529326" cy="351560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68935" y="1483233"/>
            <a:ext cx="11632565" cy="53206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900" marR="6160770" indent="-457200">
              <a:lnSpc>
                <a:spcPct val="100000"/>
              </a:lnSpc>
              <a:spcBef>
                <a:spcPts val="95"/>
              </a:spcBef>
              <a:buClr>
                <a:srgbClr val="000000"/>
              </a:buClr>
              <a:buSzPct val="94736"/>
              <a:buAutoNum type="arabicPeriod"/>
              <a:tabLst>
                <a:tab pos="469900" algn="l"/>
              </a:tabLst>
            </a:pPr>
            <a:r>
              <a:rPr dirty="0" sz="1900">
                <a:solidFill>
                  <a:srgbClr val="C00000"/>
                </a:solidFill>
                <a:latin typeface="Calibri"/>
                <a:cs typeface="Calibri"/>
              </a:rPr>
              <a:t>Each</a:t>
            </a:r>
            <a:r>
              <a:rPr dirty="0" sz="1900" spc="-4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C00000"/>
                </a:solidFill>
                <a:latin typeface="Calibri"/>
                <a:cs typeface="Calibri"/>
              </a:rPr>
              <a:t>VM</a:t>
            </a:r>
            <a:r>
              <a:rPr dirty="0" sz="1900" spc="-5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C00000"/>
                </a:solidFill>
                <a:latin typeface="Calibri"/>
                <a:cs typeface="Calibri"/>
              </a:rPr>
              <a:t>includes</a:t>
            </a:r>
            <a:r>
              <a:rPr dirty="0" sz="1900" spc="-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dirty="0" sz="1900" spc="-5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C00000"/>
                </a:solidFill>
                <a:latin typeface="Calibri"/>
                <a:cs typeface="Calibri"/>
              </a:rPr>
              <a:t>separate</a:t>
            </a:r>
            <a:r>
              <a:rPr dirty="0" sz="1900" spc="-4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C00000"/>
                </a:solidFill>
                <a:latin typeface="Calibri"/>
                <a:cs typeface="Calibri"/>
              </a:rPr>
              <a:t>OS</a:t>
            </a:r>
            <a:r>
              <a:rPr dirty="0" sz="1900" spc="-4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C00000"/>
                </a:solidFill>
                <a:latin typeface="Calibri"/>
                <a:cs typeface="Calibri"/>
              </a:rPr>
              <a:t>image,</a:t>
            </a:r>
            <a:r>
              <a:rPr dirty="0" sz="1900" spc="-4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C00000"/>
                </a:solidFill>
                <a:latin typeface="Calibri"/>
                <a:cs typeface="Calibri"/>
              </a:rPr>
              <a:t>which</a:t>
            </a:r>
            <a:r>
              <a:rPr dirty="0" sz="190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C00000"/>
                </a:solidFill>
                <a:latin typeface="Calibri"/>
                <a:cs typeface="Calibri"/>
              </a:rPr>
              <a:t>adds </a:t>
            </a:r>
            <a:r>
              <a:rPr dirty="0" sz="1900">
                <a:solidFill>
                  <a:srgbClr val="C00000"/>
                </a:solidFill>
                <a:latin typeface="Calibri"/>
                <a:cs typeface="Calibri"/>
              </a:rPr>
              <a:t>overhead</a:t>
            </a:r>
            <a:r>
              <a:rPr dirty="0" sz="1900" spc="-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dirty="0" sz="1900" spc="-6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C00000"/>
                </a:solidFill>
                <a:latin typeface="Calibri"/>
                <a:cs typeface="Calibri"/>
              </a:rPr>
              <a:t>memory</a:t>
            </a:r>
            <a:r>
              <a:rPr dirty="0" sz="1900" spc="-5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1900" spc="-5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C00000"/>
                </a:solidFill>
                <a:latin typeface="Calibri"/>
                <a:cs typeface="Calibri"/>
              </a:rPr>
              <a:t>storage</a:t>
            </a:r>
            <a:r>
              <a:rPr dirty="0" sz="190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C00000"/>
                </a:solidFill>
                <a:latin typeface="Calibri"/>
                <a:cs typeface="Calibri"/>
              </a:rPr>
              <a:t>footprint.</a:t>
            </a:r>
            <a:endParaRPr sz="1900">
              <a:latin typeface="Calibri"/>
              <a:cs typeface="Calibri"/>
            </a:endParaRPr>
          </a:p>
          <a:p>
            <a:pPr marL="474345" marR="5490210">
              <a:lnSpc>
                <a:spcPct val="100000"/>
              </a:lnSpc>
              <a:spcBef>
                <a:spcPts val="605"/>
              </a:spcBef>
            </a:pPr>
            <a:r>
              <a:rPr dirty="0" sz="1900" spc="-10">
                <a:solidFill>
                  <a:srgbClr val="006FC0"/>
                </a:solidFill>
                <a:latin typeface="Calibri"/>
                <a:cs typeface="Calibri"/>
              </a:rPr>
              <a:t>Containers</a:t>
            </a:r>
            <a:r>
              <a:rPr dirty="0" sz="1900" spc="-4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reduce</a:t>
            </a:r>
            <a:r>
              <a:rPr dirty="0" sz="1900" spc="-3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management</a:t>
            </a:r>
            <a:r>
              <a:rPr dirty="0" sz="1900" spc="-4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overhead</a:t>
            </a:r>
            <a:r>
              <a:rPr dirty="0" sz="1900" spc="-3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as</a:t>
            </a:r>
            <a:r>
              <a:rPr dirty="0" sz="1900" spc="-6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they</a:t>
            </a:r>
            <a:r>
              <a:rPr dirty="0" sz="1900" spc="-4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share</a:t>
            </a:r>
            <a:r>
              <a:rPr dirty="0" sz="1900" spc="-50">
                <a:solidFill>
                  <a:srgbClr val="006FC0"/>
                </a:solidFill>
                <a:latin typeface="Calibri"/>
                <a:cs typeface="Calibri"/>
              </a:rPr>
              <a:t> a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common</a:t>
            </a:r>
            <a:r>
              <a:rPr dirty="0" sz="1900" spc="-4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OS,</a:t>
            </a:r>
            <a:r>
              <a:rPr dirty="0" sz="1900" spc="-4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only</a:t>
            </a:r>
            <a:r>
              <a:rPr dirty="0" sz="1900" spc="-3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1900" spc="-4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single</a:t>
            </a:r>
            <a:r>
              <a:rPr dirty="0" sz="1900" spc="-2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OS</a:t>
            </a:r>
            <a:r>
              <a:rPr dirty="0" sz="1900" spc="-3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needs</a:t>
            </a:r>
            <a:r>
              <a:rPr dirty="0" sz="1900" spc="-4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to</a:t>
            </a:r>
            <a:r>
              <a:rPr dirty="0" sz="1900" spc="-4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be</a:t>
            </a:r>
            <a:r>
              <a:rPr dirty="0" sz="1900" spc="-3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maintained</a:t>
            </a:r>
            <a:r>
              <a:rPr dirty="0" sz="1900" spc="-25">
                <a:solidFill>
                  <a:srgbClr val="006FC0"/>
                </a:solidFill>
                <a:latin typeface="Calibri"/>
                <a:cs typeface="Calibri"/>
              </a:rPr>
              <a:t> for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bug</a:t>
            </a:r>
            <a:r>
              <a:rPr dirty="0" sz="1900" spc="-3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fixes,</a:t>
            </a:r>
            <a:r>
              <a:rPr dirty="0" sz="1900" spc="-3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patches,</a:t>
            </a:r>
            <a:r>
              <a:rPr dirty="0" sz="1900" spc="-4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dirty="0" sz="1900" spc="-4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so</a:t>
            </a:r>
            <a:r>
              <a:rPr dirty="0" sz="1900" spc="-4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 spc="-25">
                <a:solidFill>
                  <a:srgbClr val="006FC0"/>
                </a:solidFill>
                <a:latin typeface="Calibri"/>
                <a:cs typeface="Calibri"/>
              </a:rPr>
              <a:t>on.</a:t>
            </a:r>
            <a:endParaRPr sz="19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AutoNum type="arabicPeriod" startAt="2"/>
              <a:tabLst>
                <a:tab pos="469265" algn="l"/>
              </a:tabLst>
            </a:pP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dirty="0" sz="1800" spc="-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terms</a:t>
            </a:r>
            <a:r>
              <a:rPr dirty="0" sz="1800" spc="-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dirty="0" sz="18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performance,</a:t>
            </a:r>
            <a:r>
              <a:rPr dirty="0" sz="1800" spc="-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VMs</a:t>
            </a:r>
            <a:r>
              <a:rPr dirty="0" sz="1800" spc="-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have</a:t>
            </a:r>
            <a:r>
              <a:rPr dirty="0" sz="1800" spc="-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to</a:t>
            </a:r>
            <a:r>
              <a:rPr dirty="0" sz="1800" spc="-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boot</a:t>
            </a:r>
            <a:r>
              <a:rPr dirty="0" sz="1800" spc="-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when</a:t>
            </a:r>
            <a:r>
              <a:rPr dirty="0" sz="1800" spc="-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provisioned</a:t>
            </a:r>
            <a:endParaRPr sz="1800">
              <a:latin typeface="Calibri"/>
              <a:cs typeface="Calibri"/>
            </a:endParaRPr>
          </a:p>
          <a:p>
            <a:pPr algn="just" marL="469900">
              <a:lnSpc>
                <a:spcPct val="100000"/>
              </a:lnSpc>
            </a:pP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making</a:t>
            </a:r>
            <a:r>
              <a:rPr dirty="0" sz="1800" spc="-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it</a:t>
            </a:r>
            <a:r>
              <a:rPr dirty="0" sz="1800" spc="-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slower,</a:t>
            </a:r>
            <a:r>
              <a:rPr dirty="0" sz="18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also</a:t>
            </a:r>
            <a:r>
              <a:rPr dirty="0" sz="18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have</a:t>
            </a:r>
            <a:r>
              <a:rPr dirty="0" sz="1800" spc="-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I/O</a:t>
            </a:r>
            <a:r>
              <a:rPr dirty="0" sz="1800" spc="-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performance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 overhead</a:t>
            </a:r>
            <a:endParaRPr sz="1800">
              <a:latin typeface="Calibri"/>
              <a:cs typeface="Calibri"/>
            </a:endParaRPr>
          </a:p>
          <a:p>
            <a:pPr algn="just" marL="474345" marR="5532120">
              <a:lnSpc>
                <a:spcPct val="100000"/>
              </a:lnSpc>
              <a:spcBef>
                <a:spcPts val="605"/>
              </a:spcBef>
            </a:pPr>
            <a:r>
              <a:rPr dirty="0" sz="1800" spc="-10">
                <a:solidFill>
                  <a:srgbClr val="006FC0"/>
                </a:solidFill>
                <a:latin typeface="Calibri"/>
                <a:cs typeface="Calibri"/>
              </a:rPr>
              <a:t>Containers</a:t>
            </a:r>
            <a:r>
              <a:rPr dirty="0" sz="1800" spc="-2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6FC0"/>
                </a:solidFill>
                <a:latin typeface="Calibri"/>
                <a:cs typeface="Calibri"/>
              </a:rPr>
              <a:t>have</a:t>
            </a:r>
            <a:r>
              <a:rPr dirty="0" sz="1800" spc="-3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6FC0"/>
                </a:solidFill>
                <a:latin typeface="Calibri"/>
                <a:cs typeface="Calibri"/>
              </a:rPr>
              <a:t>higher</a:t>
            </a:r>
            <a:r>
              <a:rPr dirty="0" sz="1800" spc="-2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6FC0"/>
                </a:solidFill>
                <a:latin typeface="Calibri"/>
                <a:cs typeface="Calibri"/>
              </a:rPr>
              <a:t>performance</a:t>
            </a:r>
            <a:r>
              <a:rPr dirty="0" sz="1800" spc="-1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6FC0"/>
                </a:solidFill>
                <a:latin typeface="Calibri"/>
                <a:cs typeface="Calibri"/>
              </a:rPr>
              <a:t>as</a:t>
            </a:r>
            <a:r>
              <a:rPr dirty="0" sz="1800" spc="-3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6FC0"/>
                </a:solidFill>
                <a:latin typeface="Calibri"/>
                <a:cs typeface="Calibri"/>
              </a:rPr>
              <a:t>its</a:t>
            </a:r>
            <a:r>
              <a:rPr dirty="0" sz="1800" spc="-3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6FC0"/>
                </a:solidFill>
                <a:latin typeface="Calibri"/>
                <a:cs typeface="Calibri"/>
              </a:rPr>
              <a:t>creation</a:t>
            </a:r>
            <a:r>
              <a:rPr dirty="0" sz="1800" spc="-2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6FC0"/>
                </a:solidFill>
                <a:latin typeface="Calibri"/>
                <a:cs typeface="Calibri"/>
              </a:rPr>
              <a:t>is</a:t>
            </a:r>
            <a:r>
              <a:rPr dirty="0" sz="1800" spc="-3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6FC0"/>
                </a:solidFill>
                <a:latin typeface="Calibri"/>
                <a:cs typeface="Calibri"/>
              </a:rPr>
              <a:t>similar </a:t>
            </a:r>
            <a:r>
              <a:rPr dirty="0" sz="1800">
                <a:solidFill>
                  <a:srgbClr val="006FC0"/>
                </a:solidFill>
                <a:latin typeface="Calibri"/>
                <a:cs typeface="Calibri"/>
              </a:rPr>
              <a:t>to</a:t>
            </a:r>
            <a:r>
              <a:rPr dirty="0" sz="1800" spc="-3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6FC0"/>
                </a:solidFill>
                <a:latin typeface="Calibri"/>
                <a:cs typeface="Calibri"/>
              </a:rPr>
              <a:t>process</a:t>
            </a:r>
            <a:r>
              <a:rPr dirty="0" sz="1800" spc="-3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6FC0"/>
                </a:solidFill>
                <a:latin typeface="Calibri"/>
                <a:cs typeface="Calibri"/>
              </a:rPr>
              <a:t>creation,</a:t>
            </a:r>
            <a:r>
              <a:rPr dirty="0" sz="1800" spc="-1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6FC0"/>
                </a:solidFill>
                <a:latin typeface="Calibri"/>
                <a:cs typeface="Calibri"/>
              </a:rPr>
              <a:t>so</a:t>
            </a:r>
            <a:r>
              <a:rPr dirty="0" sz="1800" spc="-3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6FC0"/>
                </a:solidFill>
                <a:latin typeface="Calibri"/>
                <a:cs typeface="Calibri"/>
              </a:rPr>
              <a:t>boots</a:t>
            </a:r>
            <a:r>
              <a:rPr dirty="0" sz="1800" spc="-3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6FC0"/>
                </a:solidFill>
                <a:latin typeface="Calibri"/>
                <a:cs typeface="Calibri"/>
              </a:rPr>
              <a:t>quickly</a:t>
            </a:r>
            <a:r>
              <a:rPr dirty="0" sz="1800" spc="-2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dirty="0" sz="1800" spc="-1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6FC0"/>
                </a:solidFill>
                <a:latin typeface="Calibri"/>
                <a:cs typeface="Calibri"/>
              </a:rPr>
              <a:t>it</a:t>
            </a:r>
            <a:r>
              <a:rPr dirty="0" sz="1800" spc="-4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6FC0"/>
                </a:solidFill>
                <a:latin typeface="Calibri"/>
                <a:cs typeface="Calibri"/>
              </a:rPr>
              <a:t>has</a:t>
            </a:r>
            <a:r>
              <a:rPr dirty="0" sz="1800" spc="-2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6FC0"/>
                </a:solidFill>
                <a:latin typeface="Calibri"/>
                <a:cs typeface="Calibri"/>
              </a:rPr>
              <a:t>speed,</a:t>
            </a:r>
            <a:r>
              <a:rPr dirty="0" sz="1800" spc="-3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6FC0"/>
                </a:solidFill>
                <a:latin typeface="Calibri"/>
                <a:cs typeface="Calibri"/>
              </a:rPr>
              <a:t>agility </a:t>
            </a:r>
            <a:r>
              <a:rPr dirty="0" sz="180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dirty="0" sz="1800" spc="-2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6FC0"/>
                </a:solidFill>
                <a:latin typeface="Calibri"/>
                <a:cs typeface="Calibri"/>
              </a:rPr>
              <a:t>portability</a:t>
            </a:r>
            <a:endParaRPr sz="1800">
              <a:latin typeface="Calibri"/>
              <a:cs typeface="Calibri"/>
            </a:endParaRPr>
          </a:p>
          <a:p>
            <a:pPr algn="just" marL="472440" indent="-459740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AutoNum type="arabicPeriod" startAt="3"/>
              <a:tabLst>
                <a:tab pos="472440" algn="l"/>
              </a:tabLst>
            </a:pP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VMs</a:t>
            </a:r>
            <a:r>
              <a:rPr dirty="0" sz="1800" spc="-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are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more</a:t>
            </a:r>
            <a:r>
              <a:rPr dirty="0" sz="1800" spc="-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flexible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as</a:t>
            </a:r>
            <a:r>
              <a:rPr dirty="0" sz="1800" spc="-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Hardware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is</a:t>
            </a:r>
            <a:r>
              <a:rPr dirty="0" sz="1800" spc="-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virtualized to</a:t>
            </a:r>
            <a:r>
              <a:rPr dirty="0" sz="1800" spc="-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C00000"/>
                </a:solidFill>
                <a:latin typeface="Calibri"/>
                <a:cs typeface="Calibri"/>
              </a:rPr>
              <a:t>run</a:t>
            </a:r>
            <a:endParaRPr sz="18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multiple OS</a:t>
            </a:r>
            <a:r>
              <a:rPr dirty="0" sz="1800" spc="-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instances.</a:t>
            </a:r>
            <a:endParaRPr sz="1800">
              <a:latin typeface="Calibri"/>
              <a:cs typeface="Calibri"/>
            </a:endParaRPr>
          </a:p>
          <a:p>
            <a:pPr marL="469900" marR="5494655">
              <a:lnSpc>
                <a:spcPct val="100000"/>
              </a:lnSpc>
              <a:spcBef>
                <a:spcPts val="595"/>
              </a:spcBef>
            </a:pPr>
            <a:r>
              <a:rPr dirty="0" sz="1900" spc="-10">
                <a:solidFill>
                  <a:srgbClr val="006FC0"/>
                </a:solidFill>
                <a:latin typeface="Calibri"/>
                <a:cs typeface="Calibri"/>
              </a:rPr>
              <a:t>Containers</a:t>
            </a:r>
            <a:r>
              <a:rPr dirty="0" sz="1900" spc="-2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run</a:t>
            </a:r>
            <a:r>
              <a:rPr dirty="0" sz="1900" spc="-2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on</a:t>
            </a:r>
            <a:r>
              <a:rPr dirty="0" sz="1900" spc="-3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1900" spc="-4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single</a:t>
            </a:r>
            <a:r>
              <a:rPr dirty="0" sz="1900" spc="-2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OS</a:t>
            </a:r>
            <a:r>
              <a:rPr dirty="0" sz="1900" spc="-3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dirty="0" sz="1900" spc="-3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also</a:t>
            </a:r>
            <a:r>
              <a:rPr dirty="0" sz="1900" spc="-4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can</a:t>
            </a:r>
            <a:r>
              <a:rPr dirty="0" sz="1900" spc="-3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support</a:t>
            </a:r>
            <a:r>
              <a:rPr dirty="0" sz="1900" spc="-2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006FC0"/>
                </a:solidFill>
                <a:latin typeface="Calibri"/>
                <a:cs typeface="Calibri"/>
              </a:rPr>
              <a:t>only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Ubuntu</a:t>
            </a:r>
            <a:r>
              <a:rPr dirty="0" sz="1900" spc="-2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006FC0"/>
                </a:solidFill>
                <a:latin typeface="Calibri"/>
                <a:cs typeface="Calibri"/>
              </a:rPr>
              <a:t>containers</a:t>
            </a:r>
            <a:r>
              <a:rPr dirty="0" sz="1900" spc="-2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of</a:t>
            </a:r>
            <a:r>
              <a:rPr dirty="0" sz="1900" spc="-4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that</a:t>
            </a:r>
            <a:r>
              <a:rPr dirty="0" sz="1900" spc="-3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type</a:t>
            </a:r>
            <a:r>
              <a:rPr dirty="0" sz="1900" spc="-3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of</a:t>
            </a:r>
            <a:r>
              <a:rPr dirty="0" sz="1900" spc="-4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OS</a:t>
            </a:r>
            <a:r>
              <a:rPr dirty="0" sz="1900" spc="-4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where</a:t>
            </a:r>
            <a:r>
              <a:rPr dirty="0" sz="1900" spc="-2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its</a:t>
            </a:r>
            <a:r>
              <a:rPr dirty="0" sz="1900" spc="-3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running</a:t>
            </a:r>
            <a:r>
              <a:rPr dirty="0" sz="1900" spc="-2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 spc="-25">
                <a:solidFill>
                  <a:srgbClr val="006FC0"/>
                </a:solidFill>
                <a:latin typeface="Calibri"/>
                <a:cs typeface="Calibri"/>
              </a:rPr>
              <a:t>or </a:t>
            </a:r>
            <a:r>
              <a:rPr dirty="0" sz="1900" spc="-10">
                <a:solidFill>
                  <a:srgbClr val="006FC0"/>
                </a:solidFill>
                <a:latin typeface="Calibri"/>
                <a:cs typeface="Calibri"/>
              </a:rPr>
              <a:t>containers</a:t>
            </a:r>
            <a:r>
              <a:rPr dirty="0" sz="1900" spc="-2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cannot</a:t>
            </a:r>
            <a:r>
              <a:rPr dirty="0" sz="1900" spc="-4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be</a:t>
            </a:r>
            <a:r>
              <a:rPr dirty="0" sz="1900" spc="-3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of</a:t>
            </a:r>
            <a:r>
              <a:rPr dirty="0" sz="1900" spc="-5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different</a:t>
            </a:r>
            <a:r>
              <a:rPr dirty="0" sz="1900" spc="-2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OS</a:t>
            </a:r>
            <a:r>
              <a:rPr dirty="0" sz="1900" spc="-3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006FC0"/>
                </a:solidFill>
                <a:latin typeface="Calibri"/>
                <a:cs typeface="Calibri"/>
              </a:rPr>
              <a:t>variants</a:t>
            </a:r>
            <a:endParaRPr sz="1900">
              <a:latin typeface="Calibri"/>
              <a:cs typeface="Calibri"/>
            </a:endParaRPr>
          </a:p>
          <a:p>
            <a:pPr marL="415290" indent="-342900">
              <a:lnSpc>
                <a:spcPct val="100000"/>
              </a:lnSpc>
              <a:spcBef>
                <a:spcPts val="315"/>
              </a:spcBef>
              <a:buClr>
                <a:srgbClr val="000000"/>
              </a:buClr>
              <a:buAutoNum type="arabicPeriod" startAt="4"/>
              <a:tabLst>
                <a:tab pos="415290" algn="l"/>
              </a:tabLst>
            </a:pP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VMs</a:t>
            </a:r>
            <a:r>
              <a:rPr dirty="0" sz="1800" spc="-5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consume</a:t>
            </a:r>
            <a:r>
              <a:rPr dirty="0" sz="18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more</a:t>
            </a:r>
            <a:r>
              <a:rPr dirty="0" sz="1800" spc="-4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resources</a:t>
            </a:r>
            <a:r>
              <a:rPr dirty="0" sz="180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1800" spc="-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come</a:t>
            </a:r>
            <a:r>
              <a:rPr dirty="0" sz="18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up</a:t>
            </a:r>
            <a:r>
              <a:rPr dirty="0" sz="1800" spc="-4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slower</a:t>
            </a:r>
            <a:r>
              <a:rPr dirty="0" sz="180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than</a:t>
            </a:r>
            <a:r>
              <a:rPr dirty="0" sz="1800" spc="-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Containers</a:t>
            </a:r>
            <a:r>
              <a:rPr dirty="0" sz="1900" spc="-3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which</a:t>
            </a:r>
            <a:r>
              <a:rPr dirty="0" sz="1900" spc="-3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come</a:t>
            </a:r>
            <a:r>
              <a:rPr dirty="0" sz="1900" spc="-5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up</a:t>
            </a:r>
            <a:r>
              <a:rPr dirty="0" sz="1900" spc="-4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more</a:t>
            </a:r>
            <a:r>
              <a:rPr dirty="0" sz="1900" spc="-2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quickly</a:t>
            </a:r>
            <a:r>
              <a:rPr dirty="0" sz="1900" spc="-4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dirty="0" sz="1900" spc="-4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6FC0"/>
                </a:solidFill>
                <a:latin typeface="Calibri"/>
                <a:cs typeface="Calibri"/>
              </a:rPr>
              <a:t>consume</a:t>
            </a:r>
            <a:r>
              <a:rPr dirty="0" sz="1900" spc="-4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006FC0"/>
                </a:solidFill>
                <a:latin typeface="Calibri"/>
                <a:cs typeface="Calibri"/>
              </a:rPr>
              <a:t>fewer</a:t>
            </a:r>
            <a:endParaRPr sz="1900">
              <a:latin typeface="Calibri"/>
              <a:cs typeface="Calibri"/>
            </a:endParaRPr>
          </a:p>
          <a:p>
            <a:pPr marL="415290">
              <a:lnSpc>
                <a:spcPct val="100000"/>
              </a:lnSpc>
              <a:spcBef>
                <a:spcPts val="455"/>
              </a:spcBef>
            </a:pPr>
            <a:r>
              <a:rPr dirty="0" sz="1900" spc="-10">
                <a:solidFill>
                  <a:srgbClr val="006FC0"/>
                </a:solidFill>
                <a:latin typeface="Calibri"/>
                <a:cs typeface="Calibri"/>
              </a:rPr>
              <a:t>resources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VM</a:t>
            </a:r>
            <a:r>
              <a:rPr dirty="0" spc="-3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vs</a:t>
            </a:r>
            <a:r>
              <a:rPr dirty="0" spc="-1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Docker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762" y="1623500"/>
            <a:ext cx="8299450" cy="4494037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1137" y="6389293"/>
          <a:ext cx="5726430" cy="202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360"/>
                <a:gridCol w="2768600"/>
              </a:tblGrid>
              <a:tr h="202565">
                <a:tc>
                  <a:txBody>
                    <a:bodyPr/>
                    <a:lstStyle/>
                    <a:p>
                      <a:pPr marL="31750">
                        <a:lnSpc>
                          <a:spcPts val="1495"/>
                        </a:lnSpc>
                      </a:pPr>
                      <a:r>
                        <a:rPr dirty="0" sz="1600">
                          <a:solidFill>
                            <a:srgbClr val="7E7E7E"/>
                          </a:solidFill>
                          <a:latin typeface="Calibri"/>
                          <a:cs typeface="Calibri"/>
                        </a:rPr>
                        <a:t>More</a:t>
                      </a:r>
                      <a:r>
                        <a:rPr dirty="0" sz="1600" spc="-40">
                          <a:solidFill>
                            <a:srgbClr val="7E7E7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7E7E7E"/>
                          </a:solidFill>
                          <a:latin typeface="Calibri"/>
                          <a:cs typeface="Calibri"/>
                        </a:rPr>
                        <a:t>resource</a:t>
                      </a:r>
                      <a:r>
                        <a:rPr dirty="0" sz="1600" spc="-20">
                          <a:solidFill>
                            <a:srgbClr val="7E7E7E"/>
                          </a:solidFill>
                          <a:latin typeface="Calibri"/>
                          <a:cs typeface="Calibri"/>
                        </a:rPr>
                        <a:t> usage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94740">
                        <a:lnSpc>
                          <a:spcPts val="1495"/>
                        </a:lnSpc>
                      </a:pPr>
                      <a:r>
                        <a:rPr dirty="0" sz="1600">
                          <a:solidFill>
                            <a:srgbClr val="7E7E7E"/>
                          </a:solidFill>
                          <a:latin typeface="Calibri"/>
                          <a:cs typeface="Calibri"/>
                        </a:rPr>
                        <a:t>Less</a:t>
                      </a:r>
                      <a:r>
                        <a:rPr dirty="0" sz="1600" spc="-55">
                          <a:solidFill>
                            <a:srgbClr val="7E7E7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7E7E7E"/>
                          </a:solidFill>
                          <a:latin typeface="Calibri"/>
                          <a:cs typeface="Calibri"/>
                        </a:rPr>
                        <a:t>resource</a:t>
                      </a:r>
                      <a:r>
                        <a:rPr dirty="0" sz="1600" spc="-25">
                          <a:solidFill>
                            <a:srgbClr val="7E7E7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7E7E7E"/>
                          </a:solidFill>
                          <a:latin typeface="Calibri"/>
                          <a:cs typeface="Calibri"/>
                        </a:rPr>
                        <a:t>usage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13436" y="159248"/>
            <a:ext cx="11824335" cy="6412230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CLOUD</a:t>
            </a:r>
            <a:r>
              <a:rPr dirty="0" sz="2400" spc="-1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395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Docker</a:t>
            </a:r>
            <a:endParaRPr sz="2400">
              <a:latin typeface="Arial"/>
              <a:cs typeface="Arial"/>
            </a:endParaRPr>
          </a:p>
          <a:p>
            <a:pPr marL="355600" marR="2938145" indent="-342900">
              <a:lnSpc>
                <a:spcPct val="100800"/>
              </a:lnSpc>
              <a:spcBef>
                <a:spcPts val="2380"/>
              </a:spcBef>
              <a:buChar char="▪"/>
              <a:tabLst>
                <a:tab pos="355600" algn="l"/>
              </a:tabLst>
            </a:pPr>
            <a:r>
              <a:rPr dirty="0" sz="2400">
                <a:latin typeface="Calibri"/>
                <a:cs typeface="Calibri"/>
              </a:rPr>
              <a:t>Docker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open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platform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tool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which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makes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easier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create,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test, </a:t>
            </a:r>
            <a:r>
              <a:rPr dirty="0" sz="2400">
                <a:latin typeface="Calibri"/>
                <a:cs typeface="Calibri"/>
              </a:rPr>
              <a:t>ship,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deploy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execute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applications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using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containers.</a:t>
            </a:r>
            <a:endParaRPr sz="2400">
              <a:latin typeface="Calibri"/>
              <a:cs typeface="Calibri"/>
            </a:endParaRPr>
          </a:p>
          <a:p>
            <a:pPr marL="355600" marR="3164205" indent="-342900">
              <a:lnSpc>
                <a:spcPct val="100800"/>
              </a:lnSpc>
              <a:spcBef>
                <a:spcPts val="555"/>
              </a:spcBef>
              <a:buChar char="▪"/>
              <a:tabLst>
                <a:tab pos="355600" algn="l"/>
              </a:tabLst>
            </a:pPr>
            <a:r>
              <a:rPr dirty="0" sz="2400">
                <a:latin typeface="Calibri"/>
                <a:cs typeface="Calibri"/>
              </a:rPr>
              <a:t>Docker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containers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allow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separate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applications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from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the </a:t>
            </a:r>
            <a:r>
              <a:rPr dirty="0" sz="2400" spc="-10">
                <a:latin typeface="Calibri"/>
                <a:cs typeface="Calibri"/>
              </a:rPr>
              <a:t>infrastructure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enabling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faster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deployment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applications/software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▪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It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significantly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reduces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time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between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writing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code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running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in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25"/>
              </a:spcBef>
            </a:pPr>
            <a:r>
              <a:rPr dirty="0" sz="2400">
                <a:latin typeface="Calibri"/>
                <a:cs typeface="Calibri"/>
              </a:rPr>
              <a:t>production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by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providing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methodologies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shipping,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testing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deploying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code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quickly</a:t>
            </a:r>
            <a:endParaRPr sz="2400">
              <a:latin typeface="Calibri"/>
              <a:cs typeface="Calibri"/>
            </a:endParaRPr>
          </a:p>
          <a:p>
            <a:pPr marL="355600" marR="837565" indent="-342900">
              <a:lnSpc>
                <a:spcPct val="100800"/>
              </a:lnSpc>
              <a:spcBef>
                <a:spcPts val="555"/>
              </a:spcBef>
              <a:buChar char="▪"/>
              <a:tabLst>
                <a:tab pos="355600" algn="l"/>
              </a:tabLst>
            </a:pPr>
            <a:r>
              <a:rPr dirty="0" sz="2400">
                <a:latin typeface="Calibri"/>
                <a:cs typeface="Calibri"/>
              </a:rPr>
              <a:t>It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considered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tool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helps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package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run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application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loosely </a:t>
            </a:r>
            <a:r>
              <a:rPr dirty="0" sz="2400">
                <a:latin typeface="Calibri"/>
                <a:cs typeface="Calibri"/>
              </a:rPr>
              <a:t>isolated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environment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called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container.</a:t>
            </a:r>
            <a:endParaRPr sz="24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575"/>
              </a:spcBef>
              <a:buChar char="▪"/>
              <a:tabLst>
                <a:tab pos="372110" algn="l"/>
              </a:tabLst>
            </a:pPr>
            <a:r>
              <a:rPr dirty="0" sz="2400">
                <a:latin typeface="Calibri"/>
                <a:cs typeface="Calibri"/>
              </a:rPr>
              <a:t>It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could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looked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PaaS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product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level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virtualization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deliver</a:t>
            </a:r>
            <a:r>
              <a:rPr dirty="0" sz="2400" spc="-25">
                <a:latin typeface="Calibri"/>
                <a:cs typeface="Calibri"/>
              </a:rPr>
              <a:t> S/W</a:t>
            </a:r>
            <a:endParaRPr sz="2400">
              <a:latin typeface="Calibri"/>
              <a:cs typeface="Calibri"/>
            </a:endParaRPr>
          </a:p>
          <a:p>
            <a:pPr marL="372110">
              <a:lnSpc>
                <a:spcPct val="100000"/>
              </a:lnSpc>
              <a:spcBef>
                <a:spcPts val="30"/>
              </a:spcBef>
            </a:pPr>
            <a:r>
              <a:rPr dirty="0" sz="2400" spc="-10">
                <a:latin typeface="Calibri"/>
                <a:cs typeface="Calibri"/>
              </a:rPr>
              <a:t>packages</a:t>
            </a:r>
            <a:endParaRPr sz="2400">
              <a:latin typeface="Calibri"/>
              <a:cs typeface="Calibri"/>
            </a:endParaRPr>
          </a:p>
          <a:p>
            <a:pPr marL="372110" marR="5080" indent="-360045">
              <a:lnSpc>
                <a:spcPct val="100800"/>
              </a:lnSpc>
              <a:spcBef>
                <a:spcPts val="550"/>
              </a:spcBef>
              <a:buChar char="▪"/>
              <a:tabLst>
                <a:tab pos="372110" algn="l"/>
              </a:tabLst>
            </a:pPr>
            <a:r>
              <a:rPr dirty="0" sz="2400">
                <a:latin typeface="Calibri"/>
                <a:cs typeface="Calibri"/>
              </a:rPr>
              <a:t>Docker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provides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isolation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security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allow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many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containers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run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single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server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virtual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machine</a:t>
            </a:r>
            <a:endParaRPr sz="24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605"/>
              </a:spcBef>
              <a:buChar char="▪"/>
              <a:tabLst>
                <a:tab pos="372110" algn="l"/>
              </a:tabLst>
            </a:pPr>
            <a:r>
              <a:rPr dirty="0" sz="2400">
                <a:latin typeface="Calibri"/>
                <a:cs typeface="Calibri"/>
              </a:rPr>
              <a:t>Its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typical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find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between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8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-</a:t>
            </a:r>
            <a:r>
              <a:rPr dirty="0" sz="2400">
                <a:latin typeface="Calibri"/>
                <a:cs typeface="Calibri"/>
              </a:rPr>
              <a:t>18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containers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running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simultaneously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single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server/VM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01200" y="1191260"/>
            <a:ext cx="2356104" cy="1751838"/>
          </a:xfrm>
          <a:prstGeom prst="rect">
            <a:avLst/>
          </a:prstGeom>
        </p:spPr>
      </p:pic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0842" y="223900"/>
            <a:ext cx="11722735" cy="535813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455"/>
              </a:spcBef>
            </a:pP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CLOUD</a:t>
            </a:r>
            <a:r>
              <a:rPr dirty="0" sz="2400" spc="-1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395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Docker</a:t>
            </a:r>
            <a:r>
              <a:rPr dirty="0" sz="2400" spc="-10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(Cont.)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2400">
              <a:latin typeface="Arial"/>
              <a:cs typeface="Arial"/>
            </a:endParaRPr>
          </a:p>
          <a:p>
            <a:pPr marL="372110" marR="362585" indent="-360045">
              <a:lnSpc>
                <a:spcPct val="100800"/>
              </a:lnSpc>
              <a:buChar char="▪"/>
              <a:tabLst>
                <a:tab pos="372110" algn="l"/>
              </a:tabLst>
            </a:pPr>
            <a:r>
              <a:rPr dirty="0" sz="2400">
                <a:latin typeface="Calibri"/>
                <a:cs typeface="Calibri"/>
              </a:rPr>
              <a:t>Containers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created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using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Docker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contain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everything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needed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run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application,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so </a:t>
            </a:r>
            <a:r>
              <a:rPr dirty="0" sz="2400">
                <a:latin typeface="Calibri"/>
                <a:cs typeface="Calibri"/>
              </a:rPr>
              <a:t>you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do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not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need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rely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what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currently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installed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host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system</a:t>
            </a:r>
            <a:endParaRPr sz="24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575"/>
              </a:spcBef>
              <a:buChar char="▪"/>
              <a:tabLst>
                <a:tab pos="372110" algn="l"/>
              </a:tabLst>
            </a:pPr>
            <a:r>
              <a:rPr dirty="0" sz="2400">
                <a:latin typeface="Calibri"/>
                <a:cs typeface="Calibri"/>
              </a:rPr>
              <a:t>Docker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allows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these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containers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shared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way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would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work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identically.</a:t>
            </a:r>
            <a:endParaRPr sz="2400">
              <a:latin typeface="Calibri"/>
              <a:cs typeface="Calibri"/>
            </a:endParaRPr>
          </a:p>
          <a:p>
            <a:pPr marL="372110" marR="5080" indent="-360045">
              <a:lnSpc>
                <a:spcPct val="100800"/>
              </a:lnSpc>
              <a:spcBef>
                <a:spcPts val="580"/>
              </a:spcBef>
              <a:buChar char="▪"/>
              <a:tabLst>
                <a:tab pos="372110" algn="l"/>
              </a:tabLst>
            </a:pPr>
            <a:r>
              <a:rPr dirty="0" sz="2400">
                <a:latin typeface="Calibri"/>
                <a:cs typeface="Calibri"/>
              </a:rPr>
              <a:t>Docker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network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applications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such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web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servers,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databases,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mail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servers,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terminal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applications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like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text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editors,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compilers,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network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analysis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tools,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scripts.</a:t>
            </a:r>
            <a:endParaRPr sz="24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575"/>
              </a:spcBef>
              <a:buChar char="▪"/>
              <a:tabLst>
                <a:tab pos="733425" algn="l"/>
              </a:tabLst>
            </a:pP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some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cases,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it’s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even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used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run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GUI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applications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such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web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browsers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and</a:t>
            </a:r>
            <a:endParaRPr sz="2400">
              <a:latin typeface="Calibri"/>
              <a:cs typeface="Calibri"/>
            </a:endParaRPr>
          </a:p>
          <a:p>
            <a:pPr marL="733425">
              <a:lnSpc>
                <a:spcPct val="100000"/>
              </a:lnSpc>
              <a:spcBef>
                <a:spcPts val="25"/>
              </a:spcBef>
            </a:pPr>
            <a:r>
              <a:rPr dirty="0" sz="2400">
                <a:latin typeface="Calibri"/>
                <a:cs typeface="Calibri"/>
              </a:rPr>
              <a:t>productivity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software.</a:t>
            </a:r>
            <a:endParaRPr sz="24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600"/>
              </a:spcBef>
              <a:buChar char="▪"/>
              <a:tabLst>
                <a:tab pos="372110" algn="l"/>
              </a:tabLst>
            </a:pPr>
            <a:r>
              <a:rPr dirty="0" sz="2400">
                <a:latin typeface="Calibri"/>
                <a:cs typeface="Calibri"/>
              </a:rPr>
              <a:t>Docker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runs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Linux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software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most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systems.</a:t>
            </a:r>
            <a:endParaRPr sz="24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600"/>
              </a:spcBef>
              <a:buChar char="▪"/>
              <a:tabLst>
                <a:tab pos="733425" algn="l"/>
              </a:tabLst>
            </a:pPr>
            <a:r>
              <a:rPr dirty="0" sz="2400">
                <a:latin typeface="Calibri"/>
                <a:cs typeface="Calibri"/>
              </a:rPr>
              <a:t>Docker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also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available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native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application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both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macOS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Windows</a:t>
            </a:r>
            <a:endParaRPr sz="24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605"/>
              </a:spcBef>
              <a:buChar char="▪"/>
              <a:tabLst>
                <a:tab pos="733425" algn="l"/>
              </a:tabLst>
            </a:pPr>
            <a:r>
              <a:rPr dirty="0" sz="2400">
                <a:latin typeface="Calibri"/>
                <a:cs typeface="Calibri"/>
              </a:rPr>
              <a:t>Docker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run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native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Windows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applications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modern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Windows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server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machines.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4071" y="761"/>
            <a:ext cx="2602865" cy="847090"/>
          </a:xfrm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19050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Docker</a:t>
            </a:r>
            <a:r>
              <a:rPr dirty="0" spc="-10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Benefits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988822"/>
            <a:ext cx="8299450" cy="0"/>
          </a:xfrm>
          <a:custGeom>
            <a:avLst/>
            <a:gdLst/>
            <a:ahLst/>
            <a:cxnLst/>
            <a:rect l="l" t="t" r="r" b="b"/>
            <a:pathLst>
              <a:path w="8299450" h="0">
                <a:moveTo>
                  <a:pt x="0" y="0"/>
                </a:moveTo>
                <a:lnTo>
                  <a:pt x="8299450" y="0"/>
                </a:lnTo>
              </a:path>
            </a:pathLst>
          </a:custGeom>
          <a:ln w="38100">
            <a:solidFill>
              <a:srgbClr val="C55A1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0685" y="1322908"/>
            <a:ext cx="49053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C00000"/>
                </a:solidFill>
                <a:latin typeface="Arial"/>
                <a:cs typeface="Arial"/>
              </a:rPr>
              <a:t>Portability,</a:t>
            </a:r>
            <a:r>
              <a:rPr dirty="0" sz="2400" spc="-2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00000"/>
                </a:solidFill>
                <a:latin typeface="Arial"/>
                <a:cs typeface="Arial"/>
              </a:rPr>
              <a:t>Shipping</a:t>
            </a:r>
            <a:r>
              <a:rPr dirty="0" sz="2400" spc="-4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Arial"/>
                <a:cs typeface="Arial"/>
              </a:rPr>
              <a:t>Applications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16830" y="1322908"/>
            <a:ext cx="152082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C00000"/>
                </a:solidFill>
                <a:latin typeface="Arial"/>
                <a:cs typeface="Arial"/>
              </a:rPr>
              <a:t>Portability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153" y="1759254"/>
            <a:ext cx="5419799" cy="3896105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954521" y="1759204"/>
            <a:ext cx="5920105" cy="4352925"/>
            <a:chOff x="5954521" y="1759204"/>
            <a:chExt cx="5920105" cy="435292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54521" y="2316353"/>
              <a:ext cx="5567495" cy="379564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29518" y="1759204"/>
              <a:ext cx="1245107" cy="130238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85254" y="6305388"/>
            <a:ext cx="11538585" cy="523240"/>
          </a:xfrm>
          <a:prstGeom prst="rect">
            <a:avLst/>
          </a:prstGeom>
          <a:solidFill>
            <a:srgbClr val="FFD966"/>
          </a:solidFill>
        </p:spPr>
        <p:txBody>
          <a:bodyPr wrap="square" lIns="0" tIns="4127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25"/>
              </a:spcBef>
            </a:pPr>
            <a:r>
              <a:rPr dirty="0" sz="1400">
                <a:latin typeface="Arial"/>
                <a:cs typeface="Arial"/>
              </a:rPr>
              <a:t>Developers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use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Version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Control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Systems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(VCS)</a:t>
            </a:r>
            <a:r>
              <a:rPr dirty="0" sz="1400" spc="37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like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Git.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DevOps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also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uses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VCS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for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docs,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scripts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and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Dockerfiles.</a:t>
            </a:r>
            <a:endParaRPr sz="14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dirty="0" sz="1400">
                <a:latin typeface="Arial"/>
                <a:cs typeface="Arial"/>
              </a:rPr>
              <a:t>DevOps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could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use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Dockerfile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describes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how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build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image,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and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something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like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docker-</a:t>
            </a:r>
            <a:r>
              <a:rPr dirty="0" sz="1400" spc="-10">
                <a:latin typeface="Arial"/>
                <a:cs typeface="Arial"/>
              </a:rPr>
              <a:t>compose.yml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describe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how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orchestrate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them.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45085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13970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Docker</a:t>
            </a:r>
            <a:r>
              <a:rPr dirty="0" spc="-10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Architecture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96998" y="2571191"/>
            <a:ext cx="6695001" cy="396356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91795" y="1246784"/>
            <a:ext cx="11680825" cy="4832985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65"/>
              </a:spcBef>
              <a:buChar char="▪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uses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client-</a:t>
            </a:r>
            <a:r>
              <a:rPr dirty="0" sz="2200">
                <a:latin typeface="Calibri"/>
                <a:cs typeface="Calibri"/>
              </a:rPr>
              <a:t>server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architecture.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860"/>
              </a:spcBef>
              <a:buChar char="▪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client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talks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daemon,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does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heavy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lifting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building,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running,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and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265"/>
              </a:spcBef>
            </a:pPr>
            <a:r>
              <a:rPr dirty="0" sz="2200">
                <a:latin typeface="Calibri"/>
                <a:cs typeface="Calibri"/>
              </a:rPr>
              <a:t>distributing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your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containers.</a:t>
            </a:r>
            <a:endParaRPr sz="2200">
              <a:latin typeface="Calibri"/>
              <a:cs typeface="Calibri"/>
            </a:endParaRPr>
          </a:p>
          <a:p>
            <a:pPr marL="355600" marR="6491605" indent="-342900">
              <a:lnSpc>
                <a:spcPct val="110000"/>
              </a:lnSpc>
              <a:spcBef>
                <a:spcPts val="605"/>
              </a:spcBef>
              <a:buChar char="▪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client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daemon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on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same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system,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you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connect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50">
                <a:latin typeface="Calibri"/>
                <a:cs typeface="Calibri"/>
              </a:rPr>
              <a:t>a </a:t>
            </a: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client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remote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daemon.</a:t>
            </a:r>
            <a:endParaRPr sz="2200">
              <a:latin typeface="Calibri"/>
              <a:cs typeface="Calibri"/>
            </a:endParaRPr>
          </a:p>
          <a:p>
            <a:pPr algn="just" marL="355600" marR="6727190" indent="-342900">
              <a:lnSpc>
                <a:spcPct val="110000"/>
              </a:lnSpc>
              <a:spcBef>
                <a:spcPts val="600"/>
              </a:spcBef>
              <a:buChar char="▪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client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daemon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communicate </a:t>
            </a:r>
            <a:r>
              <a:rPr dirty="0" sz="2200">
                <a:latin typeface="Calibri"/>
                <a:cs typeface="Calibri"/>
              </a:rPr>
              <a:t>using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REST API,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over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UNIX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sockets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50">
                <a:latin typeface="Calibri"/>
                <a:cs typeface="Calibri"/>
              </a:rPr>
              <a:t>a </a:t>
            </a:r>
            <a:r>
              <a:rPr dirty="0" sz="2200">
                <a:latin typeface="Calibri"/>
                <a:cs typeface="Calibri"/>
              </a:rPr>
              <a:t>network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interface.</a:t>
            </a:r>
            <a:endParaRPr sz="2200">
              <a:latin typeface="Calibri"/>
              <a:cs typeface="Calibri"/>
            </a:endParaRPr>
          </a:p>
          <a:p>
            <a:pPr marL="355600" marR="6075680" indent="-342900">
              <a:lnSpc>
                <a:spcPct val="110000"/>
              </a:lnSpc>
              <a:spcBef>
                <a:spcPts val="605"/>
              </a:spcBef>
              <a:buChar char="▪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Another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client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Compose,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lets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you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work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with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applications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consisting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set of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containers.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17079" y="6631025"/>
            <a:ext cx="446151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Arial"/>
                <a:cs typeface="Arial"/>
              </a:rPr>
              <a:t>Reference:</a:t>
            </a:r>
            <a:r>
              <a:rPr dirty="0" sz="1400" spc="-10">
                <a:latin typeface="Arial"/>
                <a:cs typeface="Arial"/>
                <a:hlinkClick r:id="rId3"/>
              </a:rPr>
              <a:t>https://docs.docker.com/get-started/overview/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4447540"/>
            <a:chOff x="0" y="0"/>
            <a:chExt cx="12192000" cy="44475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61985" y="1234439"/>
              <a:ext cx="4430014" cy="321284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1297050"/>
              <a:ext cx="8291830" cy="38100"/>
            </a:xfrm>
            <a:custGeom>
              <a:avLst/>
              <a:gdLst/>
              <a:ahLst/>
              <a:cxnLst/>
              <a:rect l="l" t="t" r="r" b="b"/>
              <a:pathLst>
                <a:path w="8291830" h="38100">
                  <a:moveTo>
                    <a:pt x="8291576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8291576" y="38100"/>
                  </a:lnTo>
                  <a:lnTo>
                    <a:pt x="8291576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327152" y="173233"/>
            <a:ext cx="11118215" cy="6245225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CLOUD</a:t>
            </a:r>
            <a:r>
              <a:rPr dirty="0" sz="2400" spc="-1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395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Docker</a:t>
            </a:r>
            <a:r>
              <a:rPr dirty="0" sz="2400" spc="-7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Architecture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400" b="1">
                <a:solidFill>
                  <a:srgbClr val="006FC0"/>
                </a:solidFill>
                <a:latin typeface="Calibri"/>
                <a:cs typeface="Calibri"/>
              </a:rPr>
              <a:t>The</a:t>
            </a:r>
            <a:r>
              <a:rPr dirty="0" sz="2400" spc="-4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006FC0"/>
                </a:solidFill>
                <a:latin typeface="Calibri"/>
                <a:cs typeface="Calibri"/>
              </a:rPr>
              <a:t>Docker</a:t>
            </a:r>
            <a:r>
              <a:rPr dirty="0" sz="2400" spc="-5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006FC0"/>
                </a:solidFill>
                <a:latin typeface="Calibri"/>
                <a:cs typeface="Calibri"/>
              </a:rPr>
              <a:t>daemon</a:t>
            </a:r>
            <a:endParaRPr sz="2400">
              <a:latin typeface="Calibri"/>
              <a:cs typeface="Calibri"/>
            </a:endParaRPr>
          </a:p>
          <a:p>
            <a:pPr marL="354965" marR="4077335" indent="-342900">
              <a:lnSpc>
                <a:spcPct val="100400"/>
              </a:lnSpc>
              <a:spcBef>
                <a:spcPts val="215"/>
              </a:spcBef>
              <a:buChar char="▪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Docker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daemon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(dockerd)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listens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Docker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API </a:t>
            </a:r>
            <a:r>
              <a:rPr dirty="0" sz="2400">
                <a:latin typeface="Calibri"/>
                <a:cs typeface="Calibri"/>
              </a:rPr>
              <a:t>requests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manages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Docker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objects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such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images, </a:t>
            </a:r>
            <a:r>
              <a:rPr dirty="0" sz="2400">
                <a:latin typeface="Calibri"/>
                <a:cs typeface="Calibri"/>
              </a:rPr>
              <a:t>containers,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networks,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volumes.</a:t>
            </a:r>
            <a:endParaRPr sz="2400">
              <a:latin typeface="Calibri"/>
              <a:cs typeface="Calibri"/>
            </a:endParaRPr>
          </a:p>
          <a:p>
            <a:pPr marL="354965" marR="3752850" indent="-342900">
              <a:lnSpc>
                <a:spcPts val="2900"/>
              </a:lnSpc>
              <a:spcBef>
                <a:spcPts val="60"/>
              </a:spcBef>
              <a:buChar char="▪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daemon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also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communicate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other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daemons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to </a:t>
            </a:r>
            <a:r>
              <a:rPr dirty="0" sz="2400">
                <a:latin typeface="Calibri"/>
                <a:cs typeface="Calibri"/>
              </a:rPr>
              <a:t>manage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Docker</a:t>
            </a:r>
            <a:r>
              <a:rPr dirty="0" sz="2400" spc="-10">
                <a:latin typeface="Calibri"/>
                <a:cs typeface="Calibri"/>
              </a:rPr>
              <a:t> services.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2400" b="1">
                <a:solidFill>
                  <a:srgbClr val="006FC0"/>
                </a:solidFill>
                <a:latin typeface="Calibri"/>
                <a:cs typeface="Calibri"/>
              </a:rPr>
              <a:t>The</a:t>
            </a:r>
            <a:r>
              <a:rPr dirty="0" sz="2400" spc="-4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006FC0"/>
                </a:solidFill>
                <a:latin typeface="Calibri"/>
                <a:cs typeface="Calibri"/>
              </a:rPr>
              <a:t>Docker</a:t>
            </a:r>
            <a:r>
              <a:rPr dirty="0" sz="2400" spc="-5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006FC0"/>
                </a:solidFill>
                <a:latin typeface="Calibri"/>
                <a:cs typeface="Calibri"/>
              </a:rPr>
              <a:t>client</a:t>
            </a:r>
            <a:endParaRPr sz="2400">
              <a:latin typeface="Calibri"/>
              <a:cs typeface="Calibri"/>
            </a:endParaRPr>
          </a:p>
          <a:p>
            <a:pPr marL="354965" marR="3818890" indent="-342900">
              <a:lnSpc>
                <a:spcPct val="100800"/>
              </a:lnSpc>
              <a:spcBef>
                <a:spcPts val="204"/>
              </a:spcBef>
              <a:buChar char="▪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Docker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client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(docker)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primary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way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many </a:t>
            </a:r>
            <a:r>
              <a:rPr dirty="0" sz="2400">
                <a:latin typeface="Calibri"/>
                <a:cs typeface="Calibri"/>
              </a:rPr>
              <a:t>Docker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users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interact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Docker.</a:t>
            </a:r>
            <a:endParaRPr sz="2400">
              <a:latin typeface="Calibri"/>
              <a:cs typeface="Calibri"/>
            </a:endParaRPr>
          </a:p>
          <a:p>
            <a:pPr marL="354965" marR="5080" indent="-342900">
              <a:lnSpc>
                <a:spcPts val="2900"/>
              </a:lnSpc>
              <a:spcBef>
                <a:spcPts val="55"/>
              </a:spcBef>
              <a:buChar char="▪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When</a:t>
            </a:r>
            <a:r>
              <a:rPr dirty="0" sz="2400" spc="5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you</a:t>
            </a:r>
            <a:r>
              <a:rPr dirty="0" sz="2400" spc="5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</a:t>
            </a:r>
            <a:r>
              <a:rPr dirty="0" sz="2400" spc="5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commands</a:t>
            </a:r>
            <a:r>
              <a:rPr dirty="0" sz="2400" spc="5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such</a:t>
            </a:r>
            <a:r>
              <a:rPr dirty="0" sz="2400" spc="5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509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docker</a:t>
            </a:r>
            <a:r>
              <a:rPr dirty="0" sz="2400" spc="52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run</a:t>
            </a:r>
            <a:r>
              <a:rPr dirty="0" sz="2400">
                <a:latin typeface="Calibri"/>
                <a:cs typeface="Calibri"/>
              </a:rPr>
              <a:t>,</a:t>
            </a:r>
            <a:r>
              <a:rPr dirty="0" sz="2400" spc="5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5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client</a:t>
            </a:r>
            <a:r>
              <a:rPr dirty="0" sz="2400" spc="5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sends</a:t>
            </a:r>
            <a:r>
              <a:rPr dirty="0" sz="2400" spc="5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these</a:t>
            </a:r>
            <a:r>
              <a:rPr dirty="0" sz="2400" spc="5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commands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’dockerd’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(docker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daemon),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which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carries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them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out.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ts val="2785"/>
              </a:lnSpc>
              <a:buChar char="▪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docker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command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Docker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API.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Char char="▪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Docker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client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communicate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more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than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daemon.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13970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Docker</a:t>
            </a:r>
            <a:r>
              <a:rPr dirty="0" spc="-10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Architecture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6905" y="1304695"/>
            <a:ext cx="11430635" cy="4967605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Docker</a:t>
            </a:r>
            <a:r>
              <a:rPr dirty="0" sz="2200" spc="-5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spc="-20" b="1">
                <a:solidFill>
                  <a:srgbClr val="006FC0"/>
                </a:solidFill>
                <a:latin typeface="Calibri"/>
                <a:cs typeface="Calibri"/>
              </a:rPr>
              <a:t>Host</a:t>
            </a:r>
            <a:endParaRPr sz="2200">
              <a:latin typeface="Calibri"/>
              <a:cs typeface="Calibri"/>
            </a:endParaRPr>
          </a:p>
          <a:p>
            <a:pPr marL="355600" marR="15240" indent="-342900">
              <a:lnSpc>
                <a:spcPts val="3170"/>
              </a:lnSpc>
              <a:spcBef>
                <a:spcPts val="195"/>
              </a:spcBef>
              <a:buChar char="▪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Host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Daemon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running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host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(like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private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hub/registry)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connect </a:t>
            </a:r>
            <a:r>
              <a:rPr dirty="0" sz="2200">
                <a:latin typeface="Calibri"/>
                <a:cs typeface="Calibri"/>
              </a:rPr>
              <a:t>(like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public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docker_hub/registry)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Registry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stores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Images.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34"/>
              </a:spcBef>
              <a:buChar char="▪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Daemon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running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within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Host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responsible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Objects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images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and</a:t>
            </a:r>
            <a:endParaRPr sz="2200">
              <a:latin typeface="Calibri"/>
              <a:cs typeface="Calibri"/>
            </a:endParaRPr>
          </a:p>
          <a:p>
            <a:pPr algn="ctr" marR="9448165">
              <a:lnSpc>
                <a:spcPct val="100000"/>
              </a:lnSpc>
              <a:spcBef>
                <a:spcPts val="525"/>
              </a:spcBef>
            </a:pPr>
            <a:r>
              <a:rPr dirty="0" sz="2200" spc="-10">
                <a:latin typeface="Calibri"/>
                <a:cs typeface="Calibri"/>
              </a:rPr>
              <a:t>containers.</a:t>
            </a:r>
            <a:endParaRPr sz="2200">
              <a:latin typeface="Calibri"/>
              <a:cs typeface="Calibri"/>
            </a:endParaRPr>
          </a:p>
          <a:p>
            <a:pPr algn="ctr" marR="9497060">
              <a:lnSpc>
                <a:spcPct val="100000"/>
              </a:lnSpc>
              <a:spcBef>
                <a:spcPts val="530"/>
              </a:spcBef>
            </a:pP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Docker</a:t>
            </a:r>
            <a:r>
              <a:rPr dirty="0" sz="2200" spc="-5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Objects</a:t>
            </a:r>
            <a:r>
              <a:rPr dirty="0" sz="2200" spc="-7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spc="-50" b="1">
                <a:solidFill>
                  <a:srgbClr val="006FC0"/>
                </a:solidFill>
                <a:latin typeface="Calibri"/>
                <a:cs typeface="Calibri"/>
              </a:rPr>
              <a:t>: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dirty="0" sz="2200">
                <a:latin typeface="Calibri"/>
                <a:cs typeface="Calibri"/>
              </a:rPr>
              <a:t>There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objects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like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60"/>
              </a:spcBef>
              <a:buChar char="▪"/>
              <a:tabLst>
                <a:tab pos="354965" algn="l"/>
              </a:tabLst>
            </a:pPr>
            <a:r>
              <a:rPr dirty="0" sz="2200" spc="-10">
                <a:latin typeface="Calibri"/>
                <a:cs typeface="Calibri"/>
              </a:rPr>
              <a:t>Images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70"/>
              </a:spcBef>
              <a:buChar char="▪"/>
              <a:tabLst>
                <a:tab pos="354965" algn="l"/>
              </a:tabLst>
            </a:pPr>
            <a:r>
              <a:rPr dirty="0" sz="2200" spc="-10">
                <a:latin typeface="Calibri"/>
                <a:cs typeface="Calibri"/>
              </a:rPr>
              <a:t>Containers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65"/>
              </a:spcBef>
              <a:buChar char="▪"/>
              <a:tabLst>
                <a:tab pos="354965" algn="l"/>
              </a:tabLst>
            </a:pPr>
            <a:r>
              <a:rPr dirty="0" sz="2200" spc="-10">
                <a:latin typeface="Calibri"/>
                <a:cs typeface="Calibri"/>
              </a:rPr>
              <a:t>Networks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60"/>
              </a:spcBef>
              <a:buChar char="▪"/>
              <a:tabLst>
                <a:tab pos="354965" algn="l"/>
              </a:tabLst>
            </a:pPr>
            <a:r>
              <a:rPr dirty="0" sz="2200" spc="-10">
                <a:latin typeface="Calibri"/>
                <a:cs typeface="Calibri"/>
              </a:rPr>
              <a:t>Volumes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70"/>
              </a:spcBef>
              <a:buChar char="▪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Plugins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other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objects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created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used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while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using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docker.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65405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Docker</a:t>
            </a:r>
            <a:r>
              <a:rPr dirty="0" spc="-3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Objects</a:t>
            </a:r>
            <a:r>
              <a:rPr dirty="0" spc="-4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:</a:t>
            </a:r>
            <a:r>
              <a:rPr dirty="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006FC0"/>
                </a:solidFill>
                <a:latin typeface="Arial"/>
                <a:cs typeface="Arial"/>
              </a:rPr>
              <a:t>Images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16484" y="1304695"/>
            <a:ext cx="11505565" cy="46043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6985">
              <a:lnSpc>
                <a:spcPct val="120000"/>
              </a:lnSpc>
              <a:spcBef>
                <a:spcPts val="100"/>
              </a:spcBef>
            </a:pPr>
            <a:r>
              <a:rPr dirty="0" sz="2200" b="1">
                <a:solidFill>
                  <a:srgbClr val="C00000"/>
                </a:solidFill>
                <a:latin typeface="Calibri"/>
                <a:cs typeface="Calibri"/>
              </a:rPr>
              <a:t>Images</a:t>
            </a:r>
            <a:r>
              <a:rPr dirty="0" sz="2200" spc="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C00000"/>
                </a:solidFill>
                <a:latin typeface="Calibri"/>
                <a:cs typeface="Calibri"/>
              </a:rPr>
              <a:t>:</a:t>
            </a:r>
            <a:r>
              <a:rPr dirty="0" sz="2200" spc="4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read-</a:t>
            </a:r>
            <a:r>
              <a:rPr dirty="0" sz="2200">
                <a:latin typeface="Calibri"/>
                <a:cs typeface="Calibri"/>
              </a:rPr>
              <a:t>only</a:t>
            </a:r>
            <a:r>
              <a:rPr dirty="0" sz="2200" spc="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template</a:t>
            </a:r>
            <a:r>
              <a:rPr dirty="0" sz="2200" spc="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with</a:t>
            </a:r>
            <a:r>
              <a:rPr dirty="0" sz="2200" spc="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instructions</a:t>
            </a:r>
            <a:r>
              <a:rPr dirty="0" sz="2200" spc="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creating</a:t>
            </a:r>
            <a:r>
              <a:rPr dirty="0" sz="2200" spc="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container.</a:t>
            </a:r>
            <a:r>
              <a:rPr dirty="0" sz="2200" spc="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could</a:t>
            </a:r>
            <a:r>
              <a:rPr dirty="0" sz="2200" spc="4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be </a:t>
            </a:r>
            <a:r>
              <a:rPr dirty="0" sz="2200">
                <a:latin typeface="Calibri"/>
                <a:cs typeface="Calibri"/>
              </a:rPr>
              <a:t>based</a:t>
            </a:r>
            <a:r>
              <a:rPr dirty="0" sz="2200" spc="229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2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another</a:t>
            </a:r>
            <a:r>
              <a:rPr dirty="0" sz="2200" spc="2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image</a:t>
            </a:r>
            <a:r>
              <a:rPr dirty="0" sz="2200" spc="254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(available</a:t>
            </a:r>
            <a:r>
              <a:rPr dirty="0" sz="2200" spc="2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2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2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registry)</a:t>
            </a:r>
            <a:r>
              <a:rPr dirty="0" sz="2200" spc="254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with</a:t>
            </a:r>
            <a:r>
              <a:rPr dirty="0" sz="2200" spc="2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additional</a:t>
            </a:r>
            <a:r>
              <a:rPr dirty="0" sz="2200" spc="2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customizations.</a:t>
            </a:r>
            <a:r>
              <a:rPr dirty="0" sz="2200" spc="2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Eg.</a:t>
            </a:r>
            <a:r>
              <a:rPr dirty="0" sz="2200" spc="229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Image</a:t>
            </a:r>
            <a:r>
              <a:rPr dirty="0" sz="2200" spc="2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229">
                <a:latin typeface="Calibri"/>
                <a:cs typeface="Calibri"/>
              </a:rPr>
              <a:t> </a:t>
            </a:r>
            <a:r>
              <a:rPr dirty="0" sz="2200" spc="-50">
                <a:latin typeface="Calibri"/>
                <a:cs typeface="Calibri"/>
              </a:rPr>
              <a:t>a </a:t>
            </a:r>
            <a:r>
              <a:rPr dirty="0" sz="2200">
                <a:latin typeface="Calibri"/>
                <a:cs typeface="Calibri"/>
              </a:rPr>
              <a:t>Webserver</a:t>
            </a:r>
            <a:r>
              <a:rPr dirty="0" sz="2200" spc="75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..</a:t>
            </a:r>
            <a:r>
              <a:rPr dirty="0" sz="2200" spc="75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Original</a:t>
            </a:r>
            <a:r>
              <a:rPr dirty="0" sz="2200" spc="70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image</a:t>
            </a:r>
            <a:r>
              <a:rPr dirty="0" sz="2200" spc="80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80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Ubuntu</a:t>
            </a:r>
            <a:r>
              <a:rPr dirty="0" sz="2200" spc="70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customized</a:t>
            </a:r>
            <a:r>
              <a:rPr dirty="0" sz="2200" spc="75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with</a:t>
            </a:r>
            <a:r>
              <a:rPr dirty="0" sz="2200" spc="75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installation</a:t>
            </a:r>
            <a:r>
              <a:rPr dirty="0" sz="2200" spc="80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70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configuration</a:t>
            </a:r>
            <a:r>
              <a:rPr dirty="0" sz="2200" spc="80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80">
                <a:latin typeface="Calibri"/>
                <a:cs typeface="Calibri"/>
              </a:rPr>
              <a:t>  </a:t>
            </a:r>
            <a:r>
              <a:rPr dirty="0" sz="2200" spc="-25">
                <a:latin typeface="Calibri"/>
                <a:cs typeface="Calibri"/>
              </a:rPr>
              <a:t>the </a:t>
            </a:r>
            <a:r>
              <a:rPr dirty="0" sz="2200">
                <a:latin typeface="Calibri"/>
                <a:cs typeface="Calibri"/>
              </a:rPr>
              <a:t>webserver</a:t>
            </a:r>
            <a:r>
              <a:rPr dirty="0" sz="2200" spc="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created</a:t>
            </a:r>
            <a:r>
              <a:rPr dirty="0" sz="2200" spc="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only</a:t>
            </a:r>
            <a:r>
              <a:rPr dirty="0" sz="2200" spc="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read-</a:t>
            </a:r>
            <a:r>
              <a:rPr dirty="0" sz="2200">
                <a:latin typeface="Calibri"/>
                <a:cs typeface="Calibri"/>
              </a:rPr>
              <a:t>only</a:t>
            </a:r>
            <a:r>
              <a:rPr dirty="0" sz="2200" spc="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image</a:t>
            </a:r>
            <a:r>
              <a:rPr dirty="0" sz="2200" spc="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deployed</a:t>
            </a:r>
            <a:r>
              <a:rPr dirty="0" sz="2200" spc="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</a:t>
            </a:r>
            <a:r>
              <a:rPr dirty="0" sz="2200" spc="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application</a:t>
            </a:r>
            <a:r>
              <a:rPr dirty="0" sz="2200" spc="3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can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same.</a:t>
            </a:r>
            <a:endParaRPr sz="220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  <a:spcBef>
                <a:spcPts val="925"/>
              </a:spcBef>
            </a:pP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3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3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done</a:t>
            </a:r>
            <a:r>
              <a:rPr dirty="0" sz="2200" spc="3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using</a:t>
            </a:r>
            <a:r>
              <a:rPr dirty="0" sz="2200" spc="30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310">
                <a:latin typeface="Calibri"/>
                <a:cs typeface="Calibri"/>
              </a:rPr>
              <a:t> </a:t>
            </a:r>
            <a:r>
              <a:rPr dirty="0" sz="2200" b="1" i="1">
                <a:solidFill>
                  <a:srgbClr val="C00000"/>
                </a:solidFill>
                <a:latin typeface="Calibri"/>
                <a:cs typeface="Calibri"/>
              </a:rPr>
              <a:t>Dockerfile</a:t>
            </a:r>
            <a:r>
              <a:rPr dirty="0" sz="2200" spc="310" b="1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3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script</a:t>
            </a:r>
            <a:r>
              <a:rPr dirty="0" sz="2200" spc="3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file</a:t>
            </a:r>
            <a:r>
              <a:rPr dirty="0" sz="2200" spc="3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3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defines</a:t>
            </a:r>
            <a:r>
              <a:rPr dirty="0" sz="2200" spc="3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3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syntax</a:t>
            </a:r>
            <a:r>
              <a:rPr dirty="0" sz="2200" spc="30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3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indicate</a:t>
            </a:r>
            <a:r>
              <a:rPr dirty="0" sz="2200" spc="30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steps</a:t>
            </a:r>
            <a:r>
              <a:rPr dirty="0" sz="2200" spc="3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needed</a:t>
            </a:r>
            <a:r>
              <a:rPr dirty="0" sz="2200" spc="31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to</a:t>
            </a:r>
            <a:endParaRPr sz="220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  <a:spcBef>
                <a:spcPts val="530"/>
              </a:spcBef>
            </a:pPr>
            <a:r>
              <a:rPr dirty="0" sz="2200">
                <a:latin typeface="Calibri"/>
                <a:cs typeface="Calibri"/>
              </a:rPr>
              <a:t>create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image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(and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using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command).</a:t>
            </a:r>
            <a:endParaRPr sz="220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  <a:spcBef>
                <a:spcPts val="935"/>
              </a:spcBef>
            </a:pPr>
            <a:r>
              <a:rPr dirty="0" sz="2200">
                <a:latin typeface="Calibri"/>
                <a:cs typeface="Calibri"/>
              </a:rPr>
              <a:t>Each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instruction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Dockerfile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creates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b="1" i="1">
                <a:solidFill>
                  <a:srgbClr val="C00000"/>
                </a:solidFill>
                <a:latin typeface="Calibri"/>
                <a:cs typeface="Calibri"/>
              </a:rPr>
              <a:t>layer</a:t>
            </a:r>
            <a:r>
              <a:rPr dirty="0" sz="2200" spc="-25" b="1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image.</a:t>
            </a:r>
            <a:endParaRPr sz="2200">
              <a:latin typeface="Calibri"/>
              <a:cs typeface="Calibri"/>
            </a:endParaRPr>
          </a:p>
          <a:p>
            <a:pPr algn="just" marL="12700" marR="5080">
              <a:lnSpc>
                <a:spcPct val="120100"/>
              </a:lnSpc>
              <a:spcBef>
                <a:spcPts val="395"/>
              </a:spcBef>
            </a:pPr>
            <a:r>
              <a:rPr dirty="0" sz="2200">
                <a:latin typeface="Calibri"/>
                <a:cs typeface="Calibri"/>
              </a:rPr>
              <a:t>These</a:t>
            </a:r>
            <a:r>
              <a:rPr dirty="0" sz="2200" spc="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Dockerfiles</a:t>
            </a:r>
            <a:r>
              <a:rPr dirty="0" sz="2200" spc="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distributed</a:t>
            </a:r>
            <a:r>
              <a:rPr dirty="0" sz="2200" spc="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along</a:t>
            </a:r>
            <a:r>
              <a:rPr dirty="0" sz="2200" spc="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with software</a:t>
            </a:r>
            <a:r>
              <a:rPr dirty="0" sz="2200" spc="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author wants</a:t>
            </a:r>
            <a:r>
              <a:rPr dirty="0" sz="2200" spc="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put</a:t>
            </a:r>
            <a:r>
              <a:rPr dirty="0" sz="2200" spc="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into</a:t>
            </a:r>
            <a:r>
              <a:rPr dirty="0" sz="2200" spc="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 </a:t>
            </a:r>
            <a:r>
              <a:rPr dirty="0" sz="2200" spc="-10">
                <a:latin typeface="Calibri"/>
                <a:cs typeface="Calibri"/>
              </a:rPr>
              <a:t>image.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case,</a:t>
            </a:r>
            <a:r>
              <a:rPr dirty="0" sz="2200" spc="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you’re</a:t>
            </a:r>
            <a:r>
              <a:rPr dirty="0" sz="2200" spc="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not</a:t>
            </a:r>
            <a:r>
              <a:rPr dirty="0" sz="2200" spc="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technically</a:t>
            </a:r>
            <a:r>
              <a:rPr dirty="0" sz="2200" spc="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installing</a:t>
            </a:r>
            <a:r>
              <a:rPr dirty="0" sz="2200" spc="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</a:t>
            </a:r>
            <a:r>
              <a:rPr dirty="0" sz="2200" spc="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image.</a:t>
            </a:r>
            <a:r>
              <a:rPr dirty="0" sz="2200" spc="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Instead,</a:t>
            </a:r>
            <a:r>
              <a:rPr dirty="0" sz="2200" spc="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you’re</a:t>
            </a:r>
            <a:r>
              <a:rPr dirty="0" sz="2200" spc="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following</a:t>
            </a:r>
            <a:r>
              <a:rPr dirty="0" sz="2200" spc="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instructions</a:t>
            </a:r>
            <a:r>
              <a:rPr dirty="0" sz="2200" spc="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7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build </a:t>
            </a:r>
            <a:r>
              <a:rPr dirty="0" sz="2200">
                <a:latin typeface="Calibri"/>
                <a:cs typeface="Calibri"/>
              </a:rPr>
              <a:t>an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image.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7340" y="235711"/>
            <a:ext cx="260286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66191" y="690753"/>
            <a:ext cx="11730990" cy="52241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540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Docker</a:t>
            </a:r>
            <a:r>
              <a:rPr dirty="0" sz="2400" spc="-4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Objects</a:t>
            </a:r>
            <a:r>
              <a:rPr dirty="0" sz="2400" spc="-6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:</a:t>
            </a:r>
            <a:r>
              <a:rPr dirty="0" sz="2400" spc="-5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6FC0"/>
                </a:solidFill>
                <a:latin typeface="Arial"/>
                <a:cs typeface="Arial"/>
              </a:rPr>
              <a:t>Images</a:t>
            </a:r>
            <a:r>
              <a:rPr dirty="0" sz="2400" spc="-50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–</a:t>
            </a:r>
            <a:r>
              <a:rPr dirty="0" sz="2400" spc="-6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More</a:t>
            </a:r>
            <a:r>
              <a:rPr dirty="0" sz="2400" spc="-5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on</a:t>
            </a:r>
            <a:r>
              <a:rPr dirty="0" sz="2400" spc="-70" b="1"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Dockerfile</a:t>
            </a:r>
            <a:endParaRPr sz="2400">
              <a:latin typeface="Arial"/>
              <a:cs typeface="Arial"/>
            </a:endParaRPr>
          </a:p>
          <a:p>
            <a:pPr marL="372110" marR="378460" indent="-360045">
              <a:lnSpc>
                <a:spcPct val="110000"/>
              </a:lnSpc>
              <a:spcBef>
                <a:spcPts val="2045"/>
              </a:spcBef>
              <a:buChar char="▪"/>
              <a:tabLst>
                <a:tab pos="372110" algn="l"/>
              </a:tabLst>
            </a:pPr>
            <a:r>
              <a:rPr dirty="0" sz="2000">
                <a:latin typeface="Calibri"/>
                <a:cs typeface="Calibri"/>
              </a:rPr>
              <a:t>Distributing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Dockerfile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similar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distributing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image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files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using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your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own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distribution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mechanisms.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50">
                <a:latin typeface="Calibri"/>
                <a:cs typeface="Calibri"/>
              </a:rPr>
              <a:t>A </a:t>
            </a:r>
            <a:r>
              <a:rPr dirty="0" sz="2000">
                <a:latin typeface="Calibri"/>
                <a:cs typeface="Calibri"/>
              </a:rPr>
              <a:t>common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pattern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distribute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Dockerfile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software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common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version-</a:t>
            </a:r>
            <a:r>
              <a:rPr dirty="0" sz="2000">
                <a:latin typeface="Calibri"/>
                <a:cs typeface="Calibri"/>
              </a:rPr>
              <a:t>control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systems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like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Git.</a:t>
            </a:r>
            <a:endParaRPr sz="2000">
              <a:latin typeface="Calibri"/>
              <a:cs typeface="Calibri"/>
            </a:endParaRPr>
          </a:p>
          <a:p>
            <a:pPr lvl="1" marL="789305" indent="-417195">
              <a:lnSpc>
                <a:spcPct val="100000"/>
              </a:lnSpc>
              <a:spcBef>
                <a:spcPts val="1019"/>
              </a:spcBef>
              <a:buClr>
                <a:srgbClr val="833B0A"/>
              </a:buClr>
              <a:buFont typeface="Arial"/>
              <a:buChar char="•"/>
              <a:tabLst>
                <a:tab pos="789305" algn="l"/>
              </a:tabLst>
            </a:pPr>
            <a:r>
              <a:rPr dirty="0" sz="2000">
                <a:latin typeface="Calibri"/>
                <a:cs typeface="Calibri"/>
              </a:rPr>
              <a:t>If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have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Git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installed,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try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running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example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public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repository:</a:t>
            </a:r>
            <a:endParaRPr sz="2000">
              <a:latin typeface="Calibri"/>
              <a:cs typeface="Calibri"/>
            </a:endParaRPr>
          </a:p>
          <a:p>
            <a:pPr lvl="2" marL="1163955" indent="-358775">
              <a:lnSpc>
                <a:spcPct val="100000"/>
              </a:lnSpc>
              <a:spcBef>
                <a:spcPts val="1085"/>
              </a:spcBef>
              <a:buClr>
                <a:srgbClr val="000000"/>
              </a:buClr>
              <a:buFont typeface="Courier New"/>
              <a:buChar char="o"/>
              <a:tabLst>
                <a:tab pos="1163955" algn="l"/>
              </a:tabLst>
            </a:pPr>
            <a:r>
              <a:rPr dirty="0" sz="2000">
                <a:solidFill>
                  <a:srgbClr val="006FC0"/>
                </a:solidFill>
                <a:latin typeface="Calibri"/>
                <a:cs typeface="Calibri"/>
              </a:rPr>
              <a:t>git</a:t>
            </a:r>
            <a:r>
              <a:rPr dirty="0" sz="2000" spc="-2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06FC0"/>
                </a:solidFill>
                <a:latin typeface="Calibri"/>
                <a:cs typeface="Calibri"/>
              </a:rPr>
              <a:t>clone</a:t>
            </a:r>
            <a:r>
              <a:rPr dirty="0" sz="2000" spc="-1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006FC0"/>
                </a:solidFill>
                <a:latin typeface="Calibri"/>
                <a:cs typeface="Calibri"/>
                <a:hlinkClick r:id="rId2"/>
              </a:rPr>
              <a:t>https://github.com/dockerinaction/ch3_dockerfile.git</a:t>
            </a:r>
            <a:endParaRPr sz="2000">
              <a:latin typeface="Calibri"/>
              <a:cs typeface="Calibri"/>
            </a:endParaRPr>
          </a:p>
          <a:p>
            <a:pPr lvl="2" marL="1163955" indent="-358775">
              <a:lnSpc>
                <a:spcPct val="100000"/>
              </a:lnSpc>
              <a:spcBef>
                <a:spcPts val="1075"/>
              </a:spcBef>
              <a:buClr>
                <a:srgbClr val="000000"/>
              </a:buClr>
              <a:buFont typeface="Courier New"/>
              <a:buChar char="o"/>
              <a:tabLst>
                <a:tab pos="1163955" algn="l"/>
              </a:tabLst>
            </a:pPr>
            <a:r>
              <a:rPr dirty="0" sz="2000">
                <a:solidFill>
                  <a:srgbClr val="006FC0"/>
                </a:solidFill>
                <a:latin typeface="Calibri"/>
                <a:cs typeface="Calibri"/>
              </a:rPr>
              <a:t>docker</a:t>
            </a:r>
            <a:r>
              <a:rPr dirty="0" sz="2000" spc="-1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06FC0"/>
                </a:solidFill>
                <a:latin typeface="Calibri"/>
                <a:cs typeface="Calibri"/>
              </a:rPr>
              <a:t>build </a:t>
            </a:r>
            <a:r>
              <a:rPr dirty="0" sz="2000" spc="-10">
                <a:solidFill>
                  <a:srgbClr val="006FC0"/>
                </a:solidFill>
                <a:latin typeface="Calibri"/>
                <a:cs typeface="Calibri"/>
              </a:rPr>
              <a:t>-</a:t>
            </a:r>
            <a:r>
              <a:rPr dirty="0" sz="2000">
                <a:solidFill>
                  <a:srgbClr val="006FC0"/>
                </a:solidFill>
                <a:latin typeface="Calibri"/>
                <a:cs typeface="Calibri"/>
              </a:rPr>
              <a:t>t</a:t>
            </a:r>
            <a:r>
              <a:rPr dirty="0" sz="2000" spc="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006FC0"/>
                </a:solidFill>
                <a:latin typeface="Calibri"/>
                <a:cs typeface="Calibri"/>
              </a:rPr>
              <a:t>dia_ch3/dockerfile:latest</a:t>
            </a:r>
            <a:r>
              <a:rPr dirty="0" sz="2000" spc="1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006FC0"/>
                </a:solidFill>
                <a:latin typeface="Calibri"/>
                <a:cs typeface="Calibri"/>
              </a:rPr>
              <a:t>ch3_dockerfile</a:t>
            </a:r>
            <a:endParaRPr sz="2000">
              <a:latin typeface="Calibri"/>
              <a:cs typeface="Calibri"/>
            </a:endParaRPr>
          </a:p>
          <a:p>
            <a:pPr algn="just" marL="443865" marR="5080">
              <a:lnSpc>
                <a:spcPct val="110000"/>
              </a:lnSpc>
              <a:spcBef>
                <a:spcPts val="660"/>
              </a:spcBef>
            </a:pPr>
            <a:r>
              <a:rPr dirty="0" sz="2000" i="1">
                <a:latin typeface="Calibri"/>
                <a:cs typeface="Calibri"/>
              </a:rPr>
              <a:t>In</a:t>
            </a:r>
            <a:r>
              <a:rPr dirty="0" sz="2000" spc="4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this</a:t>
            </a:r>
            <a:r>
              <a:rPr dirty="0" sz="2000" spc="3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example,</a:t>
            </a:r>
            <a:r>
              <a:rPr dirty="0" sz="2000" spc="4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you</a:t>
            </a:r>
            <a:r>
              <a:rPr dirty="0" sz="2000" spc="5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copy</a:t>
            </a:r>
            <a:r>
              <a:rPr dirty="0" sz="2000" spc="5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the</a:t>
            </a:r>
            <a:r>
              <a:rPr dirty="0" sz="2000" spc="5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project</a:t>
            </a:r>
            <a:r>
              <a:rPr dirty="0" sz="2000" spc="5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from</a:t>
            </a:r>
            <a:r>
              <a:rPr dirty="0" sz="2000" spc="4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a</a:t>
            </a:r>
            <a:r>
              <a:rPr dirty="0" sz="2000" spc="5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public</a:t>
            </a:r>
            <a:r>
              <a:rPr dirty="0" sz="2000" spc="5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source</a:t>
            </a:r>
            <a:r>
              <a:rPr dirty="0" sz="2000" spc="6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repository</a:t>
            </a:r>
            <a:r>
              <a:rPr dirty="0" sz="2000" spc="5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onto</a:t>
            </a:r>
            <a:r>
              <a:rPr dirty="0" sz="2000" spc="6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your</a:t>
            </a:r>
            <a:r>
              <a:rPr dirty="0" sz="2000" spc="5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computer</a:t>
            </a:r>
            <a:r>
              <a:rPr dirty="0" sz="2000" spc="4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and</a:t>
            </a:r>
            <a:r>
              <a:rPr dirty="0" sz="2000" spc="4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then</a:t>
            </a:r>
            <a:r>
              <a:rPr dirty="0" sz="2000" spc="5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build</a:t>
            </a:r>
            <a:r>
              <a:rPr dirty="0" sz="2000" spc="60" i="1">
                <a:latin typeface="Calibri"/>
                <a:cs typeface="Calibri"/>
              </a:rPr>
              <a:t> </a:t>
            </a:r>
            <a:r>
              <a:rPr dirty="0" sz="2000" spc="-25" i="1">
                <a:latin typeface="Calibri"/>
                <a:cs typeface="Calibri"/>
              </a:rPr>
              <a:t>and </a:t>
            </a:r>
            <a:r>
              <a:rPr dirty="0" sz="2000" i="1">
                <a:latin typeface="Calibri"/>
                <a:cs typeface="Calibri"/>
              </a:rPr>
              <a:t>install</a:t>
            </a:r>
            <a:r>
              <a:rPr dirty="0" sz="2000" spc="6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a</a:t>
            </a:r>
            <a:r>
              <a:rPr dirty="0" sz="2000" spc="6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Docker</a:t>
            </a:r>
            <a:r>
              <a:rPr dirty="0" sz="2000" spc="7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image</a:t>
            </a:r>
            <a:r>
              <a:rPr dirty="0" sz="2000" spc="7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by</a:t>
            </a:r>
            <a:r>
              <a:rPr dirty="0" sz="2000" spc="7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using</a:t>
            </a:r>
            <a:r>
              <a:rPr dirty="0" sz="2000" spc="8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the</a:t>
            </a:r>
            <a:r>
              <a:rPr dirty="0" sz="2000" spc="7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Dockerfile</a:t>
            </a:r>
            <a:r>
              <a:rPr dirty="0" sz="2000" spc="8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included</a:t>
            </a:r>
            <a:r>
              <a:rPr dirty="0" sz="2000" spc="7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with</a:t>
            </a:r>
            <a:r>
              <a:rPr dirty="0" sz="2000" spc="8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that</a:t>
            </a:r>
            <a:r>
              <a:rPr dirty="0" sz="2000" spc="7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project.</a:t>
            </a:r>
            <a:r>
              <a:rPr dirty="0" sz="2000" spc="7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The</a:t>
            </a:r>
            <a:r>
              <a:rPr dirty="0" sz="2000" spc="8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value</a:t>
            </a:r>
            <a:r>
              <a:rPr dirty="0" sz="2000" spc="6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provided</a:t>
            </a:r>
            <a:r>
              <a:rPr dirty="0" sz="2000" spc="8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to</a:t>
            </a:r>
            <a:r>
              <a:rPr dirty="0" sz="2000" spc="8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the</a:t>
            </a:r>
            <a:r>
              <a:rPr dirty="0" sz="2000" spc="70" i="1">
                <a:latin typeface="Calibri"/>
                <a:cs typeface="Calibri"/>
              </a:rPr>
              <a:t> </a:t>
            </a:r>
            <a:r>
              <a:rPr dirty="0" sz="2000" spc="-10" i="1">
                <a:latin typeface="Calibri"/>
                <a:cs typeface="Calibri"/>
              </a:rPr>
              <a:t>-</a:t>
            </a:r>
            <a:r>
              <a:rPr dirty="0" sz="2000" i="1">
                <a:latin typeface="Calibri"/>
                <a:cs typeface="Calibri"/>
              </a:rPr>
              <a:t>t</a:t>
            </a:r>
            <a:r>
              <a:rPr dirty="0" sz="2000" spc="80" i="1">
                <a:latin typeface="Calibri"/>
                <a:cs typeface="Calibri"/>
              </a:rPr>
              <a:t> </a:t>
            </a:r>
            <a:r>
              <a:rPr dirty="0" sz="2000" spc="-10" i="1">
                <a:latin typeface="Calibri"/>
                <a:cs typeface="Calibri"/>
              </a:rPr>
              <a:t>option </a:t>
            </a:r>
            <a:r>
              <a:rPr dirty="0" sz="2000" i="1">
                <a:latin typeface="Calibri"/>
                <a:cs typeface="Calibri"/>
              </a:rPr>
              <a:t>of</a:t>
            </a:r>
            <a:r>
              <a:rPr dirty="0" sz="2000" spc="-2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docker</a:t>
            </a:r>
            <a:r>
              <a:rPr dirty="0" sz="2000" spc="-2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build</a:t>
            </a:r>
            <a:r>
              <a:rPr dirty="0" sz="2000" spc="-3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is</a:t>
            </a:r>
            <a:r>
              <a:rPr dirty="0" sz="2000" spc="-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the</a:t>
            </a:r>
            <a:r>
              <a:rPr dirty="0" sz="2000" spc="-3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repository</a:t>
            </a:r>
            <a:r>
              <a:rPr dirty="0" sz="2000" spc="-1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where</a:t>
            </a:r>
            <a:r>
              <a:rPr dirty="0" sz="2000" spc="-3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you</a:t>
            </a:r>
            <a:r>
              <a:rPr dirty="0" sz="2000" spc="-3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want</a:t>
            </a:r>
            <a:r>
              <a:rPr dirty="0" sz="2000" spc="-3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to</a:t>
            </a:r>
            <a:r>
              <a:rPr dirty="0" sz="2000" spc="-1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install</a:t>
            </a:r>
            <a:r>
              <a:rPr dirty="0" sz="2000" spc="-1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the</a:t>
            </a:r>
            <a:r>
              <a:rPr dirty="0" sz="2000" spc="-15" i="1">
                <a:latin typeface="Calibri"/>
                <a:cs typeface="Calibri"/>
              </a:rPr>
              <a:t> </a:t>
            </a:r>
            <a:r>
              <a:rPr dirty="0" sz="2000" spc="-10" i="1">
                <a:latin typeface="Calibri"/>
                <a:cs typeface="Calibri"/>
              </a:rPr>
              <a:t>image.</a:t>
            </a:r>
            <a:endParaRPr sz="2000">
              <a:latin typeface="Calibri"/>
              <a:cs typeface="Calibri"/>
            </a:endParaRPr>
          </a:p>
          <a:p>
            <a:pPr marL="372110" marR="47625" indent="-360045">
              <a:lnSpc>
                <a:spcPct val="110100"/>
              </a:lnSpc>
              <a:spcBef>
                <a:spcPts val="600"/>
              </a:spcBef>
              <a:buChar char="▪"/>
              <a:tabLst>
                <a:tab pos="372110" algn="l"/>
              </a:tabLst>
            </a:pPr>
            <a:r>
              <a:rPr dirty="0" sz="2000">
                <a:latin typeface="Calibri"/>
                <a:cs typeface="Calibri"/>
              </a:rPr>
              <a:t>Building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images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Dockerfile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light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way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move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projects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around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fits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existing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workflows.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Could </a:t>
            </a:r>
            <a:r>
              <a:rPr dirty="0" sz="2000">
                <a:latin typeface="Calibri"/>
                <a:cs typeface="Calibri"/>
              </a:rPr>
              <a:t>lead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unfavourable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experience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case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drift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dependencies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between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time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when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Dockerfile </a:t>
            </a:r>
            <a:r>
              <a:rPr dirty="0" sz="2000">
                <a:latin typeface="Calibri"/>
                <a:cs typeface="Calibri"/>
              </a:rPr>
              <a:t>was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authored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when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image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built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user’s</a:t>
            </a:r>
            <a:r>
              <a:rPr dirty="0" sz="2000" spc="-10">
                <a:latin typeface="Calibri"/>
                <a:cs typeface="Calibri"/>
              </a:rPr>
              <a:t> computer.</a:t>
            </a:r>
            <a:endParaRPr sz="20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840"/>
              </a:spcBef>
              <a:buChar char="▪"/>
              <a:tabLst>
                <a:tab pos="372110" algn="l"/>
              </a:tabLst>
            </a:pPr>
            <a:r>
              <a:rPr dirty="0" sz="2000">
                <a:latin typeface="Calibri"/>
                <a:cs typeface="Calibri"/>
              </a:rPr>
              <a:t>Docker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Images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removed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cleaned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up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with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8672" y="5881114"/>
            <a:ext cx="3496310" cy="910590"/>
          </a:xfrm>
          <a:prstGeom prst="rect">
            <a:avLst/>
          </a:prstGeom>
        </p:spPr>
        <p:txBody>
          <a:bodyPr wrap="square" lIns="0" tIns="150495" rIns="0" bIns="0" rtlCol="0" vert="horz">
            <a:spAutoFit/>
          </a:bodyPr>
          <a:lstStyle/>
          <a:p>
            <a:pPr marL="371475" indent="-358775">
              <a:lnSpc>
                <a:spcPct val="100000"/>
              </a:lnSpc>
              <a:spcBef>
                <a:spcPts val="1185"/>
              </a:spcBef>
              <a:buClr>
                <a:srgbClr val="000000"/>
              </a:buClr>
              <a:buFont typeface="Courier New"/>
              <a:buChar char="o"/>
              <a:tabLst>
                <a:tab pos="371475" algn="l"/>
              </a:tabLst>
            </a:pPr>
            <a:r>
              <a:rPr dirty="0" sz="2000">
                <a:solidFill>
                  <a:srgbClr val="006FC0"/>
                </a:solidFill>
                <a:latin typeface="Calibri"/>
                <a:cs typeface="Calibri"/>
              </a:rPr>
              <a:t>docker</a:t>
            </a:r>
            <a:r>
              <a:rPr dirty="0" sz="2000" spc="-2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06FC0"/>
                </a:solidFill>
                <a:latin typeface="Calibri"/>
                <a:cs typeface="Calibri"/>
              </a:rPr>
              <a:t>rmi </a:t>
            </a:r>
            <a:r>
              <a:rPr dirty="0" sz="2000" spc="-10">
                <a:solidFill>
                  <a:srgbClr val="006FC0"/>
                </a:solidFill>
                <a:latin typeface="Calibri"/>
                <a:cs typeface="Calibri"/>
              </a:rPr>
              <a:t>dia_ch3/dockerfile</a:t>
            </a:r>
            <a:endParaRPr sz="2000">
              <a:latin typeface="Calibri"/>
              <a:cs typeface="Calibri"/>
            </a:endParaRPr>
          </a:p>
          <a:p>
            <a:pPr marL="371475" indent="-358775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Courier New"/>
              <a:buChar char="o"/>
              <a:tabLst>
                <a:tab pos="371475" algn="l"/>
              </a:tabLst>
            </a:pPr>
            <a:r>
              <a:rPr dirty="0" sz="2000">
                <a:solidFill>
                  <a:srgbClr val="006FC0"/>
                </a:solidFill>
                <a:latin typeface="Calibri"/>
                <a:cs typeface="Calibri"/>
              </a:rPr>
              <a:t>rm</a:t>
            </a:r>
            <a:r>
              <a:rPr dirty="0" sz="2000" spc="-2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006FC0"/>
                </a:solidFill>
                <a:latin typeface="Calibri"/>
                <a:cs typeface="Calibri"/>
              </a:rPr>
              <a:t>-</a:t>
            </a:r>
            <a:r>
              <a:rPr dirty="0" sz="2000">
                <a:solidFill>
                  <a:srgbClr val="006FC0"/>
                </a:solidFill>
                <a:latin typeface="Calibri"/>
                <a:cs typeface="Calibri"/>
              </a:rPr>
              <a:t>rf</a:t>
            </a:r>
            <a:r>
              <a:rPr dirty="0" sz="2000" spc="-2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006FC0"/>
                </a:solidFill>
                <a:latin typeface="Calibri"/>
                <a:cs typeface="Calibri"/>
              </a:rPr>
              <a:t>ch3_dockerfile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78526" y="6578600"/>
            <a:ext cx="64916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Docker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Commands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–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Video</a:t>
            </a:r>
            <a:r>
              <a:rPr dirty="0" sz="1400" spc="3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Ref: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  <a:hlinkClick r:id="rId3"/>
              </a:rPr>
              <a:t>https://www.youtube.com/watch?v=nXV6qihj5uw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0610" y="571245"/>
            <a:ext cx="8882634" cy="2353055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0610" y="3581653"/>
            <a:ext cx="8882634" cy="2705100"/>
          </a:xfrm>
          <a:prstGeom prst="rect">
            <a:avLst/>
          </a:prstGeom>
        </p:spPr>
      </p:pic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704" y="337565"/>
            <a:ext cx="11578590" cy="2701163"/>
          </a:xfrm>
          <a:prstGeom prst="rect">
            <a:avLst/>
          </a:prstGeom>
        </p:spPr>
      </p:pic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8620" y="231432"/>
            <a:ext cx="11098530" cy="6297930"/>
            <a:chOff x="388620" y="231432"/>
            <a:chExt cx="11098530" cy="62979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8620" y="231432"/>
              <a:ext cx="11098530" cy="544583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8620" y="5700140"/>
              <a:ext cx="11098530" cy="82878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2696" y="639444"/>
            <a:ext cx="11333099" cy="179463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0090" y="2983357"/>
            <a:ext cx="11155680" cy="1440561"/>
          </a:xfrm>
          <a:prstGeom prst="rect">
            <a:avLst/>
          </a:prstGeom>
        </p:spPr>
      </p:pic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399" y="228472"/>
            <a:ext cx="10512806" cy="274497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9180" y="3246462"/>
            <a:ext cx="10141839" cy="3416554"/>
          </a:xfrm>
          <a:prstGeom prst="rect">
            <a:avLst/>
          </a:prstGeom>
        </p:spPr>
      </p:pic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43740" cy="5045710"/>
            <a:chOff x="0" y="0"/>
            <a:chExt cx="12143740" cy="5045710"/>
          </a:xfrm>
        </p:grpSpPr>
        <p:sp>
          <p:nvSpPr>
            <p:cNvPr id="3" name="object 3"/>
            <p:cNvSpPr/>
            <p:nvPr/>
          </p:nvSpPr>
          <p:spPr>
            <a:xfrm>
              <a:off x="0" y="1297050"/>
              <a:ext cx="8291830" cy="38100"/>
            </a:xfrm>
            <a:custGeom>
              <a:avLst/>
              <a:gdLst/>
              <a:ahLst/>
              <a:cxnLst/>
              <a:rect l="l" t="t" r="r" b="b"/>
              <a:pathLst>
                <a:path w="8291830" h="38100">
                  <a:moveTo>
                    <a:pt x="8291576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8291576" y="38100"/>
                  </a:lnTo>
                  <a:lnTo>
                    <a:pt x="8291576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35697" y="1020952"/>
              <a:ext cx="4907660" cy="4024629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65405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Docker</a:t>
            </a:r>
            <a:r>
              <a:rPr dirty="0" spc="-2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Objects</a:t>
            </a:r>
            <a:r>
              <a:rPr dirty="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:</a:t>
            </a:r>
            <a:r>
              <a:rPr dirty="0" spc="-3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6FC0"/>
                </a:solidFill>
                <a:latin typeface="Arial"/>
                <a:cs typeface="Arial"/>
              </a:rPr>
              <a:t>Images</a:t>
            </a:r>
            <a:r>
              <a:rPr dirty="0" spc="-3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0000"/>
                </a:solidFill>
                <a:latin typeface="Arial"/>
                <a:cs typeface="Arial"/>
              </a:rPr>
              <a:t>-</a:t>
            </a:r>
            <a:r>
              <a:rPr dirty="0" spc="-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000000"/>
                </a:solidFill>
                <a:latin typeface="Arial"/>
                <a:cs typeface="Arial"/>
              </a:rPr>
              <a:t>layers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6484" y="1215999"/>
            <a:ext cx="11503660" cy="5580380"/>
          </a:xfrm>
          <a:prstGeom prst="rect">
            <a:avLst/>
          </a:prstGeom>
        </p:spPr>
        <p:txBody>
          <a:bodyPr wrap="square" lIns="0" tIns="166370" rIns="0" bIns="0" rtlCol="0" vert="horz">
            <a:spAutoFit/>
          </a:bodyPr>
          <a:lstStyle/>
          <a:p>
            <a:pPr marL="372110" indent="-359410">
              <a:lnSpc>
                <a:spcPct val="100000"/>
              </a:lnSpc>
              <a:spcBef>
                <a:spcPts val="1310"/>
              </a:spcBef>
              <a:buChar char="▪"/>
              <a:tabLst>
                <a:tab pos="372110" algn="l"/>
              </a:tabLst>
            </a:pPr>
            <a:r>
              <a:rPr dirty="0" sz="2000" spc="-10">
                <a:latin typeface="Calibri"/>
                <a:cs typeface="Calibri"/>
              </a:rPr>
              <a:t>Specification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Docker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Image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stored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10">
                <a:latin typeface="Calibri"/>
                <a:cs typeface="Calibri"/>
              </a:rPr>
              <a:t> Dockerfile</a:t>
            </a:r>
            <a:endParaRPr sz="20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1210"/>
              </a:spcBef>
              <a:buFont typeface="Arial"/>
              <a:buChar char="•"/>
              <a:tabLst>
                <a:tab pos="733425" algn="l"/>
              </a:tabLst>
            </a:pPr>
            <a:r>
              <a:rPr dirty="0" sz="2000">
                <a:latin typeface="Calibri"/>
                <a:cs typeface="Calibri"/>
              </a:rPr>
              <a:t>Should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only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container</a:t>
            </a:r>
            <a:endParaRPr sz="20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605"/>
              </a:spcBef>
              <a:buFont typeface="Arial"/>
              <a:buChar char="•"/>
              <a:tabLst>
                <a:tab pos="733425" algn="l"/>
              </a:tabLst>
            </a:pPr>
            <a:r>
              <a:rPr dirty="0" sz="2000">
                <a:latin typeface="Calibri"/>
                <a:cs typeface="Calibri"/>
              </a:rPr>
              <a:t>Only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definition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image</a:t>
            </a:r>
            <a:endParaRPr sz="20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670"/>
              </a:spcBef>
              <a:buChar char="▪"/>
              <a:tabLst>
                <a:tab pos="372110" algn="l"/>
              </a:tabLst>
            </a:pPr>
            <a:r>
              <a:rPr dirty="0" sz="2000">
                <a:latin typeface="Calibri"/>
                <a:cs typeface="Calibri"/>
              </a:rPr>
              <a:t>Image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built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Dockerfile</a:t>
            </a:r>
            <a:endParaRPr sz="20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985"/>
              </a:spcBef>
              <a:buChar char="▪"/>
              <a:tabLst>
                <a:tab pos="372110" algn="l"/>
              </a:tabLst>
            </a:pPr>
            <a:r>
              <a:rPr dirty="0" sz="2000">
                <a:latin typeface="Calibri"/>
                <a:cs typeface="Calibri"/>
              </a:rPr>
              <a:t>Specifies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read-</a:t>
            </a:r>
            <a:r>
              <a:rPr dirty="0" sz="2000">
                <a:latin typeface="Calibri"/>
                <a:cs typeface="Calibri"/>
              </a:rPr>
              <a:t>only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file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systems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various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programs</a:t>
            </a:r>
            <a:endParaRPr sz="2000">
              <a:latin typeface="Calibri"/>
              <a:cs typeface="Calibri"/>
            </a:endParaRPr>
          </a:p>
          <a:p>
            <a:pPr marL="372110">
              <a:lnSpc>
                <a:spcPct val="100000"/>
              </a:lnSpc>
              <a:spcBef>
                <a:spcPts val="25"/>
              </a:spcBef>
            </a:pP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installed E.g.</a:t>
            </a:r>
            <a:r>
              <a:rPr dirty="0" sz="2000" spc="3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web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server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+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libraries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275"/>
              </a:spcBef>
              <a:buChar char="▪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Each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instruction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Dockerfile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creates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b="1" i="1">
                <a:solidFill>
                  <a:srgbClr val="C00000"/>
                </a:solidFill>
                <a:latin typeface="Calibri"/>
                <a:cs typeface="Calibri"/>
              </a:rPr>
              <a:t>layer</a:t>
            </a:r>
            <a:r>
              <a:rPr dirty="0" sz="2000" spc="-60" b="1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image.</a:t>
            </a:r>
            <a:endParaRPr sz="2000">
              <a:latin typeface="Calibri"/>
              <a:cs typeface="Calibri"/>
            </a:endParaRPr>
          </a:p>
          <a:p>
            <a:pPr marL="355600" marR="5024120" indent="-343535">
              <a:lnSpc>
                <a:spcPct val="120000"/>
              </a:lnSpc>
              <a:spcBef>
                <a:spcPts val="600"/>
              </a:spcBef>
              <a:buChar char="▪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layer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files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file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metadata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packaged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and </a:t>
            </a:r>
            <a:r>
              <a:rPr dirty="0" sz="2000" spc="-10">
                <a:latin typeface="Calibri"/>
                <a:cs typeface="Calibri"/>
              </a:rPr>
              <a:t>distributed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atomic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unit.</a:t>
            </a:r>
            <a:endParaRPr sz="20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805"/>
              </a:spcBef>
              <a:buFont typeface="Arial"/>
              <a:buChar char="•"/>
              <a:tabLst>
                <a:tab pos="733425" algn="l"/>
              </a:tabLst>
            </a:pPr>
            <a:r>
              <a:rPr dirty="0" sz="2000">
                <a:latin typeface="Calibri"/>
                <a:cs typeface="Calibri"/>
              </a:rPr>
              <a:t>Internally,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Docker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treats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each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layer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like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image,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layers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often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called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intermediate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images.</a:t>
            </a:r>
            <a:endParaRPr sz="20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733425" algn="l"/>
              </a:tabLst>
            </a:pPr>
            <a:r>
              <a:rPr dirty="0" sz="2000">
                <a:latin typeface="Calibri"/>
                <a:cs typeface="Calibri"/>
              </a:rPr>
              <a:t>You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even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promote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layer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image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tagging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it.</a:t>
            </a:r>
            <a:endParaRPr sz="20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733425" algn="l"/>
              </a:tabLst>
            </a:pPr>
            <a:r>
              <a:rPr dirty="0" sz="2000">
                <a:latin typeface="Calibri"/>
                <a:cs typeface="Calibri"/>
              </a:rPr>
              <a:t>Most</a:t>
            </a:r>
            <a:r>
              <a:rPr dirty="0" sz="2000" spc="3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layers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build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upon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parent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layer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applying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filesystem changes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parent.</a:t>
            </a:r>
            <a:endParaRPr sz="20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590"/>
              </a:spcBef>
              <a:buFont typeface="Arial"/>
              <a:buChar char="•"/>
              <a:tabLst>
                <a:tab pos="733425" algn="l"/>
              </a:tabLst>
            </a:pPr>
            <a:r>
              <a:rPr dirty="0" sz="2000">
                <a:latin typeface="Calibri"/>
                <a:cs typeface="Calibri"/>
              </a:rPr>
              <a:t>Whenever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there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change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Dockerfile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image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rebuilt,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only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b="1" i="1">
                <a:latin typeface="Calibri"/>
                <a:cs typeface="Calibri"/>
              </a:rPr>
              <a:t>incremental</a:t>
            </a:r>
            <a:r>
              <a:rPr dirty="0" sz="2000" spc="-50" b="1" i="1">
                <a:latin typeface="Calibri"/>
                <a:cs typeface="Calibri"/>
              </a:rPr>
              <a:t> </a:t>
            </a:r>
            <a:r>
              <a:rPr dirty="0" sz="2000" b="1" i="1">
                <a:latin typeface="Calibri"/>
                <a:cs typeface="Calibri"/>
              </a:rPr>
              <a:t>changes</a:t>
            </a:r>
            <a:r>
              <a:rPr dirty="0" sz="2000" spc="-50" b="1" i="1">
                <a:latin typeface="Calibri"/>
                <a:cs typeface="Calibri"/>
              </a:rPr>
              <a:t> </a:t>
            </a:r>
            <a:r>
              <a:rPr dirty="0" sz="2000" spc="-25" b="1" i="1">
                <a:latin typeface="Calibri"/>
                <a:cs typeface="Calibri"/>
              </a:rPr>
              <a:t>are</a:t>
            </a:r>
            <a:endParaRPr sz="2000">
              <a:latin typeface="Calibri"/>
              <a:cs typeface="Calibri"/>
            </a:endParaRPr>
          </a:p>
          <a:p>
            <a:pPr marL="733425">
              <a:lnSpc>
                <a:spcPct val="100000"/>
              </a:lnSpc>
            </a:pPr>
            <a:r>
              <a:rPr dirty="0" sz="2000" b="1" i="1">
                <a:latin typeface="Calibri"/>
                <a:cs typeface="Calibri"/>
              </a:rPr>
              <a:t>rebuilt</a:t>
            </a:r>
            <a:r>
              <a:rPr dirty="0" sz="2000" spc="-65" b="1" i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(making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light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weight,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small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fast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when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compared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other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virtualized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technologies)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6334" y="233994"/>
            <a:ext cx="6575425" cy="847090"/>
          </a:xfrm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2225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Docker</a:t>
            </a:r>
            <a:r>
              <a:rPr dirty="0" spc="-3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Objects</a:t>
            </a:r>
            <a:r>
              <a:rPr dirty="0" spc="-5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:</a:t>
            </a:r>
            <a:r>
              <a:rPr dirty="0" spc="-4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6FC0"/>
                </a:solidFill>
                <a:latin typeface="Arial"/>
                <a:cs typeface="Arial"/>
              </a:rPr>
              <a:t>Images</a:t>
            </a:r>
            <a:r>
              <a:rPr dirty="0" spc="-4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&amp;</a:t>
            </a:r>
            <a:r>
              <a:rPr dirty="0" spc="-4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0000"/>
                </a:solidFill>
                <a:latin typeface="Arial"/>
                <a:cs typeface="Arial"/>
              </a:rPr>
              <a:t>Docker</a:t>
            </a:r>
            <a:r>
              <a:rPr dirty="0" spc="-3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000000"/>
                </a:solidFill>
                <a:latin typeface="Arial"/>
                <a:cs typeface="Arial"/>
              </a:rPr>
              <a:t>Registries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7720965" cy="38100"/>
          </a:xfrm>
          <a:custGeom>
            <a:avLst/>
            <a:gdLst/>
            <a:ahLst/>
            <a:cxnLst/>
            <a:rect l="l" t="t" r="r" b="b"/>
            <a:pathLst>
              <a:path w="7720965" h="38100">
                <a:moveTo>
                  <a:pt x="7720457" y="0"/>
                </a:moveTo>
                <a:lnTo>
                  <a:pt x="0" y="0"/>
                </a:lnTo>
                <a:lnTo>
                  <a:pt x="0" y="38100"/>
                </a:lnTo>
                <a:lnTo>
                  <a:pt x="7720457" y="38100"/>
                </a:lnTo>
                <a:lnTo>
                  <a:pt x="7720457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86334" y="1262938"/>
            <a:ext cx="6648450" cy="5594985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381635" indent="-359410">
              <a:lnSpc>
                <a:spcPct val="100000"/>
              </a:lnSpc>
              <a:spcBef>
                <a:spcPts val="509"/>
              </a:spcBef>
              <a:buChar char="▪"/>
              <a:tabLst>
                <a:tab pos="381635" algn="l"/>
              </a:tabLst>
            </a:pPr>
            <a:r>
              <a:rPr dirty="0" sz="2000">
                <a:latin typeface="Calibri"/>
                <a:cs typeface="Calibri"/>
              </a:rPr>
              <a:t>Image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+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temporary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R/W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file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system</a:t>
            </a:r>
            <a:endParaRPr sz="2000">
              <a:latin typeface="Calibri"/>
              <a:cs typeface="Calibri"/>
            </a:endParaRPr>
          </a:p>
          <a:p>
            <a:pPr lvl="1" marL="742950" indent="-361315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742950" algn="l"/>
              </a:tabLst>
            </a:pPr>
            <a:r>
              <a:rPr dirty="0" sz="2000">
                <a:latin typeface="Calibri"/>
                <a:cs typeface="Calibri"/>
              </a:rPr>
              <a:t>Used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temporary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storage</a:t>
            </a:r>
            <a:endParaRPr sz="2000">
              <a:latin typeface="Calibri"/>
              <a:cs typeface="Calibri"/>
            </a:endParaRPr>
          </a:p>
          <a:p>
            <a:pPr lvl="1" marL="742950" indent="-36131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742950" algn="l"/>
              </a:tabLst>
            </a:pPr>
            <a:r>
              <a:rPr dirty="0" sz="2000">
                <a:latin typeface="Calibri"/>
                <a:cs typeface="Calibri"/>
              </a:rPr>
              <a:t>Deleted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when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container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destroyed</a:t>
            </a:r>
            <a:endParaRPr sz="2000">
              <a:latin typeface="Calibri"/>
              <a:cs typeface="Calibri"/>
            </a:endParaRPr>
          </a:p>
          <a:p>
            <a:pPr marL="381635" indent="-359410">
              <a:lnSpc>
                <a:spcPct val="100000"/>
              </a:lnSpc>
              <a:spcBef>
                <a:spcPts val="575"/>
              </a:spcBef>
              <a:buChar char="▪"/>
              <a:tabLst>
                <a:tab pos="381635" algn="l"/>
              </a:tabLst>
            </a:pPr>
            <a:r>
              <a:rPr dirty="0" sz="2000">
                <a:latin typeface="Calibri"/>
                <a:cs typeface="Calibri"/>
              </a:rPr>
              <a:t>Multiple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containers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same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image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&amp;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their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own</a:t>
            </a:r>
            <a:endParaRPr sz="2000">
              <a:latin typeface="Calibri"/>
              <a:cs typeface="Calibri"/>
            </a:endParaRPr>
          </a:p>
          <a:p>
            <a:pPr marL="381635">
              <a:lnSpc>
                <a:spcPct val="100000"/>
              </a:lnSpc>
              <a:spcBef>
                <a:spcPts val="25"/>
              </a:spcBef>
            </a:pPr>
            <a:r>
              <a:rPr dirty="0" sz="2000">
                <a:latin typeface="Calibri"/>
                <a:cs typeface="Calibri"/>
              </a:rPr>
              <a:t>temporary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storage</a:t>
            </a:r>
            <a:endParaRPr sz="2000">
              <a:latin typeface="Calibri"/>
              <a:cs typeface="Calibri"/>
            </a:endParaRPr>
          </a:p>
          <a:p>
            <a:pPr marL="22225">
              <a:lnSpc>
                <a:spcPct val="100000"/>
              </a:lnSpc>
              <a:spcBef>
                <a:spcPts val="1290"/>
              </a:spcBef>
            </a:pP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Docker</a:t>
            </a:r>
            <a:r>
              <a:rPr dirty="0" sz="2200" spc="-5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spc="-10" b="1">
                <a:solidFill>
                  <a:srgbClr val="006FC0"/>
                </a:solidFill>
                <a:latin typeface="Calibri"/>
                <a:cs typeface="Calibri"/>
              </a:rPr>
              <a:t>registries:</a:t>
            </a:r>
            <a:endParaRPr sz="2200">
              <a:latin typeface="Calibri"/>
              <a:cs typeface="Calibri"/>
            </a:endParaRPr>
          </a:p>
          <a:p>
            <a:pPr marL="381635" indent="-359410">
              <a:lnSpc>
                <a:spcPct val="100000"/>
              </a:lnSpc>
              <a:spcBef>
                <a:spcPts val="334"/>
              </a:spcBef>
              <a:buFont typeface="Arial"/>
              <a:buChar char="•"/>
              <a:tabLst>
                <a:tab pos="381635" algn="l"/>
              </a:tabLst>
            </a:pP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Docker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registry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stores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Docker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images.</a:t>
            </a:r>
            <a:endParaRPr sz="2000">
              <a:latin typeface="Calibri"/>
              <a:cs typeface="Calibri"/>
            </a:endParaRPr>
          </a:p>
          <a:p>
            <a:pPr marL="381635" marR="327025" indent="-360045">
              <a:lnSpc>
                <a:spcPct val="110000"/>
              </a:lnSpc>
              <a:buClr>
                <a:srgbClr val="000000"/>
              </a:buClr>
              <a:buFont typeface="Arial"/>
              <a:buChar char="•"/>
              <a:tabLst>
                <a:tab pos="381635" algn="l"/>
              </a:tabLst>
            </a:pPr>
            <a:r>
              <a:rPr dirty="0" sz="2000" b="1" i="1">
                <a:solidFill>
                  <a:srgbClr val="C00000"/>
                </a:solidFill>
                <a:latin typeface="Calibri"/>
                <a:cs typeface="Calibri"/>
              </a:rPr>
              <a:t>Docker</a:t>
            </a:r>
            <a:r>
              <a:rPr dirty="0" sz="2000" spc="-40" b="1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 i="1">
                <a:solidFill>
                  <a:srgbClr val="C00000"/>
                </a:solidFill>
                <a:latin typeface="Calibri"/>
                <a:cs typeface="Calibri"/>
              </a:rPr>
              <a:t>Hub</a:t>
            </a:r>
            <a:r>
              <a:rPr dirty="0" sz="2000" spc="-55" b="1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public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registry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anyone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use,</a:t>
            </a:r>
            <a:r>
              <a:rPr dirty="0" sz="2000" spc="-25">
                <a:latin typeface="Calibri"/>
                <a:cs typeface="Calibri"/>
              </a:rPr>
              <a:t> and </a:t>
            </a:r>
            <a:r>
              <a:rPr dirty="0" sz="2000">
                <a:latin typeface="Calibri"/>
                <a:cs typeface="Calibri"/>
              </a:rPr>
              <a:t>Docker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configured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look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images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Docker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Hub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by </a:t>
            </a:r>
            <a:r>
              <a:rPr dirty="0" sz="2000" spc="-10">
                <a:latin typeface="Calibri"/>
                <a:cs typeface="Calibri"/>
              </a:rPr>
              <a:t>default.</a:t>
            </a:r>
            <a:endParaRPr sz="2000">
              <a:latin typeface="Calibri"/>
              <a:cs typeface="Calibri"/>
            </a:endParaRPr>
          </a:p>
          <a:p>
            <a:pPr marL="381635" indent="-359410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381635" algn="l"/>
              </a:tabLst>
            </a:pPr>
            <a:r>
              <a:rPr dirty="0" sz="2000">
                <a:latin typeface="Calibri"/>
                <a:cs typeface="Calibri"/>
              </a:rPr>
              <a:t>You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even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run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own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b="1" i="1">
                <a:solidFill>
                  <a:srgbClr val="C00000"/>
                </a:solidFill>
                <a:latin typeface="Calibri"/>
                <a:cs typeface="Calibri"/>
              </a:rPr>
              <a:t>private</a:t>
            </a:r>
            <a:r>
              <a:rPr dirty="0" sz="2000" spc="-35" b="1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 i="1">
                <a:solidFill>
                  <a:srgbClr val="C00000"/>
                </a:solidFill>
                <a:latin typeface="Calibri"/>
                <a:cs typeface="Calibri"/>
              </a:rPr>
              <a:t>registry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381635" marR="5080" indent="-360045">
              <a:lnSpc>
                <a:spcPts val="2640"/>
              </a:lnSpc>
              <a:spcBef>
                <a:spcPts val="125"/>
              </a:spcBef>
              <a:buFont typeface="Arial"/>
              <a:buChar char="•"/>
              <a:tabLst>
                <a:tab pos="381635" algn="l"/>
              </a:tabLst>
            </a:pPr>
            <a:r>
              <a:rPr dirty="0" sz="2000">
                <a:latin typeface="Calibri"/>
                <a:cs typeface="Calibri"/>
              </a:rPr>
              <a:t>When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docker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pull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or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docker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run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commands,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>
                <a:latin typeface="Calibri"/>
                <a:cs typeface="Calibri"/>
              </a:rPr>
              <a:t>required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images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pulled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your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configured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registry.</a:t>
            </a:r>
            <a:endParaRPr sz="2000">
              <a:latin typeface="Calibri"/>
              <a:cs typeface="Calibri"/>
            </a:endParaRPr>
          </a:p>
          <a:p>
            <a:pPr marL="381635" marR="469900" indent="-360045">
              <a:lnSpc>
                <a:spcPts val="2640"/>
              </a:lnSpc>
              <a:spcBef>
                <a:spcPts val="5"/>
              </a:spcBef>
              <a:buFont typeface="Arial"/>
              <a:buChar char="•"/>
              <a:tabLst>
                <a:tab pos="381635" algn="l"/>
              </a:tabLst>
            </a:pPr>
            <a:r>
              <a:rPr dirty="0" sz="2000">
                <a:latin typeface="Calibri"/>
                <a:cs typeface="Calibri"/>
              </a:rPr>
              <a:t>When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docker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push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command,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image</a:t>
            </a:r>
            <a:r>
              <a:rPr dirty="0" sz="2000" spc="-25">
                <a:latin typeface="Calibri"/>
                <a:cs typeface="Calibri"/>
              </a:rPr>
              <a:t> is </a:t>
            </a:r>
            <a:r>
              <a:rPr dirty="0" sz="2000">
                <a:latin typeface="Calibri"/>
                <a:cs typeface="Calibri"/>
              </a:rPr>
              <a:t>pushed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configured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registry.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400" spc="-10">
                <a:latin typeface="Arial"/>
                <a:cs typeface="Arial"/>
                <a:hlinkClick r:id="rId2"/>
              </a:rPr>
              <a:t>https://docs.docker.com/storage/storagedriver/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23125" y="493648"/>
            <a:ext cx="3986657" cy="3213354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6743700" y="3803015"/>
            <a:ext cx="5448300" cy="0"/>
          </a:xfrm>
          <a:custGeom>
            <a:avLst/>
            <a:gdLst/>
            <a:ahLst/>
            <a:cxnLst/>
            <a:rect l="l" t="t" r="r" b="b"/>
            <a:pathLst>
              <a:path w="5448300" h="0">
                <a:moveTo>
                  <a:pt x="0" y="0"/>
                </a:moveTo>
                <a:lnTo>
                  <a:pt x="5448300" y="0"/>
                </a:lnTo>
              </a:path>
            </a:pathLst>
          </a:custGeom>
          <a:ln w="28575">
            <a:solidFill>
              <a:srgbClr val="3D6DC2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17181" y="3877722"/>
            <a:ext cx="5243208" cy="2958211"/>
          </a:xfrm>
          <a:prstGeom prst="rect">
            <a:avLst/>
          </a:prstGeom>
        </p:spPr>
      </p:pic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65405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Docker</a:t>
            </a:r>
            <a:r>
              <a:rPr dirty="0" spc="-3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Objects</a:t>
            </a:r>
            <a:r>
              <a:rPr dirty="0" spc="-4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:</a:t>
            </a:r>
            <a:r>
              <a:rPr dirty="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006FC0"/>
                </a:solidFill>
                <a:latin typeface="Arial"/>
                <a:cs typeface="Arial"/>
              </a:rPr>
              <a:t>Containers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2500" y="1216405"/>
            <a:ext cx="3548634" cy="17367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44830" y="1308963"/>
            <a:ext cx="11645265" cy="5528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3454400" indent="-342900">
              <a:lnSpc>
                <a:spcPct val="120000"/>
              </a:lnSpc>
              <a:spcBef>
                <a:spcPts val="100"/>
              </a:spcBef>
              <a:buChar char="▪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Docker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Containers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ready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applications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created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Docker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Images. </a:t>
            </a:r>
            <a:r>
              <a:rPr dirty="0" sz="2000" b="1">
                <a:solidFill>
                  <a:srgbClr val="006FC0"/>
                </a:solidFill>
                <a:latin typeface="Calibri"/>
                <a:cs typeface="Calibri"/>
              </a:rPr>
              <a:t>Or</a:t>
            </a:r>
            <a:r>
              <a:rPr dirty="0" sz="2000" spc="-3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say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they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running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instances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Images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they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hold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>
                <a:latin typeface="Calibri"/>
                <a:cs typeface="Calibri"/>
              </a:rPr>
              <a:t>entire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package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needed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run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application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6FC0"/>
                </a:solidFill>
                <a:latin typeface="Calibri"/>
                <a:cs typeface="Calibri"/>
              </a:rPr>
              <a:t>Or</a:t>
            </a:r>
            <a:r>
              <a:rPr dirty="0" sz="2000" spc="-3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could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also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looked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at</a:t>
            </a:r>
            <a:r>
              <a:rPr dirty="0" sz="2000" spc="5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runnable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instance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image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6FC0"/>
                </a:solidFill>
                <a:latin typeface="Calibri"/>
                <a:cs typeface="Calibri"/>
              </a:rPr>
              <a:t>Or</a:t>
            </a:r>
            <a:r>
              <a:rPr dirty="0" sz="2000" spc="-4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execution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environment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(sandbox).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Char char="▪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We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create,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start,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stop,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move,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delete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container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using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Docker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API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CLI.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Char char="▪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container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connected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more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networks.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Storage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could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attached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it,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even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new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image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480"/>
              </a:spcBef>
            </a:pPr>
            <a:r>
              <a:rPr dirty="0" sz="2000">
                <a:latin typeface="Calibri"/>
                <a:cs typeface="Calibri"/>
              </a:rPr>
              <a:t>could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created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based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current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state.</a:t>
            </a:r>
            <a:endParaRPr sz="2000">
              <a:latin typeface="Calibri"/>
              <a:cs typeface="Calibri"/>
            </a:endParaRPr>
          </a:p>
          <a:p>
            <a:pPr marL="355600" marR="54610" indent="-342900">
              <a:lnSpc>
                <a:spcPct val="120100"/>
              </a:lnSpc>
              <a:spcBef>
                <a:spcPts val="595"/>
              </a:spcBef>
              <a:buChar char="▪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container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relatively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well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isolated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other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containers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host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machine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isolation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also</a:t>
            </a:r>
            <a:r>
              <a:rPr dirty="0" sz="2000">
                <a:latin typeface="Calibri"/>
                <a:cs typeface="Calibri"/>
              </a:rPr>
              <a:t> be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controlled.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Processes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container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cannot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access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non-shared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objects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other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containers,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only </a:t>
            </a:r>
            <a:r>
              <a:rPr dirty="0" sz="2000">
                <a:latin typeface="Calibri"/>
                <a:cs typeface="Calibri"/>
              </a:rPr>
              <a:t>access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subset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objects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(like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files)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physical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machine.</a:t>
            </a:r>
            <a:endParaRPr sz="2000">
              <a:latin typeface="Calibri"/>
              <a:cs typeface="Calibri"/>
            </a:endParaRPr>
          </a:p>
          <a:p>
            <a:pPr marL="355600" marR="760095" indent="-342900">
              <a:lnSpc>
                <a:spcPct val="120000"/>
              </a:lnSpc>
              <a:spcBef>
                <a:spcPts val="600"/>
              </a:spcBef>
              <a:buChar char="▪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Docker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creates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name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spaces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when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container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created.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These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namespaces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restrict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what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>
                <a:latin typeface="Calibri"/>
                <a:cs typeface="Calibri"/>
              </a:rPr>
              <a:t>objects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processes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container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e.g.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subset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files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Char char="▪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container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defined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image</a:t>
            </a:r>
            <a:r>
              <a:rPr dirty="0" sz="2000" spc="409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configuration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options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provided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when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created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started.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484"/>
              </a:spcBef>
            </a:pPr>
            <a:r>
              <a:rPr dirty="0" sz="2000">
                <a:latin typeface="Calibri"/>
                <a:cs typeface="Calibri"/>
              </a:rPr>
              <a:t>When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container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removed,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changes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state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stored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persistent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storage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will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disappear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8260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380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285"/>
              </a:spcBef>
            </a:pPr>
            <a:r>
              <a:rPr dirty="0">
                <a:solidFill>
                  <a:srgbClr val="C55A11"/>
                </a:solidFill>
              </a:rPr>
              <a:t>Docker</a:t>
            </a:r>
            <a:r>
              <a:rPr dirty="0" spc="-7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running</a:t>
            </a:r>
            <a:r>
              <a:rPr dirty="0" spc="-4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three</a:t>
            </a:r>
            <a:r>
              <a:rPr dirty="0" spc="-35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containers</a:t>
            </a:r>
            <a:r>
              <a:rPr dirty="0" spc="-55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on</a:t>
            </a:r>
            <a:r>
              <a:rPr dirty="0" spc="-45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a</a:t>
            </a:r>
            <a:r>
              <a:rPr dirty="0" spc="-55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basic</a:t>
            </a:r>
            <a:r>
              <a:rPr dirty="0" spc="-45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Linux</a:t>
            </a:r>
            <a:r>
              <a:rPr dirty="0" spc="-6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computer</a:t>
            </a:r>
            <a:r>
              <a:rPr dirty="0" spc="-45">
                <a:solidFill>
                  <a:srgbClr val="C55A11"/>
                </a:solidFill>
              </a:rPr>
              <a:t> </a:t>
            </a:r>
            <a:r>
              <a:rPr dirty="0" spc="-10">
                <a:solidFill>
                  <a:srgbClr val="C55A11"/>
                </a:solidFill>
              </a:rPr>
              <a:t>system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07340" y="1445513"/>
            <a:ext cx="4845685" cy="25552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55600" marR="789940" indent="-342900">
              <a:lnSpc>
                <a:spcPct val="100499"/>
              </a:lnSpc>
              <a:spcBef>
                <a:spcPts val="90"/>
              </a:spcBef>
              <a:buChar char="▪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Running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Docker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means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running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two </a:t>
            </a:r>
            <a:r>
              <a:rPr dirty="0" sz="2000">
                <a:latin typeface="Calibri"/>
                <a:cs typeface="Calibri"/>
              </a:rPr>
              <a:t>programs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user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space.</a:t>
            </a:r>
            <a:endParaRPr sz="2000">
              <a:latin typeface="Calibri"/>
              <a:cs typeface="Calibri"/>
            </a:endParaRPr>
          </a:p>
          <a:p>
            <a:pPr lvl="1" marL="733425" marR="606425" indent="-361315">
              <a:lnSpc>
                <a:spcPct val="120100"/>
              </a:lnSpc>
              <a:spcBef>
                <a:spcPts val="95"/>
              </a:spcBef>
              <a:buFont typeface="Arial"/>
              <a:buChar char="•"/>
              <a:tabLst>
                <a:tab pos="733425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first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Docker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engine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that </a:t>
            </a:r>
            <a:r>
              <a:rPr dirty="0" sz="2000">
                <a:latin typeface="Calibri"/>
                <a:cs typeface="Calibri"/>
              </a:rPr>
              <a:t>should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always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running.</a:t>
            </a:r>
            <a:endParaRPr sz="2000">
              <a:latin typeface="Calibri"/>
              <a:cs typeface="Calibri"/>
            </a:endParaRPr>
          </a:p>
          <a:p>
            <a:pPr lvl="1" marL="733425" marR="5080" indent="-361315">
              <a:lnSpc>
                <a:spcPct val="120000"/>
              </a:lnSpc>
              <a:spcBef>
                <a:spcPts val="600"/>
              </a:spcBef>
              <a:buFont typeface="Arial"/>
              <a:buChar char="•"/>
              <a:tabLst>
                <a:tab pos="733425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second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Docker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CLI.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>
                <a:latin typeface="Calibri"/>
                <a:cs typeface="Calibri"/>
              </a:rPr>
              <a:t>Docker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program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users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interact</a:t>
            </a:r>
            <a:r>
              <a:rPr dirty="0" sz="2000" spc="5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start,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stop,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install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software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 descr="Chapter 1. Welcome to Docker - Docker in Action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53328" y="1516125"/>
            <a:ext cx="6529832" cy="36241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07340" y="4036821"/>
            <a:ext cx="4838700" cy="2661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200"/>
              </a:lnSpc>
              <a:spcBef>
                <a:spcPts val="100"/>
              </a:spcBef>
              <a:buChar char="▪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Each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container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running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child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process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Docker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engine,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wrapped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50">
                <a:latin typeface="Calibri"/>
                <a:cs typeface="Calibri"/>
              </a:rPr>
              <a:t>a </a:t>
            </a:r>
            <a:r>
              <a:rPr dirty="0" sz="2000">
                <a:latin typeface="Calibri"/>
                <a:cs typeface="Calibri"/>
              </a:rPr>
              <a:t>container,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delegate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process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is </a:t>
            </a:r>
            <a:r>
              <a:rPr dirty="0" sz="2000">
                <a:latin typeface="Calibri"/>
                <a:cs typeface="Calibri"/>
              </a:rPr>
              <a:t>running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its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own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memory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subspace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>
                <a:latin typeface="Calibri"/>
                <a:cs typeface="Calibri"/>
              </a:rPr>
              <a:t>user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space.</a:t>
            </a:r>
            <a:endParaRPr sz="2000">
              <a:latin typeface="Calibri"/>
              <a:cs typeface="Calibri"/>
            </a:endParaRPr>
          </a:p>
          <a:p>
            <a:pPr lvl="1" marL="733425" marR="85090" indent="-361315">
              <a:lnSpc>
                <a:spcPct val="120000"/>
              </a:lnSpc>
              <a:spcBef>
                <a:spcPts val="95"/>
              </a:spcBef>
              <a:buFont typeface="Arial"/>
              <a:buChar char="•"/>
              <a:tabLst>
                <a:tab pos="733425" algn="l"/>
              </a:tabLst>
            </a:pPr>
            <a:r>
              <a:rPr dirty="0" sz="2000">
                <a:latin typeface="Calibri"/>
                <a:cs typeface="Calibri"/>
              </a:rPr>
              <a:t>Programs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running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inside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container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access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only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their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own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memory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and </a:t>
            </a:r>
            <a:r>
              <a:rPr dirty="0" sz="2000">
                <a:latin typeface="Calibri"/>
                <a:cs typeface="Calibri"/>
              </a:rPr>
              <a:t>resources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scoped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container.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97244" y="5559653"/>
            <a:ext cx="5451475" cy="9423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299"/>
              </a:lnSpc>
              <a:spcBef>
                <a:spcPts val="95"/>
              </a:spcBef>
            </a:pPr>
            <a:r>
              <a:rPr dirty="0" sz="2000">
                <a:latin typeface="Calibri"/>
                <a:cs typeface="Calibri"/>
              </a:rPr>
              <a:t>Docker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looked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at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set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PaaS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products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OS-</a:t>
            </a:r>
            <a:r>
              <a:rPr dirty="0" sz="2000">
                <a:latin typeface="Calibri"/>
                <a:cs typeface="Calibri"/>
              </a:rPr>
              <a:t>level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virtualization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deliver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software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in </a:t>
            </a:r>
            <a:r>
              <a:rPr dirty="0" sz="2000">
                <a:latin typeface="Calibri"/>
                <a:cs typeface="Calibri"/>
              </a:rPr>
              <a:t>packages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called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containers.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59690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Running</a:t>
            </a:r>
            <a:r>
              <a:rPr dirty="0" spc="-3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a</a:t>
            </a:r>
            <a:r>
              <a:rPr dirty="0" spc="-2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program</a:t>
            </a:r>
            <a:r>
              <a:rPr dirty="0" spc="-2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with</a:t>
            </a:r>
            <a:r>
              <a:rPr dirty="0" spc="-6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Docker</a:t>
            </a:r>
          </a:p>
        </p:txBody>
      </p:sp>
      <p:sp>
        <p:nvSpPr>
          <p:cNvPr id="6" name="object 6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0200" y="1430528"/>
            <a:ext cx="3761104" cy="50076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har char="▪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What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happens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after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running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ts val="2635"/>
              </a:lnSpc>
              <a:spcBef>
                <a:spcPts val="10"/>
              </a:spcBef>
            </a:pPr>
            <a:r>
              <a:rPr dirty="0" sz="2200" b="1">
                <a:latin typeface="Calibri"/>
                <a:cs typeface="Calibri"/>
              </a:rPr>
              <a:t>docker</a:t>
            </a:r>
            <a:r>
              <a:rPr dirty="0" sz="2200" spc="-60" b="1">
                <a:latin typeface="Calibri"/>
                <a:cs typeface="Calibri"/>
              </a:rPr>
              <a:t> </a:t>
            </a:r>
            <a:r>
              <a:rPr dirty="0" sz="2200" spc="-25" b="1">
                <a:latin typeface="Calibri"/>
                <a:cs typeface="Calibri"/>
              </a:rPr>
              <a:t>run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ts val="2635"/>
              </a:lnSpc>
              <a:buChar char="▪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image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itself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collection</a:t>
            </a:r>
            <a:endParaRPr sz="2200">
              <a:latin typeface="Calibri"/>
              <a:cs typeface="Calibri"/>
            </a:endParaRPr>
          </a:p>
          <a:p>
            <a:pPr marL="355600" marR="17780">
              <a:lnSpc>
                <a:spcPct val="100000"/>
              </a:lnSpc>
              <a:spcBef>
                <a:spcPts val="5"/>
              </a:spcBef>
            </a:pP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files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metadata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which </a:t>
            </a:r>
            <a:r>
              <a:rPr dirty="0" sz="2200">
                <a:latin typeface="Calibri"/>
                <a:cs typeface="Calibri"/>
              </a:rPr>
              <a:t>includes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specific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program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execute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other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relevant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0"/>
              </a:spcBef>
            </a:pPr>
            <a:r>
              <a:rPr dirty="0" sz="2200">
                <a:latin typeface="Calibri"/>
                <a:cs typeface="Calibri"/>
              </a:rPr>
              <a:t>configuration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details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85"/>
              </a:spcBef>
            </a:pPr>
            <a:endParaRPr sz="2200">
              <a:latin typeface="Calibri"/>
              <a:cs typeface="Calibri"/>
            </a:endParaRPr>
          </a:p>
          <a:p>
            <a:pPr lvl="1" marL="442595" marR="890269" indent="-342900">
              <a:lnSpc>
                <a:spcPct val="100499"/>
              </a:lnSpc>
              <a:buChar char="▪"/>
              <a:tabLst>
                <a:tab pos="442595" algn="l"/>
              </a:tabLst>
            </a:pPr>
            <a:r>
              <a:rPr dirty="0" sz="2200">
                <a:latin typeface="Calibri"/>
                <a:cs typeface="Calibri"/>
              </a:rPr>
              <a:t>Running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50">
                <a:latin typeface="Calibri"/>
                <a:cs typeface="Calibri"/>
              </a:rPr>
              <a:t>a </a:t>
            </a:r>
            <a:r>
              <a:rPr dirty="0" sz="2200">
                <a:latin typeface="Calibri"/>
                <a:cs typeface="Calibri"/>
              </a:rPr>
              <a:t>second</a:t>
            </a:r>
            <a:r>
              <a:rPr dirty="0" sz="2200" spc="-8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time.</a:t>
            </a:r>
            <a:endParaRPr sz="2200">
              <a:latin typeface="Calibri"/>
              <a:cs typeface="Calibri"/>
            </a:endParaRPr>
          </a:p>
          <a:p>
            <a:pPr lvl="1" marL="442595" marR="45085" indent="-342900">
              <a:lnSpc>
                <a:spcPts val="2640"/>
              </a:lnSpc>
              <a:spcBef>
                <a:spcPts val="80"/>
              </a:spcBef>
              <a:buChar char="▪"/>
              <a:tabLst>
                <a:tab pos="442595" algn="l"/>
              </a:tabLst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image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already </a:t>
            </a:r>
            <a:r>
              <a:rPr dirty="0" sz="2200">
                <a:latin typeface="Calibri"/>
                <a:cs typeface="Calibri"/>
              </a:rPr>
              <a:t>installed,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so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start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new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container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right</a:t>
            </a:r>
            <a:endParaRPr sz="2200">
              <a:latin typeface="Calibri"/>
              <a:cs typeface="Calibri"/>
            </a:endParaRPr>
          </a:p>
          <a:p>
            <a:pPr marL="442595">
              <a:lnSpc>
                <a:spcPts val="2565"/>
              </a:lnSpc>
            </a:pPr>
            <a:r>
              <a:rPr dirty="0" sz="2200" spc="-10">
                <a:latin typeface="Calibri"/>
                <a:cs typeface="Calibri"/>
              </a:rPr>
              <a:t>away.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62458" y="1698672"/>
            <a:ext cx="7222296" cy="227824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484746" y="4297298"/>
            <a:ext cx="11424920" cy="0"/>
          </a:xfrm>
          <a:custGeom>
            <a:avLst/>
            <a:gdLst/>
            <a:ahLst/>
            <a:cxnLst/>
            <a:rect l="l" t="t" r="r" b="b"/>
            <a:pathLst>
              <a:path w="11424920" h="0">
                <a:moveTo>
                  <a:pt x="0" y="0"/>
                </a:moveTo>
                <a:lnTo>
                  <a:pt x="11424424" y="0"/>
                </a:lnTo>
              </a:path>
            </a:pathLst>
          </a:custGeom>
          <a:ln w="28575">
            <a:solidFill>
              <a:srgbClr val="3D6DC2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58938" y="5084913"/>
            <a:ext cx="7362102" cy="1016329"/>
          </a:xfrm>
          <a:prstGeom prst="rect">
            <a:avLst/>
          </a:prstGeom>
        </p:spPr>
      </p:pic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150" rIns="0" bIns="0" rtlCol="0" vert="horz">
            <a:spAutoFit/>
          </a:bodyPr>
          <a:lstStyle/>
          <a:p>
            <a:pPr marL="50165">
              <a:lnSpc>
                <a:spcPct val="100000"/>
              </a:lnSpc>
              <a:spcBef>
                <a:spcPts val="450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9845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Namespaces</a:t>
            </a:r>
            <a:r>
              <a:rPr dirty="0" spc="-1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–</a:t>
            </a:r>
            <a:r>
              <a:rPr dirty="0" spc="-4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What’s</a:t>
            </a:r>
            <a:r>
              <a:rPr dirty="0" spc="-6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in</a:t>
            </a:r>
            <a:r>
              <a:rPr dirty="0" spc="-5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a</a:t>
            </a:r>
            <a:r>
              <a:rPr dirty="0" spc="-5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Name</a:t>
            </a:r>
            <a:r>
              <a:rPr dirty="0" spc="-3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in</a:t>
            </a:r>
            <a:r>
              <a:rPr dirty="0" spc="-4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25">
                <a:solidFill>
                  <a:srgbClr val="C55A11"/>
                </a:solidFill>
                <a:latin typeface="Arial"/>
                <a:cs typeface="Arial"/>
              </a:rPr>
              <a:t>CS?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04994" y="2023037"/>
            <a:ext cx="3064195" cy="457091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69849" y="1351968"/>
            <a:ext cx="10721340" cy="5046980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75"/>
              </a:spcBef>
              <a:buSzPct val="105882"/>
              <a:buChar char="▪"/>
              <a:tabLst>
                <a:tab pos="354965" algn="l"/>
              </a:tabLst>
            </a:pPr>
            <a:r>
              <a:rPr dirty="0" sz="1700">
                <a:latin typeface="Calibri"/>
                <a:cs typeface="Calibri"/>
              </a:rPr>
              <a:t>If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you</a:t>
            </a:r>
            <a:r>
              <a:rPr dirty="0" sz="1700" spc="-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can’t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name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object,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you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can’t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access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it.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E.g.</a:t>
            </a:r>
            <a:r>
              <a:rPr dirty="0" sz="1700" spc="3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Web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site</a:t>
            </a:r>
            <a:r>
              <a:rPr dirty="0" sz="1700" spc="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–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if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name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is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hidden,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can’t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access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SzPct val="105882"/>
              <a:buChar char="▪"/>
              <a:tabLst>
                <a:tab pos="354965" algn="l"/>
                <a:tab pos="1188085" algn="l"/>
              </a:tabLst>
            </a:pPr>
            <a:r>
              <a:rPr dirty="0" sz="1700">
                <a:latin typeface="Calibri"/>
                <a:cs typeface="Calibri"/>
              </a:rPr>
              <a:t>Paging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 spc="-50">
                <a:latin typeface="Calibri"/>
                <a:cs typeface="Calibri"/>
              </a:rPr>
              <a:t>:</a:t>
            </a:r>
            <a:r>
              <a:rPr dirty="0" sz="1700">
                <a:latin typeface="Calibri"/>
                <a:cs typeface="Calibri"/>
              </a:rPr>
              <a:t>	Processes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can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access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only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pages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its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name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spaces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but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cannot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access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physical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page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1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(i.e.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frame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number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1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in</a:t>
            </a:r>
            <a:endParaRPr sz="1700">
              <a:latin typeface="Calibri"/>
              <a:cs typeface="Calibri"/>
            </a:endParaRPr>
          </a:p>
          <a:p>
            <a:pPr marL="354965">
              <a:lnSpc>
                <a:spcPct val="100000"/>
              </a:lnSpc>
            </a:pP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diagram)</a:t>
            </a:r>
            <a:endParaRPr sz="1700">
              <a:latin typeface="Calibri"/>
              <a:cs typeface="Calibri"/>
            </a:endParaRPr>
          </a:p>
          <a:p>
            <a:pPr marL="354965" marR="1750695" indent="-342900">
              <a:lnSpc>
                <a:spcPct val="100000"/>
              </a:lnSpc>
              <a:spcBef>
                <a:spcPts val="600"/>
              </a:spcBef>
              <a:buSzPct val="105882"/>
              <a:buChar char="▪"/>
              <a:tabLst>
                <a:tab pos="354965" algn="l"/>
              </a:tabLst>
            </a:pPr>
            <a:r>
              <a:rPr dirty="0" sz="1700">
                <a:latin typeface="Calibri"/>
                <a:cs typeface="Calibri"/>
              </a:rPr>
              <a:t>Namespaces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are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feature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-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Linux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kernel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that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partitions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kernel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resources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such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that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one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set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of </a:t>
            </a:r>
            <a:r>
              <a:rPr dirty="0" sz="1700">
                <a:latin typeface="Calibri"/>
                <a:cs typeface="Calibri"/>
              </a:rPr>
              <a:t>processes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sees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one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set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resources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another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set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processes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sees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different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set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resources.</a:t>
            </a:r>
            <a:endParaRPr sz="1700">
              <a:latin typeface="Calibri"/>
              <a:cs typeface="Calibri"/>
            </a:endParaRPr>
          </a:p>
          <a:p>
            <a:pPr marL="354965" marR="584835" indent="-342900">
              <a:lnSpc>
                <a:spcPct val="100000"/>
              </a:lnSpc>
              <a:spcBef>
                <a:spcPts val="600"/>
              </a:spcBef>
              <a:buSzPct val="105882"/>
              <a:buChar char="▪"/>
              <a:tabLst>
                <a:tab pos="354965" algn="l"/>
              </a:tabLst>
            </a:pP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namespace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wraps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global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system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resource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abstraction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that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makes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it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appear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processes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within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the </a:t>
            </a:r>
            <a:r>
              <a:rPr dirty="0" sz="1700">
                <a:latin typeface="Calibri"/>
                <a:cs typeface="Calibri"/>
              </a:rPr>
              <a:t>namespace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that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they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have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their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own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isolated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instance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global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resource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SzPct val="105882"/>
              <a:buChar char="▪"/>
              <a:tabLst>
                <a:tab pos="354965" algn="l"/>
              </a:tabLst>
            </a:pP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feature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works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by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having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same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namespace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(with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name)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for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-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group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resources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and</a:t>
            </a:r>
            <a:endParaRPr sz="1700">
              <a:latin typeface="Calibri"/>
              <a:cs typeface="Calibri"/>
            </a:endParaRPr>
          </a:p>
          <a:p>
            <a:pPr marL="354965">
              <a:lnSpc>
                <a:spcPct val="100000"/>
              </a:lnSpc>
              <a:spcBef>
                <a:spcPts val="5"/>
              </a:spcBef>
            </a:pPr>
            <a:r>
              <a:rPr dirty="0" sz="1700" spc="-10">
                <a:latin typeface="Calibri"/>
                <a:cs typeface="Calibri"/>
              </a:rPr>
              <a:t>processes,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but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those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namespaces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refer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30"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C00000"/>
                </a:solidFill>
                <a:latin typeface="Calibri"/>
                <a:cs typeface="Calibri"/>
              </a:rPr>
              <a:t>distinct</a:t>
            </a:r>
            <a:r>
              <a:rPr dirty="0" sz="1700" spc="-20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C00000"/>
                </a:solidFill>
                <a:latin typeface="Calibri"/>
                <a:cs typeface="Calibri"/>
              </a:rPr>
              <a:t>resources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SzPct val="105882"/>
              <a:buChar char="▪"/>
              <a:tabLst>
                <a:tab pos="354965" algn="l"/>
              </a:tabLst>
            </a:pP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physical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computer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can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have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more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than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one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namespaces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(two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or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more)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SzPct val="105882"/>
              <a:buChar char="▪"/>
              <a:tabLst>
                <a:tab pos="354965" algn="l"/>
              </a:tabLst>
            </a:pPr>
            <a:r>
              <a:rPr dirty="0" sz="1700">
                <a:latin typeface="Calibri"/>
                <a:cs typeface="Calibri"/>
              </a:rPr>
              <a:t>All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resources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that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process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sees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can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be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considered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30">
                <a:latin typeface="Calibri"/>
                <a:cs typeface="Calibri"/>
              </a:rPr>
              <a:t> </a:t>
            </a:r>
            <a:r>
              <a:rPr dirty="0" sz="1700" spc="-10" b="1" i="1">
                <a:solidFill>
                  <a:srgbClr val="006FC0"/>
                </a:solidFill>
                <a:latin typeface="Calibri"/>
                <a:cs typeface="Calibri"/>
              </a:rPr>
              <a:t>namespace</a:t>
            </a:r>
            <a:endParaRPr sz="1700">
              <a:latin typeface="Calibri"/>
              <a:cs typeface="Calibri"/>
            </a:endParaRPr>
          </a:p>
          <a:p>
            <a:pPr lvl="1" marL="926465" indent="-342265">
              <a:lnSpc>
                <a:spcPct val="100000"/>
              </a:lnSpc>
              <a:spcBef>
                <a:spcPts val="600"/>
              </a:spcBef>
              <a:buSzPct val="105882"/>
              <a:buFont typeface="Arial"/>
              <a:buChar char="•"/>
              <a:tabLst>
                <a:tab pos="926465" algn="l"/>
              </a:tabLst>
            </a:pP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files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seen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by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-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process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is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 </a:t>
            </a:r>
            <a:r>
              <a:rPr dirty="0" sz="1700" b="1" i="1">
                <a:solidFill>
                  <a:srgbClr val="006FC0"/>
                </a:solidFill>
                <a:latin typeface="Calibri"/>
                <a:cs typeface="Calibri"/>
              </a:rPr>
              <a:t>file</a:t>
            </a:r>
            <a:r>
              <a:rPr dirty="0" sz="1700" spc="-15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700" spc="-10" b="1" i="1">
                <a:solidFill>
                  <a:srgbClr val="006FC0"/>
                </a:solidFill>
                <a:latin typeface="Calibri"/>
                <a:cs typeface="Calibri"/>
              </a:rPr>
              <a:t>namespace</a:t>
            </a:r>
            <a:endParaRPr sz="1700">
              <a:latin typeface="Calibri"/>
              <a:cs typeface="Calibri"/>
            </a:endParaRPr>
          </a:p>
          <a:p>
            <a:pPr lvl="1" marL="926465" indent="-342265">
              <a:lnSpc>
                <a:spcPct val="100000"/>
              </a:lnSpc>
              <a:spcBef>
                <a:spcPts val="795"/>
              </a:spcBef>
              <a:buSzPct val="105882"/>
              <a:buFont typeface="Arial"/>
              <a:buChar char="•"/>
              <a:tabLst>
                <a:tab pos="926465" algn="l"/>
              </a:tabLst>
            </a:pP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network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connections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are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part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15">
                <a:latin typeface="Calibri"/>
                <a:cs typeface="Calibri"/>
              </a:rPr>
              <a:t> </a:t>
            </a:r>
            <a:r>
              <a:rPr dirty="0" sz="1700" b="1" i="1">
                <a:solidFill>
                  <a:srgbClr val="006FC0"/>
                </a:solidFill>
                <a:latin typeface="Calibri"/>
                <a:cs typeface="Calibri"/>
              </a:rPr>
              <a:t>network</a:t>
            </a:r>
            <a:r>
              <a:rPr dirty="0" sz="1700" spc="-35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700" spc="-10" b="1">
                <a:solidFill>
                  <a:srgbClr val="006FC0"/>
                </a:solidFill>
                <a:latin typeface="Calibri"/>
                <a:cs typeface="Calibri"/>
              </a:rPr>
              <a:t>namespace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805"/>
              </a:spcBef>
              <a:buSzPct val="105882"/>
              <a:buFont typeface="Arial"/>
              <a:buChar char="•"/>
              <a:tabLst>
                <a:tab pos="354965" algn="l"/>
              </a:tabLst>
            </a:pPr>
            <a:r>
              <a:rPr dirty="0" sz="1700">
                <a:latin typeface="Calibri"/>
                <a:cs typeface="Calibri"/>
              </a:rPr>
              <a:t>Container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Access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is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restricted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only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subset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objects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(e.g.,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files)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on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physical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machine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using</a:t>
            </a:r>
            <a:endParaRPr sz="1700">
              <a:latin typeface="Calibri"/>
              <a:cs typeface="Calibri"/>
            </a:endParaRPr>
          </a:p>
          <a:p>
            <a:pPr marL="354965">
              <a:lnSpc>
                <a:spcPct val="100000"/>
              </a:lnSpc>
            </a:pPr>
            <a:r>
              <a:rPr dirty="0" sz="1700">
                <a:latin typeface="Calibri"/>
                <a:cs typeface="Calibri"/>
              </a:rPr>
              <a:t>these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namespaces.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Restriction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is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applied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on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what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can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be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seen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by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object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processes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container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 spc="-20">
                <a:latin typeface="Calibri"/>
                <a:cs typeface="Calibri"/>
              </a:rPr>
              <a:t>e.g.</a:t>
            </a:r>
            <a:endParaRPr sz="1700">
              <a:latin typeface="Calibri"/>
              <a:cs typeface="Calibri"/>
            </a:endParaRPr>
          </a:p>
          <a:p>
            <a:pPr lvl="1" marL="733425" indent="-342900">
              <a:lnSpc>
                <a:spcPct val="100000"/>
              </a:lnSpc>
              <a:spcBef>
                <a:spcPts val="600"/>
              </a:spcBef>
              <a:buSzPct val="105882"/>
              <a:buFont typeface="Arial"/>
              <a:buChar char="•"/>
              <a:tabLst>
                <a:tab pos="733425" algn="l"/>
              </a:tabLst>
            </a:pP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restrict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process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(and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container)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-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subset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-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files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use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file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namespace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2541" y="268985"/>
            <a:ext cx="260286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5991" y="740155"/>
            <a:ext cx="11741785" cy="6078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922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Docker</a:t>
            </a:r>
            <a:r>
              <a:rPr dirty="0" sz="2400" spc="-7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used</a:t>
            </a:r>
            <a:r>
              <a:rPr dirty="0" sz="2400" spc="-8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Namespaces</a:t>
            </a:r>
            <a:endParaRPr sz="2400">
              <a:latin typeface="Arial"/>
              <a:cs typeface="Arial"/>
            </a:endParaRPr>
          </a:p>
          <a:p>
            <a:pPr algn="just" marL="355600" marR="597535" indent="-342900">
              <a:lnSpc>
                <a:spcPct val="120000"/>
              </a:lnSpc>
              <a:spcBef>
                <a:spcPts val="1565"/>
              </a:spcBef>
              <a:buSzPct val="81818"/>
              <a:buChar char="▪"/>
              <a:tabLst>
                <a:tab pos="355600" algn="l"/>
                <a:tab pos="358140" algn="l"/>
              </a:tabLst>
            </a:pPr>
            <a:r>
              <a:rPr dirty="0" sz="2200">
                <a:latin typeface="Calibri"/>
                <a:cs typeface="Calibri"/>
              </a:rPr>
              <a:t>	Docker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builds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containers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runtime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using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10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major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system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features.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commands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be </a:t>
            </a:r>
            <a:r>
              <a:rPr dirty="0" sz="2200">
                <a:latin typeface="Calibri"/>
                <a:cs typeface="Calibri"/>
              </a:rPr>
              <a:t>used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illustrate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modify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features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suit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needs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contained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software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fit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the </a:t>
            </a:r>
            <a:r>
              <a:rPr dirty="0" sz="2200">
                <a:latin typeface="Calibri"/>
                <a:cs typeface="Calibri"/>
              </a:rPr>
              <a:t>environment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where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container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will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run.</a:t>
            </a:r>
            <a:endParaRPr sz="2200">
              <a:latin typeface="Calibri"/>
              <a:cs typeface="Calibri"/>
            </a:endParaRPr>
          </a:p>
          <a:p>
            <a:pPr algn="just" marL="423545" indent="-410845">
              <a:lnSpc>
                <a:spcPct val="100000"/>
              </a:lnSpc>
              <a:spcBef>
                <a:spcPts val="1125"/>
              </a:spcBef>
              <a:buSzPct val="81818"/>
              <a:buChar char="▪"/>
              <a:tabLst>
                <a:tab pos="423545" algn="l"/>
              </a:tabLst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specific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features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follows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(a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few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them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discussed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little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more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detail):</a:t>
            </a:r>
            <a:endParaRPr sz="2200">
              <a:latin typeface="Calibri"/>
              <a:cs typeface="Calibri"/>
            </a:endParaRPr>
          </a:p>
          <a:p>
            <a:pPr lvl="1" marL="733425" marR="932180" indent="-361315">
              <a:lnSpc>
                <a:spcPct val="120100"/>
              </a:lnSpc>
              <a:spcBef>
                <a:spcPts val="600"/>
              </a:spcBef>
              <a:buFont typeface="Arial"/>
              <a:buChar char="•"/>
              <a:tabLst>
                <a:tab pos="733425" algn="l"/>
              </a:tabLst>
            </a:pPr>
            <a:r>
              <a:rPr dirty="0" sz="2200">
                <a:latin typeface="Calibri"/>
                <a:cs typeface="Calibri"/>
              </a:rPr>
              <a:t>PID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namespace—</a:t>
            </a:r>
            <a:r>
              <a:rPr dirty="0" sz="2200">
                <a:latin typeface="Calibri"/>
                <a:cs typeface="Calibri"/>
              </a:rPr>
              <a:t>Process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isolation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through</a:t>
            </a:r>
            <a:r>
              <a:rPr dirty="0" sz="2200" spc="4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identifiers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(PID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number)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–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not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aware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what </a:t>
            </a:r>
            <a:r>
              <a:rPr dirty="0" sz="2200">
                <a:latin typeface="Calibri"/>
                <a:cs typeface="Calibri"/>
              </a:rPr>
              <a:t>happens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outside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own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processes</a:t>
            </a:r>
            <a:endParaRPr sz="2200">
              <a:latin typeface="Calibri"/>
              <a:cs typeface="Calibri"/>
            </a:endParaRPr>
          </a:p>
          <a:p>
            <a:pPr lvl="1" marL="733425" marR="682625" indent="-361315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Font typeface="Arial"/>
              <a:buChar char="•"/>
              <a:tabLst>
                <a:tab pos="733425" algn="l"/>
              </a:tabLst>
            </a:pP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UTS</a:t>
            </a:r>
            <a:r>
              <a:rPr dirty="0" sz="2200" spc="-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 spc="-20">
                <a:solidFill>
                  <a:srgbClr val="C00000"/>
                </a:solidFill>
                <a:latin typeface="Calibri"/>
                <a:cs typeface="Calibri"/>
              </a:rPr>
              <a:t>namespace—</a:t>
            </a: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allows</a:t>
            </a:r>
            <a:r>
              <a:rPr dirty="0" sz="2200" spc="-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for</a:t>
            </a:r>
            <a:r>
              <a:rPr dirty="0" sz="2200" spc="-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having</a:t>
            </a:r>
            <a:r>
              <a:rPr dirty="0" sz="2200" spc="-5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multiple</a:t>
            </a:r>
            <a:r>
              <a:rPr dirty="0" sz="22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hostnames</a:t>
            </a:r>
            <a:r>
              <a:rPr dirty="0" sz="2200" spc="-1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on</a:t>
            </a:r>
            <a:r>
              <a:rPr dirty="0" sz="22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dirty="0" sz="2200" spc="-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single</a:t>
            </a:r>
            <a:r>
              <a:rPr dirty="0" sz="22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physical</a:t>
            </a:r>
            <a:r>
              <a:rPr dirty="0" sz="2200" spc="-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host</a:t>
            </a:r>
            <a:r>
              <a:rPr dirty="0" sz="22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-</a:t>
            </a:r>
            <a:r>
              <a:rPr dirty="0" sz="2200" spc="-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Host</a:t>
            </a:r>
            <a:r>
              <a:rPr dirty="0" sz="2200" spc="-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 spc="-25">
                <a:solidFill>
                  <a:srgbClr val="C00000"/>
                </a:solidFill>
                <a:latin typeface="Calibri"/>
                <a:cs typeface="Calibri"/>
              </a:rPr>
              <a:t>and </a:t>
            </a: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domain</a:t>
            </a:r>
            <a:r>
              <a:rPr dirty="0" sz="2200" spc="-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name</a:t>
            </a:r>
            <a:r>
              <a:rPr dirty="0" sz="2200" spc="-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(as</a:t>
            </a:r>
            <a:r>
              <a:rPr dirty="0" sz="22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other</a:t>
            </a:r>
            <a:r>
              <a:rPr dirty="0" sz="2200" spc="-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things</a:t>
            </a:r>
            <a:r>
              <a:rPr dirty="0" sz="2200" spc="-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like</a:t>
            </a:r>
            <a:r>
              <a:rPr dirty="0" sz="22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IP</a:t>
            </a:r>
            <a:r>
              <a:rPr dirty="0" sz="2200" spc="-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C00000"/>
                </a:solidFill>
                <a:latin typeface="Calibri"/>
                <a:cs typeface="Calibri"/>
              </a:rPr>
              <a:t>can</a:t>
            </a:r>
            <a:r>
              <a:rPr dirty="0" sz="2200" spc="-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C00000"/>
                </a:solidFill>
                <a:latin typeface="Calibri"/>
                <a:cs typeface="Calibri"/>
              </a:rPr>
              <a:t>change)</a:t>
            </a:r>
            <a:endParaRPr sz="2200">
              <a:latin typeface="Calibri"/>
              <a:cs typeface="Calibri"/>
            </a:endParaRPr>
          </a:p>
          <a:p>
            <a:pPr lvl="1" marL="733425" marR="513715" indent="-361315">
              <a:lnSpc>
                <a:spcPct val="120000"/>
              </a:lnSpc>
              <a:spcBef>
                <a:spcPts val="605"/>
              </a:spcBef>
              <a:buClr>
                <a:srgbClr val="000000"/>
              </a:buClr>
              <a:buFont typeface="Arial"/>
              <a:buChar char="•"/>
              <a:tabLst>
                <a:tab pos="733425" algn="l"/>
              </a:tabLst>
            </a:pPr>
            <a:r>
              <a:rPr dirty="0" sz="2200">
                <a:solidFill>
                  <a:srgbClr val="538135"/>
                </a:solidFill>
                <a:latin typeface="Calibri"/>
                <a:cs typeface="Calibri"/>
              </a:rPr>
              <a:t>MNT</a:t>
            </a:r>
            <a:r>
              <a:rPr dirty="0" sz="2200" spc="-20">
                <a:solidFill>
                  <a:srgbClr val="538135"/>
                </a:solidFill>
                <a:latin typeface="Calibri"/>
                <a:cs typeface="Calibri"/>
              </a:rPr>
              <a:t> namespace—</a:t>
            </a:r>
            <a:r>
              <a:rPr dirty="0" sz="2200">
                <a:solidFill>
                  <a:srgbClr val="538135"/>
                </a:solidFill>
                <a:latin typeface="Calibri"/>
                <a:cs typeface="Calibri"/>
              </a:rPr>
              <a:t>isolate</a:t>
            </a:r>
            <a:r>
              <a:rPr dirty="0" sz="2200" spc="-35">
                <a:solidFill>
                  <a:srgbClr val="538135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538135"/>
                </a:solidFill>
                <a:latin typeface="Calibri"/>
                <a:cs typeface="Calibri"/>
              </a:rPr>
              <a:t>a</a:t>
            </a:r>
            <a:r>
              <a:rPr dirty="0" sz="2200" spc="-20">
                <a:solidFill>
                  <a:srgbClr val="538135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538135"/>
                </a:solidFill>
                <a:latin typeface="Calibri"/>
                <a:cs typeface="Calibri"/>
              </a:rPr>
              <a:t>set</a:t>
            </a:r>
            <a:r>
              <a:rPr dirty="0" sz="2200" spc="-20">
                <a:solidFill>
                  <a:srgbClr val="538135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538135"/>
                </a:solidFill>
                <a:latin typeface="Calibri"/>
                <a:cs typeface="Calibri"/>
              </a:rPr>
              <a:t>of</a:t>
            </a:r>
            <a:r>
              <a:rPr dirty="0" sz="2200" spc="-25">
                <a:solidFill>
                  <a:srgbClr val="538135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538135"/>
                </a:solidFill>
                <a:latin typeface="Calibri"/>
                <a:cs typeface="Calibri"/>
              </a:rPr>
              <a:t>mount</a:t>
            </a:r>
            <a:r>
              <a:rPr dirty="0" sz="2200" spc="-30">
                <a:solidFill>
                  <a:srgbClr val="538135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538135"/>
                </a:solidFill>
                <a:latin typeface="Calibri"/>
                <a:cs typeface="Calibri"/>
              </a:rPr>
              <a:t>points</a:t>
            </a:r>
            <a:r>
              <a:rPr dirty="0" sz="2200" spc="-35">
                <a:solidFill>
                  <a:srgbClr val="538135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538135"/>
                </a:solidFill>
                <a:latin typeface="Calibri"/>
                <a:cs typeface="Calibri"/>
              </a:rPr>
              <a:t>such</a:t>
            </a:r>
            <a:r>
              <a:rPr dirty="0" sz="2200" spc="-30">
                <a:solidFill>
                  <a:srgbClr val="538135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538135"/>
                </a:solidFill>
                <a:latin typeface="Calibri"/>
                <a:cs typeface="Calibri"/>
              </a:rPr>
              <a:t>that</a:t>
            </a:r>
            <a:r>
              <a:rPr dirty="0" sz="2200" spc="-35">
                <a:solidFill>
                  <a:srgbClr val="538135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538135"/>
                </a:solidFill>
                <a:latin typeface="Calibri"/>
                <a:cs typeface="Calibri"/>
              </a:rPr>
              <a:t>processes</a:t>
            </a:r>
            <a:r>
              <a:rPr dirty="0" sz="2200" spc="-20">
                <a:solidFill>
                  <a:srgbClr val="538135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538135"/>
                </a:solidFill>
                <a:latin typeface="Calibri"/>
                <a:cs typeface="Calibri"/>
              </a:rPr>
              <a:t>in</a:t>
            </a:r>
            <a:r>
              <a:rPr dirty="0" sz="2200" spc="-30">
                <a:solidFill>
                  <a:srgbClr val="538135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538135"/>
                </a:solidFill>
                <a:latin typeface="Calibri"/>
                <a:cs typeface="Calibri"/>
              </a:rPr>
              <a:t>different</a:t>
            </a:r>
            <a:r>
              <a:rPr dirty="0" sz="2200" spc="-20">
                <a:solidFill>
                  <a:srgbClr val="538135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538135"/>
                </a:solidFill>
                <a:latin typeface="Calibri"/>
                <a:cs typeface="Calibri"/>
              </a:rPr>
              <a:t>namespaces </a:t>
            </a:r>
            <a:r>
              <a:rPr dirty="0" sz="2200">
                <a:solidFill>
                  <a:srgbClr val="538135"/>
                </a:solidFill>
                <a:latin typeface="Calibri"/>
                <a:cs typeface="Calibri"/>
              </a:rPr>
              <a:t>cannot</a:t>
            </a:r>
            <a:r>
              <a:rPr dirty="0" sz="2200" spc="-50">
                <a:solidFill>
                  <a:srgbClr val="538135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538135"/>
                </a:solidFill>
                <a:latin typeface="Calibri"/>
                <a:cs typeface="Calibri"/>
              </a:rPr>
              <a:t>view</a:t>
            </a:r>
            <a:r>
              <a:rPr dirty="0" sz="2200" spc="-50">
                <a:solidFill>
                  <a:srgbClr val="538135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538135"/>
                </a:solidFill>
                <a:latin typeface="Calibri"/>
                <a:cs typeface="Calibri"/>
              </a:rPr>
              <a:t>each</a:t>
            </a:r>
            <a:r>
              <a:rPr dirty="0" sz="2200" spc="-50">
                <a:solidFill>
                  <a:srgbClr val="538135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538135"/>
                </a:solidFill>
                <a:latin typeface="Calibri"/>
                <a:cs typeface="Calibri"/>
              </a:rPr>
              <a:t>others</a:t>
            </a:r>
            <a:r>
              <a:rPr dirty="0" sz="2200" spc="-50">
                <a:solidFill>
                  <a:srgbClr val="538135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538135"/>
                </a:solidFill>
                <a:latin typeface="Calibri"/>
                <a:cs typeface="Calibri"/>
              </a:rPr>
              <a:t>files.</a:t>
            </a:r>
            <a:r>
              <a:rPr dirty="0" sz="2200" spc="-50">
                <a:solidFill>
                  <a:srgbClr val="538135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538135"/>
                </a:solidFill>
                <a:latin typeface="Calibri"/>
                <a:cs typeface="Calibri"/>
              </a:rPr>
              <a:t>(almost</a:t>
            </a:r>
            <a:r>
              <a:rPr dirty="0" sz="2200" spc="-50">
                <a:solidFill>
                  <a:srgbClr val="538135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538135"/>
                </a:solidFill>
                <a:latin typeface="Calibri"/>
                <a:cs typeface="Calibri"/>
              </a:rPr>
              <a:t>like</a:t>
            </a:r>
            <a:r>
              <a:rPr dirty="0" sz="2200" spc="-50">
                <a:solidFill>
                  <a:srgbClr val="538135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538135"/>
                </a:solidFill>
                <a:latin typeface="Calibri"/>
                <a:cs typeface="Calibri"/>
              </a:rPr>
              <a:t>chroot)</a:t>
            </a:r>
            <a:r>
              <a:rPr dirty="0" sz="2200" spc="-50">
                <a:solidFill>
                  <a:srgbClr val="538135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538135"/>
                </a:solidFill>
                <a:latin typeface="Calibri"/>
                <a:cs typeface="Calibri"/>
              </a:rPr>
              <a:t>(Filesystem</a:t>
            </a:r>
            <a:r>
              <a:rPr dirty="0" sz="2200" spc="-30">
                <a:solidFill>
                  <a:srgbClr val="538135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538135"/>
                </a:solidFill>
                <a:latin typeface="Calibri"/>
                <a:cs typeface="Calibri"/>
              </a:rPr>
              <a:t>access</a:t>
            </a:r>
            <a:r>
              <a:rPr dirty="0" sz="2200" spc="-35">
                <a:solidFill>
                  <a:srgbClr val="538135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538135"/>
                </a:solidFill>
                <a:latin typeface="Calibri"/>
                <a:cs typeface="Calibri"/>
              </a:rPr>
              <a:t>&amp;</a:t>
            </a:r>
            <a:r>
              <a:rPr dirty="0" sz="2200" spc="-40">
                <a:solidFill>
                  <a:srgbClr val="538135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538135"/>
                </a:solidFill>
                <a:latin typeface="Calibri"/>
                <a:cs typeface="Calibri"/>
              </a:rPr>
              <a:t>structure)</a:t>
            </a:r>
            <a:endParaRPr sz="22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1125"/>
              </a:spcBef>
              <a:buFont typeface="Arial"/>
              <a:buChar char="•"/>
              <a:tabLst>
                <a:tab pos="733425" algn="l"/>
              </a:tabLst>
            </a:pPr>
            <a:r>
              <a:rPr dirty="0" sz="2200">
                <a:latin typeface="Calibri"/>
                <a:cs typeface="Calibri"/>
              </a:rPr>
              <a:t>IPC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namespace—</a:t>
            </a:r>
            <a:r>
              <a:rPr dirty="0" sz="2200">
                <a:latin typeface="Calibri"/>
                <a:cs typeface="Calibri"/>
              </a:rPr>
              <a:t>provides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isolation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container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process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communication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over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shared</a:t>
            </a:r>
            <a:endParaRPr sz="2200">
              <a:latin typeface="Calibri"/>
              <a:cs typeface="Calibri"/>
            </a:endParaRPr>
          </a:p>
          <a:p>
            <a:pPr marL="733425">
              <a:lnSpc>
                <a:spcPct val="100000"/>
              </a:lnSpc>
              <a:spcBef>
                <a:spcPts val="530"/>
              </a:spcBef>
            </a:pPr>
            <a:r>
              <a:rPr dirty="0" sz="2200">
                <a:latin typeface="Calibri"/>
                <a:cs typeface="Calibri"/>
              </a:rPr>
              <a:t>memory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having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ability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invite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other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processes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read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from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shared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memory</a:t>
            </a:r>
            <a:endParaRPr sz="2200">
              <a:latin typeface="Calibri"/>
              <a:cs typeface="Calibri"/>
            </a:endParaRPr>
          </a:p>
          <a:p>
            <a:pPr marL="7437755">
              <a:lnSpc>
                <a:spcPct val="100000"/>
              </a:lnSpc>
              <a:spcBef>
                <a:spcPts val="505"/>
              </a:spcBef>
            </a:pPr>
            <a:r>
              <a:rPr dirty="0" sz="1400" spc="-10">
                <a:latin typeface="Arial"/>
                <a:cs typeface="Arial"/>
                <a:hlinkClick r:id="rId2"/>
              </a:rPr>
              <a:t>https://www.redhat.com/sysadmin/7-linux-namespaces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Docker</a:t>
            </a:r>
            <a:r>
              <a:rPr dirty="0" spc="-8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used</a:t>
            </a:r>
            <a:r>
              <a:rPr dirty="0" spc="-9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Namespaces</a:t>
            </a:r>
            <a:r>
              <a:rPr dirty="0" spc="-6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(Cont.)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9725" marR="59690" indent="-361315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Font typeface="Arial"/>
              <a:buChar char="•"/>
              <a:tabLst>
                <a:tab pos="340360" algn="l"/>
              </a:tabLst>
            </a:pPr>
            <a:r>
              <a:rPr dirty="0"/>
              <a:t>NET</a:t>
            </a:r>
            <a:r>
              <a:rPr dirty="0" spc="-15"/>
              <a:t> </a:t>
            </a:r>
            <a:r>
              <a:rPr dirty="0" spc="-20"/>
              <a:t>namespace—</a:t>
            </a:r>
            <a:r>
              <a:rPr dirty="0"/>
              <a:t>allow</a:t>
            </a:r>
            <a:r>
              <a:rPr dirty="0" spc="-35"/>
              <a:t> </a:t>
            </a:r>
            <a:r>
              <a:rPr dirty="0"/>
              <a:t>processes</a:t>
            </a:r>
            <a:r>
              <a:rPr dirty="0" spc="-25"/>
              <a:t> </a:t>
            </a:r>
            <a:r>
              <a:rPr dirty="0"/>
              <a:t>inside</a:t>
            </a:r>
            <a:r>
              <a:rPr dirty="0" spc="-35"/>
              <a:t> </a:t>
            </a:r>
            <a:r>
              <a:rPr dirty="0"/>
              <a:t>each</a:t>
            </a:r>
            <a:r>
              <a:rPr dirty="0" spc="-30"/>
              <a:t> </a:t>
            </a:r>
            <a:r>
              <a:rPr dirty="0"/>
              <a:t>namespace</a:t>
            </a:r>
            <a:r>
              <a:rPr dirty="0" spc="-30"/>
              <a:t> </a:t>
            </a:r>
            <a:r>
              <a:rPr dirty="0"/>
              <a:t>instance</a:t>
            </a:r>
            <a:r>
              <a:rPr dirty="0" spc="-35"/>
              <a:t> </a:t>
            </a:r>
            <a:r>
              <a:rPr dirty="0"/>
              <a:t>to</a:t>
            </a:r>
            <a:r>
              <a:rPr dirty="0" spc="-20"/>
              <a:t> </a:t>
            </a:r>
            <a:r>
              <a:rPr dirty="0"/>
              <a:t>have</a:t>
            </a:r>
            <a:r>
              <a:rPr dirty="0" spc="-35"/>
              <a:t> </a:t>
            </a:r>
            <a:r>
              <a:rPr dirty="0"/>
              <a:t>access</a:t>
            </a:r>
            <a:r>
              <a:rPr dirty="0" spc="-35"/>
              <a:t> </a:t>
            </a:r>
            <a:r>
              <a:rPr dirty="0"/>
              <a:t>to</a:t>
            </a:r>
            <a:r>
              <a:rPr dirty="0" spc="-25"/>
              <a:t> </a:t>
            </a:r>
            <a:r>
              <a:rPr dirty="0"/>
              <a:t>a</a:t>
            </a:r>
            <a:r>
              <a:rPr dirty="0" spc="-20"/>
              <a:t> </a:t>
            </a:r>
            <a:r>
              <a:rPr dirty="0" spc="-25"/>
              <a:t>new </a:t>
            </a:r>
            <a:r>
              <a:rPr dirty="0"/>
              <a:t>IP</a:t>
            </a:r>
            <a:r>
              <a:rPr dirty="0" spc="-30"/>
              <a:t> </a:t>
            </a:r>
            <a:r>
              <a:rPr dirty="0"/>
              <a:t>address</a:t>
            </a:r>
            <a:r>
              <a:rPr dirty="0" spc="-25"/>
              <a:t> </a:t>
            </a:r>
            <a:r>
              <a:rPr dirty="0"/>
              <a:t>along</a:t>
            </a:r>
            <a:r>
              <a:rPr dirty="0" spc="-40"/>
              <a:t> </a:t>
            </a:r>
            <a:r>
              <a:rPr dirty="0"/>
              <a:t>with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5"/>
              <a:t> </a:t>
            </a:r>
            <a:r>
              <a:rPr dirty="0"/>
              <a:t>full</a:t>
            </a:r>
            <a:r>
              <a:rPr dirty="0" spc="-25"/>
              <a:t> </a:t>
            </a:r>
            <a:r>
              <a:rPr dirty="0"/>
              <a:t>range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ports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465"/>
              <a:t> </a:t>
            </a:r>
            <a:r>
              <a:rPr dirty="0"/>
              <a:t>Network access</a:t>
            </a:r>
            <a:r>
              <a:rPr dirty="0" spc="-15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 spc="-10"/>
              <a:t>structure</a:t>
            </a:r>
          </a:p>
          <a:p>
            <a:pPr marL="339725" marR="342265" indent="-361315">
              <a:lnSpc>
                <a:spcPct val="120000"/>
              </a:lnSpc>
              <a:spcBef>
                <a:spcPts val="600"/>
              </a:spcBef>
              <a:buFont typeface="Arial"/>
              <a:buChar char="•"/>
              <a:tabLst>
                <a:tab pos="340360" algn="l"/>
              </a:tabLst>
            </a:pPr>
            <a:r>
              <a:rPr dirty="0">
                <a:solidFill>
                  <a:srgbClr val="000000"/>
                </a:solidFill>
              </a:rPr>
              <a:t>USR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 spc="-20">
                <a:solidFill>
                  <a:srgbClr val="000000"/>
                </a:solidFill>
              </a:rPr>
              <a:t>namespace—</a:t>
            </a:r>
            <a:r>
              <a:rPr dirty="0">
                <a:solidFill>
                  <a:srgbClr val="000000"/>
                </a:solidFill>
              </a:rPr>
              <a:t>provides</a:t>
            </a:r>
            <a:r>
              <a:rPr dirty="0" spc="-4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user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 spc="-20">
                <a:solidFill>
                  <a:srgbClr val="000000"/>
                </a:solidFill>
              </a:rPr>
              <a:t>name-</a:t>
            </a:r>
            <a:r>
              <a:rPr dirty="0">
                <a:solidFill>
                  <a:srgbClr val="000000"/>
                </a:solidFill>
              </a:rPr>
              <a:t>UID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mapping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isolating</a:t>
            </a:r>
            <a:r>
              <a:rPr dirty="0" spc="-5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changes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names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from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 spc="-25">
                <a:solidFill>
                  <a:srgbClr val="000000"/>
                </a:solidFill>
              </a:rPr>
              <a:t>the </a:t>
            </a:r>
            <a:r>
              <a:rPr dirty="0">
                <a:solidFill>
                  <a:srgbClr val="000000"/>
                </a:solidFill>
              </a:rPr>
              <a:t>metadata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within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container</a:t>
            </a:r>
          </a:p>
          <a:p>
            <a:pPr marL="339725" indent="-360680">
              <a:lnSpc>
                <a:spcPct val="100000"/>
              </a:lnSpc>
              <a:spcBef>
                <a:spcPts val="1130"/>
              </a:spcBef>
              <a:buClr>
                <a:srgbClr val="000000"/>
              </a:buClr>
              <a:buFont typeface="Arial"/>
              <a:buChar char="•"/>
              <a:tabLst>
                <a:tab pos="340360" algn="l"/>
              </a:tabLst>
            </a:pPr>
            <a:r>
              <a:rPr dirty="0"/>
              <a:t>chroot</a:t>
            </a:r>
            <a:r>
              <a:rPr dirty="0" spc="-50"/>
              <a:t> </a:t>
            </a:r>
            <a:r>
              <a:rPr dirty="0" spc="-10"/>
              <a:t>syscall—</a:t>
            </a:r>
            <a:r>
              <a:rPr dirty="0"/>
              <a:t>Controls</a:t>
            </a:r>
            <a:r>
              <a:rPr dirty="0" spc="-50"/>
              <a:t> </a:t>
            </a:r>
            <a:r>
              <a:rPr dirty="0"/>
              <a:t>the</a:t>
            </a:r>
            <a:r>
              <a:rPr dirty="0" spc="-40"/>
              <a:t> </a:t>
            </a:r>
            <a:r>
              <a:rPr dirty="0"/>
              <a:t>location</a:t>
            </a:r>
            <a:r>
              <a:rPr dirty="0" spc="-45"/>
              <a:t> </a:t>
            </a:r>
            <a:r>
              <a:rPr dirty="0"/>
              <a:t>of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45"/>
              <a:t> </a:t>
            </a:r>
            <a:r>
              <a:rPr dirty="0"/>
              <a:t>filesystem</a:t>
            </a:r>
            <a:r>
              <a:rPr dirty="0" spc="-20"/>
              <a:t> root</a:t>
            </a:r>
          </a:p>
          <a:p>
            <a:pPr marL="339725" marR="5080" indent="-361315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Font typeface="Arial"/>
              <a:buChar char="•"/>
              <a:tabLst>
                <a:tab pos="340360" algn="l"/>
              </a:tabLst>
            </a:pPr>
            <a:r>
              <a:rPr dirty="0" spc="-10"/>
              <a:t>cgroups—</a:t>
            </a:r>
            <a:r>
              <a:rPr dirty="0"/>
              <a:t>Controlling</a:t>
            </a:r>
            <a:r>
              <a:rPr dirty="0" spc="-50"/>
              <a:t> </a:t>
            </a:r>
            <a:r>
              <a:rPr dirty="0"/>
              <a:t>and</a:t>
            </a:r>
            <a:r>
              <a:rPr dirty="0" spc="-40"/>
              <a:t> </a:t>
            </a:r>
            <a:r>
              <a:rPr dirty="0"/>
              <a:t>accounting</a:t>
            </a:r>
            <a:r>
              <a:rPr dirty="0" spc="-25"/>
              <a:t> </a:t>
            </a:r>
            <a:r>
              <a:rPr dirty="0"/>
              <a:t>resources</a:t>
            </a:r>
            <a:r>
              <a:rPr dirty="0" spc="-30"/>
              <a:t> </a:t>
            </a:r>
            <a:r>
              <a:rPr dirty="0" spc="-25"/>
              <a:t>–</a:t>
            </a:r>
            <a:r>
              <a:rPr dirty="0"/>
              <a:t>rather</a:t>
            </a:r>
            <a:r>
              <a:rPr dirty="0" spc="-15"/>
              <a:t> </a:t>
            </a:r>
            <a:r>
              <a:rPr dirty="0"/>
              <a:t>than</a:t>
            </a:r>
            <a:r>
              <a:rPr dirty="0" spc="-25"/>
              <a:t> </a:t>
            </a:r>
            <a:r>
              <a:rPr dirty="0"/>
              <a:t>a</a:t>
            </a:r>
            <a:r>
              <a:rPr dirty="0" spc="-20"/>
              <a:t> </a:t>
            </a:r>
            <a:r>
              <a:rPr dirty="0"/>
              <a:t>hierarchical</a:t>
            </a:r>
            <a:r>
              <a:rPr dirty="0" spc="-55"/>
              <a:t> </a:t>
            </a:r>
            <a:r>
              <a:rPr dirty="0"/>
              <a:t>cgroup</a:t>
            </a:r>
            <a:r>
              <a:rPr dirty="0" spc="-25"/>
              <a:t> </a:t>
            </a:r>
            <a:r>
              <a:rPr dirty="0" spc="-10"/>
              <a:t>creation, </a:t>
            </a:r>
            <a:r>
              <a:rPr dirty="0"/>
              <a:t>there</a:t>
            </a:r>
            <a:r>
              <a:rPr dirty="0" spc="-35"/>
              <a:t> </a:t>
            </a:r>
            <a:r>
              <a:rPr dirty="0"/>
              <a:t>is</a:t>
            </a:r>
            <a:r>
              <a:rPr dirty="0" spc="-40"/>
              <a:t> </a:t>
            </a:r>
            <a:r>
              <a:rPr dirty="0"/>
              <a:t>a</a:t>
            </a:r>
            <a:r>
              <a:rPr dirty="0" spc="-45"/>
              <a:t> </a:t>
            </a:r>
            <a:r>
              <a:rPr dirty="0"/>
              <a:t>new</a:t>
            </a:r>
            <a:r>
              <a:rPr dirty="0" spc="-25"/>
              <a:t> </a:t>
            </a:r>
            <a:r>
              <a:rPr dirty="0"/>
              <a:t>cgroup</a:t>
            </a:r>
            <a:r>
              <a:rPr dirty="0" spc="-45"/>
              <a:t> </a:t>
            </a:r>
            <a:r>
              <a:rPr dirty="0"/>
              <a:t>with</a:t>
            </a:r>
            <a:r>
              <a:rPr dirty="0" spc="-40"/>
              <a:t> </a:t>
            </a:r>
            <a:r>
              <a:rPr dirty="0"/>
              <a:t>a</a:t>
            </a:r>
            <a:r>
              <a:rPr dirty="0" spc="-45"/>
              <a:t> </a:t>
            </a:r>
            <a:r>
              <a:rPr dirty="0"/>
              <a:t>root</a:t>
            </a:r>
            <a:r>
              <a:rPr dirty="0" spc="-50"/>
              <a:t> </a:t>
            </a:r>
            <a:r>
              <a:rPr dirty="0"/>
              <a:t>directory</a:t>
            </a:r>
            <a:r>
              <a:rPr dirty="0" spc="-30"/>
              <a:t> </a:t>
            </a:r>
            <a:r>
              <a:rPr dirty="0"/>
              <a:t>created</a:t>
            </a:r>
            <a:r>
              <a:rPr dirty="0" spc="-45"/>
              <a:t> </a:t>
            </a:r>
            <a:r>
              <a:rPr dirty="0"/>
              <a:t>to</a:t>
            </a:r>
            <a:r>
              <a:rPr dirty="0" spc="-35"/>
              <a:t> </a:t>
            </a:r>
            <a:r>
              <a:rPr dirty="0"/>
              <a:t>isolate</a:t>
            </a:r>
            <a:r>
              <a:rPr dirty="0" spc="-45"/>
              <a:t> </a:t>
            </a:r>
            <a:r>
              <a:rPr dirty="0"/>
              <a:t>resources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45"/>
              <a:t> </a:t>
            </a:r>
            <a:r>
              <a:rPr dirty="0"/>
              <a:t>not</a:t>
            </a:r>
            <a:r>
              <a:rPr dirty="0" spc="-35"/>
              <a:t> </a:t>
            </a:r>
            <a:r>
              <a:rPr dirty="0" spc="-10"/>
              <a:t>allow navigation</a:t>
            </a:r>
          </a:p>
          <a:p>
            <a:pPr marL="339725" indent="-360680">
              <a:lnSpc>
                <a:spcPct val="100000"/>
              </a:lnSpc>
              <a:spcBef>
                <a:spcPts val="1130"/>
              </a:spcBef>
              <a:buFont typeface="Arial"/>
              <a:buChar char="•"/>
              <a:tabLst>
                <a:tab pos="340360" algn="l"/>
              </a:tabLst>
            </a:pPr>
            <a:r>
              <a:rPr dirty="0">
                <a:solidFill>
                  <a:srgbClr val="000000"/>
                </a:solidFill>
              </a:rPr>
              <a:t>CAP</a:t>
            </a:r>
            <a:r>
              <a:rPr dirty="0" spc="-4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drop—</a:t>
            </a:r>
            <a:r>
              <a:rPr dirty="0">
                <a:solidFill>
                  <a:srgbClr val="000000"/>
                </a:solidFill>
              </a:rPr>
              <a:t>Operating</a:t>
            </a:r>
            <a:r>
              <a:rPr dirty="0" spc="-7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system</a:t>
            </a:r>
            <a:r>
              <a:rPr dirty="0" spc="-4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feature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restrictions</a:t>
            </a:r>
          </a:p>
          <a:p>
            <a:pPr marL="339725" indent="-360680">
              <a:lnSpc>
                <a:spcPct val="100000"/>
              </a:lnSpc>
              <a:spcBef>
                <a:spcPts val="1130"/>
              </a:spcBef>
              <a:buFont typeface="Arial"/>
              <a:buChar char="•"/>
              <a:tabLst>
                <a:tab pos="340360" algn="l"/>
              </a:tabLst>
            </a:pPr>
            <a:r>
              <a:rPr dirty="0">
                <a:solidFill>
                  <a:srgbClr val="000000"/>
                </a:solidFill>
              </a:rPr>
              <a:t>Security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 spc="-20">
                <a:solidFill>
                  <a:srgbClr val="000000"/>
                </a:solidFill>
              </a:rPr>
              <a:t>modules—</a:t>
            </a:r>
            <a:r>
              <a:rPr dirty="0">
                <a:solidFill>
                  <a:srgbClr val="000000"/>
                </a:solidFill>
              </a:rPr>
              <a:t>Mandatory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access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controls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761223" y="6578600"/>
            <a:ext cx="43167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Arial"/>
                <a:cs typeface="Arial"/>
                <a:hlinkClick r:id="rId2"/>
              </a:rPr>
              <a:t>https://www.redhat.com/sysadmin/7-linux-namespaces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201295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Access</a:t>
            </a:r>
            <a:r>
              <a:rPr dirty="0" spc="-2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Control</a:t>
            </a:r>
            <a:r>
              <a:rPr dirty="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of</a:t>
            </a:r>
            <a:r>
              <a:rPr dirty="0" spc="-4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objects</a:t>
            </a:r>
            <a:r>
              <a:rPr dirty="0" spc="-5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:</a:t>
            </a:r>
            <a:r>
              <a:rPr dirty="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AF50"/>
                </a:solidFill>
                <a:latin typeface="Arial"/>
                <a:cs typeface="Arial"/>
              </a:rPr>
              <a:t>Illustration</a:t>
            </a:r>
            <a:r>
              <a:rPr dirty="0" spc="-75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AF50"/>
                </a:solidFill>
                <a:latin typeface="Arial"/>
                <a:cs typeface="Arial"/>
              </a:rPr>
              <a:t>of</a:t>
            </a:r>
            <a:r>
              <a:rPr dirty="0" spc="-35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AF50"/>
                </a:solidFill>
                <a:latin typeface="Arial"/>
                <a:cs typeface="Arial"/>
              </a:rPr>
              <a:t>name</a:t>
            </a:r>
            <a:r>
              <a:rPr dirty="0" spc="-4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AF50"/>
                </a:solidFill>
                <a:latin typeface="Arial"/>
                <a:cs typeface="Arial"/>
              </a:rPr>
              <a:t>space</a:t>
            </a:r>
            <a:r>
              <a:rPr dirty="0" spc="-35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AF50"/>
                </a:solidFill>
                <a:latin typeface="Arial"/>
                <a:cs typeface="Arial"/>
              </a:rPr>
              <a:t>(in</a:t>
            </a:r>
            <a:r>
              <a:rPr dirty="0" spc="-6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AF50"/>
                </a:solidFill>
                <a:latin typeface="Arial"/>
                <a:cs typeface="Arial"/>
              </a:rPr>
              <a:t>this</a:t>
            </a:r>
            <a:r>
              <a:rPr dirty="0" spc="-6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AF50"/>
                </a:solidFill>
                <a:latin typeface="Arial"/>
                <a:cs typeface="Arial"/>
              </a:rPr>
              <a:t>case</a:t>
            </a:r>
            <a:r>
              <a:rPr dirty="0" spc="-3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 spc="-20">
                <a:solidFill>
                  <a:srgbClr val="00AF50"/>
                </a:solidFill>
                <a:latin typeface="Arial"/>
                <a:cs typeface="Arial"/>
              </a:rPr>
              <a:t>MNT)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78027" y="1933194"/>
            <a:ext cx="4876800" cy="401764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15"/>
              </a:spcBef>
              <a:buSzPct val="75000"/>
              <a:buFont typeface="Arial"/>
              <a:buChar char="•"/>
              <a:tabLst>
                <a:tab pos="355600" algn="l"/>
              </a:tabLst>
            </a:pPr>
            <a:r>
              <a:rPr dirty="0" sz="2400" spc="-10">
                <a:latin typeface="Calibri"/>
                <a:cs typeface="Calibri"/>
              </a:rPr>
              <a:t>Processes</a:t>
            </a:r>
            <a:endParaRPr sz="2400">
              <a:latin typeface="Calibri"/>
              <a:cs typeface="Calibri"/>
            </a:endParaRPr>
          </a:p>
          <a:p>
            <a:pPr lvl="1" marL="812800" indent="-342900">
              <a:lnSpc>
                <a:spcPct val="100000"/>
              </a:lnSpc>
              <a:spcBef>
                <a:spcPts val="215"/>
              </a:spcBef>
              <a:buSzPct val="75000"/>
              <a:buFont typeface="Arial"/>
              <a:buChar char="•"/>
              <a:tabLst>
                <a:tab pos="812800" algn="l"/>
              </a:tabLst>
            </a:pP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container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1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access</a:t>
            </a:r>
            <a:endParaRPr sz="2400">
              <a:latin typeface="Calibri"/>
              <a:cs typeface="Calibri"/>
            </a:endParaRPr>
          </a:p>
          <a:p>
            <a:pPr lvl="2" marL="1270000" indent="-342900">
              <a:lnSpc>
                <a:spcPct val="100000"/>
              </a:lnSpc>
              <a:spcBef>
                <a:spcPts val="204"/>
              </a:spcBef>
              <a:buSzPct val="75000"/>
              <a:buFont typeface="Arial"/>
              <a:buChar char="•"/>
              <a:tabLst>
                <a:tab pos="1270000" algn="l"/>
              </a:tabLst>
            </a:pPr>
            <a:r>
              <a:rPr dirty="0" sz="2400">
                <a:latin typeface="Calibri"/>
                <a:cs typeface="Calibri"/>
              </a:rPr>
              <a:t>Shared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/usr</a:t>
            </a:r>
            <a:endParaRPr sz="2400">
              <a:latin typeface="Calibri"/>
              <a:cs typeface="Calibri"/>
            </a:endParaRPr>
          </a:p>
          <a:p>
            <a:pPr lvl="2" marL="1270000" indent="-342900">
              <a:lnSpc>
                <a:spcPct val="100000"/>
              </a:lnSpc>
              <a:spcBef>
                <a:spcPts val="215"/>
              </a:spcBef>
              <a:buSzPct val="75000"/>
              <a:buFont typeface="Arial"/>
              <a:buChar char="•"/>
              <a:tabLst>
                <a:tab pos="1270000" algn="l"/>
              </a:tabLst>
            </a:pPr>
            <a:r>
              <a:rPr dirty="0" sz="2400" spc="-10">
                <a:latin typeface="Calibri"/>
                <a:cs typeface="Calibri"/>
              </a:rPr>
              <a:t>Non-</a:t>
            </a:r>
            <a:r>
              <a:rPr dirty="0" sz="2400">
                <a:latin typeface="Calibri"/>
                <a:cs typeface="Calibri"/>
              </a:rPr>
              <a:t>shared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/mnt</a:t>
            </a:r>
            <a:endParaRPr sz="2400">
              <a:latin typeface="Calibri"/>
              <a:cs typeface="Calibri"/>
            </a:endParaRPr>
          </a:p>
          <a:p>
            <a:pPr lvl="2" marL="1270000" indent="-342900">
              <a:lnSpc>
                <a:spcPct val="100000"/>
              </a:lnSpc>
              <a:spcBef>
                <a:spcPts val="219"/>
              </a:spcBef>
              <a:buSzPct val="75000"/>
              <a:buFont typeface="Arial"/>
              <a:buChar char="•"/>
              <a:tabLst>
                <a:tab pos="1270000" algn="l"/>
              </a:tabLst>
            </a:pPr>
            <a:r>
              <a:rPr dirty="0" sz="2400">
                <a:latin typeface="Calibri"/>
                <a:cs typeface="Calibri"/>
              </a:rPr>
              <a:t>Cannot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access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/mnt2</a:t>
            </a:r>
            <a:endParaRPr sz="2400">
              <a:latin typeface="Calibri"/>
              <a:cs typeface="Calibri"/>
            </a:endParaRPr>
          </a:p>
          <a:p>
            <a:pPr lvl="1" marL="812800" indent="-342900">
              <a:lnSpc>
                <a:spcPct val="100000"/>
              </a:lnSpc>
              <a:spcBef>
                <a:spcPts val="200"/>
              </a:spcBef>
              <a:buSzPct val="75000"/>
              <a:buFont typeface="Arial"/>
              <a:buChar char="•"/>
              <a:tabLst>
                <a:tab pos="812800" algn="l"/>
              </a:tabLst>
            </a:pP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container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2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access</a:t>
            </a:r>
            <a:endParaRPr sz="2400">
              <a:latin typeface="Calibri"/>
              <a:cs typeface="Calibri"/>
            </a:endParaRPr>
          </a:p>
          <a:p>
            <a:pPr lvl="2" marL="1270000" indent="-342900">
              <a:lnSpc>
                <a:spcPct val="100000"/>
              </a:lnSpc>
              <a:spcBef>
                <a:spcPts val="220"/>
              </a:spcBef>
              <a:buSzPct val="75000"/>
              <a:buFont typeface="Arial"/>
              <a:buChar char="•"/>
              <a:tabLst>
                <a:tab pos="1270000" algn="l"/>
              </a:tabLst>
            </a:pPr>
            <a:r>
              <a:rPr dirty="0" sz="2400">
                <a:latin typeface="Calibri"/>
                <a:cs typeface="Calibri"/>
              </a:rPr>
              <a:t>Shared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/usr</a:t>
            </a:r>
            <a:endParaRPr sz="2400">
              <a:latin typeface="Calibri"/>
              <a:cs typeface="Calibri"/>
            </a:endParaRPr>
          </a:p>
          <a:p>
            <a:pPr lvl="2" marL="1270000" indent="-342900">
              <a:lnSpc>
                <a:spcPct val="100000"/>
              </a:lnSpc>
              <a:spcBef>
                <a:spcPts val="215"/>
              </a:spcBef>
              <a:buSzPct val="75000"/>
              <a:buFont typeface="Arial"/>
              <a:buChar char="•"/>
              <a:tabLst>
                <a:tab pos="1270000" algn="l"/>
              </a:tabLst>
            </a:pPr>
            <a:r>
              <a:rPr dirty="0" sz="2400" spc="-10">
                <a:latin typeface="Calibri"/>
                <a:cs typeface="Calibri"/>
              </a:rPr>
              <a:t>Non-</a:t>
            </a:r>
            <a:r>
              <a:rPr dirty="0" sz="2400">
                <a:latin typeface="Calibri"/>
                <a:cs typeface="Calibri"/>
              </a:rPr>
              <a:t>shared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/mnt2</a:t>
            </a:r>
            <a:endParaRPr sz="2400">
              <a:latin typeface="Calibri"/>
              <a:cs typeface="Calibri"/>
            </a:endParaRPr>
          </a:p>
          <a:p>
            <a:pPr lvl="2" marL="1270000" indent="-342900">
              <a:lnSpc>
                <a:spcPct val="100000"/>
              </a:lnSpc>
              <a:spcBef>
                <a:spcPts val="204"/>
              </a:spcBef>
              <a:buSzPct val="75000"/>
              <a:buFont typeface="Arial"/>
              <a:buChar char="•"/>
              <a:tabLst>
                <a:tab pos="1270000" algn="l"/>
              </a:tabLst>
            </a:pPr>
            <a:r>
              <a:rPr dirty="0" sz="2400">
                <a:latin typeface="Calibri"/>
                <a:cs typeface="Calibri"/>
              </a:rPr>
              <a:t>Cannot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access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/mnt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20"/>
              </a:spcBef>
              <a:buSzPct val="75000"/>
              <a:buFont typeface="Arial"/>
              <a:buChar char="•"/>
              <a:tabLst>
                <a:tab pos="355600" algn="l"/>
              </a:tabLst>
            </a:pPr>
            <a:r>
              <a:rPr dirty="0" sz="2400">
                <a:latin typeface="Calibri"/>
                <a:cs typeface="Calibri"/>
              </a:rPr>
              <a:t>These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two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different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namespaces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6631051" y="2091385"/>
            <a:ext cx="146939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libri"/>
                <a:cs typeface="Calibri"/>
              </a:rPr>
              <a:t>Container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5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9409556" y="2132457"/>
            <a:ext cx="14687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libri"/>
                <a:cs typeface="Calibri"/>
              </a:rPr>
              <a:t>Container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 spc="-5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202679" y="3447237"/>
            <a:ext cx="4950460" cy="2469515"/>
            <a:chOff x="6202679" y="3447237"/>
            <a:chExt cx="4950460" cy="2469515"/>
          </a:xfrm>
        </p:grpSpPr>
        <p:sp>
          <p:nvSpPr>
            <p:cNvPr id="6" name="object 6"/>
            <p:cNvSpPr/>
            <p:nvPr/>
          </p:nvSpPr>
          <p:spPr>
            <a:xfrm>
              <a:off x="10906633" y="4339717"/>
              <a:ext cx="0" cy="1123950"/>
            </a:xfrm>
            <a:custGeom>
              <a:avLst/>
              <a:gdLst/>
              <a:ahLst/>
              <a:cxnLst/>
              <a:rect l="l" t="t" r="r" b="b"/>
              <a:pathLst>
                <a:path w="0" h="1123950">
                  <a:moveTo>
                    <a:pt x="0" y="0"/>
                  </a:moveTo>
                  <a:lnTo>
                    <a:pt x="0" y="1123949"/>
                  </a:lnTo>
                </a:path>
              </a:pathLst>
            </a:custGeom>
            <a:ln w="9525">
              <a:solidFill>
                <a:srgbClr val="3966B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900540" y="3843655"/>
              <a:ext cx="2006600" cy="119380"/>
            </a:xfrm>
            <a:custGeom>
              <a:avLst/>
              <a:gdLst/>
              <a:ahLst/>
              <a:cxnLst/>
              <a:rect l="l" t="t" r="r" b="b"/>
              <a:pathLst>
                <a:path w="2006600" h="119379">
                  <a:moveTo>
                    <a:pt x="0" y="0"/>
                  </a:moveTo>
                  <a:lnTo>
                    <a:pt x="0" y="59944"/>
                  </a:lnTo>
                  <a:lnTo>
                    <a:pt x="2006091" y="59944"/>
                  </a:lnTo>
                  <a:lnTo>
                    <a:pt x="2006091" y="118872"/>
                  </a:lnTo>
                </a:path>
              </a:pathLst>
            </a:custGeom>
            <a:ln w="9525">
              <a:solidFill>
                <a:srgbClr val="345A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614028" y="4339717"/>
              <a:ext cx="1146810" cy="118745"/>
            </a:xfrm>
            <a:custGeom>
              <a:avLst/>
              <a:gdLst/>
              <a:ahLst/>
              <a:cxnLst/>
              <a:rect l="l" t="t" r="r" b="b"/>
              <a:pathLst>
                <a:path w="1146809" h="118745">
                  <a:moveTo>
                    <a:pt x="573151" y="0"/>
                  </a:moveTo>
                  <a:lnTo>
                    <a:pt x="573151" y="59816"/>
                  </a:lnTo>
                  <a:lnTo>
                    <a:pt x="1146302" y="59816"/>
                  </a:lnTo>
                  <a:lnTo>
                    <a:pt x="1146302" y="118744"/>
                  </a:lnTo>
                </a:path>
                <a:path w="1146809" h="118745">
                  <a:moveTo>
                    <a:pt x="573151" y="0"/>
                  </a:moveTo>
                  <a:lnTo>
                    <a:pt x="573151" y="59816"/>
                  </a:lnTo>
                  <a:lnTo>
                    <a:pt x="0" y="59816"/>
                  </a:lnTo>
                  <a:lnTo>
                    <a:pt x="0" y="118744"/>
                  </a:lnTo>
                </a:path>
              </a:pathLst>
            </a:custGeom>
            <a:ln w="9525">
              <a:solidFill>
                <a:srgbClr val="3966B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900540" y="3843655"/>
              <a:ext cx="287020" cy="119380"/>
            </a:xfrm>
            <a:custGeom>
              <a:avLst/>
              <a:gdLst/>
              <a:ahLst/>
              <a:cxnLst/>
              <a:rect l="l" t="t" r="r" b="b"/>
              <a:pathLst>
                <a:path w="287020" h="119379">
                  <a:moveTo>
                    <a:pt x="0" y="0"/>
                  </a:moveTo>
                  <a:lnTo>
                    <a:pt x="0" y="59944"/>
                  </a:lnTo>
                  <a:lnTo>
                    <a:pt x="286638" y="59944"/>
                  </a:lnTo>
                  <a:lnTo>
                    <a:pt x="286638" y="118872"/>
                  </a:lnTo>
                </a:path>
              </a:pathLst>
            </a:custGeom>
            <a:ln w="9525">
              <a:solidFill>
                <a:srgbClr val="345A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453758" y="4339717"/>
              <a:ext cx="1014094" cy="1137920"/>
            </a:xfrm>
            <a:custGeom>
              <a:avLst/>
              <a:gdLst/>
              <a:ahLst/>
              <a:cxnLst/>
              <a:rect l="l" t="t" r="r" b="b"/>
              <a:pathLst>
                <a:path w="1014095" h="1137920">
                  <a:moveTo>
                    <a:pt x="0" y="0"/>
                  </a:moveTo>
                  <a:lnTo>
                    <a:pt x="0" y="1072514"/>
                  </a:lnTo>
                  <a:lnTo>
                    <a:pt x="1013967" y="1072514"/>
                  </a:lnTo>
                  <a:lnTo>
                    <a:pt x="1013967" y="1131569"/>
                  </a:lnTo>
                </a:path>
                <a:path w="1014095" h="1137920">
                  <a:moveTo>
                    <a:pt x="0" y="0"/>
                  </a:moveTo>
                  <a:lnTo>
                    <a:pt x="0" y="1078864"/>
                  </a:lnTo>
                  <a:lnTo>
                    <a:pt x="10794" y="1078864"/>
                  </a:lnTo>
                  <a:lnTo>
                    <a:pt x="10794" y="1137792"/>
                  </a:lnTo>
                </a:path>
              </a:pathLst>
            </a:custGeom>
            <a:ln w="9525">
              <a:solidFill>
                <a:srgbClr val="3966B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453758" y="3843655"/>
              <a:ext cx="2447290" cy="119380"/>
            </a:xfrm>
            <a:custGeom>
              <a:avLst/>
              <a:gdLst/>
              <a:ahLst/>
              <a:cxnLst/>
              <a:rect l="l" t="t" r="r" b="b"/>
              <a:pathLst>
                <a:path w="2447290" h="119379">
                  <a:moveTo>
                    <a:pt x="2446782" y="0"/>
                  </a:moveTo>
                  <a:lnTo>
                    <a:pt x="2446782" y="59944"/>
                  </a:lnTo>
                  <a:lnTo>
                    <a:pt x="0" y="59944"/>
                  </a:lnTo>
                  <a:lnTo>
                    <a:pt x="0" y="118872"/>
                  </a:lnTo>
                </a:path>
              </a:pathLst>
            </a:custGeom>
            <a:ln w="9525">
              <a:solidFill>
                <a:srgbClr val="345A9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0223" y="3447237"/>
              <a:ext cx="496836" cy="45725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92133" y="3466592"/>
              <a:ext cx="416941" cy="37706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02679" y="3942562"/>
              <a:ext cx="498348" cy="45874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45351" y="3962527"/>
              <a:ext cx="416814" cy="37719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13347" y="5457444"/>
              <a:ext cx="498348" cy="45874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56019" y="5477510"/>
              <a:ext cx="416940" cy="37710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16139" y="5451348"/>
              <a:ext cx="498348" cy="45874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59192" y="5471286"/>
              <a:ext cx="416940" cy="37708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936735" y="3942562"/>
              <a:ext cx="496836" cy="45874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978772" y="3962527"/>
              <a:ext cx="416813" cy="37719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362187" y="4439361"/>
              <a:ext cx="498348" cy="45725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405622" y="4458462"/>
              <a:ext cx="416813" cy="37718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509759" y="4439361"/>
              <a:ext cx="496836" cy="45725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551923" y="4458462"/>
              <a:ext cx="416814" cy="37718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655808" y="3942562"/>
              <a:ext cx="496836" cy="45874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98226" y="3962527"/>
              <a:ext cx="416941" cy="37719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655808" y="5443727"/>
              <a:ext cx="496836" cy="45874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698226" y="5463667"/>
              <a:ext cx="416941" cy="37716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0906633" y="4339717"/>
              <a:ext cx="0" cy="1123950"/>
            </a:xfrm>
            <a:custGeom>
              <a:avLst/>
              <a:gdLst/>
              <a:ahLst/>
              <a:cxnLst/>
              <a:rect l="l" t="t" r="r" b="b"/>
              <a:pathLst>
                <a:path w="0" h="1123950">
                  <a:moveTo>
                    <a:pt x="0" y="0"/>
                  </a:moveTo>
                  <a:lnTo>
                    <a:pt x="0" y="1123949"/>
                  </a:lnTo>
                </a:path>
              </a:pathLst>
            </a:custGeom>
            <a:ln w="9525">
              <a:solidFill>
                <a:srgbClr val="3966B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8900540" y="3843655"/>
              <a:ext cx="2006600" cy="119380"/>
            </a:xfrm>
            <a:custGeom>
              <a:avLst/>
              <a:gdLst/>
              <a:ahLst/>
              <a:cxnLst/>
              <a:rect l="l" t="t" r="r" b="b"/>
              <a:pathLst>
                <a:path w="2006600" h="119379">
                  <a:moveTo>
                    <a:pt x="0" y="0"/>
                  </a:moveTo>
                  <a:lnTo>
                    <a:pt x="0" y="59944"/>
                  </a:lnTo>
                  <a:lnTo>
                    <a:pt x="2006091" y="59944"/>
                  </a:lnTo>
                  <a:lnTo>
                    <a:pt x="2006091" y="118872"/>
                  </a:lnTo>
                </a:path>
              </a:pathLst>
            </a:custGeom>
            <a:ln w="9525">
              <a:solidFill>
                <a:srgbClr val="345A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8614028" y="4339717"/>
              <a:ext cx="1146810" cy="118745"/>
            </a:xfrm>
            <a:custGeom>
              <a:avLst/>
              <a:gdLst/>
              <a:ahLst/>
              <a:cxnLst/>
              <a:rect l="l" t="t" r="r" b="b"/>
              <a:pathLst>
                <a:path w="1146809" h="118745">
                  <a:moveTo>
                    <a:pt x="573151" y="0"/>
                  </a:moveTo>
                  <a:lnTo>
                    <a:pt x="573151" y="59816"/>
                  </a:lnTo>
                  <a:lnTo>
                    <a:pt x="1146302" y="59816"/>
                  </a:lnTo>
                  <a:lnTo>
                    <a:pt x="1146302" y="118744"/>
                  </a:lnTo>
                </a:path>
                <a:path w="1146809" h="118745">
                  <a:moveTo>
                    <a:pt x="573151" y="0"/>
                  </a:moveTo>
                  <a:lnTo>
                    <a:pt x="573151" y="59816"/>
                  </a:lnTo>
                  <a:lnTo>
                    <a:pt x="0" y="59816"/>
                  </a:lnTo>
                  <a:lnTo>
                    <a:pt x="0" y="118744"/>
                  </a:lnTo>
                </a:path>
              </a:pathLst>
            </a:custGeom>
            <a:ln w="9525">
              <a:solidFill>
                <a:srgbClr val="3966B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8900540" y="3843655"/>
              <a:ext cx="287020" cy="119380"/>
            </a:xfrm>
            <a:custGeom>
              <a:avLst/>
              <a:gdLst/>
              <a:ahLst/>
              <a:cxnLst/>
              <a:rect l="l" t="t" r="r" b="b"/>
              <a:pathLst>
                <a:path w="287020" h="119379">
                  <a:moveTo>
                    <a:pt x="0" y="0"/>
                  </a:moveTo>
                  <a:lnTo>
                    <a:pt x="0" y="59944"/>
                  </a:lnTo>
                  <a:lnTo>
                    <a:pt x="286638" y="59944"/>
                  </a:lnTo>
                  <a:lnTo>
                    <a:pt x="286638" y="118872"/>
                  </a:lnTo>
                </a:path>
              </a:pathLst>
            </a:custGeom>
            <a:ln w="9525">
              <a:solidFill>
                <a:srgbClr val="345A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453758" y="4339717"/>
              <a:ext cx="1014094" cy="1137920"/>
            </a:xfrm>
            <a:custGeom>
              <a:avLst/>
              <a:gdLst/>
              <a:ahLst/>
              <a:cxnLst/>
              <a:rect l="l" t="t" r="r" b="b"/>
              <a:pathLst>
                <a:path w="1014095" h="1137920">
                  <a:moveTo>
                    <a:pt x="0" y="0"/>
                  </a:moveTo>
                  <a:lnTo>
                    <a:pt x="0" y="1072514"/>
                  </a:lnTo>
                  <a:lnTo>
                    <a:pt x="1013967" y="1072514"/>
                  </a:lnTo>
                  <a:lnTo>
                    <a:pt x="1013967" y="1131569"/>
                  </a:lnTo>
                </a:path>
                <a:path w="1014095" h="1137920">
                  <a:moveTo>
                    <a:pt x="0" y="0"/>
                  </a:moveTo>
                  <a:lnTo>
                    <a:pt x="0" y="1078864"/>
                  </a:lnTo>
                  <a:lnTo>
                    <a:pt x="10794" y="1078864"/>
                  </a:lnTo>
                  <a:lnTo>
                    <a:pt x="10794" y="1137792"/>
                  </a:lnTo>
                </a:path>
              </a:pathLst>
            </a:custGeom>
            <a:ln w="9525">
              <a:solidFill>
                <a:srgbClr val="3966B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6453758" y="3843655"/>
              <a:ext cx="2447290" cy="119380"/>
            </a:xfrm>
            <a:custGeom>
              <a:avLst/>
              <a:gdLst/>
              <a:ahLst/>
              <a:cxnLst/>
              <a:rect l="l" t="t" r="r" b="b"/>
              <a:pathLst>
                <a:path w="2447290" h="119379">
                  <a:moveTo>
                    <a:pt x="2446782" y="0"/>
                  </a:moveTo>
                  <a:lnTo>
                    <a:pt x="2446782" y="59944"/>
                  </a:lnTo>
                  <a:lnTo>
                    <a:pt x="0" y="59944"/>
                  </a:lnTo>
                  <a:lnTo>
                    <a:pt x="0" y="118872"/>
                  </a:lnTo>
                </a:path>
              </a:pathLst>
            </a:custGeom>
            <a:ln w="9525">
              <a:solidFill>
                <a:srgbClr val="345A9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0223" y="3447237"/>
              <a:ext cx="496836" cy="45725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92133" y="3466592"/>
              <a:ext cx="416941" cy="377063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9146793" y="3519042"/>
            <a:ext cx="793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aseline="2136" sz="1950" spc="-217" b="1">
                <a:latin typeface="Arial"/>
                <a:cs typeface="Arial"/>
              </a:rPr>
              <a:t>/</a:t>
            </a:r>
            <a:r>
              <a:rPr dirty="0" sz="1400" spc="-145">
                <a:latin typeface="Arial"/>
                <a:cs typeface="Arial"/>
              </a:rPr>
              <a:t>/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202679" y="3942562"/>
            <a:ext cx="498475" cy="459105"/>
            <a:chOff x="6202679" y="3942562"/>
            <a:chExt cx="498475" cy="459105"/>
          </a:xfrm>
        </p:grpSpPr>
        <p:pic>
          <p:nvPicPr>
            <p:cNvPr id="40" name="object 4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202679" y="3942562"/>
              <a:ext cx="498348" cy="458749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45351" y="3962526"/>
              <a:ext cx="416814" cy="377190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6699884" y="4014977"/>
            <a:ext cx="3257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2136" sz="1950" spc="-1702" b="1">
                <a:latin typeface="Arial"/>
                <a:cs typeface="Arial"/>
              </a:rPr>
              <a:t>m</a:t>
            </a:r>
            <a:r>
              <a:rPr dirty="0" sz="1400" spc="-60">
                <a:latin typeface="Arial"/>
                <a:cs typeface="Arial"/>
              </a:rPr>
              <a:t>m</a:t>
            </a:r>
            <a:r>
              <a:rPr dirty="0" baseline="2136" sz="1950" spc="-1177" b="1">
                <a:latin typeface="Arial"/>
                <a:cs typeface="Arial"/>
              </a:rPr>
              <a:t>n</a:t>
            </a:r>
            <a:r>
              <a:rPr dirty="0" sz="1400" spc="-45">
                <a:latin typeface="Arial"/>
                <a:cs typeface="Arial"/>
              </a:rPr>
              <a:t>n</a:t>
            </a:r>
            <a:r>
              <a:rPr dirty="0" baseline="2136" sz="1950" spc="-637" b="1">
                <a:latin typeface="Arial"/>
                <a:cs typeface="Arial"/>
              </a:rPr>
              <a:t>t</a:t>
            </a:r>
            <a:r>
              <a:rPr dirty="0" sz="1400" spc="-10">
                <a:latin typeface="Arial"/>
                <a:cs typeface="Arial"/>
              </a:rPr>
              <a:t>t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8936735" y="3942562"/>
            <a:ext cx="497205" cy="459105"/>
            <a:chOff x="8936735" y="3942562"/>
            <a:chExt cx="497205" cy="459105"/>
          </a:xfrm>
        </p:grpSpPr>
        <p:pic>
          <p:nvPicPr>
            <p:cNvPr id="52" name="object 5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936735" y="3942562"/>
              <a:ext cx="496836" cy="458749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978772" y="3962526"/>
              <a:ext cx="416813" cy="377190"/>
            </a:xfrm>
            <a:prstGeom prst="rect">
              <a:avLst/>
            </a:prstGeom>
          </p:spPr>
        </p:pic>
      </p:grpSp>
      <p:sp>
        <p:nvSpPr>
          <p:cNvPr id="54" name="object 54"/>
          <p:cNvSpPr txBox="1"/>
          <p:nvPr/>
        </p:nvSpPr>
        <p:spPr>
          <a:xfrm>
            <a:off x="9433686" y="4014977"/>
            <a:ext cx="27749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2136" sz="1950" spc="-1185" b="1">
                <a:latin typeface="Arial"/>
                <a:cs typeface="Arial"/>
              </a:rPr>
              <a:t>u</a:t>
            </a:r>
            <a:r>
              <a:rPr dirty="0" sz="1400" spc="-25">
                <a:latin typeface="Arial"/>
                <a:cs typeface="Arial"/>
              </a:rPr>
              <a:t>u</a:t>
            </a:r>
            <a:r>
              <a:rPr dirty="0" baseline="2136" sz="1950" spc="-1080" b="1">
                <a:latin typeface="Arial"/>
                <a:cs typeface="Arial"/>
              </a:rPr>
              <a:t>s</a:t>
            </a:r>
            <a:r>
              <a:rPr dirty="0" sz="1400" spc="-5">
                <a:latin typeface="Arial"/>
                <a:cs typeface="Arial"/>
              </a:rPr>
              <a:t>s</a:t>
            </a:r>
            <a:r>
              <a:rPr dirty="0" baseline="2136" sz="1950" spc="-765" b="1">
                <a:latin typeface="Arial"/>
                <a:cs typeface="Arial"/>
              </a:rPr>
              <a:t>r</a:t>
            </a:r>
            <a:r>
              <a:rPr dirty="0" sz="1400" spc="-5">
                <a:latin typeface="Arial"/>
                <a:cs typeface="Arial"/>
              </a:rPr>
              <a:t>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10655807" y="3942562"/>
            <a:ext cx="497205" cy="459105"/>
            <a:chOff x="10655807" y="3942562"/>
            <a:chExt cx="497205" cy="459105"/>
          </a:xfrm>
        </p:grpSpPr>
        <p:pic>
          <p:nvPicPr>
            <p:cNvPr id="64" name="object 6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655807" y="3942562"/>
              <a:ext cx="496836" cy="458749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98225" y="3962526"/>
              <a:ext cx="416941" cy="377190"/>
            </a:xfrm>
            <a:prstGeom prst="rect">
              <a:avLst/>
            </a:prstGeom>
          </p:spPr>
        </p:pic>
      </p:grpSp>
      <p:sp>
        <p:nvSpPr>
          <p:cNvPr id="66" name="object 66"/>
          <p:cNvSpPr txBox="1"/>
          <p:nvPr/>
        </p:nvSpPr>
        <p:spPr>
          <a:xfrm>
            <a:off x="11153393" y="4014977"/>
            <a:ext cx="41910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2136" sz="1950" spc="-1702" b="1">
                <a:latin typeface="Arial"/>
                <a:cs typeface="Arial"/>
              </a:rPr>
              <a:t>m</a:t>
            </a:r>
            <a:r>
              <a:rPr dirty="0" sz="1400" spc="-60">
                <a:latin typeface="Arial"/>
                <a:cs typeface="Arial"/>
              </a:rPr>
              <a:t>m</a:t>
            </a:r>
            <a:r>
              <a:rPr dirty="0" baseline="2136" sz="1950" spc="-1177" b="1">
                <a:latin typeface="Arial"/>
                <a:cs typeface="Arial"/>
              </a:rPr>
              <a:t>n</a:t>
            </a:r>
            <a:r>
              <a:rPr dirty="0" sz="1400" spc="-40">
                <a:latin typeface="Arial"/>
                <a:cs typeface="Arial"/>
              </a:rPr>
              <a:t>n</a:t>
            </a:r>
            <a:r>
              <a:rPr dirty="0" baseline="2136" sz="1950" spc="-637" b="1">
                <a:latin typeface="Arial"/>
                <a:cs typeface="Arial"/>
              </a:rPr>
              <a:t>t</a:t>
            </a:r>
            <a:r>
              <a:rPr dirty="0" sz="1400" spc="-10">
                <a:latin typeface="Arial"/>
                <a:cs typeface="Arial"/>
              </a:rPr>
              <a:t>t</a:t>
            </a:r>
            <a:r>
              <a:rPr dirty="0" sz="1400" spc="-785">
                <a:latin typeface="Arial"/>
                <a:cs typeface="Arial"/>
              </a:rPr>
              <a:t>2</a:t>
            </a:r>
            <a:r>
              <a:rPr dirty="0" baseline="2136" sz="1950" spc="-30" b="1">
                <a:latin typeface="Arial"/>
                <a:cs typeface="Arial"/>
              </a:rPr>
              <a:t>2</a:t>
            </a:r>
            <a:endParaRPr baseline="2136" sz="1950">
              <a:latin typeface="Arial"/>
              <a:cs typeface="Arial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8362188" y="4439361"/>
            <a:ext cx="498475" cy="457834"/>
            <a:chOff x="8362188" y="4439361"/>
            <a:chExt cx="498475" cy="457834"/>
          </a:xfrm>
        </p:grpSpPr>
        <p:pic>
          <p:nvPicPr>
            <p:cNvPr id="56" name="object 5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362188" y="4439361"/>
              <a:ext cx="498348" cy="45725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405622" y="4458461"/>
              <a:ext cx="416813" cy="377189"/>
            </a:xfrm>
            <a:prstGeom prst="rect">
              <a:avLst/>
            </a:prstGeom>
          </p:spPr>
        </p:pic>
      </p:grpSp>
      <p:sp>
        <p:nvSpPr>
          <p:cNvPr id="58" name="object 58"/>
          <p:cNvSpPr txBox="1"/>
          <p:nvPr/>
        </p:nvSpPr>
        <p:spPr>
          <a:xfrm>
            <a:off x="8860281" y="4511166"/>
            <a:ext cx="27241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2136" sz="1950" spc="-1192" b="1">
                <a:latin typeface="Arial"/>
                <a:cs typeface="Arial"/>
              </a:rPr>
              <a:t>b</a:t>
            </a:r>
            <a:r>
              <a:rPr dirty="0" sz="1400" spc="-40">
                <a:latin typeface="Arial"/>
                <a:cs typeface="Arial"/>
              </a:rPr>
              <a:t>b</a:t>
            </a:r>
            <a:r>
              <a:rPr dirty="0" baseline="2136" sz="1950" spc="-547" b="1">
                <a:latin typeface="Arial"/>
                <a:cs typeface="Arial"/>
              </a:rPr>
              <a:t>i</a:t>
            </a:r>
            <a:r>
              <a:rPr dirty="0" sz="1400" spc="-25">
                <a:latin typeface="Arial"/>
                <a:cs typeface="Arial"/>
              </a:rPr>
              <a:t>i</a:t>
            </a:r>
            <a:r>
              <a:rPr dirty="0" sz="1400" spc="-770">
                <a:latin typeface="Arial"/>
                <a:cs typeface="Arial"/>
              </a:rPr>
              <a:t>n</a:t>
            </a:r>
            <a:r>
              <a:rPr dirty="0" baseline="2136" sz="1950" spc="-22" b="1">
                <a:latin typeface="Arial"/>
                <a:cs typeface="Arial"/>
              </a:rPr>
              <a:t>n</a:t>
            </a:r>
            <a:endParaRPr baseline="2136" sz="1950">
              <a:latin typeface="Arial"/>
              <a:cs typeface="Arial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9509759" y="4439361"/>
            <a:ext cx="497205" cy="457834"/>
            <a:chOff x="9509759" y="4439361"/>
            <a:chExt cx="497205" cy="457834"/>
          </a:xfrm>
        </p:grpSpPr>
        <p:pic>
          <p:nvPicPr>
            <p:cNvPr id="60" name="object 6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9509759" y="4439361"/>
              <a:ext cx="496836" cy="45725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9551923" y="4458461"/>
              <a:ext cx="416814" cy="377189"/>
            </a:xfrm>
            <a:prstGeom prst="rect">
              <a:avLst/>
            </a:prstGeom>
          </p:spPr>
        </p:pic>
      </p:grpSp>
      <p:sp>
        <p:nvSpPr>
          <p:cNvPr id="62" name="object 62"/>
          <p:cNvSpPr txBox="1"/>
          <p:nvPr/>
        </p:nvSpPr>
        <p:spPr>
          <a:xfrm>
            <a:off x="10006965" y="4511166"/>
            <a:ext cx="27241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2136" sz="1950" spc="-1072" b="1">
                <a:latin typeface="Arial"/>
                <a:cs typeface="Arial"/>
              </a:rPr>
              <a:t>s</a:t>
            </a:r>
            <a:r>
              <a:rPr dirty="0" sz="1400" spc="-25">
                <a:latin typeface="Arial"/>
                <a:cs typeface="Arial"/>
              </a:rPr>
              <a:t>s</a:t>
            </a:r>
            <a:r>
              <a:rPr dirty="0" baseline="2136" sz="1950" spc="-750" b="1">
                <a:latin typeface="Arial"/>
                <a:cs typeface="Arial"/>
              </a:rPr>
              <a:t>r</a:t>
            </a:r>
            <a:r>
              <a:rPr dirty="0" sz="1400" spc="-10">
                <a:latin typeface="Arial"/>
                <a:cs typeface="Arial"/>
              </a:rPr>
              <a:t>r</a:t>
            </a:r>
            <a:r>
              <a:rPr dirty="0" sz="1400" spc="-695">
                <a:latin typeface="Arial"/>
                <a:cs typeface="Arial"/>
              </a:rPr>
              <a:t>c</a:t>
            </a:r>
            <a:r>
              <a:rPr dirty="0" baseline="2136" sz="1950" spc="-30" b="1">
                <a:latin typeface="Arial"/>
                <a:cs typeface="Arial"/>
              </a:rPr>
              <a:t>c</a:t>
            </a:r>
            <a:endParaRPr baseline="2136" sz="195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6213347" y="5457444"/>
            <a:ext cx="498475" cy="459105"/>
            <a:chOff x="6213347" y="5457444"/>
            <a:chExt cx="498475" cy="459105"/>
          </a:xfrm>
        </p:grpSpPr>
        <p:pic>
          <p:nvPicPr>
            <p:cNvPr id="44" name="object 4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213347" y="5457444"/>
              <a:ext cx="498348" cy="458749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56019" y="5477510"/>
              <a:ext cx="416940" cy="377101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6710553" y="5523991"/>
            <a:ext cx="3276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2136" sz="1950" spc="-1192" b="1">
                <a:latin typeface="Arial"/>
                <a:cs typeface="Arial"/>
              </a:rPr>
              <a:t>d</a:t>
            </a:r>
            <a:r>
              <a:rPr dirty="0" sz="1400" spc="-30">
                <a:latin typeface="Arial"/>
                <a:cs typeface="Arial"/>
              </a:rPr>
              <a:t>d</a:t>
            </a:r>
            <a:r>
              <a:rPr dirty="0" baseline="2136" sz="1950" spc="-540" b="1">
                <a:latin typeface="Arial"/>
                <a:cs typeface="Arial"/>
              </a:rPr>
              <a:t>i</a:t>
            </a:r>
            <a:r>
              <a:rPr dirty="0" sz="1400" spc="-10">
                <a:latin typeface="Arial"/>
                <a:cs typeface="Arial"/>
              </a:rPr>
              <a:t>i</a:t>
            </a:r>
            <a:r>
              <a:rPr dirty="0" sz="1400" spc="-450">
                <a:latin typeface="Arial"/>
                <a:cs typeface="Arial"/>
              </a:rPr>
              <a:t>r</a:t>
            </a:r>
            <a:r>
              <a:rPr dirty="0" baseline="2136" sz="1950" spc="-120" b="1">
                <a:latin typeface="Arial"/>
                <a:cs typeface="Arial"/>
              </a:rPr>
              <a:t>r</a:t>
            </a:r>
            <a:r>
              <a:rPr dirty="0" sz="1400" spc="-725">
                <a:latin typeface="Arial"/>
                <a:cs typeface="Arial"/>
              </a:rPr>
              <a:t>1</a:t>
            </a:r>
            <a:r>
              <a:rPr dirty="0" baseline="2136" sz="1950" spc="-15" b="1">
                <a:latin typeface="Arial"/>
                <a:cs typeface="Arial"/>
              </a:rPr>
              <a:t>1</a:t>
            </a:r>
            <a:endParaRPr baseline="2136" sz="1950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7216140" y="5451347"/>
            <a:ext cx="498475" cy="459105"/>
            <a:chOff x="7216140" y="5451347"/>
            <a:chExt cx="498475" cy="459105"/>
          </a:xfrm>
        </p:grpSpPr>
        <p:pic>
          <p:nvPicPr>
            <p:cNvPr id="48" name="object 4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216140" y="5451347"/>
              <a:ext cx="498348" cy="45874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59193" y="5471286"/>
              <a:ext cx="416940" cy="377088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7713980" y="5531307"/>
            <a:ext cx="3276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2136" sz="1950" spc="-1192" b="1">
                <a:latin typeface="Arial"/>
                <a:cs typeface="Arial"/>
              </a:rPr>
              <a:t>d</a:t>
            </a:r>
            <a:r>
              <a:rPr dirty="0" sz="1400" spc="-30">
                <a:latin typeface="Arial"/>
                <a:cs typeface="Arial"/>
              </a:rPr>
              <a:t>d</a:t>
            </a:r>
            <a:r>
              <a:rPr dirty="0" baseline="2136" sz="1950" spc="-540" b="1">
                <a:latin typeface="Arial"/>
                <a:cs typeface="Arial"/>
              </a:rPr>
              <a:t>i</a:t>
            </a:r>
            <a:r>
              <a:rPr dirty="0" sz="1400" spc="-10">
                <a:latin typeface="Arial"/>
                <a:cs typeface="Arial"/>
              </a:rPr>
              <a:t>i</a:t>
            </a:r>
            <a:r>
              <a:rPr dirty="0" sz="1400" spc="-450">
                <a:latin typeface="Arial"/>
                <a:cs typeface="Arial"/>
              </a:rPr>
              <a:t>r</a:t>
            </a:r>
            <a:r>
              <a:rPr dirty="0" baseline="2136" sz="1950" spc="-120" b="1">
                <a:latin typeface="Arial"/>
                <a:cs typeface="Arial"/>
              </a:rPr>
              <a:t>r</a:t>
            </a:r>
            <a:r>
              <a:rPr dirty="0" sz="1400" spc="-725">
                <a:latin typeface="Arial"/>
                <a:cs typeface="Arial"/>
              </a:rPr>
              <a:t>2</a:t>
            </a:r>
            <a:r>
              <a:rPr dirty="0" baseline="2136" sz="1950" spc="-15" b="1">
                <a:latin typeface="Arial"/>
                <a:cs typeface="Arial"/>
              </a:rPr>
              <a:t>2</a:t>
            </a:r>
            <a:endParaRPr baseline="2136" sz="1950">
              <a:latin typeface="Arial"/>
              <a:cs typeface="Arial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10655807" y="5443728"/>
            <a:ext cx="497205" cy="459105"/>
            <a:chOff x="10655807" y="5443728"/>
            <a:chExt cx="497205" cy="459105"/>
          </a:xfrm>
        </p:grpSpPr>
        <p:pic>
          <p:nvPicPr>
            <p:cNvPr id="68" name="object 6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655807" y="5443728"/>
              <a:ext cx="496836" cy="458749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698225" y="5463667"/>
              <a:ext cx="416941" cy="377164"/>
            </a:xfrm>
            <a:prstGeom prst="rect">
              <a:avLst/>
            </a:prstGeom>
          </p:spPr>
        </p:pic>
      </p:grpSp>
      <p:sp>
        <p:nvSpPr>
          <p:cNvPr id="70" name="object 70"/>
          <p:cNvSpPr txBox="1"/>
          <p:nvPr/>
        </p:nvSpPr>
        <p:spPr>
          <a:xfrm>
            <a:off x="11153393" y="5516372"/>
            <a:ext cx="35560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2136" sz="1950" spc="-1395" b="1">
                <a:latin typeface="Arial"/>
                <a:cs typeface="Arial"/>
              </a:rPr>
              <a:t>D</a:t>
            </a:r>
            <a:r>
              <a:rPr dirty="0" sz="1400" spc="-120">
                <a:latin typeface="Arial"/>
                <a:cs typeface="Arial"/>
              </a:rPr>
              <a:t>D</a:t>
            </a:r>
            <a:r>
              <a:rPr dirty="0" baseline="2136" sz="1950" spc="-412" b="1">
                <a:latin typeface="Arial"/>
                <a:cs typeface="Arial"/>
              </a:rPr>
              <a:t>i</a:t>
            </a:r>
            <a:r>
              <a:rPr dirty="0" sz="1400" spc="-70">
                <a:latin typeface="Arial"/>
                <a:cs typeface="Arial"/>
              </a:rPr>
              <a:t>i</a:t>
            </a:r>
            <a:r>
              <a:rPr dirty="0" baseline="2136" sz="1950" spc="-697" b="1">
                <a:latin typeface="Arial"/>
                <a:cs typeface="Arial"/>
              </a:rPr>
              <a:t>r</a:t>
            </a:r>
            <a:r>
              <a:rPr dirty="0" sz="1400" spc="-25">
                <a:latin typeface="Arial"/>
                <a:cs typeface="Arial"/>
              </a:rPr>
              <a:t>r</a:t>
            </a:r>
            <a:r>
              <a:rPr dirty="0" baseline="2136" sz="1950" spc="-1095" b="1">
                <a:latin typeface="Arial"/>
                <a:cs typeface="Arial"/>
              </a:rPr>
              <a:t>3</a:t>
            </a:r>
            <a:r>
              <a:rPr dirty="0" sz="1400" spc="-10">
                <a:latin typeface="Arial"/>
                <a:cs typeface="Arial"/>
              </a:rPr>
              <a:t>3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6048755" y="2545079"/>
            <a:ext cx="5192395" cy="3168650"/>
            <a:chOff x="6048755" y="2545079"/>
            <a:chExt cx="5192395" cy="3168650"/>
          </a:xfrm>
        </p:grpSpPr>
        <p:pic>
          <p:nvPicPr>
            <p:cNvPr id="72" name="object 7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048755" y="2545079"/>
              <a:ext cx="3747515" cy="3090672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6095999" y="2569844"/>
              <a:ext cx="3657600" cy="3000375"/>
            </a:xfrm>
            <a:custGeom>
              <a:avLst/>
              <a:gdLst/>
              <a:ahLst/>
              <a:cxnLst/>
              <a:rect l="l" t="t" r="r" b="b"/>
              <a:pathLst>
                <a:path w="3657600" h="3000375">
                  <a:moveTo>
                    <a:pt x="0" y="500125"/>
                  </a:moveTo>
                  <a:lnTo>
                    <a:pt x="2289" y="451958"/>
                  </a:lnTo>
                  <a:lnTo>
                    <a:pt x="9017" y="405086"/>
                  </a:lnTo>
                  <a:lnTo>
                    <a:pt x="19975" y="359720"/>
                  </a:lnTo>
                  <a:lnTo>
                    <a:pt x="34952" y="316069"/>
                  </a:lnTo>
                  <a:lnTo>
                    <a:pt x="53740" y="274342"/>
                  </a:lnTo>
                  <a:lnTo>
                    <a:pt x="76128" y="234749"/>
                  </a:lnTo>
                  <a:lnTo>
                    <a:pt x="101908" y="197500"/>
                  </a:lnTo>
                  <a:lnTo>
                    <a:pt x="130870" y="162803"/>
                  </a:lnTo>
                  <a:lnTo>
                    <a:pt x="162803" y="130870"/>
                  </a:lnTo>
                  <a:lnTo>
                    <a:pt x="197500" y="101908"/>
                  </a:lnTo>
                  <a:lnTo>
                    <a:pt x="234749" y="76128"/>
                  </a:lnTo>
                  <a:lnTo>
                    <a:pt x="274342" y="53740"/>
                  </a:lnTo>
                  <a:lnTo>
                    <a:pt x="316069" y="34952"/>
                  </a:lnTo>
                  <a:lnTo>
                    <a:pt x="359720" y="19975"/>
                  </a:lnTo>
                  <a:lnTo>
                    <a:pt x="405086" y="9017"/>
                  </a:lnTo>
                  <a:lnTo>
                    <a:pt x="451958" y="2289"/>
                  </a:lnTo>
                  <a:lnTo>
                    <a:pt x="500125" y="0"/>
                  </a:lnTo>
                  <a:lnTo>
                    <a:pt x="3157220" y="0"/>
                  </a:lnTo>
                  <a:lnTo>
                    <a:pt x="3205387" y="2289"/>
                  </a:lnTo>
                  <a:lnTo>
                    <a:pt x="3252259" y="9017"/>
                  </a:lnTo>
                  <a:lnTo>
                    <a:pt x="3297625" y="19975"/>
                  </a:lnTo>
                  <a:lnTo>
                    <a:pt x="3341276" y="34952"/>
                  </a:lnTo>
                  <a:lnTo>
                    <a:pt x="3383003" y="53740"/>
                  </a:lnTo>
                  <a:lnTo>
                    <a:pt x="3422596" y="76128"/>
                  </a:lnTo>
                  <a:lnTo>
                    <a:pt x="3459845" y="101908"/>
                  </a:lnTo>
                  <a:lnTo>
                    <a:pt x="3494542" y="130870"/>
                  </a:lnTo>
                  <a:lnTo>
                    <a:pt x="3526475" y="162803"/>
                  </a:lnTo>
                  <a:lnTo>
                    <a:pt x="3555437" y="197500"/>
                  </a:lnTo>
                  <a:lnTo>
                    <a:pt x="3581217" y="234749"/>
                  </a:lnTo>
                  <a:lnTo>
                    <a:pt x="3603605" y="274342"/>
                  </a:lnTo>
                  <a:lnTo>
                    <a:pt x="3622393" y="316069"/>
                  </a:lnTo>
                  <a:lnTo>
                    <a:pt x="3637370" y="359720"/>
                  </a:lnTo>
                  <a:lnTo>
                    <a:pt x="3648328" y="405086"/>
                  </a:lnTo>
                  <a:lnTo>
                    <a:pt x="3655056" y="451958"/>
                  </a:lnTo>
                  <a:lnTo>
                    <a:pt x="3657346" y="500125"/>
                  </a:lnTo>
                  <a:lnTo>
                    <a:pt x="3657346" y="2500375"/>
                  </a:lnTo>
                  <a:lnTo>
                    <a:pt x="3655056" y="2548522"/>
                  </a:lnTo>
                  <a:lnTo>
                    <a:pt x="3648328" y="2595375"/>
                  </a:lnTo>
                  <a:lnTo>
                    <a:pt x="3637370" y="2640725"/>
                  </a:lnTo>
                  <a:lnTo>
                    <a:pt x="3622393" y="2684362"/>
                  </a:lnTo>
                  <a:lnTo>
                    <a:pt x="3603605" y="2726077"/>
                  </a:lnTo>
                  <a:lnTo>
                    <a:pt x="3581217" y="2765659"/>
                  </a:lnTo>
                  <a:lnTo>
                    <a:pt x="3555437" y="2802900"/>
                  </a:lnTo>
                  <a:lnTo>
                    <a:pt x="3526475" y="2837589"/>
                  </a:lnTo>
                  <a:lnTo>
                    <a:pt x="3494542" y="2869518"/>
                  </a:lnTo>
                  <a:lnTo>
                    <a:pt x="3459845" y="2898475"/>
                  </a:lnTo>
                  <a:lnTo>
                    <a:pt x="3422596" y="2924251"/>
                  </a:lnTo>
                  <a:lnTo>
                    <a:pt x="3383003" y="2946637"/>
                  </a:lnTo>
                  <a:lnTo>
                    <a:pt x="3341276" y="2965424"/>
                  </a:lnTo>
                  <a:lnTo>
                    <a:pt x="3297625" y="2980400"/>
                  </a:lnTo>
                  <a:lnTo>
                    <a:pt x="3252259" y="2991357"/>
                  </a:lnTo>
                  <a:lnTo>
                    <a:pt x="3205387" y="2998085"/>
                  </a:lnTo>
                  <a:lnTo>
                    <a:pt x="3157220" y="3000374"/>
                  </a:lnTo>
                  <a:lnTo>
                    <a:pt x="500125" y="3000374"/>
                  </a:lnTo>
                  <a:lnTo>
                    <a:pt x="451958" y="2998085"/>
                  </a:lnTo>
                  <a:lnTo>
                    <a:pt x="405086" y="2991357"/>
                  </a:lnTo>
                  <a:lnTo>
                    <a:pt x="359720" y="2980400"/>
                  </a:lnTo>
                  <a:lnTo>
                    <a:pt x="316069" y="2965424"/>
                  </a:lnTo>
                  <a:lnTo>
                    <a:pt x="274342" y="2946637"/>
                  </a:lnTo>
                  <a:lnTo>
                    <a:pt x="234749" y="2924251"/>
                  </a:lnTo>
                  <a:lnTo>
                    <a:pt x="197500" y="2898475"/>
                  </a:lnTo>
                  <a:lnTo>
                    <a:pt x="162803" y="2869518"/>
                  </a:lnTo>
                  <a:lnTo>
                    <a:pt x="130870" y="2837589"/>
                  </a:lnTo>
                  <a:lnTo>
                    <a:pt x="101908" y="2802900"/>
                  </a:lnTo>
                  <a:lnTo>
                    <a:pt x="76128" y="2765659"/>
                  </a:lnTo>
                  <a:lnTo>
                    <a:pt x="53740" y="2726077"/>
                  </a:lnTo>
                  <a:lnTo>
                    <a:pt x="34952" y="2684362"/>
                  </a:lnTo>
                  <a:lnTo>
                    <a:pt x="19975" y="2640725"/>
                  </a:lnTo>
                  <a:lnTo>
                    <a:pt x="9017" y="2595375"/>
                  </a:lnTo>
                  <a:lnTo>
                    <a:pt x="2289" y="2548522"/>
                  </a:lnTo>
                  <a:lnTo>
                    <a:pt x="0" y="2500375"/>
                  </a:lnTo>
                  <a:lnTo>
                    <a:pt x="0" y="500125"/>
                  </a:lnTo>
                  <a:close/>
                </a:path>
              </a:pathLst>
            </a:custGeom>
            <a:ln w="9525">
              <a:solidFill>
                <a:srgbClr val="3D6DC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4" name="object 7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834883" y="2622803"/>
              <a:ext cx="3406139" cy="3090672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7882508" y="2647949"/>
              <a:ext cx="3316604" cy="3000375"/>
            </a:xfrm>
            <a:custGeom>
              <a:avLst/>
              <a:gdLst/>
              <a:ahLst/>
              <a:cxnLst/>
              <a:rect l="l" t="t" r="r" b="b"/>
              <a:pathLst>
                <a:path w="3316604" h="3000375">
                  <a:moveTo>
                    <a:pt x="0" y="499999"/>
                  </a:moveTo>
                  <a:lnTo>
                    <a:pt x="2289" y="451832"/>
                  </a:lnTo>
                  <a:lnTo>
                    <a:pt x="9017" y="404964"/>
                  </a:lnTo>
                  <a:lnTo>
                    <a:pt x="19974" y="359604"/>
                  </a:lnTo>
                  <a:lnTo>
                    <a:pt x="34950" y="315959"/>
                  </a:lnTo>
                  <a:lnTo>
                    <a:pt x="53737" y="274241"/>
                  </a:lnTo>
                  <a:lnTo>
                    <a:pt x="76123" y="234658"/>
                  </a:lnTo>
                  <a:lnTo>
                    <a:pt x="101899" y="197419"/>
                  </a:lnTo>
                  <a:lnTo>
                    <a:pt x="130856" y="162734"/>
                  </a:lnTo>
                  <a:lnTo>
                    <a:pt x="162785" y="130812"/>
                  </a:lnTo>
                  <a:lnTo>
                    <a:pt x="197474" y="101861"/>
                  </a:lnTo>
                  <a:lnTo>
                    <a:pt x="234715" y="76092"/>
                  </a:lnTo>
                  <a:lnTo>
                    <a:pt x="274297" y="53713"/>
                  </a:lnTo>
                  <a:lnTo>
                    <a:pt x="316012" y="34934"/>
                  </a:lnTo>
                  <a:lnTo>
                    <a:pt x="359649" y="19964"/>
                  </a:lnTo>
                  <a:lnTo>
                    <a:pt x="404999" y="9012"/>
                  </a:lnTo>
                  <a:lnTo>
                    <a:pt x="451852" y="2288"/>
                  </a:lnTo>
                  <a:lnTo>
                    <a:pt x="499999" y="0"/>
                  </a:lnTo>
                  <a:lnTo>
                    <a:pt x="2815971" y="0"/>
                  </a:lnTo>
                  <a:lnTo>
                    <a:pt x="2864138" y="2288"/>
                  </a:lnTo>
                  <a:lnTo>
                    <a:pt x="2911010" y="9012"/>
                  </a:lnTo>
                  <a:lnTo>
                    <a:pt x="2956376" y="19964"/>
                  </a:lnTo>
                  <a:lnTo>
                    <a:pt x="3000027" y="34934"/>
                  </a:lnTo>
                  <a:lnTo>
                    <a:pt x="3041754" y="53713"/>
                  </a:lnTo>
                  <a:lnTo>
                    <a:pt x="3081347" y="76092"/>
                  </a:lnTo>
                  <a:lnTo>
                    <a:pt x="3118596" y="101861"/>
                  </a:lnTo>
                  <a:lnTo>
                    <a:pt x="3153293" y="130812"/>
                  </a:lnTo>
                  <a:lnTo>
                    <a:pt x="3185226" y="162734"/>
                  </a:lnTo>
                  <a:lnTo>
                    <a:pt x="3214188" y="197419"/>
                  </a:lnTo>
                  <a:lnTo>
                    <a:pt x="3239968" y="234658"/>
                  </a:lnTo>
                  <a:lnTo>
                    <a:pt x="3262356" y="274241"/>
                  </a:lnTo>
                  <a:lnTo>
                    <a:pt x="3281144" y="315959"/>
                  </a:lnTo>
                  <a:lnTo>
                    <a:pt x="3296121" y="359604"/>
                  </a:lnTo>
                  <a:lnTo>
                    <a:pt x="3307079" y="404964"/>
                  </a:lnTo>
                  <a:lnTo>
                    <a:pt x="3313807" y="451832"/>
                  </a:lnTo>
                  <a:lnTo>
                    <a:pt x="3316097" y="499999"/>
                  </a:lnTo>
                  <a:lnTo>
                    <a:pt x="3316097" y="2500249"/>
                  </a:lnTo>
                  <a:lnTo>
                    <a:pt x="3313807" y="2548415"/>
                  </a:lnTo>
                  <a:lnTo>
                    <a:pt x="3307079" y="2595285"/>
                  </a:lnTo>
                  <a:lnTo>
                    <a:pt x="3296121" y="2640649"/>
                  </a:lnTo>
                  <a:lnTo>
                    <a:pt x="3281144" y="2684296"/>
                  </a:lnTo>
                  <a:lnTo>
                    <a:pt x="3262356" y="2726019"/>
                  </a:lnTo>
                  <a:lnTo>
                    <a:pt x="3239968" y="2765607"/>
                  </a:lnTo>
                  <a:lnTo>
                    <a:pt x="3214188" y="2802851"/>
                  </a:lnTo>
                  <a:lnTo>
                    <a:pt x="3185226" y="2837542"/>
                  </a:lnTo>
                  <a:lnTo>
                    <a:pt x="3153293" y="2869470"/>
                  </a:lnTo>
                  <a:lnTo>
                    <a:pt x="3118596" y="2898426"/>
                  </a:lnTo>
                  <a:lnTo>
                    <a:pt x="3081347" y="2924200"/>
                  </a:lnTo>
                  <a:lnTo>
                    <a:pt x="3041754" y="2946584"/>
                  </a:lnTo>
                  <a:lnTo>
                    <a:pt x="3000027" y="2965367"/>
                  </a:lnTo>
                  <a:lnTo>
                    <a:pt x="2956376" y="2980341"/>
                  </a:lnTo>
                  <a:lnTo>
                    <a:pt x="2911010" y="2991296"/>
                  </a:lnTo>
                  <a:lnTo>
                    <a:pt x="2864138" y="2998022"/>
                  </a:lnTo>
                  <a:lnTo>
                    <a:pt x="2815971" y="3000311"/>
                  </a:lnTo>
                  <a:lnTo>
                    <a:pt x="499999" y="3000311"/>
                  </a:lnTo>
                  <a:lnTo>
                    <a:pt x="451852" y="2998022"/>
                  </a:lnTo>
                  <a:lnTo>
                    <a:pt x="404999" y="2991296"/>
                  </a:lnTo>
                  <a:lnTo>
                    <a:pt x="359649" y="2980341"/>
                  </a:lnTo>
                  <a:lnTo>
                    <a:pt x="316012" y="2965367"/>
                  </a:lnTo>
                  <a:lnTo>
                    <a:pt x="274297" y="2946584"/>
                  </a:lnTo>
                  <a:lnTo>
                    <a:pt x="234715" y="2924200"/>
                  </a:lnTo>
                  <a:lnTo>
                    <a:pt x="197474" y="2898426"/>
                  </a:lnTo>
                  <a:lnTo>
                    <a:pt x="162785" y="2869470"/>
                  </a:lnTo>
                  <a:lnTo>
                    <a:pt x="130856" y="2837542"/>
                  </a:lnTo>
                  <a:lnTo>
                    <a:pt x="101899" y="2802851"/>
                  </a:lnTo>
                  <a:lnTo>
                    <a:pt x="76123" y="2765607"/>
                  </a:lnTo>
                  <a:lnTo>
                    <a:pt x="53737" y="2726019"/>
                  </a:lnTo>
                  <a:lnTo>
                    <a:pt x="34950" y="2684296"/>
                  </a:lnTo>
                  <a:lnTo>
                    <a:pt x="19974" y="2640649"/>
                  </a:lnTo>
                  <a:lnTo>
                    <a:pt x="9017" y="2595285"/>
                  </a:lnTo>
                  <a:lnTo>
                    <a:pt x="2289" y="2548415"/>
                  </a:lnTo>
                  <a:lnTo>
                    <a:pt x="0" y="2500249"/>
                  </a:lnTo>
                  <a:lnTo>
                    <a:pt x="0" y="499999"/>
                  </a:lnTo>
                  <a:close/>
                </a:path>
              </a:pathLst>
            </a:custGeom>
            <a:ln w="9525">
              <a:solidFill>
                <a:srgbClr val="E7E6E6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45085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57150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Linux</a:t>
            </a:r>
            <a:r>
              <a:rPr dirty="0" spc="-11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Filesystems</a:t>
            </a:r>
            <a:r>
              <a:rPr dirty="0" spc="-5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before</a:t>
            </a:r>
            <a:r>
              <a:rPr dirty="0" spc="-9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Namespaces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25323" y="1375438"/>
            <a:ext cx="4893310" cy="4552315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25"/>
              </a:spcBef>
              <a:buSzPct val="75000"/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/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root</a:t>
            </a:r>
            <a:r>
              <a:rPr dirty="0" sz="2400" spc="-30" i="1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file</a:t>
            </a:r>
            <a:r>
              <a:rPr dirty="0" sz="2400" spc="-15" i="1">
                <a:latin typeface="Calibri"/>
                <a:cs typeface="Calibri"/>
              </a:rPr>
              <a:t> </a:t>
            </a:r>
            <a:r>
              <a:rPr dirty="0" sz="2400" spc="-10" i="1">
                <a:latin typeface="Calibri"/>
                <a:cs typeface="Calibri"/>
              </a:rPr>
              <a:t>system</a:t>
            </a:r>
            <a:endParaRPr sz="2400">
              <a:latin typeface="Calibri"/>
              <a:cs typeface="Calibri"/>
            </a:endParaRPr>
          </a:p>
          <a:p>
            <a:pPr lvl="1" marL="812165" indent="-342265">
              <a:lnSpc>
                <a:spcPct val="100000"/>
              </a:lnSpc>
              <a:spcBef>
                <a:spcPts val="825"/>
              </a:spcBef>
              <a:buSzPct val="75000"/>
              <a:buFont typeface="Arial"/>
              <a:buChar char="•"/>
              <a:tabLst>
                <a:tab pos="812165" algn="l"/>
              </a:tabLst>
            </a:pPr>
            <a:r>
              <a:rPr dirty="0" sz="2400">
                <a:latin typeface="Calibri"/>
                <a:cs typeface="Calibri"/>
              </a:rPr>
              <a:t>Contains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vmunix</a:t>
            </a:r>
            <a:r>
              <a:rPr dirty="0" sz="2400" spc="-45" i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–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OS</a:t>
            </a:r>
            <a:endParaRPr sz="2400">
              <a:latin typeface="Calibri"/>
              <a:cs typeface="Calibri"/>
            </a:endParaRPr>
          </a:p>
          <a:p>
            <a:pPr lvl="1" marL="812165" indent="-342265">
              <a:lnSpc>
                <a:spcPct val="100000"/>
              </a:lnSpc>
              <a:spcBef>
                <a:spcPts val="605"/>
              </a:spcBef>
              <a:buSzPct val="75000"/>
              <a:buFont typeface="Arial"/>
              <a:buChar char="•"/>
              <a:tabLst>
                <a:tab pos="812165" algn="l"/>
              </a:tabLst>
            </a:pPr>
            <a:r>
              <a:rPr dirty="0" sz="2400" i="1">
                <a:latin typeface="Calibri"/>
                <a:cs typeface="Calibri"/>
              </a:rPr>
              <a:t>usr,</a:t>
            </a:r>
            <a:r>
              <a:rPr dirty="0" sz="2400" spc="-25" i="1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bin,</a:t>
            </a:r>
            <a:r>
              <a:rPr dirty="0" sz="2400" spc="-25" i="1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src</a:t>
            </a:r>
            <a:r>
              <a:rPr dirty="0" sz="2400" spc="-30" i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all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subdirectories</a:t>
            </a:r>
            <a:endParaRPr sz="2400">
              <a:latin typeface="Calibri"/>
              <a:cs typeface="Calibri"/>
            </a:endParaRPr>
          </a:p>
          <a:p>
            <a:pPr marL="355600" marR="207010" indent="-342900">
              <a:lnSpc>
                <a:spcPts val="2590"/>
              </a:lnSpc>
              <a:spcBef>
                <a:spcPts val="1045"/>
              </a:spcBef>
              <a:buSzPct val="75000"/>
              <a:buFont typeface="Arial"/>
              <a:buChar char="•"/>
              <a:tabLst>
                <a:tab pos="355600" algn="l"/>
              </a:tabLst>
            </a:pPr>
            <a:r>
              <a:rPr dirty="0" sz="2400" i="1">
                <a:latin typeface="Calibri"/>
                <a:cs typeface="Calibri"/>
              </a:rPr>
              <a:t>O1,</a:t>
            </a:r>
            <a:r>
              <a:rPr dirty="0" sz="2400" spc="-50" i="1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O2</a:t>
            </a:r>
            <a:r>
              <a:rPr dirty="0" sz="2400" spc="-60" i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volumes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containing </a:t>
            </a:r>
            <a:r>
              <a:rPr dirty="0" sz="2400">
                <a:latin typeface="Calibri"/>
                <a:cs typeface="Calibri"/>
              </a:rPr>
              <a:t>different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versions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application </a:t>
            </a:r>
            <a:r>
              <a:rPr dirty="0" sz="2400">
                <a:latin typeface="Calibri"/>
                <a:cs typeface="Calibri"/>
              </a:rPr>
              <a:t>(e.g.,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Oracle)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80"/>
              </a:spcBef>
              <a:buSzPct val="75000"/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Mounted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at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/mnt</a:t>
            </a:r>
            <a:r>
              <a:rPr dirty="0" sz="2400" spc="-55" i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 i="1">
                <a:latin typeface="Calibri"/>
                <a:cs typeface="Calibri"/>
              </a:rPr>
              <a:t>/mnt2</a:t>
            </a:r>
            <a:endParaRPr sz="2400">
              <a:latin typeface="Calibri"/>
              <a:cs typeface="Calibri"/>
            </a:endParaRPr>
          </a:p>
          <a:p>
            <a:pPr marL="355600" marR="765810" indent="-342900">
              <a:lnSpc>
                <a:spcPts val="2590"/>
              </a:lnSpc>
              <a:spcBef>
                <a:spcPts val="1035"/>
              </a:spcBef>
              <a:buSzPct val="75000"/>
              <a:buFont typeface="Arial"/>
              <a:buChar char="•"/>
              <a:tabLst>
                <a:tab pos="355600" algn="l"/>
              </a:tabLst>
            </a:pPr>
            <a:r>
              <a:rPr dirty="0" sz="2400">
                <a:latin typeface="Calibri"/>
                <a:cs typeface="Calibri"/>
              </a:rPr>
              <a:t>This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namespace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visible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all </a:t>
            </a:r>
            <a:r>
              <a:rPr dirty="0" sz="2400" spc="-10">
                <a:latin typeface="Calibri"/>
                <a:cs typeface="Calibri"/>
              </a:rPr>
              <a:t>processes</a:t>
            </a:r>
            <a:endParaRPr sz="2400">
              <a:latin typeface="Calibri"/>
              <a:cs typeface="Calibri"/>
            </a:endParaRPr>
          </a:p>
          <a:p>
            <a:pPr marL="355600" marR="870585" indent="-342900">
              <a:lnSpc>
                <a:spcPts val="2590"/>
              </a:lnSpc>
              <a:spcBef>
                <a:spcPts val="1015"/>
              </a:spcBef>
              <a:buSzPct val="75000"/>
              <a:buFont typeface="Arial"/>
              <a:buChar char="•"/>
              <a:tabLst>
                <a:tab pos="355600" algn="l"/>
              </a:tabLst>
            </a:pPr>
            <a:r>
              <a:rPr dirty="0" sz="2400">
                <a:latin typeface="Calibri"/>
                <a:cs typeface="Calibri"/>
              </a:rPr>
              <a:t>Access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directories </a:t>
            </a:r>
            <a:r>
              <a:rPr dirty="0" sz="2400">
                <a:latin typeface="Calibri"/>
                <a:cs typeface="Calibri"/>
              </a:rPr>
              <a:t>controlled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by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access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rights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917374" y="2840761"/>
            <a:ext cx="4587240" cy="2310130"/>
            <a:chOff x="5917374" y="2840761"/>
            <a:chExt cx="4587240" cy="2310130"/>
          </a:xfrm>
        </p:grpSpPr>
        <p:sp>
          <p:nvSpPr>
            <p:cNvPr id="6" name="object 6"/>
            <p:cNvSpPr/>
            <p:nvPr/>
          </p:nvSpPr>
          <p:spPr>
            <a:xfrm>
              <a:off x="10499471" y="3852926"/>
              <a:ext cx="0" cy="1277620"/>
            </a:xfrm>
            <a:custGeom>
              <a:avLst/>
              <a:gdLst/>
              <a:ahLst/>
              <a:cxnLst/>
              <a:rect l="l" t="t" r="r" b="b"/>
              <a:pathLst>
                <a:path w="0" h="1277620">
                  <a:moveTo>
                    <a:pt x="0" y="0"/>
                  </a:moveTo>
                  <a:lnTo>
                    <a:pt x="0" y="1277112"/>
                  </a:lnTo>
                </a:path>
              </a:pathLst>
            </a:custGeom>
            <a:ln w="9525">
              <a:solidFill>
                <a:srgbClr val="3966B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437244" y="3289554"/>
              <a:ext cx="2062480" cy="135255"/>
            </a:xfrm>
            <a:custGeom>
              <a:avLst/>
              <a:gdLst/>
              <a:ahLst/>
              <a:cxnLst/>
              <a:rect l="l" t="t" r="r" b="b"/>
              <a:pathLst>
                <a:path w="2062479" h="135254">
                  <a:moveTo>
                    <a:pt x="0" y="0"/>
                  </a:moveTo>
                  <a:lnTo>
                    <a:pt x="0" y="67945"/>
                  </a:lnTo>
                  <a:lnTo>
                    <a:pt x="2062226" y="67945"/>
                  </a:lnTo>
                  <a:lnTo>
                    <a:pt x="2062226" y="134874"/>
                  </a:lnTo>
                </a:path>
              </a:pathLst>
            </a:custGeom>
            <a:ln w="9525">
              <a:solidFill>
                <a:srgbClr val="345A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142732" y="3852926"/>
              <a:ext cx="1178560" cy="135255"/>
            </a:xfrm>
            <a:custGeom>
              <a:avLst/>
              <a:gdLst/>
              <a:ahLst/>
              <a:cxnLst/>
              <a:rect l="l" t="t" r="r" b="b"/>
              <a:pathLst>
                <a:path w="1178559" h="135254">
                  <a:moveTo>
                    <a:pt x="589152" y="0"/>
                  </a:moveTo>
                  <a:lnTo>
                    <a:pt x="589152" y="68072"/>
                  </a:lnTo>
                  <a:lnTo>
                    <a:pt x="1178306" y="68072"/>
                  </a:lnTo>
                  <a:lnTo>
                    <a:pt x="1178306" y="135000"/>
                  </a:lnTo>
                </a:path>
                <a:path w="1178559" h="135254">
                  <a:moveTo>
                    <a:pt x="589152" y="0"/>
                  </a:moveTo>
                  <a:lnTo>
                    <a:pt x="589152" y="68072"/>
                  </a:lnTo>
                  <a:lnTo>
                    <a:pt x="0" y="68072"/>
                  </a:lnTo>
                  <a:lnTo>
                    <a:pt x="0" y="135000"/>
                  </a:lnTo>
                </a:path>
              </a:pathLst>
            </a:custGeom>
            <a:ln w="9525">
              <a:solidFill>
                <a:srgbClr val="3966B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437244" y="3289554"/>
              <a:ext cx="294640" cy="135255"/>
            </a:xfrm>
            <a:custGeom>
              <a:avLst/>
              <a:gdLst/>
              <a:ahLst/>
              <a:cxnLst/>
              <a:rect l="l" t="t" r="r" b="b"/>
              <a:pathLst>
                <a:path w="294640" h="135254">
                  <a:moveTo>
                    <a:pt x="0" y="0"/>
                  </a:moveTo>
                  <a:lnTo>
                    <a:pt x="0" y="67945"/>
                  </a:lnTo>
                  <a:lnTo>
                    <a:pt x="294639" y="67945"/>
                  </a:lnTo>
                  <a:lnTo>
                    <a:pt x="294639" y="134874"/>
                  </a:lnTo>
                </a:path>
              </a:pathLst>
            </a:custGeom>
            <a:ln w="9525">
              <a:solidFill>
                <a:srgbClr val="345A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922136" y="3852926"/>
              <a:ext cx="1042669" cy="1292860"/>
            </a:xfrm>
            <a:custGeom>
              <a:avLst/>
              <a:gdLst/>
              <a:ahLst/>
              <a:cxnLst/>
              <a:rect l="l" t="t" r="r" b="b"/>
              <a:pathLst>
                <a:path w="1042670" h="1292860">
                  <a:moveTo>
                    <a:pt x="0" y="0"/>
                  </a:moveTo>
                  <a:lnTo>
                    <a:pt x="0" y="1218692"/>
                  </a:lnTo>
                  <a:lnTo>
                    <a:pt x="1042162" y="1218692"/>
                  </a:lnTo>
                  <a:lnTo>
                    <a:pt x="1042162" y="1285621"/>
                  </a:lnTo>
                </a:path>
                <a:path w="1042670" h="1292860">
                  <a:moveTo>
                    <a:pt x="0" y="0"/>
                  </a:moveTo>
                  <a:lnTo>
                    <a:pt x="0" y="1225804"/>
                  </a:lnTo>
                  <a:lnTo>
                    <a:pt x="11049" y="1225804"/>
                  </a:lnTo>
                  <a:lnTo>
                    <a:pt x="11049" y="1292733"/>
                  </a:lnTo>
                </a:path>
              </a:pathLst>
            </a:custGeom>
            <a:ln w="9525">
              <a:solidFill>
                <a:srgbClr val="3966B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922136" y="3289554"/>
              <a:ext cx="2515235" cy="135255"/>
            </a:xfrm>
            <a:custGeom>
              <a:avLst/>
              <a:gdLst/>
              <a:ahLst/>
              <a:cxnLst/>
              <a:rect l="l" t="t" r="r" b="b"/>
              <a:pathLst>
                <a:path w="2515234" h="135254">
                  <a:moveTo>
                    <a:pt x="2515108" y="0"/>
                  </a:moveTo>
                  <a:lnTo>
                    <a:pt x="2515108" y="67945"/>
                  </a:lnTo>
                  <a:lnTo>
                    <a:pt x="0" y="67945"/>
                  </a:lnTo>
                  <a:lnTo>
                    <a:pt x="0" y="134874"/>
                  </a:lnTo>
                </a:path>
              </a:pathLst>
            </a:custGeom>
            <a:ln w="9525">
              <a:solidFill>
                <a:srgbClr val="345A9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80832" y="2840761"/>
              <a:ext cx="509003" cy="51051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22995" y="2861056"/>
              <a:ext cx="428498" cy="428498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8704580" y="2913633"/>
            <a:ext cx="8572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5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664708" y="3404628"/>
            <a:ext cx="509270" cy="509270"/>
            <a:chOff x="5664708" y="3404628"/>
            <a:chExt cx="509270" cy="509270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64708" y="3404628"/>
              <a:ext cx="509003" cy="50900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07888" y="3424427"/>
              <a:ext cx="428498" cy="428498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6189090" y="3477259"/>
            <a:ext cx="3867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25">
                <a:latin typeface="Arial"/>
                <a:cs typeface="Arial"/>
              </a:rPr>
              <a:t>mnt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474964" y="3404628"/>
            <a:ext cx="509270" cy="509270"/>
            <a:chOff x="8474964" y="3404628"/>
            <a:chExt cx="509270" cy="509270"/>
          </a:xfrm>
        </p:grpSpPr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474964" y="3404628"/>
              <a:ext cx="509003" cy="509003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517636" y="3424427"/>
              <a:ext cx="428498" cy="428498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8999346" y="3477259"/>
            <a:ext cx="326390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25">
                <a:latin typeface="Arial"/>
                <a:cs typeface="Arial"/>
              </a:rPr>
              <a:t>usr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0242804" y="3404628"/>
            <a:ext cx="509270" cy="509270"/>
            <a:chOff x="10242804" y="3404628"/>
            <a:chExt cx="509270" cy="509270"/>
          </a:xfrm>
        </p:grpSpPr>
        <p:pic>
          <p:nvPicPr>
            <p:cNvPr id="40" name="object 4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242804" y="3404628"/>
              <a:ext cx="509003" cy="509003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285222" y="3424427"/>
              <a:ext cx="428498" cy="428498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10767186" y="3477259"/>
            <a:ext cx="50609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20">
                <a:latin typeface="Arial"/>
                <a:cs typeface="Arial"/>
              </a:rPr>
              <a:t>mnt2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885176" y="3968508"/>
            <a:ext cx="510540" cy="509270"/>
            <a:chOff x="7885176" y="3968508"/>
            <a:chExt cx="510540" cy="509270"/>
          </a:xfrm>
        </p:grpSpPr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85176" y="3968508"/>
              <a:ext cx="510514" cy="509003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928483" y="3987926"/>
              <a:ext cx="428498" cy="428498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8410193" y="4040885"/>
            <a:ext cx="31496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>
                <a:latin typeface="Arial"/>
                <a:cs typeface="Arial"/>
              </a:rPr>
              <a:t>bin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9064752" y="3968508"/>
            <a:ext cx="509270" cy="509270"/>
            <a:chOff x="9064752" y="3968508"/>
            <a:chExt cx="509270" cy="509270"/>
          </a:xfrm>
        </p:grpSpPr>
        <p:pic>
          <p:nvPicPr>
            <p:cNvPr id="36" name="object 3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064752" y="3968508"/>
              <a:ext cx="509003" cy="509003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106789" y="3987926"/>
              <a:ext cx="428497" cy="428498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9588500" y="4040885"/>
            <a:ext cx="31432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>
                <a:latin typeface="Arial"/>
                <a:cs typeface="Arial"/>
              </a:rPr>
              <a:t>src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5644896" y="4201642"/>
            <a:ext cx="594995" cy="501650"/>
            <a:chOff x="5644896" y="4201642"/>
            <a:chExt cx="594995" cy="501650"/>
          </a:xfrm>
        </p:grpSpPr>
        <p:pic>
          <p:nvPicPr>
            <p:cNvPr id="48" name="object 4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644896" y="4201642"/>
              <a:ext cx="594398" cy="449605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675376" y="4248924"/>
              <a:ext cx="531901" cy="454139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5692140" y="4271645"/>
              <a:ext cx="504825" cy="314325"/>
            </a:xfrm>
            <a:custGeom>
              <a:avLst/>
              <a:gdLst/>
              <a:ahLst/>
              <a:cxnLst/>
              <a:rect l="l" t="t" r="r" b="b"/>
              <a:pathLst>
                <a:path w="504825" h="314325">
                  <a:moveTo>
                    <a:pt x="504825" y="0"/>
                  </a:moveTo>
                  <a:lnTo>
                    <a:pt x="456158" y="26478"/>
                  </a:lnTo>
                  <a:lnTo>
                    <a:pt x="401543" y="36182"/>
                  </a:lnTo>
                  <a:lnTo>
                    <a:pt x="332267" y="42546"/>
                  </a:lnTo>
                  <a:lnTo>
                    <a:pt x="252475" y="44830"/>
                  </a:lnTo>
                  <a:lnTo>
                    <a:pt x="172671" y="42546"/>
                  </a:lnTo>
                  <a:lnTo>
                    <a:pt x="103363" y="36182"/>
                  </a:lnTo>
                  <a:lnTo>
                    <a:pt x="48711" y="26478"/>
                  </a:lnTo>
                  <a:lnTo>
                    <a:pt x="12870" y="14172"/>
                  </a:lnTo>
                  <a:lnTo>
                    <a:pt x="0" y="0"/>
                  </a:lnTo>
                  <a:lnTo>
                    <a:pt x="0" y="269112"/>
                  </a:lnTo>
                  <a:lnTo>
                    <a:pt x="48711" y="295591"/>
                  </a:lnTo>
                  <a:lnTo>
                    <a:pt x="103363" y="305295"/>
                  </a:lnTo>
                  <a:lnTo>
                    <a:pt x="172671" y="311659"/>
                  </a:lnTo>
                  <a:lnTo>
                    <a:pt x="252475" y="313943"/>
                  </a:lnTo>
                  <a:lnTo>
                    <a:pt x="332267" y="311659"/>
                  </a:lnTo>
                  <a:lnTo>
                    <a:pt x="401543" y="305295"/>
                  </a:lnTo>
                  <a:lnTo>
                    <a:pt x="456158" y="295591"/>
                  </a:lnTo>
                  <a:lnTo>
                    <a:pt x="491967" y="283285"/>
                  </a:lnTo>
                  <a:lnTo>
                    <a:pt x="504825" y="269112"/>
                  </a:lnTo>
                  <a:lnTo>
                    <a:pt x="504825" y="0"/>
                  </a:lnTo>
                  <a:close/>
                </a:path>
              </a:pathLst>
            </a:custGeom>
            <a:solidFill>
              <a:srgbClr val="C4DF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5692140" y="4226814"/>
              <a:ext cx="504825" cy="90170"/>
            </a:xfrm>
            <a:custGeom>
              <a:avLst/>
              <a:gdLst/>
              <a:ahLst/>
              <a:cxnLst/>
              <a:rect l="l" t="t" r="r" b="b"/>
              <a:pathLst>
                <a:path w="504825" h="90170">
                  <a:moveTo>
                    <a:pt x="252475" y="0"/>
                  </a:moveTo>
                  <a:lnTo>
                    <a:pt x="172671" y="2284"/>
                  </a:lnTo>
                  <a:lnTo>
                    <a:pt x="103363" y="8648"/>
                  </a:lnTo>
                  <a:lnTo>
                    <a:pt x="48711" y="18352"/>
                  </a:lnTo>
                  <a:lnTo>
                    <a:pt x="0" y="44831"/>
                  </a:lnTo>
                  <a:lnTo>
                    <a:pt x="12870" y="59003"/>
                  </a:lnTo>
                  <a:lnTo>
                    <a:pt x="48711" y="71309"/>
                  </a:lnTo>
                  <a:lnTo>
                    <a:pt x="103363" y="81013"/>
                  </a:lnTo>
                  <a:lnTo>
                    <a:pt x="172671" y="87377"/>
                  </a:lnTo>
                  <a:lnTo>
                    <a:pt x="252475" y="89662"/>
                  </a:lnTo>
                  <a:lnTo>
                    <a:pt x="332267" y="87377"/>
                  </a:lnTo>
                  <a:lnTo>
                    <a:pt x="401543" y="81013"/>
                  </a:lnTo>
                  <a:lnTo>
                    <a:pt x="456158" y="71309"/>
                  </a:lnTo>
                  <a:lnTo>
                    <a:pt x="491967" y="59003"/>
                  </a:lnTo>
                  <a:lnTo>
                    <a:pt x="504825" y="44831"/>
                  </a:lnTo>
                  <a:lnTo>
                    <a:pt x="491967" y="30658"/>
                  </a:lnTo>
                  <a:lnTo>
                    <a:pt x="456158" y="18352"/>
                  </a:lnTo>
                  <a:lnTo>
                    <a:pt x="401543" y="8648"/>
                  </a:lnTo>
                  <a:lnTo>
                    <a:pt x="332267" y="2284"/>
                  </a:lnTo>
                  <a:lnTo>
                    <a:pt x="252475" y="0"/>
                  </a:lnTo>
                  <a:close/>
                </a:path>
              </a:pathLst>
            </a:custGeom>
            <a:solidFill>
              <a:srgbClr val="DCEB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5692140" y="4226814"/>
              <a:ext cx="504825" cy="358775"/>
            </a:xfrm>
            <a:custGeom>
              <a:avLst/>
              <a:gdLst/>
              <a:ahLst/>
              <a:cxnLst/>
              <a:rect l="l" t="t" r="r" b="b"/>
              <a:pathLst>
                <a:path w="504825" h="358775">
                  <a:moveTo>
                    <a:pt x="504825" y="44831"/>
                  </a:moveTo>
                  <a:lnTo>
                    <a:pt x="456158" y="71309"/>
                  </a:lnTo>
                  <a:lnTo>
                    <a:pt x="401543" y="81013"/>
                  </a:lnTo>
                  <a:lnTo>
                    <a:pt x="332267" y="87377"/>
                  </a:lnTo>
                  <a:lnTo>
                    <a:pt x="252475" y="89662"/>
                  </a:lnTo>
                  <a:lnTo>
                    <a:pt x="172671" y="87377"/>
                  </a:lnTo>
                  <a:lnTo>
                    <a:pt x="103363" y="81013"/>
                  </a:lnTo>
                  <a:lnTo>
                    <a:pt x="48711" y="71309"/>
                  </a:lnTo>
                  <a:lnTo>
                    <a:pt x="0" y="44831"/>
                  </a:lnTo>
                  <a:lnTo>
                    <a:pt x="12870" y="30658"/>
                  </a:lnTo>
                  <a:lnTo>
                    <a:pt x="48711" y="18352"/>
                  </a:lnTo>
                  <a:lnTo>
                    <a:pt x="103363" y="8648"/>
                  </a:lnTo>
                  <a:lnTo>
                    <a:pt x="172671" y="2284"/>
                  </a:lnTo>
                  <a:lnTo>
                    <a:pt x="252475" y="0"/>
                  </a:lnTo>
                  <a:lnTo>
                    <a:pt x="332267" y="2284"/>
                  </a:lnTo>
                  <a:lnTo>
                    <a:pt x="401543" y="8648"/>
                  </a:lnTo>
                  <a:lnTo>
                    <a:pt x="456158" y="18352"/>
                  </a:lnTo>
                  <a:lnTo>
                    <a:pt x="491967" y="30658"/>
                  </a:lnTo>
                  <a:lnTo>
                    <a:pt x="504825" y="44831"/>
                  </a:lnTo>
                  <a:lnTo>
                    <a:pt x="504825" y="313944"/>
                  </a:lnTo>
                  <a:lnTo>
                    <a:pt x="456158" y="340422"/>
                  </a:lnTo>
                  <a:lnTo>
                    <a:pt x="401543" y="350126"/>
                  </a:lnTo>
                  <a:lnTo>
                    <a:pt x="332267" y="356490"/>
                  </a:lnTo>
                  <a:lnTo>
                    <a:pt x="252475" y="358775"/>
                  </a:lnTo>
                  <a:lnTo>
                    <a:pt x="172671" y="356490"/>
                  </a:lnTo>
                  <a:lnTo>
                    <a:pt x="103363" y="350126"/>
                  </a:lnTo>
                  <a:lnTo>
                    <a:pt x="48711" y="340422"/>
                  </a:lnTo>
                  <a:lnTo>
                    <a:pt x="12870" y="328116"/>
                  </a:lnTo>
                  <a:lnTo>
                    <a:pt x="0" y="313944"/>
                  </a:lnTo>
                  <a:lnTo>
                    <a:pt x="0" y="44831"/>
                  </a:lnTo>
                </a:path>
              </a:pathLst>
            </a:custGeom>
            <a:ln w="9525">
              <a:solidFill>
                <a:srgbClr val="FFBD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/>
          <p:cNvSpPr txBox="1"/>
          <p:nvPr/>
        </p:nvSpPr>
        <p:spPr>
          <a:xfrm>
            <a:off x="5813552" y="4304157"/>
            <a:ext cx="2635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"/>
                <a:cs typeface="Arial"/>
              </a:rPr>
              <a:t>O1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10175747" y="4201642"/>
            <a:ext cx="596265" cy="501650"/>
            <a:chOff x="10175747" y="4201642"/>
            <a:chExt cx="596265" cy="501650"/>
          </a:xfrm>
        </p:grpSpPr>
        <p:pic>
          <p:nvPicPr>
            <p:cNvPr id="55" name="object 5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0175747" y="4201642"/>
              <a:ext cx="595909" cy="449605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207751" y="4248924"/>
              <a:ext cx="531901" cy="454139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10223245" y="4271645"/>
              <a:ext cx="504825" cy="314325"/>
            </a:xfrm>
            <a:custGeom>
              <a:avLst/>
              <a:gdLst/>
              <a:ahLst/>
              <a:cxnLst/>
              <a:rect l="l" t="t" r="r" b="b"/>
              <a:pathLst>
                <a:path w="504825" h="314325">
                  <a:moveTo>
                    <a:pt x="504825" y="0"/>
                  </a:moveTo>
                  <a:lnTo>
                    <a:pt x="456122" y="26478"/>
                  </a:lnTo>
                  <a:lnTo>
                    <a:pt x="401488" y="36182"/>
                  </a:lnTo>
                  <a:lnTo>
                    <a:pt x="332218" y="42546"/>
                  </a:lnTo>
                  <a:lnTo>
                    <a:pt x="252475" y="44830"/>
                  </a:lnTo>
                  <a:lnTo>
                    <a:pt x="172671" y="42546"/>
                  </a:lnTo>
                  <a:lnTo>
                    <a:pt x="103363" y="36182"/>
                  </a:lnTo>
                  <a:lnTo>
                    <a:pt x="48711" y="26478"/>
                  </a:lnTo>
                  <a:lnTo>
                    <a:pt x="12870" y="14172"/>
                  </a:lnTo>
                  <a:lnTo>
                    <a:pt x="0" y="0"/>
                  </a:lnTo>
                  <a:lnTo>
                    <a:pt x="0" y="269112"/>
                  </a:lnTo>
                  <a:lnTo>
                    <a:pt x="48711" y="295591"/>
                  </a:lnTo>
                  <a:lnTo>
                    <a:pt x="103363" y="305295"/>
                  </a:lnTo>
                  <a:lnTo>
                    <a:pt x="172671" y="311659"/>
                  </a:lnTo>
                  <a:lnTo>
                    <a:pt x="252475" y="313943"/>
                  </a:lnTo>
                  <a:lnTo>
                    <a:pt x="332218" y="311659"/>
                  </a:lnTo>
                  <a:lnTo>
                    <a:pt x="401488" y="305295"/>
                  </a:lnTo>
                  <a:lnTo>
                    <a:pt x="456122" y="295591"/>
                  </a:lnTo>
                  <a:lnTo>
                    <a:pt x="491955" y="283285"/>
                  </a:lnTo>
                  <a:lnTo>
                    <a:pt x="504825" y="269112"/>
                  </a:lnTo>
                  <a:lnTo>
                    <a:pt x="504825" y="0"/>
                  </a:lnTo>
                  <a:close/>
                </a:path>
              </a:pathLst>
            </a:custGeom>
            <a:solidFill>
              <a:srgbClr val="C4DF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10223245" y="4226814"/>
              <a:ext cx="504825" cy="90170"/>
            </a:xfrm>
            <a:custGeom>
              <a:avLst/>
              <a:gdLst/>
              <a:ahLst/>
              <a:cxnLst/>
              <a:rect l="l" t="t" r="r" b="b"/>
              <a:pathLst>
                <a:path w="504825" h="90170">
                  <a:moveTo>
                    <a:pt x="252475" y="0"/>
                  </a:moveTo>
                  <a:lnTo>
                    <a:pt x="172671" y="2284"/>
                  </a:lnTo>
                  <a:lnTo>
                    <a:pt x="103363" y="8648"/>
                  </a:lnTo>
                  <a:lnTo>
                    <a:pt x="48711" y="18352"/>
                  </a:lnTo>
                  <a:lnTo>
                    <a:pt x="0" y="44831"/>
                  </a:lnTo>
                  <a:lnTo>
                    <a:pt x="12870" y="59003"/>
                  </a:lnTo>
                  <a:lnTo>
                    <a:pt x="48711" y="71309"/>
                  </a:lnTo>
                  <a:lnTo>
                    <a:pt x="103363" y="81013"/>
                  </a:lnTo>
                  <a:lnTo>
                    <a:pt x="172671" y="87377"/>
                  </a:lnTo>
                  <a:lnTo>
                    <a:pt x="252475" y="89662"/>
                  </a:lnTo>
                  <a:lnTo>
                    <a:pt x="332218" y="87377"/>
                  </a:lnTo>
                  <a:lnTo>
                    <a:pt x="401488" y="81013"/>
                  </a:lnTo>
                  <a:lnTo>
                    <a:pt x="456122" y="71309"/>
                  </a:lnTo>
                  <a:lnTo>
                    <a:pt x="491955" y="59003"/>
                  </a:lnTo>
                  <a:lnTo>
                    <a:pt x="504825" y="44831"/>
                  </a:lnTo>
                  <a:lnTo>
                    <a:pt x="491955" y="30658"/>
                  </a:lnTo>
                  <a:lnTo>
                    <a:pt x="456122" y="18352"/>
                  </a:lnTo>
                  <a:lnTo>
                    <a:pt x="401488" y="8648"/>
                  </a:lnTo>
                  <a:lnTo>
                    <a:pt x="332218" y="2284"/>
                  </a:lnTo>
                  <a:lnTo>
                    <a:pt x="252475" y="0"/>
                  </a:lnTo>
                  <a:close/>
                </a:path>
              </a:pathLst>
            </a:custGeom>
            <a:solidFill>
              <a:srgbClr val="DCEB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10223245" y="4226814"/>
              <a:ext cx="504825" cy="358775"/>
            </a:xfrm>
            <a:custGeom>
              <a:avLst/>
              <a:gdLst/>
              <a:ahLst/>
              <a:cxnLst/>
              <a:rect l="l" t="t" r="r" b="b"/>
              <a:pathLst>
                <a:path w="504825" h="358775">
                  <a:moveTo>
                    <a:pt x="504825" y="44831"/>
                  </a:moveTo>
                  <a:lnTo>
                    <a:pt x="456122" y="71309"/>
                  </a:lnTo>
                  <a:lnTo>
                    <a:pt x="401488" y="81013"/>
                  </a:lnTo>
                  <a:lnTo>
                    <a:pt x="332218" y="87377"/>
                  </a:lnTo>
                  <a:lnTo>
                    <a:pt x="252475" y="89662"/>
                  </a:lnTo>
                  <a:lnTo>
                    <a:pt x="172671" y="87377"/>
                  </a:lnTo>
                  <a:lnTo>
                    <a:pt x="103363" y="81013"/>
                  </a:lnTo>
                  <a:lnTo>
                    <a:pt x="48711" y="71309"/>
                  </a:lnTo>
                  <a:lnTo>
                    <a:pt x="0" y="44831"/>
                  </a:lnTo>
                  <a:lnTo>
                    <a:pt x="12870" y="30658"/>
                  </a:lnTo>
                  <a:lnTo>
                    <a:pt x="48711" y="18352"/>
                  </a:lnTo>
                  <a:lnTo>
                    <a:pt x="103363" y="8648"/>
                  </a:lnTo>
                  <a:lnTo>
                    <a:pt x="172671" y="2284"/>
                  </a:lnTo>
                  <a:lnTo>
                    <a:pt x="252475" y="0"/>
                  </a:lnTo>
                  <a:lnTo>
                    <a:pt x="332218" y="2284"/>
                  </a:lnTo>
                  <a:lnTo>
                    <a:pt x="401488" y="8648"/>
                  </a:lnTo>
                  <a:lnTo>
                    <a:pt x="456122" y="18352"/>
                  </a:lnTo>
                  <a:lnTo>
                    <a:pt x="491955" y="30658"/>
                  </a:lnTo>
                  <a:lnTo>
                    <a:pt x="504825" y="44831"/>
                  </a:lnTo>
                  <a:lnTo>
                    <a:pt x="504825" y="313944"/>
                  </a:lnTo>
                  <a:lnTo>
                    <a:pt x="456122" y="340422"/>
                  </a:lnTo>
                  <a:lnTo>
                    <a:pt x="401488" y="350126"/>
                  </a:lnTo>
                  <a:lnTo>
                    <a:pt x="332218" y="356490"/>
                  </a:lnTo>
                  <a:lnTo>
                    <a:pt x="252475" y="358775"/>
                  </a:lnTo>
                  <a:lnTo>
                    <a:pt x="172671" y="356490"/>
                  </a:lnTo>
                  <a:lnTo>
                    <a:pt x="103363" y="350126"/>
                  </a:lnTo>
                  <a:lnTo>
                    <a:pt x="48711" y="340422"/>
                  </a:lnTo>
                  <a:lnTo>
                    <a:pt x="12870" y="328116"/>
                  </a:lnTo>
                  <a:lnTo>
                    <a:pt x="0" y="313944"/>
                  </a:lnTo>
                  <a:lnTo>
                    <a:pt x="0" y="44831"/>
                  </a:lnTo>
                </a:path>
              </a:pathLst>
            </a:custGeom>
            <a:ln w="9525">
              <a:solidFill>
                <a:srgbClr val="FFBD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/>
          <p:cNvSpPr txBox="1"/>
          <p:nvPr/>
        </p:nvSpPr>
        <p:spPr>
          <a:xfrm>
            <a:off x="10345039" y="4304157"/>
            <a:ext cx="2635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"/>
                <a:cs typeface="Arial"/>
              </a:rPr>
              <a:t>O2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676900" y="5125211"/>
            <a:ext cx="509270" cy="510540"/>
            <a:chOff x="5676900" y="5125211"/>
            <a:chExt cx="509270" cy="510540"/>
          </a:xfrm>
        </p:grpSpPr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76900" y="5125211"/>
              <a:ext cx="509003" cy="51051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18936" y="5145658"/>
              <a:ext cx="428498" cy="428498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6200394" y="5191759"/>
            <a:ext cx="38735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0">
                <a:latin typeface="Arial"/>
                <a:cs typeface="Arial"/>
              </a:rPr>
              <a:t>dir1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707123" y="5119115"/>
            <a:ext cx="509270" cy="509270"/>
            <a:chOff x="6707123" y="5119115"/>
            <a:chExt cx="509270" cy="509270"/>
          </a:xfrm>
        </p:grpSpPr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07123" y="5119115"/>
              <a:ext cx="509003" cy="50900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50049" y="5138546"/>
              <a:ext cx="428498" cy="428497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7231506" y="5199329"/>
            <a:ext cx="387350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20">
                <a:latin typeface="Arial"/>
                <a:cs typeface="Arial"/>
              </a:rPr>
              <a:t>dir2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10242804" y="5109971"/>
            <a:ext cx="509270" cy="509270"/>
            <a:chOff x="10242804" y="5109971"/>
            <a:chExt cx="509270" cy="509270"/>
          </a:xfrm>
        </p:grpSpPr>
        <p:pic>
          <p:nvPicPr>
            <p:cNvPr id="44" name="object 4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242804" y="5109971"/>
              <a:ext cx="509003" cy="509003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285222" y="5130037"/>
              <a:ext cx="428498" cy="428498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10767186" y="5183251"/>
            <a:ext cx="42354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0">
                <a:latin typeface="Arial"/>
                <a:cs typeface="Arial"/>
              </a:rPr>
              <a:t>Dir3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Linux</a:t>
            </a:r>
            <a:r>
              <a:rPr dirty="0" spc="-9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Filesystems</a:t>
            </a:r>
            <a:r>
              <a:rPr dirty="0" spc="-4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after</a:t>
            </a:r>
            <a:r>
              <a:rPr dirty="0" spc="-8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Namespaces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21640" y="1332128"/>
            <a:ext cx="5916295" cy="1550035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30"/>
              </a:spcBef>
              <a:buSzPct val="81818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File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namespace:</a:t>
            </a:r>
            <a:r>
              <a:rPr dirty="0" sz="2200" spc="445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mount</a:t>
            </a:r>
            <a:r>
              <a:rPr dirty="0" sz="2200" spc="-35" i="1">
                <a:latin typeface="Calibri"/>
                <a:cs typeface="Calibri"/>
              </a:rPr>
              <a:t> </a:t>
            </a:r>
            <a:r>
              <a:rPr dirty="0" sz="2200" spc="-10" i="1">
                <a:latin typeface="Calibri"/>
                <a:cs typeface="Calibri"/>
              </a:rPr>
              <a:t>namespace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ts val="2510"/>
              </a:lnSpc>
              <a:spcBef>
                <a:spcPts val="735"/>
              </a:spcBef>
              <a:buSzPct val="81818"/>
              <a:buFont typeface="Arial"/>
              <a:buChar char="•"/>
              <a:tabLst>
                <a:tab pos="354965" algn="l"/>
              </a:tabLst>
            </a:pPr>
            <a:r>
              <a:rPr dirty="0" sz="2200" i="1">
                <a:latin typeface="Calibri"/>
                <a:cs typeface="Calibri"/>
              </a:rPr>
              <a:t>O1,</a:t>
            </a:r>
            <a:r>
              <a:rPr dirty="0" sz="2200" spc="-40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O2</a:t>
            </a:r>
            <a:r>
              <a:rPr dirty="0" sz="2200" spc="-40" i="1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volumes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containing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different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versions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ts val="2510"/>
              </a:lnSpc>
            </a:pP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application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(e.g.,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Oracle)</a:t>
            </a:r>
            <a:endParaRPr sz="2200">
              <a:latin typeface="Calibri"/>
              <a:cs typeface="Calibri"/>
            </a:endParaRPr>
          </a:p>
          <a:p>
            <a:pPr lvl="1" marL="812165" indent="-342265">
              <a:lnSpc>
                <a:spcPct val="100000"/>
              </a:lnSpc>
              <a:spcBef>
                <a:spcPts val="240"/>
              </a:spcBef>
              <a:buSzPct val="81818"/>
              <a:buFont typeface="Arial"/>
              <a:buChar char="•"/>
              <a:tabLst>
                <a:tab pos="812165" algn="l"/>
              </a:tabLst>
            </a:pPr>
            <a:r>
              <a:rPr dirty="0" sz="2200">
                <a:latin typeface="Calibri"/>
                <a:cs typeface="Calibri"/>
              </a:rPr>
              <a:t>Mounted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at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/mnt</a:t>
            </a:r>
            <a:r>
              <a:rPr dirty="0" sz="2200" spc="-15" i="1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20" i="1">
                <a:latin typeface="Calibri"/>
                <a:cs typeface="Calibri"/>
              </a:rPr>
              <a:t>/mnt2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1640" y="2855266"/>
            <a:ext cx="5280660" cy="1614805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40"/>
              </a:spcBef>
              <a:buSzPct val="81818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namespace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visible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all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processes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ts val="2510"/>
              </a:lnSpc>
              <a:spcBef>
                <a:spcPts val="745"/>
              </a:spcBef>
              <a:buSzPct val="81818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Access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files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directories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controlled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by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ts val="2510"/>
              </a:lnSpc>
            </a:pPr>
            <a:r>
              <a:rPr dirty="0" sz="2200">
                <a:latin typeface="Calibri"/>
                <a:cs typeface="Calibri"/>
              </a:rPr>
              <a:t>access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rights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30"/>
              </a:spcBef>
              <a:buSzPct val="81818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namespace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process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in?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8839" y="4446505"/>
            <a:ext cx="5292725" cy="105600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25"/>
              </a:spcBef>
              <a:buSzPct val="81818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Look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 i="1">
                <a:latin typeface="Calibri"/>
                <a:cs typeface="Calibri"/>
              </a:rPr>
              <a:t>/proc/pid/ns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ts val="2510"/>
              </a:lnSpc>
              <a:spcBef>
                <a:spcPts val="229"/>
              </a:spcBef>
              <a:buSzPct val="81818"/>
              <a:buFont typeface="Arial"/>
              <a:buChar char="•"/>
              <a:tabLst>
                <a:tab pos="354965" algn="l"/>
              </a:tabLst>
            </a:pPr>
            <a:r>
              <a:rPr dirty="0" sz="2200" i="1">
                <a:latin typeface="Calibri"/>
                <a:cs typeface="Calibri"/>
              </a:rPr>
              <a:t>ls</a:t>
            </a:r>
            <a:r>
              <a:rPr dirty="0" sz="2200" spc="-40" i="1">
                <a:latin typeface="Calibri"/>
                <a:cs typeface="Calibri"/>
              </a:rPr>
              <a:t> </a:t>
            </a:r>
            <a:r>
              <a:rPr dirty="0" sz="2200" spc="-25" i="1">
                <a:latin typeface="Calibri"/>
                <a:cs typeface="Calibri"/>
              </a:rPr>
              <a:t>–</a:t>
            </a:r>
            <a:r>
              <a:rPr dirty="0" sz="2200" i="1">
                <a:latin typeface="Calibri"/>
                <a:cs typeface="Calibri"/>
              </a:rPr>
              <a:t>l</a:t>
            </a:r>
            <a:r>
              <a:rPr dirty="0" sz="2200" spc="-15" i="1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/proc/pidx/mnt</a:t>
            </a:r>
            <a:r>
              <a:rPr dirty="0" sz="2200" spc="-50" i="1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may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show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below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ts val="2510"/>
              </a:lnSpc>
            </a:pPr>
            <a:r>
              <a:rPr dirty="0" sz="2200">
                <a:latin typeface="Calibri"/>
                <a:cs typeface="Calibri"/>
              </a:rPr>
              <a:t>(4026531840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namespace</a:t>
            </a:r>
            <a:r>
              <a:rPr dirty="0" sz="2200" spc="-25">
                <a:latin typeface="Calibri"/>
                <a:cs typeface="Calibri"/>
              </a:rPr>
              <a:t> id)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656133" y="2907779"/>
            <a:ext cx="4485640" cy="2193925"/>
            <a:chOff x="6656133" y="2907779"/>
            <a:chExt cx="4485640" cy="2193925"/>
          </a:xfrm>
        </p:grpSpPr>
        <p:sp>
          <p:nvSpPr>
            <p:cNvPr id="9" name="object 9"/>
            <p:cNvSpPr/>
            <p:nvPr/>
          </p:nvSpPr>
          <p:spPr>
            <a:xfrm>
              <a:off x="10017759" y="3869055"/>
              <a:ext cx="1118870" cy="128270"/>
            </a:xfrm>
            <a:custGeom>
              <a:avLst/>
              <a:gdLst/>
              <a:ahLst/>
              <a:cxnLst/>
              <a:rect l="l" t="t" r="r" b="b"/>
              <a:pathLst>
                <a:path w="1118870" h="128270">
                  <a:moveTo>
                    <a:pt x="559435" y="0"/>
                  </a:moveTo>
                  <a:lnTo>
                    <a:pt x="559435" y="64643"/>
                  </a:lnTo>
                  <a:lnTo>
                    <a:pt x="1118870" y="64643"/>
                  </a:lnTo>
                  <a:lnTo>
                    <a:pt x="1118870" y="128270"/>
                  </a:lnTo>
                </a:path>
                <a:path w="1118870" h="128270">
                  <a:moveTo>
                    <a:pt x="559435" y="0"/>
                  </a:moveTo>
                  <a:lnTo>
                    <a:pt x="559435" y="64643"/>
                  </a:lnTo>
                  <a:lnTo>
                    <a:pt x="0" y="64643"/>
                  </a:lnTo>
                  <a:lnTo>
                    <a:pt x="0" y="128270"/>
                  </a:lnTo>
                </a:path>
              </a:pathLst>
            </a:custGeom>
            <a:ln w="9525">
              <a:solidFill>
                <a:srgbClr val="3966B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898762" y="3334004"/>
              <a:ext cx="1678939" cy="128270"/>
            </a:xfrm>
            <a:custGeom>
              <a:avLst/>
              <a:gdLst/>
              <a:ahLst/>
              <a:cxnLst/>
              <a:rect l="l" t="t" r="r" b="b"/>
              <a:pathLst>
                <a:path w="1678940" h="128270">
                  <a:moveTo>
                    <a:pt x="0" y="0"/>
                  </a:moveTo>
                  <a:lnTo>
                    <a:pt x="0" y="64643"/>
                  </a:lnTo>
                  <a:lnTo>
                    <a:pt x="1678431" y="64643"/>
                  </a:lnTo>
                  <a:lnTo>
                    <a:pt x="1678431" y="128270"/>
                  </a:lnTo>
                </a:path>
              </a:pathLst>
            </a:custGeom>
            <a:ln w="9524">
              <a:solidFill>
                <a:srgbClr val="345A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898762" y="3869055"/>
              <a:ext cx="0" cy="1212850"/>
            </a:xfrm>
            <a:custGeom>
              <a:avLst/>
              <a:gdLst/>
              <a:ahLst/>
              <a:cxnLst/>
              <a:rect l="l" t="t" r="r" b="b"/>
              <a:pathLst>
                <a:path w="0" h="1212850">
                  <a:moveTo>
                    <a:pt x="0" y="0"/>
                  </a:moveTo>
                  <a:lnTo>
                    <a:pt x="0" y="1212723"/>
                  </a:lnTo>
                </a:path>
              </a:pathLst>
            </a:custGeom>
            <a:ln w="9525">
              <a:solidFill>
                <a:srgbClr val="3966B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8898762" y="3334004"/>
              <a:ext cx="0" cy="128270"/>
            </a:xfrm>
            <a:custGeom>
              <a:avLst/>
              <a:gdLst/>
              <a:ahLst/>
              <a:cxnLst/>
              <a:rect l="l" t="t" r="r" b="b"/>
              <a:pathLst>
                <a:path w="0" h="128270">
                  <a:moveTo>
                    <a:pt x="0" y="0"/>
                  </a:moveTo>
                  <a:lnTo>
                    <a:pt x="0" y="128270"/>
                  </a:lnTo>
                </a:path>
              </a:pathLst>
            </a:custGeom>
            <a:ln w="9525">
              <a:solidFill>
                <a:srgbClr val="345A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660895" y="3869055"/>
              <a:ext cx="1118870" cy="1228090"/>
            </a:xfrm>
            <a:custGeom>
              <a:avLst/>
              <a:gdLst/>
              <a:ahLst/>
              <a:cxnLst/>
              <a:rect l="l" t="t" r="r" b="b"/>
              <a:pathLst>
                <a:path w="1118870" h="1228089">
                  <a:moveTo>
                    <a:pt x="559434" y="0"/>
                  </a:moveTo>
                  <a:lnTo>
                    <a:pt x="559434" y="1157224"/>
                  </a:lnTo>
                  <a:lnTo>
                    <a:pt x="1118870" y="1157224"/>
                  </a:lnTo>
                  <a:lnTo>
                    <a:pt x="1118870" y="1220851"/>
                  </a:lnTo>
                </a:path>
                <a:path w="1118870" h="1228089">
                  <a:moveTo>
                    <a:pt x="559434" y="0"/>
                  </a:moveTo>
                  <a:lnTo>
                    <a:pt x="559434" y="1163955"/>
                  </a:lnTo>
                  <a:lnTo>
                    <a:pt x="0" y="1163955"/>
                  </a:lnTo>
                  <a:lnTo>
                    <a:pt x="0" y="1227582"/>
                  </a:lnTo>
                </a:path>
              </a:pathLst>
            </a:custGeom>
            <a:ln w="9525">
              <a:solidFill>
                <a:srgbClr val="3966B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220330" y="3334004"/>
              <a:ext cx="1678939" cy="128270"/>
            </a:xfrm>
            <a:custGeom>
              <a:avLst/>
              <a:gdLst/>
              <a:ahLst/>
              <a:cxnLst/>
              <a:rect l="l" t="t" r="r" b="b"/>
              <a:pathLst>
                <a:path w="1678940" h="128270">
                  <a:moveTo>
                    <a:pt x="1678432" y="0"/>
                  </a:moveTo>
                  <a:lnTo>
                    <a:pt x="1678432" y="64643"/>
                  </a:lnTo>
                  <a:lnTo>
                    <a:pt x="0" y="64643"/>
                  </a:lnTo>
                  <a:lnTo>
                    <a:pt x="0" y="128270"/>
                  </a:lnTo>
                </a:path>
              </a:pathLst>
            </a:custGeom>
            <a:ln w="9524">
              <a:solidFill>
                <a:srgbClr val="345A9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3271" y="2907779"/>
              <a:ext cx="487692" cy="48769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95308" y="2927222"/>
              <a:ext cx="406908" cy="40678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9155430" y="2969132"/>
            <a:ext cx="8572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5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973823" y="3442703"/>
            <a:ext cx="488315" cy="488315"/>
            <a:chOff x="6973823" y="3442703"/>
            <a:chExt cx="488315" cy="488315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73823" y="3442703"/>
              <a:ext cx="487692" cy="48769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16876" y="3462274"/>
              <a:ext cx="406907" cy="406781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7476870" y="3503752"/>
            <a:ext cx="386080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25">
                <a:latin typeface="Arial"/>
                <a:cs typeface="Arial"/>
              </a:rPr>
              <a:t>mnt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8653271" y="3442703"/>
            <a:ext cx="488315" cy="488315"/>
            <a:chOff x="8653271" y="3442703"/>
            <a:chExt cx="488315" cy="488315"/>
          </a:xfrm>
        </p:grpSpPr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3271" y="3442703"/>
              <a:ext cx="487692" cy="48769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95308" y="3462274"/>
              <a:ext cx="406908" cy="406781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9155430" y="3387597"/>
            <a:ext cx="386715" cy="51879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12700" marR="5080">
              <a:lnSpc>
                <a:spcPts val="1839"/>
              </a:lnSpc>
              <a:spcBef>
                <a:spcPts val="330"/>
              </a:spcBef>
            </a:pPr>
            <a:r>
              <a:rPr dirty="0" sz="1700" spc="-25">
                <a:latin typeface="Arial"/>
                <a:cs typeface="Arial"/>
              </a:rPr>
              <a:t>mnt </a:t>
            </a:r>
            <a:r>
              <a:rPr dirty="0" sz="1700" spc="-50">
                <a:latin typeface="Arial"/>
                <a:cs typeface="Arial"/>
              </a:rPr>
              <a:t>2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0331195" y="3442703"/>
            <a:ext cx="488315" cy="488315"/>
            <a:chOff x="10331195" y="3442703"/>
            <a:chExt cx="488315" cy="488315"/>
          </a:xfrm>
        </p:grpSpPr>
        <p:pic>
          <p:nvPicPr>
            <p:cNvPr id="39" name="object 3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331195" y="3442703"/>
              <a:ext cx="487692" cy="48769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373740" y="3462274"/>
              <a:ext cx="406907" cy="406781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10833861" y="3503752"/>
            <a:ext cx="326390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25">
                <a:latin typeface="Arial"/>
                <a:cs typeface="Arial"/>
              </a:rPr>
              <a:t>usr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9771888" y="3977627"/>
            <a:ext cx="488315" cy="488315"/>
            <a:chOff x="9771888" y="3977627"/>
            <a:chExt cx="488315" cy="488315"/>
          </a:xfrm>
        </p:grpSpPr>
        <p:pic>
          <p:nvPicPr>
            <p:cNvPr id="43" name="object 4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771888" y="3977627"/>
              <a:ext cx="487692" cy="48769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814306" y="3997325"/>
              <a:ext cx="406780" cy="406781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10274554" y="4039361"/>
            <a:ext cx="31496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>
                <a:latin typeface="Arial"/>
                <a:cs typeface="Arial"/>
              </a:rPr>
              <a:t>bin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6923531" y="3977627"/>
            <a:ext cx="4455160" cy="684530"/>
            <a:chOff x="6923531" y="3977627"/>
            <a:chExt cx="4455160" cy="684530"/>
          </a:xfrm>
        </p:grpSpPr>
        <p:pic>
          <p:nvPicPr>
            <p:cNvPr id="47" name="object 4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890503" y="3977627"/>
              <a:ext cx="487692" cy="487692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933175" y="3997325"/>
              <a:ext cx="406907" cy="406781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923531" y="4160494"/>
              <a:ext cx="594398" cy="449605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954011" y="4207776"/>
              <a:ext cx="531901" cy="454139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6970267" y="4230116"/>
              <a:ext cx="504825" cy="314325"/>
            </a:xfrm>
            <a:custGeom>
              <a:avLst/>
              <a:gdLst/>
              <a:ahLst/>
              <a:cxnLst/>
              <a:rect l="l" t="t" r="r" b="b"/>
              <a:pathLst>
                <a:path w="504825" h="314325">
                  <a:moveTo>
                    <a:pt x="504825" y="0"/>
                  </a:moveTo>
                  <a:lnTo>
                    <a:pt x="456122" y="26478"/>
                  </a:lnTo>
                  <a:lnTo>
                    <a:pt x="401488" y="36182"/>
                  </a:lnTo>
                  <a:lnTo>
                    <a:pt x="332218" y="42546"/>
                  </a:lnTo>
                  <a:lnTo>
                    <a:pt x="252475" y="44830"/>
                  </a:lnTo>
                  <a:lnTo>
                    <a:pt x="172671" y="42546"/>
                  </a:lnTo>
                  <a:lnTo>
                    <a:pt x="103363" y="36182"/>
                  </a:lnTo>
                  <a:lnTo>
                    <a:pt x="48711" y="26478"/>
                  </a:lnTo>
                  <a:lnTo>
                    <a:pt x="12870" y="14172"/>
                  </a:lnTo>
                  <a:lnTo>
                    <a:pt x="0" y="0"/>
                  </a:lnTo>
                  <a:lnTo>
                    <a:pt x="0" y="268985"/>
                  </a:lnTo>
                  <a:lnTo>
                    <a:pt x="48711" y="295509"/>
                  </a:lnTo>
                  <a:lnTo>
                    <a:pt x="103363" y="305251"/>
                  </a:lnTo>
                  <a:lnTo>
                    <a:pt x="172671" y="311645"/>
                  </a:lnTo>
                  <a:lnTo>
                    <a:pt x="252475" y="313943"/>
                  </a:lnTo>
                  <a:lnTo>
                    <a:pt x="332218" y="311645"/>
                  </a:lnTo>
                  <a:lnTo>
                    <a:pt x="401488" y="305251"/>
                  </a:lnTo>
                  <a:lnTo>
                    <a:pt x="456122" y="295509"/>
                  </a:lnTo>
                  <a:lnTo>
                    <a:pt x="491955" y="283171"/>
                  </a:lnTo>
                  <a:lnTo>
                    <a:pt x="504825" y="268985"/>
                  </a:lnTo>
                  <a:lnTo>
                    <a:pt x="504825" y="0"/>
                  </a:lnTo>
                  <a:close/>
                </a:path>
              </a:pathLst>
            </a:custGeom>
            <a:solidFill>
              <a:srgbClr val="C4DF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6970267" y="4185285"/>
              <a:ext cx="504825" cy="90170"/>
            </a:xfrm>
            <a:custGeom>
              <a:avLst/>
              <a:gdLst/>
              <a:ahLst/>
              <a:cxnLst/>
              <a:rect l="l" t="t" r="r" b="b"/>
              <a:pathLst>
                <a:path w="504825" h="90170">
                  <a:moveTo>
                    <a:pt x="252475" y="0"/>
                  </a:moveTo>
                  <a:lnTo>
                    <a:pt x="172671" y="2284"/>
                  </a:lnTo>
                  <a:lnTo>
                    <a:pt x="103363" y="8648"/>
                  </a:lnTo>
                  <a:lnTo>
                    <a:pt x="48711" y="18352"/>
                  </a:lnTo>
                  <a:lnTo>
                    <a:pt x="0" y="44831"/>
                  </a:lnTo>
                  <a:lnTo>
                    <a:pt x="12870" y="59003"/>
                  </a:lnTo>
                  <a:lnTo>
                    <a:pt x="48711" y="71309"/>
                  </a:lnTo>
                  <a:lnTo>
                    <a:pt x="103363" y="81013"/>
                  </a:lnTo>
                  <a:lnTo>
                    <a:pt x="172671" y="87377"/>
                  </a:lnTo>
                  <a:lnTo>
                    <a:pt x="252475" y="89662"/>
                  </a:lnTo>
                  <a:lnTo>
                    <a:pt x="332218" y="87377"/>
                  </a:lnTo>
                  <a:lnTo>
                    <a:pt x="401488" y="81013"/>
                  </a:lnTo>
                  <a:lnTo>
                    <a:pt x="456122" y="71309"/>
                  </a:lnTo>
                  <a:lnTo>
                    <a:pt x="491955" y="59003"/>
                  </a:lnTo>
                  <a:lnTo>
                    <a:pt x="504825" y="44831"/>
                  </a:lnTo>
                  <a:lnTo>
                    <a:pt x="491955" y="30658"/>
                  </a:lnTo>
                  <a:lnTo>
                    <a:pt x="456122" y="18352"/>
                  </a:lnTo>
                  <a:lnTo>
                    <a:pt x="401488" y="8648"/>
                  </a:lnTo>
                  <a:lnTo>
                    <a:pt x="332218" y="2284"/>
                  </a:lnTo>
                  <a:lnTo>
                    <a:pt x="252475" y="0"/>
                  </a:lnTo>
                  <a:close/>
                </a:path>
              </a:pathLst>
            </a:custGeom>
            <a:solidFill>
              <a:srgbClr val="DCEB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6970267" y="4185285"/>
              <a:ext cx="504825" cy="358775"/>
            </a:xfrm>
            <a:custGeom>
              <a:avLst/>
              <a:gdLst/>
              <a:ahLst/>
              <a:cxnLst/>
              <a:rect l="l" t="t" r="r" b="b"/>
              <a:pathLst>
                <a:path w="504825" h="358775">
                  <a:moveTo>
                    <a:pt x="504825" y="44831"/>
                  </a:moveTo>
                  <a:lnTo>
                    <a:pt x="456122" y="71309"/>
                  </a:lnTo>
                  <a:lnTo>
                    <a:pt x="401488" y="81013"/>
                  </a:lnTo>
                  <a:lnTo>
                    <a:pt x="332218" y="87377"/>
                  </a:lnTo>
                  <a:lnTo>
                    <a:pt x="252475" y="89662"/>
                  </a:lnTo>
                  <a:lnTo>
                    <a:pt x="172671" y="87377"/>
                  </a:lnTo>
                  <a:lnTo>
                    <a:pt x="103363" y="81013"/>
                  </a:lnTo>
                  <a:lnTo>
                    <a:pt x="48711" y="71309"/>
                  </a:lnTo>
                  <a:lnTo>
                    <a:pt x="0" y="44831"/>
                  </a:lnTo>
                  <a:lnTo>
                    <a:pt x="12870" y="30658"/>
                  </a:lnTo>
                  <a:lnTo>
                    <a:pt x="48711" y="18352"/>
                  </a:lnTo>
                  <a:lnTo>
                    <a:pt x="103363" y="8648"/>
                  </a:lnTo>
                  <a:lnTo>
                    <a:pt x="172671" y="2284"/>
                  </a:lnTo>
                  <a:lnTo>
                    <a:pt x="252475" y="0"/>
                  </a:lnTo>
                  <a:lnTo>
                    <a:pt x="332218" y="2284"/>
                  </a:lnTo>
                  <a:lnTo>
                    <a:pt x="401488" y="8648"/>
                  </a:lnTo>
                  <a:lnTo>
                    <a:pt x="456122" y="18352"/>
                  </a:lnTo>
                  <a:lnTo>
                    <a:pt x="491955" y="30658"/>
                  </a:lnTo>
                  <a:lnTo>
                    <a:pt x="504825" y="44831"/>
                  </a:lnTo>
                  <a:lnTo>
                    <a:pt x="504825" y="313816"/>
                  </a:lnTo>
                  <a:lnTo>
                    <a:pt x="456122" y="340340"/>
                  </a:lnTo>
                  <a:lnTo>
                    <a:pt x="401488" y="350082"/>
                  </a:lnTo>
                  <a:lnTo>
                    <a:pt x="332218" y="356476"/>
                  </a:lnTo>
                  <a:lnTo>
                    <a:pt x="252475" y="358775"/>
                  </a:lnTo>
                  <a:lnTo>
                    <a:pt x="172671" y="356476"/>
                  </a:lnTo>
                  <a:lnTo>
                    <a:pt x="103363" y="350082"/>
                  </a:lnTo>
                  <a:lnTo>
                    <a:pt x="48711" y="340340"/>
                  </a:lnTo>
                  <a:lnTo>
                    <a:pt x="12870" y="328002"/>
                  </a:lnTo>
                  <a:lnTo>
                    <a:pt x="0" y="313816"/>
                  </a:lnTo>
                  <a:lnTo>
                    <a:pt x="0" y="44831"/>
                  </a:lnTo>
                </a:path>
              </a:pathLst>
            </a:custGeom>
            <a:ln w="9525">
              <a:solidFill>
                <a:srgbClr val="FFBD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/>
          <p:cNvSpPr txBox="1"/>
          <p:nvPr/>
        </p:nvSpPr>
        <p:spPr>
          <a:xfrm>
            <a:off x="11393551" y="4039361"/>
            <a:ext cx="31432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>
                <a:latin typeface="Arial"/>
                <a:cs typeface="Arial"/>
              </a:rPr>
              <a:t>src</a:t>
            </a:r>
            <a:endParaRPr sz="17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091553" y="4262754"/>
            <a:ext cx="2641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"/>
                <a:cs typeface="Arial"/>
              </a:rPr>
              <a:t>O1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8616695" y="4160494"/>
            <a:ext cx="596265" cy="501650"/>
            <a:chOff x="8616695" y="4160494"/>
            <a:chExt cx="596265" cy="501650"/>
          </a:xfrm>
        </p:grpSpPr>
        <p:pic>
          <p:nvPicPr>
            <p:cNvPr id="57" name="object 5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616695" y="4160494"/>
              <a:ext cx="595909" cy="449605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648699" y="4207776"/>
              <a:ext cx="531901" cy="454139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8664574" y="4230115"/>
              <a:ext cx="504825" cy="314325"/>
            </a:xfrm>
            <a:custGeom>
              <a:avLst/>
              <a:gdLst/>
              <a:ahLst/>
              <a:cxnLst/>
              <a:rect l="l" t="t" r="r" b="b"/>
              <a:pathLst>
                <a:path w="504825" h="314325">
                  <a:moveTo>
                    <a:pt x="504825" y="0"/>
                  </a:moveTo>
                  <a:lnTo>
                    <a:pt x="456122" y="26478"/>
                  </a:lnTo>
                  <a:lnTo>
                    <a:pt x="401488" y="36182"/>
                  </a:lnTo>
                  <a:lnTo>
                    <a:pt x="332218" y="42546"/>
                  </a:lnTo>
                  <a:lnTo>
                    <a:pt x="252475" y="44830"/>
                  </a:lnTo>
                  <a:lnTo>
                    <a:pt x="172671" y="42546"/>
                  </a:lnTo>
                  <a:lnTo>
                    <a:pt x="103363" y="36182"/>
                  </a:lnTo>
                  <a:lnTo>
                    <a:pt x="48711" y="26478"/>
                  </a:lnTo>
                  <a:lnTo>
                    <a:pt x="12870" y="14172"/>
                  </a:lnTo>
                  <a:lnTo>
                    <a:pt x="0" y="0"/>
                  </a:lnTo>
                  <a:lnTo>
                    <a:pt x="0" y="268985"/>
                  </a:lnTo>
                  <a:lnTo>
                    <a:pt x="48711" y="295509"/>
                  </a:lnTo>
                  <a:lnTo>
                    <a:pt x="103363" y="305251"/>
                  </a:lnTo>
                  <a:lnTo>
                    <a:pt x="172671" y="311645"/>
                  </a:lnTo>
                  <a:lnTo>
                    <a:pt x="252475" y="313943"/>
                  </a:lnTo>
                  <a:lnTo>
                    <a:pt x="332218" y="311645"/>
                  </a:lnTo>
                  <a:lnTo>
                    <a:pt x="401488" y="305251"/>
                  </a:lnTo>
                  <a:lnTo>
                    <a:pt x="456122" y="295509"/>
                  </a:lnTo>
                  <a:lnTo>
                    <a:pt x="491955" y="283171"/>
                  </a:lnTo>
                  <a:lnTo>
                    <a:pt x="504825" y="268985"/>
                  </a:lnTo>
                  <a:lnTo>
                    <a:pt x="504825" y="0"/>
                  </a:lnTo>
                  <a:close/>
                </a:path>
              </a:pathLst>
            </a:custGeom>
            <a:solidFill>
              <a:srgbClr val="C4DF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8664574" y="4185284"/>
              <a:ext cx="504825" cy="90170"/>
            </a:xfrm>
            <a:custGeom>
              <a:avLst/>
              <a:gdLst/>
              <a:ahLst/>
              <a:cxnLst/>
              <a:rect l="l" t="t" r="r" b="b"/>
              <a:pathLst>
                <a:path w="504825" h="90170">
                  <a:moveTo>
                    <a:pt x="252475" y="0"/>
                  </a:moveTo>
                  <a:lnTo>
                    <a:pt x="172671" y="2284"/>
                  </a:lnTo>
                  <a:lnTo>
                    <a:pt x="103363" y="8648"/>
                  </a:lnTo>
                  <a:lnTo>
                    <a:pt x="48711" y="18352"/>
                  </a:lnTo>
                  <a:lnTo>
                    <a:pt x="0" y="44831"/>
                  </a:lnTo>
                  <a:lnTo>
                    <a:pt x="12870" y="59003"/>
                  </a:lnTo>
                  <a:lnTo>
                    <a:pt x="48711" y="71309"/>
                  </a:lnTo>
                  <a:lnTo>
                    <a:pt x="103363" y="81013"/>
                  </a:lnTo>
                  <a:lnTo>
                    <a:pt x="172671" y="87377"/>
                  </a:lnTo>
                  <a:lnTo>
                    <a:pt x="252475" y="89662"/>
                  </a:lnTo>
                  <a:lnTo>
                    <a:pt x="332218" y="87377"/>
                  </a:lnTo>
                  <a:lnTo>
                    <a:pt x="401488" y="81013"/>
                  </a:lnTo>
                  <a:lnTo>
                    <a:pt x="456122" y="71309"/>
                  </a:lnTo>
                  <a:lnTo>
                    <a:pt x="491955" y="59003"/>
                  </a:lnTo>
                  <a:lnTo>
                    <a:pt x="504825" y="44831"/>
                  </a:lnTo>
                  <a:lnTo>
                    <a:pt x="491955" y="30658"/>
                  </a:lnTo>
                  <a:lnTo>
                    <a:pt x="456122" y="18352"/>
                  </a:lnTo>
                  <a:lnTo>
                    <a:pt x="401488" y="8648"/>
                  </a:lnTo>
                  <a:lnTo>
                    <a:pt x="332218" y="2284"/>
                  </a:lnTo>
                  <a:lnTo>
                    <a:pt x="252475" y="0"/>
                  </a:lnTo>
                  <a:close/>
                </a:path>
              </a:pathLst>
            </a:custGeom>
            <a:solidFill>
              <a:srgbClr val="DCEB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8664574" y="4185284"/>
              <a:ext cx="504825" cy="358775"/>
            </a:xfrm>
            <a:custGeom>
              <a:avLst/>
              <a:gdLst/>
              <a:ahLst/>
              <a:cxnLst/>
              <a:rect l="l" t="t" r="r" b="b"/>
              <a:pathLst>
                <a:path w="504825" h="358775">
                  <a:moveTo>
                    <a:pt x="504825" y="44831"/>
                  </a:moveTo>
                  <a:lnTo>
                    <a:pt x="456122" y="71309"/>
                  </a:lnTo>
                  <a:lnTo>
                    <a:pt x="401488" y="81013"/>
                  </a:lnTo>
                  <a:lnTo>
                    <a:pt x="332218" y="87377"/>
                  </a:lnTo>
                  <a:lnTo>
                    <a:pt x="252475" y="89662"/>
                  </a:lnTo>
                  <a:lnTo>
                    <a:pt x="172671" y="87377"/>
                  </a:lnTo>
                  <a:lnTo>
                    <a:pt x="103363" y="81013"/>
                  </a:lnTo>
                  <a:lnTo>
                    <a:pt x="48711" y="71309"/>
                  </a:lnTo>
                  <a:lnTo>
                    <a:pt x="0" y="44831"/>
                  </a:lnTo>
                  <a:lnTo>
                    <a:pt x="12870" y="30658"/>
                  </a:lnTo>
                  <a:lnTo>
                    <a:pt x="48711" y="18352"/>
                  </a:lnTo>
                  <a:lnTo>
                    <a:pt x="103363" y="8648"/>
                  </a:lnTo>
                  <a:lnTo>
                    <a:pt x="172671" y="2284"/>
                  </a:lnTo>
                  <a:lnTo>
                    <a:pt x="252475" y="0"/>
                  </a:lnTo>
                  <a:lnTo>
                    <a:pt x="332218" y="2284"/>
                  </a:lnTo>
                  <a:lnTo>
                    <a:pt x="401488" y="8648"/>
                  </a:lnTo>
                  <a:lnTo>
                    <a:pt x="456122" y="18352"/>
                  </a:lnTo>
                  <a:lnTo>
                    <a:pt x="491955" y="30658"/>
                  </a:lnTo>
                  <a:lnTo>
                    <a:pt x="504825" y="44831"/>
                  </a:lnTo>
                  <a:lnTo>
                    <a:pt x="504825" y="313816"/>
                  </a:lnTo>
                  <a:lnTo>
                    <a:pt x="456122" y="340340"/>
                  </a:lnTo>
                  <a:lnTo>
                    <a:pt x="401488" y="350082"/>
                  </a:lnTo>
                  <a:lnTo>
                    <a:pt x="332218" y="356476"/>
                  </a:lnTo>
                  <a:lnTo>
                    <a:pt x="252475" y="358775"/>
                  </a:lnTo>
                  <a:lnTo>
                    <a:pt x="172671" y="356476"/>
                  </a:lnTo>
                  <a:lnTo>
                    <a:pt x="103363" y="350082"/>
                  </a:lnTo>
                  <a:lnTo>
                    <a:pt x="48711" y="340340"/>
                  </a:lnTo>
                  <a:lnTo>
                    <a:pt x="12870" y="328002"/>
                  </a:lnTo>
                  <a:lnTo>
                    <a:pt x="0" y="313816"/>
                  </a:lnTo>
                  <a:lnTo>
                    <a:pt x="0" y="44831"/>
                  </a:lnTo>
                </a:path>
              </a:pathLst>
            </a:custGeom>
            <a:ln w="9525">
              <a:solidFill>
                <a:srgbClr val="FFBD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/>
          <p:cNvSpPr txBox="1"/>
          <p:nvPr/>
        </p:nvSpPr>
        <p:spPr>
          <a:xfrm>
            <a:off x="8786241" y="4262754"/>
            <a:ext cx="2635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"/>
                <a:cs typeface="Arial"/>
              </a:rPr>
              <a:t>O2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414515" y="5076431"/>
            <a:ext cx="488315" cy="488315"/>
            <a:chOff x="6414515" y="5076431"/>
            <a:chExt cx="488315" cy="488315"/>
          </a:xfrm>
        </p:grpSpPr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14515" y="5076431"/>
              <a:ext cx="487692" cy="48769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57441" y="5096636"/>
              <a:ext cx="406908" cy="406781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6917181" y="5132323"/>
            <a:ext cx="38735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0">
                <a:latin typeface="Arial"/>
                <a:cs typeface="Arial"/>
              </a:rPr>
              <a:t>dir1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533131" y="5070335"/>
            <a:ext cx="488315" cy="488315"/>
            <a:chOff x="7533131" y="5070335"/>
            <a:chExt cx="488315" cy="488315"/>
          </a:xfrm>
        </p:grpSpPr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33131" y="5070335"/>
              <a:ext cx="487692" cy="48769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76438" y="5089906"/>
              <a:ext cx="406780" cy="406781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8036432" y="5139944"/>
            <a:ext cx="38735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0">
                <a:latin typeface="Arial"/>
                <a:cs typeface="Arial"/>
              </a:rPr>
              <a:t>dir2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8653271" y="5062715"/>
            <a:ext cx="488315" cy="488315"/>
            <a:chOff x="8653271" y="5062715"/>
            <a:chExt cx="488315" cy="488315"/>
          </a:xfrm>
        </p:grpSpPr>
        <p:pic>
          <p:nvPicPr>
            <p:cNvPr id="35" name="object 3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53271" y="5062715"/>
              <a:ext cx="487692" cy="48769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95308" y="5081778"/>
              <a:ext cx="406908" cy="406781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9155430" y="5124069"/>
            <a:ext cx="38735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0">
                <a:latin typeface="Arial"/>
                <a:cs typeface="Arial"/>
              </a:rPr>
              <a:t>dir3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97355" y="5689193"/>
            <a:ext cx="55575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1600" spc="-10">
                <a:latin typeface="Calibri"/>
                <a:cs typeface="Calibri"/>
              </a:rPr>
              <a:t>lrwxrwxrwx.</a:t>
            </a:r>
            <a:r>
              <a:rPr dirty="0" sz="1600" spc="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1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mtk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mtk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0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Jan</a:t>
            </a:r>
            <a:r>
              <a:rPr dirty="0" sz="1600" spc="3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8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04:12</a:t>
            </a:r>
            <a:r>
              <a:rPr dirty="0" sz="1600" spc="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mnt</a:t>
            </a:r>
            <a:r>
              <a:rPr dirty="0" sz="1600" spc="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-&gt;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mnt:[4026531840]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8083" y="305943"/>
            <a:ext cx="11255883" cy="384441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8083" y="4726292"/>
            <a:ext cx="11255883" cy="1107605"/>
          </a:xfrm>
          <a:prstGeom prst="rect">
            <a:avLst/>
          </a:prstGeom>
        </p:spPr>
      </p:pic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6675" rIns="0" bIns="0" rtlCol="0" vert="horz">
            <a:spAutoFit/>
          </a:bodyPr>
          <a:lstStyle/>
          <a:p>
            <a:pPr marL="201295">
              <a:lnSpc>
                <a:spcPct val="100000"/>
              </a:lnSpc>
              <a:spcBef>
                <a:spcPts val="52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430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Illustration</a:t>
            </a:r>
            <a:r>
              <a:rPr dirty="0" spc="-7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of</a:t>
            </a:r>
            <a:r>
              <a:rPr dirty="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Namespace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Operations</a:t>
            </a:r>
            <a:r>
              <a:rPr dirty="0" spc="-6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:</a:t>
            </a:r>
            <a:r>
              <a:rPr dirty="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E.g.</a:t>
            </a:r>
            <a:r>
              <a:rPr dirty="0" spc="-5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MNT</a:t>
            </a:r>
            <a:r>
              <a:rPr dirty="0" spc="-4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Namespace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14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/>
              <a:t>Creation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10"/>
              <a:t>Namespace</a:t>
            </a:r>
          </a:p>
          <a:p>
            <a:pPr marL="438150" marR="490220" indent="-360045">
              <a:lnSpc>
                <a:spcPct val="120000"/>
              </a:lnSpc>
              <a:spcBef>
                <a:spcPts val="280"/>
              </a:spcBef>
              <a:buSzPct val="81818"/>
              <a:buFont typeface="Arial"/>
              <a:buChar char="•"/>
              <a:tabLst>
                <a:tab pos="438150" algn="l"/>
              </a:tabLst>
            </a:pP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dirty="0" spc="-4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create</a:t>
            </a:r>
            <a:r>
              <a:rPr dirty="0" spc="-4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dirty="0" spc="-5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namespace,</a:t>
            </a:r>
            <a:r>
              <a:rPr dirty="0" spc="-4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must</a:t>
            </a:r>
            <a:r>
              <a:rPr dirty="0" spc="-3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create</a:t>
            </a:r>
            <a:r>
              <a:rPr dirty="0" spc="-4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50" b="0">
                <a:solidFill>
                  <a:srgbClr val="000000"/>
                </a:solidFill>
                <a:latin typeface="Calibri"/>
                <a:cs typeface="Calibri"/>
              </a:rPr>
              <a:t>a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process</a:t>
            </a:r>
            <a:r>
              <a:rPr dirty="0" spc="-3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with</a:t>
            </a:r>
            <a:r>
              <a:rPr dirty="0" spc="-3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that</a:t>
            </a:r>
            <a:r>
              <a:rPr dirty="0" spc="-2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namespace</a:t>
            </a:r>
          </a:p>
          <a:p>
            <a:pPr marL="438150" marR="673100" indent="-360045">
              <a:lnSpc>
                <a:spcPct val="120100"/>
              </a:lnSpc>
              <a:spcBef>
                <a:spcPts val="500"/>
              </a:spcBef>
              <a:buClr>
                <a:srgbClr val="000000"/>
              </a:buClr>
              <a:buSzPct val="81818"/>
              <a:buFont typeface="Arial"/>
              <a:buChar char="•"/>
              <a:tabLst>
                <a:tab pos="438150" algn="l"/>
              </a:tabLst>
            </a:pPr>
            <a:r>
              <a:rPr dirty="0" b="0" i="1">
                <a:solidFill>
                  <a:srgbClr val="C00000"/>
                </a:solidFill>
                <a:latin typeface="Calibri"/>
                <a:cs typeface="Calibri"/>
              </a:rPr>
              <a:t>pid</a:t>
            </a:r>
            <a:r>
              <a:rPr dirty="0" spc="-50" b="0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b="0" i="1">
                <a:solidFill>
                  <a:srgbClr val="C00000"/>
                </a:solidFill>
                <a:latin typeface="Calibri"/>
                <a:cs typeface="Calibri"/>
              </a:rPr>
              <a:t>=</a:t>
            </a:r>
            <a:r>
              <a:rPr dirty="0" spc="-45" b="0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b="0" i="1">
                <a:solidFill>
                  <a:srgbClr val="C00000"/>
                </a:solidFill>
                <a:latin typeface="Calibri"/>
                <a:cs typeface="Calibri"/>
              </a:rPr>
              <a:t>clone(childFunc,</a:t>
            </a:r>
            <a:r>
              <a:rPr dirty="0" spc="-60" b="0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pc="-10" b="0" i="1">
                <a:solidFill>
                  <a:srgbClr val="C00000"/>
                </a:solidFill>
                <a:latin typeface="Calibri"/>
                <a:cs typeface="Calibri"/>
              </a:rPr>
              <a:t>stackTop, CLONE_NEWNS</a:t>
            </a:r>
            <a:r>
              <a:rPr dirty="0" spc="-45" b="0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b="0" i="1">
                <a:solidFill>
                  <a:srgbClr val="C00000"/>
                </a:solidFill>
                <a:latin typeface="Calibri"/>
                <a:cs typeface="Calibri"/>
              </a:rPr>
              <a:t>|</a:t>
            </a:r>
            <a:r>
              <a:rPr dirty="0" spc="-60" b="0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b="0" i="1">
                <a:solidFill>
                  <a:srgbClr val="C00000"/>
                </a:solidFill>
                <a:latin typeface="Calibri"/>
                <a:cs typeface="Calibri"/>
              </a:rPr>
              <a:t>SIGCHLD,</a:t>
            </a:r>
            <a:r>
              <a:rPr dirty="0" spc="-35" b="0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pc="-10" b="0" i="1">
                <a:solidFill>
                  <a:srgbClr val="C00000"/>
                </a:solidFill>
                <a:latin typeface="Calibri"/>
                <a:cs typeface="Calibri"/>
              </a:rPr>
              <a:t>argv[1]);</a:t>
            </a:r>
          </a:p>
          <a:p>
            <a:pPr marL="437515" indent="-359410">
              <a:lnSpc>
                <a:spcPct val="100000"/>
              </a:lnSpc>
              <a:spcBef>
                <a:spcPts val="1019"/>
              </a:spcBef>
              <a:buSzPct val="81818"/>
              <a:buFont typeface="Arial"/>
              <a:buChar char="•"/>
              <a:tabLst>
                <a:tab pos="437515" algn="l"/>
              </a:tabLst>
            </a:pP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Creates</a:t>
            </a:r>
            <a:r>
              <a:rPr dirty="0" spc="-3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dirty="0" spc="-3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new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child,</a:t>
            </a:r>
            <a:r>
              <a:rPr dirty="0" spc="-5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like</a:t>
            </a:r>
            <a:r>
              <a:rPr dirty="0" spc="-3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10" b="0" i="1">
                <a:solidFill>
                  <a:srgbClr val="000000"/>
                </a:solidFill>
                <a:latin typeface="Calibri"/>
                <a:cs typeface="Calibri"/>
              </a:rPr>
              <a:t>fork()</a:t>
            </a:r>
          </a:p>
          <a:p>
            <a:pPr marL="438150" marR="43180" indent="-360045">
              <a:lnSpc>
                <a:spcPct val="120100"/>
              </a:lnSpc>
              <a:spcBef>
                <a:spcPts val="500"/>
              </a:spcBef>
              <a:buSzPct val="81818"/>
              <a:buFont typeface="Arial"/>
              <a:buChar char="•"/>
              <a:tabLst>
                <a:tab pos="438150" algn="l"/>
              </a:tabLst>
            </a:pPr>
            <a:r>
              <a:rPr dirty="0" b="0" i="1">
                <a:solidFill>
                  <a:srgbClr val="000000"/>
                </a:solidFill>
                <a:latin typeface="Calibri"/>
                <a:cs typeface="Calibri"/>
              </a:rPr>
              <a:t>NEWNS</a:t>
            </a:r>
            <a:r>
              <a:rPr dirty="0" spc="-15" b="0" i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flag</a:t>
            </a:r>
            <a:r>
              <a:rPr dirty="0" spc="-3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indicates</a:t>
            </a:r>
            <a:r>
              <a:rPr dirty="0" spc="-3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that</a:t>
            </a:r>
            <a:r>
              <a:rPr dirty="0" spc="-4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child</a:t>
            </a:r>
            <a:r>
              <a:rPr dirty="0" spc="-4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has</a:t>
            </a:r>
            <a:r>
              <a:rPr dirty="0" spc="-2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dirty="0" spc="-3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"/>
                <a:cs typeface="Calibri"/>
              </a:rPr>
              <a:t>new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mount</a:t>
            </a:r>
            <a:r>
              <a:rPr dirty="0" spc="-5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namespace</a:t>
            </a:r>
          </a:p>
          <a:p>
            <a:pPr marL="438150" marR="5080" indent="-360045">
              <a:lnSpc>
                <a:spcPct val="120000"/>
              </a:lnSpc>
              <a:spcBef>
                <a:spcPts val="505"/>
              </a:spcBef>
              <a:buSzPct val="81818"/>
              <a:buFont typeface="Arial"/>
              <a:buChar char="•"/>
              <a:tabLst>
                <a:tab pos="438150" algn="l"/>
              </a:tabLst>
            </a:pP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Child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can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do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 i="1">
                <a:solidFill>
                  <a:srgbClr val="000000"/>
                </a:solidFill>
                <a:latin typeface="Calibri"/>
                <a:cs typeface="Calibri"/>
              </a:rPr>
              <a:t>mount</a:t>
            </a:r>
            <a:r>
              <a:rPr dirty="0" spc="-20" b="0" i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 i="1">
                <a:solidFill>
                  <a:srgbClr val="000000"/>
                </a:solidFill>
                <a:latin typeface="Calibri"/>
                <a:cs typeface="Calibri"/>
              </a:rPr>
              <a:t>umount</a:t>
            </a:r>
            <a:r>
              <a:rPr dirty="0" spc="-25" b="0" i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 modify namespace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55460" y="2678477"/>
            <a:ext cx="1617980" cy="884555"/>
          </a:xfrm>
          <a:prstGeom prst="rect">
            <a:avLst/>
          </a:prstGeom>
        </p:spPr>
        <p:txBody>
          <a:bodyPr wrap="square" lIns="0" tIns="137160" rIns="0" bIns="0" rtlCol="0" vert="horz">
            <a:spAutoFit/>
          </a:bodyPr>
          <a:lstStyle/>
          <a:p>
            <a:pPr marL="372110" indent="-359410">
              <a:lnSpc>
                <a:spcPct val="100000"/>
              </a:lnSpc>
              <a:spcBef>
                <a:spcPts val="1080"/>
              </a:spcBef>
              <a:buSzPct val="87500"/>
              <a:buFont typeface="Arial"/>
              <a:buChar char="•"/>
              <a:tabLst>
                <a:tab pos="372110" algn="l"/>
              </a:tabLst>
            </a:pPr>
            <a:r>
              <a:rPr dirty="0" sz="2000">
                <a:latin typeface="Calibri"/>
                <a:cs typeface="Calibri"/>
              </a:rPr>
              <a:t>(int</a:t>
            </a:r>
            <a:r>
              <a:rPr dirty="0" sz="2000" spc="-25">
                <a:latin typeface="Calibri"/>
                <a:cs typeface="Calibri"/>
              </a:rPr>
              <a:t> fd,</a:t>
            </a:r>
            <a:endParaRPr sz="2000">
              <a:latin typeface="Calibri"/>
              <a:cs typeface="Calibri"/>
            </a:endParaRPr>
          </a:p>
          <a:p>
            <a:pPr marL="428625" indent="-415925">
              <a:lnSpc>
                <a:spcPct val="100000"/>
              </a:lnSpc>
              <a:spcBef>
                <a:spcPts val="980"/>
              </a:spcBef>
              <a:buSzPct val="87500"/>
              <a:buFont typeface="Arial"/>
              <a:buChar char="•"/>
              <a:tabLst>
                <a:tab pos="428625" algn="l"/>
              </a:tabLst>
            </a:pPr>
            <a:r>
              <a:rPr dirty="0" sz="2000">
                <a:latin typeface="Calibri"/>
                <a:cs typeface="Calibri"/>
              </a:rPr>
              <a:t>int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nstype);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89928" y="1401021"/>
            <a:ext cx="5278755" cy="4244975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78105" marR="450215" indent="-66040">
              <a:lnSpc>
                <a:spcPct val="135200"/>
              </a:lnSpc>
              <a:spcBef>
                <a:spcPts val="20"/>
              </a:spcBef>
            </a:pP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Programs</a:t>
            </a:r>
            <a:r>
              <a:rPr dirty="0" sz="2200" spc="-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to</a:t>
            </a:r>
            <a:r>
              <a:rPr dirty="0" sz="2200" spc="-3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be</a:t>
            </a:r>
            <a:r>
              <a:rPr dirty="0" sz="2200" spc="-4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joining</a:t>
            </a:r>
            <a:r>
              <a:rPr dirty="0" sz="2200" spc="-4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into</a:t>
            </a:r>
            <a:r>
              <a:rPr dirty="0" sz="2200" spc="-4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200" spc="-2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spc="-10" b="1">
                <a:solidFill>
                  <a:srgbClr val="006FC0"/>
                </a:solidFill>
                <a:latin typeface="Calibri"/>
                <a:cs typeface="Calibri"/>
              </a:rPr>
              <a:t>namespace </a:t>
            </a:r>
            <a:r>
              <a:rPr dirty="0" sz="2000">
                <a:latin typeface="Calibri"/>
                <a:cs typeface="Calibri"/>
              </a:rPr>
              <a:t>Allows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program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join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existing</a:t>
            </a:r>
            <a:r>
              <a:rPr dirty="0" sz="2000" spc="-10">
                <a:latin typeface="Calibri"/>
                <a:cs typeface="Calibri"/>
              </a:rPr>
              <a:t> namespace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int</a:t>
            </a:r>
            <a:r>
              <a:rPr dirty="0" sz="2000" spc="-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C00000"/>
                </a:solidFill>
                <a:latin typeface="Calibri"/>
                <a:cs typeface="Calibri"/>
              </a:rPr>
              <a:t>setns</a:t>
            </a:r>
            <a:endParaRPr sz="2000">
              <a:latin typeface="Calibri"/>
              <a:cs typeface="Calibri"/>
            </a:endParaRPr>
          </a:p>
          <a:p>
            <a:pPr marL="1925955">
              <a:lnSpc>
                <a:spcPct val="100000"/>
              </a:lnSpc>
              <a:spcBef>
                <a:spcPts val="985"/>
              </a:spcBef>
            </a:pPr>
            <a:r>
              <a:rPr dirty="0" sz="2000">
                <a:latin typeface="Calibri"/>
                <a:cs typeface="Calibri"/>
              </a:rPr>
              <a:t>//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namespace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join</a:t>
            </a:r>
            <a:endParaRPr sz="2000">
              <a:latin typeface="Calibri"/>
              <a:cs typeface="Calibri"/>
            </a:endParaRPr>
          </a:p>
          <a:p>
            <a:pPr marL="1899285">
              <a:lnSpc>
                <a:spcPct val="100000"/>
              </a:lnSpc>
              <a:spcBef>
                <a:spcPts val="985"/>
              </a:spcBef>
            </a:pPr>
            <a:r>
              <a:rPr dirty="0" sz="2000">
                <a:latin typeface="Calibri"/>
                <a:cs typeface="Calibri"/>
              </a:rPr>
              <a:t>//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type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ns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14"/>
              </a:spcBef>
            </a:pPr>
            <a:endParaRPr sz="2000">
              <a:latin typeface="Calibri"/>
              <a:cs typeface="Calibri"/>
            </a:endParaRPr>
          </a:p>
          <a:p>
            <a:pPr marL="78105">
              <a:lnSpc>
                <a:spcPct val="100000"/>
              </a:lnSpc>
            </a:pP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int</a:t>
            </a:r>
            <a:r>
              <a:rPr dirty="0" sz="2000" spc="-4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unshare</a:t>
            </a:r>
            <a:r>
              <a:rPr dirty="0" sz="200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(int</a:t>
            </a:r>
            <a:r>
              <a:rPr dirty="0" sz="2000" spc="-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flags);</a:t>
            </a:r>
            <a:r>
              <a:rPr dirty="0" sz="20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//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namespace</a:t>
            </a:r>
            <a:endParaRPr sz="2000">
              <a:latin typeface="Calibri"/>
              <a:cs typeface="Calibri"/>
            </a:endParaRPr>
          </a:p>
          <a:p>
            <a:pPr marL="437515" indent="-359410">
              <a:lnSpc>
                <a:spcPct val="100000"/>
              </a:lnSpc>
              <a:spcBef>
                <a:spcPts val="985"/>
              </a:spcBef>
              <a:buSzPct val="87500"/>
              <a:buFont typeface="Arial"/>
              <a:buChar char="•"/>
              <a:tabLst>
                <a:tab pos="437515" algn="l"/>
              </a:tabLst>
            </a:pPr>
            <a:r>
              <a:rPr dirty="0" sz="2000">
                <a:latin typeface="Calibri"/>
                <a:cs typeface="Calibri"/>
              </a:rPr>
              <a:t>CLONE_NEWNS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specifies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mount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namespace</a:t>
            </a:r>
            <a:endParaRPr sz="2000">
              <a:latin typeface="Calibri"/>
              <a:cs typeface="Calibri"/>
            </a:endParaRPr>
          </a:p>
          <a:p>
            <a:pPr marL="437515" marR="5080" indent="-360045">
              <a:lnSpc>
                <a:spcPct val="120000"/>
              </a:lnSpc>
              <a:spcBef>
                <a:spcPts val="495"/>
              </a:spcBef>
              <a:buSzPct val="87500"/>
              <a:buFont typeface="Arial"/>
              <a:buChar char="•"/>
              <a:tabLst>
                <a:tab pos="437515" algn="l"/>
              </a:tabLst>
            </a:pPr>
            <a:r>
              <a:rPr dirty="0" sz="2000">
                <a:latin typeface="Calibri"/>
                <a:cs typeface="Calibri"/>
              </a:rPr>
              <a:t>Similar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clone();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allows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caller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create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new </a:t>
            </a:r>
            <a:r>
              <a:rPr dirty="0" sz="2000" spc="-10">
                <a:latin typeface="Calibri"/>
                <a:cs typeface="Calibri"/>
              </a:rPr>
              <a:t>namespace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87298"/>
            <a:ext cx="12191999" cy="5080000"/>
          </a:xfrm>
          <a:prstGeom prst="rect">
            <a:avLst/>
          </a:prstGeom>
        </p:spPr>
      </p:pic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666" y="457225"/>
            <a:ext cx="11894693" cy="5536882"/>
          </a:xfrm>
          <a:prstGeom prst="rect">
            <a:avLst/>
          </a:prstGeom>
        </p:spPr>
      </p:pic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4520"/>
            <a:ext cx="12192000" cy="6753859"/>
            <a:chOff x="0" y="104520"/>
            <a:chExt cx="12192000" cy="675385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4520"/>
              <a:ext cx="12191999" cy="30907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1243" y="3195319"/>
              <a:ext cx="10496804" cy="188417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1662" y="5079490"/>
              <a:ext cx="9857994" cy="17785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2216" y="202183"/>
            <a:ext cx="5374005" cy="847090"/>
          </a:xfrm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13335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UTS</a:t>
            </a:r>
            <a:r>
              <a:rPr dirty="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(Unix</a:t>
            </a:r>
            <a:r>
              <a:rPr dirty="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Time</a:t>
            </a:r>
            <a:r>
              <a:rPr dirty="0" spc="-3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Sharing)</a:t>
            </a:r>
            <a:r>
              <a:rPr dirty="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Namespace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202293" y="429641"/>
            <a:ext cx="1619885" cy="1991995"/>
          </a:xfrm>
          <a:prstGeom prst="rect">
            <a:avLst/>
          </a:prstGeom>
          <a:solidFill>
            <a:srgbClr val="1F4E79">
              <a:alpha val="79998"/>
            </a:srgbClr>
          </a:solidFill>
          <a:ln w="9525">
            <a:solidFill>
              <a:srgbClr val="A4A4A4"/>
            </a:solidFill>
          </a:ln>
        </p:spPr>
        <p:txBody>
          <a:bodyPr wrap="square" lIns="0" tIns="40005" rIns="0" bIns="0" rtlCol="0" vert="horz">
            <a:spAutoFit/>
          </a:bodyPr>
          <a:lstStyle/>
          <a:p>
            <a:pPr marL="99060" marR="89535" indent="182880">
              <a:lnSpc>
                <a:spcPct val="100000"/>
              </a:lnSpc>
              <a:spcBef>
                <a:spcPts val="315"/>
              </a:spcBef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“global”</a:t>
            </a:r>
            <a:r>
              <a:rPr dirty="0" sz="140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(i.e.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root)</a:t>
            </a:r>
            <a:r>
              <a:rPr dirty="0" sz="14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namespace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3118" y="1342770"/>
            <a:ext cx="8232140" cy="3229610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00"/>
              </a:spcBef>
              <a:buSzPct val="75000"/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Per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namespace</a:t>
            </a:r>
            <a:endParaRPr sz="2400">
              <a:latin typeface="Calibri"/>
              <a:cs typeface="Calibri"/>
            </a:endParaRPr>
          </a:p>
          <a:p>
            <a:pPr lvl="1" marL="812165" indent="-342265">
              <a:lnSpc>
                <a:spcPct val="100000"/>
              </a:lnSpc>
              <a:spcBef>
                <a:spcPts val="204"/>
              </a:spcBef>
              <a:buSzPct val="75000"/>
              <a:buFont typeface="Arial"/>
              <a:buChar char="•"/>
              <a:tabLst>
                <a:tab pos="812165" algn="l"/>
              </a:tabLst>
            </a:pPr>
            <a:r>
              <a:rPr dirty="0" sz="2400" spc="-10">
                <a:latin typeface="Calibri"/>
                <a:cs typeface="Calibri"/>
              </a:rPr>
              <a:t>Hostname</a:t>
            </a:r>
            <a:endParaRPr sz="2400">
              <a:latin typeface="Calibri"/>
              <a:cs typeface="Calibri"/>
            </a:endParaRPr>
          </a:p>
          <a:p>
            <a:pPr lvl="1" marL="812165" indent="-342265">
              <a:lnSpc>
                <a:spcPct val="100000"/>
              </a:lnSpc>
              <a:spcBef>
                <a:spcPts val="219"/>
              </a:spcBef>
              <a:buSzPct val="75000"/>
              <a:buFont typeface="Arial"/>
              <a:buChar char="•"/>
              <a:tabLst>
                <a:tab pos="812165" algn="l"/>
              </a:tabLst>
            </a:pPr>
            <a:r>
              <a:rPr dirty="0" sz="2400">
                <a:latin typeface="Calibri"/>
                <a:cs typeface="Calibri"/>
              </a:rPr>
              <a:t>NIS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domain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name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(Network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Information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Service)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10"/>
              </a:spcBef>
              <a:buSzPct val="75000"/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Reported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by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commands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such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hostname</a:t>
            </a:r>
            <a:endParaRPr sz="2400">
              <a:latin typeface="Calibri"/>
              <a:cs typeface="Calibri"/>
            </a:endParaRPr>
          </a:p>
          <a:p>
            <a:pPr marL="355600" marR="5080" indent="-342900">
              <a:lnSpc>
                <a:spcPts val="2590"/>
              </a:lnSpc>
              <a:spcBef>
                <a:spcPts val="1045"/>
              </a:spcBef>
              <a:buSzPct val="75000"/>
              <a:buFont typeface="Arial"/>
              <a:buChar char="•"/>
              <a:tabLst>
                <a:tab pos="355600" algn="l"/>
              </a:tabLst>
            </a:pPr>
            <a:r>
              <a:rPr dirty="0" sz="2400">
                <a:latin typeface="Calibri"/>
                <a:cs typeface="Calibri"/>
              </a:rPr>
              <a:t>Processes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namespace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change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UTS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values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–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only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reflected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child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namespace</a:t>
            </a:r>
            <a:endParaRPr sz="2400">
              <a:latin typeface="Calibri"/>
              <a:cs typeface="Calibri"/>
            </a:endParaRPr>
          </a:p>
          <a:p>
            <a:pPr marL="355600" marR="735330" indent="-342900">
              <a:lnSpc>
                <a:spcPts val="2590"/>
              </a:lnSpc>
              <a:spcBef>
                <a:spcPts val="1005"/>
              </a:spcBef>
              <a:buSzPct val="75000"/>
              <a:buFont typeface="Arial"/>
              <a:buChar char="•"/>
              <a:tabLst>
                <a:tab pos="355600" algn="l"/>
              </a:tabLst>
            </a:pPr>
            <a:r>
              <a:rPr dirty="0" sz="2400">
                <a:latin typeface="Calibri"/>
                <a:cs typeface="Calibri"/>
              </a:rPr>
              <a:t>Allows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containers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have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their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own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FQDN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(Fully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qualified </a:t>
            </a:r>
            <a:r>
              <a:rPr dirty="0" sz="2400">
                <a:latin typeface="Calibri"/>
                <a:cs typeface="Calibri"/>
              </a:rPr>
              <a:t>Domain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Name)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78442" y="896874"/>
            <a:ext cx="1267460" cy="1412240"/>
          </a:xfrm>
          <a:prstGeom prst="rect">
            <a:avLst/>
          </a:prstGeom>
          <a:solidFill>
            <a:srgbClr val="1F4E79">
              <a:alpha val="79998"/>
            </a:srgbClr>
          </a:solidFill>
          <a:ln w="9525">
            <a:solidFill>
              <a:srgbClr val="A4A4A4"/>
            </a:solidFill>
          </a:ln>
        </p:spPr>
        <p:txBody>
          <a:bodyPr wrap="square" lIns="0" tIns="400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15"/>
              </a:spcBef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UTS</a:t>
            </a:r>
            <a:r>
              <a:rPr dirty="0" sz="1400" spc="-25" b="1">
                <a:solidFill>
                  <a:srgbClr val="FFFFFF"/>
                </a:solidFill>
                <a:latin typeface="Arial"/>
                <a:cs typeface="Arial"/>
              </a:rPr>
              <a:t> NS</a:t>
            </a:r>
            <a:endParaRPr sz="1400">
              <a:latin typeface="Arial"/>
              <a:cs typeface="Arial"/>
            </a:endParaRPr>
          </a:p>
          <a:p>
            <a:pPr algn="ctr" marL="140970" marR="135255">
              <a:lnSpc>
                <a:spcPct val="100699"/>
              </a:lnSpc>
              <a:spcBef>
                <a:spcPts val="1215"/>
              </a:spcBef>
            </a:pPr>
            <a:r>
              <a:rPr dirty="0" sz="1400" spc="-10">
                <a:solidFill>
                  <a:srgbClr val="FFFFFF"/>
                </a:solidFill>
                <a:latin typeface="Consolas"/>
                <a:cs typeface="Consolas"/>
              </a:rPr>
              <a:t>globalhost rootns.com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20707" y="2528570"/>
            <a:ext cx="1595755" cy="1990089"/>
          </a:xfrm>
          <a:prstGeom prst="rect">
            <a:avLst/>
          </a:prstGeom>
          <a:solidFill>
            <a:srgbClr val="00AF50">
              <a:alpha val="79998"/>
            </a:srgbClr>
          </a:solidFill>
          <a:ln w="9525">
            <a:solidFill>
              <a:srgbClr val="A4A4A4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314325" marR="303530" indent="152400">
              <a:lnSpc>
                <a:spcPct val="100000"/>
              </a:lnSpc>
              <a:spcBef>
                <a:spcPts val="320"/>
              </a:spcBef>
            </a:pP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“green” namespace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78442" y="3034410"/>
            <a:ext cx="1267460" cy="1384300"/>
          </a:xfrm>
          <a:prstGeom prst="rect">
            <a:avLst/>
          </a:prstGeom>
          <a:solidFill>
            <a:srgbClr val="00AF50">
              <a:alpha val="79998"/>
            </a:srgbClr>
          </a:solidFill>
          <a:ln w="9525">
            <a:solidFill>
              <a:srgbClr val="A4A4A4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UTS</a:t>
            </a:r>
            <a:r>
              <a:rPr dirty="0" sz="1400" spc="-25" b="1">
                <a:solidFill>
                  <a:srgbClr val="FFFFFF"/>
                </a:solidFill>
                <a:latin typeface="Arial"/>
                <a:cs typeface="Arial"/>
              </a:rPr>
              <a:t> NS</a:t>
            </a:r>
            <a:endParaRPr sz="1400">
              <a:latin typeface="Arial"/>
              <a:cs typeface="Arial"/>
            </a:endParaRPr>
          </a:p>
          <a:p>
            <a:pPr algn="ctr" marL="92075" marR="86995" indent="1905">
              <a:lnSpc>
                <a:spcPct val="100699"/>
              </a:lnSpc>
              <a:spcBef>
                <a:spcPts val="1215"/>
              </a:spcBef>
            </a:pPr>
            <a:r>
              <a:rPr dirty="0" sz="1400" spc="-10">
                <a:solidFill>
                  <a:srgbClr val="FFFFFF"/>
                </a:solidFill>
                <a:latin typeface="Consolas"/>
                <a:cs typeface="Consolas"/>
              </a:rPr>
              <a:t>greenhost greenns.org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4525" y="5198745"/>
            <a:ext cx="8519160" cy="1550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395"/>
              </a:lnSpc>
              <a:spcBef>
                <a:spcPts val="100"/>
              </a:spcBef>
            </a:pPr>
            <a:r>
              <a:rPr dirty="0" sz="2000" b="1">
                <a:latin typeface="Calibri"/>
                <a:cs typeface="Calibri"/>
              </a:rPr>
              <a:t>UTS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namespace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about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isolating</a:t>
            </a:r>
            <a:r>
              <a:rPr dirty="0" sz="2000" spc="-10">
                <a:latin typeface="Calibri"/>
                <a:cs typeface="Calibri"/>
              </a:rPr>
              <a:t> hostnames.</a:t>
            </a:r>
            <a:endParaRPr sz="2000">
              <a:latin typeface="Calibri"/>
              <a:cs typeface="Calibri"/>
            </a:endParaRPr>
          </a:p>
          <a:p>
            <a:pPr marL="12700" marR="360045">
              <a:lnSpc>
                <a:spcPts val="2410"/>
              </a:lnSpc>
              <a:spcBef>
                <a:spcPts val="70"/>
              </a:spcBef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UTS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namespace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isolate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two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specific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elements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system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that </a:t>
            </a:r>
            <a:r>
              <a:rPr dirty="0" sz="2000">
                <a:latin typeface="Calibri"/>
                <a:cs typeface="Calibri"/>
              </a:rPr>
              <a:t>relate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uname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system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call.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310"/>
              </a:lnSpc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UTS</a:t>
            </a:r>
            <a:r>
              <a:rPr dirty="0" sz="2000">
                <a:latin typeface="Calibri"/>
                <a:cs typeface="Calibri"/>
              </a:rPr>
              <a:t>(UNIX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Time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Sharing)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namespace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named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after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structure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to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2000">
                <a:latin typeface="Calibri"/>
                <a:cs typeface="Calibri"/>
              </a:rPr>
              <a:t>store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information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returned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uname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system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call.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70002" y="5151381"/>
            <a:ext cx="8953500" cy="1706880"/>
          </a:xfrm>
          <a:custGeom>
            <a:avLst/>
            <a:gdLst/>
            <a:ahLst/>
            <a:cxnLst/>
            <a:rect l="l" t="t" r="r" b="b"/>
            <a:pathLst>
              <a:path w="8953500" h="1706879">
                <a:moveTo>
                  <a:pt x="8953246" y="1706618"/>
                </a:moveTo>
                <a:lnTo>
                  <a:pt x="8953246" y="0"/>
                </a:lnTo>
                <a:lnTo>
                  <a:pt x="0" y="0"/>
                </a:lnTo>
                <a:lnTo>
                  <a:pt x="0" y="1706618"/>
                </a:lnTo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211436" y="4625721"/>
            <a:ext cx="1614170" cy="1991995"/>
          </a:xfrm>
          <a:prstGeom prst="rect">
            <a:avLst/>
          </a:prstGeom>
          <a:solidFill>
            <a:srgbClr val="C00000">
              <a:alpha val="79998"/>
            </a:srgbClr>
          </a:solidFill>
          <a:ln w="9525">
            <a:solidFill>
              <a:srgbClr val="A4A4A4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322580" marR="311785" indent="255904">
              <a:lnSpc>
                <a:spcPct val="100000"/>
              </a:lnSpc>
              <a:spcBef>
                <a:spcPts val="325"/>
              </a:spcBef>
            </a:pP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“red” namespace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83903" y="5121008"/>
            <a:ext cx="1267460" cy="1384300"/>
          </a:xfrm>
          <a:prstGeom prst="rect">
            <a:avLst/>
          </a:prstGeom>
          <a:solidFill>
            <a:srgbClr val="C00000">
              <a:alpha val="79998"/>
            </a:srgbClr>
          </a:solidFill>
          <a:ln w="9525">
            <a:solidFill>
              <a:srgbClr val="A4A4A4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25"/>
              </a:spcBef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UTS</a:t>
            </a:r>
            <a:r>
              <a:rPr dirty="0" sz="1400" spc="-25" b="1">
                <a:solidFill>
                  <a:srgbClr val="FFFFFF"/>
                </a:solidFill>
                <a:latin typeface="Arial"/>
                <a:cs typeface="Arial"/>
              </a:rPr>
              <a:t> NS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225"/>
              </a:spcBef>
            </a:pPr>
            <a:r>
              <a:rPr dirty="0" sz="1400" spc="-10">
                <a:solidFill>
                  <a:srgbClr val="FFFFFF"/>
                </a:solidFill>
                <a:latin typeface="Consolas"/>
                <a:cs typeface="Consolas"/>
              </a:rPr>
              <a:t>redhost</a:t>
            </a:r>
            <a:endParaRPr sz="1400">
              <a:latin typeface="Consolas"/>
              <a:cs typeface="Consolas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400" spc="-10">
                <a:solidFill>
                  <a:srgbClr val="FFFFFF"/>
                </a:solidFill>
                <a:latin typeface="Consolas"/>
                <a:cs typeface="Consolas"/>
              </a:rPr>
              <a:t>redns.com</a:t>
            </a:r>
            <a:endParaRPr sz="1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7892" y="939038"/>
            <a:ext cx="6356984" cy="2189353"/>
          </a:xfrm>
          <a:prstGeom prst="rect">
            <a:avLst/>
          </a:prstGeom>
        </p:spPr>
      </p:pic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3753" y="34670"/>
            <a:ext cx="2602865" cy="85979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CLOUD</a:t>
            </a:r>
            <a:r>
              <a:rPr dirty="0" sz="2400" spc="-1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395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NET</a:t>
            </a:r>
            <a:r>
              <a:rPr dirty="0" sz="2400" spc="-4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namespace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923" y="1025144"/>
            <a:ext cx="8299450" cy="0"/>
          </a:xfrm>
          <a:custGeom>
            <a:avLst/>
            <a:gdLst/>
            <a:ahLst/>
            <a:cxnLst/>
            <a:rect l="l" t="t" r="r" b="b"/>
            <a:pathLst>
              <a:path w="8299450" h="0">
                <a:moveTo>
                  <a:pt x="0" y="0"/>
                </a:moveTo>
                <a:lnTo>
                  <a:pt x="8299451" y="0"/>
                </a:lnTo>
              </a:path>
            </a:pathLst>
          </a:custGeom>
          <a:ln w="38100">
            <a:solidFill>
              <a:srgbClr val="C55A1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24408" y="965682"/>
            <a:ext cx="9546590" cy="5241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marR="5080" indent="-342900">
              <a:lnSpc>
                <a:spcPct val="120000"/>
              </a:lnSpc>
              <a:spcBef>
                <a:spcPts val="100"/>
              </a:spcBef>
              <a:buSzPct val="69230"/>
              <a:buFont typeface="Arial"/>
              <a:buChar char="•"/>
              <a:tabLst>
                <a:tab pos="354965" algn="l"/>
              </a:tabLst>
            </a:pPr>
            <a:r>
              <a:rPr dirty="0" sz="2600">
                <a:latin typeface="Calibri"/>
                <a:cs typeface="Calibri"/>
              </a:rPr>
              <a:t>It’s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virtual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network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barrier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encapsulating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process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isolate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its </a:t>
            </a:r>
            <a:r>
              <a:rPr dirty="0" sz="2600">
                <a:latin typeface="Calibri"/>
                <a:cs typeface="Calibri"/>
              </a:rPr>
              <a:t>network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connectivity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(in/out)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resources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(i.e.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network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interfaces, </a:t>
            </a:r>
            <a:r>
              <a:rPr dirty="0" sz="2600">
                <a:latin typeface="Calibri"/>
                <a:cs typeface="Calibri"/>
              </a:rPr>
              <a:t>route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tables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rules)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from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linux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core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other</a:t>
            </a:r>
            <a:r>
              <a:rPr dirty="0" sz="2600" spc="-10">
                <a:latin typeface="Calibri"/>
                <a:cs typeface="Calibri"/>
              </a:rPr>
              <a:t> processes.</a:t>
            </a:r>
            <a:endParaRPr sz="2600">
              <a:latin typeface="Calibri"/>
              <a:cs typeface="Calibri"/>
            </a:endParaRPr>
          </a:p>
          <a:p>
            <a:pPr marL="354965" marR="59055" indent="-342900">
              <a:lnSpc>
                <a:spcPct val="120000"/>
              </a:lnSpc>
              <a:buSzPct val="69230"/>
              <a:buFont typeface="Arial"/>
              <a:buChar char="•"/>
              <a:tabLst>
                <a:tab pos="354965" algn="l"/>
              </a:tabLst>
            </a:pPr>
            <a:r>
              <a:rPr dirty="0" sz="2600">
                <a:latin typeface="Calibri"/>
                <a:cs typeface="Calibri"/>
              </a:rPr>
              <a:t>It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allow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processes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inside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each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namespace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instance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have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access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to </a:t>
            </a:r>
            <a:r>
              <a:rPr dirty="0" sz="2600">
                <a:latin typeface="Calibri"/>
                <a:cs typeface="Calibri"/>
              </a:rPr>
              <a:t>per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namespace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network</a:t>
            </a:r>
            <a:r>
              <a:rPr dirty="0" sz="2600" spc="-10">
                <a:latin typeface="Calibri"/>
                <a:cs typeface="Calibri"/>
              </a:rPr>
              <a:t> objects</a:t>
            </a:r>
            <a:endParaRPr sz="2600">
              <a:latin typeface="Calibri"/>
              <a:cs typeface="Calibri"/>
            </a:endParaRPr>
          </a:p>
          <a:p>
            <a:pPr lvl="1" marL="812165" indent="-342265">
              <a:lnSpc>
                <a:spcPct val="100000"/>
              </a:lnSpc>
              <a:spcBef>
                <a:spcPts val="755"/>
              </a:spcBef>
              <a:buSzPct val="69230"/>
              <a:buFont typeface="Arial"/>
              <a:buChar char="•"/>
              <a:tabLst>
                <a:tab pos="812165" algn="l"/>
              </a:tabLst>
            </a:pPr>
            <a:r>
              <a:rPr dirty="0" sz="2600">
                <a:latin typeface="Calibri"/>
                <a:cs typeface="Calibri"/>
              </a:rPr>
              <a:t>Network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devices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(ethernets)</a:t>
            </a:r>
            <a:endParaRPr sz="2600">
              <a:latin typeface="Calibri"/>
              <a:cs typeface="Calibri"/>
            </a:endParaRPr>
          </a:p>
          <a:p>
            <a:pPr lvl="1" marL="812165" indent="-342265">
              <a:lnSpc>
                <a:spcPct val="100000"/>
              </a:lnSpc>
              <a:spcBef>
                <a:spcPts val="495"/>
              </a:spcBef>
              <a:buSzPct val="69230"/>
              <a:buFont typeface="Arial"/>
              <a:buChar char="•"/>
              <a:tabLst>
                <a:tab pos="812165" algn="l"/>
              </a:tabLst>
            </a:pPr>
            <a:r>
              <a:rPr dirty="0" sz="2600" spc="-10">
                <a:latin typeface="Calibri"/>
                <a:cs typeface="Calibri"/>
              </a:rPr>
              <a:t>Bridges</a:t>
            </a:r>
            <a:endParaRPr sz="2600">
              <a:latin typeface="Calibri"/>
              <a:cs typeface="Calibri"/>
            </a:endParaRPr>
          </a:p>
          <a:p>
            <a:pPr lvl="1" marL="812165" indent="-342265">
              <a:lnSpc>
                <a:spcPct val="100000"/>
              </a:lnSpc>
              <a:spcBef>
                <a:spcPts val="505"/>
              </a:spcBef>
              <a:buSzPct val="69230"/>
              <a:buFont typeface="Arial"/>
              <a:buChar char="•"/>
              <a:tabLst>
                <a:tab pos="812165" algn="l"/>
              </a:tabLst>
            </a:pPr>
            <a:r>
              <a:rPr dirty="0" sz="2600">
                <a:latin typeface="Calibri"/>
                <a:cs typeface="Calibri"/>
              </a:rPr>
              <a:t>Routing</a:t>
            </a:r>
            <a:r>
              <a:rPr dirty="0" sz="2600" spc="-10">
                <a:latin typeface="Calibri"/>
                <a:cs typeface="Calibri"/>
              </a:rPr>
              <a:t> tables</a:t>
            </a:r>
            <a:endParaRPr sz="2600">
              <a:latin typeface="Calibri"/>
              <a:cs typeface="Calibri"/>
            </a:endParaRPr>
          </a:p>
          <a:p>
            <a:pPr lvl="1" marL="812165" indent="-342265">
              <a:lnSpc>
                <a:spcPct val="100000"/>
              </a:lnSpc>
              <a:spcBef>
                <a:spcPts val="505"/>
              </a:spcBef>
              <a:buSzPct val="69230"/>
              <a:buFont typeface="Arial"/>
              <a:buChar char="•"/>
              <a:tabLst>
                <a:tab pos="812165" algn="l"/>
              </a:tabLst>
            </a:pPr>
            <a:r>
              <a:rPr dirty="0" sz="2600">
                <a:latin typeface="Calibri"/>
                <a:cs typeface="Calibri"/>
              </a:rPr>
              <a:t>IP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addresses</a:t>
            </a:r>
            <a:endParaRPr sz="2600">
              <a:latin typeface="Calibri"/>
              <a:cs typeface="Calibri"/>
            </a:endParaRPr>
          </a:p>
          <a:p>
            <a:pPr lvl="1" marL="812165" indent="-342265">
              <a:lnSpc>
                <a:spcPct val="100000"/>
              </a:lnSpc>
              <a:spcBef>
                <a:spcPts val="495"/>
              </a:spcBef>
              <a:buSzPct val="69230"/>
              <a:buFont typeface="Arial"/>
              <a:buChar char="•"/>
              <a:tabLst>
                <a:tab pos="812165" algn="l"/>
              </a:tabLst>
            </a:pPr>
            <a:r>
              <a:rPr dirty="0" sz="2600" spc="-10">
                <a:latin typeface="Calibri"/>
                <a:cs typeface="Calibri"/>
              </a:rPr>
              <a:t>ports</a:t>
            </a:r>
            <a:endParaRPr sz="26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875"/>
              </a:spcBef>
              <a:buSzPct val="69230"/>
              <a:buFont typeface="Arial"/>
              <a:buChar char="•"/>
              <a:tabLst>
                <a:tab pos="354965" algn="l"/>
              </a:tabLst>
            </a:pPr>
            <a:r>
              <a:rPr dirty="0" sz="2600">
                <a:latin typeface="Calibri"/>
                <a:cs typeface="Calibri"/>
              </a:rPr>
              <a:t>Various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commands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support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network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namespace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such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as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ip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575925" y="1465452"/>
            <a:ext cx="1415415" cy="1331595"/>
          </a:xfrm>
          <a:prstGeom prst="rect">
            <a:avLst/>
          </a:prstGeom>
          <a:solidFill>
            <a:srgbClr val="1F4E79">
              <a:alpha val="79998"/>
            </a:srgbClr>
          </a:solidFill>
          <a:ln w="9525">
            <a:solidFill>
              <a:srgbClr val="A4A4A4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marL="452120">
              <a:lnSpc>
                <a:spcPct val="100000"/>
              </a:lnSpc>
              <a:spcBef>
                <a:spcPts val="305"/>
              </a:spcBef>
            </a:pP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NET</a:t>
            </a:r>
            <a:r>
              <a:rPr dirty="0" sz="11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25" b="1">
                <a:solidFill>
                  <a:srgbClr val="FFFFFF"/>
                </a:solidFill>
                <a:latin typeface="Arial"/>
                <a:cs typeface="Arial"/>
              </a:rPr>
              <a:t>NS</a:t>
            </a:r>
            <a:endParaRPr sz="110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000">
                <a:solidFill>
                  <a:srgbClr val="FFFFFF"/>
                </a:solidFill>
                <a:latin typeface="Consolas"/>
                <a:cs typeface="Consolas"/>
              </a:rPr>
              <a:t>lo:</a:t>
            </a:r>
            <a:r>
              <a:rPr dirty="0" sz="10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Consolas"/>
                <a:cs typeface="Consolas"/>
              </a:rPr>
              <a:t>UNKNOWN…</a:t>
            </a:r>
            <a:endParaRPr sz="1000">
              <a:latin typeface="Consolas"/>
              <a:cs typeface="Consolas"/>
            </a:endParaRPr>
          </a:p>
          <a:p>
            <a:pPr algn="just" marL="92075" marR="685800">
              <a:lnSpc>
                <a:spcPct val="100000"/>
              </a:lnSpc>
            </a:pPr>
            <a:r>
              <a:rPr dirty="0" sz="1000">
                <a:solidFill>
                  <a:srgbClr val="FFFFFF"/>
                </a:solidFill>
                <a:latin typeface="Consolas"/>
                <a:cs typeface="Consolas"/>
              </a:rPr>
              <a:t>eth0:</a:t>
            </a:r>
            <a:r>
              <a:rPr dirty="0" sz="1000" spc="-25">
                <a:solidFill>
                  <a:srgbClr val="FFFFFF"/>
                </a:solidFill>
                <a:latin typeface="Consolas"/>
                <a:cs typeface="Consolas"/>
              </a:rPr>
              <a:t> UP… </a:t>
            </a:r>
            <a:r>
              <a:rPr dirty="0" sz="1000">
                <a:solidFill>
                  <a:srgbClr val="FFFFFF"/>
                </a:solidFill>
                <a:latin typeface="Consolas"/>
                <a:cs typeface="Consolas"/>
              </a:rPr>
              <a:t>eth1:</a:t>
            </a:r>
            <a:r>
              <a:rPr dirty="0" sz="1000" spc="-25">
                <a:solidFill>
                  <a:srgbClr val="FFFFFF"/>
                </a:solidFill>
                <a:latin typeface="Consolas"/>
                <a:cs typeface="Consolas"/>
              </a:rPr>
              <a:t> UP… </a:t>
            </a:r>
            <a:r>
              <a:rPr dirty="0" sz="1000">
                <a:solidFill>
                  <a:srgbClr val="FFFFFF"/>
                </a:solidFill>
                <a:latin typeface="Consolas"/>
                <a:cs typeface="Consolas"/>
              </a:rPr>
              <a:t>br0:</a:t>
            </a:r>
            <a:r>
              <a:rPr dirty="0" sz="10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FFFFFF"/>
                </a:solidFill>
                <a:latin typeface="Consolas"/>
                <a:cs typeface="Consolas"/>
              </a:rPr>
              <a:t>UP…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Consolas"/>
              <a:cs typeface="Consolas"/>
            </a:endParaRPr>
          </a:p>
          <a:p>
            <a:pPr marL="92075" marR="474980">
              <a:lnSpc>
                <a:spcPct val="100000"/>
              </a:lnSpc>
            </a:pPr>
            <a:r>
              <a:rPr dirty="0" sz="1000">
                <a:solidFill>
                  <a:srgbClr val="FFFFFF"/>
                </a:solidFill>
                <a:latin typeface="Consolas"/>
                <a:cs typeface="Consolas"/>
              </a:rPr>
              <a:t>app1</a:t>
            </a:r>
            <a:r>
              <a:rPr dirty="0" sz="10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Consolas"/>
                <a:cs typeface="Consolas"/>
              </a:rPr>
              <a:t>IP:5000 </a:t>
            </a:r>
            <a:r>
              <a:rPr dirty="0" sz="1000">
                <a:solidFill>
                  <a:srgbClr val="FFFFFF"/>
                </a:solidFill>
                <a:latin typeface="Consolas"/>
                <a:cs typeface="Consolas"/>
              </a:rPr>
              <a:t>app2</a:t>
            </a:r>
            <a:r>
              <a:rPr dirty="0" sz="10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Consolas"/>
                <a:cs typeface="Consolas"/>
              </a:rPr>
              <a:t>IP:6000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79329" y="1025016"/>
            <a:ext cx="1809114" cy="1877695"/>
          </a:xfrm>
          <a:prstGeom prst="rect">
            <a:avLst/>
          </a:prstGeom>
          <a:solidFill>
            <a:srgbClr val="1F4E79">
              <a:alpha val="79998"/>
            </a:srgbClr>
          </a:solidFill>
          <a:ln w="9525">
            <a:solidFill>
              <a:srgbClr val="A4A4A4"/>
            </a:solidFill>
          </a:ln>
        </p:spPr>
        <p:txBody>
          <a:bodyPr wrap="square" lIns="0" tIns="41910" rIns="0" bIns="0" rtlCol="0" vert="horz">
            <a:spAutoFit/>
          </a:bodyPr>
          <a:lstStyle/>
          <a:p>
            <a:pPr marL="523875" marR="304165" indent="-212090">
              <a:lnSpc>
                <a:spcPct val="100000"/>
              </a:lnSpc>
              <a:spcBef>
                <a:spcPts val="330"/>
              </a:spcBef>
            </a:pP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“global”</a:t>
            </a:r>
            <a:r>
              <a:rPr dirty="0" sz="11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(i.e.</a:t>
            </a:r>
            <a:r>
              <a:rPr dirty="0" sz="11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FFFFFF"/>
                </a:solidFill>
                <a:latin typeface="Arial"/>
                <a:cs typeface="Arial"/>
              </a:rPr>
              <a:t>root) namespace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1100">
              <a:latin typeface="Arial"/>
              <a:cs typeface="Arial"/>
            </a:endParaRPr>
          </a:p>
          <a:p>
            <a:pPr marL="288925">
              <a:lnSpc>
                <a:spcPct val="100000"/>
              </a:lnSpc>
            </a:pPr>
            <a:r>
              <a:rPr dirty="0" sz="1000">
                <a:solidFill>
                  <a:srgbClr val="FFFFFF"/>
                </a:solidFill>
                <a:latin typeface="Consolas"/>
                <a:cs typeface="Consolas"/>
              </a:rPr>
              <a:t>app3</a:t>
            </a:r>
            <a:r>
              <a:rPr dirty="0" sz="10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Consolas"/>
                <a:cs typeface="Consolas"/>
              </a:rPr>
              <a:t>IP:7000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62945" y="3003550"/>
            <a:ext cx="1782445" cy="1876425"/>
          </a:xfrm>
          <a:prstGeom prst="rect">
            <a:avLst/>
          </a:prstGeom>
          <a:solidFill>
            <a:srgbClr val="00AF50">
              <a:alpha val="79998"/>
            </a:srgbClr>
          </a:solidFill>
          <a:ln w="9525">
            <a:solidFill>
              <a:srgbClr val="A4A4A4"/>
            </a:solidFill>
          </a:ln>
        </p:spPr>
        <p:txBody>
          <a:bodyPr wrap="square" lIns="0" tIns="41910" rIns="0" bIns="0" rtlCol="0" vert="horz">
            <a:spAutoFit/>
          </a:bodyPr>
          <a:lstStyle/>
          <a:p>
            <a:pPr marL="170180">
              <a:lnSpc>
                <a:spcPct val="100000"/>
              </a:lnSpc>
              <a:spcBef>
                <a:spcPts val="330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“green”</a:t>
            </a:r>
            <a:r>
              <a:rPr dirty="0" sz="12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namespace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575925" y="3480434"/>
            <a:ext cx="1415415" cy="1304925"/>
          </a:xfrm>
          <a:prstGeom prst="rect">
            <a:avLst/>
          </a:prstGeom>
          <a:solidFill>
            <a:srgbClr val="00AF50">
              <a:alpha val="79998"/>
            </a:srgbClr>
          </a:solidFill>
          <a:ln w="9525">
            <a:solidFill>
              <a:srgbClr val="A4A4A4"/>
            </a:solidFill>
          </a:ln>
        </p:spPr>
        <p:txBody>
          <a:bodyPr wrap="square" lIns="0" tIns="41910" rIns="0" bIns="0" rtlCol="0" vert="horz">
            <a:spAutoFit/>
          </a:bodyPr>
          <a:lstStyle/>
          <a:p>
            <a:pPr marL="452120">
              <a:lnSpc>
                <a:spcPct val="100000"/>
              </a:lnSpc>
              <a:spcBef>
                <a:spcPts val="330"/>
              </a:spcBef>
            </a:pP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NET</a:t>
            </a:r>
            <a:r>
              <a:rPr dirty="0" sz="11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25" b="1">
                <a:solidFill>
                  <a:srgbClr val="FFFFFF"/>
                </a:solidFill>
                <a:latin typeface="Arial"/>
                <a:cs typeface="Arial"/>
              </a:rPr>
              <a:t>NS</a:t>
            </a:r>
            <a:endParaRPr sz="110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  <a:spcBef>
                <a:spcPts val="1185"/>
              </a:spcBef>
            </a:pPr>
            <a:r>
              <a:rPr dirty="0" sz="1000">
                <a:solidFill>
                  <a:srgbClr val="FFFFFF"/>
                </a:solidFill>
                <a:latin typeface="Consolas"/>
                <a:cs typeface="Consolas"/>
              </a:rPr>
              <a:t>lo:</a:t>
            </a:r>
            <a:r>
              <a:rPr dirty="0" sz="10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Consolas"/>
                <a:cs typeface="Consolas"/>
              </a:rPr>
              <a:t>UNKNOWN…</a:t>
            </a:r>
            <a:endParaRPr sz="10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000">
                <a:solidFill>
                  <a:srgbClr val="FFFFFF"/>
                </a:solidFill>
                <a:latin typeface="Consolas"/>
                <a:cs typeface="Consolas"/>
              </a:rPr>
              <a:t>eth0:</a:t>
            </a:r>
            <a:r>
              <a:rPr dirty="0" sz="1000" spc="-25">
                <a:solidFill>
                  <a:srgbClr val="FFFFFF"/>
                </a:solidFill>
                <a:latin typeface="Consolas"/>
                <a:cs typeface="Consolas"/>
              </a:rPr>
              <a:t> UP…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Consolas"/>
              <a:cs typeface="Consolas"/>
            </a:endParaRPr>
          </a:p>
          <a:p>
            <a:pPr marL="92075" marR="474980">
              <a:lnSpc>
                <a:spcPct val="100000"/>
              </a:lnSpc>
            </a:pPr>
            <a:r>
              <a:rPr dirty="0" sz="1000">
                <a:solidFill>
                  <a:srgbClr val="FFFFFF"/>
                </a:solidFill>
                <a:latin typeface="Consolas"/>
                <a:cs typeface="Consolas"/>
              </a:rPr>
              <a:t>app1</a:t>
            </a:r>
            <a:r>
              <a:rPr dirty="0" sz="10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Consolas"/>
                <a:cs typeface="Consolas"/>
              </a:rPr>
              <a:t>IP:1000 </a:t>
            </a:r>
            <a:r>
              <a:rPr dirty="0" sz="1000">
                <a:solidFill>
                  <a:srgbClr val="FFFFFF"/>
                </a:solidFill>
                <a:latin typeface="Consolas"/>
                <a:cs typeface="Consolas"/>
              </a:rPr>
              <a:t>app2</a:t>
            </a:r>
            <a:r>
              <a:rPr dirty="0" sz="10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Consolas"/>
                <a:cs typeface="Consolas"/>
              </a:rPr>
              <a:t>IP:7000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389489" y="4980431"/>
            <a:ext cx="1802764" cy="1877695"/>
          </a:xfrm>
          <a:custGeom>
            <a:avLst/>
            <a:gdLst/>
            <a:ahLst/>
            <a:cxnLst/>
            <a:rect l="l" t="t" r="r" b="b"/>
            <a:pathLst>
              <a:path w="1802765" h="1877695">
                <a:moveTo>
                  <a:pt x="1802510" y="0"/>
                </a:moveTo>
                <a:lnTo>
                  <a:pt x="0" y="0"/>
                </a:lnTo>
                <a:lnTo>
                  <a:pt x="0" y="1877567"/>
                </a:lnTo>
                <a:lnTo>
                  <a:pt x="1802510" y="1877567"/>
                </a:lnTo>
                <a:lnTo>
                  <a:pt x="1802510" y="0"/>
                </a:lnTo>
                <a:close/>
              </a:path>
            </a:pathLst>
          </a:custGeom>
          <a:solidFill>
            <a:srgbClr val="C00000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389489" y="4980431"/>
            <a:ext cx="1802764" cy="1877695"/>
          </a:xfrm>
          <a:prstGeom prst="rect">
            <a:avLst/>
          </a:prstGeom>
          <a:ln w="9525">
            <a:solidFill>
              <a:srgbClr val="A4A4A4"/>
            </a:solidFill>
          </a:ln>
        </p:spPr>
        <p:txBody>
          <a:bodyPr wrap="square" lIns="0" tIns="42544" rIns="0" bIns="0" rtlCol="0" vert="horz">
            <a:spAutoFit/>
          </a:bodyPr>
          <a:lstStyle/>
          <a:p>
            <a:pPr marL="270510">
              <a:lnSpc>
                <a:spcPct val="100000"/>
              </a:lnSpc>
              <a:spcBef>
                <a:spcPts val="334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“red”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namespace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582020" y="5447365"/>
            <a:ext cx="1415415" cy="1304925"/>
          </a:xfrm>
          <a:custGeom>
            <a:avLst/>
            <a:gdLst/>
            <a:ahLst/>
            <a:cxnLst/>
            <a:rect l="l" t="t" r="r" b="b"/>
            <a:pathLst>
              <a:path w="1415415" h="1304925">
                <a:moveTo>
                  <a:pt x="1415415" y="0"/>
                </a:moveTo>
                <a:lnTo>
                  <a:pt x="0" y="0"/>
                </a:lnTo>
                <a:lnTo>
                  <a:pt x="0" y="1304671"/>
                </a:lnTo>
                <a:lnTo>
                  <a:pt x="1415415" y="1304671"/>
                </a:lnTo>
                <a:lnTo>
                  <a:pt x="1415415" y="0"/>
                </a:lnTo>
                <a:close/>
              </a:path>
            </a:pathLst>
          </a:custGeom>
          <a:solidFill>
            <a:srgbClr val="C00000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0582020" y="5447365"/>
            <a:ext cx="1415415" cy="1304925"/>
          </a:xfrm>
          <a:prstGeom prst="rect">
            <a:avLst/>
          </a:prstGeom>
          <a:solidFill>
            <a:srgbClr val="C00000">
              <a:alpha val="79998"/>
            </a:srgbClr>
          </a:solidFill>
          <a:ln w="9525">
            <a:solidFill>
              <a:srgbClr val="A4A4A4"/>
            </a:solidFill>
          </a:ln>
        </p:spPr>
        <p:txBody>
          <a:bodyPr wrap="square" lIns="0" tIns="42545" rIns="0" bIns="0" rtlCol="0" vert="horz">
            <a:spAutoFit/>
          </a:bodyPr>
          <a:lstStyle/>
          <a:p>
            <a:pPr marL="452120">
              <a:lnSpc>
                <a:spcPct val="100000"/>
              </a:lnSpc>
              <a:spcBef>
                <a:spcPts val="335"/>
              </a:spcBef>
            </a:pP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NET</a:t>
            </a:r>
            <a:r>
              <a:rPr dirty="0" sz="11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25" b="1">
                <a:solidFill>
                  <a:srgbClr val="FFFFFF"/>
                </a:solidFill>
                <a:latin typeface="Arial"/>
                <a:cs typeface="Arial"/>
              </a:rPr>
              <a:t>NS</a:t>
            </a:r>
            <a:endParaRPr sz="110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  <a:spcBef>
                <a:spcPts val="1060"/>
              </a:spcBef>
            </a:pPr>
            <a:r>
              <a:rPr dirty="0" sz="1000">
                <a:solidFill>
                  <a:srgbClr val="FFFFFF"/>
                </a:solidFill>
                <a:latin typeface="Consolas"/>
                <a:cs typeface="Consolas"/>
              </a:rPr>
              <a:t>lo:</a:t>
            </a:r>
            <a:r>
              <a:rPr dirty="0" sz="10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Consolas"/>
                <a:cs typeface="Consolas"/>
              </a:rPr>
              <a:t>UNKNOWN…</a:t>
            </a:r>
            <a:endParaRPr sz="10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000">
                <a:solidFill>
                  <a:srgbClr val="FFFFFF"/>
                </a:solidFill>
                <a:latin typeface="Consolas"/>
                <a:cs typeface="Consolas"/>
              </a:rPr>
              <a:t>eth0:</a:t>
            </a:r>
            <a:r>
              <a:rPr dirty="0" sz="10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FFFFFF"/>
                </a:solidFill>
                <a:latin typeface="Consolas"/>
                <a:cs typeface="Consolas"/>
              </a:rPr>
              <a:t>DOWN…</a:t>
            </a:r>
            <a:endParaRPr sz="10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000">
                <a:solidFill>
                  <a:srgbClr val="FFFFFF"/>
                </a:solidFill>
                <a:latin typeface="Consolas"/>
                <a:cs typeface="Consolas"/>
              </a:rPr>
              <a:t>eth1:</a:t>
            </a:r>
            <a:r>
              <a:rPr dirty="0" sz="1000" spc="-25">
                <a:solidFill>
                  <a:srgbClr val="FFFFFF"/>
                </a:solidFill>
                <a:latin typeface="Consolas"/>
                <a:cs typeface="Consolas"/>
              </a:rPr>
              <a:t> UP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Consolas"/>
              <a:cs typeface="Consolas"/>
            </a:endParaRPr>
          </a:p>
          <a:p>
            <a:pPr marL="92075" marR="474980">
              <a:lnSpc>
                <a:spcPct val="100000"/>
              </a:lnSpc>
              <a:spcBef>
                <a:spcPts val="5"/>
              </a:spcBef>
            </a:pPr>
            <a:r>
              <a:rPr dirty="0" sz="1000">
                <a:solidFill>
                  <a:srgbClr val="FFFFFF"/>
                </a:solidFill>
                <a:latin typeface="Consolas"/>
                <a:cs typeface="Consolas"/>
              </a:rPr>
              <a:t>app1</a:t>
            </a:r>
            <a:r>
              <a:rPr dirty="0" sz="10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Consolas"/>
                <a:cs typeface="Consolas"/>
              </a:rPr>
              <a:t>IP:7000 </a:t>
            </a:r>
            <a:r>
              <a:rPr dirty="0" sz="1000">
                <a:solidFill>
                  <a:srgbClr val="FFFFFF"/>
                </a:solidFill>
                <a:latin typeface="Consolas"/>
                <a:cs typeface="Consolas"/>
              </a:rPr>
              <a:t>app2</a:t>
            </a:r>
            <a:r>
              <a:rPr dirty="0" sz="10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Consolas"/>
                <a:cs typeface="Consolas"/>
              </a:rPr>
              <a:t>IP:9000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8716" y="210438"/>
            <a:ext cx="11108690" cy="6437630"/>
            <a:chOff x="598716" y="210438"/>
            <a:chExt cx="11108690" cy="64376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8716" y="210438"/>
              <a:ext cx="8551926" cy="321856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48556" y="2721508"/>
              <a:ext cx="7758683" cy="392607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41473"/>
            <a:ext cx="12191999" cy="2575052"/>
          </a:xfrm>
          <a:prstGeom prst="rect">
            <a:avLst/>
          </a:prstGeom>
        </p:spPr>
      </p:pic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19939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0660">
              <a:lnSpc>
                <a:spcPct val="100000"/>
              </a:lnSpc>
              <a:spcBef>
                <a:spcPts val="355"/>
              </a:spcBef>
            </a:pPr>
            <a:r>
              <a:rPr dirty="0" spc="-25">
                <a:solidFill>
                  <a:srgbClr val="C55A11"/>
                </a:solidFill>
                <a:latin typeface="Arial"/>
                <a:cs typeface="Arial"/>
              </a:rPr>
              <a:t>NET</a:t>
            </a:r>
          </a:p>
        </p:txBody>
      </p:sp>
      <p:sp>
        <p:nvSpPr>
          <p:cNvPr id="6" name="object 6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" name="object 2"/>
          <p:cNvGrpSpPr/>
          <p:nvPr/>
        </p:nvGrpSpPr>
        <p:grpSpPr>
          <a:xfrm>
            <a:off x="4712588" y="2105977"/>
            <a:ext cx="7349490" cy="4295140"/>
            <a:chOff x="4712588" y="2105977"/>
            <a:chExt cx="7349490" cy="42951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12588" y="2344232"/>
              <a:ext cx="4151389" cy="4056785"/>
            </a:xfrm>
            <a:prstGeom prst="rect">
              <a:avLst/>
            </a:prstGeom>
          </p:spPr>
        </p:pic>
        <p:pic>
          <p:nvPicPr>
            <p:cNvPr id="4" name="object 4" descr="https://developers.redhat.com/blog/wp-content/uploads/2018/10/veth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74505" y="2105977"/>
              <a:ext cx="3187446" cy="420214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24764" y="1341307"/>
            <a:ext cx="11807825" cy="5443220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483870" indent="-359410">
              <a:lnSpc>
                <a:spcPct val="100000"/>
              </a:lnSpc>
              <a:spcBef>
                <a:spcPts val="335"/>
              </a:spcBef>
              <a:buClr>
                <a:srgbClr val="833B0A"/>
              </a:buClr>
              <a:buChar char="▪"/>
              <a:tabLst>
                <a:tab pos="483870" algn="l"/>
              </a:tabLst>
            </a:pP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VETH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(virtual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Ethernet)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configuration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shown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when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namespaces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need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communicate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</a:t>
            </a:r>
            <a:endParaRPr sz="2000">
              <a:latin typeface="Calibri"/>
              <a:cs typeface="Calibri"/>
            </a:endParaRPr>
          </a:p>
          <a:p>
            <a:pPr marL="484505">
              <a:lnSpc>
                <a:spcPct val="100000"/>
              </a:lnSpc>
              <a:spcBef>
                <a:spcPts val="240"/>
              </a:spcBef>
            </a:pPr>
            <a:r>
              <a:rPr dirty="0" sz="2000">
                <a:latin typeface="Calibri"/>
                <a:cs typeface="Calibri"/>
              </a:rPr>
              <a:t>main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host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namespace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between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each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other.</a:t>
            </a:r>
            <a:endParaRPr sz="2000">
              <a:latin typeface="Calibri"/>
              <a:cs typeface="Calibri"/>
            </a:endParaRPr>
          </a:p>
          <a:p>
            <a:pPr marL="483870" indent="-359410">
              <a:lnSpc>
                <a:spcPct val="100000"/>
              </a:lnSpc>
              <a:spcBef>
                <a:spcPts val="840"/>
              </a:spcBef>
              <a:buClr>
                <a:srgbClr val="833B0A"/>
              </a:buClr>
              <a:buChar char="▪"/>
              <a:tabLst>
                <a:tab pos="483870" algn="l"/>
              </a:tabLst>
            </a:pPr>
            <a:r>
              <a:rPr dirty="0" sz="2000">
                <a:latin typeface="Calibri"/>
                <a:cs typeface="Calibri"/>
              </a:rPr>
              <a:t>veths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–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create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veth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pair,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move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inside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namespace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configure</a:t>
            </a:r>
            <a:endParaRPr sz="2000">
              <a:latin typeface="Calibri"/>
              <a:cs typeface="Calibri"/>
            </a:endParaRPr>
          </a:p>
          <a:p>
            <a:pPr marL="484505" marR="8344534" indent="-360045">
              <a:lnSpc>
                <a:spcPct val="110000"/>
              </a:lnSpc>
              <a:spcBef>
                <a:spcPts val="600"/>
              </a:spcBef>
              <a:buClr>
                <a:srgbClr val="833B0A"/>
              </a:buClr>
              <a:buChar char="▪"/>
              <a:tabLst>
                <a:tab pos="484505" algn="l"/>
              </a:tabLst>
            </a:pPr>
            <a:r>
              <a:rPr dirty="0" sz="2000">
                <a:latin typeface="Calibri"/>
                <a:cs typeface="Calibri"/>
              </a:rPr>
              <a:t>Acts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pipe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between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50">
                <a:latin typeface="Calibri"/>
                <a:cs typeface="Calibri"/>
              </a:rPr>
              <a:t>2 </a:t>
            </a:r>
            <a:r>
              <a:rPr dirty="0" sz="2000" spc="-10">
                <a:latin typeface="Calibri"/>
                <a:cs typeface="Calibri"/>
              </a:rPr>
              <a:t>namespaces</a:t>
            </a:r>
            <a:endParaRPr sz="2000">
              <a:latin typeface="Calibri"/>
              <a:cs typeface="Calibri"/>
            </a:endParaRPr>
          </a:p>
          <a:p>
            <a:pPr marL="483870" indent="-359410">
              <a:lnSpc>
                <a:spcPct val="100000"/>
              </a:lnSpc>
              <a:spcBef>
                <a:spcPts val="840"/>
              </a:spcBef>
              <a:buClr>
                <a:srgbClr val="833B0A"/>
              </a:buClr>
              <a:buChar char="▪"/>
              <a:tabLst>
                <a:tab pos="483870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VETH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(virtual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Ethernet)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device</a:t>
            </a:r>
            <a:endParaRPr sz="2000">
              <a:latin typeface="Calibri"/>
              <a:cs typeface="Calibri"/>
            </a:endParaRPr>
          </a:p>
          <a:p>
            <a:pPr marL="484505">
              <a:lnSpc>
                <a:spcPct val="100000"/>
              </a:lnSpc>
              <a:spcBef>
                <a:spcPts val="245"/>
              </a:spcBef>
            </a:pP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local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Ethernet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tunnel.</a:t>
            </a:r>
            <a:endParaRPr sz="2000">
              <a:latin typeface="Calibri"/>
              <a:cs typeface="Calibri"/>
            </a:endParaRPr>
          </a:p>
          <a:p>
            <a:pPr algn="just" marL="481965" indent="-357505">
              <a:lnSpc>
                <a:spcPct val="100000"/>
              </a:lnSpc>
              <a:spcBef>
                <a:spcPts val="840"/>
              </a:spcBef>
              <a:buClr>
                <a:srgbClr val="833B0A"/>
              </a:buClr>
              <a:buChar char="▪"/>
              <a:tabLst>
                <a:tab pos="481965" algn="l"/>
              </a:tabLst>
            </a:pPr>
            <a:r>
              <a:rPr dirty="0" sz="2000">
                <a:latin typeface="Calibri"/>
                <a:cs typeface="Calibri"/>
              </a:rPr>
              <a:t>Devices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created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pairs</a:t>
            </a:r>
            <a:endParaRPr sz="2000">
              <a:latin typeface="Calibri"/>
              <a:cs typeface="Calibri"/>
            </a:endParaRPr>
          </a:p>
          <a:p>
            <a:pPr algn="just" marL="482600" marR="7494270" indent="-358140">
              <a:lnSpc>
                <a:spcPct val="110100"/>
              </a:lnSpc>
              <a:spcBef>
                <a:spcPts val="595"/>
              </a:spcBef>
              <a:buClr>
                <a:srgbClr val="833B0A"/>
              </a:buClr>
              <a:buChar char="▪"/>
              <a:tabLst>
                <a:tab pos="484505" algn="l"/>
              </a:tabLst>
            </a:pPr>
            <a:r>
              <a:rPr dirty="0" sz="2000">
                <a:latin typeface="Calibri"/>
                <a:cs typeface="Calibri"/>
              </a:rPr>
              <a:t>Packets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transmitted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device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in </a:t>
            </a:r>
            <a:r>
              <a:rPr dirty="0" sz="2000" spc="-25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pair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immediately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received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on </a:t>
            </a:r>
            <a:r>
              <a:rPr dirty="0" sz="2000" spc="-25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other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device.</a:t>
            </a:r>
            <a:endParaRPr sz="2000">
              <a:latin typeface="Calibri"/>
              <a:cs typeface="Calibri"/>
            </a:endParaRPr>
          </a:p>
          <a:p>
            <a:pPr algn="just" marL="481965" indent="-357505">
              <a:lnSpc>
                <a:spcPct val="100000"/>
              </a:lnSpc>
              <a:spcBef>
                <a:spcPts val="840"/>
              </a:spcBef>
              <a:buClr>
                <a:srgbClr val="833B0A"/>
              </a:buClr>
              <a:buChar char="▪"/>
              <a:tabLst>
                <a:tab pos="481965" algn="l"/>
              </a:tabLst>
            </a:pPr>
            <a:r>
              <a:rPr dirty="0" sz="2000">
                <a:latin typeface="Calibri"/>
                <a:cs typeface="Calibri"/>
              </a:rPr>
              <a:t>When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either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device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down,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link</a:t>
            </a:r>
            <a:endParaRPr sz="2000">
              <a:latin typeface="Calibri"/>
              <a:cs typeface="Calibri"/>
            </a:endParaRPr>
          </a:p>
          <a:p>
            <a:pPr algn="just" marL="484505">
              <a:lnSpc>
                <a:spcPct val="100000"/>
              </a:lnSpc>
              <a:spcBef>
                <a:spcPts val="240"/>
              </a:spcBef>
            </a:pPr>
            <a:r>
              <a:rPr dirty="0" sz="2000">
                <a:latin typeface="Calibri"/>
                <a:cs typeface="Calibri"/>
              </a:rPr>
              <a:t>state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pair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down.</a:t>
            </a:r>
            <a:endParaRPr sz="2000">
              <a:latin typeface="Calibri"/>
              <a:cs typeface="Calibri"/>
            </a:endParaRPr>
          </a:p>
          <a:p>
            <a:pPr marL="12700" marR="4850130">
              <a:lnSpc>
                <a:spcPct val="100000"/>
              </a:lnSpc>
              <a:spcBef>
                <a:spcPts val="1375"/>
              </a:spcBef>
            </a:pPr>
            <a:r>
              <a:rPr dirty="0" sz="1400" spc="-10">
                <a:latin typeface="Arial"/>
                <a:cs typeface="Arial"/>
                <a:hlinkClick r:id="rId4"/>
              </a:rPr>
              <a:t>https://developers.redhat.com/blog/2018/10/22/introduction-to-linux-interfaces-for-</a:t>
            </a:r>
            <a:r>
              <a:rPr dirty="0" sz="1400">
                <a:latin typeface="Arial"/>
                <a:cs typeface="Arial"/>
                <a:hlinkClick r:id="rId4"/>
              </a:rPr>
              <a:t>virtual-</a:t>
            </a:r>
            <a:r>
              <a:rPr dirty="0" sz="1400" spc="-10">
                <a:latin typeface="Arial"/>
                <a:cs typeface="Arial"/>
              </a:rPr>
              <a:t>networking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30530" y="-701"/>
            <a:ext cx="5399405" cy="847090"/>
          </a:xfrm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3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86360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Filesystem</a:t>
            </a:r>
            <a:r>
              <a:rPr dirty="0" spc="-1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root</a:t>
            </a:r>
            <a:r>
              <a:rPr dirty="0" spc="-3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-</a:t>
            </a:r>
            <a:r>
              <a:rPr dirty="0" spc="-4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chroot</a:t>
            </a:r>
            <a:r>
              <a:rPr dirty="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name</a:t>
            </a:r>
            <a:r>
              <a:rPr dirty="0" spc="-4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space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979169"/>
            <a:ext cx="8299450" cy="0"/>
          </a:xfrm>
          <a:custGeom>
            <a:avLst/>
            <a:gdLst/>
            <a:ahLst/>
            <a:cxnLst/>
            <a:rect l="l" t="t" r="r" b="b"/>
            <a:pathLst>
              <a:path w="8299450" h="0">
                <a:moveTo>
                  <a:pt x="0" y="0"/>
                </a:moveTo>
                <a:lnTo>
                  <a:pt x="8299450" y="0"/>
                </a:lnTo>
              </a:path>
            </a:pathLst>
          </a:custGeom>
          <a:ln w="38100">
            <a:solidFill>
              <a:srgbClr val="C55A1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93039" y="1004735"/>
            <a:ext cx="7620634" cy="31718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84"/>
              </a:spcBef>
              <a:buSzPct val="105882"/>
              <a:buFont typeface="Arial"/>
              <a:buChar char="•"/>
              <a:tabLst>
                <a:tab pos="354965" algn="l"/>
              </a:tabLst>
            </a:pP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OS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has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-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file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system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started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at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 spc="-20">
                <a:latin typeface="Calibri"/>
                <a:cs typeface="Calibri"/>
              </a:rPr>
              <a:t>root</a:t>
            </a:r>
            <a:endParaRPr sz="1700">
              <a:latin typeface="Calibri"/>
              <a:cs typeface="Calibri"/>
            </a:endParaRPr>
          </a:p>
          <a:p>
            <a:pPr lvl="1" marL="812165" indent="-342265">
              <a:lnSpc>
                <a:spcPct val="100000"/>
              </a:lnSpc>
              <a:spcBef>
                <a:spcPts val="505"/>
              </a:spcBef>
              <a:buSzPct val="105882"/>
              <a:buFont typeface="Arial"/>
              <a:buChar char="•"/>
              <a:tabLst>
                <a:tab pos="812165" algn="l"/>
              </a:tabLst>
            </a:pPr>
            <a:r>
              <a:rPr dirty="0" sz="1700">
                <a:latin typeface="Calibri"/>
                <a:cs typeface="Calibri"/>
              </a:rPr>
              <a:t>/bin,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so</a:t>
            </a:r>
            <a:r>
              <a:rPr dirty="0" sz="1700" spc="-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on,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contain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programs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libraries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SzPct val="105882"/>
              <a:buFont typeface="Arial"/>
              <a:buChar char="•"/>
              <a:tabLst>
                <a:tab pos="354965" algn="l"/>
              </a:tabLst>
            </a:pPr>
            <a:r>
              <a:rPr dirty="0" sz="1700">
                <a:latin typeface="Calibri"/>
                <a:cs typeface="Calibri"/>
              </a:rPr>
              <a:t>If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you</a:t>
            </a:r>
            <a:r>
              <a:rPr dirty="0" sz="1700" spc="-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want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run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program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which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uses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different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version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/bin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so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on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SzPct val="105882"/>
              <a:buFont typeface="Arial"/>
              <a:buChar char="•"/>
              <a:tabLst>
                <a:tab pos="354965" algn="l"/>
              </a:tabLst>
            </a:pPr>
            <a:r>
              <a:rPr dirty="0" sz="1700">
                <a:latin typeface="Calibri"/>
                <a:cs typeface="Calibri"/>
              </a:rPr>
              <a:t>This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can</a:t>
            </a:r>
            <a:r>
              <a:rPr dirty="0" sz="1700" spc="-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be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achieved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using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chroot</a:t>
            </a:r>
            <a:endParaRPr sz="1700">
              <a:latin typeface="Calibri"/>
              <a:cs typeface="Calibri"/>
            </a:endParaRPr>
          </a:p>
          <a:p>
            <a:pPr lvl="1" marL="812165" indent="-342265">
              <a:lnSpc>
                <a:spcPct val="100000"/>
              </a:lnSpc>
              <a:spcBef>
                <a:spcPts val="505"/>
              </a:spcBef>
              <a:buSzPct val="105882"/>
              <a:buFont typeface="Arial"/>
              <a:buChar char="•"/>
              <a:tabLst>
                <a:tab pos="812165" algn="l"/>
              </a:tabLst>
            </a:pPr>
            <a:r>
              <a:rPr dirty="0" sz="1700">
                <a:latin typeface="Calibri"/>
                <a:cs typeface="Calibri"/>
              </a:rPr>
              <a:t>Mount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new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/bin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on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some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place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(say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/mnt)</a:t>
            </a:r>
            <a:endParaRPr sz="1700">
              <a:latin typeface="Calibri"/>
              <a:cs typeface="Calibri"/>
            </a:endParaRPr>
          </a:p>
          <a:p>
            <a:pPr lvl="1" marL="812165" indent="-342265">
              <a:lnSpc>
                <a:spcPct val="100000"/>
              </a:lnSpc>
              <a:spcBef>
                <a:spcPts val="505"/>
              </a:spcBef>
              <a:buSzPct val="105882"/>
              <a:buFont typeface="Arial"/>
              <a:buChar char="•"/>
              <a:tabLst>
                <a:tab pos="812165" algn="l"/>
              </a:tabLst>
            </a:pPr>
            <a:r>
              <a:rPr dirty="0" sz="1700">
                <a:latin typeface="Calibri"/>
                <a:cs typeface="Calibri"/>
              </a:rPr>
              <a:t>Issue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chroot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/mnt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 spc="-10" i="1">
                <a:latin typeface="Calibri"/>
                <a:cs typeface="Calibri"/>
              </a:rPr>
              <a:t>command</a:t>
            </a:r>
            <a:endParaRPr sz="1700">
              <a:latin typeface="Calibri"/>
              <a:cs typeface="Calibri"/>
            </a:endParaRPr>
          </a:p>
          <a:p>
            <a:pPr lvl="1" marL="812165" indent="-342265">
              <a:lnSpc>
                <a:spcPct val="100000"/>
              </a:lnSpc>
              <a:spcBef>
                <a:spcPts val="490"/>
              </a:spcBef>
              <a:buSzPct val="105882"/>
              <a:buFont typeface="Arial"/>
              <a:buChar char="•"/>
              <a:tabLst>
                <a:tab pos="812165" algn="l"/>
              </a:tabLst>
            </a:pPr>
            <a:r>
              <a:rPr dirty="0" sz="1700" i="1">
                <a:latin typeface="Calibri"/>
                <a:cs typeface="Calibri"/>
              </a:rPr>
              <a:t>command</a:t>
            </a:r>
            <a:r>
              <a:rPr dirty="0" sz="1700" spc="-10" i="1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will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then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see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root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as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/mnt,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not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real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 spc="-20">
                <a:latin typeface="Calibri"/>
                <a:cs typeface="Calibri"/>
              </a:rPr>
              <a:t>root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010"/>
              </a:spcBef>
              <a:buSzPct val="105882"/>
              <a:buFont typeface="Arial"/>
              <a:buChar char="•"/>
              <a:tabLst>
                <a:tab pos="354965" algn="l"/>
              </a:tabLst>
            </a:pPr>
            <a:r>
              <a:rPr dirty="0" sz="1700">
                <a:latin typeface="Calibri"/>
                <a:cs typeface="Calibri"/>
              </a:rPr>
              <a:t>Using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this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technique,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can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give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each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process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on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system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its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own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file</a:t>
            </a:r>
            <a:r>
              <a:rPr dirty="0" sz="1700" spc="-10">
                <a:latin typeface="Calibri"/>
                <a:cs typeface="Calibri"/>
              </a:rPr>
              <a:t> system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SzPct val="105882"/>
              <a:buFont typeface="Arial"/>
              <a:buChar char="•"/>
              <a:tabLst>
                <a:tab pos="354965" algn="l"/>
              </a:tabLst>
            </a:pPr>
            <a:r>
              <a:rPr dirty="0" sz="1700">
                <a:latin typeface="Calibri"/>
                <a:cs typeface="Calibri"/>
              </a:rPr>
              <a:t>Changes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root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directory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for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currently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running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processes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as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well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as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it</a:t>
            </a:r>
            <a:r>
              <a:rPr dirty="0" sz="1700" spc="-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children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for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15706" y="1137158"/>
            <a:ext cx="4197477" cy="229184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18236" y="4164988"/>
            <a:ext cx="2082800" cy="784225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marL="372110" indent="-359410">
              <a:lnSpc>
                <a:spcPct val="100000"/>
              </a:lnSpc>
              <a:spcBef>
                <a:spcPts val="960"/>
              </a:spcBef>
              <a:buSzPct val="105882"/>
              <a:buFont typeface="Arial"/>
              <a:buChar char="•"/>
              <a:tabLst>
                <a:tab pos="372110" algn="l"/>
              </a:tabLst>
            </a:pPr>
            <a:r>
              <a:rPr dirty="0" sz="1700">
                <a:latin typeface="Calibri"/>
                <a:cs typeface="Calibri"/>
              </a:rPr>
              <a:t>Search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 spc="-20">
                <a:latin typeface="Calibri"/>
                <a:cs typeface="Calibri"/>
              </a:rPr>
              <a:t>paths</a:t>
            </a:r>
            <a:endParaRPr sz="17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1010"/>
              </a:spcBef>
              <a:buSzPct val="105882"/>
              <a:buFont typeface="Arial"/>
              <a:buChar char="•"/>
              <a:tabLst>
                <a:tab pos="372110" algn="l"/>
              </a:tabLst>
            </a:pPr>
            <a:r>
              <a:rPr dirty="0" sz="1700">
                <a:latin typeface="Calibri"/>
                <a:cs typeface="Calibri"/>
              </a:rPr>
              <a:t>Relative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directories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3039" y="5046979"/>
            <a:ext cx="7245984" cy="54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SzPct val="105882"/>
              <a:buFont typeface="Arial"/>
              <a:buChar char="•"/>
              <a:tabLst>
                <a:tab pos="355600" algn="l"/>
              </a:tabLst>
            </a:pPr>
            <a:r>
              <a:rPr dirty="0" sz="1700">
                <a:latin typeface="Calibri"/>
                <a:cs typeface="Calibri"/>
              </a:rPr>
              <a:t>Using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chroot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can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be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escaped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given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proper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capabilities,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thus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pivot_root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is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often </a:t>
            </a:r>
            <a:r>
              <a:rPr dirty="0" sz="1700">
                <a:latin typeface="Calibri"/>
                <a:cs typeface="Calibri"/>
              </a:rPr>
              <a:t>used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instead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5000" y="5582562"/>
            <a:ext cx="7315834" cy="1169670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60"/>
              </a:spcBef>
              <a:buSzPct val="105882"/>
              <a:buFont typeface="Arial"/>
              <a:buChar char="•"/>
              <a:tabLst>
                <a:tab pos="354965" algn="l"/>
              </a:tabLst>
            </a:pPr>
            <a:r>
              <a:rPr dirty="0" sz="1700">
                <a:latin typeface="Calibri"/>
                <a:cs typeface="Calibri"/>
              </a:rPr>
              <a:t>chroot;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points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processes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file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system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root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new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directory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010"/>
              </a:spcBef>
              <a:buSzPct val="105882"/>
              <a:buFont typeface="Arial"/>
              <a:buChar char="•"/>
              <a:tabLst>
                <a:tab pos="354965" algn="l"/>
              </a:tabLst>
            </a:pPr>
            <a:r>
              <a:rPr dirty="0" sz="1700">
                <a:latin typeface="Calibri"/>
                <a:cs typeface="Calibri"/>
              </a:rPr>
              <a:t>pivot_root;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detaches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new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root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attaches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it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process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root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directory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SzPct val="105882"/>
              <a:buFont typeface="Arial"/>
              <a:buChar char="•"/>
              <a:tabLst>
                <a:tab pos="354965" algn="l"/>
              </a:tabLst>
            </a:pPr>
            <a:r>
              <a:rPr dirty="0" sz="1700">
                <a:latin typeface="Calibri"/>
                <a:cs typeface="Calibri"/>
              </a:rPr>
              <a:t>pivot_root</a:t>
            </a:r>
            <a:r>
              <a:rPr dirty="0" sz="1700" spc="40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info</a:t>
            </a:r>
            <a:r>
              <a:rPr dirty="0" sz="1700" spc="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at</a:t>
            </a:r>
            <a:r>
              <a:rPr dirty="0" sz="1700" spc="2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  <a:hlinkClick r:id="rId3"/>
              </a:rPr>
              <a:t>https://man7.org/linux/man-pages/man8/pivot_root.8.html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38440" y="4320806"/>
            <a:ext cx="4290695" cy="1558290"/>
          </a:xfrm>
          <a:prstGeom prst="rect">
            <a:avLst/>
          </a:prstGeom>
          <a:solidFill>
            <a:srgbClr val="FFD966"/>
          </a:solidFill>
        </p:spPr>
        <p:txBody>
          <a:bodyPr wrap="square" lIns="0" tIns="6350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500"/>
              </a:spcBef>
            </a:pPr>
            <a:r>
              <a:rPr dirty="0" sz="1700">
                <a:latin typeface="Calibri"/>
                <a:cs typeface="Calibri"/>
              </a:rPr>
              <a:t>Often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used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when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building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system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images</a:t>
            </a:r>
            <a:endParaRPr sz="1700">
              <a:latin typeface="Calibri"/>
              <a:cs typeface="Calibri"/>
            </a:endParaRPr>
          </a:p>
          <a:p>
            <a:pPr marL="378460" indent="-286385">
              <a:lnSpc>
                <a:spcPct val="100000"/>
              </a:lnSpc>
              <a:spcBef>
                <a:spcPts val="1010"/>
              </a:spcBef>
              <a:buChar char="▪"/>
              <a:tabLst>
                <a:tab pos="378460" algn="l"/>
              </a:tabLst>
            </a:pPr>
            <a:r>
              <a:rPr dirty="0" sz="1700">
                <a:latin typeface="Calibri"/>
                <a:cs typeface="Calibri"/>
              </a:rPr>
              <a:t>chroot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temp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directory</a:t>
            </a:r>
            <a:endParaRPr sz="1700">
              <a:latin typeface="Calibri"/>
              <a:cs typeface="Calibri"/>
            </a:endParaRPr>
          </a:p>
          <a:p>
            <a:pPr marL="378460" indent="-286385">
              <a:lnSpc>
                <a:spcPct val="100000"/>
              </a:lnSpc>
              <a:spcBef>
                <a:spcPts val="1010"/>
              </a:spcBef>
              <a:buChar char="▪"/>
              <a:tabLst>
                <a:tab pos="378460" algn="l"/>
              </a:tabLst>
            </a:pPr>
            <a:r>
              <a:rPr dirty="0" sz="1700">
                <a:latin typeface="Calibri"/>
                <a:cs typeface="Calibri"/>
              </a:rPr>
              <a:t>Download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install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packages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chroot</a:t>
            </a:r>
            <a:endParaRPr sz="1700">
              <a:latin typeface="Calibri"/>
              <a:cs typeface="Calibri"/>
            </a:endParaRPr>
          </a:p>
          <a:p>
            <a:pPr marL="378460" indent="-286385">
              <a:lnSpc>
                <a:spcPct val="100000"/>
              </a:lnSpc>
              <a:spcBef>
                <a:spcPts val="1010"/>
              </a:spcBef>
              <a:buChar char="▪"/>
              <a:tabLst>
                <a:tab pos="378460" algn="l"/>
              </a:tabLst>
            </a:pPr>
            <a:r>
              <a:rPr dirty="0" sz="1700">
                <a:latin typeface="Calibri"/>
                <a:cs typeface="Calibri"/>
              </a:rPr>
              <a:t>Compress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chroot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as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system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root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FS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8711" y="489966"/>
            <a:ext cx="9472676" cy="390791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2797" y="4686147"/>
            <a:ext cx="6887591" cy="1448054"/>
          </a:xfrm>
          <a:prstGeom prst="rect">
            <a:avLst/>
          </a:prstGeom>
        </p:spPr>
      </p:pic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188595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0660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Cgroups</a:t>
            </a:r>
            <a:r>
              <a:rPr dirty="0" spc="-5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(or</a:t>
            </a:r>
            <a:r>
              <a:rPr dirty="0" spc="-4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Control</a:t>
            </a:r>
            <a:r>
              <a:rPr dirty="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groups)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42645" y="1364132"/>
            <a:ext cx="11489690" cy="5211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4965" marR="395605" indent="-342900">
              <a:lnSpc>
                <a:spcPct val="120000"/>
              </a:lnSpc>
              <a:spcBef>
                <a:spcPts val="100"/>
              </a:spcBef>
              <a:buSzPct val="81818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Cgroup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linux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feature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limit,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police,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account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resource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usage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set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processes. </a:t>
            </a: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uses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cgroups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limit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system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resources.</a:t>
            </a:r>
            <a:endParaRPr sz="2200">
              <a:latin typeface="Calibri"/>
              <a:cs typeface="Calibri"/>
            </a:endParaRPr>
          </a:p>
          <a:p>
            <a:pPr algn="just" marL="354965" marR="125730" indent="-342900">
              <a:lnSpc>
                <a:spcPct val="120000"/>
              </a:lnSpc>
              <a:spcBef>
                <a:spcPts val="705"/>
              </a:spcBef>
              <a:buSzPct val="81818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Cgroups</a:t>
            </a:r>
            <a:r>
              <a:rPr dirty="0" sz="2200" spc="4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-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provides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mechanisms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(fine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grain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control)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allocate,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monitor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limit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resources </a:t>
            </a:r>
            <a:r>
              <a:rPr dirty="0" sz="2200" spc="-20">
                <a:latin typeface="Calibri"/>
                <a:cs typeface="Calibri"/>
              </a:rPr>
              <a:t>such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b="1" i="1">
                <a:solidFill>
                  <a:srgbClr val="006FC0"/>
                </a:solidFill>
                <a:latin typeface="Calibri"/>
                <a:cs typeface="Calibri"/>
              </a:rPr>
              <a:t>CPU</a:t>
            </a:r>
            <a:r>
              <a:rPr dirty="0" sz="2200" spc="-30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 i="1">
                <a:solidFill>
                  <a:srgbClr val="006FC0"/>
                </a:solidFill>
                <a:latin typeface="Calibri"/>
                <a:cs typeface="Calibri"/>
              </a:rPr>
              <a:t>time,</a:t>
            </a:r>
            <a:r>
              <a:rPr dirty="0" sz="2200" spc="-35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 i="1">
                <a:solidFill>
                  <a:srgbClr val="006FC0"/>
                </a:solidFill>
                <a:latin typeface="Calibri"/>
                <a:cs typeface="Calibri"/>
              </a:rPr>
              <a:t>system</a:t>
            </a:r>
            <a:r>
              <a:rPr dirty="0" sz="2200" spc="-40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 i="1">
                <a:solidFill>
                  <a:srgbClr val="006FC0"/>
                </a:solidFill>
                <a:latin typeface="Calibri"/>
                <a:cs typeface="Calibri"/>
              </a:rPr>
              <a:t>memory,</a:t>
            </a:r>
            <a:r>
              <a:rPr dirty="0" sz="2200" spc="-40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 i="1">
                <a:solidFill>
                  <a:srgbClr val="006FC0"/>
                </a:solidFill>
                <a:latin typeface="Calibri"/>
                <a:cs typeface="Calibri"/>
              </a:rPr>
              <a:t>block</a:t>
            </a:r>
            <a:r>
              <a:rPr dirty="0" sz="2200" spc="-40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 i="1">
                <a:solidFill>
                  <a:srgbClr val="006FC0"/>
                </a:solidFill>
                <a:latin typeface="Calibri"/>
                <a:cs typeface="Calibri"/>
              </a:rPr>
              <a:t>IO</a:t>
            </a:r>
            <a:r>
              <a:rPr dirty="0" sz="2200" spc="-40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 i="1">
                <a:solidFill>
                  <a:srgbClr val="006FC0"/>
                </a:solidFill>
                <a:latin typeface="Calibri"/>
                <a:cs typeface="Calibri"/>
              </a:rPr>
              <a:t>or</a:t>
            </a:r>
            <a:r>
              <a:rPr dirty="0" sz="2200" spc="-25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 i="1">
                <a:solidFill>
                  <a:srgbClr val="006FC0"/>
                </a:solidFill>
                <a:latin typeface="Calibri"/>
                <a:cs typeface="Calibri"/>
              </a:rPr>
              <a:t>disk</a:t>
            </a:r>
            <a:r>
              <a:rPr dirty="0" sz="2200" spc="-50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 i="1">
                <a:solidFill>
                  <a:srgbClr val="006FC0"/>
                </a:solidFill>
                <a:latin typeface="Calibri"/>
                <a:cs typeface="Calibri"/>
              </a:rPr>
              <a:t>bandwidth,</a:t>
            </a:r>
            <a:r>
              <a:rPr dirty="0" sz="2200" spc="-30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 i="1">
                <a:solidFill>
                  <a:srgbClr val="006FC0"/>
                </a:solidFill>
                <a:latin typeface="Calibri"/>
                <a:cs typeface="Calibri"/>
              </a:rPr>
              <a:t>network</a:t>
            </a:r>
            <a:r>
              <a:rPr dirty="0" sz="2200" spc="-35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 i="1">
                <a:solidFill>
                  <a:srgbClr val="006FC0"/>
                </a:solidFill>
                <a:latin typeface="Calibri"/>
                <a:cs typeface="Calibri"/>
              </a:rPr>
              <a:t>bandwidth,</a:t>
            </a:r>
            <a:r>
              <a:rPr dirty="0" sz="2200" spc="-30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 i="1">
                <a:solidFill>
                  <a:srgbClr val="006FC0"/>
                </a:solidFill>
                <a:latin typeface="Calibri"/>
                <a:cs typeface="Calibri"/>
              </a:rPr>
              <a:t>or</a:t>
            </a:r>
            <a:r>
              <a:rPr dirty="0" sz="2200" spc="-40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spc="-10" b="1" i="1">
                <a:solidFill>
                  <a:srgbClr val="006FC0"/>
                </a:solidFill>
                <a:latin typeface="Calibri"/>
                <a:cs typeface="Calibri"/>
              </a:rPr>
              <a:t>combinations </a:t>
            </a:r>
            <a:r>
              <a:rPr dirty="0" sz="2200" b="1" i="1">
                <a:solidFill>
                  <a:srgbClr val="006FC0"/>
                </a:solidFill>
                <a:latin typeface="Calibri"/>
                <a:cs typeface="Calibri"/>
              </a:rPr>
              <a:t>of</a:t>
            </a:r>
            <a:r>
              <a:rPr dirty="0" sz="2200" spc="-45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 i="1">
                <a:solidFill>
                  <a:srgbClr val="006FC0"/>
                </a:solidFill>
                <a:latin typeface="Calibri"/>
                <a:cs typeface="Calibri"/>
              </a:rPr>
              <a:t>these</a:t>
            </a:r>
            <a:r>
              <a:rPr dirty="0" sz="2200" spc="-50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 i="1">
                <a:solidFill>
                  <a:srgbClr val="006FC0"/>
                </a:solidFill>
                <a:latin typeface="Calibri"/>
                <a:cs typeface="Calibri"/>
              </a:rPr>
              <a:t>resources</a:t>
            </a:r>
            <a:r>
              <a:rPr dirty="0" sz="2200" spc="-35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—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among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user-</a:t>
            </a:r>
            <a:r>
              <a:rPr dirty="0" sz="2200">
                <a:latin typeface="Calibri"/>
                <a:cs typeface="Calibri"/>
              </a:rPr>
              <a:t>defined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groups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tasks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(processes)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running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system.</a:t>
            </a:r>
            <a:endParaRPr sz="2200">
              <a:latin typeface="Calibri"/>
              <a:cs typeface="Calibri"/>
            </a:endParaRPr>
          </a:p>
          <a:p>
            <a:pPr marL="354965" marR="5080" indent="-342900">
              <a:lnSpc>
                <a:spcPct val="120000"/>
              </a:lnSpc>
              <a:spcBef>
                <a:spcPts val="700"/>
              </a:spcBef>
              <a:buSzPct val="81818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Cgroups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works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resource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types.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So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works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by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dividing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resources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into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groups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assigning </a:t>
            </a:r>
            <a:r>
              <a:rPr dirty="0" sz="2200">
                <a:latin typeface="Calibri"/>
                <a:cs typeface="Calibri"/>
              </a:rPr>
              <a:t>tasks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those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groups,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deny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access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certain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resources,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even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reconfigure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our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cgroups </a:t>
            </a:r>
            <a:r>
              <a:rPr dirty="0" sz="2200">
                <a:latin typeface="Calibri"/>
                <a:cs typeface="Calibri"/>
              </a:rPr>
              <a:t>dynamically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running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system.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20"/>
              </a:spcBef>
              <a:buSzPct val="81818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When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you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install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binary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linux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box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like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ubuntu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will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install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cgroup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related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packages</a:t>
            </a:r>
            <a:endParaRPr sz="2200">
              <a:latin typeface="Calibri"/>
              <a:cs typeface="Calibri"/>
            </a:endParaRPr>
          </a:p>
          <a:p>
            <a:pPr marL="354965">
              <a:lnSpc>
                <a:spcPct val="100000"/>
              </a:lnSpc>
              <a:spcBef>
                <a:spcPts val="530"/>
              </a:spcBef>
            </a:pP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create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subsystem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directories.</a:t>
            </a:r>
            <a:endParaRPr sz="2200">
              <a:latin typeface="Calibri"/>
              <a:cs typeface="Calibri"/>
            </a:endParaRPr>
          </a:p>
          <a:p>
            <a:pPr marL="354965" marR="431800" indent="-342900">
              <a:lnSpc>
                <a:spcPct val="120000"/>
              </a:lnSpc>
              <a:spcBef>
                <a:spcPts val="710"/>
              </a:spcBef>
              <a:buSzPct val="81818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Hardware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resources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appropriately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divided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up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among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tasks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users,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increasing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overall efficiency.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0842" y="223900"/>
            <a:ext cx="7070090" cy="6285865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455"/>
              </a:spcBef>
            </a:pP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CLOUD</a:t>
            </a:r>
            <a:r>
              <a:rPr dirty="0" sz="2400" spc="-1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395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Linux</a:t>
            </a:r>
            <a:r>
              <a:rPr dirty="0" sz="2400" spc="-4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cgroups</a:t>
            </a:r>
            <a:r>
              <a:rPr dirty="0" sz="2400" spc="-15" b="1">
                <a:solidFill>
                  <a:srgbClr val="C55A11"/>
                </a:solidFill>
                <a:latin typeface="Arial"/>
                <a:cs typeface="Arial"/>
              </a:rPr>
              <a:t> 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-</a:t>
            </a:r>
            <a:r>
              <a:rPr dirty="0" sz="2400" spc="-1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Functionality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2400">
              <a:latin typeface="Arial"/>
              <a:cs typeface="Arial"/>
            </a:endParaRPr>
          </a:p>
          <a:p>
            <a:pPr marL="469265" indent="-342265">
              <a:lnSpc>
                <a:spcPct val="100000"/>
              </a:lnSpc>
              <a:spcBef>
                <a:spcPts val="5"/>
              </a:spcBef>
              <a:buSzPct val="75000"/>
              <a:buFont typeface="Arial"/>
              <a:buChar char="•"/>
              <a:tabLst>
                <a:tab pos="469265" algn="l"/>
              </a:tabLst>
            </a:pPr>
            <a:r>
              <a:rPr dirty="0" sz="2400" spc="-10">
                <a:latin typeface="Calibri"/>
                <a:cs typeface="Calibri"/>
              </a:rPr>
              <a:t>Access</a:t>
            </a:r>
            <a:endParaRPr sz="2400">
              <a:latin typeface="Calibri"/>
              <a:cs typeface="Calibri"/>
            </a:endParaRPr>
          </a:p>
          <a:p>
            <a:pPr lvl="1" marL="995044" indent="-410845">
              <a:lnSpc>
                <a:spcPct val="100000"/>
              </a:lnSpc>
              <a:spcBef>
                <a:spcPts val="204"/>
              </a:spcBef>
              <a:buSzPct val="75000"/>
              <a:buFont typeface="Arial"/>
              <a:buChar char="•"/>
              <a:tabLst>
                <a:tab pos="995044" algn="l"/>
              </a:tabLst>
            </a:pPr>
            <a:r>
              <a:rPr dirty="0" sz="2400">
                <a:latin typeface="Calibri"/>
                <a:cs typeface="Calibri"/>
              </a:rPr>
              <a:t>which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devices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per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cgroup</a:t>
            </a:r>
            <a:endParaRPr sz="2400">
              <a:latin typeface="Calibri"/>
              <a:cs typeface="Calibri"/>
            </a:endParaRPr>
          </a:p>
          <a:p>
            <a:pPr marL="469265" indent="-342265">
              <a:lnSpc>
                <a:spcPct val="100000"/>
              </a:lnSpc>
              <a:spcBef>
                <a:spcPts val="720"/>
              </a:spcBef>
              <a:buSzPct val="75000"/>
              <a:buFont typeface="Arial"/>
              <a:buChar char="•"/>
              <a:tabLst>
                <a:tab pos="469265" algn="l"/>
              </a:tabLst>
            </a:pPr>
            <a:r>
              <a:rPr dirty="0" sz="2400">
                <a:latin typeface="Calibri"/>
                <a:cs typeface="Calibri"/>
              </a:rPr>
              <a:t>Resource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limiting</a:t>
            </a:r>
            <a:endParaRPr sz="2400">
              <a:latin typeface="Calibri"/>
              <a:cs typeface="Calibri"/>
            </a:endParaRPr>
          </a:p>
          <a:p>
            <a:pPr lvl="1" marL="995044" indent="-410845">
              <a:lnSpc>
                <a:spcPct val="100000"/>
              </a:lnSpc>
              <a:spcBef>
                <a:spcPts val="204"/>
              </a:spcBef>
              <a:buSzPct val="75000"/>
              <a:buFont typeface="Arial"/>
              <a:buChar char="•"/>
              <a:tabLst>
                <a:tab pos="995044" algn="l"/>
              </a:tabLst>
            </a:pPr>
            <a:r>
              <a:rPr dirty="0" sz="2400">
                <a:latin typeface="Calibri"/>
                <a:cs typeface="Calibri"/>
              </a:rPr>
              <a:t>memory,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CPU,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device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accessibility,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block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I/O,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etc.</a:t>
            </a:r>
            <a:endParaRPr sz="2400">
              <a:latin typeface="Calibri"/>
              <a:cs typeface="Calibri"/>
            </a:endParaRPr>
          </a:p>
          <a:p>
            <a:pPr marL="469265" indent="-342265">
              <a:lnSpc>
                <a:spcPct val="100000"/>
              </a:lnSpc>
              <a:spcBef>
                <a:spcPts val="720"/>
              </a:spcBef>
              <a:buSzPct val="75000"/>
              <a:buFont typeface="Arial"/>
              <a:buChar char="•"/>
              <a:tabLst>
                <a:tab pos="469265" algn="l"/>
              </a:tabLst>
            </a:pPr>
            <a:r>
              <a:rPr dirty="0" sz="2400" spc="-10">
                <a:latin typeface="Calibri"/>
                <a:cs typeface="Calibri"/>
              </a:rPr>
              <a:t>Prioritization</a:t>
            </a:r>
            <a:endParaRPr sz="2400">
              <a:latin typeface="Calibri"/>
              <a:cs typeface="Calibri"/>
            </a:endParaRPr>
          </a:p>
          <a:p>
            <a:pPr lvl="1" marL="995044" indent="-410845">
              <a:lnSpc>
                <a:spcPct val="100000"/>
              </a:lnSpc>
              <a:spcBef>
                <a:spcPts val="204"/>
              </a:spcBef>
              <a:buSzPct val="75000"/>
              <a:buFont typeface="Arial"/>
              <a:buChar char="•"/>
              <a:tabLst>
                <a:tab pos="995044" algn="l"/>
              </a:tabLst>
            </a:pPr>
            <a:r>
              <a:rPr dirty="0" sz="2400">
                <a:latin typeface="Calibri"/>
                <a:cs typeface="Calibri"/>
              </a:rPr>
              <a:t>who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gets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more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CPU,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memory,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etc.</a:t>
            </a:r>
            <a:endParaRPr sz="2400">
              <a:latin typeface="Calibri"/>
              <a:cs typeface="Calibri"/>
            </a:endParaRPr>
          </a:p>
          <a:p>
            <a:pPr marL="469265" indent="-342265">
              <a:lnSpc>
                <a:spcPct val="100000"/>
              </a:lnSpc>
              <a:spcBef>
                <a:spcPts val="720"/>
              </a:spcBef>
              <a:buSzPct val="75000"/>
              <a:buFont typeface="Arial"/>
              <a:buChar char="•"/>
              <a:tabLst>
                <a:tab pos="469265" algn="l"/>
              </a:tabLst>
            </a:pPr>
            <a:r>
              <a:rPr dirty="0" sz="2400" spc="-10">
                <a:latin typeface="Calibri"/>
                <a:cs typeface="Calibri"/>
              </a:rPr>
              <a:t>Accounting</a:t>
            </a:r>
            <a:endParaRPr sz="2400">
              <a:latin typeface="Calibri"/>
              <a:cs typeface="Calibri"/>
            </a:endParaRPr>
          </a:p>
          <a:p>
            <a:pPr lvl="1" marL="995044" indent="-410845">
              <a:lnSpc>
                <a:spcPct val="100000"/>
              </a:lnSpc>
              <a:spcBef>
                <a:spcPts val="204"/>
              </a:spcBef>
              <a:buSzPct val="75000"/>
              <a:buFont typeface="Arial"/>
              <a:buChar char="•"/>
              <a:tabLst>
                <a:tab pos="995044" algn="l"/>
              </a:tabLst>
            </a:pPr>
            <a:r>
              <a:rPr dirty="0" sz="2400">
                <a:latin typeface="Calibri"/>
                <a:cs typeface="Calibri"/>
              </a:rPr>
              <a:t>resource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usage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per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cgroup</a:t>
            </a:r>
            <a:endParaRPr sz="2400">
              <a:latin typeface="Calibri"/>
              <a:cs typeface="Calibri"/>
            </a:endParaRPr>
          </a:p>
          <a:p>
            <a:pPr marL="469265" indent="-342265">
              <a:lnSpc>
                <a:spcPct val="100000"/>
              </a:lnSpc>
              <a:spcBef>
                <a:spcPts val="720"/>
              </a:spcBef>
              <a:buSzPct val="75000"/>
              <a:buFont typeface="Arial"/>
              <a:buChar char="•"/>
              <a:tabLst>
                <a:tab pos="469265" algn="l"/>
              </a:tabLst>
            </a:pPr>
            <a:r>
              <a:rPr dirty="0" sz="2400" spc="-10">
                <a:latin typeface="Calibri"/>
                <a:cs typeface="Calibri"/>
              </a:rPr>
              <a:t>Control</a:t>
            </a:r>
            <a:endParaRPr sz="2400">
              <a:latin typeface="Calibri"/>
              <a:cs typeface="Calibri"/>
            </a:endParaRPr>
          </a:p>
          <a:p>
            <a:pPr lvl="1" marL="995044" indent="-410845">
              <a:lnSpc>
                <a:spcPct val="100000"/>
              </a:lnSpc>
              <a:spcBef>
                <a:spcPts val="204"/>
              </a:spcBef>
              <a:buSzPct val="75000"/>
              <a:buFont typeface="Arial"/>
              <a:buChar char="•"/>
              <a:tabLst>
                <a:tab pos="995044" algn="l"/>
              </a:tabLst>
            </a:pPr>
            <a:r>
              <a:rPr dirty="0" sz="2400">
                <a:latin typeface="Calibri"/>
                <a:cs typeface="Calibri"/>
              </a:rPr>
              <a:t>freezing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&amp;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check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pointing</a:t>
            </a:r>
            <a:endParaRPr sz="2400">
              <a:latin typeface="Calibri"/>
              <a:cs typeface="Calibri"/>
            </a:endParaRPr>
          </a:p>
          <a:p>
            <a:pPr marL="469265" indent="-342265">
              <a:lnSpc>
                <a:spcPct val="100000"/>
              </a:lnSpc>
              <a:spcBef>
                <a:spcPts val="720"/>
              </a:spcBef>
              <a:buSzPct val="75000"/>
              <a:buFont typeface="Arial"/>
              <a:buChar char="•"/>
              <a:tabLst>
                <a:tab pos="469265" algn="l"/>
              </a:tabLst>
            </a:pPr>
            <a:r>
              <a:rPr dirty="0" sz="2400" spc="-10">
                <a:latin typeface="Calibri"/>
                <a:cs typeface="Calibri"/>
              </a:rPr>
              <a:t>Injection</a:t>
            </a:r>
            <a:endParaRPr sz="2400">
              <a:latin typeface="Calibri"/>
              <a:cs typeface="Calibri"/>
            </a:endParaRPr>
          </a:p>
          <a:p>
            <a:pPr lvl="1" marL="995044" indent="-410845">
              <a:lnSpc>
                <a:spcPct val="100000"/>
              </a:lnSpc>
              <a:spcBef>
                <a:spcPts val="204"/>
              </a:spcBef>
              <a:buSzPct val="75000"/>
              <a:buFont typeface="Arial"/>
              <a:buChar char="•"/>
              <a:tabLst>
                <a:tab pos="995044" algn="l"/>
              </a:tabLst>
            </a:pPr>
            <a:r>
              <a:rPr dirty="0" sz="2400">
                <a:latin typeface="Calibri"/>
                <a:cs typeface="Calibri"/>
              </a:rPr>
              <a:t>packet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tagging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0842" y="223900"/>
            <a:ext cx="10279380" cy="4057015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455"/>
              </a:spcBef>
            </a:pP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CLOUD</a:t>
            </a:r>
            <a:r>
              <a:rPr dirty="0" sz="2400" spc="-1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395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Linux</a:t>
            </a:r>
            <a:r>
              <a:rPr dirty="0" sz="2400" spc="-4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cgroups</a:t>
            </a:r>
            <a:r>
              <a:rPr dirty="0" sz="2400" spc="-1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-</a:t>
            </a:r>
            <a:r>
              <a:rPr dirty="0" sz="2400" spc="-20" b="1">
                <a:solidFill>
                  <a:srgbClr val="C55A11"/>
                </a:solidFill>
                <a:latin typeface="Arial"/>
                <a:cs typeface="Arial"/>
              </a:rPr>
              <a:t> usage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00"/>
              </a:spcBef>
            </a:pPr>
            <a:endParaRPr sz="2400">
              <a:latin typeface="Arial"/>
              <a:cs typeface="Arial"/>
            </a:endParaRPr>
          </a:p>
          <a:p>
            <a:pPr marL="363220" indent="-342900">
              <a:lnSpc>
                <a:spcPct val="100000"/>
              </a:lnSpc>
              <a:buSzPct val="75000"/>
              <a:buFont typeface="Arial"/>
              <a:buChar char="•"/>
              <a:tabLst>
                <a:tab pos="363220" algn="l"/>
              </a:tabLst>
            </a:pPr>
            <a:r>
              <a:rPr dirty="0" sz="2400">
                <a:latin typeface="Calibri"/>
                <a:cs typeface="Calibri"/>
              </a:rPr>
              <a:t>cgroups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hierarchically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structured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where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each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groups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created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50"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  <a:p>
            <a:pPr marL="363220">
              <a:lnSpc>
                <a:spcPct val="100000"/>
              </a:lnSpc>
              <a:spcBef>
                <a:spcPts val="580"/>
              </a:spcBef>
            </a:pPr>
            <a:r>
              <a:rPr dirty="0" sz="2400">
                <a:latin typeface="Calibri"/>
                <a:cs typeface="Calibri"/>
              </a:rPr>
              <a:t>resource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number.</a:t>
            </a:r>
            <a:endParaRPr sz="2400">
              <a:latin typeface="Calibri"/>
              <a:cs typeface="Calibri"/>
            </a:endParaRPr>
          </a:p>
          <a:p>
            <a:pPr marL="363220" indent="-342900">
              <a:lnSpc>
                <a:spcPct val="100000"/>
              </a:lnSpc>
              <a:spcBef>
                <a:spcPts val="1775"/>
              </a:spcBef>
              <a:buSzPct val="75000"/>
              <a:buFont typeface="Arial"/>
              <a:buChar char="•"/>
              <a:tabLst>
                <a:tab pos="363220" algn="l"/>
              </a:tabLst>
            </a:pPr>
            <a:r>
              <a:rPr dirty="0" sz="2400">
                <a:latin typeface="Calibri"/>
                <a:cs typeface="Calibri"/>
              </a:rPr>
              <a:t>Tasks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assigned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cgroups</a:t>
            </a:r>
            <a:endParaRPr sz="2400">
              <a:latin typeface="Calibri"/>
              <a:cs typeface="Calibri"/>
            </a:endParaRPr>
          </a:p>
          <a:p>
            <a:pPr marL="363220" indent="-342900">
              <a:lnSpc>
                <a:spcPct val="100000"/>
              </a:lnSpc>
              <a:spcBef>
                <a:spcPts val="1780"/>
              </a:spcBef>
              <a:buSzPct val="75000"/>
              <a:buFont typeface="Arial"/>
              <a:buChar char="•"/>
              <a:tabLst>
                <a:tab pos="363220" algn="l"/>
              </a:tabLst>
            </a:pPr>
            <a:r>
              <a:rPr dirty="0" sz="2400">
                <a:latin typeface="Calibri"/>
                <a:cs typeface="Calibri"/>
              </a:rPr>
              <a:t>Each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cgroups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resource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limitation</a:t>
            </a:r>
            <a:endParaRPr sz="2400">
              <a:latin typeface="Calibri"/>
              <a:cs typeface="Calibri"/>
            </a:endParaRPr>
          </a:p>
          <a:p>
            <a:pPr marL="363220" indent="-342900">
              <a:lnSpc>
                <a:spcPct val="100000"/>
              </a:lnSpc>
              <a:spcBef>
                <a:spcPts val="1775"/>
              </a:spcBef>
              <a:buSzPct val="75000"/>
              <a:buFont typeface="Arial"/>
              <a:buChar char="•"/>
              <a:tabLst>
                <a:tab pos="363220" algn="l"/>
              </a:tabLst>
            </a:pPr>
            <a:r>
              <a:rPr dirty="0" sz="2400">
                <a:latin typeface="Calibri"/>
                <a:cs typeface="Calibri"/>
              </a:rPr>
              <a:t>There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hierarchy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each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resource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59934" y="2367537"/>
            <a:ext cx="4006537" cy="3256400"/>
          </a:xfrm>
          <a:prstGeom prst="rect">
            <a:avLst/>
          </a:prstGeom>
        </p:spPr>
      </p:pic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40842" y="223900"/>
            <a:ext cx="8508365" cy="4069079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455"/>
              </a:spcBef>
            </a:pP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CLOUD</a:t>
            </a:r>
            <a:r>
              <a:rPr dirty="0" sz="2400" spc="-1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395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What</a:t>
            </a:r>
            <a:r>
              <a:rPr dirty="0" sz="2400" spc="-4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resources</a:t>
            </a:r>
            <a:r>
              <a:rPr dirty="0" sz="2400" spc="-4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can</a:t>
            </a:r>
            <a:r>
              <a:rPr dirty="0" sz="2400" spc="-5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we</a:t>
            </a:r>
            <a:r>
              <a:rPr dirty="0" sz="2400" spc="-7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limit?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70"/>
              </a:spcBef>
            </a:pPr>
            <a:endParaRPr sz="2400">
              <a:latin typeface="Arial"/>
              <a:cs typeface="Arial"/>
            </a:endParaRPr>
          </a:p>
          <a:p>
            <a:pPr marL="158115">
              <a:lnSpc>
                <a:spcPct val="100000"/>
              </a:lnSpc>
            </a:pPr>
            <a:r>
              <a:rPr dirty="0" sz="2400">
                <a:latin typeface="Calibri"/>
                <a:cs typeface="Calibri"/>
              </a:rPr>
              <a:t>All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following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limited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10">
                <a:latin typeface="Calibri"/>
                <a:cs typeface="Calibri"/>
              </a:rPr>
              <a:t> Cgroup</a:t>
            </a:r>
            <a:endParaRPr sz="2400">
              <a:latin typeface="Calibri"/>
              <a:cs typeface="Calibri"/>
            </a:endParaRPr>
          </a:p>
          <a:p>
            <a:pPr marL="501015" indent="-342900">
              <a:lnSpc>
                <a:spcPct val="100000"/>
              </a:lnSpc>
              <a:spcBef>
                <a:spcPts val="710"/>
              </a:spcBef>
              <a:buSzPct val="75000"/>
              <a:buFont typeface="Arial"/>
              <a:buChar char="•"/>
              <a:tabLst>
                <a:tab pos="501015" algn="l"/>
              </a:tabLst>
            </a:pPr>
            <a:r>
              <a:rPr dirty="0" sz="2400" spc="-10">
                <a:latin typeface="Calibri"/>
                <a:cs typeface="Calibri"/>
              </a:rPr>
              <a:t>Memory</a:t>
            </a:r>
            <a:endParaRPr sz="2400">
              <a:latin typeface="Calibri"/>
              <a:cs typeface="Calibri"/>
            </a:endParaRPr>
          </a:p>
          <a:p>
            <a:pPr marL="501015" indent="-342900">
              <a:lnSpc>
                <a:spcPct val="100000"/>
              </a:lnSpc>
              <a:spcBef>
                <a:spcPts val="710"/>
              </a:spcBef>
              <a:buSzPct val="75000"/>
              <a:buFont typeface="Arial"/>
              <a:buChar char="•"/>
              <a:tabLst>
                <a:tab pos="501015" algn="l"/>
              </a:tabLst>
            </a:pPr>
            <a:r>
              <a:rPr dirty="0" sz="2400" spc="-25">
                <a:latin typeface="Calibri"/>
                <a:cs typeface="Calibri"/>
              </a:rPr>
              <a:t>CPU</a:t>
            </a:r>
            <a:endParaRPr sz="2400">
              <a:latin typeface="Calibri"/>
              <a:cs typeface="Calibri"/>
            </a:endParaRPr>
          </a:p>
          <a:p>
            <a:pPr marL="501015" indent="-342900">
              <a:lnSpc>
                <a:spcPct val="100000"/>
              </a:lnSpc>
              <a:spcBef>
                <a:spcPts val="720"/>
              </a:spcBef>
              <a:buSzPct val="75000"/>
              <a:buFont typeface="Arial"/>
              <a:buChar char="•"/>
              <a:tabLst>
                <a:tab pos="501015" algn="l"/>
              </a:tabLst>
            </a:pPr>
            <a:r>
              <a:rPr dirty="0" sz="2400">
                <a:latin typeface="Calibri"/>
                <a:cs typeface="Calibri"/>
              </a:rPr>
              <a:t>Block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IO</a:t>
            </a:r>
            <a:endParaRPr sz="2400">
              <a:latin typeface="Calibri"/>
              <a:cs typeface="Calibri"/>
            </a:endParaRPr>
          </a:p>
          <a:p>
            <a:pPr marL="501015" indent="-342900">
              <a:lnSpc>
                <a:spcPct val="100000"/>
              </a:lnSpc>
              <a:spcBef>
                <a:spcPts val="710"/>
              </a:spcBef>
              <a:buSzPct val="75000"/>
              <a:buFont typeface="Arial"/>
              <a:buChar char="•"/>
              <a:tabLst>
                <a:tab pos="501015" algn="l"/>
              </a:tabLst>
            </a:pPr>
            <a:r>
              <a:rPr dirty="0" sz="2400">
                <a:latin typeface="Calibri"/>
                <a:cs typeface="Calibri"/>
              </a:rPr>
              <a:t>Devices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(which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devices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allowing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creation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devices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..)</a:t>
            </a:r>
            <a:endParaRPr sz="2400">
              <a:latin typeface="Calibri"/>
              <a:cs typeface="Calibri"/>
            </a:endParaRPr>
          </a:p>
          <a:p>
            <a:pPr marL="501015" indent="-342900">
              <a:lnSpc>
                <a:spcPct val="100000"/>
              </a:lnSpc>
              <a:spcBef>
                <a:spcPts val="705"/>
              </a:spcBef>
              <a:buSzPct val="75000"/>
              <a:buFont typeface="Arial"/>
              <a:buChar char="•"/>
              <a:tabLst>
                <a:tab pos="501015" algn="l"/>
              </a:tabLst>
            </a:pPr>
            <a:r>
              <a:rPr dirty="0" sz="2400" spc="-10">
                <a:latin typeface="Calibri"/>
                <a:cs typeface="Calibri"/>
              </a:rPr>
              <a:t>Network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2" name="object 2" descr="A close up of a logo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0126" y="469900"/>
            <a:ext cx="933323" cy="1398524"/>
          </a:xfrm>
          <a:prstGeom prst="rect">
            <a:avLst/>
          </a:prstGeom>
        </p:spPr>
      </p:pic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cgroup</a:t>
            </a:r>
            <a:r>
              <a:rPr dirty="0" spc="-15">
                <a:solidFill>
                  <a:srgbClr val="C55A11"/>
                </a:solidFill>
                <a:latin typeface="Arial"/>
                <a:cs typeface="Arial"/>
              </a:rPr>
              <a:t> 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Examples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562" y="1688338"/>
            <a:ext cx="5861558" cy="40120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0" y="1653413"/>
            <a:ext cx="5997448" cy="40120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73327" y="6199733"/>
            <a:ext cx="51936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Each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cgroup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resource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limitation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associated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with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it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56515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2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57785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What</a:t>
            </a:r>
            <a:r>
              <a:rPr dirty="0" spc="-4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resources</a:t>
            </a:r>
            <a:r>
              <a:rPr dirty="0" spc="-4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can</a:t>
            </a:r>
            <a:r>
              <a:rPr dirty="0" spc="-5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we</a:t>
            </a:r>
            <a:r>
              <a:rPr dirty="0" spc="-7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limit?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50342" y="1385163"/>
            <a:ext cx="5508625" cy="4141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92075" indent="-342900">
              <a:lnSpc>
                <a:spcPct val="120000"/>
              </a:lnSpc>
              <a:spcBef>
                <a:spcPts val="100"/>
              </a:spcBef>
              <a:buSzPct val="87500"/>
              <a:buFont typeface="Arial"/>
              <a:buChar char="•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When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process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creates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child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process,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child </a:t>
            </a:r>
            <a:r>
              <a:rPr dirty="0" sz="2000">
                <a:latin typeface="Calibri"/>
                <a:cs typeface="Calibri"/>
              </a:rPr>
              <a:t>process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stays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same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cgroup</a:t>
            </a:r>
            <a:endParaRPr sz="2000">
              <a:latin typeface="Calibri"/>
              <a:cs typeface="Calibri"/>
            </a:endParaRPr>
          </a:p>
          <a:p>
            <a:pPr lvl="1" marL="812165" indent="-342265">
              <a:lnSpc>
                <a:spcPct val="100000"/>
              </a:lnSpc>
              <a:spcBef>
                <a:spcPts val="1080"/>
              </a:spcBef>
              <a:buSzPct val="87500"/>
              <a:buFont typeface="Arial"/>
              <a:buChar char="•"/>
              <a:tabLst>
                <a:tab pos="812165" algn="l"/>
              </a:tabLst>
            </a:pPr>
            <a:r>
              <a:rPr dirty="0" sz="2000">
                <a:latin typeface="Calibri"/>
                <a:cs typeface="Calibri"/>
              </a:rPr>
              <a:t>Good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servers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such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NFS</a:t>
            </a:r>
            <a:endParaRPr sz="2000">
              <a:latin typeface="Calibri"/>
              <a:cs typeface="Calibri"/>
            </a:endParaRPr>
          </a:p>
          <a:p>
            <a:pPr lvl="1" marL="812165" indent="-342265">
              <a:lnSpc>
                <a:spcPct val="100000"/>
              </a:lnSpc>
              <a:spcBef>
                <a:spcPts val="1080"/>
              </a:spcBef>
              <a:buSzPct val="87500"/>
              <a:buFont typeface="Arial"/>
              <a:buChar char="•"/>
              <a:tabLst>
                <a:tab pos="812165" algn="l"/>
              </a:tabLst>
            </a:pPr>
            <a:r>
              <a:rPr dirty="0" sz="2000">
                <a:latin typeface="Calibri"/>
                <a:cs typeface="Calibri"/>
              </a:rPr>
              <a:t>Typical</a:t>
            </a:r>
            <a:r>
              <a:rPr dirty="0" sz="2000" spc="-10">
                <a:latin typeface="Calibri"/>
                <a:cs typeface="Calibri"/>
              </a:rPr>
              <a:t> operation</a:t>
            </a:r>
            <a:endParaRPr sz="2000">
              <a:latin typeface="Calibri"/>
              <a:cs typeface="Calibri"/>
            </a:endParaRPr>
          </a:p>
          <a:p>
            <a:pPr lvl="2" marL="1269365" indent="-342265">
              <a:lnSpc>
                <a:spcPct val="100000"/>
              </a:lnSpc>
              <a:spcBef>
                <a:spcPts val="1080"/>
              </a:spcBef>
              <a:buSzPct val="87500"/>
              <a:buFont typeface="Arial"/>
              <a:buChar char="•"/>
              <a:tabLst>
                <a:tab pos="1269365" algn="l"/>
              </a:tabLst>
            </a:pPr>
            <a:r>
              <a:rPr dirty="0" sz="2000">
                <a:latin typeface="Calibri"/>
                <a:cs typeface="Calibri"/>
              </a:rPr>
              <a:t>Receive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request</a:t>
            </a:r>
            <a:endParaRPr sz="2000">
              <a:latin typeface="Calibri"/>
              <a:cs typeface="Calibri"/>
            </a:endParaRPr>
          </a:p>
          <a:p>
            <a:pPr lvl="2" marL="1269365" indent="-342265">
              <a:lnSpc>
                <a:spcPct val="100000"/>
              </a:lnSpc>
              <a:spcBef>
                <a:spcPts val="1080"/>
              </a:spcBef>
              <a:buSzPct val="87500"/>
              <a:buFont typeface="Arial"/>
              <a:buChar char="•"/>
              <a:tabLst>
                <a:tab pos="1269365" algn="l"/>
              </a:tabLst>
            </a:pPr>
            <a:r>
              <a:rPr dirty="0" sz="2000">
                <a:latin typeface="Calibri"/>
                <a:cs typeface="Calibri"/>
              </a:rPr>
              <a:t>Fork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child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process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request</a:t>
            </a:r>
            <a:endParaRPr sz="2000">
              <a:latin typeface="Calibri"/>
              <a:cs typeface="Calibri"/>
            </a:endParaRPr>
          </a:p>
          <a:p>
            <a:pPr lvl="2" marL="1269365" indent="-342265">
              <a:lnSpc>
                <a:spcPct val="100000"/>
              </a:lnSpc>
              <a:spcBef>
                <a:spcPts val="1080"/>
              </a:spcBef>
              <a:buSzPct val="87500"/>
              <a:buFont typeface="Arial"/>
              <a:buChar char="•"/>
              <a:tabLst>
                <a:tab pos="1269365" algn="l"/>
              </a:tabLst>
            </a:pPr>
            <a:r>
              <a:rPr dirty="0" sz="2000">
                <a:latin typeface="Calibri"/>
                <a:cs typeface="Calibri"/>
              </a:rPr>
              <a:t>Child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terminates </a:t>
            </a:r>
            <a:r>
              <a:rPr dirty="0" sz="2000">
                <a:latin typeface="Calibri"/>
                <a:cs typeface="Calibri"/>
              </a:rPr>
              <a:t>when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request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complete</a:t>
            </a:r>
            <a:endParaRPr sz="2000">
              <a:latin typeface="Calibri"/>
              <a:cs typeface="Calibri"/>
            </a:endParaRPr>
          </a:p>
          <a:p>
            <a:pPr lvl="2" marL="1269365" marR="81915" indent="-342900">
              <a:lnSpc>
                <a:spcPct val="120100"/>
              </a:lnSpc>
              <a:spcBef>
                <a:spcPts val="600"/>
              </a:spcBef>
              <a:buSzPct val="87500"/>
              <a:buFont typeface="Arial"/>
              <a:buChar char="•"/>
              <a:tabLst>
                <a:tab pos="1269365" algn="l"/>
              </a:tabLst>
            </a:pPr>
            <a:r>
              <a:rPr dirty="0" sz="2000">
                <a:latin typeface="Calibri"/>
                <a:cs typeface="Calibri"/>
              </a:rPr>
              <a:t>All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children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will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have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resource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limitation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parent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=&gt;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resource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limitation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of </a:t>
            </a:r>
            <a:r>
              <a:rPr dirty="0" sz="2000">
                <a:latin typeface="Calibri"/>
                <a:cs typeface="Calibri"/>
              </a:rPr>
              <a:t>parent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will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apply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processing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requests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40209" y="2462358"/>
            <a:ext cx="5844526" cy="3096011"/>
          </a:xfrm>
          <a:prstGeom prst="rect">
            <a:avLst/>
          </a:prstGeom>
        </p:spPr>
      </p:pic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0116" y="627380"/>
            <a:ext cx="8478520" cy="59029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Arial"/>
                <a:cs typeface="Arial"/>
              </a:rPr>
              <a:t>Try</a:t>
            </a:r>
            <a:r>
              <a:rPr dirty="0" sz="2000" spc="-4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the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following</a:t>
            </a:r>
            <a:r>
              <a:rPr dirty="0" sz="2000" spc="-7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on</a:t>
            </a:r>
            <a:r>
              <a:rPr dirty="0" sz="2000" spc="-2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your</a:t>
            </a:r>
            <a:r>
              <a:rPr dirty="0" sz="2000" spc="-1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docker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command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line: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Arial"/>
              <a:cs typeface="Arial"/>
            </a:endParaRPr>
          </a:p>
          <a:p>
            <a:pPr marL="12700" marR="541655">
              <a:lnSpc>
                <a:spcPct val="100000"/>
              </a:lnSpc>
            </a:pPr>
            <a:r>
              <a:rPr dirty="0" sz="2000">
                <a:latin typeface="Arial"/>
                <a:cs typeface="Arial"/>
              </a:rPr>
              <a:t>docker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run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-d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--name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mycontainer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--cpus="0.5"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ubuntu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sleep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1000 </a:t>
            </a:r>
            <a:r>
              <a:rPr dirty="0" sz="2000">
                <a:latin typeface="Arial"/>
                <a:cs typeface="Arial"/>
              </a:rPr>
              <a:t>docker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run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-d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--name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mycontainer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--memory=100m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ubuntu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sleep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1000 </a:t>
            </a:r>
            <a:r>
              <a:rPr dirty="0" sz="2000">
                <a:latin typeface="Arial"/>
                <a:cs typeface="Arial"/>
              </a:rPr>
              <a:t>docker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exec</a:t>
            </a:r>
            <a:r>
              <a:rPr dirty="0" sz="2000" spc="-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mycontainer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cat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/sys/fs/cgroup/cpu/cpu.cfs_quota_us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latin typeface="Arial"/>
                <a:cs typeface="Arial"/>
              </a:rPr>
              <a:t>docker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exec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mycontainer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cat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/sys/fs/cgroup/memory/memory.limit_in_bytes</a:t>
            </a:r>
            <a:endParaRPr sz="2000">
              <a:latin typeface="Arial"/>
              <a:cs typeface="Arial"/>
            </a:endParaRPr>
          </a:p>
          <a:p>
            <a:pPr marL="12700" marR="5634355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Arial"/>
                <a:cs typeface="Arial"/>
              </a:rPr>
              <a:t>docker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stats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mycontainer </a:t>
            </a:r>
            <a:r>
              <a:rPr dirty="0" sz="2000">
                <a:latin typeface="Arial"/>
                <a:cs typeface="Arial"/>
              </a:rPr>
              <a:t>docker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rm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-f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mycontainer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latin typeface="Arial"/>
                <a:cs typeface="Arial"/>
              </a:rPr>
              <a:t>Example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With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stress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test: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latin typeface="Arial"/>
                <a:cs typeface="Arial"/>
              </a:rPr>
              <a:t>docker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run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-d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--name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mem_test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--memory=100m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ubuntu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sleep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1000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latin typeface="Arial"/>
                <a:cs typeface="Arial"/>
              </a:rPr>
              <a:t>docker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exec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-it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mem_test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apt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update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&amp;&amp;</a:t>
            </a:r>
            <a:r>
              <a:rPr dirty="0" sz="2000" spc="-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apt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install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-y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stress</a:t>
            </a:r>
            <a:endParaRPr sz="2000">
              <a:latin typeface="Arial"/>
              <a:cs typeface="Arial"/>
            </a:endParaRPr>
          </a:p>
          <a:p>
            <a:pPr marL="12700" marR="553085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Arial"/>
                <a:cs typeface="Arial"/>
              </a:rPr>
              <a:t>docker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exec</a:t>
            </a:r>
            <a:r>
              <a:rPr dirty="0" sz="2000" spc="-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-it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mem_test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stress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--vm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1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--</a:t>
            </a:r>
            <a:r>
              <a:rPr dirty="0" sz="2000" spc="-10">
                <a:latin typeface="Arial"/>
                <a:cs typeface="Arial"/>
              </a:rPr>
              <a:t>vm-</a:t>
            </a:r>
            <a:r>
              <a:rPr dirty="0" sz="2000">
                <a:latin typeface="Arial"/>
                <a:cs typeface="Arial"/>
              </a:rPr>
              <a:t>bytes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150m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--timeout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30s </a:t>
            </a:r>
            <a:r>
              <a:rPr dirty="0" sz="2000">
                <a:latin typeface="Arial"/>
                <a:cs typeface="Arial"/>
              </a:rPr>
              <a:t>(The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container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should</a:t>
            </a:r>
            <a:r>
              <a:rPr dirty="0" sz="2000" spc="-1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be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killed</a:t>
            </a:r>
            <a:r>
              <a:rPr dirty="0" sz="2000" spc="-25" b="1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by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Out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of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Memory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(OOM)</a:t>
            </a:r>
            <a:r>
              <a:rPr dirty="0" sz="2000" spc="-5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killer</a:t>
            </a:r>
            <a:r>
              <a:rPr dirty="0" sz="2000" spc="-10">
                <a:latin typeface="Arial"/>
                <a:cs typeface="Arial"/>
              </a:rPr>
              <a:t>.)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Arial"/>
                <a:cs typeface="Arial"/>
              </a:rPr>
              <a:t>docker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logs</a:t>
            </a:r>
            <a:r>
              <a:rPr dirty="0" sz="2000" spc="-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mem_test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latin typeface="Arial"/>
                <a:cs typeface="Arial"/>
              </a:rPr>
              <a:t>docker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ps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-a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| grep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mem_test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latin typeface="Arial"/>
                <a:cs typeface="Arial"/>
              </a:rPr>
              <a:t>(It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should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show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Exited</a:t>
            </a:r>
            <a:r>
              <a:rPr dirty="0" sz="2000" spc="-4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(137)</a:t>
            </a:r>
            <a:r>
              <a:rPr dirty="0" sz="2000">
                <a:latin typeface="Arial"/>
                <a:cs typeface="Arial"/>
              </a:rPr>
              <a:t>,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meaning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it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was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terminated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due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to</a:t>
            </a:r>
            <a:r>
              <a:rPr dirty="0" sz="2000" spc="-10">
                <a:latin typeface="Arial"/>
                <a:cs typeface="Arial"/>
              </a:rPr>
              <a:t> OOM.)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54914" y="212658"/>
            <a:ext cx="11703050" cy="557911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64769">
              <a:lnSpc>
                <a:spcPct val="100000"/>
              </a:lnSpc>
              <a:spcBef>
                <a:spcPts val="455"/>
              </a:spcBef>
            </a:pP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CLOUD</a:t>
            </a:r>
            <a:r>
              <a:rPr dirty="0" sz="2400" spc="-3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395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33020">
              <a:lnSpc>
                <a:spcPct val="100000"/>
              </a:lnSpc>
              <a:spcBef>
                <a:spcPts val="355"/>
              </a:spcBef>
            </a:pP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Container</a:t>
            </a:r>
            <a:r>
              <a:rPr dirty="0" sz="2400" spc="-4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Filesystem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endParaRPr sz="2400">
              <a:latin typeface="Arial"/>
              <a:cs typeface="Arial"/>
            </a:endParaRPr>
          </a:p>
          <a:p>
            <a:pPr marL="372110" indent="-359410">
              <a:lnSpc>
                <a:spcPct val="100000"/>
              </a:lnSpc>
              <a:buFont typeface="Arial"/>
              <a:buChar char="•"/>
              <a:tabLst>
                <a:tab pos="372110" algn="l"/>
              </a:tabLst>
            </a:pPr>
            <a:r>
              <a:rPr dirty="0" sz="2400">
                <a:latin typeface="Calibri"/>
                <a:cs typeface="Calibri"/>
              </a:rPr>
              <a:t>Programs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running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inside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containers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know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nothing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about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image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layers.</a:t>
            </a:r>
            <a:endParaRPr sz="24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1175"/>
              </a:spcBef>
              <a:buFont typeface="Arial"/>
              <a:buChar char="•"/>
              <a:tabLst>
                <a:tab pos="372110" algn="l"/>
              </a:tabLst>
            </a:pPr>
            <a:r>
              <a:rPr dirty="0" sz="2400">
                <a:latin typeface="Calibri"/>
                <a:cs typeface="Calibri"/>
              </a:rPr>
              <a:t>From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inside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container,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filesystem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operates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though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it’s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not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running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container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or</a:t>
            </a:r>
            <a:endParaRPr sz="2400">
              <a:latin typeface="Calibri"/>
              <a:cs typeface="Calibri"/>
            </a:endParaRPr>
          </a:p>
          <a:p>
            <a:pPr marL="372110">
              <a:lnSpc>
                <a:spcPct val="100000"/>
              </a:lnSpc>
              <a:spcBef>
                <a:spcPts val="580"/>
              </a:spcBef>
            </a:pPr>
            <a:r>
              <a:rPr dirty="0" sz="2400">
                <a:latin typeface="Calibri"/>
                <a:cs typeface="Calibri"/>
              </a:rPr>
              <a:t>operating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image.</a:t>
            </a:r>
            <a:endParaRPr sz="2400">
              <a:latin typeface="Calibri"/>
              <a:cs typeface="Calibri"/>
            </a:endParaRPr>
          </a:p>
          <a:p>
            <a:pPr marL="372110" marR="360045" indent="-360045">
              <a:lnSpc>
                <a:spcPct val="120000"/>
              </a:lnSpc>
              <a:spcBef>
                <a:spcPts val="600"/>
              </a:spcBef>
              <a:buFont typeface="Arial"/>
              <a:buChar char="•"/>
              <a:tabLst>
                <a:tab pos="372110" algn="l"/>
              </a:tabLst>
            </a:pPr>
            <a:r>
              <a:rPr dirty="0" sz="2400">
                <a:latin typeface="Calibri"/>
                <a:cs typeface="Calibri"/>
              </a:rPr>
              <a:t>From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perspective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container,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exclusive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copies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provided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by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the </a:t>
            </a:r>
            <a:r>
              <a:rPr dirty="0" sz="2400">
                <a:latin typeface="Calibri"/>
                <a:cs typeface="Calibri"/>
              </a:rPr>
              <a:t>image.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This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made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possible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something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called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union</a:t>
            </a:r>
            <a:r>
              <a:rPr dirty="0" sz="2400" spc="-30" i="1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filesystem</a:t>
            </a:r>
            <a:r>
              <a:rPr dirty="0" sz="2400" spc="-30" i="1">
                <a:latin typeface="Calibri"/>
                <a:cs typeface="Calibri"/>
              </a:rPr>
              <a:t> </a:t>
            </a:r>
            <a:r>
              <a:rPr dirty="0" sz="2400" spc="-10" i="1">
                <a:latin typeface="Calibri"/>
                <a:cs typeface="Calibri"/>
              </a:rPr>
              <a:t>(UFS).</a:t>
            </a:r>
            <a:endParaRPr sz="24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1180"/>
              </a:spcBef>
              <a:buFont typeface="Arial"/>
              <a:buChar char="•"/>
              <a:tabLst>
                <a:tab pos="372110" algn="l"/>
              </a:tabLst>
            </a:pPr>
            <a:r>
              <a:rPr dirty="0" sz="2400">
                <a:latin typeface="Calibri"/>
                <a:cs typeface="Calibri"/>
              </a:rPr>
              <a:t>Docker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variety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union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filesystems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will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select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best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fit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your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system.</a:t>
            </a:r>
            <a:endParaRPr sz="2400">
              <a:latin typeface="Calibri"/>
              <a:cs typeface="Calibri"/>
            </a:endParaRPr>
          </a:p>
          <a:p>
            <a:pPr marL="372110" marR="1276985" indent="-360045">
              <a:lnSpc>
                <a:spcPct val="120000"/>
              </a:lnSpc>
              <a:spcBef>
                <a:spcPts val="600"/>
              </a:spcBef>
              <a:buFont typeface="Arial"/>
              <a:buChar char="•"/>
              <a:tabLst>
                <a:tab pos="372110" algn="l"/>
              </a:tabLst>
            </a:pP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union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filesystem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part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critical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set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tools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combine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create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effective </a:t>
            </a:r>
            <a:r>
              <a:rPr dirty="0" sz="2400">
                <a:latin typeface="Calibri"/>
                <a:cs typeface="Calibri"/>
              </a:rPr>
              <a:t>filesystem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isolation.</a:t>
            </a:r>
            <a:endParaRPr sz="24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1175"/>
              </a:spcBef>
              <a:buFont typeface="Arial"/>
              <a:buChar char="•"/>
              <a:tabLst>
                <a:tab pos="372110" algn="l"/>
              </a:tabLst>
            </a:pP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other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tools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MNT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namespaces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chroot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system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call.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Union</a:t>
            </a:r>
            <a:r>
              <a:rPr dirty="0" spc="-5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Filesystem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64668" y="1324225"/>
            <a:ext cx="11216640" cy="33267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53060" marR="5080" indent="-340360">
              <a:lnSpc>
                <a:spcPct val="120000"/>
              </a:lnSpc>
              <a:spcBef>
                <a:spcPts val="95"/>
              </a:spcBef>
              <a:buChar char="▪"/>
              <a:tabLst>
                <a:tab pos="355600" algn="l"/>
              </a:tabLst>
            </a:pPr>
            <a:r>
              <a:rPr dirty="0" sz="2400">
                <a:latin typeface="Calibri"/>
                <a:cs typeface="Calibri"/>
              </a:rPr>
              <a:t>Union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type of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filesystem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create an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illusion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merging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contents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10">
                <a:latin typeface="Calibri"/>
                <a:cs typeface="Calibri"/>
              </a:rPr>
              <a:t> several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directories</a:t>
            </a:r>
            <a:r>
              <a:rPr dirty="0" sz="2400" spc="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(created</a:t>
            </a:r>
            <a:r>
              <a:rPr dirty="0" sz="2400" spc="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layers)</a:t>
            </a:r>
            <a:r>
              <a:rPr dirty="0" sz="2400" spc="5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into</a:t>
            </a:r>
            <a:r>
              <a:rPr dirty="0" sz="2400" spc="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one</a:t>
            </a:r>
            <a:r>
              <a:rPr dirty="0" sz="2400" spc="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without</a:t>
            </a:r>
            <a:r>
              <a:rPr dirty="0" sz="2400" spc="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modifying</a:t>
            </a:r>
            <a:r>
              <a:rPr dirty="0" sz="2400" spc="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its</a:t>
            </a:r>
            <a:r>
              <a:rPr dirty="0" sz="2400" spc="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original</a:t>
            </a:r>
            <a:r>
              <a:rPr dirty="0" sz="2400" spc="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(physical)</a:t>
            </a:r>
            <a:r>
              <a:rPr dirty="0" sz="2400" spc="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sources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which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shown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single,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merged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view</a:t>
            </a:r>
            <a:endParaRPr sz="2400">
              <a:latin typeface="Calibri"/>
              <a:cs typeface="Calibri"/>
            </a:endParaRPr>
          </a:p>
          <a:p>
            <a:pPr algn="just" marL="353060" indent="-340360">
              <a:lnSpc>
                <a:spcPct val="100000"/>
              </a:lnSpc>
              <a:spcBef>
                <a:spcPts val="1175"/>
              </a:spcBef>
              <a:buChar char="▪"/>
              <a:tabLst>
                <a:tab pos="353060" algn="l"/>
              </a:tabLst>
            </a:pPr>
            <a:r>
              <a:rPr dirty="0" sz="2400">
                <a:latin typeface="Calibri"/>
                <a:cs typeface="Calibri"/>
              </a:rPr>
              <a:t>Union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system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operates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by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creating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layers,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making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them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very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lightweight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fast.</a:t>
            </a:r>
            <a:endParaRPr sz="2400">
              <a:latin typeface="Calibri"/>
              <a:cs typeface="Calibri"/>
            </a:endParaRPr>
          </a:p>
          <a:p>
            <a:pPr algn="just" marL="353060" indent="-340360">
              <a:lnSpc>
                <a:spcPct val="100000"/>
              </a:lnSpc>
              <a:spcBef>
                <a:spcPts val="1180"/>
              </a:spcBef>
              <a:buChar char="▪"/>
              <a:tabLst>
                <a:tab pos="353060" algn="l"/>
              </a:tabLst>
            </a:pPr>
            <a:r>
              <a:rPr dirty="0" sz="2400">
                <a:latin typeface="Calibri"/>
                <a:cs typeface="Calibri"/>
              </a:rPr>
              <a:t>Docker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Engine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UnionFS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provide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building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blocks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containers.</a:t>
            </a:r>
            <a:endParaRPr sz="2400">
              <a:latin typeface="Calibri"/>
              <a:cs typeface="Calibri"/>
            </a:endParaRPr>
          </a:p>
          <a:p>
            <a:pPr algn="just" marL="353060" marR="6985" indent="-340360">
              <a:lnSpc>
                <a:spcPct val="120000"/>
              </a:lnSpc>
              <a:spcBef>
                <a:spcPts val="600"/>
              </a:spcBef>
              <a:buChar char="▪"/>
              <a:tabLst>
                <a:tab pos="355600" algn="l"/>
              </a:tabLst>
            </a:pPr>
            <a:r>
              <a:rPr dirty="0" sz="2400">
                <a:latin typeface="Calibri"/>
                <a:cs typeface="Calibri"/>
              </a:rPr>
              <a:t>Docker</a:t>
            </a:r>
            <a:r>
              <a:rPr dirty="0" sz="2400" spc="1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Engine</a:t>
            </a:r>
            <a:r>
              <a:rPr dirty="0" sz="2400" spc="2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1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</a:t>
            </a:r>
            <a:r>
              <a:rPr dirty="0" sz="2400" spc="1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multiple</a:t>
            </a:r>
            <a:r>
              <a:rPr dirty="0" sz="2400" spc="1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UnionFS</a:t>
            </a:r>
            <a:r>
              <a:rPr dirty="0" sz="2400" spc="1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variants,</a:t>
            </a:r>
            <a:r>
              <a:rPr dirty="0" sz="2400" spc="20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including</a:t>
            </a:r>
            <a:r>
              <a:rPr dirty="0" sz="2400" spc="1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AUFS,</a:t>
            </a:r>
            <a:r>
              <a:rPr dirty="0" sz="2400" spc="2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overlay2,</a:t>
            </a:r>
            <a:r>
              <a:rPr dirty="0" sz="2400" spc="2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btrfs,</a:t>
            </a:r>
            <a:r>
              <a:rPr dirty="0" sz="2400" spc="19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vfs, </a:t>
            </a:r>
            <a:r>
              <a:rPr dirty="0" sz="2400" spc="-2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DeviceMapper.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7741" y="6518249"/>
            <a:ext cx="44589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Arial"/>
                <a:cs typeface="Arial"/>
              </a:rPr>
              <a:t>Reference:</a:t>
            </a:r>
            <a:r>
              <a:rPr dirty="0" sz="1400" spc="-10">
                <a:latin typeface="Arial"/>
                <a:cs typeface="Arial"/>
                <a:hlinkClick r:id="rId2"/>
              </a:rPr>
              <a:t>https://docs.docker.com/get-started/overview/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03105" y="6470700"/>
            <a:ext cx="244411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Arial"/>
                <a:cs typeface="Arial"/>
                <a:hlinkClick r:id="rId3"/>
              </a:rPr>
              <a:t>https://martinheinz.dev/blog/44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84479" y="40386"/>
            <a:ext cx="3931920" cy="847090"/>
          </a:xfrm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unionfs</a:t>
            </a:r>
            <a:r>
              <a:rPr dirty="0" spc="-8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features</a:t>
            </a:r>
            <a:r>
              <a:rPr dirty="0" spc="-5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-</a:t>
            </a:r>
            <a:r>
              <a:rPr dirty="0" spc="-6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Layering</a:t>
            </a:r>
          </a:p>
        </p:txBody>
      </p:sp>
      <p:grpSp>
        <p:nvGrpSpPr>
          <p:cNvPr id="2" name="object 2"/>
          <p:cNvGrpSpPr/>
          <p:nvPr/>
        </p:nvGrpSpPr>
        <p:grpSpPr>
          <a:xfrm>
            <a:off x="9419970" y="0"/>
            <a:ext cx="2725420" cy="3860165"/>
            <a:chOff x="9419970" y="0"/>
            <a:chExt cx="2725420" cy="3860165"/>
          </a:xfrm>
        </p:grpSpPr>
        <p:sp>
          <p:nvSpPr>
            <p:cNvPr id="3" name="object 3"/>
            <p:cNvSpPr/>
            <p:nvPr/>
          </p:nvSpPr>
          <p:spPr>
            <a:xfrm>
              <a:off x="9429495" y="2470150"/>
              <a:ext cx="2706370" cy="1380490"/>
            </a:xfrm>
            <a:custGeom>
              <a:avLst/>
              <a:gdLst/>
              <a:ahLst/>
              <a:cxnLst/>
              <a:rect l="l" t="t" r="r" b="b"/>
              <a:pathLst>
                <a:path w="2706370" h="1380489">
                  <a:moveTo>
                    <a:pt x="2706243" y="0"/>
                  </a:moveTo>
                  <a:lnTo>
                    <a:pt x="0" y="0"/>
                  </a:lnTo>
                  <a:lnTo>
                    <a:pt x="0" y="1380108"/>
                  </a:lnTo>
                  <a:lnTo>
                    <a:pt x="2706243" y="1380108"/>
                  </a:lnTo>
                  <a:lnTo>
                    <a:pt x="2706243" y="0"/>
                  </a:lnTo>
                  <a:close/>
                </a:path>
              </a:pathLst>
            </a:custGeom>
            <a:solidFill>
              <a:srgbClr val="A8D0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9429495" y="2470150"/>
              <a:ext cx="2706370" cy="1380490"/>
            </a:xfrm>
            <a:custGeom>
              <a:avLst/>
              <a:gdLst/>
              <a:ahLst/>
              <a:cxnLst/>
              <a:rect l="l" t="t" r="r" b="b"/>
              <a:pathLst>
                <a:path w="2706370" h="1380489">
                  <a:moveTo>
                    <a:pt x="0" y="1380108"/>
                  </a:moveTo>
                  <a:lnTo>
                    <a:pt x="2706243" y="1380108"/>
                  </a:lnTo>
                  <a:lnTo>
                    <a:pt x="2706243" y="0"/>
                  </a:lnTo>
                  <a:lnTo>
                    <a:pt x="0" y="0"/>
                  </a:lnTo>
                  <a:lnTo>
                    <a:pt x="0" y="1380108"/>
                  </a:lnTo>
                  <a:close/>
                </a:path>
              </a:pathLst>
            </a:custGeom>
            <a:ln w="19050">
              <a:solidFill>
                <a:srgbClr val="007D9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0" y="996569"/>
            <a:ext cx="8299450" cy="0"/>
          </a:xfrm>
          <a:custGeom>
            <a:avLst/>
            <a:gdLst/>
            <a:ahLst/>
            <a:cxnLst/>
            <a:rect l="l" t="t" r="r" b="b"/>
            <a:pathLst>
              <a:path w="8299450" h="0">
                <a:moveTo>
                  <a:pt x="0" y="0"/>
                </a:moveTo>
                <a:lnTo>
                  <a:pt x="8299450" y="0"/>
                </a:lnTo>
              </a:path>
            </a:pathLst>
          </a:custGeom>
          <a:ln w="38100">
            <a:solidFill>
              <a:srgbClr val="C55A1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16179" y="1076655"/>
            <a:ext cx="446913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19100" indent="-406400">
              <a:lnSpc>
                <a:spcPct val="100000"/>
              </a:lnSpc>
              <a:spcBef>
                <a:spcPts val="105"/>
              </a:spcBef>
              <a:buSzPct val="110000"/>
              <a:buChar char="▪"/>
              <a:tabLst>
                <a:tab pos="419100" algn="l"/>
              </a:tabLst>
            </a:pPr>
            <a:r>
              <a:rPr dirty="0" sz="2000">
                <a:latin typeface="Calibri"/>
                <a:cs typeface="Calibri"/>
              </a:rPr>
              <a:t>unionfs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permits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layering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file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systems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0623" y="1390243"/>
            <a:ext cx="4291330" cy="861060"/>
          </a:xfrm>
          <a:prstGeom prst="rect">
            <a:avLst/>
          </a:prstGeom>
        </p:spPr>
        <p:txBody>
          <a:bodyPr wrap="square" lIns="0" tIns="125095" rIns="0" bIns="0" rtlCol="0" vert="horz">
            <a:spAutoFit/>
          </a:bodyPr>
          <a:lstStyle/>
          <a:p>
            <a:pPr marL="372110" indent="-359410">
              <a:lnSpc>
                <a:spcPct val="100000"/>
              </a:lnSpc>
              <a:spcBef>
                <a:spcPts val="985"/>
              </a:spcBef>
              <a:buFont typeface="Arial"/>
              <a:buChar char="•"/>
              <a:tabLst>
                <a:tab pos="372110" algn="l"/>
              </a:tabLst>
            </a:pPr>
            <a:r>
              <a:rPr dirty="0" sz="2000" i="1">
                <a:latin typeface="Calibri"/>
                <a:cs typeface="Calibri"/>
              </a:rPr>
              <a:t>/Fruits</a:t>
            </a:r>
            <a:r>
              <a:rPr dirty="0" sz="2000" spc="-45" i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contains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files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Apple,</a:t>
            </a:r>
            <a:r>
              <a:rPr dirty="0" sz="2000" spc="-60" i="1">
                <a:latin typeface="Calibri"/>
                <a:cs typeface="Calibri"/>
              </a:rPr>
              <a:t> </a:t>
            </a:r>
            <a:r>
              <a:rPr dirty="0" sz="2000" spc="-10" i="1">
                <a:latin typeface="Calibri"/>
                <a:cs typeface="Calibri"/>
              </a:rPr>
              <a:t>Tomato</a:t>
            </a:r>
            <a:endParaRPr sz="20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890"/>
              </a:spcBef>
              <a:buFont typeface="Arial"/>
              <a:buChar char="•"/>
              <a:tabLst>
                <a:tab pos="372110" algn="l"/>
              </a:tabLst>
            </a:pPr>
            <a:r>
              <a:rPr dirty="0" sz="2000" i="1">
                <a:latin typeface="Calibri"/>
                <a:cs typeface="Calibri"/>
              </a:rPr>
              <a:t>/Vegetables</a:t>
            </a:r>
            <a:r>
              <a:rPr dirty="0" sz="2000" spc="-80" i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contains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Carrots,</a:t>
            </a:r>
            <a:r>
              <a:rPr dirty="0" sz="2000" spc="-40" i="1">
                <a:latin typeface="Calibri"/>
                <a:cs typeface="Calibri"/>
              </a:rPr>
              <a:t> </a:t>
            </a:r>
            <a:r>
              <a:rPr dirty="0" sz="2000" spc="-10" i="1">
                <a:latin typeface="Calibri"/>
                <a:cs typeface="Calibri"/>
              </a:rPr>
              <a:t>Tomato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9419970" y="1065911"/>
            <a:ext cx="2725420" cy="1399540"/>
            <a:chOff x="9419970" y="1065911"/>
            <a:chExt cx="2725420" cy="1399540"/>
          </a:xfrm>
        </p:grpSpPr>
        <p:sp>
          <p:nvSpPr>
            <p:cNvPr id="15" name="object 15"/>
            <p:cNvSpPr/>
            <p:nvPr/>
          </p:nvSpPr>
          <p:spPr>
            <a:xfrm>
              <a:off x="9429495" y="1075436"/>
              <a:ext cx="2706370" cy="1380490"/>
            </a:xfrm>
            <a:custGeom>
              <a:avLst/>
              <a:gdLst/>
              <a:ahLst/>
              <a:cxnLst/>
              <a:rect l="l" t="t" r="r" b="b"/>
              <a:pathLst>
                <a:path w="2706370" h="1380489">
                  <a:moveTo>
                    <a:pt x="2706243" y="0"/>
                  </a:moveTo>
                  <a:lnTo>
                    <a:pt x="0" y="0"/>
                  </a:lnTo>
                  <a:lnTo>
                    <a:pt x="0" y="1380109"/>
                  </a:lnTo>
                  <a:lnTo>
                    <a:pt x="2706243" y="1380109"/>
                  </a:lnTo>
                  <a:lnTo>
                    <a:pt x="2706243" y="0"/>
                  </a:lnTo>
                  <a:close/>
                </a:path>
              </a:pathLst>
            </a:custGeom>
            <a:solidFill>
              <a:srgbClr val="ADAB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9429495" y="1075436"/>
              <a:ext cx="2706370" cy="1380490"/>
            </a:xfrm>
            <a:custGeom>
              <a:avLst/>
              <a:gdLst/>
              <a:ahLst/>
              <a:cxnLst/>
              <a:rect l="l" t="t" r="r" b="b"/>
              <a:pathLst>
                <a:path w="2706370" h="1380489">
                  <a:moveTo>
                    <a:pt x="0" y="1380109"/>
                  </a:moveTo>
                  <a:lnTo>
                    <a:pt x="2706243" y="1380109"/>
                  </a:lnTo>
                  <a:lnTo>
                    <a:pt x="2706243" y="0"/>
                  </a:lnTo>
                  <a:lnTo>
                    <a:pt x="0" y="0"/>
                  </a:lnTo>
                  <a:lnTo>
                    <a:pt x="0" y="1380109"/>
                  </a:lnTo>
                  <a:close/>
                </a:path>
              </a:pathLst>
            </a:custGeom>
            <a:ln w="19050">
              <a:solidFill>
                <a:srgbClr val="007D9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10537063" y="1097737"/>
            <a:ext cx="49212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Corbel"/>
                <a:cs typeface="Corbel"/>
              </a:rPr>
              <a:t>/Fruits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568688" y="1484490"/>
            <a:ext cx="1204595" cy="760095"/>
          </a:xfrm>
          <a:custGeom>
            <a:avLst/>
            <a:gdLst/>
            <a:ahLst/>
            <a:cxnLst/>
            <a:rect l="l" t="t" r="r" b="b"/>
            <a:pathLst>
              <a:path w="1204595" h="760094">
                <a:moveTo>
                  <a:pt x="0" y="759980"/>
                </a:moveTo>
                <a:lnTo>
                  <a:pt x="1204531" y="759980"/>
                </a:lnTo>
                <a:lnTo>
                  <a:pt x="1204531" y="0"/>
                </a:lnTo>
                <a:lnTo>
                  <a:pt x="0" y="0"/>
                </a:lnTo>
                <a:lnTo>
                  <a:pt x="0" y="759980"/>
                </a:lnTo>
                <a:close/>
              </a:path>
            </a:pathLst>
          </a:custGeom>
          <a:ln w="11999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9568688" y="1484490"/>
            <a:ext cx="1204595" cy="760095"/>
          </a:xfrm>
          <a:prstGeom prst="rect">
            <a:avLst/>
          </a:prstGeom>
          <a:solidFill>
            <a:srgbClr val="F4AF81"/>
          </a:solidFill>
        </p:spPr>
        <p:txBody>
          <a:bodyPr wrap="square" lIns="0" tIns="590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65"/>
              </a:spcBef>
            </a:pPr>
            <a:endParaRPr sz="1400">
              <a:latin typeface="Times New Roman"/>
              <a:cs typeface="Times New Roman"/>
            </a:endParaRPr>
          </a:p>
          <a:p>
            <a:pPr marL="387350">
              <a:lnSpc>
                <a:spcPct val="100000"/>
              </a:lnSpc>
            </a:pPr>
            <a:r>
              <a:rPr dirty="0" sz="1400" spc="-10">
                <a:latin typeface="Corbel"/>
                <a:cs typeface="Corbel"/>
              </a:rPr>
              <a:t>Apple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0806683" y="1484490"/>
            <a:ext cx="1204595" cy="760095"/>
          </a:xfrm>
          <a:custGeom>
            <a:avLst/>
            <a:gdLst/>
            <a:ahLst/>
            <a:cxnLst/>
            <a:rect l="l" t="t" r="r" b="b"/>
            <a:pathLst>
              <a:path w="1204595" h="760094">
                <a:moveTo>
                  <a:pt x="0" y="759980"/>
                </a:moveTo>
                <a:lnTo>
                  <a:pt x="1204531" y="759980"/>
                </a:lnTo>
                <a:lnTo>
                  <a:pt x="1204531" y="0"/>
                </a:lnTo>
                <a:lnTo>
                  <a:pt x="0" y="0"/>
                </a:lnTo>
                <a:lnTo>
                  <a:pt x="0" y="759980"/>
                </a:lnTo>
                <a:close/>
              </a:path>
            </a:pathLst>
          </a:custGeom>
          <a:ln w="11999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0806683" y="1484490"/>
            <a:ext cx="1204595" cy="760095"/>
          </a:xfrm>
          <a:prstGeom prst="rect">
            <a:avLst/>
          </a:prstGeom>
          <a:solidFill>
            <a:srgbClr val="F4AF81"/>
          </a:solidFill>
        </p:spPr>
        <p:txBody>
          <a:bodyPr wrap="square" lIns="0" tIns="590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65"/>
              </a:spcBef>
            </a:pPr>
            <a:endParaRPr sz="1400">
              <a:latin typeface="Times New Roman"/>
              <a:cs typeface="Times New Roman"/>
            </a:endParaRPr>
          </a:p>
          <a:p>
            <a:pPr marL="229870">
              <a:lnSpc>
                <a:spcPct val="100000"/>
              </a:lnSpc>
            </a:pPr>
            <a:r>
              <a:rPr dirty="0" sz="1400" spc="-10">
                <a:latin typeface="Corbel"/>
                <a:cs typeface="Corbel"/>
              </a:rPr>
              <a:t>Tomatoes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0623" y="2335733"/>
            <a:ext cx="6845934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 i="1">
                <a:solidFill>
                  <a:srgbClr val="00AF50"/>
                </a:solidFill>
                <a:latin typeface="Calibri"/>
                <a:cs typeface="Calibri"/>
              </a:rPr>
              <a:t>mount</a:t>
            </a:r>
            <a:r>
              <a:rPr dirty="0" sz="2000" spc="-20" b="1" i="1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dirty="0" sz="2000" spc="-15" b="1" i="1">
                <a:solidFill>
                  <a:srgbClr val="00AF50"/>
                </a:solidFill>
                <a:latin typeface="Calibri"/>
                <a:cs typeface="Calibri"/>
              </a:rPr>
              <a:t>–</a:t>
            </a:r>
            <a:r>
              <a:rPr dirty="0" sz="2000" b="1" i="1">
                <a:solidFill>
                  <a:srgbClr val="00AF50"/>
                </a:solidFill>
                <a:latin typeface="Calibri"/>
                <a:cs typeface="Calibri"/>
              </a:rPr>
              <a:t>t</a:t>
            </a:r>
            <a:r>
              <a:rPr dirty="0" sz="2000" spc="-5" b="1" i="1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dirty="0" sz="2000" b="1" i="1">
                <a:solidFill>
                  <a:srgbClr val="00AF50"/>
                </a:solidFill>
                <a:latin typeface="Calibri"/>
                <a:cs typeface="Calibri"/>
              </a:rPr>
              <a:t>unionfs</a:t>
            </a:r>
            <a:r>
              <a:rPr dirty="0" sz="2000" spc="-25" b="1" i="1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dirty="0" sz="2000" spc="-15" b="1" i="1">
                <a:solidFill>
                  <a:srgbClr val="00AF50"/>
                </a:solidFill>
                <a:latin typeface="Calibri"/>
                <a:cs typeface="Calibri"/>
              </a:rPr>
              <a:t>–</a:t>
            </a:r>
            <a:r>
              <a:rPr dirty="0" sz="2000" b="1" i="1">
                <a:solidFill>
                  <a:srgbClr val="00AF50"/>
                </a:solidFill>
                <a:latin typeface="Calibri"/>
                <a:cs typeface="Calibri"/>
              </a:rPr>
              <a:t>o </a:t>
            </a:r>
            <a:r>
              <a:rPr dirty="0" sz="2000" spc="-10" b="1" i="1">
                <a:solidFill>
                  <a:srgbClr val="00AF50"/>
                </a:solidFill>
                <a:latin typeface="Calibri"/>
                <a:cs typeface="Calibri"/>
              </a:rPr>
              <a:t>dirs=/Fruits:/Vegetables</a:t>
            </a:r>
            <a:r>
              <a:rPr dirty="0" sz="2000" spc="-30" b="1" i="1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dirty="0" sz="2000" b="1" i="1">
                <a:solidFill>
                  <a:srgbClr val="00AF50"/>
                </a:solidFill>
                <a:latin typeface="Calibri"/>
                <a:cs typeface="Calibri"/>
              </a:rPr>
              <a:t>none</a:t>
            </a:r>
            <a:r>
              <a:rPr dirty="0" sz="2000" spc="-25" b="1" i="1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dirty="0" sz="2000" spc="-10" b="1" i="1">
                <a:solidFill>
                  <a:srgbClr val="00AF50"/>
                </a:solidFill>
                <a:latin typeface="Calibri"/>
                <a:cs typeface="Calibri"/>
              </a:rPr>
              <a:t>/mnt/healthy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8374126" y="2163952"/>
            <a:ext cx="641350" cy="407034"/>
            <a:chOff x="8374126" y="2163952"/>
            <a:chExt cx="641350" cy="407034"/>
          </a:xfrm>
        </p:grpSpPr>
        <p:sp>
          <p:nvSpPr>
            <p:cNvPr id="52" name="object 52"/>
            <p:cNvSpPr/>
            <p:nvPr/>
          </p:nvSpPr>
          <p:spPr>
            <a:xfrm>
              <a:off x="8386826" y="2176652"/>
              <a:ext cx="615950" cy="381635"/>
            </a:xfrm>
            <a:custGeom>
              <a:avLst/>
              <a:gdLst/>
              <a:ahLst/>
              <a:cxnLst/>
              <a:rect l="l" t="t" r="r" b="b"/>
              <a:pathLst>
                <a:path w="615950" h="381635">
                  <a:moveTo>
                    <a:pt x="425196" y="0"/>
                  </a:moveTo>
                  <a:lnTo>
                    <a:pt x="425196" y="95376"/>
                  </a:lnTo>
                  <a:lnTo>
                    <a:pt x="0" y="95376"/>
                  </a:lnTo>
                  <a:lnTo>
                    <a:pt x="0" y="286131"/>
                  </a:lnTo>
                  <a:lnTo>
                    <a:pt x="425196" y="286131"/>
                  </a:lnTo>
                  <a:lnTo>
                    <a:pt x="425196" y="381508"/>
                  </a:lnTo>
                  <a:lnTo>
                    <a:pt x="615950" y="190754"/>
                  </a:lnTo>
                  <a:lnTo>
                    <a:pt x="425196" y="0"/>
                  </a:lnTo>
                  <a:close/>
                </a:path>
              </a:pathLst>
            </a:custGeom>
            <a:solidFill>
              <a:srgbClr val="D0CE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8386826" y="2176652"/>
              <a:ext cx="615950" cy="381635"/>
            </a:xfrm>
            <a:custGeom>
              <a:avLst/>
              <a:gdLst/>
              <a:ahLst/>
              <a:cxnLst/>
              <a:rect l="l" t="t" r="r" b="b"/>
              <a:pathLst>
                <a:path w="615950" h="381635">
                  <a:moveTo>
                    <a:pt x="0" y="95376"/>
                  </a:moveTo>
                  <a:lnTo>
                    <a:pt x="425196" y="95376"/>
                  </a:lnTo>
                  <a:lnTo>
                    <a:pt x="425196" y="0"/>
                  </a:lnTo>
                  <a:lnTo>
                    <a:pt x="615950" y="190754"/>
                  </a:lnTo>
                  <a:lnTo>
                    <a:pt x="425196" y="381508"/>
                  </a:lnTo>
                  <a:lnTo>
                    <a:pt x="425196" y="286131"/>
                  </a:lnTo>
                  <a:lnTo>
                    <a:pt x="0" y="286131"/>
                  </a:lnTo>
                  <a:lnTo>
                    <a:pt x="0" y="95376"/>
                  </a:lnTo>
                  <a:close/>
                </a:path>
              </a:pathLst>
            </a:custGeom>
            <a:ln w="254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0332846" y="2493010"/>
            <a:ext cx="90106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Corbel"/>
                <a:cs typeface="Corbel"/>
              </a:rPr>
              <a:t>/Vegetables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5223" y="2640304"/>
            <a:ext cx="5536565" cy="861060"/>
          </a:xfrm>
          <a:prstGeom prst="rect">
            <a:avLst/>
          </a:prstGeom>
        </p:spPr>
        <p:txBody>
          <a:bodyPr wrap="square" lIns="0" tIns="125095" rIns="0" bIns="0" rtlCol="0" vert="horz">
            <a:spAutoFit/>
          </a:bodyPr>
          <a:lstStyle/>
          <a:p>
            <a:pPr marL="397510" indent="-359410">
              <a:lnSpc>
                <a:spcPct val="100000"/>
              </a:lnSpc>
              <a:spcBef>
                <a:spcPts val="985"/>
              </a:spcBef>
              <a:buFont typeface="Arial"/>
              <a:buChar char="•"/>
              <a:tabLst>
                <a:tab pos="397510" algn="l"/>
              </a:tabLst>
            </a:pPr>
            <a:r>
              <a:rPr dirty="0" sz="2000" i="1">
                <a:latin typeface="Calibri"/>
                <a:cs typeface="Calibri"/>
              </a:rPr>
              <a:t>/mnt/healthy</a:t>
            </a:r>
            <a:r>
              <a:rPr dirty="0" sz="2000" spc="-45" i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3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files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–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Apple,</a:t>
            </a:r>
            <a:r>
              <a:rPr dirty="0" sz="2000" spc="-4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Tomato,</a:t>
            </a:r>
            <a:r>
              <a:rPr dirty="0" sz="2000" spc="-35" i="1">
                <a:latin typeface="Calibri"/>
                <a:cs typeface="Calibri"/>
              </a:rPr>
              <a:t> </a:t>
            </a:r>
            <a:r>
              <a:rPr dirty="0" sz="2000" spc="-10" i="1">
                <a:latin typeface="Calibri"/>
                <a:cs typeface="Calibri"/>
              </a:rPr>
              <a:t>Carrots</a:t>
            </a:r>
            <a:endParaRPr sz="2000">
              <a:latin typeface="Calibri"/>
              <a:cs typeface="Calibri"/>
            </a:endParaRPr>
          </a:p>
          <a:p>
            <a:pPr marL="397510" indent="-359410">
              <a:lnSpc>
                <a:spcPct val="100000"/>
              </a:lnSpc>
              <a:spcBef>
                <a:spcPts val="890"/>
              </a:spcBef>
              <a:buFont typeface="Arial"/>
              <a:buChar char="•"/>
              <a:tabLst>
                <a:tab pos="397510" algn="l"/>
              </a:tabLst>
            </a:pPr>
            <a:r>
              <a:rPr dirty="0" sz="2000" i="1">
                <a:latin typeface="Calibri"/>
                <a:cs typeface="Calibri"/>
              </a:rPr>
              <a:t>Tomato</a:t>
            </a:r>
            <a:r>
              <a:rPr dirty="0" sz="2000" spc="-30" i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comes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/Fruits</a:t>
            </a:r>
            <a:r>
              <a:rPr dirty="0" sz="2000" spc="-20" i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(1</a:t>
            </a:r>
            <a:r>
              <a:rPr dirty="0" baseline="25641" sz="1950">
                <a:latin typeface="Calibri"/>
                <a:cs typeface="Calibri"/>
              </a:rPr>
              <a:t>st</a:t>
            </a:r>
            <a:r>
              <a:rPr dirty="0" baseline="25641" sz="1950" spc="209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dirs</a:t>
            </a:r>
            <a:r>
              <a:rPr dirty="0" sz="2000" spc="-25" i="1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option)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558019" y="2918650"/>
            <a:ext cx="1203325" cy="761365"/>
          </a:xfrm>
          <a:custGeom>
            <a:avLst/>
            <a:gdLst/>
            <a:ahLst/>
            <a:cxnLst/>
            <a:rect l="l" t="t" r="r" b="b"/>
            <a:pathLst>
              <a:path w="1203325" h="761364">
                <a:moveTo>
                  <a:pt x="0" y="761301"/>
                </a:moveTo>
                <a:lnTo>
                  <a:pt x="1203198" y="761301"/>
                </a:lnTo>
                <a:lnTo>
                  <a:pt x="1203198" y="0"/>
                </a:lnTo>
                <a:lnTo>
                  <a:pt x="0" y="0"/>
                </a:lnTo>
                <a:lnTo>
                  <a:pt x="0" y="761301"/>
                </a:lnTo>
                <a:close/>
              </a:path>
            </a:pathLst>
          </a:custGeom>
          <a:ln w="11999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9558019" y="2918650"/>
            <a:ext cx="1203325" cy="761365"/>
          </a:xfrm>
          <a:prstGeom prst="rect">
            <a:avLst/>
          </a:prstGeom>
          <a:solidFill>
            <a:srgbClr val="BAD5ED"/>
          </a:solidFill>
        </p:spPr>
        <p:txBody>
          <a:bodyPr wrap="square" lIns="0" tIns="596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70"/>
              </a:spcBef>
            </a:pPr>
            <a:endParaRPr sz="1400">
              <a:latin typeface="Times New Roman"/>
              <a:cs typeface="Times New Roman"/>
            </a:endParaRPr>
          </a:p>
          <a:p>
            <a:pPr marL="332105">
              <a:lnSpc>
                <a:spcPct val="100000"/>
              </a:lnSpc>
            </a:pPr>
            <a:r>
              <a:rPr dirty="0" sz="1400" spc="-10">
                <a:latin typeface="Corbel"/>
                <a:cs typeface="Corbel"/>
              </a:rPr>
              <a:t>Carrots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0796016" y="2918650"/>
            <a:ext cx="1203325" cy="761365"/>
          </a:xfrm>
          <a:custGeom>
            <a:avLst/>
            <a:gdLst/>
            <a:ahLst/>
            <a:cxnLst/>
            <a:rect l="l" t="t" r="r" b="b"/>
            <a:pathLst>
              <a:path w="1203325" h="761364">
                <a:moveTo>
                  <a:pt x="0" y="761301"/>
                </a:moveTo>
                <a:lnTo>
                  <a:pt x="1203198" y="761301"/>
                </a:lnTo>
                <a:lnTo>
                  <a:pt x="1203198" y="0"/>
                </a:lnTo>
                <a:lnTo>
                  <a:pt x="0" y="0"/>
                </a:lnTo>
                <a:lnTo>
                  <a:pt x="0" y="761301"/>
                </a:lnTo>
                <a:close/>
              </a:path>
            </a:pathLst>
          </a:custGeom>
          <a:ln w="11999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0796016" y="2918650"/>
            <a:ext cx="1203325" cy="761365"/>
          </a:xfrm>
          <a:prstGeom prst="rect">
            <a:avLst/>
          </a:prstGeom>
          <a:solidFill>
            <a:srgbClr val="BAD5ED"/>
          </a:solidFill>
        </p:spPr>
        <p:txBody>
          <a:bodyPr wrap="square" lIns="0" tIns="596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70"/>
              </a:spcBef>
            </a:pPr>
            <a:endParaRPr sz="1400">
              <a:latin typeface="Times New Roman"/>
              <a:cs typeface="Times New Roman"/>
            </a:endParaRPr>
          </a:p>
          <a:p>
            <a:pPr marL="229870">
              <a:lnSpc>
                <a:spcPct val="100000"/>
              </a:lnSpc>
            </a:pPr>
            <a:r>
              <a:rPr dirty="0" sz="1400" spc="-10">
                <a:latin typeface="Corbel"/>
                <a:cs typeface="Corbel"/>
              </a:rPr>
              <a:t>Tomatoes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6179" y="3586098"/>
            <a:ext cx="495046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11480" indent="-398780">
              <a:lnSpc>
                <a:spcPct val="100000"/>
              </a:lnSpc>
              <a:spcBef>
                <a:spcPts val="105"/>
              </a:spcBef>
              <a:buChar char="▪"/>
              <a:tabLst>
                <a:tab pos="411480" algn="l"/>
              </a:tabLst>
            </a:pP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if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/Fruits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layered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top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/Vegetables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37477" y="4007332"/>
            <a:ext cx="7857490" cy="2489200"/>
          </a:xfrm>
          <a:custGeom>
            <a:avLst/>
            <a:gdLst/>
            <a:ahLst/>
            <a:cxnLst/>
            <a:rect l="l" t="t" r="r" b="b"/>
            <a:pathLst>
              <a:path w="7857490" h="2489200">
                <a:moveTo>
                  <a:pt x="7856982" y="0"/>
                </a:moveTo>
                <a:lnTo>
                  <a:pt x="0" y="0"/>
                </a:lnTo>
                <a:lnTo>
                  <a:pt x="0" y="2488946"/>
                </a:lnTo>
                <a:lnTo>
                  <a:pt x="7856982" y="2488946"/>
                </a:lnTo>
                <a:lnTo>
                  <a:pt x="7856982" y="0"/>
                </a:lnTo>
                <a:close/>
              </a:path>
            </a:pathLst>
          </a:custGeom>
          <a:solidFill>
            <a:srgbClr val="BAD5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328879" y="4061205"/>
            <a:ext cx="62706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2265" indent="-342265">
              <a:lnSpc>
                <a:spcPct val="100000"/>
              </a:lnSpc>
              <a:spcBef>
                <a:spcPts val="100"/>
              </a:spcBef>
              <a:buChar char="▪"/>
              <a:tabLst>
                <a:tab pos="342265" algn="l"/>
              </a:tabLst>
            </a:pPr>
            <a:r>
              <a:rPr dirty="0" sz="2000" spc="-10">
                <a:latin typeface="Calibri"/>
                <a:cs typeface="Calibri"/>
              </a:rPr>
              <a:t>-</a:t>
            </a:r>
            <a:r>
              <a:rPr dirty="0" sz="2000">
                <a:latin typeface="Calibri"/>
                <a:cs typeface="Calibri"/>
              </a:rPr>
              <a:t>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cow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option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mount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command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enables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copy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write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33323" y="4365530"/>
            <a:ext cx="4339590" cy="1276985"/>
          </a:xfrm>
          <a:prstGeom prst="rect">
            <a:avLst/>
          </a:prstGeom>
        </p:spPr>
        <p:txBody>
          <a:bodyPr wrap="square" lIns="0" tIns="124460" rIns="0" bIns="0" rtlCol="0" vert="horz">
            <a:spAutoFit/>
          </a:bodyPr>
          <a:lstStyle/>
          <a:p>
            <a:pPr marL="359410" indent="-359410">
              <a:lnSpc>
                <a:spcPct val="100000"/>
              </a:lnSpc>
              <a:spcBef>
                <a:spcPts val="980"/>
              </a:spcBef>
              <a:buFont typeface="Arial"/>
              <a:buChar char="•"/>
              <a:tabLst>
                <a:tab pos="359410" algn="l"/>
              </a:tabLst>
            </a:pPr>
            <a:r>
              <a:rPr dirty="0" sz="2000" i="1">
                <a:latin typeface="Calibri"/>
                <a:cs typeface="Calibri"/>
              </a:rPr>
              <a:t>If</a:t>
            </a:r>
            <a:r>
              <a:rPr dirty="0" sz="2000" spc="-2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change</a:t>
            </a:r>
            <a:r>
              <a:rPr dirty="0" sz="2000" spc="-3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is</a:t>
            </a:r>
            <a:r>
              <a:rPr dirty="0" sz="2000" spc="-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made</a:t>
            </a:r>
            <a:r>
              <a:rPr dirty="0" sz="2000" spc="-2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to</a:t>
            </a:r>
            <a:r>
              <a:rPr dirty="0" sz="2000" spc="-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a</a:t>
            </a:r>
            <a:r>
              <a:rPr dirty="0" sz="2000" spc="-20" i="1">
                <a:latin typeface="Calibri"/>
                <a:cs typeface="Calibri"/>
              </a:rPr>
              <a:t> file</a:t>
            </a:r>
            <a:endParaRPr sz="2000">
              <a:latin typeface="Calibri"/>
              <a:cs typeface="Calibri"/>
            </a:endParaRPr>
          </a:p>
          <a:p>
            <a:pPr marL="359410" indent="-359410">
              <a:lnSpc>
                <a:spcPct val="100000"/>
              </a:lnSpc>
              <a:spcBef>
                <a:spcPts val="890"/>
              </a:spcBef>
              <a:buFont typeface="Arial"/>
              <a:buChar char="•"/>
              <a:tabLst>
                <a:tab pos="359410" algn="l"/>
              </a:tabLst>
            </a:pPr>
            <a:r>
              <a:rPr dirty="0" sz="2000" i="1">
                <a:latin typeface="Calibri"/>
                <a:cs typeface="Calibri"/>
              </a:rPr>
              <a:t>Original</a:t>
            </a:r>
            <a:r>
              <a:rPr dirty="0" sz="2000" spc="-1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file</a:t>
            </a:r>
            <a:r>
              <a:rPr dirty="0" sz="2000" spc="-1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is</a:t>
            </a:r>
            <a:r>
              <a:rPr dirty="0" sz="2000" spc="-2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not</a:t>
            </a:r>
            <a:r>
              <a:rPr dirty="0" sz="2000" spc="-20" i="1">
                <a:latin typeface="Calibri"/>
                <a:cs typeface="Calibri"/>
              </a:rPr>
              <a:t> </a:t>
            </a:r>
            <a:r>
              <a:rPr dirty="0" sz="2000" spc="-10" i="1">
                <a:latin typeface="Calibri"/>
                <a:cs typeface="Calibri"/>
              </a:rPr>
              <a:t>modified</a:t>
            </a:r>
            <a:endParaRPr sz="2000">
              <a:latin typeface="Calibri"/>
              <a:cs typeface="Calibri"/>
            </a:endParaRPr>
          </a:p>
          <a:p>
            <a:pPr marL="359410" indent="-359410">
              <a:lnSpc>
                <a:spcPct val="100000"/>
              </a:lnSpc>
              <a:spcBef>
                <a:spcPts val="880"/>
              </a:spcBef>
              <a:buFont typeface="Arial"/>
              <a:buChar char="•"/>
              <a:tabLst>
                <a:tab pos="359410" algn="l"/>
              </a:tabLst>
            </a:pPr>
            <a:r>
              <a:rPr dirty="0" sz="2000" i="1">
                <a:latin typeface="Calibri"/>
                <a:cs typeface="Calibri"/>
              </a:rPr>
              <a:t>New</a:t>
            </a:r>
            <a:r>
              <a:rPr dirty="0" sz="2000" spc="-3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file</a:t>
            </a:r>
            <a:r>
              <a:rPr dirty="0" sz="2000" spc="-2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is</a:t>
            </a:r>
            <a:r>
              <a:rPr dirty="0" sz="2000" spc="-1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created</a:t>
            </a:r>
            <a:r>
              <a:rPr dirty="0" sz="2000" spc="-3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in</a:t>
            </a:r>
            <a:r>
              <a:rPr dirty="0" sz="2000" spc="-1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a</a:t>
            </a:r>
            <a:r>
              <a:rPr dirty="0" sz="2000" spc="-2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hidden</a:t>
            </a:r>
            <a:r>
              <a:rPr dirty="0" sz="2000" spc="-55" i="1">
                <a:latin typeface="Calibri"/>
                <a:cs typeface="Calibri"/>
              </a:rPr>
              <a:t> </a:t>
            </a:r>
            <a:r>
              <a:rPr dirty="0" sz="2000" spc="-10" i="1">
                <a:latin typeface="Calibri"/>
                <a:cs typeface="Calibri"/>
              </a:rPr>
              <a:t>location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28879" y="5667319"/>
            <a:ext cx="7595870" cy="756920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342265" indent="-342265">
              <a:lnSpc>
                <a:spcPct val="100000"/>
              </a:lnSpc>
              <a:spcBef>
                <a:spcPts val="575"/>
              </a:spcBef>
              <a:buChar char="▪"/>
              <a:tabLst>
                <a:tab pos="342265" algn="l"/>
              </a:tabLst>
            </a:pPr>
            <a:r>
              <a:rPr dirty="0" sz="2000">
                <a:latin typeface="Calibri"/>
                <a:cs typeface="Calibri"/>
              </a:rPr>
              <a:t>If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/Fruits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mounted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ro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(read-</a:t>
            </a:r>
            <a:r>
              <a:rPr dirty="0" sz="2000">
                <a:latin typeface="Calibri"/>
                <a:cs typeface="Calibri"/>
              </a:rPr>
              <a:t>only),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changes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will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recorded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50">
                <a:latin typeface="Calibri"/>
                <a:cs typeface="Calibri"/>
              </a:rPr>
              <a:t>a</a:t>
            </a:r>
            <a:endParaRPr sz="2000">
              <a:latin typeface="Calibri"/>
              <a:cs typeface="Calibri"/>
            </a:endParaRPr>
          </a:p>
          <a:p>
            <a:pPr marL="342900">
              <a:lnSpc>
                <a:spcPct val="100000"/>
              </a:lnSpc>
              <a:spcBef>
                <a:spcPts val="480"/>
              </a:spcBef>
            </a:pPr>
            <a:r>
              <a:rPr dirty="0" sz="2000">
                <a:latin typeface="Calibri"/>
                <a:cs typeface="Calibri"/>
              </a:rPr>
              <a:t>temporary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layer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9431146" y="5431244"/>
            <a:ext cx="2770505" cy="1161415"/>
            <a:chOff x="9431146" y="5431244"/>
            <a:chExt cx="2770505" cy="1161415"/>
          </a:xfrm>
        </p:grpSpPr>
        <p:sp>
          <p:nvSpPr>
            <p:cNvPr id="31" name="object 31"/>
            <p:cNvSpPr/>
            <p:nvPr/>
          </p:nvSpPr>
          <p:spPr>
            <a:xfrm>
              <a:off x="9440671" y="5440769"/>
              <a:ext cx="2751455" cy="1142365"/>
            </a:xfrm>
            <a:custGeom>
              <a:avLst/>
              <a:gdLst/>
              <a:ahLst/>
              <a:cxnLst/>
              <a:rect l="l" t="t" r="r" b="b"/>
              <a:pathLst>
                <a:path w="2751454" h="1142365">
                  <a:moveTo>
                    <a:pt x="2751328" y="0"/>
                  </a:moveTo>
                  <a:lnTo>
                    <a:pt x="0" y="0"/>
                  </a:lnTo>
                  <a:lnTo>
                    <a:pt x="0" y="1142111"/>
                  </a:lnTo>
                  <a:lnTo>
                    <a:pt x="2751328" y="1142111"/>
                  </a:lnTo>
                  <a:lnTo>
                    <a:pt x="2751328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9440671" y="5440769"/>
              <a:ext cx="2751455" cy="1142365"/>
            </a:xfrm>
            <a:custGeom>
              <a:avLst/>
              <a:gdLst/>
              <a:ahLst/>
              <a:cxnLst/>
              <a:rect l="l" t="t" r="r" b="b"/>
              <a:pathLst>
                <a:path w="2751454" h="1142365">
                  <a:moveTo>
                    <a:pt x="2751328" y="0"/>
                  </a:moveTo>
                  <a:lnTo>
                    <a:pt x="0" y="0"/>
                  </a:lnTo>
                  <a:lnTo>
                    <a:pt x="0" y="1142111"/>
                  </a:lnTo>
                  <a:lnTo>
                    <a:pt x="2751328" y="1142111"/>
                  </a:lnTo>
                </a:path>
              </a:pathLst>
            </a:custGeom>
            <a:ln w="19050">
              <a:solidFill>
                <a:srgbClr val="007D9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" name="object 34"/>
          <p:cNvGrpSpPr/>
          <p:nvPr/>
        </p:nvGrpSpPr>
        <p:grpSpPr>
          <a:xfrm>
            <a:off x="9431146" y="4278248"/>
            <a:ext cx="2770505" cy="1161415"/>
            <a:chOff x="9431146" y="4278248"/>
            <a:chExt cx="2770505" cy="1161415"/>
          </a:xfrm>
        </p:grpSpPr>
        <p:sp>
          <p:nvSpPr>
            <p:cNvPr id="35" name="object 35"/>
            <p:cNvSpPr/>
            <p:nvPr/>
          </p:nvSpPr>
          <p:spPr>
            <a:xfrm>
              <a:off x="9440671" y="4309617"/>
              <a:ext cx="2751455" cy="1120775"/>
            </a:xfrm>
            <a:custGeom>
              <a:avLst/>
              <a:gdLst/>
              <a:ahLst/>
              <a:cxnLst/>
              <a:rect l="l" t="t" r="r" b="b"/>
              <a:pathLst>
                <a:path w="2751454" h="1120775">
                  <a:moveTo>
                    <a:pt x="0" y="1120266"/>
                  </a:moveTo>
                  <a:lnTo>
                    <a:pt x="2751328" y="1120266"/>
                  </a:lnTo>
                  <a:lnTo>
                    <a:pt x="2751328" y="0"/>
                  </a:lnTo>
                  <a:lnTo>
                    <a:pt x="0" y="0"/>
                  </a:lnTo>
                  <a:lnTo>
                    <a:pt x="0" y="1120266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9440671" y="4287773"/>
              <a:ext cx="2751455" cy="1142365"/>
            </a:xfrm>
            <a:custGeom>
              <a:avLst/>
              <a:gdLst/>
              <a:ahLst/>
              <a:cxnLst/>
              <a:rect l="l" t="t" r="r" b="b"/>
              <a:pathLst>
                <a:path w="2751454" h="1142364">
                  <a:moveTo>
                    <a:pt x="2751328" y="0"/>
                  </a:moveTo>
                  <a:lnTo>
                    <a:pt x="0" y="0"/>
                  </a:lnTo>
                  <a:lnTo>
                    <a:pt x="0" y="1142111"/>
                  </a:lnTo>
                  <a:lnTo>
                    <a:pt x="2751328" y="1142111"/>
                  </a:lnTo>
                </a:path>
              </a:pathLst>
            </a:custGeom>
            <a:ln w="19049">
              <a:solidFill>
                <a:srgbClr val="007D9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/>
          <p:nvPr/>
        </p:nvSpPr>
        <p:spPr>
          <a:xfrm>
            <a:off x="9429495" y="4007459"/>
            <a:ext cx="2762885" cy="302260"/>
          </a:xfrm>
          <a:custGeom>
            <a:avLst/>
            <a:gdLst/>
            <a:ahLst/>
            <a:cxnLst/>
            <a:rect l="l" t="t" r="r" b="b"/>
            <a:pathLst>
              <a:path w="2762884" h="302260">
                <a:moveTo>
                  <a:pt x="2762504" y="0"/>
                </a:moveTo>
                <a:lnTo>
                  <a:pt x="0" y="0"/>
                </a:lnTo>
                <a:lnTo>
                  <a:pt x="0" y="302158"/>
                </a:lnTo>
                <a:lnTo>
                  <a:pt x="2762504" y="302158"/>
                </a:lnTo>
              </a:path>
            </a:pathLst>
          </a:custGeom>
          <a:ln w="19049">
            <a:solidFill>
              <a:srgbClr val="007D9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9429495" y="4007459"/>
            <a:ext cx="2762885" cy="302260"/>
          </a:xfrm>
          <a:prstGeom prst="rect">
            <a:avLst/>
          </a:prstGeom>
          <a:solidFill>
            <a:srgbClr val="EC7C30"/>
          </a:solidFill>
        </p:spPr>
        <p:txBody>
          <a:bodyPr wrap="square" lIns="0" tIns="36195" rIns="0" bIns="0" rtlCol="0" vert="horz">
            <a:spAutoFit/>
          </a:bodyPr>
          <a:lstStyle/>
          <a:p>
            <a:pPr algn="ctr" marL="40640">
              <a:lnSpc>
                <a:spcPct val="100000"/>
              </a:lnSpc>
              <a:spcBef>
                <a:spcPts val="285"/>
              </a:spcBef>
            </a:pPr>
            <a:r>
              <a:rPr dirty="0" sz="1400" b="1">
                <a:solidFill>
                  <a:srgbClr val="FFFF00"/>
                </a:solidFill>
                <a:latin typeface="Corbel"/>
                <a:cs typeface="Corbel"/>
              </a:rPr>
              <a:t>CoW</a:t>
            </a:r>
            <a:r>
              <a:rPr dirty="0" sz="1400" spc="-25" b="1">
                <a:solidFill>
                  <a:srgbClr val="FFFF00"/>
                </a:solidFill>
                <a:latin typeface="Corbel"/>
                <a:cs typeface="Corbel"/>
              </a:rPr>
              <a:t> </a:t>
            </a:r>
            <a:r>
              <a:rPr dirty="0" sz="1400" spc="-10" b="1">
                <a:solidFill>
                  <a:srgbClr val="FFFF00"/>
                </a:solidFill>
                <a:latin typeface="Corbel"/>
                <a:cs typeface="Corbel"/>
              </a:rPr>
              <a:t>layer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0595229" y="4311141"/>
            <a:ext cx="49149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Corbel"/>
                <a:cs typeface="Corbel"/>
              </a:rPr>
              <a:t>/Fruits</a:t>
            </a:r>
            <a:endParaRPr sz="1400">
              <a:latin typeface="Corbel"/>
              <a:cs typeface="Corbe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8383143" y="4885690"/>
            <a:ext cx="648970" cy="478790"/>
            <a:chOff x="8383143" y="4885690"/>
            <a:chExt cx="648970" cy="478790"/>
          </a:xfrm>
        </p:grpSpPr>
        <p:sp>
          <p:nvSpPr>
            <p:cNvPr id="49" name="object 49"/>
            <p:cNvSpPr/>
            <p:nvPr/>
          </p:nvSpPr>
          <p:spPr>
            <a:xfrm>
              <a:off x="8395843" y="4898390"/>
              <a:ext cx="623570" cy="453390"/>
            </a:xfrm>
            <a:custGeom>
              <a:avLst/>
              <a:gdLst/>
              <a:ahLst/>
              <a:cxnLst/>
              <a:rect l="l" t="t" r="r" b="b"/>
              <a:pathLst>
                <a:path w="623570" h="453389">
                  <a:moveTo>
                    <a:pt x="397001" y="0"/>
                  </a:moveTo>
                  <a:lnTo>
                    <a:pt x="397001" y="113157"/>
                  </a:lnTo>
                  <a:lnTo>
                    <a:pt x="0" y="113157"/>
                  </a:lnTo>
                  <a:lnTo>
                    <a:pt x="0" y="339725"/>
                  </a:lnTo>
                  <a:lnTo>
                    <a:pt x="397001" y="339725"/>
                  </a:lnTo>
                  <a:lnTo>
                    <a:pt x="397001" y="452882"/>
                  </a:lnTo>
                  <a:lnTo>
                    <a:pt x="623442" y="226441"/>
                  </a:lnTo>
                  <a:lnTo>
                    <a:pt x="397001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8395843" y="4898390"/>
              <a:ext cx="623570" cy="453390"/>
            </a:xfrm>
            <a:custGeom>
              <a:avLst/>
              <a:gdLst/>
              <a:ahLst/>
              <a:cxnLst/>
              <a:rect l="l" t="t" r="r" b="b"/>
              <a:pathLst>
                <a:path w="623570" h="453389">
                  <a:moveTo>
                    <a:pt x="0" y="113157"/>
                  </a:moveTo>
                  <a:lnTo>
                    <a:pt x="397001" y="113157"/>
                  </a:lnTo>
                  <a:lnTo>
                    <a:pt x="397001" y="0"/>
                  </a:lnTo>
                  <a:lnTo>
                    <a:pt x="623442" y="226441"/>
                  </a:lnTo>
                  <a:lnTo>
                    <a:pt x="397001" y="452882"/>
                  </a:lnTo>
                  <a:lnTo>
                    <a:pt x="397001" y="339725"/>
                  </a:lnTo>
                  <a:lnTo>
                    <a:pt x="0" y="339725"/>
                  </a:lnTo>
                  <a:lnTo>
                    <a:pt x="0" y="113157"/>
                  </a:lnTo>
                  <a:close/>
                </a:path>
              </a:pathLst>
            </a:custGeom>
            <a:ln w="254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/>
          <p:nvPr/>
        </p:nvSpPr>
        <p:spPr>
          <a:xfrm>
            <a:off x="9584563" y="4625847"/>
            <a:ext cx="1245870" cy="629920"/>
          </a:xfrm>
          <a:custGeom>
            <a:avLst/>
            <a:gdLst/>
            <a:ahLst/>
            <a:cxnLst/>
            <a:rect l="l" t="t" r="r" b="b"/>
            <a:pathLst>
              <a:path w="1245870" h="629920">
                <a:moveTo>
                  <a:pt x="0" y="629411"/>
                </a:moveTo>
                <a:lnTo>
                  <a:pt x="1245374" y="629411"/>
                </a:lnTo>
                <a:lnTo>
                  <a:pt x="1245374" y="0"/>
                </a:lnTo>
                <a:lnTo>
                  <a:pt x="0" y="0"/>
                </a:lnTo>
                <a:lnTo>
                  <a:pt x="0" y="629411"/>
                </a:lnTo>
                <a:close/>
              </a:path>
            </a:pathLst>
          </a:custGeom>
          <a:ln w="11999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9584563" y="4625847"/>
            <a:ext cx="1245870" cy="629920"/>
          </a:xfrm>
          <a:prstGeom prst="rect">
            <a:avLst/>
          </a:prstGeom>
          <a:solidFill>
            <a:srgbClr val="F4AF81"/>
          </a:solidFill>
        </p:spPr>
        <p:txBody>
          <a:bodyPr wrap="square" lIns="0" tIns="198755" rIns="0" bIns="0" rtlCol="0" vert="horz">
            <a:spAutoFit/>
          </a:bodyPr>
          <a:lstStyle/>
          <a:p>
            <a:pPr marL="407670">
              <a:lnSpc>
                <a:spcPct val="100000"/>
              </a:lnSpc>
              <a:spcBef>
                <a:spcPts val="1565"/>
              </a:spcBef>
            </a:pPr>
            <a:r>
              <a:rPr dirty="0" sz="1400" spc="-10">
                <a:latin typeface="Corbel"/>
                <a:cs typeface="Corbel"/>
              </a:rPr>
              <a:t>Apple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0864468" y="4625847"/>
            <a:ext cx="1245870" cy="629920"/>
          </a:xfrm>
          <a:custGeom>
            <a:avLst/>
            <a:gdLst/>
            <a:ahLst/>
            <a:cxnLst/>
            <a:rect l="l" t="t" r="r" b="b"/>
            <a:pathLst>
              <a:path w="1245870" h="629920">
                <a:moveTo>
                  <a:pt x="0" y="629411"/>
                </a:moveTo>
                <a:lnTo>
                  <a:pt x="1245374" y="629411"/>
                </a:lnTo>
                <a:lnTo>
                  <a:pt x="1245374" y="0"/>
                </a:lnTo>
                <a:lnTo>
                  <a:pt x="0" y="0"/>
                </a:lnTo>
                <a:lnTo>
                  <a:pt x="0" y="629411"/>
                </a:lnTo>
                <a:close/>
              </a:path>
            </a:pathLst>
          </a:custGeom>
          <a:ln w="11999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10864468" y="4625847"/>
            <a:ext cx="1245870" cy="629920"/>
          </a:xfrm>
          <a:prstGeom prst="rect">
            <a:avLst/>
          </a:prstGeom>
          <a:solidFill>
            <a:srgbClr val="F4AF81"/>
          </a:solidFill>
        </p:spPr>
        <p:txBody>
          <a:bodyPr wrap="square" lIns="0" tIns="198755" rIns="0" bIns="0" rtlCol="0" vert="horz">
            <a:spAutoFit/>
          </a:bodyPr>
          <a:lstStyle/>
          <a:p>
            <a:pPr marL="251460">
              <a:lnSpc>
                <a:spcPct val="100000"/>
              </a:lnSpc>
              <a:spcBef>
                <a:spcPts val="1565"/>
              </a:spcBef>
            </a:pPr>
            <a:r>
              <a:rPr dirty="0" sz="1400" spc="-10">
                <a:latin typeface="Corbel"/>
                <a:cs typeface="Corbel"/>
              </a:rPr>
              <a:t>Tomatoes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391013" y="5463946"/>
            <a:ext cx="90170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Corbel"/>
                <a:cs typeface="Corbel"/>
              </a:rPr>
              <a:t>/Vegetables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9573514" y="5812739"/>
            <a:ext cx="1244600" cy="628650"/>
          </a:xfrm>
          <a:custGeom>
            <a:avLst/>
            <a:gdLst/>
            <a:ahLst/>
            <a:cxnLst/>
            <a:rect l="l" t="t" r="r" b="b"/>
            <a:pathLst>
              <a:path w="1244600" h="628650">
                <a:moveTo>
                  <a:pt x="0" y="628332"/>
                </a:moveTo>
                <a:lnTo>
                  <a:pt x="1243990" y="628332"/>
                </a:lnTo>
                <a:lnTo>
                  <a:pt x="1243990" y="0"/>
                </a:lnTo>
                <a:lnTo>
                  <a:pt x="0" y="0"/>
                </a:lnTo>
                <a:lnTo>
                  <a:pt x="0" y="628332"/>
                </a:lnTo>
                <a:close/>
              </a:path>
            </a:pathLst>
          </a:custGeom>
          <a:ln w="11999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9573514" y="5812739"/>
            <a:ext cx="1244600" cy="628650"/>
          </a:xfrm>
          <a:prstGeom prst="rect">
            <a:avLst/>
          </a:prstGeom>
          <a:solidFill>
            <a:srgbClr val="BAD5ED"/>
          </a:solidFill>
        </p:spPr>
        <p:txBody>
          <a:bodyPr wrap="square" lIns="0" tIns="198755" rIns="0" bIns="0" rtlCol="0" vert="horz">
            <a:spAutoFit/>
          </a:bodyPr>
          <a:lstStyle/>
          <a:p>
            <a:pPr marL="353060">
              <a:lnSpc>
                <a:spcPct val="100000"/>
              </a:lnSpc>
              <a:spcBef>
                <a:spcPts val="1565"/>
              </a:spcBef>
            </a:pPr>
            <a:r>
              <a:rPr dirty="0" sz="1400" spc="-10">
                <a:latin typeface="Corbel"/>
                <a:cs typeface="Corbel"/>
              </a:rPr>
              <a:t>Carrots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0853419" y="5812739"/>
            <a:ext cx="1244600" cy="628650"/>
          </a:xfrm>
          <a:custGeom>
            <a:avLst/>
            <a:gdLst/>
            <a:ahLst/>
            <a:cxnLst/>
            <a:rect l="l" t="t" r="r" b="b"/>
            <a:pathLst>
              <a:path w="1244600" h="628650">
                <a:moveTo>
                  <a:pt x="0" y="628332"/>
                </a:moveTo>
                <a:lnTo>
                  <a:pt x="1243990" y="628332"/>
                </a:lnTo>
                <a:lnTo>
                  <a:pt x="1243990" y="0"/>
                </a:lnTo>
                <a:lnTo>
                  <a:pt x="0" y="0"/>
                </a:lnTo>
                <a:lnTo>
                  <a:pt x="0" y="628332"/>
                </a:lnTo>
                <a:close/>
              </a:path>
            </a:pathLst>
          </a:custGeom>
          <a:ln w="11999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10853419" y="5812739"/>
            <a:ext cx="1244600" cy="628650"/>
          </a:xfrm>
          <a:prstGeom prst="rect">
            <a:avLst/>
          </a:prstGeom>
          <a:solidFill>
            <a:srgbClr val="BAD5ED"/>
          </a:solidFill>
        </p:spPr>
        <p:txBody>
          <a:bodyPr wrap="square" lIns="0" tIns="198755" rIns="0" bIns="0" rtlCol="0" vert="horz">
            <a:spAutoFit/>
          </a:bodyPr>
          <a:lstStyle/>
          <a:p>
            <a:pPr marL="249554">
              <a:lnSpc>
                <a:spcPct val="100000"/>
              </a:lnSpc>
              <a:spcBef>
                <a:spcPts val="1565"/>
              </a:spcBef>
            </a:pPr>
            <a:r>
              <a:rPr dirty="0" sz="1400" spc="-10">
                <a:latin typeface="Corbel"/>
                <a:cs typeface="Corbel"/>
              </a:rPr>
              <a:t>Tomatoes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1879" y="6518249"/>
            <a:ext cx="315341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Arial"/>
                <a:cs typeface="Arial"/>
                <a:hlinkClick r:id="rId2"/>
              </a:rPr>
              <a:t>http://www.linuxjournal.com/article/7714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2367" y="729361"/>
            <a:ext cx="10355199" cy="4340352"/>
          </a:xfrm>
          <a:prstGeom prst="rect">
            <a:avLst/>
          </a:prstGeom>
        </p:spPr>
      </p:pic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91211" y="190626"/>
            <a:ext cx="3022600" cy="847090"/>
          </a:xfrm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Docker</a:t>
            </a:r>
            <a:r>
              <a:rPr dirty="0" spc="-4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and</a:t>
            </a:r>
            <a:r>
              <a:rPr dirty="0" spc="-6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UnionFS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37849" y="2482790"/>
            <a:ext cx="6454150" cy="330311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91211" y="1236624"/>
            <a:ext cx="6303010" cy="2839720"/>
          </a:xfrm>
          <a:prstGeom prst="rect">
            <a:avLst/>
          </a:prstGeom>
        </p:spPr>
        <p:txBody>
          <a:bodyPr wrap="square" lIns="0" tIns="1270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dirty="0" sz="2200" spc="-10" b="1">
                <a:solidFill>
                  <a:srgbClr val="C00000"/>
                </a:solidFill>
                <a:latin typeface="Calibri"/>
                <a:cs typeface="Calibri"/>
              </a:rPr>
              <a:t>Incremental</a:t>
            </a:r>
            <a:r>
              <a:rPr dirty="0" sz="2200" spc="-2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200" spc="-10" b="1">
                <a:solidFill>
                  <a:srgbClr val="C00000"/>
                </a:solidFill>
                <a:latin typeface="Calibri"/>
                <a:cs typeface="Calibri"/>
              </a:rPr>
              <a:t>Images</a:t>
            </a:r>
            <a:endParaRPr sz="2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900"/>
              </a:spcBef>
              <a:buChar char="▪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Union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35">
                <a:latin typeface="Calibri"/>
                <a:cs typeface="Calibri"/>
              </a:rPr>
              <a:t>FS</a:t>
            </a:r>
            <a:endParaRPr sz="22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1125"/>
              </a:spcBef>
              <a:buFont typeface="Arial"/>
              <a:buChar char="•"/>
              <a:tabLst>
                <a:tab pos="733425" algn="l"/>
              </a:tabLst>
            </a:pPr>
            <a:r>
              <a:rPr dirty="0" sz="2200">
                <a:latin typeface="Calibri"/>
                <a:cs typeface="Calibri"/>
              </a:rPr>
              <a:t>Files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from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separate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(branches)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overlaid</a:t>
            </a:r>
            <a:endParaRPr sz="22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1135"/>
              </a:spcBef>
              <a:buFont typeface="Arial"/>
              <a:buChar char="•"/>
              <a:tabLst>
                <a:tab pos="733425" algn="l"/>
              </a:tabLst>
            </a:pPr>
            <a:r>
              <a:rPr dirty="0" sz="2200">
                <a:latin typeface="Calibri"/>
                <a:cs typeface="Calibri"/>
              </a:rPr>
              <a:t>Forming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single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coherent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35">
                <a:latin typeface="Calibri"/>
                <a:cs typeface="Calibri"/>
              </a:rPr>
              <a:t>FS</a:t>
            </a:r>
            <a:endParaRPr sz="22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1125"/>
              </a:spcBef>
              <a:buFont typeface="Arial"/>
              <a:buChar char="•"/>
              <a:tabLst>
                <a:tab pos="733425" algn="l"/>
              </a:tabLst>
            </a:pPr>
            <a:r>
              <a:rPr dirty="0" sz="2200">
                <a:latin typeface="Calibri"/>
                <a:cs typeface="Calibri"/>
              </a:rPr>
              <a:t>Branches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may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 </a:t>
            </a:r>
            <a:r>
              <a:rPr dirty="0" sz="2200" spc="-10">
                <a:latin typeface="Calibri"/>
                <a:cs typeface="Calibri"/>
              </a:rPr>
              <a:t>read-</a:t>
            </a:r>
            <a:r>
              <a:rPr dirty="0" sz="2200">
                <a:latin typeface="Calibri"/>
                <a:cs typeface="Calibri"/>
              </a:rPr>
              <a:t>only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read-write</a:t>
            </a:r>
            <a:endParaRPr sz="2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130"/>
              </a:spcBef>
              <a:buChar char="▪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Layers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1180" y="4126763"/>
            <a:ext cx="5163820" cy="26689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3380" marR="561975" indent="-361315">
              <a:lnSpc>
                <a:spcPct val="120000"/>
              </a:lnSpc>
              <a:spcBef>
                <a:spcPts val="100"/>
              </a:spcBef>
              <a:buFont typeface="Arial"/>
              <a:buChar char="•"/>
              <a:tabLst>
                <a:tab pos="373380" algn="l"/>
              </a:tabLst>
            </a:pPr>
            <a:r>
              <a:rPr dirty="0" sz="2200">
                <a:latin typeface="Calibri"/>
                <a:cs typeface="Calibri"/>
              </a:rPr>
              <a:t>Each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layer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mounted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top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prior layers</a:t>
            </a:r>
            <a:endParaRPr sz="2200">
              <a:latin typeface="Calibri"/>
              <a:cs typeface="Calibri"/>
            </a:endParaRPr>
          </a:p>
          <a:p>
            <a:pPr marL="373380" indent="-360680">
              <a:lnSpc>
                <a:spcPct val="100000"/>
              </a:lnSpc>
              <a:spcBef>
                <a:spcPts val="1125"/>
              </a:spcBef>
              <a:buFont typeface="Arial"/>
              <a:buChar char="•"/>
              <a:tabLst>
                <a:tab pos="373380" algn="l"/>
              </a:tabLst>
            </a:pPr>
            <a:r>
              <a:rPr dirty="0" sz="2200">
                <a:latin typeface="Calibri"/>
                <a:cs typeface="Calibri"/>
              </a:rPr>
              <a:t>First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layer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=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base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image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(scratch,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busybox,</a:t>
            </a:r>
            <a:endParaRPr sz="2200">
              <a:latin typeface="Calibri"/>
              <a:cs typeface="Calibri"/>
            </a:endParaRPr>
          </a:p>
          <a:p>
            <a:pPr marL="373380">
              <a:lnSpc>
                <a:spcPct val="100000"/>
              </a:lnSpc>
              <a:spcBef>
                <a:spcPts val="535"/>
              </a:spcBef>
            </a:pPr>
            <a:r>
              <a:rPr dirty="0" sz="2200">
                <a:latin typeface="Calibri"/>
                <a:cs typeface="Calibri"/>
              </a:rPr>
              <a:t>ubuntu,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…)</a:t>
            </a:r>
            <a:endParaRPr sz="2200">
              <a:latin typeface="Calibri"/>
              <a:cs typeface="Calibri"/>
            </a:endParaRPr>
          </a:p>
          <a:p>
            <a:pPr marL="373380" indent="-360680">
              <a:lnSpc>
                <a:spcPct val="100000"/>
              </a:lnSpc>
              <a:spcBef>
                <a:spcPts val="1125"/>
              </a:spcBef>
              <a:buFont typeface="Arial"/>
              <a:buChar char="•"/>
              <a:tabLst>
                <a:tab pos="373380" algn="l"/>
              </a:tabLst>
            </a:pP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10">
                <a:latin typeface="Calibri"/>
                <a:cs typeface="Calibri"/>
              </a:rPr>
              <a:t> read-</a:t>
            </a:r>
            <a:r>
              <a:rPr dirty="0" sz="2200">
                <a:latin typeface="Calibri"/>
                <a:cs typeface="Calibri"/>
              </a:rPr>
              <a:t>only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layer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=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image</a:t>
            </a:r>
            <a:endParaRPr sz="2200">
              <a:latin typeface="Calibri"/>
              <a:cs typeface="Calibri"/>
            </a:endParaRPr>
          </a:p>
          <a:p>
            <a:pPr marL="373380" indent="-360680">
              <a:lnSpc>
                <a:spcPct val="100000"/>
              </a:lnSpc>
              <a:spcBef>
                <a:spcPts val="1130"/>
              </a:spcBef>
              <a:buFont typeface="Arial"/>
              <a:buChar char="•"/>
              <a:tabLst>
                <a:tab pos="373380" algn="l"/>
              </a:tabLst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top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read-</a:t>
            </a:r>
            <a:r>
              <a:rPr dirty="0" sz="2200">
                <a:latin typeface="Calibri"/>
                <a:cs typeface="Calibri"/>
              </a:rPr>
              <a:t>write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layer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=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container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38670" y="6449059"/>
            <a:ext cx="51930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Arial"/>
                <a:cs typeface="Arial"/>
                <a:hlinkClick r:id="rId3"/>
              </a:rPr>
              <a:t>https://www.slideshare.net/cm13/introduction-to-docker-48784005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0842" y="223900"/>
            <a:ext cx="11431905" cy="631571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455"/>
              </a:spcBef>
            </a:pP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CLOUD</a:t>
            </a:r>
            <a:r>
              <a:rPr dirty="0" sz="2400" spc="-1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395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Weaknesses</a:t>
            </a:r>
            <a:r>
              <a:rPr dirty="0" sz="2400" spc="-2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of</a:t>
            </a:r>
            <a:r>
              <a:rPr dirty="0" sz="2400" spc="-4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Union</a:t>
            </a:r>
            <a:r>
              <a:rPr dirty="0" sz="2400" spc="-5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Filesystem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2400">
              <a:latin typeface="Arial"/>
              <a:cs typeface="Arial"/>
            </a:endParaRPr>
          </a:p>
          <a:p>
            <a:pPr marL="365125" indent="-342900">
              <a:lnSpc>
                <a:spcPct val="100000"/>
              </a:lnSpc>
              <a:spcBef>
                <a:spcPts val="5"/>
              </a:spcBef>
              <a:buChar char="▪"/>
              <a:tabLst>
                <a:tab pos="365125" algn="l"/>
              </a:tabLst>
            </a:pPr>
            <a:r>
              <a:rPr dirty="0" sz="2400">
                <a:latin typeface="Calibri"/>
                <a:cs typeface="Calibri"/>
              </a:rPr>
              <a:t>Different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filesystems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have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different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rules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about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attributes,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sizes,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names,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and</a:t>
            </a:r>
            <a:endParaRPr sz="2400">
              <a:latin typeface="Calibri"/>
              <a:cs typeface="Calibri"/>
            </a:endParaRPr>
          </a:p>
          <a:p>
            <a:pPr marL="365125">
              <a:lnSpc>
                <a:spcPct val="100000"/>
              </a:lnSpc>
              <a:spcBef>
                <a:spcPts val="575"/>
              </a:spcBef>
            </a:pPr>
            <a:r>
              <a:rPr dirty="0" sz="2400" spc="-10">
                <a:latin typeface="Calibri"/>
                <a:cs typeface="Calibri"/>
              </a:rPr>
              <a:t>characters.</a:t>
            </a:r>
            <a:endParaRPr sz="2400">
              <a:latin typeface="Calibri"/>
              <a:cs typeface="Calibri"/>
            </a:endParaRPr>
          </a:p>
          <a:p>
            <a:pPr algn="just" marL="362585" marR="5080" indent="-340360">
              <a:lnSpc>
                <a:spcPct val="120000"/>
              </a:lnSpc>
              <a:spcBef>
                <a:spcPts val="600"/>
              </a:spcBef>
              <a:buChar char="▪"/>
              <a:tabLst>
                <a:tab pos="365125" algn="l"/>
              </a:tabLst>
            </a:pPr>
            <a:r>
              <a:rPr dirty="0" sz="2400">
                <a:latin typeface="Calibri"/>
                <a:cs typeface="Calibri"/>
              </a:rPr>
              <a:t>Union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filesystems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position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where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they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often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need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translate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between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rules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different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filesystems.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best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cases,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they’re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able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provide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acceptable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translations.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worst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cases,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features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omitted.</a:t>
            </a:r>
            <a:endParaRPr sz="2400">
              <a:latin typeface="Calibri"/>
              <a:cs typeface="Calibri"/>
            </a:endParaRPr>
          </a:p>
          <a:p>
            <a:pPr algn="just" marL="362585" indent="-340360">
              <a:lnSpc>
                <a:spcPct val="100000"/>
              </a:lnSpc>
              <a:spcBef>
                <a:spcPts val="1175"/>
              </a:spcBef>
              <a:buChar char="▪"/>
              <a:tabLst>
                <a:tab pos="362585" algn="l"/>
              </a:tabLst>
            </a:pPr>
            <a:r>
              <a:rPr dirty="0" sz="2400">
                <a:latin typeface="Calibri"/>
                <a:cs typeface="Calibri"/>
              </a:rPr>
              <a:t>Union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filesystems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pattern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called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0" i="1">
                <a:latin typeface="Calibri"/>
                <a:cs typeface="Calibri"/>
              </a:rPr>
              <a:t>copy-on-</a:t>
            </a:r>
            <a:r>
              <a:rPr dirty="0" sz="2400" i="1">
                <a:latin typeface="Calibri"/>
                <a:cs typeface="Calibri"/>
              </a:rPr>
              <a:t>write,</a:t>
            </a:r>
            <a:r>
              <a:rPr dirty="0" sz="2400" spc="-35" i="1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and</a:t>
            </a:r>
            <a:r>
              <a:rPr dirty="0" sz="2400" spc="-40" i="1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that</a:t>
            </a:r>
            <a:r>
              <a:rPr dirty="0" sz="2400" spc="-45" i="1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makes</a:t>
            </a:r>
            <a:r>
              <a:rPr dirty="0" sz="2400" spc="-50" i="1">
                <a:latin typeface="Calibri"/>
                <a:cs typeface="Calibri"/>
              </a:rPr>
              <a:t> </a:t>
            </a:r>
            <a:r>
              <a:rPr dirty="0" sz="2400" spc="-10" i="1">
                <a:latin typeface="Calibri"/>
                <a:cs typeface="Calibri"/>
              </a:rPr>
              <a:t>implementing</a:t>
            </a:r>
            <a:endParaRPr sz="2400">
              <a:latin typeface="Calibri"/>
              <a:cs typeface="Calibri"/>
            </a:endParaRPr>
          </a:p>
          <a:p>
            <a:pPr algn="just" marL="365125">
              <a:lnSpc>
                <a:spcPct val="100000"/>
              </a:lnSpc>
              <a:spcBef>
                <a:spcPts val="580"/>
              </a:spcBef>
            </a:pPr>
            <a:r>
              <a:rPr dirty="0" sz="2400" spc="-10">
                <a:latin typeface="Calibri"/>
                <a:cs typeface="Calibri"/>
              </a:rPr>
              <a:t>memory-</a:t>
            </a:r>
            <a:r>
              <a:rPr dirty="0" sz="2400">
                <a:latin typeface="Calibri"/>
                <a:cs typeface="Calibri"/>
              </a:rPr>
              <a:t>mapped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files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(the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mmap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system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call)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difficult.</a:t>
            </a:r>
            <a:endParaRPr sz="2400">
              <a:latin typeface="Calibri"/>
              <a:cs typeface="Calibri"/>
            </a:endParaRPr>
          </a:p>
          <a:p>
            <a:pPr marL="365125" marR="626745" indent="-342900">
              <a:lnSpc>
                <a:spcPct val="120000"/>
              </a:lnSpc>
              <a:spcBef>
                <a:spcPts val="600"/>
              </a:spcBef>
              <a:buChar char="▪"/>
              <a:tabLst>
                <a:tab pos="365125" algn="l"/>
              </a:tabLst>
            </a:pPr>
            <a:r>
              <a:rPr dirty="0" sz="2400">
                <a:latin typeface="Calibri"/>
                <a:cs typeface="Calibri"/>
              </a:rPr>
              <a:t>Most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issues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arise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writing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union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filesystem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addressed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without </a:t>
            </a:r>
            <a:r>
              <a:rPr dirty="0" sz="2400">
                <a:latin typeface="Calibri"/>
                <a:cs typeface="Calibri"/>
              </a:rPr>
              <a:t>changing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storage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provider.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These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solved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volumes</a:t>
            </a:r>
            <a:endParaRPr sz="2400">
              <a:latin typeface="Calibri"/>
              <a:cs typeface="Calibri"/>
            </a:endParaRPr>
          </a:p>
          <a:p>
            <a:pPr marL="365125" indent="-342900">
              <a:lnSpc>
                <a:spcPct val="100000"/>
              </a:lnSpc>
              <a:spcBef>
                <a:spcPts val="1175"/>
              </a:spcBef>
              <a:buChar char="▪"/>
              <a:tabLst>
                <a:tab pos="365125" algn="l"/>
              </a:tabLst>
            </a:pP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union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filesystem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not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appropriate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working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long-</a:t>
            </a:r>
            <a:r>
              <a:rPr dirty="0" sz="2400">
                <a:latin typeface="Calibri"/>
                <a:cs typeface="Calibri"/>
              </a:rPr>
              <a:t>lived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data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sharing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data</a:t>
            </a:r>
            <a:endParaRPr sz="2400">
              <a:latin typeface="Calibri"/>
              <a:cs typeface="Calibri"/>
            </a:endParaRPr>
          </a:p>
          <a:p>
            <a:pPr marL="365125">
              <a:lnSpc>
                <a:spcPct val="100000"/>
              </a:lnSpc>
              <a:spcBef>
                <a:spcPts val="580"/>
              </a:spcBef>
            </a:pPr>
            <a:r>
              <a:rPr dirty="0" sz="2400">
                <a:latin typeface="Calibri"/>
                <a:cs typeface="Calibri"/>
              </a:rPr>
              <a:t>between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containers,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container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host.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0842" y="223900"/>
            <a:ext cx="10754995" cy="4756785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455"/>
              </a:spcBef>
            </a:pP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CLOUD</a:t>
            </a:r>
            <a:r>
              <a:rPr dirty="0" sz="2400" spc="-1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395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Summary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95"/>
              </a:spcBef>
            </a:pPr>
            <a:endParaRPr sz="2400">
              <a:latin typeface="Arial"/>
              <a:cs typeface="Arial"/>
            </a:endParaRPr>
          </a:p>
          <a:p>
            <a:pPr marL="469265" indent="-342265">
              <a:lnSpc>
                <a:spcPct val="100000"/>
              </a:lnSpc>
              <a:spcBef>
                <a:spcPts val="5"/>
              </a:spcBef>
              <a:buSzPct val="75000"/>
              <a:buFont typeface="Arial"/>
              <a:buChar char="•"/>
              <a:tabLst>
                <a:tab pos="469265" algn="l"/>
              </a:tabLst>
            </a:pPr>
            <a:r>
              <a:rPr dirty="0" sz="2400">
                <a:latin typeface="Calibri"/>
                <a:cs typeface="Calibri"/>
              </a:rPr>
              <a:t>Use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namespaces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controlling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resource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access</a:t>
            </a:r>
            <a:endParaRPr sz="2400">
              <a:latin typeface="Calibri"/>
              <a:cs typeface="Calibri"/>
            </a:endParaRPr>
          </a:p>
          <a:p>
            <a:pPr lvl="1" marL="926465" marR="5080" indent="-342900">
              <a:lnSpc>
                <a:spcPct val="120000"/>
              </a:lnSpc>
              <a:spcBef>
                <a:spcPts val="600"/>
              </a:spcBef>
              <a:buSzPct val="75000"/>
              <a:buFont typeface="Arial"/>
              <a:buChar char="•"/>
              <a:tabLst>
                <a:tab pos="926465" algn="l"/>
              </a:tabLst>
            </a:pPr>
            <a:r>
              <a:rPr dirty="0" sz="2400">
                <a:latin typeface="Calibri"/>
                <a:cs typeface="Calibri"/>
              </a:rPr>
              <a:t>Docker</a:t>
            </a:r>
            <a:r>
              <a:rPr dirty="0" sz="2400" spc="4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has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developed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their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own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namespace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technology</a:t>
            </a:r>
            <a:r>
              <a:rPr dirty="0" sz="2400" spc="409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called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namespaces</a:t>
            </a:r>
            <a:r>
              <a:rPr dirty="0" sz="2400" spc="-40" b="1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to </a:t>
            </a:r>
            <a:r>
              <a:rPr dirty="0" sz="2400">
                <a:latin typeface="Calibri"/>
                <a:cs typeface="Calibri"/>
              </a:rPr>
              <a:t>provide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isolated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workspace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called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container.</a:t>
            </a:r>
            <a:endParaRPr sz="2400">
              <a:latin typeface="Calibri"/>
              <a:cs typeface="Calibri"/>
            </a:endParaRPr>
          </a:p>
          <a:p>
            <a:pPr lvl="1" marL="926465" indent="-342265">
              <a:lnSpc>
                <a:spcPct val="100000"/>
              </a:lnSpc>
              <a:spcBef>
                <a:spcPts val="1175"/>
              </a:spcBef>
              <a:buSzPct val="75000"/>
              <a:buFont typeface="Arial"/>
              <a:buChar char="•"/>
              <a:tabLst>
                <a:tab pos="926465" algn="l"/>
              </a:tabLst>
            </a:pPr>
            <a:r>
              <a:rPr dirty="0" sz="2400">
                <a:latin typeface="Calibri"/>
                <a:cs typeface="Calibri"/>
              </a:rPr>
              <a:t>When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you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run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container,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Docker</a:t>
            </a:r>
            <a:r>
              <a:rPr dirty="0" sz="2400" spc="-55" b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creates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set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namespaces</a:t>
            </a:r>
            <a:r>
              <a:rPr dirty="0" sz="2400" spc="-25" b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that</a:t>
            </a:r>
            <a:endParaRPr sz="2400">
              <a:latin typeface="Calibri"/>
              <a:cs typeface="Calibri"/>
            </a:endParaRPr>
          </a:p>
          <a:p>
            <a:pPr marL="926465">
              <a:lnSpc>
                <a:spcPct val="100000"/>
              </a:lnSpc>
              <a:spcBef>
                <a:spcPts val="580"/>
              </a:spcBef>
            </a:pPr>
            <a:r>
              <a:rPr dirty="0" sz="2400" spc="-10">
                <a:latin typeface="Calibri"/>
                <a:cs typeface="Calibri"/>
              </a:rPr>
              <a:t>container.</a:t>
            </a:r>
            <a:endParaRPr sz="2400">
              <a:latin typeface="Calibri"/>
              <a:cs typeface="Calibri"/>
            </a:endParaRPr>
          </a:p>
          <a:p>
            <a:pPr lvl="1" marL="926465" indent="-342265">
              <a:lnSpc>
                <a:spcPct val="100000"/>
              </a:lnSpc>
              <a:spcBef>
                <a:spcPts val="1175"/>
              </a:spcBef>
              <a:buSzPct val="75000"/>
              <a:buFont typeface="Arial"/>
              <a:buChar char="•"/>
              <a:tabLst>
                <a:tab pos="926465" algn="l"/>
              </a:tabLst>
            </a:pPr>
            <a:r>
              <a:rPr dirty="0" sz="2400">
                <a:latin typeface="Calibri"/>
                <a:cs typeface="Calibri"/>
              </a:rPr>
              <a:t>These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namespaces</a:t>
            </a:r>
            <a:r>
              <a:rPr dirty="0" sz="2400" spc="-50" b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provide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layer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isolation.</a:t>
            </a:r>
            <a:endParaRPr sz="2400">
              <a:latin typeface="Calibri"/>
              <a:cs typeface="Calibri"/>
            </a:endParaRPr>
          </a:p>
          <a:p>
            <a:pPr marL="469265" indent="-342265">
              <a:lnSpc>
                <a:spcPct val="100000"/>
              </a:lnSpc>
              <a:spcBef>
                <a:spcPts val="1180"/>
              </a:spcBef>
              <a:buSzPct val="75000"/>
              <a:buFont typeface="Arial"/>
              <a:buChar char="•"/>
              <a:tabLst>
                <a:tab pos="469265" algn="l"/>
              </a:tabLst>
            </a:pPr>
            <a:r>
              <a:rPr dirty="0" sz="2400">
                <a:latin typeface="Calibri"/>
                <a:cs typeface="Calibri"/>
              </a:rPr>
              <a:t>Use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cgroups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resource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sharing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455"/>
              </a:spcBef>
            </a:pPr>
            <a:r>
              <a:rPr dirty="0">
                <a:solidFill>
                  <a:srgbClr val="2E5395"/>
                </a:solidFill>
              </a:rPr>
              <a:t>CLOUD</a:t>
            </a:r>
            <a:r>
              <a:rPr dirty="0" spc="-15">
                <a:solidFill>
                  <a:srgbClr val="2E5395"/>
                </a:solidFill>
              </a:rPr>
              <a:t> </a:t>
            </a:r>
            <a:r>
              <a:rPr dirty="0" spc="-10">
                <a:solidFill>
                  <a:srgbClr val="2E5395"/>
                </a:solidFill>
              </a:rPr>
              <a:t>COMPUTING</a:t>
            </a:r>
          </a:p>
          <a:p>
            <a:pPr marL="201295">
              <a:lnSpc>
                <a:spcPct val="100000"/>
              </a:lnSpc>
              <a:spcBef>
                <a:spcPts val="355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Container</a:t>
            </a:r>
            <a:r>
              <a:rPr dirty="0" spc="-7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Software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97891" y="1572539"/>
            <a:ext cx="3483610" cy="4050029"/>
          </a:xfrm>
          <a:prstGeom prst="rect">
            <a:avLst/>
          </a:prstGeom>
        </p:spPr>
        <p:txBody>
          <a:bodyPr wrap="square" lIns="0" tIns="180340" rIns="0" bIns="0" rtlCol="0" vert="horz">
            <a:spAutoFit/>
          </a:bodyPr>
          <a:lstStyle/>
          <a:p>
            <a:pPr marL="414655" indent="-401955">
              <a:lnSpc>
                <a:spcPct val="100000"/>
              </a:lnSpc>
              <a:spcBef>
                <a:spcPts val="1420"/>
              </a:spcBef>
              <a:buAutoNum type="arabicPeriod"/>
              <a:tabLst>
                <a:tab pos="414655" algn="l"/>
              </a:tabLst>
            </a:pPr>
            <a:r>
              <a:rPr dirty="0" sz="2200" spc="-10" b="1">
                <a:latin typeface="Calibri"/>
                <a:cs typeface="Calibri"/>
              </a:rPr>
              <a:t>Docker</a:t>
            </a:r>
            <a:endParaRPr sz="2200">
              <a:latin typeface="Calibri"/>
              <a:cs typeface="Calibri"/>
            </a:endParaRPr>
          </a:p>
          <a:p>
            <a:pPr marL="414655" indent="-401955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414655" algn="l"/>
              </a:tabLst>
            </a:pPr>
            <a:r>
              <a:rPr dirty="0" sz="2200" b="1">
                <a:latin typeface="Calibri"/>
                <a:cs typeface="Calibri"/>
              </a:rPr>
              <a:t>AWS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Fargate</a:t>
            </a:r>
            <a:endParaRPr sz="2200">
              <a:latin typeface="Calibri"/>
              <a:cs typeface="Calibri"/>
            </a:endParaRPr>
          </a:p>
          <a:p>
            <a:pPr marL="414655" indent="-401955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414655" algn="l"/>
              </a:tabLst>
            </a:pPr>
            <a:r>
              <a:rPr dirty="0" sz="2200" b="1">
                <a:latin typeface="Calibri"/>
                <a:cs typeface="Calibri"/>
              </a:rPr>
              <a:t>Google</a:t>
            </a:r>
            <a:r>
              <a:rPr dirty="0" sz="2200" spc="-7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Kubernetes</a:t>
            </a:r>
            <a:r>
              <a:rPr dirty="0" sz="2200" spc="-55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Engine</a:t>
            </a:r>
            <a:endParaRPr sz="2200">
              <a:latin typeface="Calibri"/>
              <a:cs typeface="Calibri"/>
            </a:endParaRPr>
          </a:p>
          <a:p>
            <a:pPr marL="414655" indent="-401955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414655" algn="l"/>
              </a:tabLst>
            </a:pPr>
            <a:r>
              <a:rPr dirty="0" sz="2200" b="1">
                <a:latin typeface="Calibri"/>
                <a:cs typeface="Calibri"/>
              </a:rPr>
              <a:t>Amazon</a:t>
            </a:r>
            <a:r>
              <a:rPr dirty="0" sz="2200" spc="-70" b="1">
                <a:latin typeface="Calibri"/>
                <a:cs typeface="Calibri"/>
              </a:rPr>
              <a:t> </a:t>
            </a:r>
            <a:r>
              <a:rPr dirty="0" sz="2200" spc="-25" b="1">
                <a:latin typeface="Calibri"/>
                <a:cs typeface="Calibri"/>
              </a:rPr>
              <a:t>ECS</a:t>
            </a:r>
            <a:endParaRPr sz="2200">
              <a:latin typeface="Calibri"/>
              <a:cs typeface="Calibri"/>
            </a:endParaRPr>
          </a:p>
          <a:p>
            <a:pPr marL="414655" indent="-401955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414655" algn="l"/>
              </a:tabLst>
            </a:pPr>
            <a:r>
              <a:rPr dirty="0" sz="2200" spc="-25" b="1">
                <a:latin typeface="Calibri"/>
                <a:cs typeface="Calibri"/>
              </a:rPr>
              <a:t>LXC</a:t>
            </a:r>
            <a:endParaRPr sz="2200">
              <a:latin typeface="Calibri"/>
              <a:cs typeface="Calibri"/>
            </a:endParaRPr>
          </a:p>
          <a:p>
            <a:pPr marL="414655" indent="-401955">
              <a:lnSpc>
                <a:spcPct val="100000"/>
              </a:lnSpc>
              <a:spcBef>
                <a:spcPts val="1325"/>
              </a:spcBef>
              <a:buAutoNum type="arabicPeriod"/>
              <a:tabLst>
                <a:tab pos="414655" algn="l"/>
              </a:tabLst>
            </a:pPr>
            <a:r>
              <a:rPr dirty="0" sz="2200" b="1">
                <a:latin typeface="Calibri"/>
                <a:cs typeface="Calibri"/>
              </a:rPr>
              <a:t>Microsoft</a:t>
            </a:r>
            <a:r>
              <a:rPr dirty="0" sz="2200" spc="-80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Azure</a:t>
            </a:r>
            <a:endParaRPr sz="2200">
              <a:latin typeface="Calibri"/>
              <a:cs typeface="Calibri"/>
            </a:endParaRPr>
          </a:p>
          <a:p>
            <a:pPr marL="414655" indent="-401955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414655" algn="l"/>
              </a:tabLst>
            </a:pPr>
            <a:r>
              <a:rPr dirty="0" sz="2200" b="1">
                <a:latin typeface="Calibri"/>
                <a:cs typeface="Calibri"/>
              </a:rPr>
              <a:t>Google</a:t>
            </a:r>
            <a:r>
              <a:rPr dirty="0" sz="2200" spc="-5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Cloud</a:t>
            </a:r>
            <a:r>
              <a:rPr dirty="0" sz="2200" spc="-70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Platform</a:t>
            </a:r>
            <a:endParaRPr sz="2200">
              <a:latin typeface="Calibri"/>
              <a:cs typeface="Calibri"/>
            </a:endParaRPr>
          </a:p>
          <a:p>
            <a:pPr marL="414655" indent="-401955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414655" algn="l"/>
              </a:tabLst>
            </a:pPr>
            <a:r>
              <a:rPr dirty="0" sz="2200" b="1">
                <a:latin typeface="Calibri"/>
                <a:cs typeface="Calibri"/>
              </a:rPr>
              <a:t>Core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spc="-25" b="1">
                <a:latin typeface="Calibri"/>
                <a:cs typeface="Calibri"/>
              </a:rPr>
              <a:t>OS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5" name="object 5" descr="Application Container Market Size | Global Industry Report, 2019-20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83076" y="1786001"/>
            <a:ext cx="8408797" cy="4602099"/>
          </a:xfrm>
          <a:prstGeom prst="rect">
            <a:avLst/>
          </a:prstGeom>
        </p:spPr>
      </p:pic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0842" y="223900"/>
            <a:ext cx="10358755" cy="5211445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455"/>
              </a:spcBef>
            </a:pP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CLOUD</a:t>
            </a:r>
            <a:r>
              <a:rPr dirty="0" sz="2400" spc="-1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395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Additional</a:t>
            </a:r>
            <a:r>
              <a:rPr dirty="0" sz="2400" spc="-7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References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870"/>
              </a:lnSpc>
              <a:spcBef>
                <a:spcPts val="2695"/>
              </a:spcBef>
            </a:pPr>
            <a:r>
              <a:rPr dirty="0" sz="2400">
                <a:latin typeface="Calibri"/>
                <a:cs typeface="Calibri"/>
              </a:rPr>
              <a:t>Containers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VMs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870"/>
              </a:lnSpc>
            </a:pPr>
            <a:r>
              <a:rPr dirty="0" u="sng" sz="24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https://www.redhat.com/en/topics/containers/containers-</a:t>
            </a:r>
            <a:r>
              <a:rPr dirty="0" u="sng" sz="2400" spc="-25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vs-vms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870"/>
              </a:lnSpc>
              <a:spcBef>
                <a:spcPts val="2905"/>
              </a:spcBef>
            </a:pPr>
            <a:r>
              <a:rPr dirty="0" sz="2400">
                <a:latin typeface="Calibri"/>
                <a:cs typeface="Calibri"/>
              </a:rPr>
              <a:t>Docker</a:t>
            </a:r>
            <a:r>
              <a:rPr dirty="0" sz="2400" spc="-10">
                <a:latin typeface="Calibri"/>
                <a:cs typeface="Calibri"/>
              </a:rPr>
              <a:t> container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870"/>
              </a:lnSpc>
            </a:pPr>
            <a:r>
              <a:rPr dirty="0" u="sng" sz="24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3"/>
              </a:rPr>
              <a:t>https://www.simplilearn.com/tutorials/docker-tutorial/what-is-docker-container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400" spc="-10">
                <a:latin typeface="Calibri"/>
                <a:cs typeface="Calibri"/>
                <a:hlinkClick r:id="rId4"/>
              </a:rPr>
              <a:t>https://www.xda-</a:t>
            </a:r>
            <a:r>
              <a:rPr dirty="0" sz="2400" spc="-20">
                <a:latin typeface="Calibri"/>
                <a:cs typeface="Calibri"/>
                <a:hlinkClick r:id="rId4"/>
              </a:rPr>
              <a:t>developers.com/best-</a:t>
            </a:r>
            <a:r>
              <a:rPr dirty="0" sz="2400" spc="-10">
                <a:latin typeface="Calibri"/>
                <a:cs typeface="Calibri"/>
                <a:hlinkClick r:id="rId4"/>
              </a:rPr>
              <a:t>docker-containers-</a:t>
            </a:r>
            <a:r>
              <a:rPr dirty="0" sz="2400" spc="-20">
                <a:latin typeface="Calibri"/>
                <a:cs typeface="Calibri"/>
                <a:hlinkClick r:id="rId4"/>
              </a:rPr>
              <a:t>for-</a:t>
            </a:r>
            <a:r>
              <a:rPr dirty="0" sz="2400" spc="-10">
                <a:latin typeface="Calibri"/>
                <a:cs typeface="Calibri"/>
                <a:hlinkClick r:id="rId4"/>
              </a:rPr>
              <a:t>developers/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2400">
              <a:latin typeface="Calibri"/>
              <a:cs typeface="Calibri"/>
            </a:endParaRPr>
          </a:p>
          <a:p>
            <a:pPr marL="12700" marR="4502150">
              <a:lnSpc>
                <a:spcPts val="2860"/>
              </a:lnSpc>
              <a:spcBef>
                <a:spcPts val="5"/>
              </a:spcBef>
            </a:pPr>
            <a:r>
              <a:rPr dirty="0" sz="2400" spc="-10">
                <a:latin typeface="Calibri"/>
                <a:cs typeface="Calibri"/>
              </a:rPr>
              <a:t>Understanding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Linux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containers </a:t>
            </a:r>
            <a:r>
              <a:rPr dirty="0" u="sng" sz="24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5"/>
              </a:rPr>
              <a:t>https://www.redhat.com/en/topics/containers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ts val="2880"/>
              </a:lnSpc>
            </a:pPr>
            <a:r>
              <a:rPr dirty="0" u="sng" sz="24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6"/>
              </a:rPr>
              <a:t>https://www.cio.com/article/2924995/what-</a:t>
            </a:r>
            <a:r>
              <a:rPr dirty="0" u="sng" sz="2400" spc="-2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6"/>
              </a:rPr>
              <a:t>are-</a:t>
            </a:r>
            <a:r>
              <a:rPr dirty="0" u="sng" sz="24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6"/>
              </a:rPr>
              <a:t>containers-</a:t>
            </a:r>
            <a:r>
              <a:rPr dirty="0" u="sng" sz="2400" spc="-2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6"/>
              </a:rPr>
              <a:t>and-</a:t>
            </a:r>
            <a:r>
              <a:rPr dirty="0" u="sng" sz="24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6"/>
              </a:rPr>
              <a:t>why-do-you-</a:t>
            </a:r>
            <a:r>
              <a:rPr dirty="0" u="sng" sz="240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6"/>
              </a:rPr>
              <a:t>need-</a:t>
            </a:r>
            <a:r>
              <a:rPr dirty="0" u="sng" sz="24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6"/>
              </a:rPr>
              <a:t>them.html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86029" y="223900"/>
            <a:ext cx="10766425" cy="635508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299085">
              <a:lnSpc>
                <a:spcPct val="100000"/>
              </a:lnSpc>
              <a:spcBef>
                <a:spcPts val="455"/>
              </a:spcBef>
            </a:pPr>
            <a:r>
              <a:rPr dirty="0" sz="2400" b="1">
                <a:solidFill>
                  <a:srgbClr val="2E5395"/>
                </a:solidFill>
                <a:latin typeface="Calibri"/>
                <a:cs typeface="Calibri"/>
              </a:rPr>
              <a:t>CLOUD</a:t>
            </a:r>
            <a:r>
              <a:rPr dirty="0" sz="2400" spc="-1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395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267335">
              <a:lnSpc>
                <a:spcPct val="100000"/>
              </a:lnSpc>
              <a:spcBef>
                <a:spcPts val="355"/>
              </a:spcBef>
            </a:pP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Additional</a:t>
            </a:r>
            <a:r>
              <a:rPr dirty="0" sz="2400" spc="-7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Reading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15"/>
              </a:spcBef>
            </a:pPr>
            <a:endParaRPr sz="2400">
              <a:latin typeface="Arial"/>
              <a:cs typeface="Arial"/>
            </a:endParaRPr>
          </a:p>
          <a:p>
            <a:pPr marL="461645" marR="5080" indent="-360045">
              <a:lnSpc>
                <a:spcPct val="120100"/>
              </a:lnSpc>
              <a:buFont typeface="Arial"/>
              <a:buChar char="•"/>
              <a:tabLst>
                <a:tab pos="461645" algn="l"/>
              </a:tabLst>
            </a:pPr>
            <a:r>
              <a:rPr dirty="0" u="sng" sz="240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https://access.redhat.com/documentation/en-</a:t>
            </a:r>
            <a:r>
              <a:rPr dirty="0" u="sng" sz="240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US/Red_Hat_Enterprise_Linux/6/html/Resource_Management_Guide/sec-</a:t>
            </a:r>
            <a:r>
              <a:rPr dirty="0" u="sng" sz="24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Relationships_Between_Subsystems_Hierarchies_Control_Groups_and_Tasks.html</a:t>
            </a:r>
            <a:endParaRPr sz="2400">
              <a:latin typeface="Calibri"/>
              <a:cs typeface="Calibri"/>
            </a:endParaRPr>
          </a:p>
          <a:p>
            <a:pPr marL="461009" indent="-359410">
              <a:lnSpc>
                <a:spcPct val="100000"/>
              </a:lnSpc>
              <a:spcBef>
                <a:spcPts val="1180"/>
              </a:spcBef>
              <a:buFont typeface="Arial"/>
              <a:buChar char="•"/>
              <a:tabLst>
                <a:tab pos="461009" algn="l"/>
              </a:tabLst>
            </a:pPr>
            <a:r>
              <a:rPr dirty="0" sz="2400" spc="-10">
                <a:latin typeface="Calibri"/>
                <a:cs typeface="Calibri"/>
                <a:hlinkClick r:id="rId3"/>
              </a:rPr>
              <a:t>https://en.wikipedia.org/wiki/Cgroups</a:t>
            </a:r>
            <a:endParaRPr sz="2400">
              <a:latin typeface="Calibri"/>
              <a:cs typeface="Calibri"/>
            </a:endParaRPr>
          </a:p>
          <a:p>
            <a:pPr marL="407034" indent="-342900">
              <a:lnSpc>
                <a:spcPct val="100000"/>
              </a:lnSpc>
              <a:spcBef>
                <a:spcPts val="1830"/>
              </a:spcBef>
              <a:buClr>
                <a:srgbClr val="000000"/>
              </a:buClr>
              <a:buSzPct val="75000"/>
              <a:buFont typeface="Arial"/>
              <a:buChar char="•"/>
              <a:tabLst>
                <a:tab pos="407034" algn="l"/>
              </a:tabLst>
            </a:pPr>
            <a:r>
              <a:rPr dirty="0" u="sng" sz="24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https://www.youtube.com/watch?v=sK5i-N34im8</a:t>
            </a:r>
            <a:endParaRPr sz="2400">
              <a:latin typeface="Calibri"/>
              <a:cs typeface="Calibri"/>
            </a:endParaRPr>
          </a:p>
          <a:p>
            <a:pPr lvl="1" marL="864235" marR="357505" indent="-342900">
              <a:lnSpc>
                <a:spcPts val="2590"/>
              </a:lnSpc>
              <a:spcBef>
                <a:spcPts val="530"/>
              </a:spcBef>
              <a:buSzPct val="75000"/>
              <a:buFont typeface="Arial"/>
              <a:buChar char="•"/>
              <a:tabLst>
                <a:tab pos="864235" algn="l"/>
              </a:tabLst>
            </a:pPr>
            <a:r>
              <a:rPr dirty="0" sz="2400">
                <a:latin typeface="Calibri"/>
                <a:cs typeface="Calibri"/>
              </a:rPr>
              <a:t>Cgroups,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namespaces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beyond: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What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containers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made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from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–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Jerome </a:t>
            </a:r>
            <a:r>
              <a:rPr dirty="0" sz="2400">
                <a:latin typeface="Calibri"/>
                <a:cs typeface="Calibri"/>
              </a:rPr>
              <a:t>Pettazzoni,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Docker</a:t>
            </a:r>
            <a:endParaRPr sz="2400">
              <a:latin typeface="Calibri"/>
              <a:cs typeface="Calibri"/>
            </a:endParaRPr>
          </a:p>
          <a:p>
            <a:pPr marL="521334">
              <a:lnSpc>
                <a:spcPct val="100000"/>
              </a:lnSpc>
              <a:spcBef>
                <a:spcPts val="185"/>
              </a:spcBef>
            </a:pPr>
            <a:r>
              <a:rPr dirty="0" sz="2400" spc="-10">
                <a:latin typeface="Calibri"/>
                <a:cs typeface="Calibri"/>
                <a:hlinkClick r:id="rId5"/>
              </a:rPr>
              <a:t>https://www.youtube.com/watch?v=nXV6qihj5uw</a:t>
            </a:r>
            <a:endParaRPr sz="2400">
              <a:latin typeface="Calibri"/>
              <a:cs typeface="Calibri"/>
            </a:endParaRPr>
          </a:p>
          <a:p>
            <a:pPr marL="372110" marR="95250" indent="-360045">
              <a:lnSpc>
                <a:spcPct val="120000"/>
              </a:lnSpc>
              <a:spcBef>
                <a:spcPts val="800"/>
              </a:spcBef>
              <a:buFont typeface="Arial"/>
              <a:buChar char="•"/>
              <a:tabLst>
                <a:tab pos="372110" algn="l"/>
              </a:tabLst>
            </a:pPr>
            <a:r>
              <a:rPr dirty="0" u="sng" sz="240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https://access.redhat.com/documentation/en-</a:t>
            </a:r>
            <a:r>
              <a:rPr dirty="0" u="sng" sz="240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US/Red_Hat_Enterprise_Linux/6/html/Resource_Management_Guide/sec-</a:t>
            </a:r>
            <a:r>
              <a:rPr dirty="0" u="sng" sz="24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Relationships_Between_Subsystems_Hierarchies_Control_Groups_and_Tasks.html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765409" y="349516"/>
            <a:ext cx="1067435" cy="1078230"/>
          </a:xfrm>
          <a:custGeom>
            <a:avLst/>
            <a:gdLst/>
            <a:ahLst/>
            <a:cxnLst/>
            <a:rect l="l" t="t" r="r" b="b"/>
            <a:pathLst>
              <a:path w="1067434" h="1078230">
                <a:moveTo>
                  <a:pt x="1066901" y="0"/>
                </a:moveTo>
                <a:lnTo>
                  <a:pt x="0" y="0"/>
                </a:lnTo>
                <a:lnTo>
                  <a:pt x="0" y="45707"/>
                </a:lnTo>
                <a:lnTo>
                  <a:pt x="1021080" y="45707"/>
                </a:lnTo>
                <a:lnTo>
                  <a:pt x="1021080" y="1078090"/>
                </a:lnTo>
                <a:lnTo>
                  <a:pt x="1066787" y="1078090"/>
                </a:lnTo>
                <a:lnTo>
                  <a:pt x="1066787" y="45707"/>
                </a:lnTo>
                <a:lnTo>
                  <a:pt x="1066901" y="0"/>
                </a:lnTo>
                <a:close/>
              </a:path>
            </a:pathLst>
          </a:custGeom>
          <a:solidFill>
            <a:srgbClr val="F4AF8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A logo for a university  Description automatically generated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0614" y="1172591"/>
            <a:ext cx="2461497" cy="3997071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367276" y="2089784"/>
            <a:ext cx="274256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C55A11"/>
                </a:solidFill>
                <a:latin typeface="Arial"/>
                <a:cs typeface="Arial"/>
              </a:rPr>
              <a:t>THANK</a:t>
            </a:r>
            <a:r>
              <a:rPr dirty="0" sz="3600" spc="-14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3600" spc="-25">
                <a:solidFill>
                  <a:srgbClr val="C55A11"/>
                </a:solidFill>
                <a:latin typeface="Arial"/>
                <a:cs typeface="Arial"/>
              </a:rPr>
              <a:t>YOU</a:t>
            </a:r>
            <a:endParaRPr sz="3600">
              <a:latin typeface="Arial"/>
              <a:cs typeface="Arial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4287901" y="2887345"/>
            <a:ext cx="4581525" cy="0"/>
          </a:xfrm>
          <a:custGeom>
            <a:avLst/>
            <a:gdLst/>
            <a:ahLst/>
            <a:cxnLst/>
            <a:rect l="l" t="t" r="r" b="b"/>
            <a:pathLst>
              <a:path w="4581525" h="0">
                <a:moveTo>
                  <a:pt x="0" y="0"/>
                </a:moveTo>
                <a:lnTo>
                  <a:pt x="4581525" y="0"/>
                </a:lnTo>
              </a:path>
            </a:pathLst>
          </a:custGeom>
          <a:ln w="38100">
            <a:solidFill>
              <a:srgbClr val="DFA1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367276" y="3221591"/>
            <a:ext cx="5217160" cy="123380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z="2400" b="1">
                <a:latin typeface="Calibri"/>
                <a:cs typeface="Calibri"/>
              </a:rPr>
              <a:t>Prafullata</a:t>
            </a:r>
            <a:r>
              <a:rPr dirty="0" sz="2400" spc="-3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Kiran</a:t>
            </a:r>
            <a:r>
              <a:rPr dirty="0" sz="2400" spc="-2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Auradkar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2000">
                <a:latin typeface="Calibri"/>
                <a:cs typeface="Calibri"/>
              </a:rPr>
              <a:t>Department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Computer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Science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Engineering</a:t>
            </a:r>
            <a:endParaRPr sz="2000">
              <a:latin typeface="Calibri"/>
              <a:cs typeface="Calibri"/>
            </a:endParaRPr>
          </a:p>
          <a:p>
            <a:pPr marL="24765">
              <a:lnSpc>
                <a:spcPct val="100000"/>
              </a:lnSpc>
              <a:spcBef>
                <a:spcPts val="745"/>
              </a:spcBef>
            </a:pPr>
            <a:r>
              <a:rPr dirty="0" sz="2400" spc="-10" b="1">
                <a:latin typeface="Calibri"/>
                <a:cs typeface="Calibri"/>
                <a:hlinkClick r:id="rId2"/>
              </a:rPr>
              <a:t>prafullatak@pes.edu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3842" y="5489702"/>
            <a:ext cx="1067435" cy="1078230"/>
          </a:xfrm>
          <a:custGeom>
            <a:avLst/>
            <a:gdLst/>
            <a:ahLst/>
            <a:cxnLst/>
            <a:rect l="l" t="t" r="r" b="b"/>
            <a:pathLst>
              <a:path w="1067435" h="1078229">
                <a:moveTo>
                  <a:pt x="1066888" y="1032446"/>
                </a:moveTo>
                <a:lnTo>
                  <a:pt x="45707" y="1032446"/>
                </a:lnTo>
                <a:lnTo>
                  <a:pt x="45707" y="0"/>
                </a:lnTo>
                <a:lnTo>
                  <a:pt x="0" y="0"/>
                </a:lnTo>
                <a:lnTo>
                  <a:pt x="0" y="1032446"/>
                </a:lnTo>
                <a:lnTo>
                  <a:pt x="0" y="1066888"/>
                </a:lnTo>
                <a:lnTo>
                  <a:pt x="0" y="1078153"/>
                </a:lnTo>
                <a:lnTo>
                  <a:pt x="1066888" y="1078153"/>
                </a:lnTo>
                <a:lnTo>
                  <a:pt x="1066888" y="1032446"/>
                </a:lnTo>
                <a:close/>
              </a:path>
            </a:pathLst>
          </a:custGeom>
          <a:solidFill>
            <a:srgbClr val="F4AF81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10855452" y="266699"/>
            <a:ext cx="1066800" cy="1077595"/>
          </a:xfrm>
          <a:custGeom>
            <a:avLst/>
            <a:gdLst/>
            <a:ahLst/>
            <a:cxnLst/>
            <a:rect l="l" t="t" r="r" b="b"/>
            <a:pathLst>
              <a:path w="1066800" h="1077595">
                <a:moveTo>
                  <a:pt x="1066800" y="0"/>
                </a:moveTo>
                <a:lnTo>
                  <a:pt x="0" y="0"/>
                </a:lnTo>
                <a:lnTo>
                  <a:pt x="0" y="45720"/>
                </a:lnTo>
                <a:lnTo>
                  <a:pt x="1021080" y="45720"/>
                </a:lnTo>
                <a:lnTo>
                  <a:pt x="1021080" y="1077468"/>
                </a:lnTo>
                <a:lnTo>
                  <a:pt x="1066800" y="1077468"/>
                </a:lnTo>
                <a:lnTo>
                  <a:pt x="1066800" y="45720"/>
                </a:lnTo>
                <a:lnTo>
                  <a:pt x="1066800" y="10668"/>
                </a:lnTo>
                <a:lnTo>
                  <a:pt x="1066800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A logo for a university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3580" y="1171955"/>
            <a:ext cx="2239644" cy="3637788"/>
          </a:xfrm>
          <a:prstGeom prst="rect">
            <a:avLst/>
          </a:prstGeom>
        </p:spPr>
      </p:pic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74184" y="1316863"/>
            <a:ext cx="3894454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C55A11"/>
                </a:solidFill>
              </a:rPr>
              <a:t>CLOUD</a:t>
            </a:r>
            <a:r>
              <a:rPr dirty="0" sz="3600" spc="-130">
                <a:solidFill>
                  <a:srgbClr val="C55A11"/>
                </a:solidFill>
              </a:rPr>
              <a:t> </a:t>
            </a:r>
            <a:r>
              <a:rPr dirty="0" sz="3600" spc="-10">
                <a:solidFill>
                  <a:srgbClr val="C55A11"/>
                </a:solidFill>
              </a:rPr>
              <a:t>COMPUTING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6012560" y="2406523"/>
            <a:ext cx="116903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2E5395"/>
                </a:solidFill>
                <a:latin typeface="Calibri"/>
                <a:cs typeface="Calibri"/>
              </a:rPr>
              <a:t>DevOps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656582" y="3783329"/>
            <a:ext cx="4581525" cy="0"/>
          </a:xfrm>
          <a:custGeom>
            <a:avLst/>
            <a:gdLst/>
            <a:ahLst/>
            <a:cxnLst/>
            <a:rect l="l" t="t" r="r" b="b"/>
            <a:pathLst>
              <a:path w="4581525" h="0">
                <a:moveTo>
                  <a:pt x="0" y="0"/>
                </a:moveTo>
                <a:lnTo>
                  <a:pt x="4581397" y="0"/>
                </a:lnTo>
              </a:path>
            </a:pathLst>
          </a:custGeom>
          <a:ln w="38100">
            <a:solidFill>
              <a:srgbClr val="C55A1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179567" y="4003928"/>
            <a:ext cx="5217160" cy="9467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Arial"/>
                <a:cs typeface="Arial"/>
              </a:rPr>
              <a:t>Dr.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Prafullata</a:t>
            </a:r>
            <a:r>
              <a:rPr dirty="0" sz="2000" spc="-4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Kiran</a:t>
            </a:r>
            <a:r>
              <a:rPr dirty="0" sz="2000" spc="-1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Auradkar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latin typeface="Calibri"/>
                <a:cs typeface="Calibri"/>
              </a:rPr>
              <a:t>Department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Computer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Science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Engineering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3944" y="5489447"/>
            <a:ext cx="1066800" cy="1079500"/>
          </a:xfrm>
          <a:custGeom>
            <a:avLst/>
            <a:gdLst/>
            <a:ahLst/>
            <a:cxnLst/>
            <a:rect l="l" t="t" r="r" b="b"/>
            <a:pathLst>
              <a:path w="1066800" h="1079500">
                <a:moveTo>
                  <a:pt x="1066800" y="1033272"/>
                </a:moveTo>
                <a:lnTo>
                  <a:pt x="45720" y="1033272"/>
                </a:lnTo>
                <a:lnTo>
                  <a:pt x="45720" y="0"/>
                </a:lnTo>
                <a:lnTo>
                  <a:pt x="0" y="0"/>
                </a:lnTo>
                <a:lnTo>
                  <a:pt x="0" y="1033272"/>
                </a:lnTo>
                <a:lnTo>
                  <a:pt x="0" y="1066800"/>
                </a:lnTo>
                <a:lnTo>
                  <a:pt x="0" y="1078992"/>
                </a:lnTo>
                <a:lnTo>
                  <a:pt x="1066800" y="1078992"/>
                </a:lnTo>
                <a:lnTo>
                  <a:pt x="1066800" y="1033272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38404" y="5442305"/>
            <a:ext cx="11408410" cy="100139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Arial"/>
                <a:cs typeface="Arial"/>
              </a:rPr>
              <a:t>Acknowledgements:</a:t>
            </a:r>
            <a:endParaRPr sz="1600">
              <a:latin typeface="Arial"/>
              <a:cs typeface="Arial"/>
            </a:endParaRPr>
          </a:p>
          <a:p>
            <a:pPr algn="just" marL="12700" marR="508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latin typeface="Arial"/>
                <a:cs typeface="Arial"/>
              </a:rPr>
              <a:t>Significant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information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slide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deck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presented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through</a:t>
            </a:r>
            <a:r>
              <a:rPr dirty="0" sz="1200" spc="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Unit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2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of</a:t>
            </a:r>
            <a:r>
              <a:rPr dirty="0" sz="1200" spc="9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course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have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been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created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by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Dr.</a:t>
            </a:r>
            <a:r>
              <a:rPr dirty="0" sz="1200" spc="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H.L.</a:t>
            </a:r>
            <a:r>
              <a:rPr dirty="0" sz="1200" spc="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Phalachandra</a:t>
            </a:r>
            <a:r>
              <a:rPr dirty="0" sz="1200" spc="70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would</a:t>
            </a:r>
            <a:r>
              <a:rPr dirty="0" sz="1200" spc="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like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acknowledge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and </a:t>
            </a:r>
            <a:r>
              <a:rPr dirty="0" sz="1200">
                <a:latin typeface="Arial"/>
                <a:cs typeface="Arial"/>
              </a:rPr>
              <a:t>thank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him for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same.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There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have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been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some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information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which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might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have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leveraged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from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content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of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Dr.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K.V.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Subramaniam’s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lecture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contents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too. I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may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have </a:t>
            </a:r>
            <a:r>
              <a:rPr dirty="0" sz="1200">
                <a:latin typeface="Arial"/>
                <a:cs typeface="Arial"/>
              </a:rPr>
              <a:t>supplemented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same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with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contents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from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books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other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sources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from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Internet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would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like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sincerely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thank,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acknowledge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reiterate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that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credit/rights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for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same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remain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with the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original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authors/publishers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only. These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are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intended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for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classroom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presentation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only.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46379" y="211677"/>
            <a:ext cx="11590655" cy="4311650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207010">
              <a:lnSpc>
                <a:spcPct val="100000"/>
              </a:lnSpc>
              <a:spcBef>
                <a:spcPts val="450"/>
              </a:spcBef>
            </a:pPr>
            <a:r>
              <a:rPr dirty="0" sz="2400" b="1">
                <a:solidFill>
                  <a:srgbClr val="2E5496"/>
                </a:solidFill>
                <a:latin typeface="Calibri"/>
                <a:cs typeface="Calibri"/>
              </a:rPr>
              <a:t>CLOUD</a:t>
            </a:r>
            <a:r>
              <a:rPr dirty="0" sz="2400" spc="-15" b="1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496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207010">
              <a:lnSpc>
                <a:spcPct val="100000"/>
              </a:lnSpc>
              <a:spcBef>
                <a:spcPts val="355"/>
              </a:spcBef>
            </a:pPr>
            <a:r>
              <a:rPr dirty="0" sz="2400" spc="-10" b="1">
                <a:solidFill>
                  <a:srgbClr val="C55A11"/>
                </a:solidFill>
                <a:latin typeface="Calibri"/>
                <a:cs typeface="Calibri"/>
              </a:rPr>
              <a:t>Definition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2400">
              <a:latin typeface="Calibri"/>
              <a:cs typeface="Calibri"/>
            </a:endParaRPr>
          </a:p>
          <a:p>
            <a:pPr marL="355600" marR="895350" indent="-342900">
              <a:lnSpc>
                <a:spcPct val="130100"/>
              </a:lnSpc>
              <a:spcBef>
                <a:spcPts val="5"/>
              </a:spcBef>
              <a:buClr>
                <a:srgbClr val="843B0C"/>
              </a:buClr>
              <a:buFont typeface="Wingdings"/>
              <a:buChar char=""/>
              <a:tabLst>
                <a:tab pos="355600" algn="l"/>
              </a:tabLst>
            </a:pPr>
            <a:r>
              <a:rPr dirty="0" sz="2400">
                <a:latin typeface="Calibri"/>
                <a:cs typeface="Calibri"/>
              </a:rPr>
              <a:t>DevOps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practices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combines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software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development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operations </a:t>
            </a:r>
            <a:r>
              <a:rPr dirty="0" sz="2400">
                <a:latin typeface="Calibri"/>
                <a:cs typeface="Calibri"/>
              </a:rPr>
              <a:t>(</a:t>
            </a:r>
            <a:r>
              <a:rPr dirty="0" sz="2400">
                <a:solidFill>
                  <a:srgbClr val="006FC0"/>
                </a:solidFill>
                <a:latin typeface="Calibri"/>
                <a:cs typeface="Calibri"/>
              </a:rPr>
              <a:t>development</a:t>
            </a:r>
            <a:r>
              <a:rPr dirty="0" sz="2400" spc="-6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dirty="0" sz="2400" spc="-5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006FC0"/>
                </a:solidFill>
                <a:latin typeface="Calibri"/>
                <a:cs typeface="Calibri"/>
              </a:rPr>
              <a:t>operations)</a:t>
            </a:r>
            <a:r>
              <a:rPr dirty="0" sz="2400" spc="-6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where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each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them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independent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specialist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jobs.</a:t>
            </a:r>
            <a:endParaRPr sz="2400">
              <a:latin typeface="Calibri"/>
              <a:cs typeface="Calibri"/>
            </a:endParaRPr>
          </a:p>
          <a:p>
            <a:pPr marL="355600" marR="45720" indent="-342900">
              <a:lnSpc>
                <a:spcPct val="130000"/>
              </a:lnSpc>
              <a:spcBef>
                <a:spcPts val="600"/>
              </a:spcBef>
              <a:buClr>
                <a:srgbClr val="843B0C"/>
              </a:buClr>
              <a:buFont typeface="Wingdings"/>
              <a:buChar char=""/>
              <a:tabLst>
                <a:tab pos="355600" algn="l"/>
              </a:tabLst>
            </a:pPr>
            <a:r>
              <a:rPr dirty="0" sz="2400">
                <a:latin typeface="Calibri"/>
                <a:cs typeface="Calibri"/>
              </a:rPr>
              <a:t>It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aims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shorten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system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development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life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cycle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(SDLC)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increase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organizational </a:t>
            </a:r>
            <a:r>
              <a:rPr dirty="0" sz="2400">
                <a:latin typeface="Calibri"/>
                <a:cs typeface="Calibri"/>
              </a:rPr>
              <a:t>ability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deliver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(Deploy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Support)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applications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services</a:t>
            </a:r>
            <a:endParaRPr sz="2400">
              <a:latin typeface="Calibri"/>
              <a:cs typeface="Calibri"/>
            </a:endParaRPr>
          </a:p>
          <a:p>
            <a:pPr marL="355600" marR="5080" indent="-342900">
              <a:lnSpc>
                <a:spcPct val="130000"/>
              </a:lnSpc>
              <a:spcBef>
                <a:spcPts val="600"/>
              </a:spcBef>
              <a:buClr>
                <a:srgbClr val="843B0C"/>
              </a:buClr>
              <a:buFont typeface="Wingdings"/>
              <a:buChar char=""/>
              <a:tabLst>
                <a:tab pos="355600" algn="l"/>
              </a:tabLst>
            </a:pPr>
            <a:r>
              <a:rPr dirty="0" sz="2400">
                <a:latin typeface="Calibri"/>
                <a:cs typeface="Calibri"/>
              </a:rPr>
              <a:t>DevOps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complementary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Agile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software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development;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several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DevOps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aspects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came </a:t>
            </a:r>
            <a:r>
              <a:rPr dirty="0" sz="2400">
                <a:latin typeface="Calibri"/>
                <a:cs typeface="Calibri"/>
              </a:rPr>
              <a:t>from Agile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methodology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1435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405"/>
              </a:spcBef>
            </a:pPr>
            <a:r>
              <a:rPr dirty="0"/>
              <a:t>CLOUD</a:t>
            </a:r>
            <a:r>
              <a:rPr dirty="0" spc="-15"/>
              <a:t> </a:t>
            </a:r>
            <a:r>
              <a:rPr dirty="0" spc="-10"/>
              <a:t>COMPUTING</a:t>
            </a:r>
          </a:p>
          <a:p>
            <a:pPr marL="201295">
              <a:lnSpc>
                <a:spcPct val="100000"/>
              </a:lnSpc>
              <a:spcBef>
                <a:spcPts val="305"/>
              </a:spcBef>
            </a:pPr>
            <a:r>
              <a:rPr dirty="0">
                <a:solidFill>
                  <a:srgbClr val="C55A11"/>
                </a:solidFill>
              </a:rPr>
              <a:t>DevOps</a:t>
            </a:r>
            <a:r>
              <a:rPr dirty="0" spc="6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Definition</a:t>
            </a:r>
            <a:r>
              <a:rPr dirty="0" spc="-10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(Cont.)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40842" y="1289050"/>
            <a:ext cx="11363960" cy="13430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72110" marR="5080" indent="-360045">
              <a:lnSpc>
                <a:spcPct val="120100"/>
              </a:lnSpc>
              <a:spcBef>
                <a:spcPts val="95"/>
              </a:spcBef>
              <a:buFont typeface="Wingdings"/>
              <a:buChar char=""/>
              <a:tabLst>
                <a:tab pos="372110" algn="l"/>
              </a:tabLst>
            </a:pPr>
            <a:r>
              <a:rPr dirty="0" sz="2400" b="1">
                <a:latin typeface="Calibri"/>
                <a:cs typeface="Calibri"/>
              </a:rPr>
              <a:t>DevOps</a:t>
            </a:r>
            <a:r>
              <a:rPr dirty="0" sz="2400" spc="-30" b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practices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automates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processes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between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software </a:t>
            </a:r>
            <a:r>
              <a:rPr dirty="0" sz="2400">
                <a:latin typeface="Calibri"/>
                <a:cs typeface="Calibri"/>
              </a:rPr>
              <a:t>development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teams,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order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they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build,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test,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release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software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faster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more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reliably.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6495" y="2496311"/>
            <a:ext cx="4956048" cy="299008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371078" y="3456254"/>
            <a:ext cx="170180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Operations</a:t>
            </a:r>
            <a:r>
              <a:rPr dirty="0" sz="1800" spc="-55" b="1">
                <a:latin typeface="Arial"/>
                <a:cs typeface="Arial"/>
              </a:rPr>
              <a:t> </a:t>
            </a:r>
            <a:r>
              <a:rPr dirty="0" sz="1800" spc="-25" b="1">
                <a:latin typeface="Arial"/>
                <a:cs typeface="Arial"/>
              </a:rPr>
              <a:t>Org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2873" y="3658361"/>
            <a:ext cx="192976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Development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 spc="-25" b="1">
                <a:latin typeface="Arial"/>
                <a:cs typeface="Arial"/>
              </a:rPr>
              <a:t>Org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0842" y="4313377"/>
            <a:ext cx="11137265" cy="2256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8281670" marR="508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Calibri"/>
                <a:cs typeface="Calibri"/>
              </a:rPr>
              <a:t>Have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quite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different</a:t>
            </a:r>
            <a:r>
              <a:rPr dirty="0" sz="2000" spc="-20">
                <a:latin typeface="Calibri"/>
                <a:cs typeface="Calibri"/>
              </a:rPr>
              <a:t> goals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incentives,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often </a:t>
            </a:r>
            <a:r>
              <a:rPr dirty="0" sz="2000">
                <a:latin typeface="Calibri"/>
                <a:cs typeface="Calibri"/>
              </a:rPr>
              <a:t>conflicted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each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other.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85"/>
              </a:spcBef>
            </a:pPr>
            <a:endParaRPr sz="20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buFont typeface="Wingdings"/>
              <a:buChar char=""/>
              <a:tabLst>
                <a:tab pos="372110" algn="l"/>
              </a:tabLst>
            </a:pPr>
            <a:r>
              <a:rPr dirty="0" sz="2400">
                <a:latin typeface="Calibri"/>
                <a:cs typeface="Calibri"/>
              </a:rPr>
              <a:t>It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follows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Plan,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Build,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Deploy,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Operate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cycle.</a:t>
            </a:r>
            <a:endParaRPr sz="24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1175"/>
              </a:spcBef>
              <a:buFont typeface="Wingdings"/>
              <a:buChar char=""/>
              <a:tabLst>
                <a:tab pos="372110" algn="l"/>
              </a:tabLst>
            </a:pPr>
            <a:r>
              <a:rPr dirty="0" sz="2400">
                <a:latin typeface="Calibri"/>
                <a:cs typeface="Calibri"/>
              </a:rPr>
              <a:t>Docker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Kubernetes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2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10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most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used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DevOps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tools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now.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Git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another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one.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1435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405"/>
              </a:spcBef>
            </a:pPr>
            <a:r>
              <a:rPr dirty="0"/>
              <a:t>CLOUD</a:t>
            </a:r>
            <a:r>
              <a:rPr dirty="0" spc="-15"/>
              <a:t> </a:t>
            </a:r>
            <a:r>
              <a:rPr dirty="0" spc="-10"/>
              <a:t>COMPUTING</a:t>
            </a:r>
          </a:p>
          <a:p>
            <a:pPr marL="201295">
              <a:lnSpc>
                <a:spcPct val="100000"/>
              </a:lnSpc>
              <a:spcBef>
                <a:spcPts val="305"/>
              </a:spcBef>
            </a:pPr>
            <a:r>
              <a:rPr dirty="0">
                <a:solidFill>
                  <a:srgbClr val="C55A11"/>
                </a:solidFill>
              </a:rPr>
              <a:t>Motivational</a:t>
            </a:r>
            <a:r>
              <a:rPr dirty="0" spc="55">
                <a:solidFill>
                  <a:srgbClr val="C55A11"/>
                </a:solidFill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Problem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64591" y="1511935"/>
            <a:ext cx="7227570" cy="2601595"/>
          </a:xfrm>
          <a:prstGeom prst="rect">
            <a:avLst/>
          </a:prstGeom>
        </p:spPr>
        <p:txBody>
          <a:bodyPr wrap="square" lIns="0" tIns="16192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275"/>
              </a:spcBef>
              <a:buSzPct val="75000"/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You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have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built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tested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containerized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application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175"/>
              </a:spcBef>
              <a:buSzPct val="75000"/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You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learnt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how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deploy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your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application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using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Docker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175"/>
              </a:spcBef>
              <a:buSzPct val="75000"/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customers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require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more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features,</a:t>
            </a:r>
            <a:endParaRPr sz="2400">
              <a:latin typeface="Calibri"/>
              <a:cs typeface="Calibri"/>
            </a:endParaRPr>
          </a:p>
          <a:p>
            <a:pPr lvl="1" marL="812165" indent="-342265">
              <a:lnSpc>
                <a:spcPct val="100000"/>
              </a:lnSpc>
              <a:spcBef>
                <a:spcPts val="1180"/>
              </a:spcBef>
              <a:buSzPct val="75000"/>
              <a:buFont typeface="Arial"/>
              <a:buChar char="•"/>
              <a:tabLst>
                <a:tab pos="812165" algn="l"/>
              </a:tabLst>
            </a:pPr>
            <a:r>
              <a:rPr dirty="0" sz="2400">
                <a:latin typeface="Calibri"/>
                <a:cs typeface="Calibri"/>
              </a:rPr>
              <a:t>What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do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you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do?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175"/>
              </a:spcBef>
              <a:buSzPct val="75000"/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Let’s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look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some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engineering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issues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0842" y="5824220"/>
            <a:ext cx="947166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Arial"/>
                <a:cs typeface="Arial"/>
                <a:hlinkClick r:id="rId2"/>
              </a:rPr>
              <a:t>https://www.iltam.org/check_download_nopass.php?forcedownload=1&amp;file=files/DevOpsconfpresentationSandrine1.pptx &amp;no_encrypt=true&amp;dlpassword=20426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8260" rIns="0" bIns="0" rtlCol="0" vert="horz">
            <a:spAutoFit/>
          </a:bodyPr>
          <a:lstStyle/>
          <a:p>
            <a:pPr marL="12065">
              <a:lnSpc>
                <a:spcPct val="100000"/>
              </a:lnSpc>
              <a:spcBef>
                <a:spcPts val="380"/>
              </a:spcBef>
            </a:pPr>
            <a:r>
              <a:rPr dirty="0"/>
              <a:t>CLOUD</a:t>
            </a:r>
            <a:r>
              <a:rPr dirty="0" spc="-15"/>
              <a:t> </a:t>
            </a:r>
            <a:r>
              <a:rPr dirty="0" spc="-10"/>
              <a:t>COMPUTING</a:t>
            </a:r>
          </a:p>
          <a:p>
            <a:pPr>
              <a:lnSpc>
                <a:spcPct val="100000"/>
              </a:lnSpc>
              <a:spcBef>
                <a:spcPts val="285"/>
              </a:spcBef>
            </a:pPr>
            <a:r>
              <a:rPr dirty="0">
                <a:solidFill>
                  <a:srgbClr val="C55A11"/>
                </a:solidFill>
              </a:rPr>
              <a:t>SDLC</a:t>
            </a:r>
            <a:r>
              <a:rPr dirty="0" spc="-6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–</a:t>
            </a:r>
            <a:r>
              <a:rPr dirty="0" spc="-5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Software</a:t>
            </a:r>
            <a:r>
              <a:rPr dirty="0" spc="-55">
                <a:solidFill>
                  <a:srgbClr val="C55A11"/>
                </a:solidFill>
              </a:rPr>
              <a:t> </a:t>
            </a:r>
            <a:r>
              <a:rPr dirty="0" spc="-10">
                <a:solidFill>
                  <a:srgbClr val="C55A11"/>
                </a:solidFill>
              </a:rPr>
              <a:t>Development</a:t>
            </a:r>
            <a:r>
              <a:rPr dirty="0" spc="-45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Life</a:t>
            </a:r>
            <a:r>
              <a:rPr dirty="0" spc="-55">
                <a:solidFill>
                  <a:srgbClr val="C55A11"/>
                </a:solidFill>
              </a:rPr>
              <a:t> </a:t>
            </a:r>
            <a:r>
              <a:rPr dirty="0" spc="-10">
                <a:solidFill>
                  <a:srgbClr val="C55A11"/>
                </a:solidFill>
              </a:rPr>
              <a:t>Cycle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66775" y="1346351"/>
            <a:ext cx="8354059" cy="3647440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25"/>
              </a:spcBef>
              <a:buSzPct val="81818"/>
              <a:buFont typeface="Arial"/>
              <a:buChar char="•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Customer</a:t>
            </a:r>
            <a:r>
              <a:rPr dirty="0" sz="2200" spc="-10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generates</a:t>
            </a:r>
            <a:r>
              <a:rPr dirty="0" sz="2200" spc="-9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requirements</a:t>
            </a:r>
            <a:endParaRPr sz="2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30"/>
              </a:spcBef>
              <a:buSzPct val="81818"/>
              <a:buFont typeface="Arial"/>
              <a:buChar char="•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Do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design</a:t>
            </a:r>
            <a:endParaRPr sz="2200">
              <a:latin typeface="Calibri"/>
              <a:cs typeface="Calibri"/>
            </a:endParaRPr>
          </a:p>
          <a:p>
            <a:pPr marL="366395" indent="-323215">
              <a:lnSpc>
                <a:spcPct val="100000"/>
              </a:lnSpc>
              <a:spcBef>
                <a:spcPts val="530"/>
              </a:spcBef>
              <a:buSzPct val="81818"/>
              <a:buFont typeface="Arial"/>
              <a:buChar char="•"/>
              <a:tabLst>
                <a:tab pos="366395" algn="l"/>
              </a:tabLst>
            </a:pPr>
            <a:r>
              <a:rPr dirty="0" sz="2200">
                <a:latin typeface="Calibri"/>
                <a:cs typeface="Calibri"/>
              </a:rPr>
              <a:t>Different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teams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work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different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components</a:t>
            </a:r>
            <a:endParaRPr sz="2200">
              <a:latin typeface="Calibri"/>
              <a:cs typeface="Calibri"/>
            </a:endParaRPr>
          </a:p>
          <a:p>
            <a:pPr marL="366395" indent="-323215">
              <a:lnSpc>
                <a:spcPct val="100000"/>
              </a:lnSpc>
              <a:spcBef>
                <a:spcPts val="525"/>
              </a:spcBef>
              <a:buSzPct val="81818"/>
              <a:buFont typeface="Arial"/>
              <a:buChar char="•"/>
              <a:tabLst>
                <a:tab pos="366395" algn="l"/>
              </a:tabLst>
            </a:pPr>
            <a:r>
              <a:rPr dirty="0" sz="2200">
                <a:latin typeface="Calibri"/>
                <a:cs typeface="Calibri"/>
              </a:rPr>
              <a:t>Integrated</a:t>
            </a:r>
            <a:r>
              <a:rPr dirty="0" sz="2200" spc="-9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together</a:t>
            </a:r>
            <a:endParaRPr sz="2200">
              <a:latin typeface="Calibri"/>
              <a:cs typeface="Calibri"/>
            </a:endParaRPr>
          </a:p>
          <a:p>
            <a:pPr marL="366395" indent="-323215">
              <a:lnSpc>
                <a:spcPct val="100000"/>
              </a:lnSpc>
              <a:spcBef>
                <a:spcPts val="530"/>
              </a:spcBef>
              <a:buSzPct val="81818"/>
              <a:buFont typeface="Arial"/>
              <a:buChar char="•"/>
              <a:tabLst>
                <a:tab pos="366395" algn="l"/>
              </a:tabLst>
            </a:pPr>
            <a:r>
              <a:rPr dirty="0" sz="2200">
                <a:latin typeface="Calibri"/>
                <a:cs typeface="Calibri"/>
              </a:rPr>
              <a:t>Then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tested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for</a:t>
            </a:r>
            <a:endParaRPr sz="2200">
              <a:latin typeface="Calibri"/>
              <a:cs typeface="Calibri"/>
            </a:endParaRPr>
          </a:p>
          <a:p>
            <a:pPr lvl="1" marL="797560" indent="-342900">
              <a:lnSpc>
                <a:spcPct val="100000"/>
              </a:lnSpc>
              <a:spcBef>
                <a:spcPts val="530"/>
              </a:spcBef>
              <a:buSzPct val="81818"/>
              <a:buFont typeface="Arial"/>
              <a:buChar char="•"/>
              <a:tabLst>
                <a:tab pos="797560" algn="l"/>
              </a:tabLst>
            </a:pPr>
            <a:r>
              <a:rPr dirty="0" sz="2200" spc="-10">
                <a:latin typeface="Calibri"/>
                <a:cs typeface="Calibri"/>
              </a:rPr>
              <a:t>Functionality</a:t>
            </a:r>
            <a:endParaRPr sz="2200">
              <a:latin typeface="Calibri"/>
              <a:cs typeface="Calibri"/>
            </a:endParaRPr>
          </a:p>
          <a:p>
            <a:pPr lvl="1" marL="797560" indent="-342900">
              <a:lnSpc>
                <a:spcPct val="100000"/>
              </a:lnSpc>
              <a:spcBef>
                <a:spcPts val="530"/>
              </a:spcBef>
              <a:buSzPct val="81818"/>
              <a:buFont typeface="Arial"/>
              <a:buChar char="•"/>
              <a:tabLst>
                <a:tab pos="797560" algn="l"/>
              </a:tabLst>
            </a:pPr>
            <a:r>
              <a:rPr dirty="0" sz="2200">
                <a:latin typeface="Calibri"/>
                <a:cs typeface="Calibri"/>
              </a:rPr>
              <a:t>Similarity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customer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deployment</a:t>
            </a:r>
            <a:endParaRPr sz="2200">
              <a:latin typeface="Calibri"/>
              <a:cs typeface="Calibri"/>
            </a:endParaRPr>
          </a:p>
          <a:p>
            <a:pPr marL="366395" indent="-323215">
              <a:lnSpc>
                <a:spcPct val="100000"/>
              </a:lnSpc>
              <a:spcBef>
                <a:spcPts val="525"/>
              </a:spcBef>
              <a:buSzPct val="81818"/>
              <a:buFont typeface="Arial"/>
              <a:buChar char="•"/>
              <a:tabLst>
                <a:tab pos="366395" algn="l"/>
              </a:tabLst>
            </a:pPr>
            <a:r>
              <a:rPr dirty="0" sz="2200">
                <a:latin typeface="Calibri"/>
                <a:cs typeface="Calibri"/>
              </a:rPr>
              <a:t>Then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deployment,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need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talk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customers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team.</a:t>
            </a:r>
            <a:endParaRPr sz="2200">
              <a:latin typeface="Calibri"/>
              <a:cs typeface="Calibri"/>
            </a:endParaRPr>
          </a:p>
          <a:p>
            <a:pPr lvl="1" marL="797560" indent="-342900">
              <a:lnSpc>
                <a:spcPct val="100000"/>
              </a:lnSpc>
              <a:spcBef>
                <a:spcPts val="530"/>
              </a:spcBef>
              <a:buSzPct val="81818"/>
              <a:buFont typeface="Arial"/>
              <a:buChar char="•"/>
              <a:tabLst>
                <a:tab pos="797560" algn="l"/>
              </a:tabLst>
            </a:pPr>
            <a:r>
              <a:rPr dirty="0" sz="2200">
                <a:latin typeface="Calibri"/>
                <a:cs typeface="Calibri"/>
              </a:rPr>
              <a:t>Manages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deployment,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scaling,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time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issues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with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application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7625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375"/>
              </a:spcBef>
            </a:pPr>
            <a:r>
              <a:rPr dirty="0"/>
              <a:t>CLOUD</a:t>
            </a:r>
            <a:r>
              <a:rPr dirty="0" spc="-15"/>
              <a:t> </a:t>
            </a:r>
            <a:r>
              <a:rPr dirty="0" spc="-10"/>
              <a:t>COMPUTING</a:t>
            </a:r>
          </a:p>
          <a:p>
            <a:pPr marL="201295">
              <a:lnSpc>
                <a:spcPct val="100000"/>
              </a:lnSpc>
              <a:spcBef>
                <a:spcPts val="280"/>
              </a:spcBef>
            </a:pPr>
            <a:r>
              <a:rPr dirty="0">
                <a:solidFill>
                  <a:srgbClr val="C55A11"/>
                </a:solidFill>
              </a:rPr>
              <a:t>Dev</a:t>
            </a:r>
            <a:r>
              <a:rPr dirty="0" spc="-2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&amp;</a:t>
            </a:r>
            <a:r>
              <a:rPr dirty="0" spc="-35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Ops</a:t>
            </a:r>
            <a:r>
              <a:rPr dirty="0" spc="-15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Typical</a:t>
            </a:r>
            <a:r>
              <a:rPr dirty="0" spc="-35">
                <a:solidFill>
                  <a:srgbClr val="C55A11"/>
                </a:solidFill>
              </a:rPr>
              <a:t> </a:t>
            </a:r>
            <a:r>
              <a:rPr dirty="0" spc="-10">
                <a:solidFill>
                  <a:srgbClr val="C55A11"/>
                </a:solidFill>
              </a:rPr>
              <a:t>Conversation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745208" y="1665805"/>
            <a:ext cx="3484245" cy="4939665"/>
            <a:chOff x="745208" y="1665805"/>
            <a:chExt cx="3484245" cy="49396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8763" y="4264152"/>
              <a:ext cx="1095756" cy="234086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57908" y="1678505"/>
              <a:ext cx="3458845" cy="2916555"/>
            </a:xfrm>
            <a:custGeom>
              <a:avLst/>
              <a:gdLst/>
              <a:ahLst/>
              <a:cxnLst/>
              <a:rect l="l" t="t" r="r" b="b"/>
              <a:pathLst>
                <a:path w="3458845" h="2916554">
                  <a:moveTo>
                    <a:pt x="1752409" y="0"/>
                  </a:moveTo>
                  <a:lnTo>
                    <a:pt x="1702897" y="68"/>
                  </a:lnTo>
                  <a:lnTo>
                    <a:pt x="1653481" y="1197"/>
                  </a:lnTo>
                  <a:lnTo>
                    <a:pt x="1604191" y="3381"/>
                  </a:lnTo>
                  <a:lnTo>
                    <a:pt x="1555058" y="6613"/>
                  </a:lnTo>
                  <a:lnTo>
                    <a:pt x="1506113" y="10887"/>
                  </a:lnTo>
                  <a:lnTo>
                    <a:pt x="1457387" y="16197"/>
                  </a:lnTo>
                  <a:lnTo>
                    <a:pt x="1408911" y="22536"/>
                  </a:lnTo>
                  <a:lnTo>
                    <a:pt x="1360715" y="29898"/>
                  </a:lnTo>
                  <a:lnTo>
                    <a:pt x="1312830" y="38275"/>
                  </a:lnTo>
                  <a:lnTo>
                    <a:pt x="1265287" y="47663"/>
                  </a:lnTo>
                  <a:lnTo>
                    <a:pt x="1218117" y="58053"/>
                  </a:lnTo>
                  <a:lnTo>
                    <a:pt x="1171351" y="69441"/>
                  </a:lnTo>
                  <a:lnTo>
                    <a:pt x="1125019" y="81819"/>
                  </a:lnTo>
                  <a:lnTo>
                    <a:pt x="1079152" y="95181"/>
                  </a:lnTo>
                  <a:lnTo>
                    <a:pt x="1033782" y="109521"/>
                  </a:lnTo>
                  <a:lnTo>
                    <a:pt x="988938" y="124832"/>
                  </a:lnTo>
                  <a:lnTo>
                    <a:pt x="944652" y="141107"/>
                  </a:lnTo>
                  <a:lnTo>
                    <a:pt x="900954" y="158341"/>
                  </a:lnTo>
                  <a:lnTo>
                    <a:pt x="857876" y="176527"/>
                  </a:lnTo>
                  <a:lnTo>
                    <a:pt x="815447" y="195658"/>
                  </a:lnTo>
                  <a:lnTo>
                    <a:pt x="773700" y="215728"/>
                  </a:lnTo>
                  <a:lnTo>
                    <a:pt x="732664" y="236731"/>
                  </a:lnTo>
                  <a:lnTo>
                    <a:pt x="692371" y="258660"/>
                  </a:lnTo>
                  <a:lnTo>
                    <a:pt x="652850" y="281509"/>
                  </a:lnTo>
                  <a:lnTo>
                    <a:pt x="614134" y="305271"/>
                  </a:lnTo>
                  <a:lnTo>
                    <a:pt x="576253" y="329940"/>
                  </a:lnTo>
                  <a:lnTo>
                    <a:pt x="539238" y="355509"/>
                  </a:lnTo>
                  <a:lnTo>
                    <a:pt x="503119" y="381972"/>
                  </a:lnTo>
                  <a:lnTo>
                    <a:pt x="467927" y="409323"/>
                  </a:lnTo>
                  <a:lnTo>
                    <a:pt x="433693" y="437555"/>
                  </a:lnTo>
                  <a:lnTo>
                    <a:pt x="400448" y="466662"/>
                  </a:lnTo>
                  <a:lnTo>
                    <a:pt x="368223" y="496637"/>
                  </a:lnTo>
                  <a:lnTo>
                    <a:pt x="337049" y="527474"/>
                  </a:lnTo>
                  <a:lnTo>
                    <a:pt x="306955" y="559166"/>
                  </a:lnTo>
                  <a:lnTo>
                    <a:pt x="277974" y="591707"/>
                  </a:lnTo>
                  <a:lnTo>
                    <a:pt x="250136" y="625091"/>
                  </a:lnTo>
                  <a:lnTo>
                    <a:pt x="223471" y="659310"/>
                  </a:lnTo>
                  <a:lnTo>
                    <a:pt x="196229" y="696913"/>
                  </a:lnTo>
                  <a:lnTo>
                    <a:pt x="170808" y="734888"/>
                  </a:lnTo>
                  <a:lnTo>
                    <a:pt x="147196" y="773206"/>
                  </a:lnTo>
                  <a:lnTo>
                    <a:pt x="125382" y="811838"/>
                  </a:lnTo>
                  <a:lnTo>
                    <a:pt x="105357" y="850755"/>
                  </a:lnTo>
                  <a:lnTo>
                    <a:pt x="87109" y="889928"/>
                  </a:lnTo>
                  <a:lnTo>
                    <a:pt x="70628" y="929328"/>
                  </a:lnTo>
                  <a:lnTo>
                    <a:pt x="55902" y="968926"/>
                  </a:lnTo>
                  <a:lnTo>
                    <a:pt x="42921" y="1008692"/>
                  </a:lnTo>
                  <a:lnTo>
                    <a:pt x="31673" y="1048598"/>
                  </a:lnTo>
                  <a:lnTo>
                    <a:pt x="22150" y="1088614"/>
                  </a:lnTo>
                  <a:lnTo>
                    <a:pt x="14338" y="1128712"/>
                  </a:lnTo>
                  <a:lnTo>
                    <a:pt x="8228" y="1168862"/>
                  </a:lnTo>
                  <a:lnTo>
                    <a:pt x="3809" y="1209035"/>
                  </a:lnTo>
                  <a:lnTo>
                    <a:pt x="1070" y="1249202"/>
                  </a:lnTo>
                  <a:lnTo>
                    <a:pt x="0" y="1289335"/>
                  </a:lnTo>
                  <a:lnTo>
                    <a:pt x="588" y="1329403"/>
                  </a:lnTo>
                  <a:lnTo>
                    <a:pt x="2824" y="1369378"/>
                  </a:lnTo>
                  <a:lnTo>
                    <a:pt x="6696" y="1409230"/>
                  </a:lnTo>
                  <a:lnTo>
                    <a:pt x="12195" y="1448931"/>
                  </a:lnTo>
                  <a:lnTo>
                    <a:pt x="19309" y="1488452"/>
                  </a:lnTo>
                  <a:lnTo>
                    <a:pt x="28027" y="1527763"/>
                  </a:lnTo>
                  <a:lnTo>
                    <a:pt x="38338" y="1566836"/>
                  </a:lnTo>
                  <a:lnTo>
                    <a:pt x="50233" y="1605640"/>
                  </a:lnTo>
                  <a:lnTo>
                    <a:pt x="63699" y="1644148"/>
                  </a:lnTo>
                  <a:lnTo>
                    <a:pt x="78726" y="1682330"/>
                  </a:lnTo>
                  <a:lnTo>
                    <a:pt x="95304" y="1720156"/>
                  </a:lnTo>
                  <a:lnTo>
                    <a:pt x="113421" y="1757599"/>
                  </a:lnTo>
                  <a:lnTo>
                    <a:pt x="133067" y="1794628"/>
                  </a:lnTo>
                  <a:lnTo>
                    <a:pt x="154231" y="1831215"/>
                  </a:lnTo>
                  <a:lnTo>
                    <a:pt x="176902" y="1867330"/>
                  </a:lnTo>
                  <a:lnTo>
                    <a:pt x="201069" y="1902945"/>
                  </a:lnTo>
                  <a:lnTo>
                    <a:pt x="226722" y="1938030"/>
                  </a:lnTo>
                  <a:lnTo>
                    <a:pt x="253849" y="1972556"/>
                  </a:lnTo>
                  <a:lnTo>
                    <a:pt x="282441" y="2006495"/>
                  </a:lnTo>
                  <a:lnTo>
                    <a:pt x="312485" y="2039816"/>
                  </a:lnTo>
                  <a:lnTo>
                    <a:pt x="343972" y="2072492"/>
                  </a:lnTo>
                  <a:lnTo>
                    <a:pt x="376890" y="2104492"/>
                  </a:lnTo>
                  <a:lnTo>
                    <a:pt x="411229" y="2135789"/>
                  </a:lnTo>
                  <a:lnTo>
                    <a:pt x="446977" y="2166351"/>
                  </a:lnTo>
                  <a:lnTo>
                    <a:pt x="484125" y="2196152"/>
                  </a:lnTo>
                  <a:lnTo>
                    <a:pt x="522661" y="2225161"/>
                  </a:lnTo>
                  <a:lnTo>
                    <a:pt x="562575" y="2253349"/>
                  </a:lnTo>
                  <a:lnTo>
                    <a:pt x="603855" y="2280688"/>
                  </a:lnTo>
                  <a:lnTo>
                    <a:pt x="646491" y="2307147"/>
                  </a:lnTo>
                  <a:lnTo>
                    <a:pt x="690471" y="2332699"/>
                  </a:lnTo>
                  <a:lnTo>
                    <a:pt x="735787" y="2357314"/>
                  </a:lnTo>
                  <a:lnTo>
                    <a:pt x="782425" y="2380963"/>
                  </a:lnTo>
                  <a:lnTo>
                    <a:pt x="830376" y="2403616"/>
                  </a:lnTo>
                  <a:lnTo>
                    <a:pt x="879629" y="2425245"/>
                  </a:lnTo>
                  <a:lnTo>
                    <a:pt x="1008915" y="2916481"/>
                  </a:lnTo>
                  <a:lnTo>
                    <a:pt x="1505485" y="2581582"/>
                  </a:lnTo>
                  <a:lnTo>
                    <a:pt x="1557869" y="2586109"/>
                  </a:lnTo>
                  <a:lnTo>
                    <a:pt x="1610168" y="2589428"/>
                  </a:lnTo>
                  <a:lnTo>
                    <a:pt x="1662351" y="2591551"/>
                  </a:lnTo>
                  <a:lnTo>
                    <a:pt x="1714388" y="2592490"/>
                  </a:lnTo>
                  <a:lnTo>
                    <a:pt x="1766250" y="2592255"/>
                  </a:lnTo>
                  <a:lnTo>
                    <a:pt x="1817905" y="2590859"/>
                  </a:lnTo>
                  <a:lnTo>
                    <a:pt x="1869324" y="2588312"/>
                  </a:lnTo>
                  <a:lnTo>
                    <a:pt x="1920476" y="2584626"/>
                  </a:lnTo>
                  <a:lnTo>
                    <a:pt x="1971330" y="2579813"/>
                  </a:lnTo>
                  <a:lnTo>
                    <a:pt x="2021858" y="2573883"/>
                  </a:lnTo>
                  <a:lnTo>
                    <a:pt x="2072027" y="2566848"/>
                  </a:lnTo>
                  <a:lnTo>
                    <a:pt x="2121808" y="2558720"/>
                  </a:lnTo>
                  <a:lnTo>
                    <a:pt x="2171171" y="2549510"/>
                  </a:lnTo>
                  <a:lnTo>
                    <a:pt x="2220085" y="2539229"/>
                  </a:lnTo>
                  <a:lnTo>
                    <a:pt x="2268521" y="2527888"/>
                  </a:lnTo>
                  <a:lnTo>
                    <a:pt x="2316447" y="2515500"/>
                  </a:lnTo>
                  <a:lnTo>
                    <a:pt x="2363833" y="2502075"/>
                  </a:lnTo>
                  <a:lnTo>
                    <a:pt x="2410649" y="2487624"/>
                  </a:lnTo>
                  <a:lnTo>
                    <a:pt x="2456866" y="2472160"/>
                  </a:lnTo>
                  <a:lnTo>
                    <a:pt x="2502451" y="2455694"/>
                  </a:lnTo>
                  <a:lnTo>
                    <a:pt x="2547376" y="2438236"/>
                  </a:lnTo>
                  <a:lnTo>
                    <a:pt x="2591610" y="2419799"/>
                  </a:lnTo>
                  <a:lnTo>
                    <a:pt x="2635123" y="2400393"/>
                  </a:lnTo>
                  <a:lnTo>
                    <a:pt x="2677883" y="2380030"/>
                  </a:lnTo>
                  <a:lnTo>
                    <a:pt x="2719862" y="2358722"/>
                  </a:lnTo>
                  <a:lnTo>
                    <a:pt x="2761029" y="2336480"/>
                  </a:lnTo>
                  <a:lnTo>
                    <a:pt x="2801353" y="2313315"/>
                  </a:lnTo>
                  <a:lnTo>
                    <a:pt x="2840803" y="2289238"/>
                  </a:lnTo>
                  <a:lnTo>
                    <a:pt x="2879351" y="2264262"/>
                  </a:lnTo>
                  <a:lnTo>
                    <a:pt x="2916965" y="2238397"/>
                  </a:lnTo>
                  <a:lnTo>
                    <a:pt x="2953616" y="2211654"/>
                  </a:lnTo>
                  <a:lnTo>
                    <a:pt x="2989272" y="2184046"/>
                  </a:lnTo>
                  <a:lnTo>
                    <a:pt x="3023904" y="2155583"/>
                  </a:lnTo>
                  <a:lnTo>
                    <a:pt x="3057481" y="2126277"/>
                  </a:lnTo>
                  <a:lnTo>
                    <a:pt x="3089973" y="2096140"/>
                  </a:lnTo>
                  <a:lnTo>
                    <a:pt x="3121350" y="2065182"/>
                  </a:lnTo>
                  <a:lnTo>
                    <a:pt x="3151582" y="2033415"/>
                  </a:lnTo>
                  <a:lnTo>
                    <a:pt x="3180637" y="2000851"/>
                  </a:lnTo>
                  <a:lnTo>
                    <a:pt x="3208486" y="1967500"/>
                  </a:lnTo>
                  <a:lnTo>
                    <a:pt x="3235098" y="1933374"/>
                  </a:lnTo>
                  <a:lnTo>
                    <a:pt x="3262341" y="1895772"/>
                  </a:lnTo>
                  <a:lnTo>
                    <a:pt x="3287762" y="1857797"/>
                  </a:lnTo>
                  <a:lnTo>
                    <a:pt x="3311374" y="1819479"/>
                  </a:lnTo>
                  <a:lnTo>
                    <a:pt x="3333187" y="1780847"/>
                  </a:lnTo>
                  <a:lnTo>
                    <a:pt x="3353213" y="1741930"/>
                  </a:lnTo>
                  <a:lnTo>
                    <a:pt x="3371460" y="1702757"/>
                  </a:lnTo>
                  <a:lnTo>
                    <a:pt x="3387942" y="1663357"/>
                  </a:lnTo>
                  <a:lnTo>
                    <a:pt x="3402668" y="1623759"/>
                  </a:lnTo>
                  <a:lnTo>
                    <a:pt x="3415649" y="1583993"/>
                  </a:lnTo>
                  <a:lnTo>
                    <a:pt x="3426896" y="1544087"/>
                  </a:lnTo>
                  <a:lnTo>
                    <a:pt x="3436420" y="1504071"/>
                  </a:lnTo>
                  <a:lnTo>
                    <a:pt x="3444231" y="1463973"/>
                  </a:lnTo>
                  <a:lnTo>
                    <a:pt x="3450341" y="1423823"/>
                  </a:lnTo>
                  <a:lnTo>
                    <a:pt x="3454760" y="1383650"/>
                  </a:lnTo>
                  <a:lnTo>
                    <a:pt x="3457499" y="1343482"/>
                  </a:lnTo>
                  <a:lnTo>
                    <a:pt x="3458569" y="1303350"/>
                  </a:lnTo>
                  <a:lnTo>
                    <a:pt x="3457980" y="1263282"/>
                  </a:lnTo>
                  <a:lnTo>
                    <a:pt x="3455744" y="1223307"/>
                  </a:lnTo>
                  <a:lnTo>
                    <a:pt x="3451871" y="1183455"/>
                  </a:lnTo>
                  <a:lnTo>
                    <a:pt x="3446372" y="1143753"/>
                  </a:lnTo>
                  <a:lnTo>
                    <a:pt x="3439257" y="1104233"/>
                  </a:lnTo>
                  <a:lnTo>
                    <a:pt x="3430539" y="1064922"/>
                  </a:lnTo>
                  <a:lnTo>
                    <a:pt x="3420227" y="1025849"/>
                  </a:lnTo>
                  <a:lnTo>
                    <a:pt x="3408331" y="987045"/>
                  </a:lnTo>
                  <a:lnTo>
                    <a:pt x="3394864" y="948537"/>
                  </a:lnTo>
                  <a:lnTo>
                    <a:pt x="3379836" y="910355"/>
                  </a:lnTo>
                  <a:lnTo>
                    <a:pt x="3363258" y="872529"/>
                  </a:lnTo>
                  <a:lnTo>
                    <a:pt x="3345140" y="835086"/>
                  </a:lnTo>
                  <a:lnTo>
                    <a:pt x="3325493" y="798057"/>
                  </a:lnTo>
                  <a:lnTo>
                    <a:pt x="3304328" y="761470"/>
                  </a:lnTo>
                  <a:lnTo>
                    <a:pt x="3281656" y="725355"/>
                  </a:lnTo>
                  <a:lnTo>
                    <a:pt x="3257487" y="689740"/>
                  </a:lnTo>
                  <a:lnTo>
                    <a:pt x="3231833" y="654655"/>
                  </a:lnTo>
                  <a:lnTo>
                    <a:pt x="3204704" y="620129"/>
                  </a:lnTo>
                  <a:lnTo>
                    <a:pt x="3176112" y="586190"/>
                  </a:lnTo>
                  <a:lnTo>
                    <a:pt x="3146066" y="552868"/>
                  </a:lnTo>
                  <a:lnTo>
                    <a:pt x="3114577" y="520193"/>
                  </a:lnTo>
                  <a:lnTo>
                    <a:pt x="3081657" y="488193"/>
                  </a:lnTo>
                  <a:lnTo>
                    <a:pt x="3047317" y="456896"/>
                  </a:lnTo>
                  <a:lnTo>
                    <a:pt x="3011566" y="426334"/>
                  </a:lnTo>
                  <a:lnTo>
                    <a:pt x="2974417" y="396533"/>
                  </a:lnTo>
                  <a:lnTo>
                    <a:pt x="2935879" y="367524"/>
                  </a:lnTo>
                  <a:lnTo>
                    <a:pt x="2895963" y="339336"/>
                  </a:lnTo>
                  <a:lnTo>
                    <a:pt x="2854681" y="311997"/>
                  </a:lnTo>
                  <a:lnTo>
                    <a:pt x="2812042" y="285538"/>
                  </a:lnTo>
                  <a:lnTo>
                    <a:pt x="2768059" y="259986"/>
                  </a:lnTo>
                  <a:lnTo>
                    <a:pt x="2722741" y="235371"/>
                  </a:lnTo>
                  <a:lnTo>
                    <a:pt x="2676100" y="211722"/>
                  </a:lnTo>
                  <a:lnTo>
                    <a:pt x="2628146" y="189069"/>
                  </a:lnTo>
                  <a:lnTo>
                    <a:pt x="2578889" y="167439"/>
                  </a:lnTo>
                  <a:lnTo>
                    <a:pt x="2532465" y="148483"/>
                  </a:lnTo>
                  <a:lnTo>
                    <a:pt x="2485613" y="130697"/>
                  </a:lnTo>
                  <a:lnTo>
                    <a:pt x="2438364" y="114075"/>
                  </a:lnTo>
                  <a:lnTo>
                    <a:pt x="2390748" y="98611"/>
                  </a:lnTo>
                  <a:lnTo>
                    <a:pt x="2342796" y="84298"/>
                  </a:lnTo>
                  <a:lnTo>
                    <a:pt x="2294540" y="71130"/>
                  </a:lnTo>
                  <a:lnTo>
                    <a:pt x="2246010" y="59100"/>
                  </a:lnTo>
                  <a:lnTo>
                    <a:pt x="2197236" y="48203"/>
                  </a:lnTo>
                  <a:lnTo>
                    <a:pt x="2148250" y="38430"/>
                  </a:lnTo>
                  <a:lnTo>
                    <a:pt x="2099082" y="29777"/>
                  </a:lnTo>
                  <a:lnTo>
                    <a:pt x="2049763" y="22237"/>
                  </a:lnTo>
                  <a:lnTo>
                    <a:pt x="2000325" y="15802"/>
                  </a:lnTo>
                  <a:lnTo>
                    <a:pt x="1950797" y="10468"/>
                  </a:lnTo>
                  <a:lnTo>
                    <a:pt x="1901211" y="6227"/>
                  </a:lnTo>
                  <a:lnTo>
                    <a:pt x="1851597" y="3073"/>
                  </a:lnTo>
                  <a:lnTo>
                    <a:pt x="1801986" y="999"/>
                  </a:lnTo>
                  <a:lnTo>
                    <a:pt x="175240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57908" y="1678505"/>
              <a:ext cx="3458845" cy="2916555"/>
            </a:xfrm>
            <a:custGeom>
              <a:avLst/>
              <a:gdLst/>
              <a:ahLst/>
              <a:cxnLst/>
              <a:rect l="l" t="t" r="r" b="b"/>
              <a:pathLst>
                <a:path w="3458845" h="2916554">
                  <a:moveTo>
                    <a:pt x="1008915" y="2916481"/>
                  </a:moveTo>
                  <a:lnTo>
                    <a:pt x="879629" y="2425245"/>
                  </a:lnTo>
                  <a:lnTo>
                    <a:pt x="830376" y="2403616"/>
                  </a:lnTo>
                  <a:lnTo>
                    <a:pt x="782425" y="2380963"/>
                  </a:lnTo>
                  <a:lnTo>
                    <a:pt x="735787" y="2357314"/>
                  </a:lnTo>
                  <a:lnTo>
                    <a:pt x="690471" y="2332699"/>
                  </a:lnTo>
                  <a:lnTo>
                    <a:pt x="646491" y="2307147"/>
                  </a:lnTo>
                  <a:lnTo>
                    <a:pt x="603855" y="2280688"/>
                  </a:lnTo>
                  <a:lnTo>
                    <a:pt x="562575" y="2253349"/>
                  </a:lnTo>
                  <a:lnTo>
                    <a:pt x="522661" y="2225161"/>
                  </a:lnTo>
                  <a:lnTo>
                    <a:pt x="484125" y="2196152"/>
                  </a:lnTo>
                  <a:lnTo>
                    <a:pt x="446977" y="2166351"/>
                  </a:lnTo>
                  <a:lnTo>
                    <a:pt x="411229" y="2135789"/>
                  </a:lnTo>
                  <a:lnTo>
                    <a:pt x="376890" y="2104492"/>
                  </a:lnTo>
                  <a:lnTo>
                    <a:pt x="343972" y="2072492"/>
                  </a:lnTo>
                  <a:lnTo>
                    <a:pt x="312485" y="2039816"/>
                  </a:lnTo>
                  <a:lnTo>
                    <a:pt x="282441" y="2006495"/>
                  </a:lnTo>
                  <a:lnTo>
                    <a:pt x="253849" y="1972556"/>
                  </a:lnTo>
                  <a:lnTo>
                    <a:pt x="226722" y="1938030"/>
                  </a:lnTo>
                  <a:lnTo>
                    <a:pt x="201069" y="1902945"/>
                  </a:lnTo>
                  <a:lnTo>
                    <a:pt x="176902" y="1867330"/>
                  </a:lnTo>
                  <a:lnTo>
                    <a:pt x="154231" y="1831215"/>
                  </a:lnTo>
                  <a:lnTo>
                    <a:pt x="133067" y="1794628"/>
                  </a:lnTo>
                  <a:lnTo>
                    <a:pt x="113421" y="1757599"/>
                  </a:lnTo>
                  <a:lnTo>
                    <a:pt x="95304" y="1720156"/>
                  </a:lnTo>
                  <a:lnTo>
                    <a:pt x="78726" y="1682330"/>
                  </a:lnTo>
                  <a:lnTo>
                    <a:pt x="63699" y="1644148"/>
                  </a:lnTo>
                  <a:lnTo>
                    <a:pt x="50233" y="1605640"/>
                  </a:lnTo>
                  <a:lnTo>
                    <a:pt x="38338" y="1566836"/>
                  </a:lnTo>
                  <a:lnTo>
                    <a:pt x="28027" y="1527763"/>
                  </a:lnTo>
                  <a:lnTo>
                    <a:pt x="19309" y="1488452"/>
                  </a:lnTo>
                  <a:lnTo>
                    <a:pt x="12195" y="1448931"/>
                  </a:lnTo>
                  <a:lnTo>
                    <a:pt x="6696" y="1409230"/>
                  </a:lnTo>
                  <a:lnTo>
                    <a:pt x="2824" y="1369378"/>
                  </a:lnTo>
                  <a:lnTo>
                    <a:pt x="588" y="1329403"/>
                  </a:lnTo>
                  <a:lnTo>
                    <a:pt x="0" y="1289335"/>
                  </a:lnTo>
                  <a:lnTo>
                    <a:pt x="1070" y="1249202"/>
                  </a:lnTo>
                  <a:lnTo>
                    <a:pt x="3809" y="1209035"/>
                  </a:lnTo>
                  <a:lnTo>
                    <a:pt x="8228" y="1168862"/>
                  </a:lnTo>
                  <a:lnTo>
                    <a:pt x="14338" y="1128712"/>
                  </a:lnTo>
                  <a:lnTo>
                    <a:pt x="22150" y="1088614"/>
                  </a:lnTo>
                  <a:lnTo>
                    <a:pt x="31673" y="1048598"/>
                  </a:lnTo>
                  <a:lnTo>
                    <a:pt x="42921" y="1008692"/>
                  </a:lnTo>
                  <a:lnTo>
                    <a:pt x="55902" y="968926"/>
                  </a:lnTo>
                  <a:lnTo>
                    <a:pt x="70628" y="929328"/>
                  </a:lnTo>
                  <a:lnTo>
                    <a:pt x="87109" y="889928"/>
                  </a:lnTo>
                  <a:lnTo>
                    <a:pt x="105357" y="850755"/>
                  </a:lnTo>
                  <a:lnTo>
                    <a:pt x="125382" y="811838"/>
                  </a:lnTo>
                  <a:lnTo>
                    <a:pt x="147196" y="773206"/>
                  </a:lnTo>
                  <a:lnTo>
                    <a:pt x="170808" y="734888"/>
                  </a:lnTo>
                  <a:lnTo>
                    <a:pt x="196229" y="696913"/>
                  </a:lnTo>
                  <a:lnTo>
                    <a:pt x="223471" y="659310"/>
                  </a:lnTo>
                  <a:lnTo>
                    <a:pt x="250136" y="625091"/>
                  </a:lnTo>
                  <a:lnTo>
                    <a:pt x="277974" y="591707"/>
                  </a:lnTo>
                  <a:lnTo>
                    <a:pt x="306955" y="559166"/>
                  </a:lnTo>
                  <a:lnTo>
                    <a:pt x="337049" y="527474"/>
                  </a:lnTo>
                  <a:lnTo>
                    <a:pt x="368223" y="496637"/>
                  </a:lnTo>
                  <a:lnTo>
                    <a:pt x="400448" y="466662"/>
                  </a:lnTo>
                  <a:lnTo>
                    <a:pt x="433693" y="437555"/>
                  </a:lnTo>
                  <a:lnTo>
                    <a:pt x="467927" y="409323"/>
                  </a:lnTo>
                  <a:lnTo>
                    <a:pt x="503119" y="381972"/>
                  </a:lnTo>
                  <a:lnTo>
                    <a:pt x="539238" y="355509"/>
                  </a:lnTo>
                  <a:lnTo>
                    <a:pt x="576253" y="329940"/>
                  </a:lnTo>
                  <a:lnTo>
                    <a:pt x="614134" y="305271"/>
                  </a:lnTo>
                  <a:lnTo>
                    <a:pt x="652850" y="281509"/>
                  </a:lnTo>
                  <a:lnTo>
                    <a:pt x="692371" y="258660"/>
                  </a:lnTo>
                  <a:lnTo>
                    <a:pt x="732664" y="236731"/>
                  </a:lnTo>
                  <a:lnTo>
                    <a:pt x="773700" y="215728"/>
                  </a:lnTo>
                  <a:lnTo>
                    <a:pt x="815447" y="195658"/>
                  </a:lnTo>
                  <a:lnTo>
                    <a:pt x="857876" y="176527"/>
                  </a:lnTo>
                  <a:lnTo>
                    <a:pt x="900954" y="158341"/>
                  </a:lnTo>
                  <a:lnTo>
                    <a:pt x="944652" y="141107"/>
                  </a:lnTo>
                  <a:lnTo>
                    <a:pt x="988938" y="124832"/>
                  </a:lnTo>
                  <a:lnTo>
                    <a:pt x="1033782" y="109521"/>
                  </a:lnTo>
                  <a:lnTo>
                    <a:pt x="1079152" y="95181"/>
                  </a:lnTo>
                  <a:lnTo>
                    <a:pt x="1125019" y="81819"/>
                  </a:lnTo>
                  <a:lnTo>
                    <a:pt x="1171351" y="69441"/>
                  </a:lnTo>
                  <a:lnTo>
                    <a:pt x="1218117" y="58053"/>
                  </a:lnTo>
                  <a:lnTo>
                    <a:pt x="1265287" y="47663"/>
                  </a:lnTo>
                  <a:lnTo>
                    <a:pt x="1312830" y="38275"/>
                  </a:lnTo>
                  <a:lnTo>
                    <a:pt x="1360715" y="29898"/>
                  </a:lnTo>
                  <a:lnTo>
                    <a:pt x="1408911" y="22536"/>
                  </a:lnTo>
                  <a:lnTo>
                    <a:pt x="1457387" y="16197"/>
                  </a:lnTo>
                  <a:lnTo>
                    <a:pt x="1506113" y="10887"/>
                  </a:lnTo>
                  <a:lnTo>
                    <a:pt x="1555058" y="6613"/>
                  </a:lnTo>
                  <a:lnTo>
                    <a:pt x="1604191" y="3381"/>
                  </a:lnTo>
                  <a:lnTo>
                    <a:pt x="1653481" y="1197"/>
                  </a:lnTo>
                  <a:lnTo>
                    <a:pt x="1702897" y="68"/>
                  </a:lnTo>
                  <a:lnTo>
                    <a:pt x="1752409" y="0"/>
                  </a:lnTo>
                  <a:lnTo>
                    <a:pt x="1801986" y="999"/>
                  </a:lnTo>
                  <a:lnTo>
                    <a:pt x="1851597" y="3073"/>
                  </a:lnTo>
                  <a:lnTo>
                    <a:pt x="1901211" y="6227"/>
                  </a:lnTo>
                  <a:lnTo>
                    <a:pt x="1950797" y="10468"/>
                  </a:lnTo>
                  <a:lnTo>
                    <a:pt x="2000325" y="15802"/>
                  </a:lnTo>
                  <a:lnTo>
                    <a:pt x="2049763" y="22237"/>
                  </a:lnTo>
                  <a:lnTo>
                    <a:pt x="2099082" y="29777"/>
                  </a:lnTo>
                  <a:lnTo>
                    <a:pt x="2148250" y="38430"/>
                  </a:lnTo>
                  <a:lnTo>
                    <a:pt x="2197236" y="48203"/>
                  </a:lnTo>
                  <a:lnTo>
                    <a:pt x="2246010" y="59100"/>
                  </a:lnTo>
                  <a:lnTo>
                    <a:pt x="2294540" y="71130"/>
                  </a:lnTo>
                  <a:lnTo>
                    <a:pt x="2342796" y="84298"/>
                  </a:lnTo>
                  <a:lnTo>
                    <a:pt x="2390748" y="98611"/>
                  </a:lnTo>
                  <a:lnTo>
                    <a:pt x="2438364" y="114075"/>
                  </a:lnTo>
                  <a:lnTo>
                    <a:pt x="2485613" y="130697"/>
                  </a:lnTo>
                  <a:lnTo>
                    <a:pt x="2532465" y="148483"/>
                  </a:lnTo>
                  <a:lnTo>
                    <a:pt x="2578889" y="167439"/>
                  </a:lnTo>
                  <a:lnTo>
                    <a:pt x="2628146" y="189069"/>
                  </a:lnTo>
                  <a:lnTo>
                    <a:pt x="2676100" y="211722"/>
                  </a:lnTo>
                  <a:lnTo>
                    <a:pt x="2722741" y="235371"/>
                  </a:lnTo>
                  <a:lnTo>
                    <a:pt x="2768059" y="259986"/>
                  </a:lnTo>
                  <a:lnTo>
                    <a:pt x="2812042" y="285538"/>
                  </a:lnTo>
                  <a:lnTo>
                    <a:pt x="2854681" y="311997"/>
                  </a:lnTo>
                  <a:lnTo>
                    <a:pt x="2895963" y="339336"/>
                  </a:lnTo>
                  <a:lnTo>
                    <a:pt x="2935879" y="367524"/>
                  </a:lnTo>
                  <a:lnTo>
                    <a:pt x="2974417" y="396533"/>
                  </a:lnTo>
                  <a:lnTo>
                    <a:pt x="3011566" y="426334"/>
                  </a:lnTo>
                  <a:lnTo>
                    <a:pt x="3047317" y="456896"/>
                  </a:lnTo>
                  <a:lnTo>
                    <a:pt x="3081657" y="488193"/>
                  </a:lnTo>
                  <a:lnTo>
                    <a:pt x="3114577" y="520193"/>
                  </a:lnTo>
                  <a:lnTo>
                    <a:pt x="3146066" y="552868"/>
                  </a:lnTo>
                  <a:lnTo>
                    <a:pt x="3176112" y="586190"/>
                  </a:lnTo>
                  <a:lnTo>
                    <a:pt x="3204704" y="620129"/>
                  </a:lnTo>
                  <a:lnTo>
                    <a:pt x="3231833" y="654655"/>
                  </a:lnTo>
                  <a:lnTo>
                    <a:pt x="3257487" y="689740"/>
                  </a:lnTo>
                  <a:lnTo>
                    <a:pt x="3281656" y="725355"/>
                  </a:lnTo>
                  <a:lnTo>
                    <a:pt x="3304328" y="761470"/>
                  </a:lnTo>
                  <a:lnTo>
                    <a:pt x="3325493" y="798057"/>
                  </a:lnTo>
                  <a:lnTo>
                    <a:pt x="3345140" y="835086"/>
                  </a:lnTo>
                  <a:lnTo>
                    <a:pt x="3363258" y="872529"/>
                  </a:lnTo>
                  <a:lnTo>
                    <a:pt x="3379836" y="910355"/>
                  </a:lnTo>
                  <a:lnTo>
                    <a:pt x="3394864" y="948537"/>
                  </a:lnTo>
                  <a:lnTo>
                    <a:pt x="3408331" y="987045"/>
                  </a:lnTo>
                  <a:lnTo>
                    <a:pt x="3420227" y="1025849"/>
                  </a:lnTo>
                  <a:lnTo>
                    <a:pt x="3430539" y="1064922"/>
                  </a:lnTo>
                  <a:lnTo>
                    <a:pt x="3439257" y="1104233"/>
                  </a:lnTo>
                  <a:lnTo>
                    <a:pt x="3446372" y="1143753"/>
                  </a:lnTo>
                  <a:lnTo>
                    <a:pt x="3451871" y="1183455"/>
                  </a:lnTo>
                  <a:lnTo>
                    <a:pt x="3455744" y="1223307"/>
                  </a:lnTo>
                  <a:lnTo>
                    <a:pt x="3457980" y="1263282"/>
                  </a:lnTo>
                  <a:lnTo>
                    <a:pt x="3458569" y="1303350"/>
                  </a:lnTo>
                  <a:lnTo>
                    <a:pt x="3457499" y="1343482"/>
                  </a:lnTo>
                  <a:lnTo>
                    <a:pt x="3454760" y="1383650"/>
                  </a:lnTo>
                  <a:lnTo>
                    <a:pt x="3450341" y="1423823"/>
                  </a:lnTo>
                  <a:lnTo>
                    <a:pt x="3444231" y="1463973"/>
                  </a:lnTo>
                  <a:lnTo>
                    <a:pt x="3436420" y="1504071"/>
                  </a:lnTo>
                  <a:lnTo>
                    <a:pt x="3426896" y="1544087"/>
                  </a:lnTo>
                  <a:lnTo>
                    <a:pt x="3415649" y="1583993"/>
                  </a:lnTo>
                  <a:lnTo>
                    <a:pt x="3402668" y="1623759"/>
                  </a:lnTo>
                  <a:lnTo>
                    <a:pt x="3387942" y="1663357"/>
                  </a:lnTo>
                  <a:lnTo>
                    <a:pt x="3371460" y="1702757"/>
                  </a:lnTo>
                  <a:lnTo>
                    <a:pt x="3353213" y="1741930"/>
                  </a:lnTo>
                  <a:lnTo>
                    <a:pt x="3333187" y="1780847"/>
                  </a:lnTo>
                  <a:lnTo>
                    <a:pt x="3311374" y="1819479"/>
                  </a:lnTo>
                  <a:lnTo>
                    <a:pt x="3287762" y="1857797"/>
                  </a:lnTo>
                  <a:lnTo>
                    <a:pt x="3262341" y="1895772"/>
                  </a:lnTo>
                  <a:lnTo>
                    <a:pt x="3235098" y="1933374"/>
                  </a:lnTo>
                  <a:lnTo>
                    <a:pt x="3208486" y="1967500"/>
                  </a:lnTo>
                  <a:lnTo>
                    <a:pt x="3180637" y="2000851"/>
                  </a:lnTo>
                  <a:lnTo>
                    <a:pt x="3151582" y="2033415"/>
                  </a:lnTo>
                  <a:lnTo>
                    <a:pt x="3121350" y="2065182"/>
                  </a:lnTo>
                  <a:lnTo>
                    <a:pt x="3089973" y="2096140"/>
                  </a:lnTo>
                  <a:lnTo>
                    <a:pt x="3057481" y="2126277"/>
                  </a:lnTo>
                  <a:lnTo>
                    <a:pt x="3023904" y="2155583"/>
                  </a:lnTo>
                  <a:lnTo>
                    <a:pt x="2989272" y="2184046"/>
                  </a:lnTo>
                  <a:lnTo>
                    <a:pt x="2953616" y="2211654"/>
                  </a:lnTo>
                  <a:lnTo>
                    <a:pt x="2916965" y="2238397"/>
                  </a:lnTo>
                  <a:lnTo>
                    <a:pt x="2879351" y="2264262"/>
                  </a:lnTo>
                  <a:lnTo>
                    <a:pt x="2840803" y="2289238"/>
                  </a:lnTo>
                  <a:lnTo>
                    <a:pt x="2801353" y="2313315"/>
                  </a:lnTo>
                  <a:lnTo>
                    <a:pt x="2761029" y="2336480"/>
                  </a:lnTo>
                  <a:lnTo>
                    <a:pt x="2719862" y="2358722"/>
                  </a:lnTo>
                  <a:lnTo>
                    <a:pt x="2677883" y="2380030"/>
                  </a:lnTo>
                  <a:lnTo>
                    <a:pt x="2635123" y="2400393"/>
                  </a:lnTo>
                  <a:lnTo>
                    <a:pt x="2591610" y="2419799"/>
                  </a:lnTo>
                  <a:lnTo>
                    <a:pt x="2547376" y="2438236"/>
                  </a:lnTo>
                  <a:lnTo>
                    <a:pt x="2502451" y="2455694"/>
                  </a:lnTo>
                  <a:lnTo>
                    <a:pt x="2456866" y="2472160"/>
                  </a:lnTo>
                  <a:lnTo>
                    <a:pt x="2410649" y="2487624"/>
                  </a:lnTo>
                  <a:lnTo>
                    <a:pt x="2363833" y="2502075"/>
                  </a:lnTo>
                  <a:lnTo>
                    <a:pt x="2316447" y="2515500"/>
                  </a:lnTo>
                  <a:lnTo>
                    <a:pt x="2268521" y="2527888"/>
                  </a:lnTo>
                  <a:lnTo>
                    <a:pt x="2220085" y="2539229"/>
                  </a:lnTo>
                  <a:lnTo>
                    <a:pt x="2171171" y="2549510"/>
                  </a:lnTo>
                  <a:lnTo>
                    <a:pt x="2121808" y="2558720"/>
                  </a:lnTo>
                  <a:lnTo>
                    <a:pt x="2072027" y="2566848"/>
                  </a:lnTo>
                  <a:lnTo>
                    <a:pt x="2021858" y="2573883"/>
                  </a:lnTo>
                  <a:lnTo>
                    <a:pt x="1971330" y="2579813"/>
                  </a:lnTo>
                  <a:lnTo>
                    <a:pt x="1920476" y="2584626"/>
                  </a:lnTo>
                  <a:lnTo>
                    <a:pt x="1869324" y="2588312"/>
                  </a:lnTo>
                  <a:lnTo>
                    <a:pt x="1817905" y="2590859"/>
                  </a:lnTo>
                  <a:lnTo>
                    <a:pt x="1766250" y="2592255"/>
                  </a:lnTo>
                  <a:lnTo>
                    <a:pt x="1714388" y="2592490"/>
                  </a:lnTo>
                  <a:lnTo>
                    <a:pt x="1662351" y="2591551"/>
                  </a:lnTo>
                  <a:lnTo>
                    <a:pt x="1610168" y="2589428"/>
                  </a:lnTo>
                  <a:lnTo>
                    <a:pt x="1557869" y="2586109"/>
                  </a:lnTo>
                  <a:lnTo>
                    <a:pt x="1505485" y="2581582"/>
                  </a:lnTo>
                  <a:lnTo>
                    <a:pt x="1008915" y="2916481"/>
                  </a:lnTo>
                  <a:close/>
                </a:path>
              </a:pathLst>
            </a:custGeom>
            <a:ln w="254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801420" y="2513838"/>
            <a:ext cx="322770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00"/>
                </a:solidFill>
                <a:latin typeface="Calibri"/>
                <a:cs typeface="Calibri"/>
              </a:rPr>
              <a:t>Put</a:t>
            </a:r>
            <a:r>
              <a:rPr dirty="0" sz="1800" spc="-35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00"/>
                </a:solidFill>
                <a:latin typeface="Calibri"/>
                <a:cs typeface="Calibri"/>
              </a:rPr>
              <a:t>the</a:t>
            </a:r>
            <a:r>
              <a:rPr dirty="0" sz="1800" spc="-4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00"/>
                </a:solidFill>
                <a:latin typeface="Calibri"/>
                <a:cs typeface="Calibri"/>
              </a:rPr>
              <a:t>current</a:t>
            </a:r>
            <a:r>
              <a:rPr dirty="0" sz="1800" spc="-3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00"/>
                </a:solidFill>
                <a:latin typeface="Calibri"/>
                <a:cs typeface="Calibri"/>
              </a:rPr>
              <a:t>release</a:t>
            </a:r>
            <a:r>
              <a:rPr dirty="0" sz="1800" spc="-4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00"/>
                </a:solidFill>
                <a:latin typeface="Calibri"/>
                <a:cs typeface="Calibri"/>
              </a:rPr>
              <a:t>live,</a:t>
            </a:r>
            <a:r>
              <a:rPr dirty="0" sz="1800" spc="-35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00"/>
                </a:solidFill>
                <a:latin typeface="Calibri"/>
                <a:cs typeface="Calibri"/>
              </a:rPr>
              <a:t>NOW!</a:t>
            </a:r>
            <a:endParaRPr sz="1800">
              <a:latin typeface="Calibri"/>
              <a:cs typeface="Calibri"/>
            </a:endParaRPr>
          </a:p>
          <a:p>
            <a:pPr algn="ctr" marL="502920" marR="495300">
              <a:lnSpc>
                <a:spcPct val="100000"/>
              </a:lnSpc>
            </a:pPr>
            <a:r>
              <a:rPr dirty="0" sz="1800">
                <a:solidFill>
                  <a:srgbClr val="FFFF00"/>
                </a:solidFill>
                <a:latin typeface="Calibri"/>
                <a:cs typeface="Calibri"/>
              </a:rPr>
              <a:t>It</a:t>
            </a:r>
            <a:r>
              <a:rPr dirty="0" sz="1800" spc="-15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00"/>
                </a:solidFill>
                <a:latin typeface="Calibri"/>
                <a:cs typeface="Calibri"/>
              </a:rPr>
              <a:t>works</a:t>
            </a:r>
            <a:r>
              <a:rPr dirty="0" sz="1800" spc="-15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00"/>
                </a:solidFill>
                <a:latin typeface="Calibri"/>
                <a:cs typeface="Calibri"/>
              </a:rPr>
              <a:t>on</a:t>
            </a:r>
            <a:r>
              <a:rPr dirty="0" sz="1800" spc="5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00"/>
                </a:solidFill>
                <a:latin typeface="Calibri"/>
                <a:cs typeface="Calibri"/>
              </a:rPr>
              <a:t>my</a:t>
            </a:r>
            <a:r>
              <a:rPr dirty="0" sz="1800" spc="-2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00"/>
                </a:solidFill>
                <a:latin typeface="Calibri"/>
                <a:cs typeface="Calibri"/>
              </a:rPr>
              <a:t>machine </a:t>
            </a:r>
            <a:r>
              <a:rPr dirty="0" sz="1800">
                <a:solidFill>
                  <a:srgbClr val="FFFF00"/>
                </a:solidFill>
                <a:latin typeface="Calibri"/>
                <a:cs typeface="Calibri"/>
              </a:rPr>
              <a:t>We</a:t>
            </a:r>
            <a:r>
              <a:rPr dirty="0" sz="1800" spc="-1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00"/>
                </a:solidFill>
                <a:latin typeface="Calibri"/>
                <a:cs typeface="Calibri"/>
              </a:rPr>
              <a:t>need</a:t>
            </a:r>
            <a:r>
              <a:rPr dirty="0" sz="1800" spc="-2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00"/>
                </a:solidFill>
                <a:latin typeface="Calibri"/>
                <a:cs typeface="Calibri"/>
              </a:rPr>
              <a:t>this</a:t>
            </a:r>
            <a:r>
              <a:rPr dirty="0" sz="1800" spc="-15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00"/>
                </a:solidFill>
                <a:latin typeface="Calibri"/>
                <a:cs typeface="Calibri"/>
              </a:rPr>
              <a:t>Yesterday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800">
                <a:solidFill>
                  <a:srgbClr val="FFFF00"/>
                </a:solidFill>
                <a:latin typeface="Calibri"/>
                <a:cs typeface="Calibri"/>
              </a:rPr>
              <a:t>You</a:t>
            </a:r>
            <a:r>
              <a:rPr dirty="0" sz="1800" spc="-25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00"/>
                </a:solidFill>
                <a:latin typeface="Calibri"/>
                <a:cs typeface="Calibri"/>
              </a:rPr>
              <a:t>are</a:t>
            </a:r>
            <a:r>
              <a:rPr dirty="0" sz="1800" spc="-3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00"/>
                </a:solidFill>
                <a:latin typeface="Calibri"/>
                <a:cs typeface="Calibri"/>
              </a:rPr>
              <a:t>using</a:t>
            </a:r>
            <a:r>
              <a:rPr dirty="0" sz="1800" spc="-35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00"/>
                </a:solidFill>
                <a:latin typeface="Calibri"/>
                <a:cs typeface="Calibri"/>
              </a:rPr>
              <a:t>the</a:t>
            </a:r>
            <a:r>
              <a:rPr dirty="0" sz="1800" spc="-15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00"/>
                </a:solidFill>
                <a:latin typeface="Calibri"/>
                <a:cs typeface="Calibri"/>
              </a:rPr>
              <a:t>wrong</a:t>
            </a:r>
            <a:r>
              <a:rPr dirty="0" sz="1800" spc="-2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00"/>
                </a:solidFill>
                <a:latin typeface="Calibri"/>
                <a:cs typeface="Calibri"/>
              </a:rPr>
              <a:t>version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958810" y="1665805"/>
            <a:ext cx="3481070" cy="4939665"/>
            <a:chOff x="5958810" y="1665805"/>
            <a:chExt cx="3481070" cy="493966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01511" y="4226052"/>
              <a:ext cx="1142999" cy="237896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971510" y="1678505"/>
              <a:ext cx="3455670" cy="2917190"/>
            </a:xfrm>
            <a:custGeom>
              <a:avLst/>
              <a:gdLst/>
              <a:ahLst/>
              <a:cxnLst/>
              <a:rect l="l" t="t" r="r" b="b"/>
              <a:pathLst>
                <a:path w="3455670" h="2917190">
                  <a:moveTo>
                    <a:pt x="1750890" y="0"/>
                  </a:moveTo>
                  <a:lnTo>
                    <a:pt x="1701424" y="68"/>
                  </a:lnTo>
                  <a:lnTo>
                    <a:pt x="1652054" y="1197"/>
                  </a:lnTo>
                  <a:lnTo>
                    <a:pt x="1602809" y="3381"/>
                  </a:lnTo>
                  <a:lnTo>
                    <a:pt x="1553722" y="6613"/>
                  </a:lnTo>
                  <a:lnTo>
                    <a:pt x="1504823" y="10887"/>
                  </a:lnTo>
                  <a:lnTo>
                    <a:pt x="1456142" y="16197"/>
                  </a:lnTo>
                  <a:lnTo>
                    <a:pt x="1407710" y="22536"/>
                  </a:lnTo>
                  <a:lnTo>
                    <a:pt x="1359558" y="29898"/>
                  </a:lnTo>
                  <a:lnTo>
                    <a:pt x="1311718" y="38275"/>
                  </a:lnTo>
                  <a:lnTo>
                    <a:pt x="1264219" y="47663"/>
                  </a:lnTo>
                  <a:lnTo>
                    <a:pt x="1217092" y="58053"/>
                  </a:lnTo>
                  <a:lnTo>
                    <a:pt x="1170368" y="69441"/>
                  </a:lnTo>
                  <a:lnTo>
                    <a:pt x="1124078" y="81819"/>
                  </a:lnTo>
                  <a:lnTo>
                    <a:pt x="1078253" y="95181"/>
                  </a:lnTo>
                  <a:lnTo>
                    <a:pt x="1032924" y="109521"/>
                  </a:lnTo>
                  <a:lnTo>
                    <a:pt x="988120" y="124832"/>
                  </a:lnTo>
                  <a:lnTo>
                    <a:pt x="943874" y="141107"/>
                  </a:lnTo>
                  <a:lnTo>
                    <a:pt x="900215" y="158341"/>
                  </a:lnTo>
                  <a:lnTo>
                    <a:pt x="857175" y="176527"/>
                  </a:lnTo>
                  <a:lnTo>
                    <a:pt x="814784" y="195658"/>
                  </a:lnTo>
                  <a:lnTo>
                    <a:pt x="773074" y="215728"/>
                  </a:lnTo>
                  <a:lnTo>
                    <a:pt x="732074" y="236731"/>
                  </a:lnTo>
                  <a:lnTo>
                    <a:pt x="691815" y="258660"/>
                  </a:lnTo>
                  <a:lnTo>
                    <a:pt x="652329" y="281509"/>
                  </a:lnTo>
                  <a:lnTo>
                    <a:pt x="613646" y="305271"/>
                  </a:lnTo>
                  <a:lnTo>
                    <a:pt x="575797" y="329940"/>
                  </a:lnTo>
                  <a:lnTo>
                    <a:pt x="538813" y="355509"/>
                  </a:lnTo>
                  <a:lnTo>
                    <a:pt x="502724" y="381972"/>
                  </a:lnTo>
                  <a:lnTo>
                    <a:pt x="467561" y="409323"/>
                  </a:lnTo>
                  <a:lnTo>
                    <a:pt x="433356" y="437555"/>
                  </a:lnTo>
                  <a:lnTo>
                    <a:pt x="400138" y="466662"/>
                  </a:lnTo>
                  <a:lnTo>
                    <a:pt x="367938" y="496637"/>
                  </a:lnTo>
                  <a:lnTo>
                    <a:pt x="336788" y="527474"/>
                  </a:lnTo>
                  <a:lnTo>
                    <a:pt x="306718" y="559166"/>
                  </a:lnTo>
                  <a:lnTo>
                    <a:pt x="277758" y="591707"/>
                  </a:lnTo>
                  <a:lnTo>
                    <a:pt x="249940" y="625091"/>
                  </a:lnTo>
                  <a:lnTo>
                    <a:pt x="223295" y="659310"/>
                  </a:lnTo>
                  <a:lnTo>
                    <a:pt x="196075" y="696913"/>
                  </a:lnTo>
                  <a:lnTo>
                    <a:pt x="170674" y="734888"/>
                  </a:lnTo>
                  <a:lnTo>
                    <a:pt x="147081" y="773206"/>
                  </a:lnTo>
                  <a:lnTo>
                    <a:pt x="125285" y="811838"/>
                  </a:lnTo>
                  <a:lnTo>
                    <a:pt x="105276" y="850755"/>
                  </a:lnTo>
                  <a:lnTo>
                    <a:pt x="87043" y="889928"/>
                  </a:lnTo>
                  <a:lnTo>
                    <a:pt x="70574" y="929328"/>
                  </a:lnTo>
                  <a:lnTo>
                    <a:pt x="55860" y="968926"/>
                  </a:lnTo>
                  <a:lnTo>
                    <a:pt x="42889" y="1008692"/>
                  </a:lnTo>
                  <a:lnTo>
                    <a:pt x="31651" y="1048598"/>
                  </a:lnTo>
                  <a:lnTo>
                    <a:pt x="22134" y="1088614"/>
                  </a:lnTo>
                  <a:lnTo>
                    <a:pt x="14328" y="1128712"/>
                  </a:lnTo>
                  <a:lnTo>
                    <a:pt x="8223" y="1168862"/>
                  </a:lnTo>
                  <a:lnTo>
                    <a:pt x="3807" y="1209035"/>
                  </a:lnTo>
                  <a:lnTo>
                    <a:pt x="1069" y="1249202"/>
                  </a:lnTo>
                  <a:lnTo>
                    <a:pt x="0" y="1289335"/>
                  </a:lnTo>
                  <a:lnTo>
                    <a:pt x="587" y="1329403"/>
                  </a:lnTo>
                  <a:lnTo>
                    <a:pt x="2820" y="1369378"/>
                  </a:lnTo>
                  <a:lnTo>
                    <a:pt x="6689" y="1409230"/>
                  </a:lnTo>
                  <a:lnTo>
                    <a:pt x="12182" y="1448931"/>
                  </a:lnTo>
                  <a:lnTo>
                    <a:pt x="19289" y="1488452"/>
                  </a:lnTo>
                  <a:lnTo>
                    <a:pt x="27999" y="1527763"/>
                  </a:lnTo>
                  <a:lnTo>
                    <a:pt x="38302" y="1566836"/>
                  </a:lnTo>
                  <a:lnTo>
                    <a:pt x="50186" y="1605640"/>
                  </a:lnTo>
                  <a:lnTo>
                    <a:pt x="63640" y="1644148"/>
                  </a:lnTo>
                  <a:lnTo>
                    <a:pt x="78654" y="1682330"/>
                  </a:lnTo>
                  <a:lnTo>
                    <a:pt x="95217" y="1720156"/>
                  </a:lnTo>
                  <a:lnTo>
                    <a:pt x="113319" y="1757599"/>
                  </a:lnTo>
                  <a:lnTo>
                    <a:pt x="132948" y="1794628"/>
                  </a:lnTo>
                  <a:lnTo>
                    <a:pt x="154093" y="1831215"/>
                  </a:lnTo>
                  <a:lnTo>
                    <a:pt x="176744" y="1867330"/>
                  </a:lnTo>
                  <a:lnTo>
                    <a:pt x="200891" y="1902945"/>
                  </a:lnTo>
                  <a:lnTo>
                    <a:pt x="226521" y="1938030"/>
                  </a:lnTo>
                  <a:lnTo>
                    <a:pt x="253625" y="1972556"/>
                  </a:lnTo>
                  <a:lnTo>
                    <a:pt x="282192" y="2006495"/>
                  </a:lnTo>
                  <a:lnTo>
                    <a:pt x="312210" y="2039816"/>
                  </a:lnTo>
                  <a:lnTo>
                    <a:pt x="343670" y="2072492"/>
                  </a:lnTo>
                  <a:lnTo>
                    <a:pt x="376560" y="2104492"/>
                  </a:lnTo>
                  <a:lnTo>
                    <a:pt x="410869" y="2135789"/>
                  </a:lnTo>
                  <a:lnTo>
                    <a:pt x="446587" y="2166351"/>
                  </a:lnTo>
                  <a:lnTo>
                    <a:pt x="483703" y="2196152"/>
                  </a:lnTo>
                  <a:lnTo>
                    <a:pt x="522206" y="2225161"/>
                  </a:lnTo>
                  <a:lnTo>
                    <a:pt x="562085" y="2253349"/>
                  </a:lnTo>
                  <a:lnTo>
                    <a:pt x="603330" y="2280688"/>
                  </a:lnTo>
                  <a:lnTo>
                    <a:pt x="645929" y="2307147"/>
                  </a:lnTo>
                  <a:lnTo>
                    <a:pt x="689873" y="2332699"/>
                  </a:lnTo>
                  <a:lnTo>
                    <a:pt x="735149" y="2357314"/>
                  </a:lnTo>
                  <a:lnTo>
                    <a:pt x="781748" y="2380963"/>
                  </a:lnTo>
                  <a:lnTo>
                    <a:pt x="829658" y="2403616"/>
                  </a:lnTo>
                  <a:lnTo>
                    <a:pt x="878869" y="2425245"/>
                  </a:lnTo>
                  <a:lnTo>
                    <a:pt x="1008028" y="2916608"/>
                  </a:lnTo>
                  <a:lnTo>
                    <a:pt x="1504217" y="2581582"/>
                  </a:lnTo>
                  <a:lnTo>
                    <a:pt x="1556553" y="2586109"/>
                  </a:lnTo>
                  <a:lnTo>
                    <a:pt x="1608804" y="2589428"/>
                  </a:lnTo>
                  <a:lnTo>
                    <a:pt x="1660939" y="2591551"/>
                  </a:lnTo>
                  <a:lnTo>
                    <a:pt x="1712929" y="2592490"/>
                  </a:lnTo>
                  <a:lnTo>
                    <a:pt x="1764744" y="2592255"/>
                  </a:lnTo>
                  <a:lnTo>
                    <a:pt x="1816352" y="2590859"/>
                  </a:lnTo>
                  <a:lnTo>
                    <a:pt x="1867723" y="2588312"/>
                  </a:lnTo>
                  <a:lnTo>
                    <a:pt x="1918828" y="2584626"/>
                  </a:lnTo>
                  <a:lnTo>
                    <a:pt x="1969636" y="2579813"/>
                  </a:lnTo>
                  <a:lnTo>
                    <a:pt x="2020117" y="2573883"/>
                  </a:lnTo>
                  <a:lnTo>
                    <a:pt x="2070240" y="2566848"/>
                  </a:lnTo>
                  <a:lnTo>
                    <a:pt x="2119975" y="2558720"/>
                  </a:lnTo>
                  <a:lnTo>
                    <a:pt x="2169292" y="2549510"/>
                  </a:lnTo>
                  <a:lnTo>
                    <a:pt x="2218161" y="2539229"/>
                  </a:lnTo>
                  <a:lnTo>
                    <a:pt x="2266551" y="2527888"/>
                  </a:lnTo>
                  <a:lnTo>
                    <a:pt x="2314432" y="2515500"/>
                  </a:lnTo>
                  <a:lnTo>
                    <a:pt x="2361774" y="2502075"/>
                  </a:lnTo>
                  <a:lnTo>
                    <a:pt x="2408547" y="2487624"/>
                  </a:lnTo>
                  <a:lnTo>
                    <a:pt x="2454719" y="2472160"/>
                  </a:lnTo>
                  <a:lnTo>
                    <a:pt x="2500262" y="2455694"/>
                  </a:lnTo>
                  <a:lnTo>
                    <a:pt x="2545144" y="2438236"/>
                  </a:lnTo>
                  <a:lnTo>
                    <a:pt x="2589336" y="2419799"/>
                  </a:lnTo>
                  <a:lnTo>
                    <a:pt x="2632807" y="2400393"/>
                  </a:lnTo>
                  <a:lnTo>
                    <a:pt x="2675527" y="2380030"/>
                  </a:lnTo>
                  <a:lnTo>
                    <a:pt x="2717465" y="2358722"/>
                  </a:lnTo>
                  <a:lnTo>
                    <a:pt x="2758591" y="2336480"/>
                  </a:lnTo>
                  <a:lnTo>
                    <a:pt x="2798876" y="2313315"/>
                  </a:lnTo>
                  <a:lnTo>
                    <a:pt x="2838288" y="2289238"/>
                  </a:lnTo>
                  <a:lnTo>
                    <a:pt x="2876798" y="2264262"/>
                  </a:lnTo>
                  <a:lnTo>
                    <a:pt x="2914375" y="2238397"/>
                  </a:lnTo>
                  <a:lnTo>
                    <a:pt x="2950989" y="2211654"/>
                  </a:lnTo>
                  <a:lnTo>
                    <a:pt x="2986610" y="2184046"/>
                  </a:lnTo>
                  <a:lnTo>
                    <a:pt x="3021206" y="2155583"/>
                  </a:lnTo>
                  <a:lnTo>
                    <a:pt x="3054749" y="2126277"/>
                  </a:lnTo>
                  <a:lnTo>
                    <a:pt x="3087208" y="2096140"/>
                  </a:lnTo>
                  <a:lnTo>
                    <a:pt x="3118552" y="2065182"/>
                  </a:lnTo>
                  <a:lnTo>
                    <a:pt x="3148752" y="2033415"/>
                  </a:lnTo>
                  <a:lnTo>
                    <a:pt x="3177776" y="2000851"/>
                  </a:lnTo>
                  <a:lnTo>
                    <a:pt x="3205595" y="1967500"/>
                  </a:lnTo>
                  <a:lnTo>
                    <a:pt x="3232179" y="1933374"/>
                  </a:lnTo>
                  <a:lnTo>
                    <a:pt x="3259399" y="1895772"/>
                  </a:lnTo>
                  <a:lnTo>
                    <a:pt x="3284800" y="1857797"/>
                  </a:lnTo>
                  <a:lnTo>
                    <a:pt x="3308393" y="1819479"/>
                  </a:lnTo>
                  <a:lnTo>
                    <a:pt x="3330188" y="1780847"/>
                  </a:lnTo>
                  <a:lnTo>
                    <a:pt x="3350197" y="1741930"/>
                  </a:lnTo>
                  <a:lnTo>
                    <a:pt x="3368431" y="1702757"/>
                  </a:lnTo>
                  <a:lnTo>
                    <a:pt x="3384899" y="1663357"/>
                  </a:lnTo>
                  <a:lnTo>
                    <a:pt x="3399613" y="1623759"/>
                  </a:lnTo>
                  <a:lnTo>
                    <a:pt x="3412584" y="1583993"/>
                  </a:lnTo>
                  <a:lnTo>
                    <a:pt x="3423823" y="1544087"/>
                  </a:lnTo>
                  <a:lnTo>
                    <a:pt x="3433339" y="1504071"/>
                  </a:lnTo>
                  <a:lnTo>
                    <a:pt x="3441145" y="1463973"/>
                  </a:lnTo>
                  <a:lnTo>
                    <a:pt x="3447251" y="1423823"/>
                  </a:lnTo>
                  <a:lnTo>
                    <a:pt x="3451667" y="1383650"/>
                  </a:lnTo>
                  <a:lnTo>
                    <a:pt x="3454404" y="1343482"/>
                  </a:lnTo>
                  <a:lnTo>
                    <a:pt x="3455474" y="1303350"/>
                  </a:lnTo>
                  <a:lnTo>
                    <a:pt x="3454887" y="1263282"/>
                  </a:lnTo>
                  <a:lnTo>
                    <a:pt x="3452653" y="1223307"/>
                  </a:lnTo>
                  <a:lnTo>
                    <a:pt x="3448785" y="1183455"/>
                  </a:lnTo>
                  <a:lnTo>
                    <a:pt x="3443291" y="1143753"/>
                  </a:lnTo>
                  <a:lnTo>
                    <a:pt x="3436184" y="1104233"/>
                  </a:lnTo>
                  <a:lnTo>
                    <a:pt x="3427474" y="1064922"/>
                  </a:lnTo>
                  <a:lnTo>
                    <a:pt x="3417172" y="1025849"/>
                  </a:lnTo>
                  <a:lnTo>
                    <a:pt x="3405288" y="987045"/>
                  </a:lnTo>
                  <a:lnTo>
                    <a:pt x="3391834" y="948537"/>
                  </a:lnTo>
                  <a:lnTo>
                    <a:pt x="3376819" y="910355"/>
                  </a:lnTo>
                  <a:lnTo>
                    <a:pt x="3360256" y="872529"/>
                  </a:lnTo>
                  <a:lnTo>
                    <a:pt x="3342155" y="835086"/>
                  </a:lnTo>
                  <a:lnTo>
                    <a:pt x="3322526" y="798057"/>
                  </a:lnTo>
                  <a:lnTo>
                    <a:pt x="3301381" y="761470"/>
                  </a:lnTo>
                  <a:lnTo>
                    <a:pt x="3278729" y="725355"/>
                  </a:lnTo>
                  <a:lnTo>
                    <a:pt x="3254583" y="689740"/>
                  </a:lnTo>
                  <a:lnTo>
                    <a:pt x="3228952" y="654655"/>
                  </a:lnTo>
                  <a:lnTo>
                    <a:pt x="3201848" y="620129"/>
                  </a:lnTo>
                  <a:lnTo>
                    <a:pt x="3173282" y="586190"/>
                  </a:lnTo>
                  <a:lnTo>
                    <a:pt x="3143263" y="552868"/>
                  </a:lnTo>
                  <a:lnTo>
                    <a:pt x="3111804" y="520193"/>
                  </a:lnTo>
                  <a:lnTo>
                    <a:pt x="3078914" y="488193"/>
                  </a:lnTo>
                  <a:lnTo>
                    <a:pt x="3044604" y="456896"/>
                  </a:lnTo>
                  <a:lnTo>
                    <a:pt x="3008886" y="426334"/>
                  </a:lnTo>
                  <a:lnTo>
                    <a:pt x="2971771" y="396533"/>
                  </a:lnTo>
                  <a:lnTo>
                    <a:pt x="2933268" y="367524"/>
                  </a:lnTo>
                  <a:lnTo>
                    <a:pt x="2893388" y="339336"/>
                  </a:lnTo>
                  <a:lnTo>
                    <a:pt x="2852144" y="311997"/>
                  </a:lnTo>
                  <a:lnTo>
                    <a:pt x="2809544" y="285538"/>
                  </a:lnTo>
                  <a:lnTo>
                    <a:pt x="2765601" y="259986"/>
                  </a:lnTo>
                  <a:lnTo>
                    <a:pt x="2720325" y="235371"/>
                  </a:lnTo>
                  <a:lnTo>
                    <a:pt x="2673726" y="211722"/>
                  </a:lnTo>
                  <a:lnTo>
                    <a:pt x="2625816" y="189069"/>
                  </a:lnTo>
                  <a:lnTo>
                    <a:pt x="2576605" y="167439"/>
                  </a:lnTo>
                  <a:lnTo>
                    <a:pt x="2530223" y="148483"/>
                  </a:lnTo>
                  <a:lnTo>
                    <a:pt x="2483414" y="130697"/>
                  </a:lnTo>
                  <a:lnTo>
                    <a:pt x="2436208" y="114075"/>
                  </a:lnTo>
                  <a:lnTo>
                    <a:pt x="2388636" y="98611"/>
                  </a:lnTo>
                  <a:lnTo>
                    <a:pt x="2340729" y="84298"/>
                  </a:lnTo>
                  <a:lnTo>
                    <a:pt x="2292517" y="71130"/>
                  </a:lnTo>
                  <a:lnTo>
                    <a:pt x="2244032" y="59100"/>
                  </a:lnTo>
                  <a:lnTo>
                    <a:pt x="2195304" y="48203"/>
                  </a:lnTo>
                  <a:lnTo>
                    <a:pt x="2146363" y="38430"/>
                  </a:lnTo>
                  <a:lnTo>
                    <a:pt x="2097241" y="29777"/>
                  </a:lnTo>
                  <a:lnTo>
                    <a:pt x="2047968" y="22237"/>
                  </a:lnTo>
                  <a:lnTo>
                    <a:pt x="1998575" y="15802"/>
                  </a:lnTo>
                  <a:lnTo>
                    <a:pt x="1949094" y="10468"/>
                  </a:lnTo>
                  <a:lnTo>
                    <a:pt x="1899553" y="6227"/>
                  </a:lnTo>
                  <a:lnTo>
                    <a:pt x="1849986" y="3073"/>
                  </a:lnTo>
                  <a:lnTo>
                    <a:pt x="1800421" y="999"/>
                  </a:lnTo>
                  <a:lnTo>
                    <a:pt x="175089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971510" y="1678505"/>
              <a:ext cx="3455670" cy="2917190"/>
            </a:xfrm>
            <a:custGeom>
              <a:avLst/>
              <a:gdLst/>
              <a:ahLst/>
              <a:cxnLst/>
              <a:rect l="l" t="t" r="r" b="b"/>
              <a:pathLst>
                <a:path w="3455670" h="2917190">
                  <a:moveTo>
                    <a:pt x="1008028" y="2916608"/>
                  </a:moveTo>
                  <a:lnTo>
                    <a:pt x="878869" y="2425245"/>
                  </a:lnTo>
                  <a:lnTo>
                    <a:pt x="829658" y="2403616"/>
                  </a:lnTo>
                  <a:lnTo>
                    <a:pt x="781748" y="2380963"/>
                  </a:lnTo>
                  <a:lnTo>
                    <a:pt x="735149" y="2357314"/>
                  </a:lnTo>
                  <a:lnTo>
                    <a:pt x="689873" y="2332699"/>
                  </a:lnTo>
                  <a:lnTo>
                    <a:pt x="645929" y="2307147"/>
                  </a:lnTo>
                  <a:lnTo>
                    <a:pt x="603330" y="2280688"/>
                  </a:lnTo>
                  <a:lnTo>
                    <a:pt x="562085" y="2253349"/>
                  </a:lnTo>
                  <a:lnTo>
                    <a:pt x="522206" y="2225161"/>
                  </a:lnTo>
                  <a:lnTo>
                    <a:pt x="483703" y="2196152"/>
                  </a:lnTo>
                  <a:lnTo>
                    <a:pt x="446587" y="2166351"/>
                  </a:lnTo>
                  <a:lnTo>
                    <a:pt x="410869" y="2135789"/>
                  </a:lnTo>
                  <a:lnTo>
                    <a:pt x="376560" y="2104492"/>
                  </a:lnTo>
                  <a:lnTo>
                    <a:pt x="343670" y="2072492"/>
                  </a:lnTo>
                  <a:lnTo>
                    <a:pt x="312210" y="2039816"/>
                  </a:lnTo>
                  <a:lnTo>
                    <a:pt x="282192" y="2006495"/>
                  </a:lnTo>
                  <a:lnTo>
                    <a:pt x="253625" y="1972556"/>
                  </a:lnTo>
                  <a:lnTo>
                    <a:pt x="226521" y="1938030"/>
                  </a:lnTo>
                  <a:lnTo>
                    <a:pt x="200891" y="1902945"/>
                  </a:lnTo>
                  <a:lnTo>
                    <a:pt x="176744" y="1867330"/>
                  </a:lnTo>
                  <a:lnTo>
                    <a:pt x="154093" y="1831215"/>
                  </a:lnTo>
                  <a:lnTo>
                    <a:pt x="132948" y="1794628"/>
                  </a:lnTo>
                  <a:lnTo>
                    <a:pt x="113319" y="1757599"/>
                  </a:lnTo>
                  <a:lnTo>
                    <a:pt x="95217" y="1720156"/>
                  </a:lnTo>
                  <a:lnTo>
                    <a:pt x="78654" y="1682330"/>
                  </a:lnTo>
                  <a:lnTo>
                    <a:pt x="63640" y="1644148"/>
                  </a:lnTo>
                  <a:lnTo>
                    <a:pt x="50186" y="1605640"/>
                  </a:lnTo>
                  <a:lnTo>
                    <a:pt x="38302" y="1566836"/>
                  </a:lnTo>
                  <a:lnTo>
                    <a:pt x="27999" y="1527763"/>
                  </a:lnTo>
                  <a:lnTo>
                    <a:pt x="19289" y="1488452"/>
                  </a:lnTo>
                  <a:lnTo>
                    <a:pt x="12182" y="1448931"/>
                  </a:lnTo>
                  <a:lnTo>
                    <a:pt x="6689" y="1409230"/>
                  </a:lnTo>
                  <a:lnTo>
                    <a:pt x="2820" y="1369378"/>
                  </a:lnTo>
                  <a:lnTo>
                    <a:pt x="587" y="1329403"/>
                  </a:lnTo>
                  <a:lnTo>
                    <a:pt x="0" y="1289335"/>
                  </a:lnTo>
                  <a:lnTo>
                    <a:pt x="1069" y="1249202"/>
                  </a:lnTo>
                  <a:lnTo>
                    <a:pt x="3807" y="1209035"/>
                  </a:lnTo>
                  <a:lnTo>
                    <a:pt x="8223" y="1168862"/>
                  </a:lnTo>
                  <a:lnTo>
                    <a:pt x="14328" y="1128712"/>
                  </a:lnTo>
                  <a:lnTo>
                    <a:pt x="22134" y="1088614"/>
                  </a:lnTo>
                  <a:lnTo>
                    <a:pt x="31651" y="1048598"/>
                  </a:lnTo>
                  <a:lnTo>
                    <a:pt x="42889" y="1008692"/>
                  </a:lnTo>
                  <a:lnTo>
                    <a:pt x="55860" y="968926"/>
                  </a:lnTo>
                  <a:lnTo>
                    <a:pt x="70574" y="929328"/>
                  </a:lnTo>
                  <a:lnTo>
                    <a:pt x="87043" y="889928"/>
                  </a:lnTo>
                  <a:lnTo>
                    <a:pt x="105276" y="850755"/>
                  </a:lnTo>
                  <a:lnTo>
                    <a:pt x="125285" y="811838"/>
                  </a:lnTo>
                  <a:lnTo>
                    <a:pt x="147081" y="773206"/>
                  </a:lnTo>
                  <a:lnTo>
                    <a:pt x="170674" y="734888"/>
                  </a:lnTo>
                  <a:lnTo>
                    <a:pt x="196075" y="696913"/>
                  </a:lnTo>
                  <a:lnTo>
                    <a:pt x="223295" y="659310"/>
                  </a:lnTo>
                  <a:lnTo>
                    <a:pt x="249940" y="625091"/>
                  </a:lnTo>
                  <a:lnTo>
                    <a:pt x="277758" y="591707"/>
                  </a:lnTo>
                  <a:lnTo>
                    <a:pt x="306718" y="559166"/>
                  </a:lnTo>
                  <a:lnTo>
                    <a:pt x="336788" y="527474"/>
                  </a:lnTo>
                  <a:lnTo>
                    <a:pt x="367938" y="496637"/>
                  </a:lnTo>
                  <a:lnTo>
                    <a:pt x="400138" y="466662"/>
                  </a:lnTo>
                  <a:lnTo>
                    <a:pt x="433356" y="437555"/>
                  </a:lnTo>
                  <a:lnTo>
                    <a:pt x="467561" y="409323"/>
                  </a:lnTo>
                  <a:lnTo>
                    <a:pt x="502724" y="381972"/>
                  </a:lnTo>
                  <a:lnTo>
                    <a:pt x="538813" y="355509"/>
                  </a:lnTo>
                  <a:lnTo>
                    <a:pt x="575797" y="329940"/>
                  </a:lnTo>
                  <a:lnTo>
                    <a:pt x="613646" y="305271"/>
                  </a:lnTo>
                  <a:lnTo>
                    <a:pt x="652329" y="281509"/>
                  </a:lnTo>
                  <a:lnTo>
                    <a:pt x="691815" y="258660"/>
                  </a:lnTo>
                  <a:lnTo>
                    <a:pt x="732074" y="236731"/>
                  </a:lnTo>
                  <a:lnTo>
                    <a:pt x="773074" y="215728"/>
                  </a:lnTo>
                  <a:lnTo>
                    <a:pt x="814784" y="195658"/>
                  </a:lnTo>
                  <a:lnTo>
                    <a:pt x="857175" y="176527"/>
                  </a:lnTo>
                  <a:lnTo>
                    <a:pt x="900215" y="158341"/>
                  </a:lnTo>
                  <a:lnTo>
                    <a:pt x="943874" y="141107"/>
                  </a:lnTo>
                  <a:lnTo>
                    <a:pt x="988120" y="124832"/>
                  </a:lnTo>
                  <a:lnTo>
                    <a:pt x="1032924" y="109521"/>
                  </a:lnTo>
                  <a:lnTo>
                    <a:pt x="1078253" y="95181"/>
                  </a:lnTo>
                  <a:lnTo>
                    <a:pt x="1124078" y="81819"/>
                  </a:lnTo>
                  <a:lnTo>
                    <a:pt x="1170368" y="69441"/>
                  </a:lnTo>
                  <a:lnTo>
                    <a:pt x="1217092" y="58053"/>
                  </a:lnTo>
                  <a:lnTo>
                    <a:pt x="1264219" y="47663"/>
                  </a:lnTo>
                  <a:lnTo>
                    <a:pt x="1311718" y="38275"/>
                  </a:lnTo>
                  <a:lnTo>
                    <a:pt x="1359558" y="29898"/>
                  </a:lnTo>
                  <a:lnTo>
                    <a:pt x="1407710" y="22536"/>
                  </a:lnTo>
                  <a:lnTo>
                    <a:pt x="1456142" y="16197"/>
                  </a:lnTo>
                  <a:lnTo>
                    <a:pt x="1504823" y="10887"/>
                  </a:lnTo>
                  <a:lnTo>
                    <a:pt x="1553722" y="6613"/>
                  </a:lnTo>
                  <a:lnTo>
                    <a:pt x="1602809" y="3381"/>
                  </a:lnTo>
                  <a:lnTo>
                    <a:pt x="1652054" y="1197"/>
                  </a:lnTo>
                  <a:lnTo>
                    <a:pt x="1701424" y="68"/>
                  </a:lnTo>
                  <a:lnTo>
                    <a:pt x="1750890" y="0"/>
                  </a:lnTo>
                  <a:lnTo>
                    <a:pt x="1800421" y="999"/>
                  </a:lnTo>
                  <a:lnTo>
                    <a:pt x="1849986" y="3073"/>
                  </a:lnTo>
                  <a:lnTo>
                    <a:pt x="1899553" y="6227"/>
                  </a:lnTo>
                  <a:lnTo>
                    <a:pt x="1949094" y="10468"/>
                  </a:lnTo>
                  <a:lnTo>
                    <a:pt x="1998575" y="15802"/>
                  </a:lnTo>
                  <a:lnTo>
                    <a:pt x="2047968" y="22237"/>
                  </a:lnTo>
                  <a:lnTo>
                    <a:pt x="2097241" y="29777"/>
                  </a:lnTo>
                  <a:lnTo>
                    <a:pt x="2146363" y="38430"/>
                  </a:lnTo>
                  <a:lnTo>
                    <a:pt x="2195304" y="48203"/>
                  </a:lnTo>
                  <a:lnTo>
                    <a:pt x="2244032" y="59100"/>
                  </a:lnTo>
                  <a:lnTo>
                    <a:pt x="2292517" y="71130"/>
                  </a:lnTo>
                  <a:lnTo>
                    <a:pt x="2340729" y="84298"/>
                  </a:lnTo>
                  <a:lnTo>
                    <a:pt x="2388636" y="98611"/>
                  </a:lnTo>
                  <a:lnTo>
                    <a:pt x="2436208" y="114075"/>
                  </a:lnTo>
                  <a:lnTo>
                    <a:pt x="2483414" y="130697"/>
                  </a:lnTo>
                  <a:lnTo>
                    <a:pt x="2530223" y="148483"/>
                  </a:lnTo>
                  <a:lnTo>
                    <a:pt x="2576605" y="167439"/>
                  </a:lnTo>
                  <a:lnTo>
                    <a:pt x="2625816" y="189069"/>
                  </a:lnTo>
                  <a:lnTo>
                    <a:pt x="2673726" y="211722"/>
                  </a:lnTo>
                  <a:lnTo>
                    <a:pt x="2720325" y="235371"/>
                  </a:lnTo>
                  <a:lnTo>
                    <a:pt x="2765601" y="259986"/>
                  </a:lnTo>
                  <a:lnTo>
                    <a:pt x="2809544" y="285538"/>
                  </a:lnTo>
                  <a:lnTo>
                    <a:pt x="2852144" y="311997"/>
                  </a:lnTo>
                  <a:lnTo>
                    <a:pt x="2893388" y="339336"/>
                  </a:lnTo>
                  <a:lnTo>
                    <a:pt x="2933268" y="367524"/>
                  </a:lnTo>
                  <a:lnTo>
                    <a:pt x="2971771" y="396533"/>
                  </a:lnTo>
                  <a:lnTo>
                    <a:pt x="3008886" y="426334"/>
                  </a:lnTo>
                  <a:lnTo>
                    <a:pt x="3044604" y="456896"/>
                  </a:lnTo>
                  <a:lnTo>
                    <a:pt x="3078914" y="488193"/>
                  </a:lnTo>
                  <a:lnTo>
                    <a:pt x="3111804" y="520193"/>
                  </a:lnTo>
                  <a:lnTo>
                    <a:pt x="3143263" y="552868"/>
                  </a:lnTo>
                  <a:lnTo>
                    <a:pt x="3173282" y="586190"/>
                  </a:lnTo>
                  <a:lnTo>
                    <a:pt x="3201848" y="620129"/>
                  </a:lnTo>
                  <a:lnTo>
                    <a:pt x="3228952" y="654655"/>
                  </a:lnTo>
                  <a:lnTo>
                    <a:pt x="3254583" y="689740"/>
                  </a:lnTo>
                  <a:lnTo>
                    <a:pt x="3278729" y="725355"/>
                  </a:lnTo>
                  <a:lnTo>
                    <a:pt x="3301381" y="761470"/>
                  </a:lnTo>
                  <a:lnTo>
                    <a:pt x="3322526" y="798057"/>
                  </a:lnTo>
                  <a:lnTo>
                    <a:pt x="3342155" y="835086"/>
                  </a:lnTo>
                  <a:lnTo>
                    <a:pt x="3360256" y="872529"/>
                  </a:lnTo>
                  <a:lnTo>
                    <a:pt x="3376819" y="910355"/>
                  </a:lnTo>
                  <a:lnTo>
                    <a:pt x="3391834" y="948537"/>
                  </a:lnTo>
                  <a:lnTo>
                    <a:pt x="3405288" y="987045"/>
                  </a:lnTo>
                  <a:lnTo>
                    <a:pt x="3417172" y="1025849"/>
                  </a:lnTo>
                  <a:lnTo>
                    <a:pt x="3427474" y="1064922"/>
                  </a:lnTo>
                  <a:lnTo>
                    <a:pt x="3436184" y="1104233"/>
                  </a:lnTo>
                  <a:lnTo>
                    <a:pt x="3443291" y="1143753"/>
                  </a:lnTo>
                  <a:lnTo>
                    <a:pt x="3448785" y="1183455"/>
                  </a:lnTo>
                  <a:lnTo>
                    <a:pt x="3452653" y="1223307"/>
                  </a:lnTo>
                  <a:lnTo>
                    <a:pt x="3454887" y="1263282"/>
                  </a:lnTo>
                  <a:lnTo>
                    <a:pt x="3455474" y="1303350"/>
                  </a:lnTo>
                  <a:lnTo>
                    <a:pt x="3454404" y="1343482"/>
                  </a:lnTo>
                  <a:lnTo>
                    <a:pt x="3451667" y="1383650"/>
                  </a:lnTo>
                  <a:lnTo>
                    <a:pt x="3447251" y="1423823"/>
                  </a:lnTo>
                  <a:lnTo>
                    <a:pt x="3441145" y="1463973"/>
                  </a:lnTo>
                  <a:lnTo>
                    <a:pt x="3433339" y="1504071"/>
                  </a:lnTo>
                  <a:lnTo>
                    <a:pt x="3423823" y="1544087"/>
                  </a:lnTo>
                  <a:lnTo>
                    <a:pt x="3412584" y="1583993"/>
                  </a:lnTo>
                  <a:lnTo>
                    <a:pt x="3399613" y="1623759"/>
                  </a:lnTo>
                  <a:lnTo>
                    <a:pt x="3384899" y="1663357"/>
                  </a:lnTo>
                  <a:lnTo>
                    <a:pt x="3368431" y="1702757"/>
                  </a:lnTo>
                  <a:lnTo>
                    <a:pt x="3350197" y="1741930"/>
                  </a:lnTo>
                  <a:lnTo>
                    <a:pt x="3330188" y="1780847"/>
                  </a:lnTo>
                  <a:lnTo>
                    <a:pt x="3308393" y="1819479"/>
                  </a:lnTo>
                  <a:lnTo>
                    <a:pt x="3284800" y="1857797"/>
                  </a:lnTo>
                  <a:lnTo>
                    <a:pt x="3259399" y="1895772"/>
                  </a:lnTo>
                  <a:lnTo>
                    <a:pt x="3232179" y="1933374"/>
                  </a:lnTo>
                  <a:lnTo>
                    <a:pt x="3205595" y="1967500"/>
                  </a:lnTo>
                  <a:lnTo>
                    <a:pt x="3177776" y="2000851"/>
                  </a:lnTo>
                  <a:lnTo>
                    <a:pt x="3148752" y="2033415"/>
                  </a:lnTo>
                  <a:lnTo>
                    <a:pt x="3118552" y="2065182"/>
                  </a:lnTo>
                  <a:lnTo>
                    <a:pt x="3087208" y="2096140"/>
                  </a:lnTo>
                  <a:lnTo>
                    <a:pt x="3054749" y="2126277"/>
                  </a:lnTo>
                  <a:lnTo>
                    <a:pt x="3021206" y="2155583"/>
                  </a:lnTo>
                  <a:lnTo>
                    <a:pt x="2986610" y="2184046"/>
                  </a:lnTo>
                  <a:lnTo>
                    <a:pt x="2950989" y="2211654"/>
                  </a:lnTo>
                  <a:lnTo>
                    <a:pt x="2914375" y="2238397"/>
                  </a:lnTo>
                  <a:lnTo>
                    <a:pt x="2876798" y="2264262"/>
                  </a:lnTo>
                  <a:lnTo>
                    <a:pt x="2838288" y="2289238"/>
                  </a:lnTo>
                  <a:lnTo>
                    <a:pt x="2798876" y="2313315"/>
                  </a:lnTo>
                  <a:lnTo>
                    <a:pt x="2758591" y="2336480"/>
                  </a:lnTo>
                  <a:lnTo>
                    <a:pt x="2717465" y="2358722"/>
                  </a:lnTo>
                  <a:lnTo>
                    <a:pt x="2675527" y="2380030"/>
                  </a:lnTo>
                  <a:lnTo>
                    <a:pt x="2632807" y="2400393"/>
                  </a:lnTo>
                  <a:lnTo>
                    <a:pt x="2589336" y="2419799"/>
                  </a:lnTo>
                  <a:lnTo>
                    <a:pt x="2545144" y="2438236"/>
                  </a:lnTo>
                  <a:lnTo>
                    <a:pt x="2500262" y="2455694"/>
                  </a:lnTo>
                  <a:lnTo>
                    <a:pt x="2454719" y="2472160"/>
                  </a:lnTo>
                  <a:lnTo>
                    <a:pt x="2408547" y="2487624"/>
                  </a:lnTo>
                  <a:lnTo>
                    <a:pt x="2361774" y="2502075"/>
                  </a:lnTo>
                  <a:lnTo>
                    <a:pt x="2314432" y="2515500"/>
                  </a:lnTo>
                  <a:lnTo>
                    <a:pt x="2266551" y="2527888"/>
                  </a:lnTo>
                  <a:lnTo>
                    <a:pt x="2218161" y="2539229"/>
                  </a:lnTo>
                  <a:lnTo>
                    <a:pt x="2169292" y="2549510"/>
                  </a:lnTo>
                  <a:lnTo>
                    <a:pt x="2119975" y="2558720"/>
                  </a:lnTo>
                  <a:lnTo>
                    <a:pt x="2070240" y="2566848"/>
                  </a:lnTo>
                  <a:lnTo>
                    <a:pt x="2020117" y="2573883"/>
                  </a:lnTo>
                  <a:lnTo>
                    <a:pt x="1969636" y="2579813"/>
                  </a:lnTo>
                  <a:lnTo>
                    <a:pt x="1918828" y="2584626"/>
                  </a:lnTo>
                  <a:lnTo>
                    <a:pt x="1867723" y="2588312"/>
                  </a:lnTo>
                  <a:lnTo>
                    <a:pt x="1816352" y="2590859"/>
                  </a:lnTo>
                  <a:lnTo>
                    <a:pt x="1764744" y="2592255"/>
                  </a:lnTo>
                  <a:lnTo>
                    <a:pt x="1712929" y="2592490"/>
                  </a:lnTo>
                  <a:lnTo>
                    <a:pt x="1660939" y="2591551"/>
                  </a:lnTo>
                  <a:lnTo>
                    <a:pt x="1608804" y="2589428"/>
                  </a:lnTo>
                  <a:lnTo>
                    <a:pt x="1556553" y="2586109"/>
                  </a:lnTo>
                  <a:lnTo>
                    <a:pt x="1504217" y="2581582"/>
                  </a:lnTo>
                  <a:lnTo>
                    <a:pt x="1008028" y="2916608"/>
                  </a:lnTo>
                  <a:close/>
                </a:path>
              </a:pathLst>
            </a:custGeom>
            <a:ln w="254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6727317" y="2076450"/>
            <a:ext cx="2552065" cy="1891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marR="841375" indent="-287020">
              <a:lnSpc>
                <a:spcPct val="100000"/>
              </a:lnSpc>
              <a:spcBef>
                <a:spcPts val="100"/>
              </a:spcBef>
              <a:buClr>
                <a:srgbClr val="EC7C30"/>
              </a:buClr>
              <a:buSzPct val="69444"/>
              <a:buFont typeface="Arial"/>
              <a:buChar char="•"/>
              <a:tabLst>
                <a:tab pos="299085" algn="l"/>
              </a:tabLst>
            </a:pPr>
            <a:r>
              <a:rPr dirty="0" sz="1800">
                <a:solidFill>
                  <a:srgbClr val="FFFF00"/>
                </a:solidFill>
                <a:latin typeface="Calibri"/>
                <a:cs typeface="Calibri"/>
              </a:rPr>
              <a:t>What</a:t>
            </a:r>
            <a:r>
              <a:rPr dirty="0" sz="1800" spc="-2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00"/>
                </a:solidFill>
                <a:latin typeface="Calibri"/>
                <a:cs typeface="Calibri"/>
              </a:rPr>
              <a:t>are</a:t>
            </a:r>
            <a:r>
              <a:rPr dirty="0" sz="1800" spc="-25">
                <a:solidFill>
                  <a:srgbClr val="FFFF00"/>
                </a:solidFill>
                <a:latin typeface="Calibri"/>
                <a:cs typeface="Calibri"/>
              </a:rPr>
              <a:t> the </a:t>
            </a:r>
            <a:r>
              <a:rPr dirty="0" sz="1800" spc="-10">
                <a:solidFill>
                  <a:srgbClr val="FFFF00"/>
                </a:solidFill>
                <a:latin typeface="Calibri"/>
                <a:cs typeface="Calibri"/>
              </a:rPr>
              <a:t>dependencies?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434"/>
              </a:spcBef>
              <a:buClr>
                <a:srgbClr val="EC7C30"/>
              </a:buClr>
              <a:buSzPct val="69444"/>
              <a:buFont typeface="Arial"/>
              <a:buChar char="•"/>
              <a:tabLst>
                <a:tab pos="299085" algn="l"/>
              </a:tabLst>
            </a:pPr>
            <a:r>
              <a:rPr dirty="0" sz="1800">
                <a:solidFill>
                  <a:srgbClr val="FFFF00"/>
                </a:solidFill>
                <a:latin typeface="Calibri"/>
                <a:cs typeface="Calibri"/>
              </a:rPr>
              <a:t>No</a:t>
            </a:r>
            <a:r>
              <a:rPr dirty="0" sz="1800" spc="-6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00"/>
                </a:solidFill>
                <a:latin typeface="Calibri"/>
                <a:cs typeface="Calibri"/>
              </a:rPr>
              <a:t>machines</a:t>
            </a:r>
            <a:r>
              <a:rPr dirty="0" sz="1800" spc="-35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00"/>
                </a:solidFill>
                <a:latin typeface="Calibri"/>
                <a:cs typeface="Calibri"/>
              </a:rPr>
              <a:t>available…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430"/>
              </a:spcBef>
              <a:buClr>
                <a:srgbClr val="EC7C30"/>
              </a:buClr>
              <a:buSzPct val="69444"/>
              <a:buFont typeface="Arial"/>
              <a:buChar char="•"/>
              <a:tabLst>
                <a:tab pos="299085" algn="l"/>
              </a:tabLst>
            </a:pPr>
            <a:r>
              <a:rPr dirty="0" sz="1800">
                <a:solidFill>
                  <a:srgbClr val="FFFF00"/>
                </a:solidFill>
                <a:latin typeface="Calibri"/>
                <a:cs typeface="Calibri"/>
              </a:rPr>
              <a:t>Which</a:t>
            </a:r>
            <a:r>
              <a:rPr dirty="0" sz="1800" spc="-25">
                <a:solidFill>
                  <a:srgbClr val="FFFF00"/>
                </a:solidFill>
                <a:latin typeface="Calibri"/>
                <a:cs typeface="Calibri"/>
              </a:rPr>
              <a:t> DB?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430"/>
              </a:spcBef>
              <a:buClr>
                <a:srgbClr val="EC7C30"/>
              </a:buClr>
              <a:buSzPct val="69444"/>
              <a:buFont typeface="Arial"/>
              <a:buChar char="•"/>
              <a:tabLst>
                <a:tab pos="299085" algn="l"/>
              </a:tabLst>
            </a:pPr>
            <a:r>
              <a:rPr dirty="0" sz="1800">
                <a:solidFill>
                  <a:srgbClr val="FFFF00"/>
                </a:solidFill>
                <a:latin typeface="Calibri"/>
                <a:cs typeface="Calibri"/>
              </a:rPr>
              <a:t>High</a:t>
            </a:r>
            <a:r>
              <a:rPr dirty="0" sz="1800" spc="-35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00"/>
                </a:solidFill>
                <a:latin typeface="Calibri"/>
                <a:cs typeface="Calibri"/>
              </a:rPr>
              <a:t>Availability?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434"/>
              </a:spcBef>
              <a:buClr>
                <a:srgbClr val="EC7C30"/>
              </a:buClr>
              <a:buSzPct val="69444"/>
              <a:buFont typeface="Arial"/>
              <a:buChar char="•"/>
              <a:tabLst>
                <a:tab pos="299085" algn="l"/>
              </a:tabLst>
            </a:pPr>
            <a:r>
              <a:rPr dirty="0" sz="1800" spc="-10">
                <a:solidFill>
                  <a:srgbClr val="FFFF00"/>
                </a:solidFill>
                <a:latin typeface="Calibri"/>
                <a:cs typeface="Calibri"/>
              </a:rPr>
              <a:t>Scalability?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0842" y="217805"/>
            <a:ext cx="5478780" cy="85344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475"/>
              </a:spcBef>
            </a:pPr>
            <a:r>
              <a:rPr dirty="0" sz="2400" b="1">
                <a:solidFill>
                  <a:srgbClr val="2E5496"/>
                </a:solidFill>
                <a:latin typeface="Calibri"/>
                <a:cs typeface="Calibri"/>
              </a:rPr>
              <a:t>CLOUD</a:t>
            </a:r>
            <a:r>
              <a:rPr dirty="0" sz="2400" spc="-15" b="1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496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Make</a:t>
            </a:r>
            <a:r>
              <a:rPr dirty="0" sz="2400" spc="-3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the</a:t>
            </a:r>
            <a:r>
              <a:rPr dirty="0" sz="2400" spc="-5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balance</a:t>
            </a:r>
            <a:r>
              <a:rPr dirty="0" sz="2400" spc="-4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between</a:t>
            </a:r>
            <a:r>
              <a:rPr dirty="0" sz="2400" spc="-6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Dev</a:t>
            </a:r>
            <a:r>
              <a:rPr dirty="0" sz="2400" spc="-2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&amp;</a:t>
            </a:r>
            <a:r>
              <a:rPr dirty="0" sz="2400" spc="-3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spc="-25" b="1">
                <a:solidFill>
                  <a:srgbClr val="C55A11"/>
                </a:solidFill>
                <a:latin typeface="Arial"/>
                <a:cs typeface="Arial"/>
              </a:rPr>
              <a:t>Ops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7591" y="1581911"/>
            <a:ext cx="7229856" cy="357987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80745" y="5442305"/>
            <a:ext cx="1038352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pre-</a:t>
            </a:r>
            <a:r>
              <a:rPr dirty="0" sz="2400">
                <a:latin typeface="Calibri"/>
                <a:cs typeface="Calibri"/>
              </a:rPr>
              <a:t>cloud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era,</a:t>
            </a:r>
            <a:r>
              <a:rPr dirty="0" sz="2400" spc="4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requires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lot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manual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intervention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like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procuring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machines,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etc.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80"/>
              </a:spcBef>
            </a:pP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cloud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–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automation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possible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150" rIns="0" bIns="0" rtlCol="0" vert="horz">
            <a:spAutoFit/>
          </a:bodyPr>
          <a:lstStyle/>
          <a:p>
            <a:pPr marL="198120">
              <a:lnSpc>
                <a:spcPct val="100000"/>
              </a:lnSpc>
              <a:spcBef>
                <a:spcPts val="450"/>
              </a:spcBef>
            </a:pPr>
            <a:r>
              <a:rPr dirty="0"/>
              <a:t>CLOUD</a:t>
            </a:r>
            <a:r>
              <a:rPr dirty="0" spc="-15"/>
              <a:t> </a:t>
            </a:r>
            <a:r>
              <a:rPr dirty="0" spc="-10"/>
              <a:t>COMPUTING</a:t>
            </a:r>
          </a:p>
          <a:p>
            <a:pPr marL="198755">
              <a:lnSpc>
                <a:spcPct val="100000"/>
              </a:lnSpc>
              <a:spcBef>
                <a:spcPts val="350"/>
              </a:spcBef>
            </a:pPr>
            <a:r>
              <a:rPr dirty="0">
                <a:solidFill>
                  <a:srgbClr val="C55A11"/>
                </a:solidFill>
              </a:rPr>
              <a:t>Cloud</a:t>
            </a:r>
            <a:r>
              <a:rPr dirty="0" spc="-10">
                <a:solidFill>
                  <a:srgbClr val="C55A11"/>
                </a:solidFill>
              </a:rPr>
              <a:t> </a:t>
            </a:r>
            <a:r>
              <a:rPr dirty="0" spc="-20">
                <a:solidFill>
                  <a:srgbClr val="C55A11"/>
                </a:solidFill>
              </a:rPr>
              <a:t>SDLC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106424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52094" y="1208075"/>
            <a:ext cx="4269740" cy="898525"/>
          </a:xfrm>
          <a:prstGeom prst="rect">
            <a:avLst/>
          </a:prstGeom>
        </p:spPr>
        <p:txBody>
          <a:bodyPr wrap="square" lIns="0" tIns="113664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94"/>
              </a:spcBef>
              <a:buSzPct val="81818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Customer</a:t>
            </a:r>
            <a:r>
              <a:rPr dirty="0" sz="2200" spc="-1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generates</a:t>
            </a:r>
            <a:r>
              <a:rPr dirty="0" sz="2200" spc="-11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requirements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95"/>
              </a:spcBef>
              <a:buSzPct val="81818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Do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design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09294" y="2088748"/>
            <a:ext cx="5682615" cy="1461135"/>
          </a:xfrm>
          <a:prstGeom prst="rect">
            <a:avLst/>
          </a:prstGeom>
        </p:spPr>
        <p:txBody>
          <a:bodyPr wrap="square" lIns="0" tIns="15557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225"/>
              </a:spcBef>
              <a:buSzPct val="81818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Different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teams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work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different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components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125"/>
              </a:spcBef>
              <a:buSzPct val="81818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Integrated</a:t>
            </a:r>
            <a:r>
              <a:rPr dirty="0" sz="2200" spc="-9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together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130"/>
              </a:spcBef>
              <a:buSzPct val="81818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Then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tested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for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9294" y="3516528"/>
            <a:ext cx="6235700" cy="2747645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812165" indent="-342900">
              <a:lnSpc>
                <a:spcPct val="100000"/>
              </a:lnSpc>
              <a:spcBef>
                <a:spcPts val="890"/>
              </a:spcBef>
              <a:buSzPct val="81818"/>
              <a:buFont typeface="Arial"/>
              <a:buChar char="•"/>
              <a:tabLst>
                <a:tab pos="812165" algn="l"/>
              </a:tabLst>
            </a:pPr>
            <a:r>
              <a:rPr dirty="0" sz="2200" spc="-10">
                <a:latin typeface="Calibri"/>
                <a:cs typeface="Calibri"/>
              </a:rPr>
              <a:t>Functionality</a:t>
            </a:r>
            <a:endParaRPr sz="2200">
              <a:latin typeface="Calibri"/>
              <a:cs typeface="Calibri"/>
            </a:endParaRPr>
          </a:p>
          <a:p>
            <a:pPr marL="812165" indent="-342900">
              <a:lnSpc>
                <a:spcPct val="100000"/>
              </a:lnSpc>
              <a:spcBef>
                <a:spcPts val="795"/>
              </a:spcBef>
              <a:buSzPct val="81818"/>
              <a:buFont typeface="Arial"/>
              <a:buChar char="•"/>
              <a:tabLst>
                <a:tab pos="812165" algn="l"/>
              </a:tabLst>
            </a:pPr>
            <a:r>
              <a:rPr dirty="0" sz="2200">
                <a:latin typeface="Calibri"/>
                <a:cs typeface="Calibri"/>
              </a:rPr>
              <a:t>Similarity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customer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deployment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395"/>
              </a:spcBef>
              <a:buSzPct val="81818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Then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deployment,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need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talk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cloud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team.</a:t>
            </a:r>
            <a:endParaRPr sz="2200">
              <a:latin typeface="Calibri"/>
              <a:cs typeface="Calibri"/>
            </a:endParaRPr>
          </a:p>
          <a:p>
            <a:pPr lvl="1" marL="812165" indent="-342900">
              <a:lnSpc>
                <a:spcPct val="100000"/>
              </a:lnSpc>
              <a:spcBef>
                <a:spcPts val="980"/>
              </a:spcBef>
              <a:buSzPct val="81818"/>
              <a:buFont typeface="Arial"/>
              <a:buChar char="•"/>
              <a:tabLst>
                <a:tab pos="812165" algn="l"/>
              </a:tabLst>
            </a:pPr>
            <a:r>
              <a:rPr dirty="0" sz="2200">
                <a:latin typeface="Calibri"/>
                <a:cs typeface="Calibri"/>
              </a:rPr>
              <a:t>Handles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deployment,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scaling,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monitoring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25"/>
              </a:spcBef>
            </a:pPr>
            <a:endParaRPr sz="2200">
              <a:latin typeface="Calibri"/>
              <a:cs typeface="Calibri"/>
            </a:endParaRPr>
          </a:p>
          <a:p>
            <a:pPr marL="737235">
              <a:lnSpc>
                <a:spcPct val="100000"/>
              </a:lnSpc>
            </a:pPr>
            <a:r>
              <a:rPr dirty="0" sz="2000">
                <a:solidFill>
                  <a:srgbClr val="C00000"/>
                </a:solidFill>
                <a:latin typeface="Arial"/>
                <a:cs typeface="Arial"/>
              </a:rPr>
              <a:t>So,</a:t>
            </a:r>
            <a:r>
              <a:rPr dirty="0" sz="2000" spc="-1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C00000"/>
                </a:solidFill>
                <a:latin typeface="Arial"/>
                <a:cs typeface="Arial"/>
              </a:rPr>
              <a:t>what</a:t>
            </a:r>
            <a:r>
              <a:rPr dirty="0" sz="2000" spc="-2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C00000"/>
                </a:solidFill>
                <a:latin typeface="Arial"/>
                <a:cs typeface="Arial"/>
              </a:rPr>
              <a:t>are</a:t>
            </a:r>
            <a:r>
              <a:rPr dirty="0" sz="2000" spc="-3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dirty="0" sz="2000" spc="-2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C00000"/>
                </a:solidFill>
                <a:latin typeface="Arial"/>
                <a:cs typeface="Arial"/>
              </a:rPr>
              <a:t>challenges?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83323" y="1330452"/>
            <a:ext cx="5257800" cy="245516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796021" y="2352878"/>
            <a:ext cx="65151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latin typeface="Arial"/>
                <a:cs typeface="Arial"/>
              </a:rPr>
              <a:t>DEV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73778" y="2352878"/>
            <a:ext cx="66992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latin typeface="Arial"/>
                <a:cs typeface="Arial"/>
              </a:rPr>
              <a:t>OPS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37794" y="230717"/>
            <a:ext cx="10165080" cy="419163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2400" b="1">
                <a:solidFill>
                  <a:srgbClr val="2E5496"/>
                </a:solidFill>
                <a:latin typeface="Calibri"/>
                <a:cs typeface="Calibri"/>
              </a:rPr>
              <a:t>CLOUD</a:t>
            </a:r>
            <a:r>
              <a:rPr dirty="0" sz="2400" spc="-15" b="1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496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15240">
              <a:lnSpc>
                <a:spcPct val="100000"/>
              </a:lnSpc>
              <a:spcBef>
                <a:spcPts val="280"/>
              </a:spcBef>
            </a:pPr>
            <a:r>
              <a:rPr dirty="0" sz="2400" spc="-10" b="1">
                <a:solidFill>
                  <a:srgbClr val="C55A11"/>
                </a:solidFill>
                <a:latin typeface="Calibri"/>
                <a:cs typeface="Calibri"/>
              </a:rPr>
              <a:t>Advantages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lr>
                <a:srgbClr val="843B0C"/>
              </a:buClr>
              <a:buSzPct val="50000"/>
              <a:buFont typeface="Wingdings"/>
              <a:buChar char="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Faster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Time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Market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–</a:t>
            </a:r>
            <a:r>
              <a:rPr dirty="0" sz="2400" spc="450"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C00000"/>
                </a:solidFill>
                <a:latin typeface="Calibri"/>
                <a:cs typeface="Calibri"/>
              </a:rPr>
              <a:t>checkins</a:t>
            </a:r>
            <a:r>
              <a:rPr dirty="0" sz="2400" spc="-30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C00000"/>
                </a:solidFill>
                <a:latin typeface="Calibri"/>
                <a:cs typeface="Calibri"/>
              </a:rPr>
              <a:t>more</a:t>
            </a:r>
            <a:r>
              <a:rPr dirty="0" sz="2400" spc="-30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C00000"/>
                </a:solidFill>
                <a:latin typeface="Calibri"/>
                <a:cs typeface="Calibri"/>
              </a:rPr>
              <a:t>often,</a:t>
            </a:r>
            <a:r>
              <a:rPr dirty="0" sz="2400" spc="-40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C00000"/>
                </a:solidFill>
                <a:latin typeface="Calibri"/>
                <a:cs typeface="Calibri"/>
              </a:rPr>
              <a:t>so</a:t>
            </a:r>
            <a:r>
              <a:rPr dirty="0" sz="2400" spc="-35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C00000"/>
                </a:solidFill>
                <a:latin typeface="Calibri"/>
                <a:cs typeface="Calibri"/>
              </a:rPr>
              <a:t>can</a:t>
            </a:r>
            <a:r>
              <a:rPr dirty="0" sz="2400" spc="-45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C00000"/>
                </a:solidFill>
                <a:latin typeface="Calibri"/>
                <a:cs typeface="Calibri"/>
              </a:rPr>
              <a:t>build</a:t>
            </a:r>
            <a:r>
              <a:rPr dirty="0" sz="2400" spc="-45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2400" spc="-35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C00000"/>
                </a:solidFill>
                <a:latin typeface="Calibri"/>
                <a:cs typeface="Calibri"/>
              </a:rPr>
              <a:t>test</a:t>
            </a:r>
            <a:r>
              <a:rPr dirty="0" sz="2400" spc="-50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C00000"/>
                </a:solidFill>
                <a:latin typeface="Calibri"/>
                <a:cs typeface="Calibri"/>
              </a:rPr>
              <a:t>more</a:t>
            </a:r>
            <a:r>
              <a:rPr dirty="0" sz="2400" spc="-30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C00000"/>
                </a:solidFill>
                <a:latin typeface="Calibri"/>
                <a:cs typeface="Calibri"/>
              </a:rPr>
              <a:t>often</a:t>
            </a:r>
            <a:r>
              <a:rPr dirty="0" sz="2400" spc="-1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175"/>
              </a:spcBef>
              <a:buClr>
                <a:srgbClr val="843B0C"/>
              </a:buClr>
              <a:buSzPct val="50000"/>
              <a:buFont typeface="Wingdings"/>
              <a:buChar char="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Quality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Code/Release</a:t>
            </a:r>
            <a:r>
              <a:rPr dirty="0" sz="2400" spc="4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-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C00000"/>
                </a:solidFill>
                <a:latin typeface="Calibri"/>
                <a:cs typeface="Calibri"/>
              </a:rPr>
              <a:t>improved</a:t>
            </a:r>
            <a:r>
              <a:rPr dirty="0" sz="2400" spc="-35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C00000"/>
                </a:solidFill>
                <a:latin typeface="Calibri"/>
                <a:cs typeface="Calibri"/>
              </a:rPr>
              <a:t>because</a:t>
            </a:r>
            <a:r>
              <a:rPr dirty="0" sz="2400" spc="-45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dirty="0" sz="2400" spc="-40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C00000"/>
                </a:solidFill>
                <a:latin typeface="Calibri"/>
                <a:cs typeface="Calibri"/>
              </a:rPr>
              <a:t>frequent</a:t>
            </a:r>
            <a:r>
              <a:rPr dirty="0" sz="2400" spc="-60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C00000"/>
                </a:solidFill>
                <a:latin typeface="Calibri"/>
                <a:cs typeface="Calibri"/>
              </a:rPr>
              <a:t>testing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175"/>
              </a:spcBef>
              <a:buClr>
                <a:srgbClr val="843B0C"/>
              </a:buClr>
              <a:buSzPct val="50000"/>
              <a:buFont typeface="Wingdings"/>
              <a:buChar char="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Integration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C00000"/>
                </a:solidFill>
                <a:latin typeface="Calibri"/>
                <a:cs typeface="Calibri"/>
              </a:rPr>
              <a:t>Often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180"/>
              </a:spcBef>
              <a:buClr>
                <a:srgbClr val="843B0C"/>
              </a:buClr>
              <a:buSzPct val="50000"/>
              <a:buFont typeface="Wingdings"/>
              <a:buChar char="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Deploy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Often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–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C00000"/>
                </a:solidFill>
                <a:latin typeface="Calibri"/>
                <a:cs typeface="Calibri"/>
              </a:rPr>
              <a:t>changes</a:t>
            </a:r>
            <a:r>
              <a:rPr dirty="0" sz="2400" spc="-65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C00000"/>
                </a:solidFill>
                <a:latin typeface="Calibri"/>
                <a:cs typeface="Calibri"/>
              </a:rPr>
              <a:t>reach</a:t>
            </a:r>
            <a:r>
              <a:rPr dirty="0" sz="2400" spc="-70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dirty="0" sz="2400" spc="-60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C00000"/>
                </a:solidFill>
                <a:latin typeface="Calibri"/>
                <a:cs typeface="Calibri"/>
              </a:rPr>
              <a:t>customers</a:t>
            </a:r>
            <a:r>
              <a:rPr dirty="0" sz="2400" spc="-65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C00000"/>
                </a:solidFill>
                <a:latin typeface="Calibri"/>
                <a:cs typeface="Calibri"/>
              </a:rPr>
              <a:t>often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175"/>
              </a:spcBef>
              <a:buClr>
                <a:srgbClr val="843B0C"/>
              </a:buClr>
              <a:buSzPct val="50000"/>
              <a:buFont typeface="Wingdings"/>
              <a:buChar char="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Automated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–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C00000"/>
                </a:solidFill>
                <a:latin typeface="Calibri"/>
                <a:cs typeface="Calibri"/>
              </a:rPr>
              <a:t>Repeatable</a:t>
            </a:r>
            <a:r>
              <a:rPr dirty="0" sz="2400" spc="-65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2400" spc="-55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C00000"/>
                </a:solidFill>
                <a:latin typeface="Calibri"/>
                <a:cs typeface="Calibri"/>
              </a:rPr>
              <a:t>faster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175"/>
              </a:spcBef>
              <a:buClr>
                <a:srgbClr val="843B0C"/>
              </a:buClr>
              <a:buSzPct val="50000"/>
              <a:buFont typeface="Wingdings"/>
              <a:buChar char="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Every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happy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(Hopefully!!)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7625" rIns="0" bIns="0" rtlCol="0" vert="horz">
            <a:spAutoFit/>
          </a:bodyPr>
          <a:lstStyle/>
          <a:p>
            <a:pPr marL="198120">
              <a:lnSpc>
                <a:spcPct val="100000"/>
              </a:lnSpc>
              <a:spcBef>
                <a:spcPts val="375"/>
              </a:spcBef>
            </a:pPr>
            <a:r>
              <a:rPr dirty="0"/>
              <a:t>CLOUD</a:t>
            </a:r>
            <a:r>
              <a:rPr dirty="0" spc="-15"/>
              <a:t> </a:t>
            </a:r>
            <a:r>
              <a:rPr dirty="0" spc="-10"/>
              <a:t>COMPUTING</a:t>
            </a:r>
          </a:p>
          <a:p>
            <a:pPr marL="200660">
              <a:lnSpc>
                <a:spcPct val="100000"/>
              </a:lnSpc>
              <a:spcBef>
                <a:spcPts val="280"/>
              </a:spcBef>
            </a:pPr>
            <a:r>
              <a:rPr dirty="0">
                <a:solidFill>
                  <a:srgbClr val="C55A11"/>
                </a:solidFill>
              </a:rPr>
              <a:t>Automation</a:t>
            </a:r>
            <a:r>
              <a:rPr dirty="0" spc="-3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:</a:t>
            </a:r>
            <a:r>
              <a:rPr dirty="0" spc="-3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Principles</a:t>
            </a:r>
            <a:r>
              <a:rPr dirty="0" spc="-2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of</a:t>
            </a:r>
            <a:r>
              <a:rPr dirty="0" spc="-3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Continuous</a:t>
            </a:r>
            <a:r>
              <a:rPr dirty="0" spc="-15">
                <a:solidFill>
                  <a:srgbClr val="C55A11"/>
                </a:solidFill>
              </a:rPr>
              <a:t> </a:t>
            </a:r>
            <a:r>
              <a:rPr dirty="0" spc="-10">
                <a:solidFill>
                  <a:srgbClr val="C55A11"/>
                </a:solidFill>
              </a:rPr>
              <a:t>Delivery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277492" y="1481806"/>
            <a:ext cx="3960495" cy="756920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575"/>
              </a:spcBef>
            </a:pPr>
            <a:r>
              <a:rPr dirty="0" sz="2000" b="1">
                <a:latin typeface="Arial"/>
                <a:cs typeface="Arial"/>
              </a:rPr>
              <a:t>Principle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spc="-25" b="1">
                <a:latin typeface="Arial"/>
                <a:cs typeface="Arial"/>
              </a:rPr>
              <a:t>#1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dirty="0" sz="2000" b="1">
                <a:latin typeface="Arial"/>
                <a:cs typeface="Arial"/>
              </a:rPr>
              <a:t>Every</a:t>
            </a:r>
            <a:r>
              <a:rPr dirty="0" sz="2000" spc="-1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build</a:t>
            </a:r>
            <a:r>
              <a:rPr dirty="0" sz="2000" spc="-2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is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</a:t>
            </a:r>
            <a:r>
              <a:rPr dirty="0" sz="2000" spc="-1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potential</a:t>
            </a:r>
            <a:r>
              <a:rPr dirty="0" sz="2000" spc="-6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release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50532" y="1476603"/>
            <a:ext cx="348297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016000">
              <a:lnSpc>
                <a:spcPct val="120000"/>
              </a:lnSpc>
              <a:spcBef>
                <a:spcPts val="100"/>
              </a:spcBef>
            </a:pPr>
            <a:r>
              <a:rPr dirty="0" sz="2000" b="1">
                <a:latin typeface="Arial"/>
                <a:cs typeface="Arial"/>
              </a:rPr>
              <a:t>Principle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spc="-25" b="1">
                <a:latin typeface="Arial"/>
                <a:cs typeface="Arial"/>
              </a:rPr>
              <a:t>#3 </a:t>
            </a:r>
            <a:r>
              <a:rPr dirty="0" sz="2000" b="1">
                <a:latin typeface="Arial"/>
                <a:cs typeface="Arial"/>
              </a:rPr>
              <a:t>Automate</a:t>
            </a:r>
            <a:r>
              <a:rPr dirty="0" sz="2000" spc="-6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wherever</a:t>
            </a:r>
            <a:r>
              <a:rPr dirty="0" sz="2000" spc="-5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possible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8637" y="2323512"/>
            <a:ext cx="1702446" cy="202293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01561" y="2429255"/>
            <a:ext cx="3511118" cy="177088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132957" y="4478566"/>
            <a:ext cx="4314190" cy="75819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algn="ctr" marL="4445">
              <a:lnSpc>
                <a:spcPct val="100000"/>
              </a:lnSpc>
              <a:spcBef>
                <a:spcPts val="580"/>
              </a:spcBef>
            </a:pPr>
            <a:r>
              <a:rPr dirty="0" sz="2000" b="1">
                <a:latin typeface="Arial"/>
                <a:cs typeface="Arial"/>
              </a:rPr>
              <a:t>Principle</a:t>
            </a:r>
            <a:r>
              <a:rPr dirty="0" sz="2000" spc="-50" b="1">
                <a:latin typeface="Arial"/>
                <a:cs typeface="Arial"/>
              </a:rPr>
              <a:t> </a:t>
            </a:r>
            <a:r>
              <a:rPr dirty="0" sz="2000" spc="-25" b="1">
                <a:latin typeface="Arial"/>
                <a:cs typeface="Arial"/>
              </a:rPr>
              <a:t>#4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84"/>
              </a:spcBef>
            </a:pPr>
            <a:r>
              <a:rPr dirty="0" sz="2000" b="1">
                <a:latin typeface="Arial"/>
                <a:cs typeface="Arial"/>
              </a:rPr>
              <a:t>Have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automated</a:t>
            </a:r>
            <a:r>
              <a:rPr dirty="0" sz="2000" spc="-6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tests</a:t>
            </a:r>
            <a:r>
              <a:rPr dirty="0" sz="2000" spc="-5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you</a:t>
            </a:r>
            <a:r>
              <a:rPr dirty="0" sz="2000" spc="-1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can</a:t>
            </a:r>
            <a:r>
              <a:rPr dirty="0" sz="2000" spc="-2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trust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92783" y="4818735"/>
            <a:ext cx="359664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074420">
              <a:lnSpc>
                <a:spcPct val="120000"/>
              </a:lnSpc>
              <a:spcBef>
                <a:spcPts val="100"/>
              </a:spcBef>
            </a:pPr>
            <a:r>
              <a:rPr dirty="0" sz="2000" b="1">
                <a:latin typeface="Arial"/>
                <a:cs typeface="Arial"/>
              </a:rPr>
              <a:t>Principle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spc="-25" b="1">
                <a:latin typeface="Arial"/>
                <a:cs typeface="Arial"/>
              </a:rPr>
              <a:t>#2 </a:t>
            </a:r>
            <a:r>
              <a:rPr dirty="0" sz="2000" b="1">
                <a:latin typeface="Arial"/>
                <a:cs typeface="Arial"/>
              </a:rPr>
              <a:t>Eliminate</a:t>
            </a:r>
            <a:r>
              <a:rPr dirty="0" sz="2000" spc="-5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manual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bottlenecks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15853" y="5696764"/>
            <a:ext cx="1153582" cy="10255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91403" y="5433186"/>
            <a:ext cx="1174642" cy="1247887"/>
          </a:xfrm>
          <a:prstGeom prst="rect">
            <a:avLst/>
          </a:prstGeom>
        </p:spPr>
      </p:pic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72541" y="230717"/>
            <a:ext cx="6985000" cy="269113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2400" b="1">
                <a:solidFill>
                  <a:srgbClr val="2E5496"/>
                </a:solidFill>
                <a:latin typeface="Calibri"/>
                <a:cs typeface="Calibri"/>
              </a:rPr>
              <a:t>CLOUD</a:t>
            </a:r>
            <a:r>
              <a:rPr dirty="0" sz="2400" spc="-15" b="1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496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15240">
              <a:lnSpc>
                <a:spcPct val="100000"/>
              </a:lnSpc>
              <a:spcBef>
                <a:spcPts val="280"/>
              </a:spcBef>
            </a:pPr>
            <a:r>
              <a:rPr dirty="0" sz="2400" b="1">
                <a:solidFill>
                  <a:srgbClr val="C55A11"/>
                </a:solidFill>
                <a:latin typeface="Calibri"/>
                <a:cs typeface="Calibri"/>
              </a:rPr>
              <a:t>Keep</a:t>
            </a:r>
            <a:r>
              <a:rPr dirty="0" sz="2400" spc="-35" b="1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55A11"/>
                </a:solidFill>
                <a:latin typeface="Calibri"/>
                <a:cs typeface="Calibri"/>
              </a:rPr>
              <a:t>it</a:t>
            </a:r>
            <a:r>
              <a:rPr dirty="0" sz="2400" spc="-40" b="1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Calibri"/>
                <a:cs typeface="Calibri"/>
              </a:rPr>
              <a:t>Simple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Reduce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risk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10">
                <a:latin typeface="Calibri"/>
                <a:cs typeface="Calibri"/>
              </a:rPr>
              <a:t> Release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175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Make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small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changes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Test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every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cycle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18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Small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changes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make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difference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Ops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&amp;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Dev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6713" y="3148658"/>
            <a:ext cx="10156517" cy="3223236"/>
          </a:xfrm>
          <a:prstGeom prst="rect">
            <a:avLst/>
          </a:prstGeom>
        </p:spPr>
      </p:pic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7625" rIns="0" bIns="0" rtlCol="0" vert="horz">
            <a:spAutoFit/>
          </a:bodyPr>
          <a:lstStyle/>
          <a:p>
            <a:pPr marL="233045">
              <a:lnSpc>
                <a:spcPct val="100000"/>
              </a:lnSpc>
              <a:spcBef>
                <a:spcPts val="375"/>
              </a:spcBef>
            </a:pPr>
            <a:r>
              <a:rPr dirty="0"/>
              <a:t>CLOUD</a:t>
            </a:r>
            <a:r>
              <a:rPr dirty="0" spc="-15"/>
              <a:t> </a:t>
            </a:r>
            <a:r>
              <a:rPr dirty="0" spc="-10"/>
              <a:t>COMPUTING</a:t>
            </a:r>
          </a:p>
          <a:p>
            <a:pPr marL="235585">
              <a:lnSpc>
                <a:spcPct val="100000"/>
              </a:lnSpc>
              <a:spcBef>
                <a:spcPts val="280"/>
              </a:spcBef>
            </a:pPr>
            <a:r>
              <a:rPr dirty="0">
                <a:solidFill>
                  <a:srgbClr val="C55A11"/>
                </a:solidFill>
              </a:rPr>
              <a:t>Automate</a:t>
            </a:r>
            <a:r>
              <a:rPr dirty="0" spc="-6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all</a:t>
            </a:r>
            <a:r>
              <a:rPr dirty="0" spc="-6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the</a:t>
            </a:r>
            <a:r>
              <a:rPr dirty="0" spc="-60">
                <a:solidFill>
                  <a:srgbClr val="C55A11"/>
                </a:solidFill>
              </a:rPr>
              <a:t> </a:t>
            </a:r>
            <a:r>
              <a:rPr dirty="0" spc="-10">
                <a:solidFill>
                  <a:srgbClr val="C55A11"/>
                </a:solidFill>
              </a:rPr>
              <a:t>things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02742" y="1463395"/>
            <a:ext cx="4433570" cy="5185410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40"/>
              </a:spcBef>
              <a:buSzPct val="60000"/>
              <a:buFont typeface="Wingdings"/>
              <a:buChar char=""/>
              <a:tabLst>
                <a:tab pos="354965" algn="l"/>
              </a:tabLst>
            </a:pPr>
            <a:r>
              <a:rPr dirty="0" sz="2000">
                <a:latin typeface="Arial"/>
                <a:cs typeface="Arial"/>
              </a:rPr>
              <a:t>Programming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Model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to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enable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scale</a:t>
            </a:r>
            <a:endParaRPr sz="2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840"/>
              </a:spcBef>
              <a:buSzPct val="60000"/>
              <a:buFont typeface="Wingdings"/>
              <a:buChar char=""/>
              <a:tabLst>
                <a:tab pos="354965" algn="l"/>
              </a:tabLst>
            </a:pPr>
            <a:r>
              <a:rPr dirty="0" sz="2000">
                <a:latin typeface="Arial"/>
                <a:cs typeface="Arial"/>
              </a:rPr>
              <a:t>Manage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source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code</a:t>
            </a:r>
            <a:endParaRPr sz="2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840"/>
              </a:spcBef>
              <a:buSzPct val="60000"/>
              <a:buFont typeface="Wingdings"/>
              <a:buChar char=""/>
              <a:tabLst>
                <a:tab pos="354965" algn="l"/>
              </a:tabLst>
            </a:pPr>
            <a:r>
              <a:rPr dirty="0" sz="2000">
                <a:latin typeface="Arial"/>
                <a:cs typeface="Arial"/>
              </a:rPr>
              <a:t>Reproducible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Build</a:t>
            </a:r>
            <a:endParaRPr sz="2000">
              <a:latin typeface="Arial"/>
              <a:cs typeface="Arial"/>
            </a:endParaRPr>
          </a:p>
          <a:p>
            <a:pPr lvl="1" marL="733425" indent="-361315">
              <a:lnSpc>
                <a:spcPct val="100000"/>
              </a:lnSpc>
              <a:spcBef>
                <a:spcPts val="805"/>
              </a:spcBef>
              <a:buSzPct val="63157"/>
              <a:buFont typeface="Wingdings"/>
              <a:buChar char=""/>
              <a:tabLst>
                <a:tab pos="733425" algn="l"/>
              </a:tabLst>
            </a:pPr>
            <a:r>
              <a:rPr dirty="0" sz="1900">
                <a:latin typeface="Arial"/>
                <a:cs typeface="Arial"/>
              </a:rPr>
              <a:t>Build</a:t>
            </a:r>
            <a:r>
              <a:rPr dirty="0" sz="1900" spc="-1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on</a:t>
            </a:r>
            <a:r>
              <a:rPr dirty="0" sz="1900" spc="-1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a</a:t>
            </a:r>
            <a:r>
              <a:rPr dirty="0" sz="1900" spc="-25">
                <a:latin typeface="Arial"/>
                <a:cs typeface="Arial"/>
              </a:rPr>
              <a:t> </a:t>
            </a:r>
            <a:r>
              <a:rPr dirty="0" sz="1900" spc="-20">
                <a:latin typeface="Arial"/>
                <a:cs typeface="Arial"/>
              </a:rPr>
              <a:t>Prod-</a:t>
            </a:r>
            <a:r>
              <a:rPr dirty="0" sz="1900">
                <a:latin typeface="Arial"/>
                <a:cs typeface="Arial"/>
              </a:rPr>
              <a:t>Like</a:t>
            </a:r>
            <a:r>
              <a:rPr dirty="0" sz="1900" spc="5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environment</a:t>
            </a:r>
            <a:endParaRPr sz="1900">
              <a:latin typeface="Arial"/>
              <a:cs typeface="Arial"/>
            </a:endParaRPr>
          </a:p>
          <a:p>
            <a:pPr lvl="1" marL="733425" indent="-361315">
              <a:lnSpc>
                <a:spcPct val="100000"/>
              </a:lnSpc>
              <a:spcBef>
                <a:spcPts val="605"/>
              </a:spcBef>
              <a:buSzPct val="63157"/>
              <a:buFont typeface="Wingdings"/>
              <a:buChar char=""/>
              <a:tabLst>
                <a:tab pos="733425" algn="l"/>
              </a:tabLst>
            </a:pPr>
            <a:r>
              <a:rPr dirty="0" sz="1900">
                <a:latin typeface="Arial"/>
                <a:cs typeface="Arial"/>
              </a:rPr>
              <a:t>No</a:t>
            </a:r>
            <a:r>
              <a:rPr dirty="0" sz="1900" spc="-3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more</a:t>
            </a:r>
            <a:r>
              <a:rPr dirty="0" sz="1900" spc="-2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“Works</a:t>
            </a:r>
            <a:r>
              <a:rPr dirty="0" sz="1900" spc="-3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on</a:t>
            </a:r>
            <a:r>
              <a:rPr dirty="0" sz="1900" spc="-3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my</a:t>
            </a:r>
            <a:r>
              <a:rPr dirty="0" sz="1900" spc="-40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machine”</a:t>
            </a:r>
            <a:endParaRPr sz="19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630"/>
              </a:spcBef>
              <a:buSzPct val="60000"/>
              <a:buFont typeface="Wingdings"/>
              <a:buChar char=""/>
              <a:tabLst>
                <a:tab pos="354965" algn="l"/>
              </a:tabLst>
            </a:pPr>
            <a:r>
              <a:rPr dirty="0" sz="2000" spc="-20">
                <a:latin typeface="Arial"/>
                <a:cs typeface="Arial"/>
              </a:rPr>
              <a:t>Test</a:t>
            </a:r>
            <a:endParaRPr sz="2000">
              <a:latin typeface="Arial"/>
              <a:cs typeface="Arial"/>
            </a:endParaRPr>
          </a:p>
          <a:p>
            <a:pPr lvl="1" marL="733425" indent="-361315">
              <a:lnSpc>
                <a:spcPct val="100000"/>
              </a:lnSpc>
              <a:spcBef>
                <a:spcPts val="844"/>
              </a:spcBef>
              <a:buSzPct val="63157"/>
              <a:buFont typeface="Wingdings"/>
              <a:buChar char=""/>
              <a:tabLst>
                <a:tab pos="733425" algn="l"/>
              </a:tabLst>
            </a:pPr>
            <a:r>
              <a:rPr dirty="0" sz="1900">
                <a:latin typeface="Arial"/>
                <a:cs typeface="Arial"/>
              </a:rPr>
              <a:t>Testing</a:t>
            </a:r>
            <a:r>
              <a:rPr dirty="0" sz="1900" spc="-5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reduces</a:t>
            </a:r>
            <a:r>
              <a:rPr dirty="0" sz="1900" spc="-55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risks</a:t>
            </a:r>
            <a:endParaRPr sz="1900">
              <a:latin typeface="Arial"/>
              <a:cs typeface="Arial"/>
            </a:endParaRPr>
          </a:p>
          <a:p>
            <a:pPr lvl="1" marL="733425" indent="-361315">
              <a:lnSpc>
                <a:spcPct val="100000"/>
              </a:lnSpc>
              <a:spcBef>
                <a:spcPts val="830"/>
              </a:spcBef>
              <a:buSzPct val="63157"/>
              <a:buFont typeface="Wingdings"/>
              <a:buChar char=""/>
              <a:tabLst>
                <a:tab pos="733425" algn="l"/>
              </a:tabLst>
            </a:pPr>
            <a:r>
              <a:rPr dirty="0" sz="1900">
                <a:latin typeface="Arial"/>
                <a:cs typeface="Arial"/>
              </a:rPr>
              <a:t>Make</a:t>
            </a:r>
            <a:r>
              <a:rPr dirty="0" sz="1900" spc="-4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you</a:t>
            </a:r>
            <a:r>
              <a:rPr dirty="0" sz="1900" spc="-4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more</a:t>
            </a:r>
            <a:r>
              <a:rPr dirty="0" sz="1900" spc="-30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confident</a:t>
            </a:r>
            <a:endParaRPr sz="19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825"/>
              </a:spcBef>
              <a:buSzPct val="60000"/>
              <a:buFont typeface="Wingdings"/>
              <a:buChar char=""/>
              <a:tabLst>
                <a:tab pos="354965" algn="l"/>
              </a:tabLst>
            </a:pPr>
            <a:r>
              <a:rPr dirty="0" sz="2000" spc="-10">
                <a:latin typeface="Arial"/>
                <a:cs typeface="Arial"/>
              </a:rPr>
              <a:t>Deploy</a:t>
            </a:r>
            <a:endParaRPr sz="2000">
              <a:latin typeface="Arial"/>
              <a:cs typeface="Arial"/>
            </a:endParaRPr>
          </a:p>
          <a:p>
            <a:pPr lvl="1" marL="733425" indent="-361315">
              <a:lnSpc>
                <a:spcPct val="100000"/>
              </a:lnSpc>
              <a:spcBef>
                <a:spcPts val="845"/>
              </a:spcBef>
              <a:buSzPct val="63157"/>
              <a:buFont typeface="Wingdings"/>
              <a:buChar char=""/>
              <a:tabLst>
                <a:tab pos="733425" algn="l"/>
              </a:tabLst>
            </a:pPr>
            <a:r>
              <a:rPr dirty="0" sz="1900">
                <a:latin typeface="Arial"/>
                <a:cs typeface="Arial"/>
              </a:rPr>
              <a:t>Deploy</a:t>
            </a:r>
            <a:r>
              <a:rPr dirty="0" sz="1900" spc="-1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to</a:t>
            </a:r>
            <a:r>
              <a:rPr dirty="0" sz="1900" spc="-45">
                <a:latin typeface="Arial"/>
                <a:cs typeface="Arial"/>
              </a:rPr>
              <a:t> </a:t>
            </a:r>
            <a:r>
              <a:rPr dirty="0" sz="1900" spc="-25">
                <a:latin typeface="Arial"/>
                <a:cs typeface="Arial"/>
              </a:rPr>
              <a:t>Dev</a:t>
            </a:r>
            <a:endParaRPr sz="1900">
              <a:latin typeface="Arial"/>
              <a:cs typeface="Arial"/>
            </a:endParaRPr>
          </a:p>
          <a:p>
            <a:pPr lvl="1" marL="733425" indent="-361315">
              <a:lnSpc>
                <a:spcPct val="100000"/>
              </a:lnSpc>
              <a:spcBef>
                <a:spcPts val="825"/>
              </a:spcBef>
              <a:buSzPct val="63157"/>
              <a:buFont typeface="Wingdings"/>
              <a:buChar char=""/>
              <a:tabLst>
                <a:tab pos="733425" algn="l"/>
              </a:tabLst>
            </a:pPr>
            <a:r>
              <a:rPr dirty="0" sz="1900">
                <a:latin typeface="Arial"/>
                <a:cs typeface="Arial"/>
              </a:rPr>
              <a:t>Deploy</a:t>
            </a:r>
            <a:r>
              <a:rPr dirty="0" sz="1900" spc="-1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to</a:t>
            </a:r>
            <a:r>
              <a:rPr dirty="0" sz="1900" spc="-45">
                <a:latin typeface="Arial"/>
                <a:cs typeface="Arial"/>
              </a:rPr>
              <a:t> </a:t>
            </a:r>
            <a:r>
              <a:rPr dirty="0" sz="1900" spc="-25">
                <a:latin typeface="Arial"/>
                <a:cs typeface="Arial"/>
              </a:rPr>
              <a:t>QA</a:t>
            </a:r>
            <a:endParaRPr sz="1900">
              <a:latin typeface="Arial"/>
              <a:cs typeface="Arial"/>
            </a:endParaRPr>
          </a:p>
          <a:p>
            <a:pPr lvl="1" marL="733425" indent="-361315">
              <a:lnSpc>
                <a:spcPct val="100000"/>
              </a:lnSpc>
              <a:spcBef>
                <a:spcPts val="830"/>
              </a:spcBef>
              <a:buSzPct val="63157"/>
              <a:buFont typeface="Wingdings"/>
              <a:buChar char=""/>
              <a:tabLst>
                <a:tab pos="733425" algn="l"/>
              </a:tabLst>
            </a:pPr>
            <a:r>
              <a:rPr dirty="0" sz="1900">
                <a:latin typeface="Arial"/>
                <a:cs typeface="Arial"/>
              </a:rPr>
              <a:t>Deploy</a:t>
            </a:r>
            <a:r>
              <a:rPr dirty="0" sz="1900" spc="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to</a:t>
            </a:r>
            <a:r>
              <a:rPr dirty="0" sz="1900" spc="-30">
                <a:latin typeface="Arial"/>
                <a:cs typeface="Arial"/>
              </a:rPr>
              <a:t> </a:t>
            </a:r>
            <a:r>
              <a:rPr dirty="0" sz="1900" spc="-20">
                <a:latin typeface="Arial"/>
                <a:cs typeface="Arial"/>
              </a:rPr>
              <a:t>Pre-Prod</a:t>
            </a:r>
            <a:endParaRPr sz="1900">
              <a:latin typeface="Arial"/>
              <a:cs typeface="Arial"/>
            </a:endParaRPr>
          </a:p>
          <a:p>
            <a:pPr lvl="1" marL="733425" indent="-361315">
              <a:lnSpc>
                <a:spcPct val="100000"/>
              </a:lnSpc>
              <a:spcBef>
                <a:spcPts val="830"/>
              </a:spcBef>
              <a:buSzPct val="63157"/>
              <a:buFont typeface="Wingdings"/>
              <a:buChar char=""/>
              <a:tabLst>
                <a:tab pos="733425" algn="l"/>
              </a:tabLst>
            </a:pPr>
            <a:r>
              <a:rPr dirty="0" sz="1900" spc="-20">
                <a:latin typeface="Arial"/>
                <a:cs typeface="Arial"/>
              </a:rPr>
              <a:t>Prod</a:t>
            </a:r>
            <a:endParaRPr sz="1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19981" y="1503920"/>
            <a:ext cx="5889908" cy="4625607"/>
          </a:xfrm>
          <a:prstGeom prst="rect">
            <a:avLst/>
          </a:prstGeom>
        </p:spPr>
      </p:pic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0325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475"/>
              </a:spcBef>
            </a:pPr>
            <a:r>
              <a:rPr dirty="0"/>
              <a:t>CLOUD</a:t>
            </a:r>
            <a:r>
              <a:rPr dirty="0" spc="-15"/>
              <a:t> </a:t>
            </a:r>
            <a:r>
              <a:rPr dirty="0" spc="-10"/>
              <a:t>COMPUTING</a:t>
            </a:r>
          </a:p>
          <a:p>
            <a:pPr marL="201295">
              <a:lnSpc>
                <a:spcPct val="100000"/>
              </a:lnSpc>
              <a:spcBef>
                <a:spcPts val="380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DevOps</a:t>
            </a:r>
            <a:r>
              <a:rPr dirty="0" spc="-6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Pipeline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3549" y="1562260"/>
            <a:ext cx="10029451" cy="254636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02768" y="4093870"/>
            <a:ext cx="8410575" cy="2607945"/>
          </a:xfrm>
          <a:prstGeom prst="rect">
            <a:avLst/>
          </a:prstGeom>
        </p:spPr>
        <p:txBody>
          <a:bodyPr wrap="square" lIns="0" tIns="137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dirty="0" sz="1600" b="1">
                <a:latin typeface="Calibri"/>
                <a:cs typeface="Calibri"/>
              </a:rPr>
              <a:t>Typical</a:t>
            </a:r>
            <a:r>
              <a:rPr dirty="0" sz="1600" spc="-4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pipeline</a:t>
            </a:r>
            <a:r>
              <a:rPr dirty="0" sz="1600" spc="-4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for</a:t>
            </a:r>
            <a:r>
              <a:rPr dirty="0" sz="1600" spc="-3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containerized</a:t>
            </a:r>
            <a:r>
              <a:rPr dirty="0" sz="1600" spc="-2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applications</a:t>
            </a:r>
            <a:r>
              <a:rPr dirty="0" sz="1600" spc="-4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might</a:t>
            </a:r>
            <a:r>
              <a:rPr dirty="0" sz="1600" spc="-3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look</a:t>
            </a:r>
            <a:r>
              <a:rPr dirty="0" sz="1600" spc="-4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like</a:t>
            </a:r>
            <a:r>
              <a:rPr dirty="0" sz="1600" spc="-6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the</a:t>
            </a:r>
            <a:r>
              <a:rPr dirty="0" sz="1600" spc="-40" b="1">
                <a:latin typeface="Calibri"/>
                <a:cs typeface="Calibri"/>
              </a:rPr>
              <a:t> </a:t>
            </a:r>
            <a:r>
              <a:rPr dirty="0" sz="1600" spc="-10" b="1">
                <a:latin typeface="Calibri"/>
                <a:cs typeface="Calibri"/>
              </a:rPr>
              <a:t>following:</a:t>
            </a:r>
            <a:endParaRPr sz="1600">
              <a:latin typeface="Calibri"/>
              <a:cs typeface="Calibri"/>
            </a:endParaRPr>
          </a:p>
          <a:p>
            <a:pPr marL="214629" indent="-201930">
              <a:lnSpc>
                <a:spcPct val="100000"/>
              </a:lnSpc>
              <a:spcBef>
                <a:spcPts val="980"/>
              </a:spcBef>
              <a:buAutoNum type="arabicPeriod"/>
              <a:tabLst>
                <a:tab pos="214629" algn="l"/>
              </a:tabLst>
            </a:pPr>
            <a:r>
              <a:rPr dirty="0" sz="1600" b="1">
                <a:latin typeface="Calibri"/>
                <a:cs typeface="Calibri"/>
              </a:rPr>
              <a:t>A</a:t>
            </a:r>
            <a:r>
              <a:rPr dirty="0" sz="1600" spc="-3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developer</a:t>
            </a:r>
            <a:r>
              <a:rPr dirty="0" sz="1600" spc="-4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pushes</a:t>
            </a:r>
            <a:r>
              <a:rPr dirty="0" sz="1600" spc="-1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his/her</a:t>
            </a:r>
            <a:r>
              <a:rPr dirty="0" sz="1600" spc="-3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code</a:t>
            </a:r>
            <a:r>
              <a:rPr dirty="0" sz="1600" spc="-3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changes</a:t>
            </a:r>
            <a:r>
              <a:rPr dirty="0" sz="1600" spc="-3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to</a:t>
            </a:r>
            <a:r>
              <a:rPr dirty="0" sz="1600" spc="-50" b="1">
                <a:latin typeface="Calibri"/>
                <a:cs typeface="Calibri"/>
              </a:rPr>
              <a:t> </a:t>
            </a:r>
            <a:r>
              <a:rPr dirty="0" sz="1600" spc="-20" b="1">
                <a:latin typeface="Calibri"/>
                <a:cs typeface="Calibri"/>
              </a:rPr>
              <a:t>Git.</a:t>
            </a:r>
            <a:endParaRPr sz="1600">
              <a:latin typeface="Calibri"/>
              <a:cs typeface="Calibri"/>
            </a:endParaRPr>
          </a:p>
          <a:p>
            <a:pPr marL="214629" indent="-201930">
              <a:lnSpc>
                <a:spcPct val="100000"/>
              </a:lnSpc>
              <a:spcBef>
                <a:spcPts val="985"/>
              </a:spcBef>
              <a:buAutoNum type="arabicPeriod"/>
              <a:tabLst>
                <a:tab pos="214629" algn="l"/>
              </a:tabLst>
            </a:pPr>
            <a:r>
              <a:rPr dirty="0" sz="1600" b="1">
                <a:latin typeface="Calibri"/>
                <a:cs typeface="Calibri"/>
              </a:rPr>
              <a:t>The</a:t>
            </a:r>
            <a:r>
              <a:rPr dirty="0" sz="1600" spc="-3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build</a:t>
            </a:r>
            <a:r>
              <a:rPr dirty="0" sz="1600" spc="-3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system</a:t>
            </a:r>
            <a:r>
              <a:rPr dirty="0" sz="1600" spc="-3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automatically</a:t>
            </a:r>
            <a:r>
              <a:rPr dirty="0" sz="1600" spc="-6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builds</a:t>
            </a:r>
            <a:r>
              <a:rPr dirty="0" sz="1600" spc="-2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the</a:t>
            </a:r>
            <a:r>
              <a:rPr dirty="0" sz="1600" spc="-3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current</a:t>
            </a:r>
            <a:r>
              <a:rPr dirty="0" sz="1600" spc="-1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version</a:t>
            </a:r>
            <a:r>
              <a:rPr dirty="0" sz="1600" spc="-2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of</a:t>
            </a:r>
            <a:r>
              <a:rPr dirty="0" sz="1600" spc="-3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the</a:t>
            </a:r>
            <a:r>
              <a:rPr dirty="0" sz="1600" spc="-3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code</a:t>
            </a:r>
            <a:r>
              <a:rPr dirty="0" sz="1600" spc="-3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and</a:t>
            </a:r>
            <a:r>
              <a:rPr dirty="0" sz="1600" spc="-3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runs</a:t>
            </a:r>
            <a:r>
              <a:rPr dirty="0" sz="1600" spc="-1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some</a:t>
            </a:r>
            <a:r>
              <a:rPr dirty="0" sz="1600" spc="-2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sanity</a:t>
            </a:r>
            <a:r>
              <a:rPr dirty="0" sz="1600" spc="-40" b="1">
                <a:latin typeface="Calibri"/>
                <a:cs typeface="Calibri"/>
              </a:rPr>
              <a:t> </a:t>
            </a:r>
            <a:r>
              <a:rPr dirty="0" sz="1600" spc="-10" b="1">
                <a:latin typeface="Calibri"/>
                <a:cs typeface="Calibri"/>
              </a:rPr>
              <a:t>tests.</a:t>
            </a:r>
            <a:endParaRPr sz="1600">
              <a:latin typeface="Calibri"/>
              <a:cs typeface="Calibri"/>
            </a:endParaRPr>
          </a:p>
          <a:p>
            <a:pPr marL="213995" indent="-201295">
              <a:lnSpc>
                <a:spcPct val="100000"/>
              </a:lnSpc>
              <a:spcBef>
                <a:spcPts val="985"/>
              </a:spcBef>
              <a:buAutoNum type="arabicPeriod"/>
              <a:tabLst>
                <a:tab pos="213995" algn="l"/>
              </a:tabLst>
            </a:pPr>
            <a:r>
              <a:rPr dirty="0" sz="1600" b="1">
                <a:latin typeface="Calibri"/>
                <a:cs typeface="Calibri"/>
              </a:rPr>
              <a:t>If</a:t>
            </a:r>
            <a:r>
              <a:rPr dirty="0" sz="1600" spc="-2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all</a:t>
            </a:r>
            <a:r>
              <a:rPr dirty="0" sz="1600" spc="-5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tests</a:t>
            </a:r>
            <a:r>
              <a:rPr dirty="0" sz="1600" spc="-3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pass,</a:t>
            </a:r>
            <a:r>
              <a:rPr dirty="0" sz="1600" spc="-2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the</a:t>
            </a:r>
            <a:r>
              <a:rPr dirty="0" sz="1600" spc="-2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container</a:t>
            </a:r>
            <a:r>
              <a:rPr dirty="0" sz="1600" spc="-3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image</a:t>
            </a:r>
            <a:r>
              <a:rPr dirty="0" sz="1600" spc="-3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will</a:t>
            </a:r>
            <a:r>
              <a:rPr dirty="0" sz="1600" spc="-5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be</a:t>
            </a:r>
            <a:r>
              <a:rPr dirty="0" sz="1600" spc="-2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published</a:t>
            </a:r>
            <a:r>
              <a:rPr dirty="0" sz="1600" spc="-1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into</a:t>
            </a:r>
            <a:r>
              <a:rPr dirty="0" sz="1600" spc="-3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the</a:t>
            </a:r>
            <a:r>
              <a:rPr dirty="0" sz="1600" spc="-3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central</a:t>
            </a:r>
            <a:r>
              <a:rPr dirty="0" sz="1600" spc="-2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container</a:t>
            </a:r>
            <a:r>
              <a:rPr dirty="0" sz="1600" spc="-30" b="1">
                <a:latin typeface="Calibri"/>
                <a:cs typeface="Calibri"/>
              </a:rPr>
              <a:t> </a:t>
            </a:r>
            <a:r>
              <a:rPr dirty="0" sz="1600" spc="-10" b="1">
                <a:latin typeface="Calibri"/>
                <a:cs typeface="Calibri"/>
              </a:rPr>
              <a:t>registry.</a:t>
            </a:r>
            <a:endParaRPr sz="1600">
              <a:latin typeface="Calibri"/>
              <a:cs typeface="Calibri"/>
            </a:endParaRPr>
          </a:p>
          <a:p>
            <a:pPr marL="214629" indent="-201930">
              <a:lnSpc>
                <a:spcPct val="100000"/>
              </a:lnSpc>
              <a:spcBef>
                <a:spcPts val="985"/>
              </a:spcBef>
              <a:buAutoNum type="arabicPeriod"/>
              <a:tabLst>
                <a:tab pos="214629" algn="l"/>
              </a:tabLst>
            </a:pPr>
            <a:r>
              <a:rPr dirty="0" sz="1600" b="1">
                <a:latin typeface="Calibri"/>
                <a:cs typeface="Calibri"/>
              </a:rPr>
              <a:t>The</a:t>
            </a:r>
            <a:r>
              <a:rPr dirty="0" sz="1600" spc="-3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newly</a:t>
            </a:r>
            <a:r>
              <a:rPr dirty="0" sz="1600" spc="-3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built</a:t>
            </a:r>
            <a:r>
              <a:rPr dirty="0" sz="1600" spc="-2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container</a:t>
            </a:r>
            <a:r>
              <a:rPr dirty="0" sz="1600" spc="-2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is</a:t>
            </a:r>
            <a:r>
              <a:rPr dirty="0" sz="1600" spc="-3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deployed</a:t>
            </a:r>
            <a:r>
              <a:rPr dirty="0" sz="1600" spc="-1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automatically</a:t>
            </a:r>
            <a:r>
              <a:rPr dirty="0" sz="1600" spc="-5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to</a:t>
            </a:r>
            <a:r>
              <a:rPr dirty="0" sz="1600" spc="-3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a</a:t>
            </a:r>
            <a:r>
              <a:rPr dirty="0" sz="1600" spc="-3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staging</a:t>
            </a:r>
            <a:r>
              <a:rPr dirty="0" sz="1600" spc="-20" b="1">
                <a:latin typeface="Calibri"/>
                <a:cs typeface="Calibri"/>
              </a:rPr>
              <a:t> </a:t>
            </a:r>
            <a:r>
              <a:rPr dirty="0" sz="1600" spc="-10" b="1">
                <a:latin typeface="Calibri"/>
                <a:cs typeface="Calibri"/>
              </a:rPr>
              <a:t>environment.</a:t>
            </a:r>
            <a:endParaRPr sz="1600">
              <a:latin typeface="Calibri"/>
              <a:cs typeface="Calibri"/>
            </a:endParaRPr>
          </a:p>
          <a:p>
            <a:pPr marL="214629" indent="-201930">
              <a:lnSpc>
                <a:spcPct val="100000"/>
              </a:lnSpc>
              <a:spcBef>
                <a:spcPts val="985"/>
              </a:spcBef>
              <a:buAutoNum type="arabicPeriod"/>
              <a:tabLst>
                <a:tab pos="214629" algn="l"/>
              </a:tabLst>
            </a:pPr>
            <a:r>
              <a:rPr dirty="0" sz="1600" b="1">
                <a:latin typeface="Calibri"/>
                <a:cs typeface="Calibri"/>
              </a:rPr>
              <a:t>The</a:t>
            </a:r>
            <a:r>
              <a:rPr dirty="0" sz="1600" spc="-7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staging</a:t>
            </a:r>
            <a:r>
              <a:rPr dirty="0" sz="1600" spc="-6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environment</a:t>
            </a:r>
            <a:r>
              <a:rPr dirty="0" sz="1600" spc="-4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undergoes</a:t>
            </a:r>
            <a:r>
              <a:rPr dirty="0" sz="1600" spc="-4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some</a:t>
            </a:r>
            <a:r>
              <a:rPr dirty="0" sz="1600" spc="-5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automated</a:t>
            </a:r>
            <a:r>
              <a:rPr dirty="0" sz="1600" spc="-7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acceptance</a:t>
            </a:r>
            <a:r>
              <a:rPr dirty="0" sz="1600" spc="-60" b="1">
                <a:latin typeface="Calibri"/>
                <a:cs typeface="Calibri"/>
              </a:rPr>
              <a:t> </a:t>
            </a:r>
            <a:r>
              <a:rPr dirty="0" sz="1600" spc="-10" b="1">
                <a:latin typeface="Calibri"/>
                <a:cs typeface="Calibri"/>
              </a:rPr>
              <a:t>tests.</a:t>
            </a:r>
            <a:endParaRPr sz="1600">
              <a:latin typeface="Calibri"/>
              <a:cs typeface="Calibri"/>
            </a:endParaRPr>
          </a:p>
          <a:p>
            <a:pPr marL="214629" indent="-201930">
              <a:lnSpc>
                <a:spcPct val="100000"/>
              </a:lnSpc>
              <a:spcBef>
                <a:spcPts val="985"/>
              </a:spcBef>
              <a:buAutoNum type="arabicPeriod"/>
              <a:tabLst>
                <a:tab pos="214629" algn="l"/>
              </a:tabLst>
            </a:pPr>
            <a:r>
              <a:rPr dirty="0" sz="1600" b="1">
                <a:latin typeface="Calibri"/>
                <a:cs typeface="Calibri"/>
              </a:rPr>
              <a:t>The</a:t>
            </a:r>
            <a:r>
              <a:rPr dirty="0" sz="1600" spc="-3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verified</a:t>
            </a:r>
            <a:r>
              <a:rPr dirty="0" sz="1600" spc="-3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container</a:t>
            </a:r>
            <a:r>
              <a:rPr dirty="0" sz="1600" spc="-2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image</a:t>
            </a:r>
            <a:r>
              <a:rPr dirty="0" sz="1600" spc="-3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is</a:t>
            </a:r>
            <a:r>
              <a:rPr dirty="0" sz="1600" spc="-4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deployed</a:t>
            </a:r>
            <a:r>
              <a:rPr dirty="0" sz="1600" spc="-3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to</a:t>
            </a:r>
            <a:r>
              <a:rPr dirty="0" sz="1600" spc="-40" b="1">
                <a:latin typeface="Calibri"/>
                <a:cs typeface="Calibri"/>
              </a:rPr>
              <a:t> </a:t>
            </a:r>
            <a:r>
              <a:rPr dirty="0" sz="1600" spc="-10" b="1">
                <a:latin typeface="Calibri"/>
                <a:cs typeface="Calibri"/>
              </a:rPr>
              <a:t>production.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7625" rIns="0" bIns="0" rtlCol="0" vert="horz">
            <a:spAutoFit/>
          </a:bodyPr>
          <a:lstStyle/>
          <a:p>
            <a:pPr marL="198120">
              <a:lnSpc>
                <a:spcPct val="100000"/>
              </a:lnSpc>
              <a:spcBef>
                <a:spcPts val="375"/>
              </a:spcBef>
            </a:pPr>
            <a:r>
              <a:rPr dirty="0"/>
              <a:t>CLOUD</a:t>
            </a:r>
            <a:r>
              <a:rPr dirty="0" spc="-15"/>
              <a:t> </a:t>
            </a:r>
            <a:r>
              <a:rPr dirty="0" spc="-10"/>
              <a:t>COMPUTING</a:t>
            </a:r>
          </a:p>
          <a:p>
            <a:pPr marL="224154">
              <a:lnSpc>
                <a:spcPct val="100000"/>
              </a:lnSpc>
              <a:spcBef>
                <a:spcPts val="280"/>
              </a:spcBef>
            </a:pPr>
            <a:r>
              <a:rPr dirty="0">
                <a:solidFill>
                  <a:srgbClr val="C55A11"/>
                </a:solidFill>
              </a:rPr>
              <a:t>Continuous</a:t>
            </a:r>
            <a:r>
              <a:rPr dirty="0" spc="-20">
                <a:solidFill>
                  <a:srgbClr val="C55A11"/>
                </a:solidFill>
              </a:rPr>
              <a:t> </a:t>
            </a:r>
            <a:r>
              <a:rPr dirty="0" spc="-10">
                <a:solidFill>
                  <a:srgbClr val="C55A11"/>
                </a:solidFill>
              </a:rPr>
              <a:t>Development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69214" y="1237640"/>
            <a:ext cx="11628755" cy="5506720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372110" indent="-359410">
              <a:lnSpc>
                <a:spcPct val="100000"/>
              </a:lnSpc>
              <a:spcBef>
                <a:spcPts val="965"/>
              </a:spcBef>
              <a:buFont typeface="Wingdings"/>
              <a:buChar char=""/>
              <a:tabLst>
                <a:tab pos="372110" algn="l"/>
              </a:tabLst>
            </a:pP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includes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continuous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code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development,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continuous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integration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continuous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Build</a:t>
            </a:r>
            <a:endParaRPr sz="22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860"/>
              </a:spcBef>
              <a:buFont typeface="Wingdings"/>
              <a:buChar char=""/>
              <a:tabLst>
                <a:tab pos="733425" algn="l"/>
              </a:tabLst>
            </a:pPr>
            <a:r>
              <a:rPr dirty="0" sz="2200">
                <a:latin typeface="Calibri"/>
                <a:cs typeface="Calibri"/>
              </a:rPr>
              <a:t>Developers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distributed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across</a:t>
            </a:r>
            <a:r>
              <a:rPr dirty="0" sz="2200" spc="-8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geographies</a:t>
            </a:r>
            <a:endParaRPr sz="22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865"/>
              </a:spcBef>
              <a:buFont typeface="Wingdings"/>
              <a:buChar char=""/>
              <a:tabLst>
                <a:tab pos="733425" algn="l"/>
              </a:tabLst>
            </a:pPr>
            <a:r>
              <a:rPr dirty="0" sz="2200">
                <a:latin typeface="Calibri"/>
                <a:cs typeface="Calibri"/>
              </a:rPr>
              <a:t>Consistent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coding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style</a:t>
            </a:r>
            <a:endParaRPr sz="22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865"/>
              </a:spcBef>
              <a:buFont typeface="Wingdings"/>
              <a:buChar char=""/>
              <a:tabLst>
                <a:tab pos="733425" algn="l"/>
              </a:tabLst>
            </a:pPr>
            <a:r>
              <a:rPr dirty="0" sz="2200">
                <a:latin typeface="Calibri"/>
                <a:cs typeface="Calibri"/>
              </a:rPr>
              <a:t>Need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keep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changes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sync</a:t>
            </a:r>
            <a:endParaRPr sz="22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865"/>
              </a:spcBef>
              <a:buFont typeface="Wingdings"/>
              <a:buChar char=""/>
              <a:tabLst>
                <a:tab pos="733425" algn="l"/>
              </a:tabLst>
            </a:pPr>
            <a:r>
              <a:rPr dirty="0" sz="2200">
                <a:latin typeface="Calibri"/>
                <a:cs typeface="Calibri"/>
              </a:rPr>
              <a:t>Can’t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rely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mailing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individual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changes</a:t>
            </a:r>
            <a:endParaRPr sz="22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865"/>
              </a:spcBef>
              <a:buFont typeface="Wingdings"/>
              <a:buChar char=""/>
              <a:tabLst>
                <a:tab pos="733425" algn="l"/>
              </a:tabLst>
            </a:pPr>
            <a:r>
              <a:rPr dirty="0" sz="2200">
                <a:latin typeface="Calibri"/>
                <a:cs typeface="Calibri"/>
              </a:rPr>
              <a:t>Everyone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needs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have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common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view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code.</a:t>
            </a:r>
            <a:endParaRPr sz="2200">
              <a:latin typeface="Calibri"/>
              <a:cs typeface="Calibri"/>
            </a:endParaRPr>
          </a:p>
          <a:p>
            <a:pPr marL="372110" marR="5080" indent="-360045">
              <a:lnSpc>
                <a:spcPct val="110000"/>
              </a:lnSpc>
              <a:spcBef>
                <a:spcPts val="600"/>
              </a:spcBef>
              <a:buClr>
                <a:srgbClr val="000000"/>
              </a:buClr>
              <a:buFont typeface="Wingdings"/>
              <a:buChar char=""/>
              <a:tabLst>
                <a:tab pos="372110" algn="l"/>
              </a:tabLst>
            </a:pP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Continuous</a:t>
            </a:r>
            <a:r>
              <a:rPr dirty="0" sz="2200" spc="-5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integration</a:t>
            </a:r>
            <a:r>
              <a:rPr dirty="0" sz="2200" spc="-3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(CI):</a:t>
            </a:r>
            <a:r>
              <a:rPr dirty="0" sz="2200" spc="-4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automatic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merging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code,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Requires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every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module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compile </a:t>
            </a:r>
            <a:r>
              <a:rPr dirty="0" sz="2200">
                <a:latin typeface="Calibri"/>
                <a:cs typeface="Calibri"/>
              </a:rPr>
              <a:t>(Build)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correctly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sanity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testing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developers’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changes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against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mainline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branch.</a:t>
            </a:r>
            <a:endParaRPr sz="2200">
              <a:latin typeface="Calibri"/>
              <a:cs typeface="Calibri"/>
            </a:endParaRPr>
          </a:p>
          <a:p>
            <a:pPr marL="372110" marR="264795" indent="-360045">
              <a:lnSpc>
                <a:spcPct val="110100"/>
              </a:lnSpc>
              <a:spcBef>
                <a:spcPts val="600"/>
              </a:spcBef>
              <a:buFont typeface="Wingdings"/>
              <a:buChar char=""/>
              <a:tabLst>
                <a:tab pos="372110" algn="l"/>
              </a:tabLst>
            </a:pPr>
            <a:r>
              <a:rPr dirty="0" sz="2200">
                <a:latin typeface="Calibri"/>
                <a:cs typeface="Calibri"/>
              </a:rPr>
              <a:t>If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you’re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making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changes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branch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would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break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build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when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merged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mainline, </a:t>
            </a:r>
            <a:r>
              <a:rPr dirty="0" sz="2200">
                <a:latin typeface="Calibri"/>
                <a:cs typeface="Calibri"/>
              </a:rPr>
              <a:t>continuous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integration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will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let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you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know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right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away,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rather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than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waiting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until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you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finish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your </a:t>
            </a:r>
            <a:r>
              <a:rPr dirty="0" sz="2200">
                <a:latin typeface="Calibri"/>
                <a:cs typeface="Calibri"/>
              </a:rPr>
              <a:t>branch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final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merge.</a:t>
            </a:r>
            <a:endParaRPr sz="2200">
              <a:latin typeface="Calibri"/>
              <a:cs typeface="Calibri"/>
            </a:endParaRPr>
          </a:p>
          <a:p>
            <a:pPr marL="372110" marR="214629" indent="-360045">
              <a:lnSpc>
                <a:spcPct val="110000"/>
              </a:lnSpc>
              <a:spcBef>
                <a:spcPts val="600"/>
              </a:spcBef>
              <a:buFont typeface="Wingdings"/>
              <a:buChar char=""/>
              <a:tabLst>
                <a:tab pos="372110" algn="l"/>
              </a:tabLst>
            </a:pPr>
            <a:r>
              <a:rPr dirty="0" sz="2200">
                <a:latin typeface="Calibri"/>
                <a:cs typeface="Calibri"/>
              </a:rPr>
              <a:t>Tool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:</a:t>
            </a:r>
            <a:r>
              <a:rPr dirty="0" sz="2200" spc="40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Source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Code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Version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Management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Systems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like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git,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ClearCase,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Maven,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ANT,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Jenkins,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Travis </a:t>
            </a:r>
            <a:r>
              <a:rPr dirty="0" sz="2200">
                <a:latin typeface="Calibri"/>
                <a:cs typeface="Calibri"/>
              </a:rPr>
              <a:t>CI,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Drone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often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used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automate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build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pipelines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7625" rIns="0" bIns="0" rtlCol="0" vert="horz">
            <a:spAutoFit/>
          </a:bodyPr>
          <a:lstStyle/>
          <a:p>
            <a:pPr marL="93980">
              <a:lnSpc>
                <a:spcPct val="100000"/>
              </a:lnSpc>
              <a:spcBef>
                <a:spcPts val="375"/>
              </a:spcBef>
            </a:pPr>
            <a:r>
              <a:rPr dirty="0"/>
              <a:t>CLOUD</a:t>
            </a:r>
            <a:r>
              <a:rPr dirty="0" spc="-15"/>
              <a:t> </a:t>
            </a:r>
            <a:r>
              <a:rPr dirty="0" spc="-10"/>
              <a:t>COMPUTING</a:t>
            </a:r>
          </a:p>
          <a:p>
            <a:pPr marL="120014">
              <a:lnSpc>
                <a:spcPct val="100000"/>
              </a:lnSpc>
              <a:spcBef>
                <a:spcPts val="280"/>
              </a:spcBef>
            </a:pPr>
            <a:r>
              <a:rPr dirty="0">
                <a:solidFill>
                  <a:srgbClr val="C55A11"/>
                </a:solidFill>
              </a:rPr>
              <a:t>Continuous</a:t>
            </a:r>
            <a:r>
              <a:rPr dirty="0" spc="-4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Delivery</a:t>
            </a:r>
            <a:r>
              <a:rPr dirty="0" spc="-6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/</a:t>
            </a:r>
            <a:r>
              <a:rPr dirty="0" spc="-4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Continuous</a:t>
            </a:r>
            <a:r>
              <a:rPr dirty="0" spc="-4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Testing</a:t>
            </a:r>
            <a:r>
              <a:rPr dirty="0" spc="-4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/</a:t>
            </a:r>
            <a:r>
              <a:rPr dirty="0" spc="-45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Continuous</a:t>
            </a:r>
            <a:r>
              <a:rPr dirty="0" spc="-35">
                <a:solidFill>
                  <a:srgbClr val="C55A11"/>
                </a:solidFill>
              </a:rPr>
              <a:t> </a:t>
            </a:r>
            <a:r>
              <a:rPr dirty="0" spc="-10">
                <a:solidFill>
                  <a:srgbClr val="C55A11"/>
                </a:solidFill>
              </a:rPr>
              <a:t>Deployment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69214" y="1505226"/>
            <a:ext cx="11684000" cy="5235575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Continuous</a:t>
            </a:r>
            <a:r>
              <a:rPr dirty="0" sz="2200" spc="-2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delivery</a:t>
            </a:r>
            <a:r>
              <a:rPr dirty="0" sz="2200" spc="-2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frequent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shipping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sanitized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builds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given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environment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(such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test</a:t>
            </a:r>
            <a:r>
              <a:rPr dirty="0" sz="2200" spc="-25">
                <a:latin typeface="Calibri"/>
                <a:cs typeface="Calibri"/>
              </a:rPr>
              <a:t> or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2200">
                <a:latin typeface="Calibri"/>
                <a:cs typeface="Calibri"/>
              </a:rPr>
              <a:t>production)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automatic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developments.</a:t>
            </a:r>
            <a:endParaRPr sz="2200">
              <a:latin typeface="Calibri"/>
              <a:cs typeface="Calibri"/>
            </a:endParaRPr>
          </a:p>
          <a:p>
            <a:pPr marL="372110" marR="20955" indent="-360045">
              <a:lnSpc>
                <a:spcPct val="120000"/>
              </a:lnSpc>
              <a:spcBef>
                <a:spcPts val="605"/>
              </a:spcBef>
              <a:buFont typeface="Wingdings"/>
              <a:buChar char=""/>
              <a:tabLst>
                <a:tab pos="372110" algn="l"/>
              </a:tabLst>
            </a:pP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could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done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using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tools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like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Jenkins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open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source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Java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based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application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automates </a:t>
            </a:r>
            <a:r>
              <a:rPr dirty="0" sz="2200">
                <a:latin typeface="Calibri"/>
                <a:cs typeface="Calibri"/>
              </a:rPr>
              <a:t>many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parts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software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delivery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pipeline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Continuous</a:t>
            </a:r>
            <a:r>
              <a:rPr dirty="0" sz="2200" spc="-9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spc="-10" b="1">
                <a:solidFill>
                  <a:srgbClr val="006FC0"/>
                </a:solidFill>
                <a:latin typeface="Calibri"/>
                <a:cs typeface="Calibri"/>
              </a:rPr>
              <a:t>Testing</a:t>
            </a:r>
            <a:endParaRPr sz="2200">
              <a:latin typeface="Calibri"/>
              <a:cs typeface="Calibri"/>
            </a:endParaRPr>
          </a:p>
          <a:p>
            <a:pPr marL="372110" marR="60960" indent="-360045">
              <a:lnSpc>
                <a:spcPct val="120000"/>
              </a:lnSpc>
              <a:spcBef>
                <a:spcPts val="600"/>
              </a:spcBef>
              <a:buFont typeface="Wingdings"/>
              <a:buChar char=""/>
              <a:tabLst>
                <a:tab pos="372110" algn="l"/>
              </a:tabLst>
            </a:pPr>
            <a:r>
              <a:rPr dirty="0" sz="2200">
                <a:latin typeface="Calibri"/>
                <a:cs typeface="Calibri"/>
              </a:rPr>
              <a:t>Continuous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testing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process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executing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predominantly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automated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tests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part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the </a:t>
            </a:r>
            <a:r>
              <a:rPr dirty="0" sz="2200">
                <a:latin typeface="Calibri"/>
                <a:cs typeface="Calibri"/>
              </a:rPr>
              <a:t>software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delivery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pipeline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validating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code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ensure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application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works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envisaged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free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bugs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defects and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continuously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deployed</a:t>
            </a:r>
            <a:endParaRPr sz="2200">
              <a:latin typeface="Calibri"/>
              <a:cs typeface="Calibri"/>
            </a:endParaRPr>
          </a:p>
          <a:p>
            <a:pPr marL="372110" marR="14604" indent="-360045">
              <a:lnSpc>
                <a:spcPct val="120000"/>
              </a:lnSpc>
              <a:spcBef>
                <a:spcPts val="600"/>
              </a:spcBef>
              <a:buFont typeface="Wingdings"/>
              <a:buChar char=""/>
              <a:tabLst>
                <a:tab pos="372110" algn="l"/>
              </a:tabLst>
            </a:pPr>
            <a:r>
              <a:rPr dirty="0" sz="2200">
                <a:latin typeface="Calibri"/>
                <a:cs typeface="Calibri"/>
              </a:rPr>
              <a:t>These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tests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typically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designed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executed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with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minimum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wait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times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provide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earliest </a:t>
            </a:r>
            <a:r>
              <a:rPr dirty="0" sz="2200">
                <a:latin typeface="Calibri"/>
                <a:cs typeface="Calibri"/>
              </a:rPr>
              <a:t>possible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feedback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&amp;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support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detection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(or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prevention)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risks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most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critical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the </a:t>
            </a:r>
            <a:r>
              <a:rPr dirty="0" sz="2200">
                <a:latin typeface="Calibri"/>
                <a:cs typeface="Calibri"/>
              </a:rPr>
              <a:t>business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organization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associated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with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software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release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candidate.</a:t>
            </a:r>
            <a:endParaRPr sz="2200">
              <a:latin typeface="Calibri"/>
              <a:cs typeface="Calibri"/>
            </a:endParaRPr>
          </a:p>
          <a:p>
            <a:pPr marL="9983470">
              <a:lnSpc>
                <a:spcPct val="100000"/>
              </a:lnSpc>
              <a:spcBef>
                <a:spcPts val="1130"/>
              </a:spcBef>
            </a:pPr>
            <a:r>
              <a:rPr dirty="0" sz="2200" spc="-10">
                <a:latin typeface="Calibri"/>
                <a:cs typeface="Calibri"/>
              </a:rPr>
              <a:t>(Cont.)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7625" rIns="0" bIns="0" rtlCol="0" vert="horz">
            <a:spAutoFit/>
          </a:bodyPr>
          <a:lstStyle/>
          <a:p>
            <a:pPr marL="198120">
              <a:lnSpc>
                <a:spcPct val="100000"/>
              </a:lnSpc>
              <a:spcBef>
                <a:spcPts val="375"/>
              </a:spcBef>
            </a:pPr>
            <a:r>
              <a:rPr dirty="0"/>
              <a:t>CLOUD</a:t>
            </a:r>
            <a:r>
              <a:rPr dirty="0" spc="-15"/>
              <a:t> </a:t>
            </a:r>
            <a:r>
              <a:rPr dirty="0" spc="-10"/>
              <a:t>COMPUTING</a:t>
            </a:r>
          </a:p>
          <a:p>
            <a:pPr marL="224154">
              <a:lnSpc>
                <a:spcPct val="100000"/>
              </a:lnSpc>
              <a:spcBef>
                <a:spcPts val="280"/>
              </a:spcBef>
            </a:pPr>
            <a:r>
              <a:rPr dirty="0">
                <a:solidFill>
                  <a:srgbClr val="C55A11"/>
                </a:solidFill>
              </a:rPr>
              <a:t>Continuous</a:t>
            </a:r>
            <a:r>
              <a:rPr dirty="0" spc="-4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Delivery</a:t>
            </a:r>
            <a:r>
              <a:rPr dirty="0" spc="-6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/</a:t>
            </a:r>
            <a:r>
              <a:rPr dirty="0" spc="-4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Continuous</a:t>
            </a:r>
            <a:r>
              <a:rPr dirty="0" spc="-4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Testing</a:t>
            </a:r>
            <a:r>
              <a:rPr dirty="0" spc="-4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/</a:t>
            </a:r>
            <a:r>
              <a:rPr dirty="0" spc="-45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Continuous</a:t>
            </a:r>
            <a:r>
              <a:rPr dirty="0" spc="-35">
                <a:solidFill>
                  <a:srgbClr val="C55A11"/>
                </a:solidFill>
              </a:rPr>
              <a:t> </a:t>
            </a:r>
            <a:r>
              <a:rPr dirty="0" spc="-10">
                <a:solidFill>
                  <a:srgbClr val="C55A11"/>
                </a:solidFill>
              </a:rPr>
              <a:t>Deployment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69214" y="1228495"/>
            <a:ext cx="11566525" cy="5061585"/>
          </a:xfrm>
          <a:prstGeom prst="rect">
            <a:avLst/>
          </a:prstGeom>
        </p:spPr>
        <p:txBody>
          <a:bodyPr wrap="square" lIns="0" tIns="1555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Continuous</a:t>
            </a:r>
            <a:r>
              <a:rPr dirty="0" sz="2200" spc="-6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testing</a:t>
            </a:r>
            <a:r>
              <a:rPr dirty="0" sz="2200" spc="-6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spc="-10" b="1">
                <a:solidFill>
                  <a:srgbClr val="006FC0"/>
                </a:solidFill>
                <a:latin typeface="Calibri"/>
                <a:cs typeface="Calibri"/>
              </a:rPr>
              <a:t>(Cont.)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would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involve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activities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like</a:t>
            </a:r>
            <a:endParaRPr sz="22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1130"/>
              </a:spcBef>
              <a:buFont typeface="Wingdings"/>
              <a:buChar char=""/>
              <a:tabLst>
                <a:tab pos="372110" algn="l"/>
              </a:tabLst>
            </a:pPr>
            <a:r>
              <a:rPr dirty="0" sz="2200">
                <a:latin typeface="Calibri"/>
                <a:cs typeface="Calibri"/>
              </a:rPr>
              <a:t>Copy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individual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binaries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staging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environment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right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directories</a:t>
            </a:r>
            <a:endParaRPr sz="22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1130"/>
              </a:spcBef>
              <a:buFont typeface="Wingdings"/>
              <a:buChar char=""/>
              <a:tabLst>
                <a:tab pos="372110" algn="l"/>
              </a:tabLst>
            </a:pPr>
            <a:r>
              <a:rPr dirty="0" sz="2200">
                <a:latin typeface="Calibri"/>
                <a:cs typeface="Calibri"/>
              </a:rPr>
              <a:t>Configure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correctly,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ensure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dependent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libraries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installed</a:t>
            </a:r>
            <a:endParaRPr sz="2200">
              <a:latin typeface="Calibri"/>
              <a:cs typeface="Calibri"/>
            </a:endParaRPr>
          </a:p>
          <a:p>
            <a:pPr marL="372110" marR="5080" indent="-360045">
              <a:lnSpc>
                <a:spcPct val="120000"/>
              </a:lnSpc>
              <a:spcBef>
                <a:spcPts val="600"/>
              </a:spcBef>
              <a:buFont typeface="Wingdings"/>
              <a:buChar char=""/>
              <a:tabLst>
                <a:tab pos="372110" algn="l"/>
              </a:tabLst>
            </a:pPr>
            <a:r>
              <a:rPr dirty="0" sz="2200">
                <a:latin typeface="Calibri"/>
                <a:cs typeface="Calibri"/>
              </a:rPr>
              <a:t>Execute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different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categories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planned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tests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(e.g.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Integration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tests,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functionality,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performance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acceptance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tests)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(Could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tools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like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Junit,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Selenium)</a:t>
            </a:r>
            <a:endParaRPr sz="22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1130"/>
              </a:spcBef>
              <a:buFont typeface="Wingdings"/>
              <a:buChar char=""/>
              <a:tabLst>
                <a:tab pos="372110" algn="l"/>
              </a:tabLst>
            </a:pPr>
            <a:r>
              <a:rPr dirty="0" sz="2200">
                <a:latin typeface="Calibri"/>
                <a:cs typeface="Calibri"/>
              </a:rPr>
              <a:t>Generate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reports</a:t>
            </a:r>
            <a:endParaRPr sz="2200">
              <a:latin typeface="Calibri"/>
              <a:cs typeface="Calibri"/>
            </a:endParaRPr>
          </a:p>
          <a:p>
            <a:pPr marL="372110" marR="641350" indent="-360045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Font typeface="Wingdings"/>
              <a:buChar char=""/>
              <a:tabLst>
                <a:tab pos="372110" algn="l"/>
              </a:tabLst>
            </a:pP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Continuous</a:t>
            </a:r>
            <a:r>
              <a:rPr dirty="0" sz="2200" spc="-4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deployment</a:t>
            </a:r>
            <a:r>
              <a:rPr dirty="0" sz="2200" spc="-4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006FC0"/>
                </a:solidFill>
                <a:latin typeface="Calibri"/>
                <a:cs typeface="Calibri"/>
              </a:rPr>
              <a:t>(CD</a:t>
            </a:r>
            <a:r>
              <a:rPr dirty="0" sz="2200">
                <a:latin typeface="Calibri"/>
                <a:cs typeface="Calibri"/>
              </a:rPr>
              <a:t>)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automatic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deployment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successful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builds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production </a:t>
            </a:r>
            <a:r>
              <a:rPr dirty="0" sz="2200">
                <a:latin typeface="Calibri"/>
                <a:cs typeface="Calibri"/>
              </a:rPr>
              <a:t>managed</a:t>
            </a:r>
            <a:r>
              <a:rPr dirty="0" sz="2200" spc="-114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centrally.</a:t>
            </a:r>
            <a:endParaRPr sz="22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1125"/>
              </a:spcBef>
              <a:buFont typeface="Wingdings"/>
              <a:buChar char=""/>
              <a:tabLst>
                <a:tab pos="372110" algn="l"/>
              </a:tabLst>
            </a:pPr>
            <a:r>
              <a:rPr dirty="0" sz="2200" spc="-10">
                <a:latin typeface="Calibri"/>
                <a:cs typeface="Calibri"/>
              </a:rPr>
              <a:t>Developers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should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able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deploy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new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versions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by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either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pushing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button,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merging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merge</a:t>
            </a:r>
            <a:endParaRPr sz="2200">
              <a:latin typeface="Calibri"/>
              <a:cs typeface="Calibri"/>
            </a:endParaRPr>
          </a:p>
          <a:p>
            <a:pPr marL="372110">
              <a:lnSpc>
                <a:spcPct val="100000"/>
              </a:lnSpc>
              <a:spcBef>
                <a:spcPts val="530"/>
              </a:spcBef>
            </a:pPr>
            <a:r>
              <a:rPr dirty="0" sz="2200">
                <a:latin typeface="Calibri"/>
                <a:cs typeface="Calibri"/>
              </a:rPr>
              <a:t>request,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pushing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Git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release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tag.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5541645"/>
            <a:chOff x="0" y="0"/>
            <a:chExt cx="12192000" cy="5541645"/>
          </a:xfrm>
        </p:grpSpPr>
        <p:pic>
          <p:nvPicPr>
            <p:cNvPr id="3" name="object 3" descr="Image result for devops pipeline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51120" y="1077467"/>
              <a:ext cx="7040880" cy="446379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1298447"/>
              <a:ext cx="5151755" cy="38100"/>
            </a:xfrm>
            <a:custGeom>
              <a:avLst/>
              <a:gdLst/>
              <a:ahLst/>
              <a:cxnLst/>
              <a:rect l="l" t="t" r="r" b="b"/>
              <a:pathLst>
                <a:path w="5151755" h="38100">
                  <a:moveTo>
                    <a:pt x="5151755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5151755" y="38100"/>
                  </a:lnTo>
                  <a:lnTo>
                    <a:pt x="5151755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7625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375"/>
              </a:spcBef>
            </a:pPr>
            <a:r>
              <a:rPr dirty="0"/>
              <a:t>CLOUD</a:t>
            </a:r>
            <a:r>
              <a:rPr dirty="0" spc="-15"/>
              <a:t> </a:t>
            </a:r>
            <a:r>
              <a:rPr dirty="0" spc="-10"/>
              <a:t>COMPUTING</a:t>
            </a:r>
          </a:p>
          <a:p>
            <a:pPr marL="201295">
              <a:lnSpc>
                <a:spcPct val="100000"/>
              </a:lnSpc>
              <a:spcBef>
                <a:spcPts val="280"/>
              </a:spcBef>
            </a:pPr>
            <a:r>
              <a:rPr dirty="0">
                <a:solidFill>
                  <a:srgbClr val="C55A11"/>
                </a:solidFill>
              </a:rPr>
              <a:t>Continuous</a:t>
            </a:r>
            <a:r>
              <a:rPr dirty="0" spc="-1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Deployment</a:t>
            </a:r>
            <a:r>
              <a:rPr dirty="0" spc="-20">
                <a:solidFill>
                  <a:srgbClr val="C55A11"/>
                </a:solidFill>
              </a:rPr>
              <a:t> </a:t>
            </a:r>
            <a:r>
              <a:rPr dirty="0" spc="-10">
                <a:solidFill>
                  <a:srgbClr val="C55A11"/>
                </a:solidFill>
              </a:rPr>
              <a:t>(Cont.)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75640" y="1393414"/>
            <a:ext cx="4965065" cy="4354195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algn="ctr" marL="342265" marR="92075" indent="-34226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342265" algn="l"/>
              </a:tabLst>
            </a:pP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when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application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actually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used</a:t>
            </a:r>
            <a:endParaRPr sz="2000">
              <a:latin typeface="Calibri"/>
              <a:cs typeface="Calibri"/>
            </a:endParaRPr>
          </a:p>
          <a:p>
            <a:pPr algn="ctr" marR="104775">
              <a:lnSpc>
                <a:spcPct val="100000"/>
              </a:lnSpc>
              <a:spcBef>
                <a:spcPts val="480"/>
              </a:spcBef>
            </a:pP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customer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Setup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environment</a:t>
            </a:r>
            <a:endParaRPr sz="2000">
              <a:latin typeface="Calibri"/>
              <a:cs typeface="Calibri"/>
            </a:endParaRPr>
          </a:p>
          <a:p>
            <a:pPr marL="355600" marR="262890" indent="-342900">
              <a:lnSpc>
                <a:spcPct val="120000"/>
              </a:lnSpc>
              <a:spcBef>
                <a:spcPts val="600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Specify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type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infrastructure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you </a:t>
            </a:r>
            <a:r>
              <a:rPr dirty="0" sz="2000">
                <a:latin typeface="Calibri"/>
                <a:cs typeface="Calibri"/>
              </a:rPr>
              <a:t>need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terms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machine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types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–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Chef </a:t>
            </a:r>
            <a:r>
              <a:rPr dirty="0" sz="2000">
                <a:latin typeface="Calibri"/>
                <a:cs typeface="Calibri"/>
              </a:rPr>
              <a:t>Provisioning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(Machines,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storage)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Consider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Immutable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infrastructure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which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484"/>
              </a:spcBef>
            </a:pPr>
            <a:r>
              <a:rPr dirty="0" sz="2000">
                <a:latin typeface="Calibri"/>
                <a:cs typeface="Calibri"/>
              </a:rPr>
              <a:t>does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not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change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enabling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easier </a:t>
            </a:r>
            <a:r>
              <a:rPr dirty="0" sz="2000" spc="-10">
                <a:latin typeface="Calibri"/>
                <a:cs typeface="Calibri"/>
              </a:rPr>
              <a:t>automation</a:t>
            </a:r>
            <a:endParaRPr sz="2000">
              <a:latin typeface="Calibri"/>
              <a:cs typeface="Calibri"/>
            </a:endParaRPr>
          </a:p>
          <a:p>
            <a:pPr marL="355600" marR="333375" indent="-342900">
              <a:lnSpc>
                <a:spcPct val="120000"/>
              </a:lnSpc>
              <a:spcBef>
                <a:spcPts val="600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Specify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configuration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need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50">
                <a:latin typeface="Calibri"/>
                <a:cs typeface="Calibri"/>
              </a:rPr>
              <a:t>– </a:t>
            </a:r>
            <a:r>
              <a:rPr dirty="0" sz="2000">
                <a:latin typeface="Calibri"/>
                <a:cs typeface="Calibri"/>
              </a:rPr>
              <a:t>Puppet,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Chef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Recipe/Cookbooks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set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docker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images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their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scaling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480"/>
              </a:spcBef>
            </a:pPr>
            <a:r>
              <a:rPr dirty="0" sz="2000">
                <a:latin typeface="Calibri"/>
                <a:cs typeface="Calibri"/>
              </a:rPr>
              <a:t>policy,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setup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load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balancer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etc.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4459" y="5381244"/>
            <a:ext cx="2694940" cy="524510"/>
          </a:xfrm>
          <a:prstGeom prst="rect">
            <a:avLst/>
          </a:prstGeom>
          <a:solidFill>
            <a:srgbClr val="2E5496"/>
          </a:solidFill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400" b="1">
                <a:solidFill>
                  <a:srgbClr val="F1F1F1"/>
                </a:solidFill>
                <a:latin typeface="Arial"/>
                <a:cs typeface="Arial"/>
              </a:rPr>
              <a:t>Jenkins:</a:t>
            </a:r>
            <a:r>
              <a:rPr dirty="0" sz="1400" spc="-50" b="1">
                <a:solidFill>
                  <a:srgbClr val="F1F1F1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1F1F1"/>
                </a:solidFill>
                <a:latin typeface="Arial"/>
                <a:cs typeface="Arial"/>
              </a:rPr>
              <a:t>Is</a:t>
            </a:r>
            <a:r>
              <a:rPr dirty="0" sz="1400" spc="-20" b="1">
                <a:solidFill>
                  <a:srgbClr val="F1F1F1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1F1F1"/>
                </a:solidFill>
                <a:latin typeface="Arial"/>
                <a:cs typeface="Arial"/>
              </a:rPr>
              <a:t>the</a:t>
            </a:r>
            <a:r>
              <a:rPr dirty="0" sz="1400" spc="-10" b="1">
                <a:solidFill>
                  <a:srgbClr val="F1F1F1"/>
                </a:solidFill>
                <a:latin typeface="Arial"/>
                <a:cs typeface="Arial"/>
              </a:rPr>
              <a:t> workflow</a:t>
            </a:r>
            <a:endParaRPr sz="1400">
              <a:latin typeface="Arial"/>
              <a:cs typeface="Arial"/>
            </a:endParaRPr>
          </a:p>
          <a:p>
            <a:pPr marL="92710">
              <a:lnSpc>
                <a:spcPct val="100000"/>
              </a:lnSpc>
              <a:spcBef>
                <a:spcPts val="5"/>
              </a:spcBef>
            </a:pPr>
            <a:r>
              <a:rPr dirty="0" sz="1400" b="1">
                <a:solidFill>
                  <a:srgbClr val="F1F1F1"/>
                </a:solidFill>
                <a:latin typeface="Arial"/>
                <a:cs typeface="Arial"/>
              </a:rPr>
              <a:t>automation</a:t>
            </a:r>
            <a:r>
              <a:rPr dirty="0" sz="1400" spc="-80" b="1">
                <a:solidFill>
                  <a:srgbClr val="F1F1F1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F1F1F1"/>
                </a:solidFill>
                <a:latin typeface="Arial"/>
                <a:cs typeface="Arial"/>
              </a:rPr>
              <a:t>server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0575" y="5737352"/>
            <a:ext cx="8047990" cy="112268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2000" spc="-10" b="1">
                <a:latin typeface="Calibri"/>
                <a:cs typeface="Calibri"/>
              </a:rPr>
              <a:t>Tools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2000">
                <a:latin typeface="Calibri"/>
                <a:cs typeface="Calibri"/>
              </a:rPr>
              <a:t>Tools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setup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infrastructure: Chef/Puppet/Kubernetes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2000">
                <a:latin typeface="Calibri"/>
                <a:cs typeface="Calibri"/>
              </a:rPr>
              <a:t>Docker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–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create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docker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image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dependencies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each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services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62813" y="217805"/>
            <a:ext cx="10928350" cy="461518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1920">
              <a:lnSpc>
                <a:spcPct val="100000"/>
              </a:lnSpc>
              <a:spcBef>
                <a:spcPts val="475"/>
              </a:spcBef>
            </a:pPr>
            <a:r>
              <a:rPr dirty="0" sz="2400" b="1">
                <a:solidFill>
                  <a:srgbClr val="2E5496"/>
                </a:solidFill>
                <a:latin typeface="Calibri"/>
                <a:cs typeface="Calibri"/>
              </a:rPr>
              <a:t>CLOUD</a:t>
            </a:r>
            <a:r>
              <a:rPr dirty="0" sz="2400" spc="-15" b="1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496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  <a:spcBef>
                <a:spcPts val="380"/>
              </a:spcBef>
            </a:pP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Jenkins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60"/>
              </a:spcBef>
            </a:pPr>
            <a:endParaRPr sz="2400">
              <a:latin typeface="Arial"/>
              <a:cs typeface="Arial"/>
            </a:endParaRPr>
          </a:p>
          <a:p>
            <a:pPr marL="372110" marR="5080" indent="-360045">
              <a:lnSpc>
                <a:spcPct val="120000"/>
              </a:lnSpc>
              <a:spcBef>
                <a:spcPts val="5"/>
              </a:spcBef>
              <a:buClr>
                <a:srgbClr val="843B0C"/>
              </a:buClr>
              <a:buFont typeface="Wingdings"/>
              <a:buChar char=""/>
              <a:tabLst>
                <a:tab pos="372110" algn="l"/>
              </a:tabLst>
            </a:pPr>
            <a:r>
              <a:rPr dirty="0" sz="2400" b="1">
                <a:solidFill>
                  <a:srgbClr val="006FC0"/>
                </a:solidFill>
                <a:latin typeface="Calibri"/>
                <a:cs typeface="Calibri"/>
              </a:rPr>
              <a:t>Jenkins</a:t>
            </a:r>
            <a:r>
              <a:rPr dirty="0" sz="2400" spc="-4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very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widely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adopted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CD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tool.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There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also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newer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dedicated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side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project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running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Jenkins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Kubernetes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cluster,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006FC0"/>
                </a:solidFill>
                <a:latin typeface="Calibri"/>
                <a:cs typeface="Calibri"/>
              </a:rPr>
              <a:t>JenkinsX</a:t>
            </a:r>
            <a:r>
              <a:rPr dirty="0" sz="2400" spc="-1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372110" marR="430530" indent="-360045">
              <a:lnSpc>
                <a:spcPct val="120100"/>
              </a:lnSpc>
              <a:spcBef>
                <a:spcPts val="595"/>
              </a:spcBef>
              <a:buClr>
                <a:srgbClr val="843B0C"/>
              </a:buClr>
              <a:buFont typeface="Wingdings"/>
              <a:buChar char=""/>
              <a:tabLst>
                <a:tab pos="372110" algn="l"/>
              </a:tabLst>
            </a:pPr>
            <a:r>
              <a:rPr dirty="0" sz="2400">
                <a:latin typeface="Calibri"/>
                <a:cs typeface="Calibri"/>
              </a:rPr>
              <a:t>Jenkins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self-</a:t>
            </a:r>
            <a:r>
              <a:rPr dirty="0" sz="2400">
                <a:latin typeface="Calibri"/>
                <a:cs typeface="Calibri"/>
              </a:rPr>
              <a:t>contained,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open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source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automation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server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which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used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to </a:t>
            </a:r>
            <a:r>
              <a:rPr dirty="0" sz="2400">
                <a:latin typeface="Calibri"/>
                <a:cs typeface="Calibri"/>
              </a:rPr>
              <a:t>automate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all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sorts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tasks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related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building,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testing,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delivering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deploying software.</a:t>
            </a:r>
            <a:endParaRPr sz="24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1175"/>
              </a:spcBef>
              <a:buClr>
                <a:srgbClr val="843B0C"/>
              </a:buClr>
              <a:buFont typeface="Wingdings"/>
              <a:buChar char=""/>
              <a:tabLst>
                <a:tab pos="372110" algn="l"/>
              </a:tabLst>
            </a:pPr>
            <a:r>
              <a:rPr dirty="0" sz="2400">
                <a:latin typeface="Calibri"/>
                <a:cs typeface="Calibri"/>
              </a:rPr>
              <a:t>Jenkins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installed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through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native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system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packages,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Docker,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even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run</a:t>
            </a:r>
            <a:endParaRPr sz="2400">
              <a:latin typeface="Calibri"/>
              <a:cs typeface="Calibri"/>
            </a:endParaRPr>
          </a:p>
          <a:p>
            <a:pPr marL="372110">
              <a:lnSpc>
                <a:spcPct val="100000"/>
              </a:lnSpc>
              <a:spcBef>
                <a:spcPts val="580"/>
              </a:spcBef>
            </a:pPr>
            <a:r>
              <a:rPr dirty="0" sz="2400">
                <a:latin typeface="Calibri"/>
                <a:cs typeface="Calibri"/>
              </a:rPr>
              <a:t>standalone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by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any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machine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Java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Runtime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Environment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(JRE)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installed.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0325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475"/>
              </a:spcBef>
            </a:pPr>
            <a:r>
              <a:rPr dirty="0"/>
              <a:t>CLOUD</a:t>
            </a:r>
            <a:r>
              <a:rPr dirty="0" spc="-15"/>
              <a:t> </a:t>
            </a:r>
            <a:r>
              <a:rPr dirty="0" spc="-10"/>
              <a:t>COMPUTING</a:t>
            </a:r>
          </a:p>
          <a:p>
            <a:pPr marL="201295">
              <a:lnSpc>
                <a:spcPct val="100000"/>
              </a:lnSpc>
              <a:spcBef>
                <a:spcPts val="380"/>
              </a:spcBef>
            </a:pP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Additional</a:t>
            </a:r>
            <a:r>
              <a:rPr dirty="0" spc="58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References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>
                <a:moveTo>
                  <a:pt x="8292592" y="0"/>
                </a:moveTo>
                <a:lnTo>
                  <a:pt x="0" y="0"/>
                </a:lnTo>
                <a:lnTo>
                  <a:pt x="0" y="38100"/>
                </a:lnTo>
                <a:lnTo>
                  <a:pt x="8292592" y="38100"/>
                </a:lnTo>
                <a:lnTo>
                  <a:pt x="8292592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01090" y="1796897"/>
            <a:ext cx="4908550" cy="2616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u="sng" sz="20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https://www.guru99.com/jenkins-tutorial.html</a:t>
            </a:r>
            <a:r>
              <a:rPr dirty="0" sz="2000" spc="-1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dirty="0" u="sng" sz="20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https://www.guru99.com/devops-tutorial.html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2000">
              <a:latin typeface="Calibri"/>
              <a:cs typeface="Calibri"/>
            </a:endParaRPr>
          </a:p>
          <a:p>
            <a:pPr marL="12700" marR="118110">
              <a:lnSpc>
                <a:spcPct val="100000"/>
              </a:lnSpc>
              <a:spcBef>
                <a:spcPts val="5"/>
              </a:spcBef>
            </a:pPr>
            <a:r>
              <a:rPr dirty="0" sz="2000" b="1">
                <a:solidFill>
                  <a:srgbClr val="006FC0"/>
                </a:solidFill>
                <a:latin typeface="Calibri"/>
                <a:cs typeface="Calibri"/>
              </a:rPr>
              <a:t>References</a:t>
            </a:r>
            <a:r>
              <a:rPr dirty="0" sz="2000">
                <a:latin typeface="Calibri"/>
                <a:cs typeface="Calibri"/>
              </a:rPr>
              <a:t>:</a:t>
            </a:r>
            <a:r>
              <a:rPr dirty="0" sz="2000" spc="3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(useful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Cloud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lab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experiment) </a:t>
            </a:r>
            <a:r>
              <a:rPr dirty="0" u="sng" sz="20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https://www.jenkins.io/doc/</a:t>
            </a:r>
            <a:r>
              <a:rPr dirty="0" sz="2000" spc="-1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  <a:hlinkClick r:id="rId5"/>
              </a:rPr>
              <a:t>https://www.jenkins.io/doc/book/pipeline/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  <a:hlinkClick r:id="rId6"/>
              </a:rPr>
              <a:t>https://jenkins-x.io/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765536" y="348995"/>
            <a:ext cx="1066800" cy="1079500"/>
          </a:xfrm>
          <a:custGeom>
            <a:avLst/>
            <a:gdLst/>
            <a:ahLst/>
            <a:cxnLst/>
            <a:rect l="l" t="t" r="r" b="b"/>
            <a:pathLst>
              <a:path w="1066800" h="1079500">
                <a:moveTo>
                  <a:pt x="1066800" y="0"/>
                </a:moveTo>
                <a:lnTo>
                  <a:pt x="0" y="0"/>
                </a:lnTo>
                <a:lnTo>
                  <a:pt x="0" y="45720"/>
                </a:lnTo>
                <a:lnTo>
                  <a:pt x="1021080" y="45720"/>
                </a:lnTo>
                <a:lnTo>
                  <a:pt x="1021080" y="1078992"/>
                </a:lnTo>
                <a:lnTo>
                  <a:pt x="1066800" y="1078992"/>
                </a:lnTo>
                <a:lnTo>
                  <a:pt x="1066800" y="45720"/>
                </a:lnTo>
                <a:lnTo>
                  <a:pt x="1066800" y="12192"/>
                </a:lnTo>
                <a:lnTo>
                  <a:pt x="1066800" y="0"/>
                </a:lnTo>
                <a:close/>
              </a:path>
            </a:pathLst>
          </a:custGeom>
          <a:solidFill>
            <a:srgbClr val="F4AF8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A logo for a university  Description automatically generated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0572" y="1171955"/>
            <a:ext cx="2461602" cy="3997452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367276" y="2089784"/>
            <a:ext cx="274256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C55A11"/>
                </a:solidFill>
                <a:latin typeface="Arial"/>
                <a:cs typeface="Arial"/>
              </a:rPr>
              <a:t>THANK</a:t>
            </a:r>
            <a:r>
              <a:rPr dirty="0" sz="3600" spc="-14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3600" spc="-25">
                <a:solidFill>
                  <a:srgbClr val="C55A11"/>
                </a:solidFill>
                <a:latin typeface="Arial"/>
                <a:cs typeface="Arial"/>
              </a:rPr>
              <a:t>YOU</a:t>
            </a:r>
            <a:endParaRPr sz="3600">
              <a:latin typeface="Arial"/>
              <a:cs typeface="Arial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4289297" y="2888742"/>
            <a:ext cx="4581525" cy="0"/>
          </a:xfrm>
          <a:custGeom>
            <a:avLst/>
            <a:gdLst/>
            <a:ahLst/>
            <a:cxnLst/>
            <a:rect l="l" t="t" r="r" b="b"/>
            <a:pathLst>
              <a:path w="4581525" h="0">
                <a:moveTo>
                  <a:pt x="0" y="0"/>
                </a:moveTo>
                <a:lnTo>
                  <a:pt x="4581398" y="0"/>
                </a:lnTo>
              </a:path>
            </a:pathLst>
          </a:custGeom>
          <a:ln w="38100">
            <a:solidFill>
              <a:srgbClr val="DFA1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367276" y="3221032"/>
            <a:ext cx="5217160" cy="123444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2400" b="1">
                <a:latin typeface="Calibri"/>
                <a:cs typeface="Calibri"/>
              </a:rPr>
              <a:t>Prafullata</a:t>
            </a:r>
            <a:r>
              <a:rPr dirty="0" sz="2400" spc="-3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Kiran</a:t>
            </a:r>
            <a:r>
              <a:rPr dirty="0" sz="2400" spc="-2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Auradkar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2000">
                <a:latin typeface="Calibri"/>
                <a:cs typeface="Calibri"/>
              </a:rPr>
              <a:t>Department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Computer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Science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Engineering</a:t>
            </a:r>
            <a:endParaRPr sz="2000">
              <a:latin typeface="Calibri"/>
              <a:cs typeface="Calibri"/>
            </a:endParaRPr>
          </a:p>
          <a:p>
            <a:pPr marL="24765">
              <a:lnSpc>
                <a:spcPct val="100000"/>
              </a:lnSpc>
              <a:spcBef>
                <a:spcPts val="745"/>
              </a:spcBef>
            </a:pPr>
            <a:r>
              <a:rPr dirty="0" sz="2400" spc="-10" b="1">
                <a:latin typeface="Calibri"/>
                <a:cs typeface="Calibri"/>
                <a:hlinkClick r:id="rId2"/>
              </a:rPr>
              <a:t>prafullatak@pes.edu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3944" y="5489447"/>
            <a:ext cx="1066800" cy="1079500"/>
          </a:xfrm>
          <a:custGeom>
            <a:avLst/>
            <a:gdLst/>
            <a:ahLst/>
            <a:cxnLst/>
            <a:rect l="l" t="t" r="r" b="b"/>
            <a:pathLst>
              <a:path w="1066800" h="1079500">
                <a:moveTo>
                  <a:pt x="1066800" y="1033272"/>
                </a:moveTo>
                <a:lnTo>
                  <a:pt x="45720" y="1033272"/>
                </a:lnTo>
                <a:lnTo>
                  <a:pt x="45720" y="0"/>
                </a:lnTo>
                <a:lnTo>
                  <a:pt x="0" y="0"/>
                </a:lnTo>
                <a:lnTo>
                  <a:pt x="0" y="1033272"/>
                </a:lnTo>
                <a:lnTo>
                  <a:pt x="0" y="1066800"/>
                </a:lnTo>
                <a:lnTo>
                  <a:pt x="0" y="1078992"/>
                </a:lnTo>
                <a:lnTo>
                  <a:pt x="1066800" y="1078992"/>
                </a:lnTo>
                <a:lnTo>
                  <a:pt x="1066800" y="1033272"/>
                </a:lnTo>
                <a:close/>
              </a:path>
            </a:pathLst>
          </a:custGeom>
          <a:solidFill>
            <a:srgbClr val="F4AF81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10855706" y="266077"/>
            <a:ext cx="1067435" cy="1078230"/>
          </a:xfrm>
          <a:custGeom>
            <a:avLst/>
            <a:gdLst/>
            <a:ahLst/>
            <a:cxnLst/>
            <a:rect l="l" t="t" r="r" b="b"/>
            <a:pathLst>
              <a:path w="1067434" h="1078230">
                <a:moveTo>
                  <a:pt x="1066914" y="11201"/>
                </a:moveTo>
                <a:lnTo>
                  <a:pt x="1066888" y="0"/>
                </a:lnTo>
                <a:lnTo>
                  <a:pt x="0" y="0"/>
                </a:lnTo>
                <a:lnTo>
                  <a:pt x="0" y="45707"/>
                </a:lnTo>
                <a:lnTo>
                  <a:pt x="1021207" y="45707"/>
                </a:lnTo>
                <a:lnTo>
                  <a:pt x="1021207" y="1078090"/>
                </a:lnTo>
                <a:lnTo>
                  <a:pt x="1066914" y="1078090"/>
                </a:lnTo>
                <a:lnTo>
                  <a:pt x="1066914" y="11201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A logo for a university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3622" y="1172591"/>
            <a:ext cx="2239539" cy="3636645"/>
          </a:xfrm>
          <a:prstGeom prst="rect">
            <a:avLst/>
          </a:prstGeom>
        </p:spPr>
      </p:pic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74184" y="1316863"/>
            <a:ext cx="3894454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C55A11"/>
                </a:solidFill>
              </a:rPr>
              <a:t>CLOUD</a:t>
            </a:r>
            <a:r>
              <a:rPr dirty="0" sz="3600" spc="-130">
                <a:solidFill>
                  <a:srgbClr val="C55A11"/>
                </a:solidFill>
              </a:rPr>
              <a:t> </a:t>
            </a:r>
            <a:r>
              <a:rPr dirty="0" sz="3600" spc="-10">
                <a:solidFill>
                  <a:srgbClr val="C55A11"/>
                </a:solidFill>
              </a:rPr>
              <a:t>COMPUTING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4734559" y="2420492"/>
            <a:ext cx="44805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2E5395"/>
                </a:solidFill>
                <a:latin typeface="Calibri"/>
                <a:cs typeface="Calibri"/>
              </a:rPr>
              <a:t>Orchestration</a:t>
            </a:r>
            <a:r>
              <a:rPr dirty="0" sz="2800" spc="-40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E5395"/>
                </a:solidFill>
                <a:latin typeface="Calibri"/>
                <a:cs typeface="Calibri"/>
              </a:rPr>
              <a:t>and</a:t>
            </a:r>
            <a:r>
              <a:rPr dirty="0" sz="2800" spc="-45" b="1">
                <a:solidFill>
                  <a:srgbClr val="2E539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2E5395"/>
                </a:solidFill>
                <a:latin typeface="Calibri"/>
                <a:cs typeface="Calibri"/>
              </a:rPr>
              <a:t>Kubernetes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655311" y="3783203"/>
            <a:ext cx="4581525" cy="0"/>
          </a:xfrm>
          <a:custGeom>
            <a:avLst/>
            <a:gdLst/>
            <a:ahLst/>
            <a:cxnLst/>
            <a:rect l="l" t="t" r="r" b="b"/>
            <a:pathLst>
              <a:path w="4581525" h="0">
                <a:moveTo>
                  <a:pt x="0" y="0"/>
                </a:moveTo>
                <a:lnTo>
                  <a:pt x="4581397" y="0"/>
                </a:lnTo>
              </a:path>
            </a:pathLst>
          </a:custGeom>
          <a:ln w="38100">
            <a:solidFill>
              <a:srgbClr val="C55A1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101844" y="4003928"/>
            <a:ext cx="5217160" cy="846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Arial"/>
                <a:cs typeface="Arial"/>
              </a:rPr>
              <a:t>Dr.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Prafullata</a:t>
            </a:r>
            <a:r>
              <a:rPr dirty="0" sz="2000" spc="-4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Kiran</a:t>
            </a:r>
            <a:r>
              <a:rPr dirty="0" sz="2000" spc="-1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Auradkar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60"/>
              </a:spcBef>
            </a:pPr>
            <a:r>
              <a:rPr dirty="0" sz="2000">
                <a:latin typeface="Calibri"/>
                <a:cs typeface="Calibri"/>
              </a:rPr>
              <a:t>Department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Computer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Science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Engineering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3842" y="5489702"/>
            <a:ext cx="1067435" cy="1078230"/>
          </a:xfrm>
          <a:custGeom>
            <a:avLst/>
            <a:gdLst/>
            <a:ahLst/>
            <a:cxnLst/>
            <a:rect l="l" t="t" r="r" b="b"/>
            <a:pathLst>
              <a:path w="1067435" h="1078229">
                <a:moveTo>
                  <a:pt x="1066888" y="1032446"/>
                </a:moveTo>
                <a:lnTo>
                  <a:pt x="45707" y="1032446"/>
                </a:lnTo>
                <a:lnTo>
                  <a:pt x="45707" y="0"/>
                </a:lnTo>
                <a:lnTo>
                  <a:pt x="0" y="0"/>
                </a:lnTo>
                <a:lnTo>
                  <a:pt x="0" y="1032446"/>
                </a:lnTo>
                <a:lnTo>
                  <a:pt x="0" y="1066888"/>
                </a:lnTo>
                <a:lnTo>
                  <a:pt x="0" y="1078153"/>
                </a:lnTo>
                <a:lnTo>
                  <a:pt x="1066888" y="1078153"/>
                </a:lnTo>
                <a:lnTo>
                  <a:pt x="1066888" y="1032446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38404" y="5442610"/>
            <a:ext cx="11408410" cy="100139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Arial"/>
                <a:cs typeface="Arial"/>
              </a:rPr>
              <a:t>Acknowledgements:</a:t>
            </a:r>
            <a:endParaRPr sz="1600">
              <a:latin typeface="Arial"/>
              <a:cs typeface="Arial"/>
            </a:endParaRPr>
          </a:p>
          <a:p>
            <a:pPr algn="just" marL="12700" marR="508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latin typeface="Arial"/>
                <a:cs typeface="Arial"/>
              </a:rPr>
              <a:t>Significant</a:t>
            </a:r>
            <a:r>
              <a:rPr dirty="0" sz="1200" spc="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information</a:t>
            </a:r>
            <a:r>
              <a:rPr dirty="0" sz="1200" spc="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</a:t>
            </a:r>
            <a:r>
              <a:rPr dirty="0" sz="1200" spc="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slide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deck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presented</a:t>
            </a:r>
            <a:r>
              <a:rPr dirty="0" sz="1200" spc="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through</a:t>
            </a:r>
            <a:r>
              <a:rPr dirty="0" sz="1200" spc="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Unit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2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of</a:t>
            </a:r>
            <a:r>
              <a:rPr dirty="0" sz="1200" spc="9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course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have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been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created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by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Dr.</a:t>
            </a:r>
            <a:r>
              <a:rPr dirty="0" sz="1200" spc="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H.L.</a:t>
            </a:r>
            <a:r>
              <a:rPr dirty="0" sz="1200" spc="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Phalachandra</a:t>
            </a:r>
            <a:r>
              <a:rPr dirty="0" sz="1200" spc="75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would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like</a:t>
            </a:r>
            <a:r>
              <a:rPr dirty="0" sz="1200" spc="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acknowledge</a:t>
            </a:r>
            <a:r>
              <a:rPr dirty="0" sz="1200" spc="85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and </a:t>
            </a:r>
            <a:r>
              <a:rPr dirty="0" sz="1200">
                <a:latin typeface="Arial"/>
                <a:cs typeface="Arial"/>
              </a:rPr>
              <a:t>thank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him for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same. There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have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been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some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information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which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 might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have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leveraged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from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content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of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Dr.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K.V.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Subramaniam’s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lecture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contents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too.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 may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have </a:t>
            </a:r>
            <a:r>
              <a:rPr dirty="0" sz="1200">
                <a:latin typeface="Arial"/>
                <a:cs typeface="Arial"/>
              </a:rPr>
              <a:t>supplemented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same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with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contents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from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books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other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sources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from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Internet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would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like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sincerely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thank,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acknowledge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reiterate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that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credit/rights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for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same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remain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with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original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authors/publishers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only.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These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are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intended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for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classroom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presentation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only.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8260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380"/>
              </a:spcBef>
            </a:pPr>
            <a:r>
              <a:rPr dirty="0"/>
              <a:t>CLOUD</a:t>
            </a:r>
            <a:r>
              <a:rPr dirty="0" spc="-15"/>
              <a:t> </a:t>
            </a:r>
            <a:r>
              <a:rPr dirty="0" spc="-10"/>
              <a:t>COMPUTING</a:t>
            </a:r>
          </a:p>
          <a:p>
            <a:pPr marL="201295">
              <a:lnSpc>
                <a:spcPct val="100000"/>
              </a:lnSpc>
              <a:spcBef>
                <a:spcPts val="285"/>
              </a:spcBef>
            </a:pPr>
            <a:r>
              <a:rPr dirty="0">
                <a:solidFill>
                  <a:srgbClr val="C55A11"/>
                </a:solidFill>
              </a:rPr>
              <a:t>Container</a:t>
            </a:r>
            <a:r>
              <a:rPr dirty="0" spc="-45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and</a:t>
            </a:r>
            <a:r>
              <a:rPr dirty="0" spc="-45">
                <a:solidFill>
                  <a:srgbClr val="C55A11"/>
                </a:solidFill>
              </a:rPr>
              <a:t> </a:t>
            </a:r>
            <a:r>
              <a:rPr dirty="0" spc="-10">
                <a:solidFill>
                  <a:srgbClr val="C55A11"/>
                </a:solidFill>
              </a:rPr>
              <a:t>Orchestration</a:t>
            </a:r>
            <a:r>
              <a:rPr dirty="0" spc="-4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Recap</a:t>
            </a:r>
            <a:r>
              <a:rPr dirty="0" spc="-5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-</a:t>
            </a:r>
            <a:r>
              <a:rPr dirty="0" spc="-50">
                <a:solidFill>
                  <a:srgbClr val="C55A11"/>
                </a:solidFill>
              </a:rPr>
              <a:t> </a:t>
            </a:r>
            <a:r>
              <a:rPr dirty="0" spc="-10">
                <a:solidFill>
                  <a:srgbClr val="C55A11"/>
                </a:solidFill>
              </a:rPr>
              <a:t>Basics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" name="object 2" descr="Container Orchestration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91448" y="2523363"/>
            <a:ext cx="3900424" cy="233260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71399" y="1437284"/>
            <a:ext cx="11816715" cy="54343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2110" marR="532130" indent="-360045">
              <a:lnSpc>
                <a:spcPct val="110000"/>
              </a:lnSpc>
              <a:spcBef>
                <a:spcPts val="100"/>
              </a:spcBef>
              <a:buClr>
                <a:srgbClr val="843B0C"/>
              </a:buClr>
              <a:buFont typeface="Wingdings"/>
              <a:buChar char=""/>
              <a:tabLst>
                <a:tab pos="372110" algn="l"/>
              </a:tabLst>
            </a:pPr>
            <a:r>
              <a:rPr dirty="0" sz="2200" b="1">
                <a:latin typeface="Calibri"/>
                <a:cs typeface="Calibri"/>
              </a:rPr>
              <a:t>Containers</a:t>
            </a:r>
            <a:r>
              <a:rPr dirty="0" sz="2200" spc="-10" b="1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offer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way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package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code,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runtime,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system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tools,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system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libraries,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configs altogether.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shipment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lightweight,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standalone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executable.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way,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your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application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will </a:t>
            </a:r>
            <a:r>
              <a:rPr dirty="0" sz="2200">
                <a:latin typeface="Calibri"/>
                <a:cs typeface="Calibri"/>
              </a:rPr>
              <a:t>behave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same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every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time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no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matter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where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(e.g.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Ubuntu,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Windows,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etc.).</a:t>
            </a:r>
            <a:endParaRPr sz="2200">
              <a:latin typeface="Calibri"/>
              <a:cs typeface="Calibri"/>
            </a:endParaRPr>
          </a:p>
          <a:p>
            <a:pPr marL="372110" marR="3850640" indent="-360045">
              <a:lnSpc>
                <a:spcPct val="110100"/>
              </a:lnSpc>
              <a:spcBef>
                <a:spcPts val="600"/>
              </a:spcBef>
              <a:buClr>
                <a:srgbClr val="843B0C"/>
              </a:buClr>
              <a:buFont typeface="Wingdings"/>
              <a:buChar char=""/>
              <a:tabLst>
                <a:tab pos="372110" algn="l"/>
              </a:tabLst>
            </a:pPr>
            <a:r>
              <a:rPr dirty="0" sz="2200">
                <a:latin typeface="Calibri"/>
                <a:cs typeface="Calibri"/>
              </a:rPr>
              <a:t>Container</a:t>
            </a:r>
            <a:r>
              <a:rPr dirty="0" sz="2200" spc="-8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orchestration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automates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deployment,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management, </a:t>
            </a:r>
            <a:r>
              <a:rPr dirty="0" sz="2200">
                <a:latin typeface="Calibri"/>
                <a:cs typeface="Calibri"/>
              </a:rPr>
              <a:t>scaling,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networking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containers.This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could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involve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deploying </a:t>
            </a:r>
            <a:r>
              <a:rPr dirty="0" sz="2200">
                <a:latin typeface="Calibri"/>
                <a:cs typeface="Calibri"/>
              </a:rPr>
              <a:t>containers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compute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cluster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consisting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multiple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nodes</a:t>
            </a:r>
            <a:endParaRPr sz="2200">
              <a:latin typeface="Calibri"/>
              <a:cs typeface="Calibri"/>
            </a:endParaRPr>
          </a:p>
          <a:p>
            <a:pPr algn="just" marL="370840" marR="4252595" indent="-358775">
              <a:lnSpc>
                <a:spcPct val="110000"/>
              </a:lnSpc>
              <a:spcBef>
                <a:spcPts val="600"/>
              </a:spcBef>
              <a:buClr>
                <a:srgbClr val="843B0C"/>
              </a:buClr>
              <a:buFont typeface="Wingdings"/>
              <a:buChar char=""/>
              <a:tabLst>
                <a:tab pos="372110" algn="l"/>
              </a:tabLst>
            </a:pPr>
            <a:r>
              <a:rPr dirty="0" sz="2200">
                <a:latin typeface="Calibri"/>
                <a:cs typeface="Calibri"/>
              </a:rPr>
              <a:t>Container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orchestration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used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any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environment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where </a:t>
            </a:r>
            <a:r>
              <a:rPr dirty="0" sz="2200" spc="-10">
                <a:latin typeface="Calibri"/>
                <a:cs typeface="Calibri"/>
              </a:rPr>
              <a:t>	</a:t>
            </a:r>
            <a:r>
              <a:rPr dirty="0" sz="2200">
                <a:latin typeface="Calibri"/>
                <a:cs typeface="Calibri"/>
              </a:rPr>
              <a:t>you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containers,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help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deploy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same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application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across </a:t>
            </a:r>
            <a:r>
              <a:rPr dirty="0" sz="2200" spc="-10">
                <a:latin typeface="Calibri"/>
                <a:cs typeface="Calibri"/>
              </a:rPr>
              <a:t>	</a:t>
            </a:r>
            <a:r>
              <a:rPr dirty="0" sz="2200">
                <a:latin typeface="Calibri"/>
                <a:cs typeface="Calibri"/>
              </a:rPr>
              <a:t>different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environments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without</a:t>
            </a:r>
            <a:r>
              <a:rPr dirty="0" sz="2200" spc="-8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needing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redesign</a:t>
            </a:r>
            <a:r>
              <a:rPr dirty="0" sz="2200" spc="-8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it.</a:t>
            </a:r>
            <a:endParaRPr sz="2200">
              <a:latin typeface="Calibri"/>
              <a:cs typeface="Calibri"/>
            </a:endParaRPr>
          </a:p>
          <a:p>
            <a:pPr marL="372110" marR="453390" indent="-360045">
              <a:lnSpc>
                <a:spcPct val="110000"/>
              </a:lnSpc>
              <a:spcBef>
                <a:spcPts val="600"/>
              </a:spcBef>
              <a:buClr>
                <a:srgbClr val="843B0C"/>
              </a:buClr>
              <a:buFont typeface="Wingdings"/>
              <a:buChar char=""/>
              <a:tabLst>
                <a:tab pos="372110" algn="l"/>
              </a:tabLst>
            </a:pPr>
            <a:r>
              <a:rPr dirty="0" sz="2200">
                <a:latin typeface="Calibri"/>
                <a:cs typeface="Calibri"/>
              </a:rPr>
              <a:t>Managing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lifecycle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containers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with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Orchestration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supports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DevOps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teams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integrate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into </a:t>
            </a:r>
            <a:r>
              <a:rPr dirty="0" sz="2200">
                <a:latin typeface="Calibri"/>
                <a:cs typeface="Calibri"/>
              </a:rPr>
              <a:t>CI/CD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workflows</a:t>
            </a:r>
            <a:endParaRPr sz="2200">
              <a:latin typeface="Calibri"/>
              <a:cs typeface="Calibri"/>
            </a:endParaRPr>
          </a:p>
          <a:p>
            <a:pPr marL="372110" marR="140970" indent="-360045">
              <a:lnSpc>
                <a:spcPct val="110000"/>
              </a:lnSpc>
              <a:spcBef>
                <a:spcPts val="600"/>
              </a:spcBef>
              <a:buClr>
                <a:srgbClr val="843B0C"/>
              </a:buClr>
              <a:buFont typeface="Wingdings"/>
              <a:buChar char=""/>
              <a:tabLst>
                <a:tab pos="372110" algn="l"/>
              </a:tabLst>
            </a:pPr>
            <a:r>
              <a:rPr dirty="0" sz="2200">
                <a:latin typeface="Calibri"/>
                <a:cs typeface="Calibri"/>
              </a:rPr>
              <a:t>Container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Management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tools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extend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lifecycle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management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capabilities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complex,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multi-container </a:t>
            </a:r>
            <a:r>
              <a:rPr dirty="0" sz="2200">
                <a:latin typeface="Calibri"/>
                <a:cs typeface="Calibri"/>
              </a:rPr>
              <a:t>workloads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deployed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cluster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machines</a:t>
            </a:r>
            <a:endParaRPr sz="22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745"/>
              </a:spcBef>
            </a:pPr>
            <a:r>
              <a:rPr dirty="0" sz="1400" spc="-10">
                <a:latin typeface="Arial"/>
                <a:cs typeface="Arial"/>
                <a:hlinkClick r:id="rId3"/>
              </a:rPr>
              <a:t>https://devopedia.org/container-orchestration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" name="object 2" descr="Network Automation - Try for FREE the MSActivator (IAP) Integrated  Automation Platform for SDN Orchestration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82456" y="1204213"/>
            <a:ext cx="3525901" cy="262496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2475" y="201294"/>
            <a:ext cx="11607165" cy="6590665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2400" b="1">
                <a:solidFill>
                  <a:srgbClr val="2E5496"/>
                </a:solidFill>
                <a:latin typeface="Calibri"/>
                <a:cs typeface="Calibri"/>
              </a:rPr>
              <a:t>CLOUD</a:t>
            </a:r>
            <a:r>
              <a:rPr dirty="0" sz="2400" spc="-25" b="1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496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22225">
              <a:lnSpc>
                <a:spcPct val="100000"/>
              </a:lnSpc>
              <a:spcBef>
                <a:spcPts val="285"/>
              </a:spcBef>
            </a:pPr>
            <a:r>
              <a:rPr dirty="0" sz="2400" b="1">
                <a:solidFill>
                  <a:srgbClr val="C55A11"/>
                </a:solidFill>
                <a:latin typeface="Calibri"/>
                <a:cs typeface="Calibri"/>
              </a:rPr>
              <a:t>Container</a:t>
            </a:r>
            <a:r>
              <a:rPr dirty="0" sz="2400" spc="-130" b="1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Calibri"/>
                <a:cs typeface="Calibri"/>
              </a:rPr>
              <a:t>orchestration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2400">
              <a:latin typeface="Calibri"/>
              <a:cs typeface="Calibri"/>
            </a:endParaRPr>
          </a:p>
          <a:p>
            <a:pPr marL="365125" marR="3464560" indent="-342900">
              <a:lnSpc>
                <a:spcPct val="120000"/>
              </a:lnSpc>
              <a:buClr>
                <a:srgbClr val="843B0C"/>
              </a:buClr>
              <a:buFont typeface="Wingdings"/>
              <a:buChar char=""/>
              <a:tabLst>
                <a:tab pos="365125" algn="l"/>
              </a:tabLst>
            </a:pPr>
            <a:r>
              <a:rPr dirty="0" sz="2400" b="1">
                <a:latin typeface="Calibri"/>
                <a:cs typeface="Calibri"/>
              </a:rPr>
              <a:t>Container</a:t>
            </a:r>
            <a:r>
              <a:rPr dirty="0" sz="2400" spc="-6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orchestrator:</a:t>
            </a:r>
            <a:r>
              <a:rPr dirty="0" sz="2400" spc="-45" b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Its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piece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centralized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management </a:t>
            </a:r>
            <a:r>
              <a:rPr dirty="0" sz="2400">
                <a:latin typeface="Calibri"/>
                <a:cs typeface="Calibri"/>
              </a:rPr>
              <a:t>software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allocates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schedules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containers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run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50">
                <a:latin typeface="Calibri"/>
                <a:cs typeface="Calibri"/>
              </a:rPr>
              <a:t>a </a:t>
            </a:r>
            <a:r>
              <a:rPr dirty="0" sz="2400">
                <a:latin typeface="Calibri"/>
                <a:cs typeface="Calibri"/>
              </a:rPr>
              <a:t>pool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servers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(different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machines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cluster):</a:t>
            </a:r>
            <a:endParaRPr sz="2400">
              <a:latin typeface="Calibri"/>
              <a:cs typeface="Calibri"/>
            </a:endParaRPr>
          </a:p>
          <a:p>
            <a:pPr lvl="1" marL="743585" marR="3366770" indent="-342900">
              <a:lnSpc>
                <a:spcPct val="120000"/>
              </a:lnSpc>
              <a:spcBef>
                <a:spcPts val="5"/>
              </a:spcBef>
              <a:buClr>
                <a:srgbClr val="843B0C"/>
              </a:buClr>
              <a:buFont typeface="Wingdings"/>
              <a:buChar char=""/>
              <a:tabLst>
                <a:tab pos="743585" algn="l"/>
              </a:tabLst>
            </a:pPr>
            <a:r>
              <a:rPr dirty="0" sz="2400">
                <a:latin typeface="Calibri"/>
                <a:cs typeface="Calibri"/>
              </a:rPr>
              <a:t>Operations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teams,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too,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find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their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workload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greatly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simplified </a:t>
            </a:r>
            <a:r>
              <a:rPr dirty="0" sz="2400">
                <a:latin typeface="Calibri"/>
                <a:cs typeface="Calibri"/>
              </a:rPr>
              <a:t>by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containers.</a:t>
            </a:r>
            <a:endParaRPr sz="2400">
              <a:latin typeface="Calibri"/>
              <a:cs typeface="Calibri"/>
            </a:endParaRPr>
          </a:p>
          <a:p>
            <a:pPr lvl="1" marL="742950" indent="-342265">
              <a:lnSpc>
                <a:spcPct val="100000"/>
              </a:lnSpc>
              <a:spcBef>
                <a:spcPts val="50"/>
              </a:spcBef>
              <a:buClr>
                <a:srgbClr val="843B0C"/>
              </a:buClr>
              <a:buFont typeface="Wingdings"/>
              <a:buChar char=""/>
              <a:tabLst>
                <a:tab pos="742950" algn="l"/>
              </a:tabLst>
            </a:pPr>
            <a:r>
              <a:rPr dirty="0" sz="2400">
                <a:latin typeface="Calibri"/>
                <a:cs typeface="Calibri"/>
              </a:rPr>
              <a:t>Instead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having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maintain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sprawling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estate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machines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various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kinds,</a:t>
            </a:r>
            <a:endParaRPr sz="2400">
              <a:latin typeface="Calibri"/>
              <a:cs typeface="Calibri"/>
            </a:endParaRPr>
          </a:p>
          <a:p>
            <a:pPr marL="743585">
              <a:lnSpc>
                <a:spcPct val="100000"/>
              </a:lnSpc>
              <a:spcBef>
                <a:spcPts val="285"/>
              </a:spcBef>
            </a:pPr>
            <a:r>
              <a:rPr dirty="0" sz="2400">
                <a:latin typeface="Calibri"/>
                <a:cs typeface="Calibri"/>
              </a:rPr>
              <a:t>architectures,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operating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systems,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all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they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have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do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run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container</a:t>
            </a:r>
            <a:r>
              <a:rPr dirty="0" sz="2400" spc="-30" i="1">
                <a:latin typeface="Calibri"/>
                <a:cs typeface="Calibri"/>
              </a:rPr>
              <a:t> </a:t>
            </a:r>
            <a:r>
              <a:rPr dirty="0" sz="2400" spc="-10" i="1">
                <a:latin typeface="Calibri"/>
                <a:cs typeface="Calibri"/>
              </a:rPr>
              <a:t>orchestrator</a:t>
            </a:r>
            <a:endParaRPr sz="2400">
              <a:latin typeface="Calibri"/>
              <a:cs typeface="Calibri"/>
            </a:endParaRPr>
          </a:p>
          <a:p>
            <a:pPr marL="365125" indent="-342900">
              <a:lnSpc>
                <a:spcPct val="100000"/>
              </a:lnSpc>
              <a:spcBef>
                <a:spcPts val="1110"/>
              </a:spcBef>
              <a:buClr>
                <a:srgbClr val="843B0C"/>
              </a:buClr>
              <a:buFont typeface="Wingdings"/>
              <a:buChar char=""/>
              <a:tabLst>
                <a:tab pos="365125" algn="l"/>
              </a:tabLst>
            </a:pP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terms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b="1" i="1">
                <a:solidFill>
                  <a:srgbClr val="006FC0"/>
                </a:solidFill>
                <a:latin typeface="Calibri"/>
                <a:cs typeface="Calibri"/>
              </a:rPr>
              <a:t>Orchestration</a:t>
            </a:r>
            <a:r>
              <a:rPr dirty="0" sz="2400" spc="-30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b="1" i="1">
                <a:solidFill>
                  <a:srgbClr val="006FC0"/>
                </a:solidFill>
                <a:latin typeface="Calibri"/>
                <a:cs typeface="Calibri"/>
              </a:rPr>
              <a:t>Scheduling</a:t>
            </a:r>
            <a:r>
              <a:rPr dirty="0" sz="2400" spc="-65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often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loosely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synonyms.</a:t>
            </a:r>
            <a:endParaRPr sz="2400">
              <a:latin typeface="Calibri"/>
              <a:cs typeface="Calibri"/>
            </a:endParaRPr>
          </a:p>
          <a:p>
            <a:pPr marL="743585" marR="630555" indent="-361315">
              <a:lnSpc>
                <a:spcPct val="120000"/>
              </a:lnSpc>
              <a:spcBef>
                <a:spcPts val="600"/>
              </a:spcBef>
              <a:buClr>
                <a:srgbClr val="843B0C"/>
              </a:buClr>
              <a:buFont typeface="Arial"/>
              <a:buChar char="•"/>
              <a:tabLst>
                <a:tab pos="743585" algn="l"/>
              </a:tabLst>
            </a:pPr>
            <a:r>
              <a:rPr dirty="0" sz="2400">
                <a:latin typeface="Calibri"/>
                <a:cs typeface="Calibri"/>
              </a:rPr>
              <a:t>Strictly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though,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orchestration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this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context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means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coordinating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sequencing </a:t>
            </a:r>
            <a:r>
              <a:rPr dirty="0" sz="2400">
                <a:latin typeface="Calibri"/>
                <a:cs typeface="Calibri"/>
              </a:rPr>
              <a:t>different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activities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service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common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goal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(like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musicians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orchestra).</a:t>
            </a:r>
            <a:endParaRPr sz="2400">
              <a:latin typeface="Calibri"/>
              <a:cs typeface="Calibri"/>
            </a:endParaRPr>
          </a:p>
          <a:p>
            <a:pPr marL="743585" marR="5080" indent="-361315">
              <a:lnSpc>
                <a:spcPct val="120000"/>
              </a:lnSpc>
              <a:buClr>
                <a:srgbClr val="843B0C"/>
              </a:buClr>
              <a:buFont typeface="Arial"/>
              <a:buChar char="•"/>
              <a:tabLst>
                <a:tab pos="743585" algn="l"/>
              </a:tabLst>
            </a:pPr>
            <a:r>
              <a:rPr dirty="0" sz="2400">
                <a:latin typeface="Calibri"/>
                <a:cs typeface="Calibri"/>
              </a:rPr>
              <a:t>Scheduling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means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managing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resources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available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assigning/deploying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workloads </a:t>
            </a:r>
            <a:r>
              <a:rPr dirty="0" sz="2400">
                <a:latin typeface="Calibri"/>
                <a:cs typeface="Calibri"/>
              </a:rPr>
              <a:t>where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they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most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efficiently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run.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8260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380"/>
              </a:spcBef>
            </a:pPr>
            <a:r>
              <a:rPr dirty="0"/>
              <a:t>CLOUD</a:t>
            </a:r>
            <a:r>
              <a:rPr dirty="0" spc="-15"/>
              <a:t> </a:t>
            </a:r>
            <a:r>
              <a:rPr dirty="0" spc="-10"/>
              <a:t>COMPUTING</a:t>
            </a:r>
          </a:p>
          <a:p>
            <a:pPr marL="201295">
              <a:lnSpc>
                <a:spcPct val="100000"/>
              </a:lnSpc>
              <a:spcBef>
                <a:spcPts val="285"/>
              </a:spcBef>
            </a:pPr>
            <a:r>
              <a:rPr dirty="0">
                <a:solidFill>
                  <a:srgbClr val="C55A11"/>
                </a:solidFill>
              </a:rPr>
              <a:t>Container</a:t>
            </a:r>
            <a:r>
              <a:rPr dirty="0" spc="-11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orchestration</a:t>
            </a:r>
            <a:r>
              <a:rPr dirty="0" spc="-105">
                <a:solidFill>
                  <a:srgbClr val="C55A11"/>
                </a:solidFill>
              </a:rPr>
              <a:t> </a:t>
            </a:r>
            <a:r>
              <a:rPr dirty="0" spc="-10">
                <a:solidFill>
                  <a:srgbClr val="C55A11"/>
                </a:solidFill>
              </a:rPr>
              <a:t>(Cont.)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40842" y="1301111"/>
            <a:ext cx="11659870" cy="55048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2900">
              <a:lnSpc>
                <a:spcPct val="120000"/>
              </a:lnSpc>
              <a:spcBef>
                <a:spcPts val="95"/>
              </a:spcBef>
              <a:buClr>
                <a:srgbClr val="843B0C"/>
              </a:buClr>
              <a:buFont typeface="Wingdings"/>
              <a:buChar char=""/>
              <a:tabLst>
                <a:tab pos="355600" algn="l"/>
              </a:tabLst>
            </a:pPr>
            <a:r>
              <a:rPr dirty="0" sz="2400">
                <a:latin typeface="Calibri"/>
                <a:cs typeface="Calibri"/>
              </a:rPr>
              <a:t>An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important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activity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container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orchestration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cluster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management: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joining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multiple </a:t>
            </a:r>
            <a:r>
              <a:rPr dirty="0" sz="2400">
                <a:latin typeface="Calibri"/>
                <a:cs typeface="Calibri"/>
              </a:rPr>
              <a:t>physical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virtual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servers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into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unified,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reliable,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fault-</a:t>
            </a:r>
            <a:r>
              <a:rPr dirty="0" sz="2400">
                <a:latin typeface="Calibri"/>
                <a:cs typeface="Calibri"/>
              </a:rPr>
              <a:t>tolerant,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apparently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seamless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group.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180"/>
              </a:spcBef>
              <a:buClr>
                <a:srgbClr val="843B0C"/>
              </a:buClr>
              <a:buFont typeface="Wingdings"/>
              <a:buChar char="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Containers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providing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this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computation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environment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considered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006FC0"/>
                </a:solidFill>
                <a:latin typeface="Calibri"/>
                <a:cs typeface="Calibri"/>
              </a:rPr>
              <a:t>Immutable</a:t>
            </a:r>
            <a:endParaRPr sz="2400">
              <a:latin typeface="Calibri"/>
              <a:cs typeface="Calibri"/>
            </a:endParaRPr>
          </a:p>
          <a:p>
            <a:pPr lvl="1" marL="733425" indent="-342900">
              <a:lnSpc>
                <a:spcPct val="100000"/>
              </a:lnSpc>
              <a:spcBef>
                <a:spcPts val="835"/>
              </a:spcBef>
              <a:buClr>
                <a:srgbClr val="843B0C"/>
              </a:buClr>
              <a:buFont typeface="Wingdings"/>
              <a:buChar char=""/>
              <a:tabLst>
                <a:tab pos="733425" algn="l"/>
              </a:tabLst>
            </a:pPr>
            <a:r>
              <a:rPr dirty="0" sz="2200">
                <a:latin typeface="Calibri"/>
                <a:cs typeface="Calibri"/>
              </a:rPr>
              <a:t>Immutable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infrastructure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infrastructure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paradigm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servers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never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modified</a:t>
            </a:r>
            <a:endParaRPr sz="2200">
              <a:latin typeface="Calibri"/>
              <a:cs typeface="Calibri"/>
            </a:endParaRPr>
          </a:p>
          <a:p>
            <a:pPr marL="733425">
              <a:lnSpc>
                <a:spcPct val="100000"/>
              </a:lnSpc>
              <a:spcBef>
                <a:spcPts val="370"/>
              </a:spcBef>
            </a:pPr>
            <a:r>
              <a:rPr dirty="0" sz="2200">
                <a:latin typeface="Calibri"/>
                <a:cs typeface="Calibri"/>
              </a:rPr>
              <a:t>after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they’re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deployed.</a:t>
            </a:r>
            <a:endParaRPr sz="2200">
              <a:latin typeface="Calibri"/>
              <a:cs typeface="Calibri"/>
            </a:endParaRPr>
          </a:p>
          <a:p>
            <a:pPr lvl="1" marL="733425" marR="782955" indent="-342900">
              <a:lnSpc>
                <a:spcPct val="114100"/>
              </a:lnSpc>
              <a:spcBef>
                <a:spcPts val="400"/>
              </a:spcBef>
              <a:buClr>
                <a:srgbClr val="843B0C"/>
              </a:buClr>
              <a:buFont typeface="Wingdings"/>
              <a:buChar char=""/>
              <a:tabLst>
                <a:tab pos="733425" algn="l"/>
              </a:tabLst>
            </a:pPr>
            <a:r>
              <a:rPr dirty="0" sz="2200">
                <a:latin typeface="Calibri"/>
                <a:cs typeface="Calibri"/>
              </a:rPr>
              <a:t>If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something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needs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updated,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fixed,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modified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any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way,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new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servers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built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from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50">
                <a:latin typeface="Calibri"/>
                <a:cs typeface="Calibri"/>
              </a:rPr>
              <a:t>a </a:t>
            </a:r>
            <a:r>
              <a:rPr dirty="0" sz="2200">
                <a:latin typeface="Calibri"/>
                <a:cs typeface="Calibri"/>
              </a:rPr>
              <a:t>common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image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with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appropriate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changes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provisioned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replace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old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ones.</a:t>
            </a:r>
            <a:endParaRPr sz="2200">
              <a:latin typeface="Calibri"/>
              <a:cs typeface="Calibri"/>
            </a:endParaRPr>
          </a:p>
          <a:p>
            <a:pPr lvl="1" marL="733425" marR="545465" indent="-342900">
              <a:lnSpc>
                <a:spcPct val="114199"/>
              </a:lnSpc>
              <a:spcBef>
                <a:spcPts val="390"/>
              </a:spcBef>
              <a:buClr>
                <a:srgbClr val="843B0C"/>
              </a:buClr>
              <a:buFont typeface="Wingdings"/>
              <a:buChar char=""/>
              <a:tabLst>
                <a:tab pos="733425" algn="l"/>
              </a:tabLst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benefits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immutable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infrastructure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include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more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consistency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reliability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your </a:t>
            </a:r>
            <a:r>
              <a:rPr dirty="0" sz="2200">
                <a:latin typeface="Calibri"/>
                <a:cs typeface="Calibri"/>
              </a:rPr>
              <a:t>infrastructure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simpler,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more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predictable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deployment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process.</a:t>
            </a:r>
            <a:endParaRPr sz="2200">
              <a:latin typeface="Calibri"/>
              <a:cs typeface="Calibri"/>
            </a:endParaRPr>
          </a:p>
          <a:p>
            <a:pPr lvl="1" marL="733425" marR="1017269" indent="-342900">
              <a:lnSpc>
                <a:spcPct val="114100"/>
              </a:lnSpc>
              <a:spcBef>
                <a:spcPts val="400"/>
              </a:spcBef>
              <a:buClr>
                <a:srgbClr val="843B0C"/>
              </a:buClr>
              <a:buFont typeface="Wingdings"/>
              <a:buChar char=""/>
              <a:tabLst>
                <a:tab pos="733425" algn="l"/>
              </a:tabLst>
            </a:pPr>
            <a:r>
              <a:rPr dirty="0" sz="2200">
                <a:latin typeface="Calibri"/>
                <a:cs typeface="Calibri"/>
              </a:rPr>
              <a:t>It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mitigates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entirely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prevents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issues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common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mutable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infrastructures,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like </a:t>
            </a:r>
            <a:r>
              <a:rPr dirty="0" sz="2200">
                <a:latin typeface="Calibri"/>
                <a:cs typeface="Calibri"/>
              </a:rPr>
              <a:t>configuration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drift</a:t>
            </a:r>
            <a:endParaRPr sz="2200">
              <a:latin typeface="Calibri"/>
              <a:cs typeface="Calibri"/>
            </a:endParaRPr>
          </a:p>
          <a:p>
            <a:pPr lvl="1" marL="733425" indent="-342900">
              <a:lnSpc>
                <a:spcPct val="100000"/>
              </a:lnSpc>
              <a:spcBef>
                <a:spcPts val="765"/>
              </a:spcBef>
              <a:buClr>
                <a:srgbClr val="843B0C"/>
              </a:buClr>
              <a:buFont typeface="Wingdings"/>
              <a:buChar char=""/>
              <a:tabLst>
                <a:tab pos="733425" algn="l"/>
              </a:tabLst>
            </a:pPr>
            <a:r>
              <a:rPr dirty="0" sz="2200">
                <a:latin typeface="Calibri"/>
                <a:cs typeface="Calibri"/>
              </a:rPr>
              <a:t>It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also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enables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comprehensive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deployment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automation,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fast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server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provisioning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cloud</a:t>
            </a:r>
            <a:endParaRPr sz="2200">
              <a:latin typeface="Calibri"/>
              <a:cs typeface="Calibri"/>
            </a:endParaRPr>
          </a:p>
          <a:p>
            <a:pPr marL="733425">
              <a:lnSpc>
                <a:spcPct val="100000"/>
              </a:lnSpc>
              <a:spcBef>
                <a:spcPts val="375"/>
              </a:spcBef>
            </a:pPr>
            <a:r>
              <a:rPr dirty="0" sz="2200">
                <a:latin typeface="Calibri"/>
                <a:cs typeface="Calibri"/>
              </a:rPr>
              <a:t>computing</a:t>
            </a:r>
            <a:r>
              <a:rPr dirty="0" sz="2200" spc="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environment.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0842" y="229996"/>
            <a:ext cx="11069320" cy="450596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380"/>
              </a:spcBef>
            </a:pPr>
            <a:r>
              <a:rPr dirty="0" sz="2400" b="1">
                <a:solidFill>
                  <a:srgbClr val="2E5496"/>
                </a:solidFill>
                <a:latin typeface="Calibri"/>
                <a:cs typeface="Calibri"/>
              </a:rPr>
              <a:t>CLOUD</a:t>
            </a:r>
            <a:r>
              <a:rPr dirty="0" sz="2400" spc="-15" b="1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496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2400" b="1">
                <a:solidFill>
                  <a:srgbClr val="C55A11"/>
                </a:solidFill>
                <a:latin typeface="Calibri"/>
                <a:cs typeface="Calibri"/>
              </a:rPr>
              <a:t>Container</a:t>
            </a:r>
            <a:r>
              <a:rPr dirty="0" sz="2400" spc="-110" b="1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55A11"/>
                </a:solidFill>
                <a:latin typeface="Calibri"/>
                <a:cs typeface="Calibri"/>
              </a:rPr>
              <a:t>orchestration</a:t>
            </a:r>
            <a:r>
              <a:rPr dirty="0" sz="2400" spc="-105" b="1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Calibri"/>
                <a:cs typeface="Calibri"/>
              </a:rPr>
              <a:t>(Cont.)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400">
              <a:latin typeface="Calibri"/>
              <a:cs typeface="Calibri"/>
            </a:endParaRPr>
          </a:p>
          <a:p>
            <a:pPr marL="355600" marR="292100" indent="-342900">
              <a:lnSpc>
                <a:spcPct val="120100"/>
              </a:lnSpc>
              <a:buClr>
                <a:srgbClr val="843B0C"/>
              </a:buClr>
              <a:buFont typeface="Wingdings"/>
              <a:buChar char=""/>
              <a:tabLst>
                <a:tab pos="355600" algn="l"/>
              </a:tabLst>
            </a:pPr>
            <a:r>
              <a:rPr dirty="0" sz="2400" b="1">
                <a:solidFill>
                  <a:srgbClr val="006FC0"/>
                </a:solidFill>
                <a:latin typeface="Calibri"/>
                <a:cs typeface="Calibri"/>
              </a:rPr>
              <a:t>Kubernetes</a:t>
            </a:r>
            <a:r>
              <a:rPr dirty="0" sz="2400" spc="-2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most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pervasive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container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orchestration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platform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address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these challenges.</a:t>
            </a:r>
            <a:endParaRPr sz="24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1175"/>
              </a:spcBef>
              <a:buClr>
                <a:srgbClr val="843B0C"/>
              </a:buClr>
              <a:buFont typeface="Arial"/>
              <a:buChar char="•"/>
              <a:tabLst>
                <a:tab pos="733425" algn="l"/>
              </a:tabLst>
            </a:pPr>
            <a:r>
              <a:rPr dirty="0" sz="2400">
                <a:latin typeface="Calibri"/>
                <a:cs typeface="Calibri"/>
              </a:rPr>
              <a:t>Kubernetes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open-</a:t>
            </a:r>
            <a:r>
              <a:rPr dirty="0" sz="2400">
                <a:latin typeface="Calibri"/>
                <a:cs typeface="Calibri"/>
              </a:rPr>
              <a:t>source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container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management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(orchestration)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tool.</a:t>
            </a:r>
            <a:endParaRPr sz="24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1180"/>
              </a:spcBef>
              <a:buClr>
                <a:srgbClr val="843B0C"/>
              </a:buClr>
              <a:buFont typeface="Arial"/>
              <a:buChar char="•"/>
              <a:tabLst>
                <a:tab pos="733425" algn="l"/>
              </a:tabLst>
            </a:pPr>
            <a:r>
              <a:rPr dirty="0" sz="2400">
                <a:latin typeface="Calibri"/>
                <a:cs typeface="Calibri"/>
              </a:rPr>
              <a:t>It’s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container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management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responsibilities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include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container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deployment,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scaling</a:t>
            </a:r>
            <a:r>
              <a:rPr dirty="0" sz="2400" spc="-50">
                <a:latin typeface="Calibri"/>
                <a:cs typeface="Calibri"/>
              </a:rPr>
              <a:t> &amp;</a:t>
            </a:r>
            <a:endParaRPr sz="2400">
              <a:latin typeface="Calibri"/>
              <a:cs typeface="Calibri"/>
            </a:endParaRPr>
          </a:p>
          <a:p>
            <a:pPr marL="733425">
              <a:lnSpc>
                <a:spcPct val="100000"/>
              </a:lnSpc>
              <a:spcBef>
                <a:spcPts val="575"/>
              </a:spcBef>
            </a:pPr>
            <a:r>
              <a:rPr dirty="0" sz="2400">
                <a:latin typeface="Calibri"/>
                <a:cs typeface="Calibri"/>
              </a:rPr>
              <a:t>descaling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containers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&amp;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container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load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balancing.</a:t>
            </a:r>
            <a:endParaRPr sz="2400">
              <a:latin typeface="Calibri"/>
              <a:cs typeface="Calibri"/>
            </a:endParaRPr>
          </a:p>
          <a:p>
            <a:pPr lvl="1" marL="733425" marR="353060" indent="-361315">
              <a:lnSpc>
                <a:spcPct val="120000"/>
              </a:lnSpc>
              <a:spcBef>
                <a:spcPts val="600"/>
              </a:spcBef>
              <a:buClr>
                <a:srgbClr val="843B0C"/>
              </a:buClr>
              <a:buFont typeface="Arial"/>
              <a:buChar char="•"/>
              <a:tabLst>
                <a:tab pos="733425" algn="l"/>
              </a:tabLst>
            </a:pPr>
            <a:r>
              <a:rPr dirty="0" sz="2400">
                <a:latin typeface="Calibri"/>
                <a:cs typeface="Calibri"/>
              </a:rPr>
              <a:t>It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lets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you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manage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complex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application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deployments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quickly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predictable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and </a:t>
            </a:r>
            <a:r>
              <a:rPr dirty="0" sz="2400">
                <a:latin typeface="Calibri"/>
                <a:cs typeface="Calibri"/>
              </a:rPr>
              <a:t>reliable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manner.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8260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380"/>
              </a:spcBef>
            </a:pPr>
            <a:r>
              <a:rPr dirty="0"/>
              <a:t>CLOUD</a:t>
            </a:r>
            <a:r>
              <a:rPr dirty="0" spc="-15"/>
              <a:t> </a:t>
            </a:r>
            <a:r>
              <a:rPr dirty="0" spc="-10"/>
              <a:t>COMPUTING</a:t>
            </a:r>
          </a:p>
          <a:p>
            <a:pPr marL="201295">
              <a:lnSpc>
                <a:spcPct val="100000"/>
              </a:lnSpc>
              <a:spcBef>
                <a:spcPts val="285"/>
              </a:spcBef>
            </a:pPr>
            <a:r>
              <a:rPr dirty="0">
                <a:solidFill>
                  <a:srgbClr val="C55A11"/>
                </a:solidFill>
              </a:rPr>
              <a:t>Container</a:t>
            </a:r>
            <a:r>
              <a:rPr dirty="0" spc="-110">
                <a:solidFill>
                  <a:srgbClr val="C55A11"/>
                </a:solidFill>
              </a:rPr>
              <a:t> </a:t>
            </a:r>
            <a:r>
              <a:rPr dirty="0">
                <a:solidFill>
                  <a:srgbClr val="C55A11"/>
                </a:solidFill>
              </a:rPr>
              <a:t>orchestration</a:t>
            </a:r>
            <a:r>
              <a:rPr dirty="0" spc="-105">
                <a:solidFill>
                  <a:srgbClr val="C55A11"/>
                </a:solidFill>
              </a:rPr>
              <a:t> </a:t>
            </a:r>
            <a:r>
              <a:rPr dirty="0" spc="-10">
                <a:solidFill>
                  <a:srgbClr val="C55A11"/>
                </a:solidFill>
              </a:rPr>
              <a:t>(Cont.)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72541" y="1201068"/>
            <a:ext cx="11019790" cy="4993005"/>
          </a:xfrm>
          <a:prstGeom prst="rect">
            <a:avLst/>
          </a:prstGeom>
        </p:spPr>
        <p:txBody>
          <a:bodyPr wrap="square" lIns="0" tIns="185420" rIns="0" bIns="0" rtlCol="0" vert="horz">
            <a:spAutoFit/>
          </a:bodyPr>
          <a:lstStyle/>
          <a:p>
            <a:pPr marL="423545" indent="-410845">
              <a:lnSpc>
                <a:spcPct val="100000"/>
              </a:lnSpc>
              <a:spcBef>
                <a:spcPts val="1460"/>
              </a:spcBef>
              <a:buClr>
                <a:srgbClr val="843B0C"/>
              </a:buClr>
              <a:buFont typeface="Wingdings"/>
              <a:buChar char=""/>
              <a:tabLst>
                <a:tab pos="423545" algn="l"/>
              </a:tabLst>
            </a:pPr>
            <a:r>
              <a:rPr dirty="0" sz="2400" b="1">
                <a:solidFill>
                  <a:srgbClr val="006FC0"/>
                </a:solidFill>
                <a:latin typeface="Calibri"/>
                <a:cs typeface="Calibri"/>
              </a:rPr>
              <a:t>Container</a:t>
            </a:r>
            <a:r>
              <a:rPr dirty="0" sz="2400" spc="-5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006FC0"/>
                </a:solidFill>
                <a:latin typeface="Calibri"/>
                <a:cs typeface="Calibri"/>
              </a:rPr>
              <a:t>orchestration</a:t>
            </a:r>
            <a:r>
              <a:rPr dirty="0" sz="2400" spc="-3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control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automate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many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tasks:</a:t>
            </a:r>
            <a:endParaRPr sz="24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1145"/>
              </a:spcBef>
              <a:buClr>
                <a:srgbClr val="000000"/>
              </a:buClr>
              <a:buFont typeface="Wingdings"/>
              <a:buChar char=""/>
              <a:tabLst>
                <a:tab pos="733425" algn="l"/>
              </a:tabLst>
            </a:pP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Provisioning</a:t>
            </a:r>
            <a:r>
              <a:rPr dirty="0" sz="20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0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151515"/>
                </a:solidFill>
                <a:latin typeface="Calibri"/>
                <a:cs typeface="Calibri"/>
              </a:rPr>
              <a:t>deployment</a:t>
            </a:r>
            <a:endParaRPr sz="20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Wingdings"/>
              <a:buChar char=""/>
              <a:tabLst>
                <a:tab pos="733425" algn="l"/>
              </a:tabLst>
            </a:pP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Configuration</a:t>
            </a:r>
            <a:r>
              <a:rPr dirty="0" sz="20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0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151515"/>
                </a:solidFill>
                <a:latin typeface="Calibri"/>
                <a:cs typeface="Calibri"/>
              </a:rPr>
              <a:t>scheduling</a:t>
            </a:r>
            <a:endParaRPr sz="20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Wingdings"/>
              <a:buChar char=""/>
              <a:tabLst>
                <a:tab pos="733425" algn="l"/>
              </a:tabLst>
            </a:pP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Resource</a:t>
            </a:r>
            <a:r>
              <a:rPr dirty="0" sz="20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151515"/>
                </a:solidFill>
                <a:latin typeface="Calibri"/>
                <a:cs typeface="Calibri"/>
              </a:rPr>
              <a:t>allocation</a:t>
            </a:r>
            <a:r>
              <a:rPr dirty="0" sz="20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between</a:t>
            </a:r>
            <a:r>
              <a:rPr dirty="0" sz="20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containers</a:t>
            </a:r>
            <a:r>
              <a:rPr dirty="0" sz="20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000" spc="-3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manage</a:t>
            </a:r>
            <a:r>
              <a:rPr dirty="0" sz="20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0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networking</a:t>
            </a:r>
            <a:r>
              <a:rPr dirty="0" sz="20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between</a:t>
            </a:r>
            <a:r>
              <a:rPr dirty="0" sz="20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151515"/>
                </a:solidFill>
                <a:latin typeface="Calibri"/>
                <a:cs typeface="Calibri"/>
              </a:rPr>
              <a:t>them</a:t>
            </a:r>
            <a:endParaRPr sz="20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Wingdings"/>
              <a:buChar char=""/>
              <a:tabLst>
                <a:tab pos="733425" algn="l"/>
              </a:tabLst>
            </a:pP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Container</a:t>
            </a:r>
            <a:r>
              <a:rPr dirty="0" sz="20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availability</a:t>
            </a:r>
            <a:r>
              <a:rPr dirty="0" sz="2000" spc="-2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000" spc="-2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redundancy</a:t>
            </a:r>
            <a:r>
              <a:rPr dirty="0" sz="20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151515"/>
                </a:solidFill>
                <a:latin typeface="Calibri"/>
                <a:cs typeface="Calibri"/>
              </a:rPr>
              <a:t>management</a:t>
            </a:r>
            <a:endParaRPr sz="20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Wingdings"/>
              <a:buChar char=""/>
              <a:tabLst>
                <a:tab pos="733425" algn="l"/>
              </a:tabLst>
            </a:pP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Scaling</a:t>
            </a:r>
            <a:r>
              <a:rPr dirty="0" sz="20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or</a:t>
            </a:r>
            <a:r>
              <a:rPr dirty="0" sz="20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removing</a:t>
            </a:r>
            <a:r>
              <a:rPr dirty="0" sz="20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containers</a:t>
            </a:r>
            <a:r>
              <a:rPr dirty="0" sz="20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based</a:t>
            </a:r>
            <a:r>
              <a:rPr dirty="0" sz="20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on</a:t>
            </a:r>
            <a:r>
              <a:rPr dirty="0" sz="20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balancing</a:t>
            </a:r>
            <a:r>
              <a:rPr dirty="0" sz="20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workloads</a:t>
            </a:r>
            <a:r>
              <a:rPr dirty="0" sz="20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across</a:t>
            </a:r>
            <a:r>
              <a:rPr dirty="0" sz="2000" spc="-3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host</a:t>
            </a:r>
            <a:r>
              <a:rPr dirty="0" sz="20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151515"/>
                </a:solidFill>
                <a:latin typeface="Calibri"/>
                <a:cs typeface="Calibri"/>
              </a:rPr>
              <a:t>infrastructure</a:t>
            </a:r>
            <a:endParaRPr sz="20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Wingdings"/>
              <a:buChar char=""/>
              <a:tabLst>
                <a:tab pos="733425" algn="l"/>
              </a:tabLst>
            </a:pP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Load</a:t>
            </a:r>
            <a:r>
              <a:rPr dirty="0" sz="20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balancing</a:t>
            </a:r>
            <a:r>
              <a:rPr dirty="0" sz="2000" spc="-3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0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traffic</a:t>
            </a:r>
            <a:r>
              <a:rPr dirty="0" sz="2000" spc="-3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151515"/>
                </a:solidFill>
                <a:latin typeface="Calibri"/>
                <a:cs typeface="Calibri"/>
              </a:rPr>
              <a:t>routing</a:t>
            </a:r>
            <a:endParaRPr sz="20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Wingdings"/>
              <a:buChar char=""/>
              <a:tabLst>
                <a:tab pos="733425" algn="l"/>
              </a:tabLst>
            </a:pP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Monitoring</a:t>
            </a:r>
            <a:r>
              <a:rPr dirty="0" sz="2000" spc="-3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container</a:t>
            </a:r>
            <a:r>
              <a:rPr dirty="0" sz="2000" spc="-1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000" spc="-2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host</a:t>
            </a:r>
            <a:r>
              <a:rPr dirty="0" sz="2000" spc="-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151515"/>
                </a:solidFill>
                <a:latin typeface="Calibri"/>
                <a:cs typeface="Calibri"/>
              </a:rPr>
              <a:t>health</a:t>
            </a:r>
            <a:endParaRPr sz="20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1085"/>
              </a:spcBef>
              <a:buClr>
                <a:srgbClr val="000000"/>
              </a:buClr>
              <a:buFont typeface="Wingdings"/>
              <a:buChar char=""/>
              <a:tabLst>
                <a:tab pos="733425" algn="l"/>
              </a:tabLst>
            </a:pP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Configuring</a:t>
            </a:r>
            <a:r>
              <a:rPr dirty="0" sz="20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151515"/>
                </a:solidFill>
                <a:latin typeface="Calibri"/>
                <a:cs typeface="Calibri"/>
              </a:rPr>
              <a:t>applications</a:t>
            </a:r>
            <a:r>
              <a:rPr dirty="0" sz="2000" spc="-2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based</a:t>
            </a:r>
            <a:r>
              <a:rPr dirty="0" sz="2000" spc="-2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on</a:t>
            </a:r>
            <a:r>
              <a:rPr dirty="0" sz="20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000" spc="-2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container</a:t>
            </a:r>
            <a:r>
              <a:rPr dirty="0" sz="20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000" spc="-2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which</a:t>
            </a:r>
            <a:r>
              <a:rPr dirty="0" sz="20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they</a:t>
            </a:r>
            <a:r>
              <a:rPr dirty="0" sz="2000" spc="-3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will</a:t>
            </a:r>
            <a:r>
              <a:rPr dirty="0" sz="2000" spc="-2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 spc="-25">
                <a:solidFill>
                  <a:srgbClr val="151515"/>
                </a:solidFill>
                <a:latin typeface="Calibri"/>
                <a:cs typeface="Calibri"/>
              </a:rPr>
              <a:t>run</a:t>
            </a:r>
            <a:endParaRPr sz="20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Wingdings"/>
              <a:buChar char=""/>
              <a:tabLst>
                <a:tab pos="733425" algn="l"/>
              </a:tabLst>
            </a:pP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Keeping</a:t>
            </a:r>
            <a:r>
              <a:rPr dirty="0" sz="20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151515"/>
                </a:solidFill>
                <a:latin typeface="Calibri"/>
                <a:cs typeface="Calibri"/>
              </a:rPr>
              <a:t>interactions</a:t>
            </a:r>
            <a:r>
              <a:rPr dirty="0" sz="20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between</a:t>
            </a:r>
            <a:r>
              <a:rPr dirty="0" sz="20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containers</a:t>
            </a:r>
            <a:r>
              <a:rPr dirty="0" sz="20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151515"/>
                </a:solidFill>
                <a:latin typeface="Calibri"/>
                <a:cs typeface="Calibri"/>
              </a:rPr>
              <a:t>secure</a:t>
            </a:r>
            <a:endParaRPr sz="2000">
              <a:latin typeface="Calibri"/>
              <a:cs typeface="Calibri"/>
            </a:endParaRPr>
          </a:p>
          <a:p>
            <a:pPr lvl="1" marL="733425" indent="-361315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Wingdings"/>
              <a:buChar char=""/>
              <a:tabLst>
                <a:tab pos="733425" algn="l"/>
              </a:tabLst>
            </a:pP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Migration</a:t>
            </a:r>
            <a:r>
              <a:rPr dirty="0" sz="2000" spc="-3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000" spc="-3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containers</a:t>
            </a:r>
            <a:r>
              <a:rPr dirty="0" sz="2000" spc="-3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from</a:t>
            </a:r>
            <a:r>
              <a:rPr dirty="0" sz="2000" spc="-2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one</a:t>
            </a:r>
            <a:r>
              <a:rPr dirty="0" sz="2000" spc="-3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host</a:t>
            </a:r>
            <a:r>
              <a:rPr dirty="0" sz="2000" spc="-3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000" spc="-2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another</a:t>
            </a:r>
            <a:r>
              <a:rPr dirty="0" sz="2000" spc="-3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000" spc="-3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supporting</a:t>
            </a:r>
            <a:r>
              <a:rPr dirty="0" sz="20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failures,</a:t>
            </a:r>
            <a:r>
              <a:rPr dirty="0" sz="2000" spc="-1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shortage</a:t>
            </a:r>
            <a:r>
              <a:rPr dirty="0" sz="2000" spc="-2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000" spc="-2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151515"/>
                </a:solidFill>
                <a:latin typeface="Calibri"/>
                <a:cs typeface="Calibri"/>
              </a:rPr>
              <a:t>resources</a:t>
            </a:r>
            <a:r>
              <a:rPr dirty="0" sz="2000" spc="-1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151515"/>
                </a:solidFill>
                <a:latin typeface="Calibri"/>
                <a:cs typeface="Calibri"/>
              </a:rPr>
              <a:t>etc.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5244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434"/>
              </a:spcBef>
            </a:pPr>
            <a:r>
              <a:rPr dirty="0"/>
              <a:t>CLOUD</a:t>
            </a:r>
            <a:r>
              <a:rPr dirty="0" spc="-15"/>
              <a:t> </a:t>
            </a:r>
            <a:r>
              <a:rPr dirty="0" spc="-10"/>
              <a:t>COMPUTING</a:t>
            </a:r>
          </a:p>
          <a:p>
            <a:pPr marL="201295">
              <a:lnSpc>
                <a:spcPct val="100000"/>
              </a:lnSpc>
              <a:spcBef>
                <a:spcPts val="300"/>
              </a:spcBef>
            </a:pPr>
            <a:r>
              <a:rPr dirty="0" sz="2200">
                <a:solidFill>
                  <a:srgbClr val="C55A11"/>
                </a:solidFill>
              </a:rPr>
              <a:t>Where</a:t>
            </a:r>
            <a:r>
              <a:rPr dirty="0" sz="2200" spc="-45">
                <a:solidFill>
                  <a:srgbClr val="C55A11"/>
                </a:solidFill>
              </a:rPr>
              <a:t> </a:t>
            </a:r>
            <a:r>
              <a:rPr dirty="0" sz="2200">
                <a:solidFill>
                  <a:srgbClr val="C55A11"/>
                </a:solidFill>
              </a:rPr>
              <a:t>does</a:t>
            </a:r>
            <a:r>
              <a:rPr dirty="0" sz="2200" spc="-55">
                <a:solidFill>
                  <a:srgbClr val="C55A11"/>
                </a:solidFill>
              </a:rPr>
              <a:t> </a:t>
            </a:r>
            <a:r>
              <a:rPr dirty="0" sz="2200">
                <a:solidFill>
                  <a:srgbClr val="C55A11"/>
                </a:solidFill>
              </a:rPr>
              <a:t>Container</a:t>
            </a:r>
            <a:r>
              <a:rPr dirty="0" sz="2200" spc="-35">
                <a:solidFill>
                  <a:srgbClr val="C55A11"/>
                </a:solidFill>
              </a:rPr>
              <a:t> </a:t>
            </a:r>
            <a:r>
              <a:rPr dirty="0" sz="2200">
                <a:solidFill>
                  <a:srgbClr val="C55A11"/>
                </a:solidFill>
              </a:rPr>
              <a:t>orchestration</a:t>
            </a:r>
            <a:r>
              <a:rPr dirty="0" sz="2200" spc="-20">
                <a:solidFill>
                  <a:srgbClr val="C55A11"/>
                </a:solidFill>
              </a:rPr>
              <a:t> </a:t>
            </a:r>
            <a:r>
              <a:rPr dirty="0" sz="2200">
                <a:solidFill>
                  <a:srgbClr val="C55A11"/>
                </a:solidFill>
              </a:rPr>
              <a:t>fit</a:t>
            </a:r>
            <a:r>
              <a:rPr dirty="0" sz="2200" spc="-70">
                <a:solidFill>
                  <a:srgbClr val="C55A11"/>
                </a:solidFill>
              </a:rPr>
              <a:t> </a:t>
            </a:r>
            <a:r>
              <a:rPr dirty="0" sz="2200">
                <a:solidFill>
                  <a:srgbClr val="C55A11"/>
                </a:solidFill>
              </a:rPr>
              <a:t>within</a:t>
            </a:r>
            <a:r>
              <a:rPr dirty="0" sz="2200" spc="-70">
                <a:solidFill>
                  <a:srgbClr val="C55A11"/>
                </a:solidFill>
              </a:rPr>
              <a:t> </a:t>
            </a:r>
            <a:r>
              <a:rPr dirty="0" sz="2200">
                <a:solidFill>
                  <a:srgbClr val="C55A11"/>
                </a:solidFill>
              </a:rPr>
              <a:t>the</a:t>
            </a:r>
            <a:r>
              <a:rPr dirty="0" sz="2200" spc="-55">
                <a:solidFill>
                  <a:srgbClr val="C55A11"/>
                </a:solidFill>
              </a:rPr>
              <a:t> </a:t>
            </a:r>
            <a:r>
              <a:rPr dirty="0" sz="2200">
                <a:solidFill>
                  <a:srgbClr val="C55A11"/>
                </a:solidFill>
              </a:rPr>
              <a:t>system</a:t>
            </a:r>
            <a:r>
              <a:rPr dirty="0" sz="2200" spc="-70">
                <a:solidFill>
                  <a:srgbClr val="C55A11"/>
                </a:solidFill>
              </a:rPr>
              <a:t> </a:t>
            </a:r>
            <a:r>
              <a:rPr dirty="0" sz="2200" spc="-10">
                <a:solidFill>
                  <a:srgbClr val="C55A11"/>
                </a:solidFill>
              </a:rPr>
              <a:t>stack?</a:t>
            </a:r>
            <a:endParaRPr sz="2200"/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24967" y="1388109"/>
            <a:ext cx="927608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Calibri"/>
                <a:cs typeface="Calibri"/>
              </a:rPr>
              <a:t>Container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Orchestration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mediates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between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apps/services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container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runtimes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 descr="Orchestration sits between the apps and the container runtimes. Source: AWSforBusiness 2017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862" y="1947862"/>
            <a:ext cx="6153785" cy="465772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751955" y="1947798"/>
            <a:ext cx="5343525" cy="2323465"/>
          </a:xfrm>
          <a:prstGeom prst="rect">
            <a:avLst/>
          </a:prstGeom>
          <a:solidFill>
            <a:srgbClr val="385622">
              <a:alpha val="47842"/>
            </a:srgbClr>
          </a:solidFill>
          <a:ln w="25400">
            <a:solidFill>
              <a:srgbClr val="2E528F"/>
            </a:solidFill>
          </a:ln>
        </p:spPr>
        <p:txBody>
          <a:bodyPr wrap="square" lIns="0" tIns="9525" rIns="0" bIns="0" rtlCol="0" vert="horz">
            <a:spAutoFit/>
          </a:bodyPr>
          <a:lstStyle/>
          <a:p>
            <a:pPr marL="434975" marR="116839" indent="-342900">
              <a:lnSpc>
                <a:spcPct val="120000"/>
              </a:lnSpc>
              <a:spcBef>
                <a:spcPts val="75"/>
              </a:spcBef>
              <a:buClr>
                <a:srgbClr val="843B0C"/>
              </a:buClr>
              <a:buFont typeface="Wingdings"/>
              <a:buChar char=""/>
              <a:tabLst>
                <a:tab pos="434975" algn="l"/>
              </a:tabLst>
            </a:pPr>
            <a:r>
              <a:rPr dirty="0" sz="1800" b="1">
                <a:solidFill>
                  <a:srgbClr val="006FC0"/>
                </a:solidFill>
                <a:latin typeface="Calibri"/>
                <a:cs typeface="Calibri"/>
              </a:rPr>
              <a:t>Service</a:t>
            </a:r>
            <a:r>
              <a:rPr dirty="0" sz="1800" spc="-5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6FC0"/>
                </a:solidFill>
                <a:latin typeface="Calibri"/>
                <a:cs typeface="Calibri"/>
              </a:rPr>
              <a:t>Management:</a:t>
            </a:r>
            <a:r>
              <a:rPr dirty="0" sz="1800" spc="-3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Labels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(represents</a:t>
            </a:r>
            <a:r>
              <a:rPr dirty="0" sz="1800" spc="-10" i="1">
                <a:latin typeface="Calibri"/>
                <a:cs typeface="Calibri"/>
              </a:rPr>
              <a:t> Key-Value </a:t>
            </a:r>
            <a:r>
              <a:rPr dirty="0" sz="1800" i="1">
                <a:latin typeface="Calibri"/>
                <a:cs typeface="Calibri"/>
              </a:rPr>
              <a:t>pairs</a:t>
            </a:r>
            <a:r>
              <a:rPr dirty="0" sz="1800" spc="-20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that</a:t>
            </a:r>
            <a:r>
              <a:rPr dirty="0" sz="1800" spc="-1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are</a:t>
            </a:r>
            <a:r>
              <a:rPr dirty="0" sz="1800" spc="-1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attached</a:t>
            </a:r>
            <a:r>
              <a:rPr dirty="0" sz="1800" spc="-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to</a:t>
            </a:r>
            <a:r>
              <a:rPr dirty="0" sz="1800" spc="-1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objects</a:t>
            </a:r>
            <a:r>
              <a:rPr dirty="0" sz="1800" spc="-2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such</a:t>
            </a:r>
            <a:r>
              <a:rPr dirty="0" sz="1800" spc="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as</a:t>
            </a:r>
            <a:r>
              <a:rPr dirty="0" sz="1800" spc="-10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pods</a:t>
            </a:r>
            <a:r>
              <a:rPr dirty="0" sz="1800" spc="-15" i="1">
                <a:latin typeface="Calibri"/>
                <a:cs typeface="Calibri"/>
              </a:rPr>
              <a:t> </a:t>
            </a:r>
            <a:r>
              <a:rPr dirty="0" sz="1800" spc="-25" i="1">
                <a:latin typeface="Calibri"/>
                <a:cs typeface="Calibri"/>
              </a:rPr>
              <a:t>and </a:t>
            </a:r>
            <a:r>
              <a:rPr dirty="0" sz="1800" i="1">
                <a:latin typeface="Calibri"/>
                <a:cs typeface="Calibri"/>
              </a:rPr>
              <a:t>used</a:t>
            </a:r>
            <a:r>
              <a:rPr dirty="0" sz="1800" spc="-30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to</a:t>
            </a:r>
            <a:r>
              <a:rPr dirty="0" sz="1800" spc="-4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specify</a:t>
            </a:r>
            <a:r>
              <a:rPr dirty="0" sz="1800" spc="-30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identifying</a:t>
            </a:r>
            <a:r>
              <a:rPr dirty="0" sz="1800" spc="-30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attributes</a:t>
            </a:r>
            <a:r>
              <a:rPr dirty="0" sz="1800" spc="-20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of</a:t>
            </a:r>
            <a:r>
              <a:rPr dirty="0" sz="1800" spc="-4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objects)</a:t>
            </a:r>
            <a:r>
              <a:rPr dirty="0" sz="1800" spc="-10" i="1">
                <a:latin typeface="Calibri"/>
                <a:cs typeface="Calibri"/>
              </a:rPr>
              <a:t> </a:t>
            </a:r>
            <a:r>
              <a:rPr dirty="0" sz="1800" spc="-50">
                <a:latin typeface="Calibri"/>
                <a:cs typeface="Calibri"/>
              </a:rPr>
              <a:t>, </a:t>
            </a:r>
            <a:r>
              <a:rPr dirty="0" sz="1800" b="1">
                <a:latin typeface="Calibri"/>
                <a:cs typeface="Calibri"/>
              </a:rPr>
              <a:t>groups</a:t>
            </a:r>
            <a:r>
              <a:rPr dirty="0" sz="1800" spc="-75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</a:t>
            </a:r>
            <a:r>
              <a:rPr dirty="0" sz="1800" i="1">
                <a:latin typeface="Calibri"/>
                <a:cs typeface="Calibri"/>
              </a:rPr>
              <a:t>collection</a:t>
            </a:r>
            <a:r>
              <a:rPr dirty="0" sz="1800" spc="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of</a:t>
            </a:r>
            <a:r>
              <a:rPr dirty="0" sz="1800" spc="-4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related</a:t>
            </a:r>
            <a:r>
              <a:rPr dirty="0" sz="1800" spc="-30" i="1">
                <a:latin typeface="Calibri"/>
                <a:cs typeface="Calibri"/>
              </a:rPr>
              <a:t> </a:t>
            </a:r>
            <a:r>
              <a:rPr dirty="0" sz="1800" spc="-10" i="1">
                <a:latin typeface="Calibri"/>
                <a:cs typeface="Calibri"/>
              </a:rPr>
              <a:t>functionality</a:t>
            </a:r>
            <a:r>
              <a:rPr dirty="0" sz="1800" spc="-10">
                <a:latin typeface="Calibri"/>
                <a:cs typeface="Calibri"/>
              </a:rPr>
              <a:t>), </a:t>
            </a:r>
            <a:r>
              <a:rPr dirty="0" sz="1800" b="1">
                <a:latin typeface="Calibri"/>
                <a:cs typeface="Calibri"/>
              </a:rPr>
              <a:t>namespaces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</a:t>
            </a:r>
            <a:r>
              <a:rPr dirty="0" sz="1800" i="1">
                <a:latin typeface="Calibri"/>
                <a:cs typeface="Calibri"/>
              </a:rPr>
              <a:t>a</a:t>
            </a:r>
            <a:r>
              <a:rPr dirty="0" sz="1800" spc="-3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way</a:t>
            </a:r>
            <a:r>
              <a:rPr dirty="0" sz="1800" spc="-20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to</a:t>
            </a:r>
            <a:r>
              <a:rPr dirty="0" sz="1800" spc="-2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organize</a:t>
            </a:r>
            <a:r>
              <a:rPr dirty="0" sz="1800" spc="-1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clusters</a:t>
            </a:r>
            <a:r>
              <a:rPr dirty="0" sz="1800" spc="-1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into</a:t>
            </a:r>
            <a:r>
              <a:rPr dirty="0" sz="1800" spc="-15" i="1">
                <a:latin typeface="Calibri"/>
                <a:cs typeface="Calibri"/>
              </a:rPr>
              <a:t> </a:t>
            </a:r>
            <a:r>
              <a:rPr dirty="0" sz="1800" spc="-10" i="1">
                <a:latin typeface="Calibri"/>
                <a:cs typeface="Calibri"/>
              </a:rPr>
              <a:t>virtual sub-</a:t>
            </a:r>
            <a:r>
              <a:rPr dirty="0" sz="1800" i="1">
                <a:latin typeface="Calibri"/>
                <a:cs typeface="Calibri"/>
              </a:rPr>
              <a:t>clusters</a:t>
            </a:r>
            <a:r>
              <a:rPr dirty="0" sz="1800">
                <a:latin typeface="Calibri"/>
                <a:cs typeface="Calibri"/>
              </a:rPr>
              <a:t>),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dependencies</a:t>
            </a:r>
            <a:r>
              <a:rPr dirty="0" sz="1800">
                <a:latin typeface="Calibri"/>
                <a:cs typeface="Calibri"/>
              </a:rPr>
              <a:t>,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load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balancing</a:t>
            </a:r>
            <a:r>
              <a:rPr dirty="0" sz="1800" spc="-10">
                <a:latin typeface="Calibri"/>
                <a:cs typeface="Calibri"/>
              </a:rPr>
              <a:t>, </a:t>
            </a:r>
            <a:r>
              <a:rPr dirty="0" sz="1800" b="1">
                <a:latin typeface="Calibri"/>
                <a:cs typeface="Calibri"/>
              </a:rPr>
              <a:t>readiness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checks</a:t>
            </a:r>
            <a:r>
              <a:rPr dirty="0" sz="1800" spc="-1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51955" y="4391685"/>
            <a:ext cx="5343525" cy="940435"/>
          </a:xfrm>
          <a:prstGeom prst="rect">
            <a:avLst/>
          </a:prstGeom>
          <a:solidFill>
            <a:srgbClr val="7E5F00">
              <a:alpha val="34117"/>
            </a:srgbClr>
          </a:solidFill>
          <a:ln w="25400">
            <a:solidFill>
              <a:srgbClr val="2E528F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 marL="434975" indent="-342900">
              <a:lnSpc>
                <a:spcPct val="100000"/>
              </a:lnSpc>
              <a:spcBef>
                <a:spcPts val="10"/>
              </a:spcBef>
              <a:buClr>
                <a:srgbClr val="843B0C"/>
              </a:buClr>
              <a:buFont typeface="Wingdings"/>
              <a:buChar char=""/>
              <a:tabLst>
                <a:tab pos="434975" algn="l"/>
              </a:tabLst>
            </a:pPr>
            <a:r>
              <a:rPr dirty="0" sz="1800" b="1">
                <a:solidFill>
                  <a:srgbClr val="006FC0"/>
                </a:solidFill>
                <a:latin typeface="Calibri"/>
                <a:cs typeface="Calibri"/>
              </a:rPr>
              <a:t>Scheduling:</a:t>
            </a:r>
            <a:r>
              <a:rPr dirty="0" sz="1800" spc="-8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Allocation,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replication,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(container)</a:t>
            </a:r>
            <a:endParaRPr sz="1800">
              <a:latin typeface="Calibri"/>
              <a:cs typeface="Calibri"/>
            </a:endParaRPr>
          </a:p>
          <a:p>
            <a:pPr marL="434975">
              <a:lnSpc>
                <a:spcPct val="100000"/>
              </a:lnSpc>
              <a:spcBef>
                <a:spcPts val="434"/>
              </a:spcBef>
            </a:pPr>
            <a:r>
              <a:rPr dirty="0" sz="1800">
                <a:latin typeface="Calibri"/>
                <a:cs typeface="Calibri"/>
              </a:rPr>
              <a:t>resurrection,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rescheduling,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rolling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deployment,</a:t>
            </a:r>
            <a:endParaRPr sz="1800">
              <a:latin typeface="Calibri"/>
              <a:cs typeface="Calibri"/>
            </a:endParaRPr>
          </a:p>
          <a:p>
            <a:pPr marL="434975">
              <a:lnSpc>
                <a:spcPct val="100000"/>
              </a:lnSpc>
              <a:spcBef>
                <a:spcPts val="434"/>
              </a:spcBef>
            </a:pPr>
            <a:r>
              <a:rPr dirty="0" sz="1800">
                <a:latin typeface="Calibri"/>
                <a:cs typeface="Calibri"/>
              </a:rPr>
              <a:t>upgrades,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downgrades.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51955" y="5486400"/>
            <a:ext cx="5343525" cy="619125"/>
          </a:xfrm>
          <a:prstGeom prst="rect">
            <a:avLst/>
          </a:prstGeom>
          <a:solidFill>
            <a:srgbClr val="843B0C">
              <a:alpha val="67057"/>
            </a:srgbClr>
          </a:solidFill>
          <a:ln w="25400">
            <a:solidFill>
              <a:srgbClr val="2E528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434975" indent="-342900">
              <a:lnSpc>
                <a:spcPts val="1930"/>
              </a:lnSpc>
              <a:buClr>
                <a:srgbClr val="843B0C"/>
              </a:buClr>
              <a:buFont typeface="Wingdings"/>
              <a:buChar char=""/>
              <a:tabLst>
                <a:tab pos="434975" algn="l"/>
              </a:tabLst>
            </a:pPr>
            <a:r>
              <a:rPr dirty="0" sz="1800" b="1">
                <a:solidFill>
                  <a:srgbClr val="006FC0"/>
                </a:solidFill>
                <a:latin typeface="Calibri"/>
                <a:cs typeface="Calibri"/>
              </a:rPr>
              <a:t>Resource</a:t>
            </a:r>
            <a:r>
              <a:rPr dirty="0" sz="1800" spc="-6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6FC0"/>
                </a:solidFill>
                <a:latin typeface="Calibri"/>
                <a:cs typeface="Calibri"/>
              </a:rPr>
              <a:t>Management:</a:t>
            </a:r>
            <a:r>
              <a:rPr dirty="0" sz="1800" spc="-3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Memory,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CPU,</a:t>
            </a:r>
            <a:r>
              <a:rPr dirty="0" sz="1800" spc="-20">
                <a:latin typeface="Calibri"/>
                <a:cs typeface="Calibri"/>
              </a:rPr>
              <a:t> GPU,</a:t>
            </a:r>
            <a:endParaRPr sz="1800">
              <a:latin typeface="Calibri"/>
              <a:cs typeface="Calibri"/>
            </a:endParaRPr>
          </a:p>
          <a:p>
            <a:pPr marL="434975">
              <a:lnSpc>
                <a:spcPct val="100000"/>
              </a:lnSpc>
              <a:spcBef>
                <a:spcPts val="430"/>
              </a:spcBef>
            </a:pPr>
            <a:r>
              <a:rPr dirty="0" sz="1800">
                <a:latin typeface="Calibri"/>
                <a:cs typeface="Calibri"/>
              </a:rPr>
              <a:t>volumes,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ports,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IPs.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3215" y="265938"/>
            <a:ext cx="260286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CLOUD</a:t>
            </a:r>
            <a:r>
              <a:rPr dirty="0" spc="-15"/>
              <a:t> </a:t>
            </a:r>
            <a:r>
              <a:rPr dirty="0" spc="-10"/>
              <a:t>COMPUTING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4981" y="1567700"/>
            <a:ext cx="5594226" cy="511365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32968" y="670686"/>
            <a:ext cx="8193405" cy="61201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b="1">
                <a:solidFill>
                  <a:srgbClr val="C55A11"/>
                </a:solidFill>
                <a:latin typeface="Calibri"/>
                <a:cs typeface="Calibri"/>
              </a:rPr>
              <a:t>Container</a:t>
            </a:r>
            <a:r>
              <a:rPr dirty="0" sz="2200" spc="-40" b="1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C55A11"/>
                </a:solidFill>
                <a:latin typeface="Calibri"/>
                <a:cs typeface="Calibri"/>
              </a:rPr>
              <a:t>orchestration</a:t>
            </a:r>
            <a:r>
              <a:rPr dirty="0" sz="2200" spc="-15" b="1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C55A11"/>
                </a:solidFill>
                <a:latin typeface="Calibri"/>
                <a:cs typeface="Calibri"/>
              </a:rPr>
              <a:t>–</a:t>
            </a:r>
            <a:r>
              <a:rPr dirty="0" sz="2200" spc="-65" b="1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C55A11"/>
                </a:solidFill>
                <a:latin typeface="Calibri"/>
                <a:cs typeface="Calibri"/>
              </a:rPr>
              <a:t>Different</a:t>
            </a:r>
            <a:r>
              <a:rPr dirty="0" sz="2200" spc="-40" b="1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C55A11"/>
                </a:solidFill>
                <a:latin typeface="Calibri"/>
                <a:cs typeface="Calibri"/>
              </a:rPr>
              <a:t>Tools</a:t>
            </a:r>
            <a:r>
              <a:rPr dirty="0" sz="2200" spc="-60" b="1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C55A11"/>
                </a:solidFill>
                <a:latin typeface="Calibri"/>
                <a:cs typeface="Calibri"/>
              </a:rPr>
              <a:t>which</a:t>
            </a:r>
            <a:r>
              <a:rPr dirty="0" sz="2200" spc="-60" b="1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C55A11"/>
                </a:solidFill>
                <a:latin typeface="Calibri"/>
                <a:cs typeface="Calibri"/>
              </a:rPr>
              <a:t>support</a:t>
            </a:r>
            <a:r>
              <a:rPr dirty="0" sz="2200" spc="-55" b="1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dirty="0" sz="2200" spc="-10" b="1">
                <a:solidFill>
                  <a:srgbClr val="C55A11"/>
                </a:solidFill>
                <a:latin typeface="Calibri"/>
                <a:cs typeface="Calibri"/>
              </a:rPr>
              <a:t>Orchestration</a:t>
            </a:r>
            <a:endParaRPr sz="2200">
              <a:latin typeface="Calibri"/>
              <a:cs typeface="Calibri"/>
            </a:endParaRPr>
          </a:p>
          <a:p>
            <a:pPr marL="36830" marR="2546350">
              <a:lnSpc>
                <a:spcPct val="120000"/>
              </a:lnSpc>
              <a:spcBef>
                <a:spcPts val="2355"/>
              </a:spcBef>
            </a:pPr>
            <a:r>
              <a:rPr dirty="0" sz="2200" b="1">
                <a:latin typeface="Calibri"/>
                <a:cs typeface="Calibri"/>
              </a:rPr>
              <a:t>Docker</a:t>
            </a:r>
            <a:r>
              <a:rPr dirty="0" sz="2200" spc="-3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Swarm:</a:t>
            </a:r>
            <a:r>
              <a:rPr dirty="0" sz="2200" spc="-25" b="1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Provides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native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clustering </a:t>
            </a:r>
            <a:r>
              <a:rPr dirty="0" sz="2200">
                <a:latin typeface="Calibri"/>
                <a:cs typeface="Calibri"/>
              </a:rPr>
              <a:t>functionality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containers,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turns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50">
                <a:latin typeface="Calibri"/>
                <a:cs typeface="Calibri"/>
              </a:rPr>
              <a:t>a </a:t>
            </a:r>
            <a:r>
              <a:rPr dirty="0" sz="2200">
                <a:latin typeface="Calibri"/>
                <a:cs typeface="Calibri"/>
              </a:rPr>
              <a:t>group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engines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single,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virtual </a:t>
            </a: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engine.</a:t>
            </a:r>
            <a:endParaRPr sz="2200">
              <a:latin typeface="Calibri"/>
              <a:cs typeface="Calibri"/>
            </a:endParaRPr>
          </a:p>
          <a:p>
            <a:pPr algn="just" marL="36830" marR="3153410">
              <a:lnSpc>
                <a:spcPct val="120000"/>
              </a:lnSpc>
              <a:spcBef>
                <a:spcPts val="600"/>
              </a:spcBef>
            </a:pPr>
            <a:r>
              <a:rPr dirty="0" sz="2200" b="1">
                <a:latin typeface="Calibri"/>
                <a:cs typeface="Calibri"/>
              </a:rPr>
              <a:t>Google</a:t>
            </a:r>
            <a:r>
              <a:rPr dirty="0" sz="2200" spc="-7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Container</a:t>
            </a:r>
            <a:r>
              <a:rPr dirty="0" sz="2200" spc="-4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Engine:</a:t>
            </a:r>
            <a:r>
              <a:rPr dirty="0" sz="2200" spc="-65" b="1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Google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Container </a:t>
            </a:r>
            <a:r>
              <a:rPr dirty="0" sz="2200">
                <a:latin typeface="Calibri"/>
                <a:cs typeface="Calibri"/>
              </a:rPr>
              <a:t>Engine,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built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Kubernetes,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Docker </a:t>
            </a:r>
            <a:r>
              <a:rPr dirty="0" sz="2200">
                <a:latin typeface="Calibri"/>
                <a:cs typeface="Calibri"/>
              </a:rPr>
              <a:t>containers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Google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Cloud.</a:t>
            </a:r>
            <a:endParaRPr sz="2200">
              <a:latin typeface="Calibri"/>
              <a:cs typeface="Calibri"/>
            </a:endParaRPr>
          </a:p>
          <a:p>
            <a:pPr marL="36830" marR="2651125">
              <a:lnSpc>
                <a:spcPct val="120100"/>
              </a:lnSpc>
              <a:spcBef>
                <a:spcPts val="600"/>
              </a:spcBef>
            </a:pPr>
            <a:r>
              <a:rPr dirty="0" sz="2200" b="1">
                <a:latin typeface="Calibri"/>
                <a:cs typeface="Calibri"/>
              </a:rPr>
              <a:t>Kubernetes:</a:t>
            </a:r>
            <a:r>
              <a:rPr dirty="0" sz="2200" spc="-20" b="1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orchestration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system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Docker </a:t>
            </a:r>
            <a:r>
              <a:rPr dirty="0" sz="2200">
                <a:latin typeface="Calibri"/>
                <a:cs typeface="Calibri"/>
              </a:rPr>
              <a:t>containers.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handles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scheduling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manages </a:t>
            </a:r>
            <a:r>
              <a:rPr dirty="0" sz="2200">
                <a:latin typeface="Calibri"/>
                <a:cs typeface="Calibri"/>
              </a:rPr>
              <a:t>workloads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based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user-</a:t>
            </a:r>
            <a:r>
              <a:rPr dirty="0" sz="2200">
                <a:latin typeface="Calibri"/>
                <a:cs typeface="Calibri"/>
              </a:rPr>
              <a:t>defined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parameters.</a:t>
            </a:r>
            <a:endParaRPr sz="2200">
              <a:latin typeface="Calibri"/>
              <a:cs typeface="Calibri"/>
            </a:endParaRPr>
          </a:p>
          <a:p>
            <a:pPr marL="36830" marR="2496185">
              <a:lnSpc>
                <a:spcPct val="120000"/>
              </a:lnSpc>
              <a:spcBef>
                <a:spcPts val="600"/>
              </a:spcBef>
            </a:pPr>
            <a:r>
              <a:rPr dirty="0" sz="2200" b="1">
                <a:latin typeface="Calibri"/>
                <a:cs typeface="Calibri"/>
              </a:rPr>
              <a:t>Amazon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ECS: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ECS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supports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Docker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containers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lets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you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applications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managed </a:t>
            </a:r>
            <a:r>
              <a:rPr dirty="0" sz="2200">
                <a:latin typeface="Calibri"/>
                <a:cs typeface="Calibri"/>
              </a:rPr>
              <a:t>cluster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Amazon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EC2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instances.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08254" y="186944"/>
            <a:ext cx="260286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CLOUD</a:t>
            </a:r>
            <a:r>
              <a:rPr dirty="0" spc="-15"/>
              <a:t> </a:t>
            </a:r>
            <a:r>
              <a:rPr dirty="0" spc="-10"/>
              <a:t>COMPUTING</a:t>
            </a:r>
          </a:p>
        </p:txBody>
      </p:sp>
      <p:sp>
        <p:nvSpPr>
          <p:cNvPr id="6" name="object 6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08254" y="657225"/>
            <a:ext cx="11243310" cy="2413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Kubernetes</a:t>
            </a:r>
            <a:r>
              <a:rPr dirty="0" sz="2400" spc="-3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(also</a:t>
            </a:r>
            <a:r>
              <a:rPr dirty="0" sz="2400" spc="-3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know</a:t>
            </a:r>
            <a:r>
              <a:rPr dirty="0" sz="2400" spc="-5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as</a:t>
            </a:r>
            <a:r>
              <a:rPr dirty="0" sz="2400" spc="-3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55A11"/>
                </a:solidFill>
                <a:latin typeface="Arial"/>
                <a:cs typeface="Arial"/>
              </a:rPr>
              <a:t>K8s)</a:t>
            </a:r>
            <a:r>
              <a:rPr dirty="0" sz="2400" spc="-40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Basics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2120"/>
              </a:spcBef>
            </a:pPr>
            <a:r>
              <a:rPr dirty="0" sz="2200">
                <a:latin typeface="Calibri"/>
                <a:cs typeface="Calibri"/>
              </a:rPr>
              <a:t>Kubernetes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seen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earlier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container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microservice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platform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orchestrates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computing, </a:t>
            </a:r>
            <a:r>
              <a:rPr dirty="0" sz="2200">
                <a:latin typeface="Calibri"/>
                <a:cs typeface="Calibri"/>
              </a:rPr>
              <a:t>networking,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storage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infrastructure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workloads.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Kubernetes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extends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how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scale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containerized </a:t>
            </a:r>
            <a:r>
              <a:rPr dirty="0" sz="2200">
                <a:latin typeface="Calibri"/>
                <a:cs typeface="Calibri"/>
              </a:rPr>
              <a:t>applications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so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enjoy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all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benefits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truly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immutable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infrastructure</a:t>
            </a:r>
            <a:endParaRPr sz="2200">
              <a:latin typeface="Calibri"/>
              <a:cs typeface="Calibri"/>
            </a:endParaRPr>
          </a:p>
          <a:p>
            <a:pPr marL="12700" marR="254635">
              <a:lnSpc>
                <a:spcPct val="100000"/>
              </a:lnSpc>
              <a:spcBef>
                <a:spcPts val="605"/>
              </a:spcBef>
            </a:pPr>
            <a:r>
              <a:rPr dirty="0" sz="2200">
                <a:latin typeface="Calibri"/>
                <a:cs typeface="Calibri"/>
              </a:rPr>
              <a:t>Understanding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K8S,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will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need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understanding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objects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used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building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block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25">
                <a:latin typeface="Calibri"/>
                <a:cs typeface="Calibri"/>
              </a:rPr>
              <a:t> the </a:t>
            </a:r>
            <a:r>
              <a:rPr dirty="0" sz="2200">
                <a:latin typeface="Calibri"/>
                <a:cs typeface="Calibri"/>
              </a:rPr>
              <a:t>application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lifecycle.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.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include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8" name="object 8" descr="Image result for 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0120" y="72574"/>
            <a:ext cx="1442585" cy="1118146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669137" y="3379444"/>
            <a:ext cx="5534025" cy="2662555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algn="just" marL="354965" indent="-342265">
              <a:lnSpc>
                <a:spcPct val="100000"/>
              </a:lnSpc>
              <a:spcBef>
                <a:spcPts val="495"/>
              </a:spcBef>
              <a:buClr>
                <a:srgbClr val="843B0C"/>
              </a:buClr>
              <a:buFont typeface="Wingdings"/>
              <a:buChar char=""/>
              <a:tabLst>
                <a:tab pos="354965" algn="l"/>
              </a:tabLst>
            </a:pPr>
            <a:r>
              <a:rPr dirty="0" sz="1700" b="1">
                <a:latin typeface="Calibri"/>
                <a:cs typeface="Calibri"/>
              </a:rPr>
              <a:t>Pod</a:t>
            </a:r>
            <a:r>
              <a:rPr dirty="0" sz="1700">
                <a:latin typeface="Calibri"/>
                <a:cs typeface="Calibri"/>
              </a:rPr>
              <a:t>.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group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 one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or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more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containers.</a:t>
            </a:r>
            <a:endParaRPr sz="1700">
              <a:latin typeface="Calibri"/>
              <a:cs typeface="Calibri"/>
            </a:endParaRPr>
          </a:p>
          <a:p>
            <a:pPr algn="just" marL="355600" marR="6985" indent="-342900">
              <a:lnSpc>
                <a:spcPts val="1839"/>
              </a:lnSpc>
              <a:spcBef>
                <a:spcPts val="625"/>
              </a:spcBef>
              <a:buClr>
                <a:srgbClr val="843B0C"/>
              </a:buClr>
              <a:buFont typeface="Wingdings"/>
              <a:buChar char=""/>
              <a:tabLst>
                <a:tab pos="355600" algn="l"/>
              </a:tabLst>
            </a:pPr>
            <a:r>
              <a:rPr dirty="0" sz="1700" b="1">
                <a:latin typeface="Calibri"/>
                <a:cs typeface="Calibri"/>
              </a:rPr>
              <a:t>Service</a:t>
            </a:r>
            <a:r>
              <a:rPr dirty="0" sz="1700">
                <a:latin typeface="Calibri"/>
                <a:cs typeface="Calibri"/>
              </a:rPr>
              <a:t>.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</a:t>
            </a:r>
            <a:r>
              <a:rPr dirty="0" sz="1700" spc="-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abstraction</a:t>
            </a:r>
            <a:r>
              <a:rPr dirty="0" sz="1700" spc="-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that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defines</a:t>
            </a:r>
            <a:r>
              <a:rPr dirty="0" sz="1700" spc="-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logical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set</a:t>
            </a:r>
            <a:r>
              <a:rPr dirty="0" sz="1700" spc="-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pods</a:t>
            </a:r>
            <a:r>
              <a:rPr dirty="0" sz="1700" spc="-5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as </a:t>
            </a:r>
            <a:r>
              <a:rPr dirty="0" sz="1700">
                <a:latin typeface="Calibri"/>
                <a:cs typeface="Calibri"/>
              </a:rPr>
              <a:t>well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as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policy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endpoint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for</a:t>
            </a:r>
            <a:r>
              <a:rPr dirty="0" sz="1700" spc="-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accessing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them.</a:t>
            </a:r>
            <a:endParaRPr sz="1700">
              <a:latin typeface="Calibri"/>
              <a:cs typeface="Calibri"/>
            </a:endParaRPr>
          </a:p>
          <a:p>
            <a:pPr algn="just" marL="355600" marR="6985" indent="-342900">
              <a:lnSpc>
                <a:spcPts val="1839"/>
              </a:lnSpc>
              <a:spcBef>
                <a:spcPts val="590"/>
              </a:spcBef>
              <a:buClr>
                <a:srgbClr val="843B0C"/>
              </a:buClr>
              <a:buFont typeface="Wingdings"/>
              <a:buChar char=""/>
              <a:tabLst>
                <a:tab pos="355600" algn="l"/>
              </a:tabLst>
            </a:pPr>
            <a:r>
              <a:rPr dirty="0" sz="1700" b="1">
                <a:latin typeface="Calibri"/>
                <a:cs typeface="Calibri"/>
              </a:rPr>
              <a:t>Volume</a:t>
            </a:r>
            <a:r>
              <a:rPr dirty="0" sz="1700">
                <a:latin typeface="Calibri"/>
                <a:cs typeface="Calibri"/>
              </a:rPr>
              <a:t>.</a:t>
            </a:r>
            <a:r>
              <a:rPr dirty="0" sz="1700" spc="2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</a:t>
            </a:r>
            <a:r>
              <a:rPr dirty="0" sz="1700" spc="2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abstraction</a:t>
            </a:r>
            <a:r>
              <a:rPr dirty="0" sz="1700" spc="229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that</a:t>
            </a:r>
            <a:r>
              <a:rPr dirty="0" sz="1700" spc="2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lets</a:t>
            </a:r>
            <a:r>
              <a:rPr dirty="0" sz="1700" spc="2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us</a:t>
            </a:r>
            <a:r>
              <a:rPr dirty="0" sz="1700" spc="2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persist</a:t>
            </a:r>
            <a:r>
              <a:rPr dirty="0" sz="1700" spc="2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data.</a:t>
            </a:r>
            <a:r>
              <a:rPr dirty="0" sz="1700" spc="2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(This</a:t>
            </a:r>
            <a:r>
              <a:rPr dirty="0" sz="1700" spc="225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is </a:t>
            </a:r>
            <a:r>
              <a:rPr dirty="0" sz="1700">
                <a:latin typeface="Calibri"/>
                <a:cs typeface="Calibri"/>
              </a:rPr>
              <a:t>necessary</a:t>
            </a:r>
            <a:r>
              <a:rPr dirty="0" sz="1700" spc="484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because</a:t>
            </a:r>
            <a:r>
              <a:rPr dirty="0" sz="1700" spc="49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containers</a:t>
            </a:r>
            <a:r>
              <a:rPr dirty="0" sz="1700" spc="49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are</a:t>
            </a:r>
            <a:r>
              <a:rPr dirty="0" sz="1700" spc="484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ephemeral—meaning </a:t>
            </a:r>
            <a:r>
              <a:rPr dirty="0" sz="1700">
                <a:latin typeface="Calibri"/>
                <a:cs typeface="Calibri"/>
              </a:rPr>
              <a:t>data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is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deleted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when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container is</a:t>
            </a:r>
            <a:r>
              <a:rPr dirty="0" sz="1700" spc="-10">
                <a:latin typeface="Calibri"/>
                <a:cs typeface="Calibri"/>
              </a:rPr>
              <a:t> deleted.)</a:t>
            </a:r>
            <a:endParaRPr sz="170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90000"/>
              </a:lnSpc>
              <a:spcBef>
                <a:spcPts val="565"/>
              </a:spcBef>
              <a:buClr>
                <a:srgbClr val="843B0C"/>
              </a:buClr>
              <a:buFont typeface="Wingdings"/>
              <a:buChar char=""/>
              <a:tabLst>
                <a:tab pos="355600" algn="l"/>
              </a:tabLst>
            </a:pPr>
            <a:r>
              <a:rPr dirty="0" sz="1700" b="1">
                <a:latin typeface="Calibri"/>
                <a:cs typeface="Calibri"/>
              </a:rPr>
              <a:t>Namespace</a:t>
            </a:r>
            <a:r>
              <a:rPr dirty="0" sz="1700">
                <a:latin typeface="Calibri"/>
                <a:cs typeface="Calibri"/>
              </a:rPr>
              <a:t>.</a:t>
            </a:r>
            <a:r>
              <a:rPr dirty="0" sz="1700" spc="70">
                <a:latin typeface="Calibri"/>
                <a:cs typeface="Calibri"/>
              </a:rPr>
              <a:t> 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70">
                <a:latin typeface="Calibri"/>
                <a:cs typeface="Calibri"/>
              </a:rPr>
              <a:t>  </a:t>
            </a:r>
            <a:r>
              <a:rPr dirty="0" sz="1700">
                <a:latin typeface="Calibri"/>
                <a:cs typeface="Calibri"/>
              </a:rPr>
              <a:t>segment</a:t>
            </a:r>
            <a:r>
              <a:rPr dirty="0" sz="1700" spc="70">
                <a:latin typeface="Calibri"/>
                <a:cs typeface="Calibri"/>
              </a:rPr>
              <a:t> 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70">
                <a:latin typeface="Calibri"/>
                <a:cs typeface="Calibri"/>
              </a:rPr>
              <a:t> 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65">
                <a:latin typeface="Calibri"/>
                <a:cs typeface="Calibri"/>
              </a:rPr>
              <a:t>  </a:t>
            </a:r>
            <a:r>
              <a:rPr dirty="0" sz="1700">
                <a:latin typeface="Calibri"/>
                <a:cs typeface="Calibri"/>
              </a:rPr>
              <a:t>cluster</a:t>
            </a:r>
            <a:r>
              <a:rPr dirty="0" sz="1700" spc="70">
                <a:latin typeface="Calibri"/>
                <a:cs typeface="Calibri"/>
              </a:rPr>
              <a:t>  </a:t>
            </a:r>
            <a:r>
              <a:rPr dirty="0" sz="1700">
                <a:latin typeface="Calibri"/>
                <a:cs typeface="Calibri"/>
              </a:rPr>
              <a:t>dedicated</a:t>
            </a:r>
            <a:r>
              <a:rPr dirty="0" sz="1700" spc="75">
                <a:latin typeface="Calibri"/>
                <a:cs typeface="Calibri"/>
              </a:rPr>
              <a:t> 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65">
                <a:latin typeface="Calibri"/>
                <a:cs typeface="Calibri"/>
              </a:rPr>
              <a:t>  </a:t>
            </a:r>
            <a:r>
              <a:rPr dirty="0" sz="1700" spc="-50">
                <a:latin typeface="Calibri"/>
                <a:cs typeface="Calibri"/>
              </a:rPr>
              <a:t>a </a:t>
            </a:r>
            <a:r>
              <a:rPr dirty="0" sz="1700">
                <a:latin typeface="Calibri"/>
                <a:cs typeface="Calibri"/>
              </a:rPr>
              <a:t>certain</a:t>
            </a:r>
            <a:r>
              <a:rPr dirty="0" sz="1700" spc="10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purpose,</a:t>
            </a:r>
            <a:r>
              <a:rPr dirty="0" sz="1700" spc="10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for</a:t>
            </a:r>
            <a:r>
              <a:rPr dirty="0" sz="1700" spc="114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example</a:t>
            </a:r>
            <a:r>
              <a:rPr dirty="0" sz="1700" spc="1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1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certain</a:t>
            </a:r>
            <a:r>
              <a:rPr dirty="0" sz="1700" spc="1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project</a:t>
            </a:r>
            <a:r>
              <a:rPr dirty="0" sz="1700" spc="114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or</a:t>
            </a:r>
            <a:r>
              <a:rPr dirty="0" sz="1700" spc="1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team</a:t>
            </a:r>
            <a:r>
              <a:rPr dirty="0" sz="1700" spc="110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of </a:t>
            </a:r>
            <a:r>
              <a:rPr dirty="0" sz="1700">
                <a:latin typeface="Calibri"/>
                <a:cs typeface="Calibri"/>
              </a:rPr>
              <a:t>devs.</a:t>
            </a:r>
            <a:r>
              <a:rPr dirty="0" sz="1700" spc="1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Typically</a:t>
            </a:r>
            <a:r>
              <a:rPr dirty="0" sz="1700" spc="1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used</a:t>
            </a:r>
            <a:r>
              <a:rPr dirty="0" sz="1700" spc="1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1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create</a:t>
            </a:r>
            <a:r>
              <a:rPr dirty="0" sz="1700" spc="1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multiple</a:t>
            </a:r>
            <a:r>
              <a:rPr dirty="0" sz="1700" spc="1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virtual</a:t>
            </a:r>
            <a:r>
              <a:rPr dirty="0" sz="1700" spc="15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Kubernetes </a:t>
            </a:r>
            <a:r>
              <a:rPr dirty="0" sz="1700">
                <a:latin typeface="Calibri"/>
                <a:cs typeface="Calibri"/>
              </a:rPr>
              <a:t>clusters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within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single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cluster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2541" y="3119755"/>
            <a:ext cx="6041390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860415" algn="l"/>
              </a:tabLst>
            </a:pPr>
            <a:r>
              <a:rPr dirty="0" sz="1700" b="1">
                <a:solidFill>
                  <a:srgbClr val="843B0C"/>
                </a:solidFill>
                <a:latin typeface="Calibri"/>
                <a:cs typeface="Calibri"/>
              </a:rPr>
              <a:t>1.</a:t>
            </a:r>
            <a:r>
              <a:rPr dirty="0" sz="1700" spc="254" b="1">
                <a:solidFill>
                  <a:srgbClr val="843B0C"/>
                </a:solidFill>
                <a:latin typeface="Calibri"/>
                <a:cs typeface="Calibri"/>
              </a:rPr>
              <a:t> </a:t>
            </a:r>
            <a:r>
              <a:rPr dirty="0" sz="1700" b="1">
                <a:solidFill>
                  <a:srgbClr val="006FC0"/>
                </a:solidFill>
                <a:latin typeface="Calibri"/>
                <a:cs typeface="Calibri"/>
              </a:rPr>
              <a:t>Basic</a:t>
            </a:r>
            <a:r>
              <a:rPr dirty="0" sz="1700" spc="-4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700" b="1">
                <a:solidFill>
                  <a:srgbClr val="006FC0"/>
                </a:solidFill>
                <a:latin typeface="Calibri"/>
                <a:cs typeface="Calibri"/>
              </a:rPr>
              <a:t>Building</a:t>
            </a:r>
            <a:r>
              <a:rPr dirty="0" sz="1700" spc="-4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700" spc="-10" b="1">
                <a:solidFill>
                  <a:srgbClr val="006FC0"/>
                </a:solidFill>
                <a:latin typeface="Calibri"/>
                <a:cs typeface="Calibri"/>
              </a:rPr>
              <a:t>objects</a:t>
            </a:r>
            <a:r>
              <a:rPr dirty="0" sz="1700" b="1">
                <a:solidFill>
                  <a:srgbClr val="006FC0"/>
                </a:solidFill>
                <a:latin typeface="Calibri"/>
                <a:cs typeface="Calibri"/>
              </a:rPr>
              <a:t>	</a:t>
            </a:r>
            <a:r>
              <a:rPr dirty="0" sz="1700" spc="-25" b="1">
                <a:solidFill>
                  <a:srgbClr val="843B0C"/>
                </a:solidFill>
                <a:latin typeface="Calibri"/>
                <a:cs typeface="Calibri"/>
              </a:rPr>
              <a:t>2.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17385" y="3119755"/>
            <a:ext cx="5534025" cy="3257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58750" marR="586740">
              <a:lnSpc>
                <a:spcPct val="100000"/>
              </a:lnSpc>
              <a:spcBef>
                <a:spcPts val="105"/>
              </a:spcBef>
            </a:pPr>
            <a:r>
              <a:rPr dirty="0" sz="1700" b="1">
                <a:solidFill>
                  <a:srgbClr val="006FC0"/>
                </a:solidFill>
                <a:latin typeface="Calibri"/>
                <a:cs typeface="Calibri"/>
              </a:rPr>
              <a:t>Controllers</a:t>
            </a:r>
            <a:r>
              <a:rPr dirty="0" sz="1700" spc="-2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which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are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several</a:t>
            </a:r>
            <a:r>
              <a:rPr dirty="0" sz="1700" spc="-10">
                <a:latin typeface="Calibri"/>
                <a:cs typeface="Calibri"/>
              </a:rPr>
              <a:t> higher-</a:t>
            </a:r>
            <a:r>
              <a:rPr dirty="0" sz="1700">
                <a:latin typeface="Calibri"/>
                <a:cs typeface="Calibri"/>
              </a:rPr>
              <a:t>level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abstractions </a:t>
            </a:r>
            <a:r>
              <a:rPr dirty="0" sz="1700">
                <a:latin typeface="Calibri"/>
                <a:cs typeface="Calibri"/>
              </a:rPr>
              <a:t>Basic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K8S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objects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include</a:t>
            </a:r>
            <a:endParaRPr sz="1700">
              <a:latin typeface="Calibri"/>
              <a:cs typeface="Calibri"/>
            </a:endParaRPr>
          </a:p>
          <a:p>
            <a:pPr algn="just" marL="355600" marR="6350" indent="-342900">
              <a:lnSpc>
                <a:spcPts val="1839"/>
              </a:lnSpc>
              <a:spcBef>
                <a:spcPts val="620"/>
              </a:spcBef>
              <a:buClr>
                <a:srgbClr val="843B0C"/>
              </a:buClr>
              <a:buFont typeface="Wingdings"/>
              <a:buChar char=""/>
              <a:tabLst>
                <a:tab pos="355600" algn="l"/>
              </a:tabLst>
            </a:pPr>
            <a:r>
              <a:rPr dirty="0" sz="1700" b="1">
                <a:latin typeface="Calibri"/>
                <a:cs typeface="Calibri"/>
              </a:rPr>
              <a:t>ReplicaSet</a:t>
            </a:r>
            <a:r>
              <a:rPr dirty="0" sz="1700" spc="395" b="1">
                <a:latin typeface="Calibri"/>
                <a:cs typeface="Calibri"/>
              </a:rPr>
              <a:t> </a:t>
            </a:r>
            <a:r>
              <a:rPr dirty="0" sz="1700" b="1">
                <a:latin typeface="Calibri"/>
                <a:cs typeface="Calibri"/>
              </a:rPr>
              <a:t>(RS).</a:t>
            </a:r>
            <a:r>
              <a:rPr dirty="0" sz="1700" spc="420" b="1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Ensures</a:t>
            </a:r>
            <a:r>
              <a:rPr dirty="0" sz="1700" spc="4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4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desired</a:t>
            </a:r>
            <a:r>
              <a:rPr dirty="0" sz="1700" spc="4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amount</a:t>
            </a:r>
            <a:r>
              <a:rPr dirty="0" sz="1700" spc="4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4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pod</a:t>
            </a:r>
            <a:r>
              <a:rPr dirty="0" sz="1700" spc="425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is </a:t>
            </a:r>
            <a:r>
              <a:rPr dirty="0" sz="1700">
                <a:latin typeface="Calibri"/>
                <a:cs typeface="Calibri"/>
              </a:rPr>
              <a:t>what’s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running.</a:t>
            </a:r>
            <a:endParaRPr sz="1700">
              <a:latin typeface="Calibri"/>
              <a:cs typeface="Calibri"/>
            </a:endParaRPr>
          </a:p>
          <a:p>
            <a:pPr algn="just" marL="354965" indent="-342265">
              <a:lnSpc>
                <a:spcPct val="100000"/>
              </a:lnSpc>
              <a:spcBef>
                <a:spcPts val="365"/>
              </a:spcBef>
              <a:buClr>
                <a:srgbClr val="843B0C"/>
              </a:buClr>
              <a:buFont typeface="Wingdings"/>
              <a:buChar char=""/>
              <a:tabLst>
                <a:tab pos="354965" algn="l"/>
              </a:tabLst>
            </a:pPr>
            <a:r>
              <a:rPr dirty="0" sz="1700" b="1">
                <a:latin typeface="Calibri"/>
                <a:cs typeface="Calibri"/>
              </a:rPr>
              <a:t>Deployment.</a:t>
            </a:r>
            <a:r>
              <a:rPr dirty="0" sz="1700" spc="-35" b="1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Offers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declarative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updates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for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pods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RS.</a:t>
            </a:r>
            <a:endParaRPr sz="1700">
              <a:latin typeface="Calibri"/>
              <a:cs typeface="Calibri"/>
            </a:endParaRPr>
          </a:p>
          <a:p>
            <a:pPr algn="just" marL="355600" marR="5715" indent="-342900">
              <a:lnSpc>
                <a:spcPts val="1839"/>
              </a:lnSpc>
              <a:spcBef>
                <a:spcPts val="625"/>
              </a:spcBef>
              <a:buClr>
                <a:srgbClr val="843B0C"/>
              </a:buClr>
              <a:buFont typeface="Wingdings"/>
              <a:buChar char=""/>
              <a:tabLst>
                <a:tab pos="355600" algn="l"/>
              </a:tabLst>
            </a:pPr>
            <a:r>
              <a:rPr dirty="0" sz="1700" b="1">
                <a:latin typeface="Calibri"/>
                <a:cs typeface="Calibri"/>
              </a:rPr>
              <a:t>StatefulSet.</a:t>
            </a:r>
            <a:r>
              <a:rPr dirty="0" sz="1700" spc="155" b="1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1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workload</a:t>
            </a:r>
            <a:r>
              <a:rPr dirty="0" sz="1700" spc="16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API</a:t>
            </a:r>
            <a:r>
              <a:rPr dirty="0" sz="1700" spc="1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object</a:t>
            </a:r>
            <a:r>
              <a:rPr dirty="0" sz="1700" spc="1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that</a:t>
            </a:r>
            <a:r>
              <a:rPr dirty="0" sz="1700" spc="16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manages</a:t>
            </a:r>
            <a:r>
              <a:rPr dirty="0" sz="1700" spc="15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stateful </a:t>
            </a:r>
            <a:r>
              <a:rPr dirty="0" sz="1700">
                <a:latin typeface="Calibri"/>
                <a:cs typeface="Calibri"/>
              </a:rPr>
              <a:t>applications,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such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as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databases.</a:t>
            </a:r>
            <a:endParaRPr sz="1700">
              <a:latin typeface="Calibri"/>
              <a:cs typeface="Calibri"/>
            </a:endParaRPr>
          </a:p>
          <a:p>
            <a:pPr algn="just" marL="355600" marR="5080" indent="-342900">
              <a:lnSpc>
                <a:spcPts val="1839"/>
              </a:lnSpc>
              <a:spcBef>
                <a:spcPts val="595"/>
              </a:spcBef>
              <a:buClr>
                <a:srgbClr val="843B0C"/>
              </a:buClr>
              <a:buFont typeface="Wingdings"/>
              <a:buChar char=""/>
              <a:tabLst>
                <a:tab pos="355600" algn="l"/>
              </a:tabLst>
            </a:pPr>
            <a:r>
              <a:rPr dirty="0" sz="1700" b="1">
                <a:latin typeface="Calibri"/>
                <a:cs typeface="Calibri"/>
              </a:rPr>
              <a:t>DaemonSet.</a:t>
            </a:r>
            <a:r>
              <a:rPr dirty="0" sz="1700" spc="95" b="1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Ensures</a:t>
            </a:r>
            <a:r>
              <a:rPr dirty="0" sz="1700" spc="10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that</a:t>
            </a:r>
            <a:r>
              <a:rPr dirty="0" sz="1700" spc="9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all</a:t>
            </a:r>
            <a:r>
              <a:rPr dirty="0" sz="1700" spc="10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or</a:t>
            </a:r>
            <a:r>
              <a:rPr dirty="0" sz="1700" spc="9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some</a:t>
            </a:r>
            <a:r>
              <a:rPr dirty="0" sz="1700" spc="10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worker</a:t>
            </a:r>
            <a:r>
              <a:rPr dirty="0" sz="1700" spc="9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nodes</a:t>
            </a:r>
            <a:r>
              <a:rPr dirty="0" sz="1700" spc="9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run</a:t>
            </a:r>
            <a:r>
              <a:rPr dirty="0" sz="1700" spc="105">
                <a:latin typeface="Calibri"/>
                <a:cs typeface="Calibri"/>
              </a:rPr>
              <a:t> </a:t>
            </a:r>
            <a:r>
              <a:rPr dirty="0" sz="1700" spc="-50">
                <a:latin typeface="Calibri"/>
                <a:cs typeface="Calibri"/>
              </a:rPr>
              <a:t>a </a:t>
            </a:r>
            <a:r>
              <a:rPr dirty="0" sz="1700">
                <a:latin typeface="Calibri"/>
                <a:cs typeface="Calibri"/>
              </a:rPr>
              <a:t>copy</a:t>
            </a:r>
            <a:r>
              <a:rPr dirty="0" sz="1700" spc="1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1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1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pod.</a:t>
            </a:r>
            <a:r>
              <a:rPr dirty="0" sz="1700" spc="1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This</a:t>
            </a:r>
            <a:r>
              <a:rPr dirty="0" sz="1700" spc="1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is</a:t>
            </a:r>
            <a:r>
              <a:rPr dirty="0" sz="1700" spc="1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useful</a:t>
            </a:r>
            <a:r>
              <a:rPr dirty="0" sz="1700" spc="1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for</a:t>
            </a:r>
            <a:r>
              <a:rPr dirty="0" sz="1700" spc="1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daemon</a:t>
            </a:r>
            <a:r>
              <a:rPr dirty="0" sz="1700" spc="1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applications</a:t>
            </a:r>
            <a:r>
              <a:rPr dirty="0" sz="1700" spc="150">
                <a:latin typeface="Calibri"/>
                <a:cs typeface="Calibri"/>
              </a:rPr>
              <a:t> </a:t>
            </a:r>
            <a:r>
              <a:rPr dirty="0" sz="1700" spc="-20">
                <a:latin typeface="Calibri"/>
                <a:cs typeface="Calibri"/>
              </a:rPr>
              <a:t>like </a:t>
            </a:r>
            <a:r>
              <a:rPr dirty="0" sz="1700" spc="-10">
                <a:latin typeface="Calibri"/>
                <a:cs typeface="Calibri"/>
              </a:rPr>
              <a:t>Fluentd.</a:t>
            </a:r>
            <a:endParaRPr sz="1700">
              <a:latin typeface="Calibri"/>
              <a:cs typeface="Calibri"/>
            </a:endParaRPr>
          </a:p>
          <a:p>
            <a:pPr algn="just" marL="355600" marR="5715" indent="-342900">
              <a:lnSpc>
                <a:spcPts val="1839"/>
              </a:lnSpc>
              <a:spcBef>
                <a:spcPts val="590"/>
              </a:spcBef>
              <a:buClr>
                <a:srgbClr val="843B0C"/>
              </a:buClr>
              <a:buFont typeface="Wingdings"/>
              <a:buChar char=""/>
              <a:tabLst>
                <a:tab pos="355600" algn="l"/>
              </a:tabLst>
            </a:pPr>
            <a:r>
              <a:rPr dirty="0" sz="1700" b="1">
                <a:latin typeface="Calibri"/>
                <a:cs typeface="Calibri"/>
              </a:rPr>
              <a:t>Job.</a:t>
            </a:r>
            <a:r>
              <a:rPr dirty="0" sz="1700" spc="215" b="1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Creates</a:t>
            </a:r>
            <a:r>
              <a:rPr dirty="0" sz="1700" spc="2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one</a:t>
            </a:r>
            <a:r>
              <a:rPr dirty="0" sz="1700" spc="2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or</a:t>
            </a:r>
            <a:r>
              <a:rPr dirty="0" sz="1700" spc="2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more</a:t>
            </a:r>
            <a:r>
              <a:rPr dirty="0" sz="1700" spc="2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pods,</a:t>
            </a:r>
            <a:r>
              <a:rPr dirty="0" sz="1700" spc="2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runs</a:t>
            </a:r>
            <a:r>
              <a:rPr dirty="0" sz="1700" spc="2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2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certain</a:t>
            </a:r>
            <a:r>
              <a:rPr dirty="0" sz="1700" spc="2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task(s)</a:t>
            </a:r>
            <a:r>
              <a:rPr dirty="0" sz="1700" spc="220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to </a:t>
            </a:r>
            <a:r>
              <a:rPr dirty="0" sz="1700">
                <a:latin typeface="Calibri"/>
                <a:cs typeface="Calibri"/>
              </a:rPr>
              <a:t>completion,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then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deletes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pod(s)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2541" y="6565798"/>
            <a:ext cx="378460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Arial"/>
                <a:cs typeface="Arial"/>
                <a:hlinkClick r:id="rId4"/>
              </a:rPr>
              <a:t>https://www.bmc.com/blogs/what-is-kubernetes/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00164" y="6578600"/>
            <a:ext cx="506539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4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3"/>
              </a:rPr>
              <a:t>http://kubernetes.io/docs/concepts/overview/what-</a:t>
            </a:r>
            <a:r>
              <a:rPr dirty="0" u="sng" sz="14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3"/>
              </a:rPr>
              <a:t>is-</a:t>
            </a:r>
            <a:r>
              <a:rPr dirty="0" u="sng" sz="14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3"/>
              </a:rPr>
              <a:t>kubernetes/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40601" y="728751"/>
            <a:ext cx="5833381" cy="6112120"/>
          </a:xfrm>
          <a:prstGeom prst="rect">
            <a:avLst/>
          </a:prstGeom>
        </p:spPr>
      </p:pic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0325" rIns="0" bIns="0" rtlCol="0" vert="horz">
            <a:spAutoFit/>
          </a:bodyPr>
          <a:lstStyle/>
          <a:p>
            <a:pPr marL="210820">
              <a:lnSpc>
                <a:spcPct val="100000"/>
              </a:lnSpc>
              <a:spcBef>
                <a:spcPts val="475"/>
              </a:spcBef>
            </a:pPr>
            <a:r>
              <a:rPr dirty="0"/>
              <a:t>CLOUD</a:t>
            </a:r>
            <a:r>
              <a:rPr dirty="0" spc="-15"/>
              <a:t> </a:t>
            </a:r>
            <a:r>
              <a:rPr dirty="0" spc="-10"/>
              <a:t>COMPUTING</a:t>
            </a:r>
          </a:p>
          <a:p>
            <a:pPr marL="201295">
              <a:lnSpc>
                <a:spcPct val="100000"/>
              </a:lnSpc>
              <a:spcBef>
                <a:spcPts val="380"/>
              </a:spcBef>
            </a:pP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Kubernetes</a:t>
            </a:r>
            <a:r>
              <a:rPr dirty="0" spc="-4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Building</a:t>
            </a:r>
            <a:r>
              <a:rPr dirty="0" spc="-8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Blocks</a:t>
            </a:r>
            <a:r>
              <a:rPr dirty="0" spc="-4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:</a:t>
            </a:r>
            <a:r>
              <a:rPr dirty="0" spc="58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25">
                <a:solidFill>
                  <a:srgbClr val="006FC0"/>
                </a:solidFill>
                <a:latin typeface="Arial"/>
                <a:cs typeface="Arial"/>
              </a:rPr>
              <a:t>Pod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50595" y="1428089"/>
            <a:ext cx="11516360" cy="4796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2110" marR="373380" indent="-360045">
              <a:lnSpc>
                <a:spcPct val="120000"/>
              </a:lnSpc>
              <a:spcBef>
                <a:spcPts val="100"/>
              </a:spcBef>
              <a:buClr>
                <a:srgbClr val="843B0C"/>
              </a:buClr>
              <a:buFont typeface="Wingdings"/>
              <a:buChar char=""/>
              <a:tabLst>
                <a:tab pos="372110" algn="l"/>
              </a:tabLst>
            </a:pPr>
            <a:r>
              <a:rPr dirty="0" sz="2000">
                <a:latin typeface="Calibri"/>
                <a:cs typeface="Calibri"/>
              </a:rPr>
              <a:t>Pod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single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group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containers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share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storage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network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within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Kubernetes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configuration, </a:t>
            </a:r>
            <a:r>
              <a:rPr dirty="0" sz="2000">
                <a:latin typeface="Calibri"/>
                <a:cs typeface="Calibri"/>
              </a:rPr>
              <a:t>telling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those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containers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how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behave.</a:t>
            </a:r>
            <a:endParaRPr sz="2000">
              <a:latin typeface="Calibri"/>
              <a:cs typeface="Calibri"/>
            </a:endParaRPr>
          </a:p>
          <a:p>
            <a:pPr marL="372110" marR="574675" indent="-360045">
              <a:lnSpc>
                <a:spcPct val="120100"/>
              </a:lnSpc>
              <a:spcBef>
                <a:spcPts val="595"/>
              </a:spcBef>
              <a:buClr>
                <a:srgbClr val="843B0C"/>
              </a:buClr>
              <a:buFont typeface="Wingdings"/>
              <a:buChar char=""/>
              <a:tabLst>
                <a:tab pos="372110" algn="l"/>
              </a:tabLst>
            </a:pPr>
            <a:r>
              <a:rPr dirty="0" sz="2000">
                <a:latin typeface="Calibri"/>
                <a:cs typeface="Calibri"/>
              </a:rPr>
              <a:t>These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group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containers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running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microservices,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elastic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application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are </a:t>
            </a:r>
            <a:r>
              <a:rPr dirty="0" sz="2000">
                <a:latin typeface="Calibri"/>
                <a:cs typeface="Calibri"/>
              </a:rPr>
              <a:t>communicating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each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other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(typically,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non-containerized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setup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run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together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server).</a:t>
            </a:r>
            <a:endParaRPr sz="2000">
              <a:latin typeface="Calibri"/>
              <a:cs typeface="Calibri"/>
            </a:endParaRPr>
          </a:p>
          <a:p>
            <a:pPr marL="372110" marR="426084" indent="-360045">
              <a:lnSpc>
                <a:spcPct val="120000"/>
              </a:lnSpc>
              <a:spcBef>
                <a:spcPts val="600"/>
              </a:spcBef>
              <a:buClr>
                <a:srgbClr val="843B0C"/>
              </a:buClr>
              <a:buFont typeface="Wingdings"/>
              <a:buChar char=""/>
              <a:tabLst>
                <a:tab pos="372110" algn="l"/>
              </a:tabLst>
            </a:pPr>
            <a:r>
              <a:rPr dirty="0" sz="2000">
                <a:latin typeface="Calibri"/>
                <a:cs typeface="Calibri"/>
              </a:rPr>
              <a:t>Pods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share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storage,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Linux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namespaces,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Cgroups,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IP,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port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address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space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communicate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each </a:t>
            </a:r>
            <a:r>
              <a:rPr dirty="0" sz="2000">
                <a:latin typeface="Calibri"/>
                <a:cs typeface="Calibri"/>
              </a:rPr>
              <a:t>other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over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localhost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networking.</a:t>
            </a:r>
            <a:endParaRPr sz="2000">
              <a:latin typeface="Calibri"/>
              <a:cs typeface="Calibri"/>
            </a:endParaRPr>
          </a:p>
          <a:p>
            <a:pPr marL="372110" marR="5080" indent="-360045">
              <a:lnSpc>
                <a:spcPct val="120100"/>
              </a:lnSpc>
              <a:spcBef>
                <a:spcPts val="600"/>
              </a:spcBef>
              <a:buClr>
                <a:srgbClr val="843B0C"/>
              </a:buClr>
              <a:buFont typeface="Wingdings"/>
              <a:buChar char=""/>
              <a:tabLst>
                <a:tab pos="372110" algn="l"/>
              </a:tabLst>
            </a:pPr>
            <a:r>
              <a:rPr dirty="0" sz="2000">
                <a:latin typeface="Calibri"/>
                <a:cs typeface="Calibri"/>
              </a:rPr>
              <a:t>Each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pod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assigned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IP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address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accessed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other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pods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within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cluster.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Applications </a:t>
            </a:r>
            <a:r>
              <a:rPr dirty="0" sz="2000">
                <a:latin typeface="Calibri"/>
                <a:cs typeface="Calibri"/>
              </a:rPr>
              <a:t>within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pod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have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access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shared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volumes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–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helpful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when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need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persist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beyond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lifetime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pod.</a:t>
            </a:r>
            <a:endParaRPr sz="20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1080"/>
              </a:spcBef>
              <a:buClr>
                <a:srgbClr val="843B0C"/>
              </a:buClr>
              <a:buFont typeface="Wingdings"/>
              <a:buChar char=""/>
              <a:tabLst>
                <a:tab pos="372110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containers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co-</a:t>
            </a:r>
            <a:r>
              <a:rPr dirty="0" sz="2000">
                <a:latin typeface="Calibri"/>
                <a:cs typeface="Calibri"/>
              </a:rPr>
              <a:t>located,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hence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share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resources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always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scheduled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together.</a:t>
            </a:r>
            <a:endParaRPr sz="2000">
              <a:latin typeface="Calibri"/>
              <a:cs typeface="Calibri"/>
            </a:endParaRPr>
          </a:p>
          <a:p>
            <a:pPr marL="372110" marR="337820" indent="-360045">
              <a:lnSpc>
                <a:spcPct val="120000"/>
              </a:lnSpc>
              <a:spcBef>
                <a:spcPts val="600"/>
              </a:spcBef>
              <a:buClr>
                <a:srgbClr val="843B0C"/>
              </a:buClr>
              <a:buFont typeface="Wingdings"/>
              <a:buChar char=""/>
              <a:tabLst>
                <a:tab pos="372110" algn="l"/>
              </a:tabLst>
            </a:pPr>
            <a:r>
              <a:rPr dirty="0" sz="2000">
                <a:latin typeface="Calibri"/>
                <a:cs typeface="Calibri"/>
              </a:rPr>
              <a:t>Pods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intended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live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long.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created,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destroyed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re-</a:t>
            </a:r>
            <a:r>
              <a:rPr dirty="0" sz="2000">
                <a:latin typeface="Calibri"/>
                <a:cs typeface="Calibri"/>
              </a:rPr>
              <a:t>created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demand,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based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>
                <a:latin typeface="Calibri"/>
                <a:cs typeface="Calibri"/>
              </a:rPr>
              <a:t>state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server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service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itself.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0325" rIns="0" bIns="0" rtlCol="0" vert="horz">
            <a:spAutoFit/>
          </a:bodyPr>
          <a:lstStyle/>
          <a:p>
            <a:pPr marL="210820">
              <a:lnSpc>
                <a:spcPct val="100000"/>
              </a:lnSpc>
              <a:spcBef>
                <a:spcPts val="475"/>
              </a:spcBef>
            </a:pPr>
            <a:r>
              <a:rPr dirty="0"/>
              <a:t>CLOUD</a:t>
            </a:r>
            <a:r>
              <a:rPr dirty="0" spc="-15"/>
              <a:t> </a:t>
            </a:r>
            <a:r>
              <a:rPr dirty="0" spc="-10"/>
              <a:t>COMPUTING</a:t>
            </a:r>
          </a:p>
          <a:p>
            <a:pPr marL="201295">
              <a:lnSpc>
                <a:spcPct val="100000"/>
              </a:lnSpc>
              <a:spcBef>
                <a:spcPts val="380"/>
              </a:spcBef>
            </a:pP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Kubernetes</a:t>
            </a:r>
            <a:r>
              <a:rPr dirty="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Building</a:t>
            </a:r>
            <a:r>
              <a:rPr dirty="0" spc="-7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Blocks</a:t>
            </a:r>
            <a:r>
              <a:rPr dirty="0" spc="-3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:</a:t>
            </a:r>
            <a:r>
              <a:rPr dirty="0" spc="59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6FC0"/>
                </a:solidFill>
                <a:latin typeface="Arial"/>
                <a:cs typeface="Arial"/>
              </a:rPr>
              <a:t>Pod</a:t>
            </a:r>
            <a:r>
              <a:rPr dirty="0" spc="-6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006FC0"/>
                </a:solidFill>
                <a:latin typeface="Arial"/>
                <a:cs typeface="Arial"/>
              </a:rPr>
              <a:t>(Cont)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78688" y="1308963"/>
            <a:ext cx="11673205" cy="5509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2110" marR="83820" indent="-360045">
              <a:lnSpc>
                <a:spcPct val="120000"/>
              </a:lnSpc>
              <a:spcBef>
                <a:spcPts val="100"/>
              </a:spcBef>
              <a:buClr>
                <a:srgbClr val="843B0C"/>
              </a:buClr>
              <a:buFont typeface="Wingdings"/>
              <a:buChar char=""/>
              <a:tabLst>
                <a:tab pos="372110" algn="l"/>
              </a:tabLst>
            </a:pP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Pod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scheduled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assigned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node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scheduler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kubelet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starts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creating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containers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that </a:t>
            </a:r>
            <a:r>
              <a:rPr dirty="0" sz="2000">
                <a:latin typeface="Calibri"/>
                <a:cs typeface="Calibri"/>
              </a:rPr>
              <a:t>Pod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using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container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runtime.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There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three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possible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container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states: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Waiting,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Running,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Terminated.</a:t>
            </a:r>
            <a:endParaRPr sz="2000">
              <a:latin typeface="Calibri"/>
              <a:cs typeface="Calibri"/>
            </a:endParaRPr>
          </a:p>
          <a:p>
            <a:pPr marL="372110" marR="335915" indent="-360045">
              <a:lnSpc>
                <a:spcPct val="120000"/>
              </a:lnSpc>
              <a:spcBef>
                <a:spcPts val="600"/>
              </a:spcBef>
              <a:buClr>
                <a:srgbClr val="843B0C"/>
              </a:buClr>
              <a:buFont typeface="Wingdings"/>
              <a:buChar char=""/>
              <a:tabLst>
                <a:tab pos="372110" algn="l"/>
              </a:tabLst>
            </a:pPr>
            <a:r>
              <a:rPr dirty="0" sz="2000">
                <a:latin typeface="Calibri"/>
                <a:cs typeface="Calibri"/>
              </a:rPr>
              <a:t>Pods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follow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defined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lifecycle,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starting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Pending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phase,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moving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through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Running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if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least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its </a:t>
            </a:r>
            <a:r>
              <a:rPr dirty="0" sz="2000">
                <a:latin typeface="Calibri"/>
                <a:cs typeface="Calibri"/>
              </a:rPr>
              <a:t>primary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containers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starts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OK,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through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either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Succeeded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Failed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phases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depending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on </a:t>
            </a:r>
            <a:r>
              <a:rPr dirty="0" sz="2000">
                <a:latin typeface="Calibri"/>
                <a:cs typeface="Calibri"/>
              </a:rPr>
              <a:t>whether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any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container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Pod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terminated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failure.</a:t>
            </a:r>
            <a:endParaRPr sz="20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1080"/>
              </a:spcBef>
              <a:buClr>
                <a:srgbClr val="843B0C"/>
              </a:buClr>
              <a:buFont typeface="Wingdings"/>
              <a:buChar char=""/>
              <a:tabLst>
                <a:tab pos="372110" algn="l"/>
              </a:tabLst>
            </a:pPr>
            <a:r>
              <a:rPr dirty="0" sz="2000">
                <a:latin typeface="Calibri"/>
                <a:cs typeface="Calibri"/>
              </a:rPr>
              <a:t>Pods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only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scheduled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once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their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lifetime.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Once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Pod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scheduled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(assigned)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Node,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Pod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runs</a:t>
            </a:r>
            <a:endParaRPr sz="2000">
              <a:latin typeface="Calibri"/>
              <a:cs typeface="Calibri"/>
            </a:endParaRPr>
          </a:p>
          <a:p>
            <a:pPr marL="372110">
              <a:lnSpc>
                <a:spcPct val="100000"/>
              </a:lnSpc>
              <a:spcBef>
                <a:spcPts val="480"/>
              </a:spcBef>
            </a:pP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Node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until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stops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terminated</a:t>
            </a:r>
            <a:endParaRPr sz="2000">
              <a:latin typeface="Calibri"/>
              <a:cs typeface="Calibri"/>
            </a:endParaRPr>
          </a:p>
          <a:p>
            <a:pPr marL="372110" marR="146685" indent="-360045">
              <a:lnSpc>
                <a:spcPct val="120100"/>
              </a:lnSpc>
              <a:spcBef>
                <a:spcPts val="600"/>
              </a:spcBef>
              <a:buClr>
                <a:srgbClr val="843B0C"/>
              </a:buClr>
              <a:buFont typeface="Wingdings"/>
              <a:buChar char=""/>
              <a:tabLst>
                <a:tab pos="372110" algn="l"/>
              </a:tabLst>
            </a:pPr>
            <a:r>
              <a:rPr dirty="0" sz="2000">
                <a:latin typeface="Calibri"/>
                <a:cs typeface="Calibri"/>
              </a:rPr>
              <a:t>Whilst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Pod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running,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kubelet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able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restart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containers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handle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some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kind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faults.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Within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Pod, </a:t>
            </a:r>
            <a:r>
              <a:rPr dirty="0" sz="2000">
                <a:latin typeface="Calibri"/>
                <a:cs typeface="Calibri"/>
              </a:rPr>
              <a:t>Kubernetes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tracks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different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container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states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determines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what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action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take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make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Pod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healthy again.</a:t>
            </a:r>
            <a:endParaRPr sz="2000">
              <a:latin typeface="Calibri"/>
              <a:cs typeface="Calibri"/>
            </a:endParaRPr>
          </a:p>
          <a:p>
            <a:pPr marL="372110" marR="474345" indent="-360045">
              <a:lnSpc>
                <a:spcPct val="120000"/>
              </a:lnSpc>
              <a:spcBef>
                <a:spcPts val="600"/>
              </a:spcBef>
              <a:buClr>
                <a:srgbClr val="843B0C"/>
              </a:buClr>
              <a:buFont typeface="Wingdings"/>
              <a:buChar char=""/>
              <a:tabLst>
                <a:tab pos="372110" algn="l"/>
              </a:tabLst>
            </a:pPr>
            <a:r>
              <a:rPr dirty="0" sz="2000">
                <a:latin typeface="Calibri"/>
                <a:cs typeface="Calibri"/>
              </a:rPr>
              <a:t>Volumes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exists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long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specific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Pod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(with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exact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UID)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exists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unless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persistent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volume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for </a:t>
            </a:r>
            <a:r>
              <a:rPr dirty="0" sz="2000">
                <a:latin typeface="Calibri"/>
                <a:cs typeface="Calibri"/>
              </a:rPr>
              <a:t>shared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storage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between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containers</a:t>
            </a:r>
            <a:endParaRPr sz="20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1080"/>
              </a:spcBef>
              <a:buClr>
                <a:srgbClr val="843B0C"/>
              </a:buClr>
              <a:buFont typeface="Wingdings"/>
              <a:buChar char=""/>
              <a:tabLst>
                <a:tab pos="372110" algn="l"/>
              </a:tabLst>
            </a:pPr>
            <a:r>
              <a:rPr dirty="0" sz="2000">
                <a:latin typeface="Calibri"/>
                <a:cs typeface="Calibri"/>
              </a:rPr>
              <a:t>Pods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not,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themselves, </a:t>
            </a:r>
            <a:r>
              <a:rPr dirty="0" sz="2000" spc="-10">
                <a:latin typeface="Calibri"/>
                <a:cs typeface="Calibri"/>
              </a:rPr>
              <a:t>self-</a:t>
            </a:r>
            <a:r>
              <a:rPr dirty="0" sz="2000">
                <a:latin typeface="Calibri"/>
                <a:cs typeface="Calibri"/>
              </a:rPr>
              <a:t>heal.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Pod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scheduled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node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fails,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Pod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deleted;</a:t>
            </a:r>
            <a:endParaRPr sz="2000">
              <a:latin typeface="Calibri"/>
              <a:cs typeface="Calibri"/>
            </a:endParaRPr>
          </a:p>
          <a:p>
            <a:pPr marL="6511925">
              <a:lnSpc>
                <a:spcPct val="100000"/>
              </a:lnSpc>
              <a:spcBef>
                <a:spcPts val="1050"/>
              </a:spcBef>
            </a:pPr>
            <a:r>
              <a:rPr dirty="0" sz="1400" spc="-10">
                <a:latin typeface="Arial"/>
                <a:cs typeface="Arial"/>
                <a:hlinkClick r:id="rId2"/>
              </a:rPr>
              <a:t>https://kubernetes.io/docs/concepts/workloads/pods/pod-lifecycle/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0325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475"/>
              </a:spcBef>
            </a:pPr>
            <a:r>
              <a:rPr dirty="0"/>
              <a:t>CLOUD</a:t>
            </a:r>
            <a:r>
              <a:rPr dirty="0" spc="-15"/>
              <a:t> </a:t>
            </a:r>
            <a:r>
              <a:rPr dirty="0" spc="-10"/>
              <a:t>COMPUTING</a:t>
            </a:r>
          </a:p>
          <a:p>
            <a:pPr marL="201295">
              <a:lnSpc>
                <a:spcPct val="100000"/>
              </a:lnSpc>
              <a:spcBef>
                <a:spcPts val="380"/>
              </a:spcBef>
            </a:pP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Kubernetes</a:t>
            </a:r>
            <a:r>
              <a:rPr dirty="0" spc="-3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C55A11"/>
                </a:solidFill>
                <a:latin typeface="Arial"/>
                <a:cs typeface="Arial"/>
              </a:rPr>
              <a:t>-</a:t>
            </a:r>
            <a:r>
              <a:rPr dirty="0" spc="-5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Service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40842" y="1304695"/>
            <a:ext cx="11381740" cy="5180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5720">
              <a:lnSpc>
                <a:spcPct val="120000"/>
              </a:lnSpc>
              <a:spcBef>
                <a:spcPts val="100"/>
              </a:spcBef>
            </a:pPr>
            <a:r>
              <a:rPr dirty="0" sz="2200">
                <a:latin typeface="Calibri"/>
                <a:cs typeface="Calibri"/>
              </a:rPr>
              <a:t>Services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coupling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set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pods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policy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by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access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them.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Services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used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expose </a:t>
            </a:r>
            <a:r>
              <a:rPr dirty="0" sz="2200">
                <a:latin typeface="Calibri"/>
                <a:cs typeface="Calibri"/>
              </a:rPr>
              <a:t>containerised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applications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originations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from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outside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cluster</a:t>
            </a:r>
            <a:endParaRPr sz="2200">
              <a:latin typeface="Calibri"/>
              <a:cs typeface="Calibri"/>
            </a:endParaRPr>
          </a:p>
          <a:p>
            <a:pPr marL="372110" marR="5080" indent="-360045">
              <a:lnSpc>
                <a:spcPct val="100000"/>
              </a:lnSpc>
              <a:spcBef>
                <a:spcPts val="1215"/>
              </a:spcBef>
              <a:buClr>
                <a:srgbClr val="843B0C"/>
              </a:buClr>
              <a:buFont typeface="Wingdings"/>
              <a:buChar char=""/>
              <a:tabLst>
                <a:tab pos="372110" algn="l"/>
              </a:tabLst>
            </a:pPr>
            <a:r>
              <a:rPr dirty="0" sz="2200">
                <a:latin typeface="Calibri"/>
                <a:cs typeface="Calibri"/>
              </a:rPr>
              <a:t>Pods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Kubernetes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deployment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regularly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created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destroyed,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causing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their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IP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addresses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change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constantly.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will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create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discoverability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issues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deployed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application,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making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it </a:t>
            </a:r>
            <a:r>
              <a:rPr dirty="0" sz="2200">
                <a:latin typeface="Calibri"/>
                <a:cs typeface="Calibri"/>
              </a:rPr>
              <a:t>difficult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application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frontend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identify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pods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connect.</a:t>
            </a:r>
            <a:endParaRPr sz="2200">
              <a:latin typeface="Calibri"/>
              <a:cs typeface="Calibri"/>
            </a:endParaRPr>
          </a:p>
          <a:p>
            <a:pPr marL="372110" marR="341630" indent="-360045">
              <a:lnSpc>
                <a:spcPct val="100000"/>
              </a:lnSpc>
              <a:spcBef>
                <a:spcPts val="994"/>
              </a:spcBef>
              <a:buClr>
                <a:srgbClr val="843B0C"/>
              </a:buClr>
              <a:buFont typeface="Wingdings"/>
              <a:buChar char=""/>
              <a:tabLst>
                <a:tab pos="372110" algn="l"/>
              </a:tabLst>
            </a:pP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address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K8s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introduced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concept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service,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abstraction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top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 spc="-50">
                <a:latin typeface="Calibri"/>
                <a:cs typeface="Calibri"/>
              </a:rPr>
              <a:t>a </a:t>
            </a:r>
            <a:r>
              <a:rPr dirty="0" sz="2200">
                <a:latin typeface="Calibri"/>
                <a:cs typeface="Calibri"/>
              </a:rPr>
              <a:t>number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pods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Virtual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IP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address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assigned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exposed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used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by</a:t>
            </a:r>
            <a:r>
              <a:rPr dirty="0" sz="2200" spc="-25">
                <a:latin typeface="Calibri"/>
                <a:cs typeface="Calibri"/>
              </a:rPr>
              <a:t> the </a:t>
            </a:r>
            <a:r>
              <a:rPr dirty="0" sz="2200">
                <a:latin typeface="Calibri"/>
                <a:cs typeface="Calibri"/>
              </a:rPr>
              <a:t>service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proxies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running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top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it.</a:t>
            </a:r>
            <a:endParaRPr sz="22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1010"/>
              </a:spcBef>
              <a:buClr>
                <a:srgbClr val="843B0C"/>
              </a:buClr>
              <a:buFont typeface="Wingdings"/>
              <a:buChar char=""/>
              <a:tabLst>
                <a:tab pos="372110" algn="l"/>
              </a:tabLst>
            </a:pPr>
            <a:r>
              <a:rPr dirty="0" sz="2200">
                <a:latin typeface="Calibri"/>
                <a:cs typeface="Calibri"/>
              </a:rPr>
              <a:t>Other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services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communicate</a:t>
            </a:r>
            <a:r>
              <a:rPr dirty="0" sz="2200">
                <a:latin typeface="Calibri"/>
                <a:cs typeface="Calibri"/>
              </a:rPr>
              <a:t> with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service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via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Virtual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IP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address,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service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keeps</a:t>
            </a:r>
            <a:endParaRPr sz="2200">
              <a:latin typeface="Calibri"/>
              <a:cs typeface="Calibri"/>
            </a:endParaRPr>
          </a:p>
          <a:p>
            <a:pPr marL="372110">
              <a:lnSpc>
                <a:spcPct val="100000"/>
              </a:lnSpc>
            </a:pPr>
            <a:r>
              <a:rPr dirty="0" sz="2200">
                <a:latin typeface="Calibri"/>
                <a:cs typeface="Calibri"/>
              </a:rPr>
              <a:t>track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changes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IP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addresses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DNS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names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pods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map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them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virtual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IP.</a:t>
            </a:r>
            <a:endParaRPr sz="22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1000"/>
              </a:spcBef>
              <a:buClr>
                <a:srgbClr val="843B0C"/>
              </a:buClr>
              <a:buFont typeface="Wingdings"/>
              <a:buChar char=""/>
              <a:tabLst>
                <a:tab pos="372110" algn="l"/>
              </a:tabLst>
            </a:pP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Kubernetes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service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logical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collection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pods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Kubernetes </a:t>
            </a:r>
            <a:r>
              <a:rPr dirty="0" sz="2200" spc="-10">
                <a:latin typeface="Calibri"/>
                <a:cs typeface="Calibri"/>
              </a:rPr>
              <a:t>cluster.</a:t>
            </a:r>
            <a:endParaRPr sz="2200">
              <a:latin typeface="Calibri"/>
              <a:cs typeface="Calibri"/>
            </a:endParaRPr>
          </a:p>
          <a:p>
            <a:pPr marL="372110" marR="539750" indent="-360045">
              <a:lnSpc>
                <a:spcPct val="100000"/>
              </a:lnSpc>
              <a:spcBef>
                <a:spcPts val="994"/>
              </a:spcBef>
              <a:buClr>
                <a:srgbClr val="843B0C"/>
              </a:buClr>
              <a:buFont typeface="Wingdings"/>
              <a:buChar char=""/>
              <a:tabLst>
                <a:tab pos="372110" algn="l"/>
              </a:tabLst>
            </a:pP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where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configure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load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balancing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our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numerous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pods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expose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them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via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50">
                <a:latin typeface="Calibri"/>
                <a:cs typeface="Calibri"/>
              </a:rPr>
              <a:t>a </a:t>
            </a:r>
            <a:r>
              <a:rPr dirty="0" sz="2200" spc="-10">
                <a:latin typeface="Calibri"/>
                <a:cs typeface="Calibri"/>
              </a:rPr>
              <a:t>service.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0325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475"/>
              </a:spcBef>
            </a:pPr>
            <a:r>
              <a:rPr dirty="0"/>
              <a:t>CLOUD</a:t>
            </a:r>
            <a:r>
              <a:rPr dirty="0" spc="-15"/>
              <a:t> </a:t>
            </a:r>
            <a:r>
              <a:rPr dirty="0" spc="-10"/>
              <a:t>COMPUTING</a:t>
            </a:r>
          </a:p>
          <a:p>
            <a:pPr marL="201295">
              <a:lnSpc>
                <a:spcPct val="100000"/>
              </a:lnSpc>
              <a:spcBef>
                <a:spcPts val="380"/>
              </a:spcBef>
            </a:pP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Kubernetes</a:t>
            </a:r>
            <a:r>
              <a:rPr dirty="0" spc="-7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Architecture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26872" y="1231240"/>
            <a:ext cx="11828780" cy="5336540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K8S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cluster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made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50">
                <a:latin typeface="Calibri"/>
                <a:cs typeface="Calibri"/>
              </a:rPr>
              <a:t>a</a:t>
            </a:r>
            <a:endParaRPr sz="2000">
              <a:latin typeface="Calibri"/>
              <a:cs typeface="Calibri"/>
            </a:endParaRPr>
          </a:p>
          <a:p>
            <a:pPr marL="354965" marR="324485" indent="-342900">
              <a:lnSpc>
                <a:spcPct val="100000"/>
              </a:lnSpc>
              <a:spcBef>
                <a:spcPts val="805"/>
              </a:spcBef>
              <a:buClr>
                <a:srgbClr val="000000"/>
              </a:buClr>
              <a:buFont typeface="Wingdings"/>
              <a:buChar char=""/>
              <a:tabLst>
                <a:tab pos="354965" algn="l"/>
              </a:tabLst>
            </a:pPr>
            <a:r>
              <a:rPr dirty="0" sz="2000" b="1">
                <a:solidFill>
                  <a:srgbClr val="006FC0"/>
                </a:solidFill>
                <a:latin typeface="Calibri"/>
                <a:cs typeface="Calibri"/>
              </a:rPr>
              <a:t>Master</a:t>
            </a:r>
            <a:r>
              <a:rPr dirty="0" sz="2000" spc="-5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6FC0"/>
                </a:solidFill>
                <a:latin typeface="Calibri"/>
                <a:cs typeface="Calibri"/>
              </a:rPr>
              <a:t>node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exposes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API,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schedules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deployments,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generally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manages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cluster.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>
                <a:latin typeface="Calibri"/>
                <a:cs typeface="Calibri"/>
              </a:rPr>
              <a:t>entry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point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administrative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tasks.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master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node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taking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care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orchestrating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worker </a:t>
            </a:r>
            <a:r>
              <a:rPr dirty="0" sz="2000">
                <a:latin typeface="Calibri"/>
                <a:cs typeface="Calibri"/>
              </a:rPr>
              <a:t>nodes,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where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actual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services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running.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Font typeface="Wingdings"/>
              <a:buChar char=""/>
              <a:tabLst>
                <a:tab pos="354965" algn="l"/>
              </a:tabLst>
            </a:pPr>
            <a:r>
              <a:rPr dirty="0" sz="2000" b="1" i="1">
                <a:solidFill>
                  <a:srgbClr val="006FC0"/>
                </a:solidFill>
                <a:latin typeface="Calibri"/>
                <a:cs typeface="Calibri"/>
              </a:rPr>
              <a:t>Worker</a:t>
            </a:r>
            <a:r>
              <a:rPr dirty="0" sz="2000" spc="-65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000" b="1" i="1">
                <a:solidFill>
                  <a:srgbClr val="006FC0"/>
                </a:solidFill>
                <a:latin typeface="Calibri"/>
                <a:cs typeface="Calibri"/>
              </a:rPr>
              <a:t>nodes</a:t>
            </a:r>
            <a:r>
              <a:rPr dirty="0" sz="2000" spc="-55" b="1" i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(multiple</a:t>
            </a:r>
            <a:r>
              <a:rPr dirty="0" sz="2000" spc="-35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of</a:t>
            </a:r>
            <a:r>
              <a:rPr dirty="0" sz="2000" spc="-5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them)</a:t>
            </a:r>
            <a:r>
              <a:rPr dirty="0" sz="2000" spc="-55" i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responsible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container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runtime,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like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Docker.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Master</a:t>
            </a:r>
            <a:r>
              <a:rPr dirty="0" sz="2000" spc="-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node</a:t>
            </a:r>
            <a:r>
              <a:rPr dirty="0" sz="2000" spc="-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components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These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master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node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comprises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following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components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50"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 algn="just" lvl="1" marL="732790" indent="-360680">
              <a:lnSpc>
                <a:spcPct val="100000"/>
              </a:lnSpc>
              <a:spcBef>
                <a:spcPts val="300"/>
              </a:spcBef>
              <a:buFont typeface="Wingdings"/>
              <a:buChar char=""/>
              <a:tabLst>
                <a:tab pos="732790" algn="l"/>
              </a:tabLst>
            </a:pPr>
            <a:r>
              <a:rPr dirty="0" sz="2000" spc="-20" b="1">
                <a:latin typeface="Calibri"/>
                <a:cs typeface="Calibri"/>
              </a:rPr>
              <a:t>Kube-</a:t>
            </a:r>
            <a:r>
              <a:rPr dirty="0" sz="2000" spc="-10" b="1">
                <a:latin typeface="Calibri"/>
                <a:cs typeface="Calibri"/>
              </a:rPr>
              <a:t>apiserver</a:t>
            </a:r>
            <a:r>
              <a:rPr dirty="0" sz="2000" spc="-10">
                <a:latin typeface="Calibri"/>
                <a:cs typeface="Calibri"/>
              </a:rPr>
              <a:t>.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Exposes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API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entry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points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REST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commands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control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cluster</a:t>
            </a:r>
            <a:endParaRPr sz="2000">
              <a:latin typeface="Calibri"/>
              <a:cs typeface="Calibri"/>
            </a:endParaRPr>
          </a:p>
          <a:p>
            <a:pPr algn="just" lvl="1" marL="733425" marR="135255" indent="-361315">
              <a:lnSpc>
                <a:spcPct val="100000"/>
              </a:lnSpc>
              <a:spcBef>
                <a:spcPts val="300"/>
              </a:spcBef>
              <a:buFont typeface="Wingdings"/>
              <a:buChar char=""/>
              <a:tabLst>
                <a:tab pos="733425" algn="l"/>
              </a:tabLst>
            </a:pPr>
            <a:r>
              <a:rPr dirty="0" sz="2000" b="1">
                <a:latin typeface="Calibri"/>
                <a:cs typeface="Calibri"/>
              </a:rPr>
              <a:t>etcd.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Key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value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stores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cluster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data.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(Can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run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same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server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master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node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dedicated </a:t>
            </a:r>
            <a:r>
              <a:rPr dirty="0" sz="2000">
                <a:latin typeface="Calibri"/>
                <a:cs typeface="Calibri"/>
              </a:rPr>
              <a:t>cluster)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It’s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mainly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shared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configuration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service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discovery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info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like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jobs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being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scheduled, </a:t>
            </a:r>
            <a:r>
              <a:rPr dirty="0" sz="2000">
                <a:latin typeface="Calibri"/>
                <a:cs typeface="Calibri"/>
              </a:rPr>
              <a:t>created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deployed,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pod/service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details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state,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namespaces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replication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information</a:t>
            </a:r>
            <a:endParaRPr sz="2000">
              <a:latin typeface="Calibri"/>
              <a:cs typeface="Calibri"/>
            </a:endParaRPr>
          </a:p>
          <a:p>
            <a:pPr algn="just" lvl="1" marL="732790" indent="-360680">
              <a:lnSpc>
                <a:spcPct val="100000"/>
              </a:lnSpc>
              <a:spcBef>
                <a:spcPts val="305"/>
              </a:spcBef>
              <a:buFont typeface="Wingdings"/>
              <a:buChar char=""/>
              <a:tabLst>
                <a:tab pos="732790" algn="l"/>
              </a:tabLst>
            </a:pPr>
            <a:r>
              <a:rPr dirty="0" sz="2000" spc="-20" b="1">
                <a:latin typeface="Calibri"/>
                <a:cs typeface="Calibri"/>
              </a:rPr>
              <a:t>Kube-</a:t>
            </a:r>
            <a:r>
              <a:rPr dirty="0" sz="2000" b="1">
                <a:latin typeface="Calibri"/>
                <a:cs typeface="Calibri"/>
              </a:rPr>
              <a:t>scheduler</a:t>
            </a:r>
            <a:r>
              <a:rPr dirty="0" sz="2000">
                <a:latin typeface="Calibri"/>
                <a:cs typeface="Calibri"/>
              </a:rPr>
              <a:t>.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information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resources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available.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Schedules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new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pods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worker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nodes.</a:t>
            </a:r>
            <a:endParaRPr sz="2000">
              <a:latin typeface="Calibri"/>
              <a:cs typeface="Calibri"/>
            </a:endParaRPr>
          </a:p>
          <a:p>
            <a:pPr algn="just" lvl="1" marL="733425" marR="5080" indent="-361315">
              <a:lnSpc>
                <a:spcPct val="100000"/>
              </a:lnSpc>
              <a:spcBef>
                <a:spcPts val="295"/>
              </a:spcBef>
              <a:buFont typeface="Wingdings"/>
              <a:buChar char=""/>
              <a:tabLst>
                <a:tab pos="733425" algn="l"/>
              </a:tabLst>
            </a:pPr>
            <a:r>
              <a:rPr dirty="0" sz="2000" spc="-20" b="1">
                <a:latin typeface="Calibri"/>
                <a:cs typeface="Calibri"/>
              </a:rPr>
              <a:t>Kube-</a:t>
            </a:r>
            <a:r>
              <a:rPr dirty="0" sz="2000" spc="-10" b="1">
                <a:latin typeface="Calibri"/>
                <a:cs typeface="Calibri"/>
              </a:rPr>
              <a:t>controller-</a:t>
            </a:r>
            <a:r>
              <a:rPr dirty="0" sz="2000" b="1">
                <a:latin typeface="Calibri"/>
                <a:cs typeface="Calibri"/>
              </a:rPr>
              <a:t>manager</a:t>
            </a:r>
            <a:r>
              <a:rPr dirty="0" sz="2000">
                <a:latin typeface="Calibri"/>
                <a:cs typeface="Calibri"/>
              </a:rPr>
              <a:t>.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Runs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controllers.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apiserver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watch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shared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state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cluster</a:t>
            </a:r>
            <a:r>
              <a:rPr dirty="0" sz="2000" spc="-25">
                <a:latin typeface="Calibri"/>
                <a:cs typeface="Calibri"/>
              </a:rPr>
              <a:t> and </a:t>
            </a:r>
            <a:r>
              <a:rPr dirty="0" sz="2000">
                <a:latin typeface="Calibri"/>
                <a:cs typeface="Calibri"/>
              </a:rPr>
              <a:t>makes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corrective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changes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current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state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change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desired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one.</a:t>
            </a:r>
            <a:endParaRPr sz="2000">
              <a:latin typeface="Calibri"/>
              <a:cs typeface="Calibri"/>
            </a:endParaRPr>
          </a:p>
          <a:p>
            <a:pPr algn="just" marL="733425">
              <a:lnSpc>
                <a:spcPct val="100000"/>
              </a:lnSpc>
            </a:pPr>
            <a:r>
              <a:rPr dirty="0" sz="2000">
                <a:latin typeface="Calibri"/>
                <a:cs typeface="Calibri"/>
              </a:rPr>
              <a:t>E.g.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controller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Replication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controller,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takes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care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number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pods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system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as</a:t>
            </a:r>
            <a:endParaRPr sz="2000">
              <a:latin typeface="Calibri"/>
              <a:cs typeface="Calibri"/>
            </a:endParaRPr>
          </a:p>
          <a:p>
            <a:pPr algn="just" marL="733425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Calibri"/>
                <a:cs typeface="Calibri"/>
              </a:rPr>
              <a:t>configured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user.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48043" y="170"/>
            <a:ext cx="11931015" cy="6854825"/>
            <a:chOff x="148043" y="170"/>
            <a:chExt cx="11931015" cy="685482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043" y="2995853"/>
              <a:ext cx="11930481" cy="385871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4063" y="170"/>
              <a:ext cx="9524464" cy="331752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627123" y="1748409"/>
              <a:ext cx="315595" cy="137795"/>
            </a:xfrm>
            <a:custGeom>
              <a:avLst/>
              <a:gdLst/>
              <a:ahLst/>
              <a:cxnLst/>
              <a:rect l="l" t="t" r="r" b="b"/>
              <a:pathLst>
                <a:path w="315594" h="137794">
                  <a:moveTo>
                    <a:pt x="246761" y="0"/>
                  </a:moveTo>
                  <a:lnTo>
                    <a:pt x="246761" y="34289"/>
                  </a:lnTo>
                  <a:lnTo>
                    <a:pt x="0" y="34289"/>
                  </a:lnTo>
                  <a:lnTo>
                    <a:pt x="0" y="102869"/>
                  </a:lnTo>
                  <a:lnTo>
                    <a:pt x="246761" y="102869"/>
                  </a:lnTo>
                  <a:lnTo>
                    <a:pt x="246761" y="137287"/>
                  </a:lnTo>
                  <a:lnTo>
                    <a:pt x="315468" y="68579"/>
                  </a:lnTo>
                  <a:lnTo>
                    <a:pt x="246761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627123" y="1748409"/>
              <a:ext cx="315595" cy="137795"/>
            </a:xfrm>
            <a:custGeom>
              <a:avLst/>
              <a:gdLst/>
              <a:ahLst/>
              <a:cxnLst/>
              <a:rect l="l" t="t" r="r" b="b"/>
              <a:pathLst>
                <a:path w="315594" h="137794">
                  <a:moveTo>
                    <a:pt x="0" y="34289"/>
                  </a:moveTo>
                  <a:lnTo>
                    <a:pt x="246761" y="34289"/>
                  </a:lnTo>
                  <a:lnTo>
                    <a:pt x="246761" y="0"/>
                  </a:lnTo>
                  <a:lnTo>
                    <a:pt x="315468" y="68579"/>
                  </a:lnTo>
                  <a:lnTo>
                    <a:pt x="246761" y="137287"/>
                  </a:lnTo>
                  <a:lnTo>
                    <a:pt x="246761" y="102869"/>
                  </a:lnTo>
                  <a:lnTo>
                    <a:pt x="0" y="102869"/>
                  </a:lnTo>
                  <a:lnTo>
                    <a:pt x="0" y="34289"/>
                  </a:lnTo>
                  <a:close/>
                </a:path>
              </a:pathLst>
            </a:custGeom>
            <a:ln w="254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582543" y="1768475"/>
              <a:ext cx="315595" cy="137795"/>
            </a:xfrm>
            <a:custGeom>
              <a:avLst/>
              <a:gdLst/>
              <a:ahLst/>
              <a:cxnLst/>
              <a:rect l="l" t="t" r="r" b="b"/>
              <a:pathLst>
                <a:path w="315595" h="137794">
                  <a:moveTo>
                    <a:pt x="246761" y="0"/>
                  </a:moveTo>
                  <a:lnTo>
                    <a:pt x="246761" y="34289"/>
                  </a:lnTo>
                  <a:lnTo>
                    <a:pt x="0" y="34289"/>
                  </a:lnTo>
                  <a:lnTo>
                    <a:pt x="0" y="102870"/>
                  </a:lnTo>
                  <a:lnTo>
                    <a:pt x="246761" y="102870"/>
                  </a:lnTo>
                  <a:lnTo>
                    <a:pt x="246761" y="137287"/>
                  </a:lnTo>
                  <a:lnTo>
                    <a:pt x="315341" y="68579"/>
                  </a:lnTo>
                  <a:lnTo>
                    <a:pt x="246761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582543" y="1768475"/>
              <a:ext cx="315595" cy="137795"/>
            </a:xfrm>
            <a:custGeom>
              <a:avLst/>
              <a:gdLst/>
              <a:ahLst/>
              <a:cxnLst/>
              <a:rect l="l" t="t" r="r" b="b"/>
              <a:pathLst>
                <a:path w="315595" h="137794">
                  <a:moveTo>
                    <a:pt x="0" y="34289"/>
                  </a:moveTo>
                  <a:lnTo>
                    <a:pt x="246761" y="34289"/>
                  </a:lnTo>
                  <a:lnTo>
                    <a:pt x="246761" y="0"/>
                  </a:lnTo>
                  <a:lnTo>
                    <a:pt x="315341" y="68579"/>
                  </a:lnTo>
                  <a:lnTo>
                    <a:pt x="246761" y="137287"/>
                  </a:lnTo>
                  <a:lnTo>
                    <a:pt x="246761" y="102870"/>
                  </a:lnTo>
                  <a:lnTo>
                    <a:pt x="0" y="102870"/>
                  </a:lnTo>
                  <a:lnTo>
                    <a:pt x="0" y="34289"/>
                  </a:lnTo>
                  <a:close/>
                </a:path>
              </a:pathLst>
            </a:custGeom>
            <a:ln w="254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682239" y="1058799"/>
              <a:ext cx="315595" cy="137795"/>
            </a:xfrm>
            <a:custGeom>
              <a:avLst/>
              <a:gdLst/>
              <a:ahLst/>
              <a:cxnLst/>
              <a:rect l="l" t="t" r="r" b="b"/>
              <a:pathLst>
                <a:path w="315594" h="137794">
                  <a:moveTo>
                    <a:pt x="246761" y="0"/>
                  </a:moveTo>
                  <a:lnTo>
                    <a:pt x="246761" y="34289"/>
                  </a:lnTo>
                  <a:lnTo>
                    <a:pt x="0" y="34289"/>
                  </a:lnTo>
                  <a:lnTo>
                    <a:pt x="0" y="102870"/>
                  </a:lnTo>
                  <a:lnTo>
                    <a:pt x="246761" y="102870"/>
                  </a:lnTo>
                  <a:lnTo>
                    <a:pt x="246761" y="137287"/>
                  </a:lnTo>
                  <a:lnTo>
                    <a:pt x="315341" y="68579"/>
                  </a:lnTo>
                  <a:lnTo>
                    <a:pt x="246761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682239" y="1058799"/>
              <a:ext cx="315595" cy="137795"/>
            </a:xfrm>
            <a:custGeom>
              <a:avLst/>
              <a:gdLst/>
              <a:ahLst/>
              <a:cxnLst/>
              <a:rect l="l" t="t" r="r" b="b"/>
              <a:pathLst>
                <a:path w="315594" h="137794">
                  <a:moveTo>
                    <a:pt x="0" y="34289"/>
                  </a:moveTo>
                  <a:lnTo>
                    <a:pt x="246761" y="34289"/>
                  </a:lnTo>
                  <a:lnTo>
                    <a:pt x="246761" y="0"/>
                  </a:lnTo>
                  <a:lnTo>
                    <a:pt x="315341" y="68579"/>
                  </a:lnTo>
                  <a:lnTo>
                    <a:pt x="246761" y="137287"/>
                  </a:lnTo>
                  <a:lnTo>
                    <a:pt x="246761" y="102870"/>
                  </a:lnTo>
                  <a:lnTo>
                    <a:pt x="0" y="102870"/>
                  </a:lnTo>
                  <a:lnTo>
                    <a:pt x="0" y="34289"/>
                  </a:lnTo>
                  <a:close/>
                </a:path>
              </a:pathLst>
            </a:custGeom>
            <a:ln w="254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707889" y="2738119"/>
              <a:ext cx="315595" cy="137160"/>
            </a:xfrm>
            <a:custGeom>
              <a:avLst/>
              <a:gdLst/>
              <a:ahLst/>
              <a:cxnLst/>
              <a:rect l="l" t="t" r="r" b="b"/>
              <a:pathLst>
                <a:path w="315595" h="137160">
                  <a:moveTo>
                    <a:pt x="246887" y="0"/>
                  </a:moveTo>
                  <a:lnTo>
                    <a:pt x="246887" y="34289"/>
                  </a:lnTo>
                  <a:lnTo>
                    <a:pt x="0" y="34289"/>
                  </a:lnTo>
                  <a:lnTo>
                    <a:pt x="0" y="102869"/>
                  </a:lnTo>
                  <a:lnTo>
                    <a:pt x="246887" y="102869"/>
                  </a:lnTo>
                  <a:lnTo>
                    <a:pt x="246887" y="137159"/>
                  </a:lnTo>
                  <a:lnTo>
                    <a:pt x="315468" y="68579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707889" y="2738119"/>
              <a:ext cx="315595" cy="137160"/>
            </a:xfrm>
            <a:custGeom>
              <a:avLst/>
              <a:gdLst/>
              <a:ahLst/>
              <a:cxnLst/>
              <a:rect l="l" t="t" r="r" b="b"/>
              <a:pathLst>
                <a:path w="315595" h="137160">
                  <a:moveTo>
                    <a:pt x="0" y="34289"/>
                  </a:moveTo>
                  <a:lnTo>
                    <a:pt x="246887" y="34289"/>
                  </a:lnTo>
                  <a:lnTo>
                    <a:pt x="246887" y="0"/>
                  </a:lnTo>
                  <a:lnTo>
                    <a:pt x="315468" y="68579"/>
                  </a:lnTo>
                  <a:lnTo>
                    <a:pt x="246887" y="137159"/>
                  </a:lnTo>
                  <a:lnTo>
                    <a:pt x="246887" y="102869"/>
                  </a:lnTo>
                  <a:lnTo>
                    <a:pt x="0" y="102869"/>
                  </a:lnTo>
                  <a:lnTo>
                    <a:pt x="0" y="34289"/>
                  </a:lnTo>
                  <a:close/>
                </a:path>
              </a:pathLst>
            </a:custGeom>
            <a:ln w="254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0325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475"/>
              </a:spcBef>
            </a:pPr>
            <a:r>
              <a:rPr dirty="0"/>
              <a:t>CLOUD</a:t>
            </a:r>
            <a:r>
              <a:rPr dirty="0" spc="-15"/>
              <a:t> </a:t>
            </a:r>
            <a:r>
              <a:rPr dirty="0" spc="-10"/>
              <a:t>COMPUTING</a:t>
            </a:r>
          </a:p>
          <a:p>
            <a:pPr marL="201295">
              <a:lnSpc>
                <a:spcPct val="100000"/>
              </a:lnSpc>
              <a:spcBef>
                <a:spcPts val="380"/>
              </a:spcBef>
            </a:pP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Kubernetes</a:t>
            </a:r>
            <a:r>
              <a:rPr dirty="0" spc="-7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Architecture</a:t>
            </a:r>
          </a:p>
        </p:txBody>
      </p:sp>
      <p:sp>
        <p:nvSpPr>
          <p:cNvPr id="2" name="object 2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26872" y="1295247"/>
            <a:ext cx="3789045" cy="444627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Worker</a:t>
            </a:r>
            <a:r>
              <a:rPr dirty="0" sz="2000" spc="-2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node</a:t>
            </a:r>
            <a:r>
              <a:rPr dirty="0" sz="2000" spc="-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components</a:t>
            </a:r>
            <a:endParaRPr sz="2000">
              <a:latin typeface="Calibri"/>
              <a:cs typeface="Calibri"/>
            </a:endParaRPr>
          </a:p>
          <a:p>
            <a:pPr marL="733425" marR="5080" indent="-361315">
              <a:lnSpc>
                <a:spcPct val="100000"/>
              </a:lnSpc>
              <a:spcBef>
                <a:spcPts val="300"/>
              </a:spcBef>
              <a:buFont typeface="Wingdings"/>
              <a:buChar char=""/>
              <a:tabLst>
                <a:tab pos="733425" algn="l"/>
              </a:tabLst>
            </a:pPr>
            <a:r>
              <a:rPr dirty="0" sz="2000" b="1">
                <a:latin typeface="Calibri"/>
                <a:cs typeface="Calibri"/>
              </a:rPr>
              <a:t>Kubelet</a:t>
            </a:r>
            <a:r>
              <a:rPr dirty="0" sz="2000">
                <a:latin typeface="Calibri"/>
                <a:cs typeface="Calibri"/>
              </a:rPr>
              <a:t>.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Agent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gets</a:t>
            </a:r>
            <a:r>
              <a:rPr dirty="0" sz="2000" spc="-25">
                <a:latin typeface="Calibri"/>
                <a:cs typeface="Calibri"/>
              </a:rPr>
              <a:t> the </a:t>
            </a:r>
            <a:r>
              <a:rPr dirty="0" sz="2000">
                <a:latin typeface="Calibri"/>
                <a:cs typeface="Calibri"/>
              </a:rPr>
              <a:t>configuration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pod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from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apiserver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ensures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described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containers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up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running.</a:t>
            </a:r>
            <a:endParaRPr sz="2000">
              <a:latin typeface="Calibri"/>
              <a:cs typeface="Calibri"/>
            </a:endParaRPr>
          </a:p>
          <a:p>
            <a:pPr marL="733425" marR="195580" indent="-361315">
              <a:lnSpc>
                <a:spcPct val="100000"/>
              </a:lnSpc>
              <a:spcBef>
                <a:spcPts val="300"/>
              </a:spcBef>
              <a:buFont typeface="Wingdings"/>
              <a:buChar char=""/>
              <a:tabLst>
                <a:tab pos="733425" algn="l"/>
              </a:tabLst>
            </a:pPr>
            <a:r>
              <a:rPr dirty="0" sz="2000" spc="-20" b="1">
                <a:latin typeface="Calibri"/>
                <a:cs typeface="Calibri"/>
              </a:rPr>
              <a:t>Kube-</a:t>
            </a:r>
            <a:r>
              <a:rPr dirty="0" sz="2000" b="1">
                <a:latin typeface="Calibri"/>
                <a:cs typeface="Calibri"/>
              </a:rPr>
              <a:t>proxy</a:t>
            </a:r>
            <a:r>
              <a:rPr dirty="0" sz="2000">
                <a:latin typeface="Calibri"/>
                <a:cs typeface="Calibri"/>
              </a:rPr>
              <a:t>.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acts as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 spc="-50">
                <a:latin typeface="Calibri"/>
                <a:cs typeface="Calibri"/>
              </a:rPr>
              <a:t>a </a:t>
            </a:r>
            <a:r>
              <a:rPr dirty="0" sz="2000">
                <a:latin typeface="Calibri"/>
                <a:cs typeface="Calibri"/>
              </a:rPr>
              <a:t>network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proxy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load </a:t>
            </a:r>
            <a:r>
              <a:rPr dirty="0" sz="2000">
                <a:latin typeface="Calibri"/>
                <a:cs typeface="Calibri"/>
              </a:rPr>
              <a:t>balancer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service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50">
                <a:latin typeface="Calibri"/>
                <a:cs typeface="Calibri"/>
              </a:rPr>
              <a:t> a </a:t>
            </a:r>
            <a:r>
              <a:rPr dirty="0" sz="2000">
                <a:latin typeface="Calibri"/>
                <a:cs typeface="Calibri"/>
              </a:rPr>
              <a:t>single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worker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node.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takes </a:t>
            </a:r>
            <a:r>
              <a:rPr dirty="0" sz="2000">
                <a:latin typeface="Calibri"/>
                <a:cs typeface="Calibri"/>
              </a:rPr>
              <a:t>care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network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routing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TCP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UDP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packets..</a:t>
            </a:r>
            <a:endParaRPr sz="2000">
              <a:latin typeface="Calibri"/>
              <a:cs typeface="Calibri"/>
            </a:endParaRPr>
          </a:p>
          <a:p>
            <a:pPr marL="733425" marR="478155" indent="-361315">
              <a:lnSpc>
                <a:spcPct val="100000"/>
              </a:lnSpc>
              <a:spcBef>
                <a:spcPts val="305"/>
              </a:spcBef>
              <a:buFont typeface="Wingdings"/>
              <a:buChar char=""/>
              <a:tabLst>
                <a:tab pos="733425" algn="l"/>
              </a:tabLst>
            </a:pPr>
            <a:r>
              <a:rPr dirty="0" sz="2000" b="1">
                <a:latin typeface="Calibri"/>
                <a:cs typeface="Calibri"/>
              </a:rPr>
              <a:t>Container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runtime</a:t>
            </a:r>
            <a:r>
              <a:rPr dirty="0" sz="2000">
                <a:latin typeface="Calibri"/>
                <a:cs typeface="Calibri"/>
              </a:rPr>
              <a:t>.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Runs </a:t>
            </a:r>
            <a:r>
              <a:rPr dirty="0" sz="2000" spc="-10">
                <a:latin typeface="Calibri"/>
                <a:cs typeface="Calibri"/>
              </a:rPr>
              <a:t>containers.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002913" y="1114488"/>
            <a:ext cx="8189595" cy="5743575"/>
            <a:chOff x="4002913" y="1114488"/>
            <a:chExt cx="8189595" cy="574357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2913" y="1114488"/>
              <a:ext cx="8041131" cy="55418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66050" y="6500175"/>
              <a:ext cx="4425950" cy="35782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0902442" y="1888235"/>
              <a:ext cx="168910" cy="476884"/>
            </a:xfrm>
            <a:custGeom>
              <a:avLst/>
              <a:gdLst/>
              <a:ahLst/>
              <a:cxnLst/>
              <a:rect l="l" t="t" r="r" b="b"/>
              <a:pathLst>
                <a:path w="168909" h="476885">
                  <a:moveTo>
                    <a:pt x="126618" y="0"/>
                  </a:moveTo>
                  <a:lnTo>
                    <a:pt x="42163" y="0"/>
                  </a:lnTo>
                  <a:lnTo>
                    <a:pt x="42163" y="392302"/>
                  </a:lnTo>
                  <a:lnTo>
                    <a:pt x="0" y="392302"/>
                  </a:lnTo>
                  <a:lnTo>
                    <a:pt x="84454" y="476630"/>
                  </a:lnTo>
                  <a:lnTo>
                    <a:pt x="168782" y="392302"/>
                  </a:lnTo>
                  <a:lnTo>
                    <a:pt x="126618" y="392302"/>
                  </a:lnTo>
                  <a:lnTo>
                    <a:pt x="12661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902442" y="1888235"/>
              <a:ext cx="168910" cy="476884"/>
            </a:xfrm>
            <a:custGeom>
              <a:avLst/>
              <a:gdLst/>
              <a:ahLst/>
              <a:cxnLst/>
              <a:rect l="l" t="t" r="r" b="b"/>
              <a:pathLst>
                <a:path w="168909" h="476885">
                  <a:moveTo>
                    <a:pt x="0" y="392302"/>
                  </a:moveTo>
                  <a:lnTo>
                    <a:pt x="42163" y="392302"/>
                  </a:lnTo>
                  <a:lnTo>
                    <a:pt x="42163" y="0"/>
                  </a:lnTo>
                  <a:lnTo>
                    <a:pt x="126618" y="0"/>
                  </a:lnTo>
                  <a:lnTo>
                    <a:pt x="126618" y="392302"/>
                  </a:lnTo>
                  <a:lnTo>
                    <a:pt x="168782" y="392302"/>
                  </a:lnTo>
                  <a:lnTo>
                    <a:pt x="84454" y="476630"/>
                  </a:lnTo>
                  <a:lnTo>
                    <a:pt x="0" y="392302"/>
                  </a:lnTo>
                  <a:close/>
                </a:path>
              </a:pathLst>
            </a:custGeom>
            <a:ln w="25399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9408922" y="1944497"/>
              <a:ext cx="168910" cy="476884"/>
            </a:xfrm>
            <a:custGeom>
              <a:avLst/>
              <a:gdLst/>
              <a:ahLst/>
              <a:cxnLst/>
              <a:rect l="l" t="t" r="r" b="b"/>
              <a:pathLst>
                <a:path w="168909" h="476885">
                  <a:moveTo>
                    <a:pt x="126619" y="0"/>
                  </a:moveTo>
                  <a:lnTo>
                    <a:pt x="42163" y="0"/>
                  </a:lnTo>
                  <a:lnTo>
                    <a:pt x="42163" y="392302"/>
                  </a:lnTo>
                  <a:lnTo>
                    <a:pt x="0" y="392302"/>
                  </a:lnTo>
                  <a:lnTo>
                    <a:pt x="84454" y="476630"/>
                  </a:lnTo>
                  <a:lnTo>
                    <a:pt x="168782" y="392302"/>
                  </a:lnTo>
                  <a:lnTo>
                    <a:pt x="126619" y="392302"/>
                  </a:lnTo>
                  <a:lnTo>
                    <a:pt x="12661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9408922" y="1944497"/>
              <a:ext cx="168910" cy="476884"/>
            </a:xfrm>
            <a:custGeom>
              <a:avLst/>
              <a:gdLst/>
              <a:ahLst/>
              <a:cxnLst/>
              <a:rect l="l" t="t" r="r" b="b"/>
              <a:pathLst>
                <a:path w="168909" h="476885">
                  <a:moveTo>
                    <a:pt x="0" y="392302"/>
                  </a:moveTo>
                  <a:lnTo>
                    <a:pt x="42163" y="392302"/>
                  </a:lnTo>
                  <a:lnTo>
                    <a:pt x="42163" y="0"/>
                  </a:lnTo>
                  <a:lnTo>
                    <a:pt x="126619" y="0"/>
                  </a:lnTo>
                  <a:lnTo>
                    <a:pt x="126619" y="392302"/>
                  </a:lnTo>
                  <a:lnTo>
                    <a:pt x="168782" y="392302"/>
                  </a:lnTo>
                  <a:lnTo>
                    <a:pt x="84454" y="476630"/>
                  </a:lnTo>
                  <a:lnTo>
                    <a:pt x="0" y="392302"/>
                  </a:lnTo>
                  <a:close/>
                </a:path>
              </a:pathLst>
            </a:custGeom>
            <a:ln w="25399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0775822" y="2800222"/>
              <a:ext cx="168910" cy="476884"/>
            </a:xfrm>
            <a:custGeom>
              <a:avLst/>
              <a:gdLst/>
              <a:ahLst/>
              <a:cxnLst/>
              <a:rect l="l" t="t" r="r" b="b"/>
              <a:pathLst>
                <a:path w="168909" h="476885">
                  <a:moveTo>
                    <a:pt x="126619" y="0"/>
                  </a:moveTo>
                  <a:lnTo>
                    <a:pt x="42291" y="0"/>
                  </a:lnTo>
                  <a:lnTo>
                    <a:pt x="42291" y="392302"/>
                  </a:lnTo>
                  <a:lnTo>
                    <a:pt x="0" y="392302"/>
                  </a:lnTo>
                  <a:lnTo>
                    <a:pt x="84454" y="476757"/>
                  </a:lnTo>
                  <a:lnTo>
                    <a:pt x="168782" y="392302"/>
                  </a:lnTo>
                  <a:lnTo>
                    <a:pt x="126619" y="392302"/>
                  </a:lnTo>
                  <a:lnTo>
                    <a:pt x="12661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0775822" y="2800222"/>
              <a:ext cx="168910" cy="476884"/>
            </a:xfrm>
            <a:custGeom>
              <a:avLst/>
              <a:gdLst/>
              <a:ahLst/>
              <a:cxnLst/>
              <a:rect l="l" t="t" r="r" b="b"/>
              <a:pathLst>
                <a:path w="168909" h="476885">
                  <a:moveTo>
                    <a:pt x="0" y="392302"/>
                  </a:moveTo>
                  <a:lnTo>
                    <a:pt x="42291" y="392302"/>
                  </a:lnTo>
                  <a:lnTo>
                    <a:pt x="42291" y="0"/>
                  </a:lnTo>
                  <a:lnTo>
                    <a:pt x="126619" y="0"/>
                  </a:lnTo>
                  <a:lnTo>
                    <a:pt x="126619" y="392302"/>
                  </a:lnTo>
                  <a:lnTo>
                    <a:pt x="168782" y="392302"/>
                  </a:lnTo>
                  <a:lnTo>
                    <a:pt x="84454" y="476757"/>
                  </a:lnTo>
                  <a:lnTo>
                    <a:pt x="0" y="392302"/>
                  </a:lnTo>
                  <a:close/>
                </a:path>
              </a:pathLst>
            </a:custGeom>
            <a:ln w="254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32968" y="183007"/>
            <a:ext cx="11086465" cy="473138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475"/>
              </a:spcBef>
            </a:pPr>
            <a:r>
              <a:rPr dirty="0" sz="2400" b="1">
                <a:solidFill>
                  <a:srgbClr val="2E5496"/>
                </a:solidFill>
                <a:latin typeface="Calibri"/>
                <a:cs typeface="Calibri"/>
              </a:rPr>
              <a:t>CLOUD</a:t>
            </a:r>
            <a:r>
              <a:rPr dirty="0" sz="2400" spc="-15" b="1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E5496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Kubernetes</a:t>
            </a:r>
            <a:r>
              <a:rPr dirty="0" sz="2400" spc="-7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C55A11"/>
                </a:solidFill>
                <a:latin typeface="Arial"/>
                <a:cs typeface="Arial"/>
              </a:rPr>
              <a:t>Functioning</a:t>
            </a:r>
            <a:endParaRPr sz="2400">
              <a:latin typeface="Arial"/>
              <a:cs typeface="Arial"/>
            </a:endParaRPr>
          </a:p>
          <a:p>
            <a:pPr marL="372110" marR="76200" indent="-360045">
              <a:lnSpc>
                <a:spcPct val="120000"/>
              </a:lnSpc>
              <a:spcBef>
                <a:spcPts val="2285"/>
              </a:spcBef>
              <a:buClr>
                <a:srgbClr val="000000"/>
              </a:buClr>
              <a:buFont typeface="Arial"/>
              <a:buChar char="•"/>
              <a:tabLst>
                <a:tab pos="372110" algn="l"/>
              </a:tabLst>
            </a:pP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Kubernetes,</a:t>
            </a:r>
            <a:r>
              <a:rPr dirty="0" sz="2400" spc="-3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you</a:t>
            </a:r>
            <a:r>
              <a:rPr dirty="0" sz="2400" spc="-4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will</a:t>
            </a:r>
            <a:r>
              <a:rPr dirty="0" sz="2400" spc="-4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describe</a:t>
            </a:r>
            <a:r>
              <a:rPr dirty="0" sz="2400" spc="-3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the</a:t>
            </a:r>
            <a:r>
              <a:rPr dirty="0" sz="2400" spc="-3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configuration</a:t>
            </a:r>
            <a:r>
              <a:rPr dirty="0" sz="2400" spc="-4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of</a:t>
            </a:r>
            <a:r>
              <a:rPr dirty="0" sz="2400" spc="-4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an</a:t>
            </a:r>
            <a:r>
              <a:rPr dirty="0" sz="2400" spc="-3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application</a:t>
            </a:r>
            <a:r>
              <a:rPr dirty="0" sz="2400" spc="-4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using</a:t>
            </a:r>
            <a:r>
              <a:rPr dirty="0" sz="2400" spc="-5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say</a:t>
            </a:r>
            <a:r>
              <a:rPr dirty="0" sz="2400" spc="-3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a</a:t>
            </a:r>
            <a:r>
              <a:rPr dirty="0" sz="2400" spc="-4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JSON</a:t>
            </a:r>
            <a:r>
              <a:rPr dirty="0" sz="2400" spc="-3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D1D1D"/>
                </a:solidFill>
                <a:latin typeface="Calibri"/>
                <a:cs typeface="Calibri"/>
              </a:rPr>
              <a:t>file.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The</a:t>
            </a:r>
            <a:r>
              <a:rPr dirty="0" sz="2400" spc="-2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configuration</a:t>
            </a:r>
            <a:r>
              <a:rPr dirty="0" sz="2400" spc="-5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file</a:t>
            </a:r>
            <a:r>
              <a:rPr dirty="0" sz="2400" spc="-3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tells</a:t>
            </a:r>
            <a:r>
              <a:rPr dirty="0" sz="2400" spc="-4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the</a:t>
            </a:r>
            <a:r>
              <a:rPr dirty="0" sz="2400" spc="-3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configuration</a:t>
            </a:r>
            <a:r>
              <a:rPr dirty="0" sz="2400" spc="-4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management</a:t>
            </a:r>
            <a:r>
              <a:rPr dirty="0" sz="2400" spc="-5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tool</a:t>
            </a:r>
            <a:r>
              <a:rPr dirty="0" sz="2400" spc="-4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where</a:t>
            </a:r>
            <a:r>
              <a:rPr dirty="0" sz="2400" spc="-3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to</a:t>
            </a:r>
            <a:r>
              <a:rPr dirty="0" sz="2400" spc="-5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find</a:t>
            </a:r>
            <a:r>
              <a:rPr dirty="0" sz="2400" spc="-3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D1D1D"/>
                </a:solidFill>
                <a:latin typeface="Calibri"/>
                <a:cs typeface="Calibri"/>
              </a:rPr>
              <a:t>the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container</a:t>
            </a:r>
            <a:r>
              <a:rPr dirty="0" sz="2400" spc="-4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images,</a:t>
            </a:r>
            <a:r>
              <a:rPr dirty="0" sz="2400" spc="-4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how</a:t>
            </a:r>
            <a:r>
              <a:rPr dirty="0" sz="2400" spc="-3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to</a:t>
            </a:r>
            <a:r>
              <a:rPr dirty="0" sz="2400" spc="-5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establish</a:t>
            </a:r>
            <a:r>
              <a:rPr dirty="0" sz="2400" spc="-2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a</a:t>
            </a:r>
            <a:r>
              <a:rPr dirty="0" sz="2400" spc="-4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network,</a:t>
            </a:r>
            <a:r>
              <a:rPr dirty="0" sz="2400" spc="-4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and</a:t>
            </a:r>
            <a:r>
              <a:rPr dirty="0" sz="2400" spc="-2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where</a:t>
            </a:r>
            <a:r>
              <a:rPr dirty="0" sz="2400" spc="-3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to</a:t>
            </a:r>
            <a:r>
              <a:rPr dirty="0" sz="2400" spc="-3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store</a:t>
            </a:r>
            <a:r>
              <a:rPr dirty="0" sz="2400" spc="-4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D1D1D"/>
                </a:solidFill>
                <a:latin typeface="Calibri"/>
                <a:cs typeface="Calibri"/>
              </a:rPr>
              <a:t>logs.</a:t>
            </a:r>
            <a:endParaRPr sz="2400">
              <a:latin typeface="Calibri"/>
              <a:cs typeface="Calibri"/>
            </a:endParaRPr>
          </a:p>
          <a:p>
            <a:pPr marL="372110" marR="5080" indent="-360045">
              <a:lnSpc>
                <a:spcPct val="120000"/>
              </a:lnSpc>
              <a:spcBef>
                <a:spcPts val="600"/>
              </a:spcBef>
              <a:buClr>
                <a:srgbClr val="000000"/>
              </a:buClr>
              <a:buFont typeface="Arial"/>
              <a:buChar char="•"/>
              <a:tabLst>
                <a:tab pos="372110" algn="l"/>
              </a:tabLst>
            </a:pP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When</a:t>
            </a:r>
            <a:r>
              <a:rPr dirty="0" sz="2400" spc="-4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deploying</a:t>
            </a:r>
            <a:r>
              <a:rPr dirty="0" sz="2400" spc="-3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a</a:t>
            </a:r>
            <a:r>
              <a:rPr dirty="0" sz="2400" spc="-4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new</a:t>
            </a:r>
            <a:r>
              <a:rPr dirty="0" sz="2400" spc="-4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container,</a:t>
            </a:r>
            <a:r>
              <a:rPr dirty="0" sz="2400" spc="-4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the</a:t>
            </a:r>
            <a:r>
              <a:rPr dirty="0" sz="2400" spc="-3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container</a:t>
            </a:r>
            <a:r>
              <a:rPr dirty="0" sz="2400" spc="-4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management</a:t>
            </a:r>
            <a:r>
              <a:rPr dirty="0" sz="2400" spc="-5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tool</a:t>
            </a:r>
            <a:r>
              <a:rPr dirty="0" sz="2400" spc="-3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D1D1D"/>
                </a:solidFill>
                <a:latin typeface="Calibri"/>
                <a:cs typeface="Calibri"/>
              </a:rPr>
              <a:t>automatically schedules</a:t>
            </a:r>
            <a:r>
              <a:rPr dirty="0" sz="2400" spc="-2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the</a:t>
            </a:r>
            <a:r>
              <a:rPr dirty="0" sz="2400" spc="-1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deployment</a:t>
            </a:r>
            <a:r>
              <a:rPr dirty="0" sz="2400" spc="-3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to</a:t>
            </a:r>
            <a:r>
              <a:rPr dirty="0" sz="2400" spc="-4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a</a:t>
            </a:r>
            <a:r>
              <a:rPr dirty="0" sz="2400" spc="-1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cluster</a:t>
            </a:r>
            <a:r>
              <a:rPr dirty="0" sz="2400" spc="-3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and</a:t>
            </a:r>
            <a:r>
              <a:rPr dirty="0" sz="2400" spc="-2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finds</a:t>
            </a:r>
            <a:r>
              <a:rPr dirty="0" sz="2400" spc="-1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the</a:t>
            </a:r>
            <a:r>
              <a:rPr dirty="0" sz="2400" spc="-1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right</a:t>
            </a:r>
            <a:r>
              <a:rPr dirty="0" sz="2400" spc="-3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host,</a:t>
            </a:r>
            <a:r>
              <a:rPr dirty="0" sz="2400" spc="-2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taking</a:t>
            </a:r>
            <a:r>
              <a:rPr dirty="0" sz="2400" spc="-4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into</a:t>
            </a:r>
            <a:r>
              <a:rPr dirty="0" sz="2400" spc="-3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account</a:t>
            </a:r>
            <a:r>
              <a:rPr dirty="0" sz="2400" spc="-5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D1D1D"/>
                </a:solidFill>
                <a:latin typeface="Calibri"/>
                <a:cs typeface="Calibri"/>
              </a:rPr>
              <a:t>any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defined</a:t>
            </a:r>
            <a:r>
              <a:rPr dirty="0" sz="2400" spc="-3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requirements</a:t>
            </a:r>
            <a:r>
              <a:rPr dirty="0" sz="2400" spc="-5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or</a:t>
            </a:r>
            <a:r>
              <a:rPr dirty="0" sz="2400" spc="-3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restrictions.</a:t>
            </a:r>
            <a:r>
              <a:rPr dirty="0" sz="2400" spc="-6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The</a:t>
            </a:r>
            <a:r>
              <a:rPr dirty="0" sz="2400" spc="-3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orchestration</a:t>
            </a:r>
            <a:r>
              <a:rPr dirty="0" sz="2400" spc="-6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tool</a:t>
            </a:r>
            <a:r>
              <a:rPr dirty="0" sz="2400" spc="-5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then</a:t>
            </a:r>
            <a:r>
              <a:rPr dirty="0" sz="2400" spc="-4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manages</a:t>
            </a:r>
            <a:r>
              <a:rPr dirty="0" sz="2400" spc="-5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D1D1D"/>
                </a:solidFill>
                <a:latin typeface="Calibri"/>
                <a:cs typeface="Calibri"/>
              </a:rPr>
              <a:t>the</a:t>
            </a:r>
            <a:endParaRPr sz="2400">
              <a:latin typeface="Calibri"/>
              <a:cs typeface="Calibri"/>
            </a:endParaRPr>
          </a:p>
          <a:p>
            <a:pPr marL="372110" marR="53975">
              <a:lnSpc>
                <a:spcPct val="120000"/>
              </a:lnSpc>
            </a:pP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container’s</a:t>
            </a:r>
            <a:r>
              <a:rPr dirty="0" sz="2400" spc="-5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lifecycle</a:t>
            </a:r>
            <a:r>
              <a:rPr dirty="0" sz="2400" spc="-6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based</a:t>
            </a:r>
            <a:r>
              <a:rPr dirty="0" sz="2400" spc="-4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on</a:t>
            </a:r>
            <a:r>
              <a:rPr dirty="0" sz="2400" spc="-4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the</a:t>
            </a:r>
            <a:r>
              <a:rPr dirty="0" sz="2400" spc="-4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specifications</a:t>
            </a:r>
            <a:r>
              <a:rPr dirty="0" sz="2400" spc="-6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that</a:t>
            </a:r>
            <a:r>
              <a:rPr dirty="0" sz="2400" spc="-5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were</a:t>
            </a:r>
            <a:r>
              <a:rPr dirty="0" sz="2400" spc="-4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D1D1D"/>
                </a:solidFill>
                <a:latin typeface="Calibri"/>
                <a:cs typeface="Calibri"/>
              </a:rPr>
              <a:t>determined</a:t>
            </a:r>
            <a:r>
              <a:rPr dirty="0" sz="2400" spc="-5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in</a:t>
            </a:r>
            <a:r>
              <a:rPr dirty="0" sz="2400" spc="-5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D1D1D"/>
                </a:solidFill>
                <a:latin typeface="Calibri"/>
                <a:cs typeface="Calibri"/>
              </a:rPr>
              <a:t>the</a:t>
            </a:r>
            <a:r>
              <a:rPr dirty="0" sz="2400" spc="-4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D1D1D"/>
                </a:solidFill>
                <a:latin typeface="Calibri"/>
                <a:cs typeface="Calibri"/>
              </a:rPr>
              <a:t>compose file.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03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75"/>
              </a:spcBef>
            </a:pPr>
            <a:r>
              <a:rPr dirty="0"/>
              <a:t>CLOUD</a:t>
            </a:r>
            <a:r>
              <a:rPr dirty="0" spc="-15"/>
              <a:t> </a:t>
            </a:r>
            <a:r>
              <a:rPr dirty="0" spc="-10"/>
              <a:t>COMPUTING</a:t>
            </a:r>
          </a:p>
          <a:p>
            <a:pPr>
              <a:lnSpc>
                <a:spcPct val="100000"/>
              </a:lnSpc>
              <a:spcBef>
                <a:spcPts val="380"/>
              </a:spcBef>
            </a:pP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Kubernetes</a:t>
            </a:r>
            <a:r>
              <a:rPr dirty="0" spc="-7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C55A11"/>
                </a:solidFill>
                <a:latin typeface="Arial"/>
                <a:cs typeface="Arial"/>
              </a:rPr>
              <a:t>Benefits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97050"/>
            <a:ext cx="8291830" cy="38100"/>
          </a:xfrm>
          <a:custGeom>
            <a:avLst/>
            <a:gdLst/>
            <a:ahLst/>
            <a:cxnLst/>
            <a:rect l="l" t="t" r="r" b="b"/>
            <a:pathLst>
              <a:path w="8291830" h="38100">
                <a:moveTo>
                  <a:pt x="8291576" y="0"/>
                </a:moveTo>
                <a:lnTo>
                  <a:pt x="0" y="0"/>
                </a:lnTo>
                <a:lnTo>
                  <a:pt x="0" y="38100"/>
                </a:lnTo>
                <a:lnTo>
                  <a:pt x="8291576" y="38100"/>
                </a:lnTo>
                <a:lnTo>
                  <a:pt x="829157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32968" y="1257147"/>
            <a:ext cx="11661140" cy="520827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372110" indent="-35941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372110" algn="l"/>
              </a:tabLst>
            </a:pPr>
            <a:r>
              <a:rPr dirty="0" sz="2000" b="1">
                <a:solidFill>
                  <a:srgbClr val="1D1D1D"/>
                </a:solidFill>
                <a:latin typeface="Calibri"/>
                <a:cs typeface="Calibri"/>
              </a:rPr>
              <a:t>Horizontal</a:t>
            </a:r>
            <a:r>
              <a:rPr dirty="0" sz="2000" spc="-50" b="1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1D1D1D"/>
                </a:solidFill>
                <a:latin typeface="Calibri"/>
                <a:cs typeface="Calibri"/>
              </a:rPr>
              <a:t>scaling.</a:t>
            </a:r>
            <a:r>
              <a:rPr dirty="0" sz="2000" spc="-40" b="1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Scale</a:t>
            </a:r>
            <a:r>
              <a:rPr dirty="0" sz="2000" spc="-2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your</a:t>
            </a:r>
            <a:r>
              <a:rPr dirty="0" sz="2000" spc="-5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application</a:t>
            </a:r>
            <a:r>
              <a:rPr dirty="0" sz="2000" spc="-2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as</a:t>
            </a:r>
            <a:r>
              <a:rPr dirty="0" sz="2000" spc="-2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needed</a:t>
            </a:r>
            <a:r>
              <a:rPr dirty="0" sz="2000" spc="-1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from</a:t>
            </a:r>
            <a:r>
              <a:rPr dirty="0" sz="2000" spc="-4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command</a:t>
            </a:r>
            <a:r>
              <a:rPr dirty="0" sz="2000" spc="-3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line</a:t>
            </a:r>
            <a:r>
              <a:rPr dirty="0" sz="2000" spc="-1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or</a:t>
            </a:r>
            <a:r>
              <a:rPr dirty="0" sz="2000" spc="-4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 spc="-25">
                <a:solidFill>
                  <a:srgbClr val="1D1D1D"/>
                </a:solidFill>
                <a:latin typeface="Calibri"/>
                <a:cs typeface="Calibri"/>
              </a:rPr>
              <a:t>UI.</a:t>
            </a:r>
            <a:endParaRPr sz="20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Font typeface="Arial"/>
              <a:buChar char="•"/>
              <a:tabLst>
                <a:tab pos="372110" algn="l"/>
              </a:tabLst>
            </a:pPr>
            <a:r>
              <a:rPr dirty="0" sz="2000" b="1">
                <a:solidFill>
                  <a:srgbClr val="1D1D1D"/>
                </a:solidFill>
                <a:latin typeface="Calibri"/>
                <a:cs typeface="Calibri"/>
              </a:rPr>
              <a:t>Automated</a:t>
            </a:r>
            <a:r>
              <a:rPr dirty="0" sz="2000" spc="-55" b="1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1D1D1D"/>
                </a:solidFill>
                <a:latin typeface="Calibri"/>
                <a:cs typeface="Calibri"/>
              </a:rPr>
              <a:t>rollouts</a:t>
            </a:r>
            <a:r>
              <a:rPr dirty="0" sz="2000" spc="-50" b="1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1D1D1D"/>
                </a:solidFill>
                <a:latin typeface="Calibri"/>
                <a:cs typeface="Calibri"/>
              </a:rPr>
              <a:t>and</a:t>
            </a:r>
            <a:r>
              <a:rPr dirty="0" sz="2000" spc="-30" b="1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1D1D1D"/>
                </a:solidFill>
                <a:latin typeface="Calibri"/>
                <a:cs typeface="Calibri"/>
              </a:rPr>
              <a:t>rollbacks.</a:t>
            </a:r>
            <a:r>
              <a:rPr dirty="0" sz="2000" spc="-20" b="1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Roll</a:t>
            </a:r>
            <a:r>
              <a:rPr dirty="0" sz="2000" spc="-2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out</a:t>
            </a:r>
            <a:r>
              <a:rPr dirty="0" sz="2000" spc="-3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changes</a:t>
            </a:r>
            <a:r>
              <a:rPr dirty="0" sz="2000" spc="-3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in</a:t>
            </a:r>
            <a:r>
              <a:rPr dirty="0" sz="2000" spc="-3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a</a:t>
            </a:r>
            <a:r>
              <a:rPr dirty="0" sz="2000" spc="-2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controlled</a:t>
            </a:r>
            <a:r>
              <a:rPr dirty="0" sz="2000" spc="-3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fashion</a:t>
            </a:r>
            <a:r>
              <a:rPr dirty="0" sz="2000" spc="-2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while</a:t>
            </a:r>
            <a:r>
              <a:rPr dirty="0" sz="2000" spc="-2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monitoring</a:t>
            </a:r>
            <a:r>
              <a:rPr dirty="0" sz="2000" spc="-2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the</a:t>
            </a:r>
            <a:r>
              <a:rPr dirty="0" sz="2000" spc="-3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health</a:t>
            </a:r>
            <a:r>
              <a:rPr dirty="0" sz="2000" spc="-2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 spc="-25">
                <a:solidFill>
                  <a:srgbClr val="1D1D1D"/>
                </a:solidFill>
                <a:latin typeface="Calibri"/>
                <a:cs typeface="Calibri"/>
              </a:rPr>
              <a:t>of</a:t>
            </a:r>
            <a:endParaRPr sz="2000">
              <a:latin typeface="Calibri"/>
              <a:cs typeface="Calibri"/>
            </a:endParaRPr>
          </a:p>
          <a:p>
            <a:pPr marL="372110">
              <a:lnSpc>
                <a:spcPct val="100000"/>
              </a:lnSpc>
            </a:pP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your</a:t>
            </a:r>
            <a:r>
              <a:rPr dirty="0" sz="2000" spc="-4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application</a:t>
            </a:r>
            <a:r>
              <a:rPr dirty="0" sz="2000" spc="-3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in</a:t>
            </a:r>
            <a:r>
              <a:rPr dirty="0" sz="2000" spc="-2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the</a:t>
            </a:r>
            <a:r>
              <a:rPr dirty="0" sz="2000" spc="-2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container</a:t>
            </a:r>
            <a:r>
              <a:rPr dirty="0" sz="2000" spc="-3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and</a:t>
            </a:r>
            <a:r>
              <a:rPr dirty="0" sz="2000" spc="-2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if</a:t>
            </a:r>
            <a:r>
              <a:rPr dirty="0" sz="2000" spc="-2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something</a:t>
            </a:r>
            <a:r>
              <a:rPr dirty="0" sz="2000" spc="-2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goes</a:t>
            </a:r>
            <a:r>
              <a:rPr dirty="0" sz="2000" spc="-4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wrong,</a:t>
            </a:r>
            <a:r>
              <a:rPr dirty="0" sz="2000" spc="-4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K8S</a:t>
            </a:r>
            <a:r>
              <a:rPr dirty="0" sz="2000" spc="-4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automatically</a:t>
            </a:r>
            <a:r>
              <a:rPr dirty="0" sz="2000" spc="-2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rolls</a:t>
            </a:r>
            <a:r>
              <a:rPr dirty="0" sz="2000" spc="-1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back</a:t>
            </a:r>
            <a:r>
              <a:rPr dirty="0" sz="2000" spc="-2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the</a:t>
            </a:r>
            <a:r>
              <a:rPr dirty="0" sz="2000" spc="-3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1D1D1D"/>
                </a:solidFill>
                <a:latin typeface="Calibri"/>
                <a:cs typeface="Calibri"/>
              </a:rPr>
              <a:t>change.</a:t>
            </a:r>
            <a:endParaRPr sz="2000">
              <a:latin typeface="Calibri"/>
              <a:cs typeface="Calibri"/>
            </a:endParaRPr>
          </a:p>
          <a:p>
            <a:pPr marL="372110" marR="5715" indent="-360045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Font typeface="Arial"/>
              <a:buChar char="•"/>
              <a:tabLst>
                <a:tab pos="372110" algn="l"/>
              </a:tabLst>
            </a:pPr>
            <a:r>
              <a:rPr dirty="0" sz="2000" b="1">
                <a:solidFill>
                  <a:srgbClr val="1D1D1D"/>
                </a:solidFill>
                <a:latin typeface="Calibri"/>
                <a:cs typeface="Calibri"/>
              </a:rPr>
              <a:t>Service</a:t>
            </a:r>
            <a:r>
              <a:rPr dirty="0" sz="2000" spc="-30" b="1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1D1D1D"/>
                </a:solidFill>
                <a:latin typeface="Calibri"/>
                <a:cs typeface="Calibri"/>
              </a:rPr>
              <a:t>discovery</a:t>
            </a:r>
            <a:r>
              <a:rPr dirty="0" sz="2000" spc="-35" b="1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1D1D1D"/>
                </a:solidFill>
                <a:latin typeface="Calibri"/>
                <a:cs typeface="Calibri"/>
              </a:rPr>
              <a:t>and</a:t>
            </a:r>
            <a:r>
              <a:rPr dirty="0" sz="2000" spc="-35" b="1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1D1D1D"/>
                </a:solidFill>
                <a:latin typeface="Calibri"/>
                <a:cs typeface="Calibri"/>
              </a:rPr>
              <a:t>load</a:t>
            </a:r>
            <a:r>
              <a:rPr dirty="0" sz="2000" spc="-35" b="1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1D1D1D"/>
                </a:solidFill>
                <a:latin typeface="Calibri"/>
                <a:cs typeface="Calibri"/>
              </a:rPr>
              <a:t>balancing.</a:t>
            </a:r>
            <a:r>
              <a:rPr dirty="0" sz="2000" spc="-25" b="1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1D1D1D"/>
                </a:solidFill>
                <a:latin typeface="Calibri"/>
                <a:cs typeface="Calibri"/>
              </a:rPr>
              <a:t>Kubernetes</a:t>
            </a:r>
            <a:r>
              <a:rPr dirty="0" sz="2000" spc="-4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can</a:t>
            </a:r>
            <a:r>
              <a:rPr dirty="0" sz="2000" spc="-3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expose</a:t>
            </a:r>
            <a:r>
              <a:rPr dirty="0" sz="2000" spc="-3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a</a:t>
            </a:r>
            <a:r>
              <a:rPr dirty="0" sz="2000" spc="-2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containers</a:t>
            </a:r>
            <a:r>
              <a:rPr dirty="0" sz="2000" spc="-3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using</a:t>
            </a:r>
            <a:r>
              <a:rPr dirty="0" sz="2000" spc="-3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a</a:t>
            </a:r>
            <a:r>
              <a:rPr dirty="0" sz="2000" spc="-3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DNS</a:t>
            </a:r>
            <a:r>
              <a:rPr dirty="0" sz="2000" spc="-3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name</a:t>
            </a:r>
            <a:r>
              <a:rPr dirty="0" sz="2000" spc="-2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or</a:t>
            </a:r>
            <a:r>
              <a:rPr dirty="0" sz="2000" spc="-4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IP</a:t>
            </a:r>
            <a:r>
              <a:rPr dirty="0" sz="2000" spc="-2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and</a:t>
            </a:r>
            <a:r>
              <a:rPr dirty="0" sz="2000" spc="-2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1D1D1D"/>
                </a:solidFill>
                <a:latin typeface="Calibri"/>
                <a:cs typeface="Calibri"/>
              </a:rPr>
              <a:t>based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on</a:t>
            </a:r>
            <a:r>
              <a:rPr dirty="0" sz="2000" spc="-4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the</a:t>
            </a:r>
            <a:r>
              <a:rPr dirty="0" sz="2000" spc="-2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load,</a:t>
            </a:r>
            <a:r>
              <a:rPr dirty="0" sz="2000" spc="-2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can</a:t>
            </a:r>
            <a:r>
              <a:rPr dirty="0" sz="2000" spc="-2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do</a:t>
            </a:r>
            <a:r>
              <a:rPr dirty="0" sz="2000" spc="-2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load</a:t>
            </a:r>
            <a:r>
              <a:rPr dirty="0" sz="2000" spc="-2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balancing</a:t>
            </a:r>
            <a:r>
              <a:rPr dirty="0" sz="2000" spc="-3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by</a:t>
            </a:r>
            <a:r>
              <a:rPr dirty="0" sz="2000" spc="-3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distribute</a:t>
            </a:r>
            <a:r>
              <a:rPr dirty="0" sz="2000" spc="-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1D1D1D"/>
                </a:solidFill>
                <a:latin typeface="Calibri"/>
                <a:cs typeface="Calibri"/>
              </a:rPr>
              <a:t>traffic.</a:t>
            </a:r>
            <a:endParaRPr sz="20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Font typeface="Arial"/>
              <a:buChar char="•"/>
              <a:tabLst>
                <a:tab pos="372110" algn="l"/>
              </a:tabLst>
            </a:pPr>
            <a:r>
              <a:rPr dirty="0" sz="2000" b="1">
                <a:solidFill>
                  <a:srgbClr val="1D1D1D"/>
                </a:solidFill>
                <a:latin typeface="Calibri"/>
                <a:cs typeface="Calibri"/>
              </a:rPr>
              <a:t>Storage</a:t>
            </a:r>
            <a:r>
              <a:rPr dirty="0" sz="2000" spc="-30" b="1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1D1D1D"/>
                </a:solidFill>
                <a:latin typeface="Calibri"/>
                <a:cs typeface="Calibri"/>
              </a:rPr>
              <a:t>orchestration.</a:t>
            </a:r>
            <a:r>
              <a:rPr dirty="0" sz="2000" spc="-60" b="1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Automatically</a:t>
            </a:r>
            <a:r>
              <a:rPr dirty="0" sz="2000" spc="-1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mount</a:t>
            </a:r>
            <a:r>
              <a:rPr dirty="0" sz="2000" spc="-4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local</a:t>
            </a:r>
            <a:r>
              <a:rPr dirty="0" sz="2000" spc="-2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or</a:t>
            </a:r>
            <a:r>
              <a:rPr dirty="0" sz="2000" spc="-2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public</a:t>
            </a:r>
            <a:r>
              <a:rPr dirty="0" sz="2000" spc="-2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cloud</a:t>
            </a:r>
            <a:r>
              <a:rPr dirty="0" sz="2000" spc="-4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or</a:t>
            </a:r>
            <a:r>
              <a:rPr dirty="0" sz="2000" spc="-4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a</a:t>
            </a:r>
            <a:r>
              <a:rPr dirty="0" sz="2000" spc="-2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network</a:t>
            </a:r>
            <a:r>
              <a:rPr dirty="0" sz="2000" spc="-4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1D1D1D"/>
                </a:solidFill>
                <a:latin typeface="Calibri"/>
                <a:cs typeface="Calibri"/>
              </a:rPr>
              <a:t>storage.</a:t>
            </a:r>
            <a:endParaRPr sz="2000">
              <a:latin typeface="Calibri"/>
              <a:cs typeface="Calibri"/>
            </a:endParaRPr>
          </a:p>
          <a:p>
            <a:pPr marL="372110" marR="5080" indent="-360045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Font typeface="Arial"/>
              <a:buChar char="•"/>
              <a:tabLst>
                <a:tab pos="372110" algn="l"/>
              </a:tabLst>
            </a:pPr>
            <a:r>
              <a:rPr dirty="0" sz="2000" b="1">
                <a:solidFill>
                  <a:srgbClr val="1D1D1D"/>
                </a:solidFill>
                <a:latin typeface="Calibri"/>
                <a:cs typeface="Calibri"/>
              </a:rPr>
              <a:t>Secret</a:t>
            </a:r>
            <a:r>
              <a:rPr dirty="0" sz="2000" spc="-35" b="1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1D1D1D"/>
                </a:solidFill>
                <a:latin typeface="Calibri"/>
                <a:cs typeface="Calibri"/>
              </a:rPr>
              <a:t>and</a:t>
            </a:r>
            <a:r>
              <a:rPr dirty="0" sz="2000" spc="-35" b="1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1D1D1D"/>
                </a:solidFill>
                <a:latin typeface="Calibri"/>
                <a:cs typeface="Calibri"/>
              </a:rPr>
              <a:t>configuration</a:t>
            </a:r>
            <a:r>
              <a:rPr dirty="0" sz="2000" spc="-60" b="1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1D1D1D"/>
                </a:solidFill>
                <a:latin typeface="Calibri"/>
                <a:cs typeface="Calibri"/>
              </a:rPr>
              <a:t>management.</a:t>
            </a:r>
            <a:r>
              <a:rPr dirty="0" sz="2000" spc="-45" b="1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1D1D1D"/>
                </a:solidFill>
                <a:latin typeface="Calibri"/>
                <a:cs typeface="Calibri"/>
              </a:rPr>
              <a:t>Kubernetes</a:t>
            </a:r>
            <a:r>
              <a:rPr dirty="0" sz="2000" spc="-5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lets</a:t>
            </a:r>
            <a:r>
              <a:rPr dirty="0" sz="2000" spc="-1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you</a:t>
            </a:r>
            <a:r>
              <a:rPr dirty="0" sz="2000" spc="-6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store</a:t>
            </a:r>
            <a:r>
              <a:rPr dirty="0" sz="2000" spc="-2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and</a:t>
            </a:r>
            <a:r>
              <a:rPr dirty="0" sz="2000" spc="-4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manage</a:t>
            </a:r>
            <a:r>
              <a:rPr dirty="0" sz="2000" spc="-3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sensitive</a:t>
            </a:r>
            <a:r>
              <a:rPr dirty="0" sz="2000" spc="-1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information,</a:t>
            </a:r>
            <a:r>
              <a:rPr dirty="0" sz="2000" spc="-3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such</a:t>
            </a:r>
            <a:r>
              <a:rPr dirty="0" sz="2000" spc="-4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 spc="-25">
                <a:solidFill>
                  <a:srgbClr val="1D1D1D"/>
                </a:solidFill>
                <a:latin typeface="Calibri"/>
                <a:cs typeface="Calibri"/>
              </a:rPr>
              <a:t>as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passwords,</a:t>
            </a:r>
            <a:r>
              <a:rPr dirty="0" sz="2000" spc="-3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OAuth</a:t>
            </a:r>
            <a:r>
              <a:rPr dirty="0" sz="2000" spc="-5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tokens,</a:t>
            </a:r>
            <a:r>
              <a:rPr dirty="0" sz="2000" spc="-4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and</a:t>
            </a:r>
            <a:r>
              <a:rPr dirty="0" sz="2000" spc="-3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SSH</a:t>
            </a:r>
            <a:r>
              <a:rPr dirty="0" sz="2000" spc="-3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keys.</a:t>
            </a:r>
            <a:r>
              <a:rPr dirty="0" sz="2000" spc="-4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You</a:t>
            </a:r>
            <a:r>
              <a:rPr dirty="0" sz="2000" spc="-4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can</a:t>
            </a:r>
            <a:r>
              <a:rPr dirty="0" sz="2000" spc="-4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deploy</a:t>
            </a:r>
            <a:r>
              <a:rPr dirty="0" sz="2000" spc="-4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and</a:t>
            </a:r>
            <a:r>
              <a:rPr dirty="0" sz="2000" spc="-4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update</a:t>
            </a:r>
            <a:r>
              <a:rPr dirty="0" sz="2000" spc="-4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secrets</a:t>
            </a:r>
            <a:r>
              <a:rPr dirty="0" sz="2000" spc="-1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and</a:t>
            </a:r>
            <a:r>
              <a:rPr dirty="0" sz="2000" spc="-4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application</a:t>
            </a:r>
            <a:r>
              <a:rPr dirty="0" sz="2000" spc="-3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1D1D1D"/>
                </a:solidFill>
                <a:latin typeface="Calibri"/>
                <a:cs typeface="Calibri"/>
              </a:rPr>
              <a:t>configuration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without</a:t>
            </a:r>
            <a:r>
              <a:rPr dirty="0" sz="2000" spc="-4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rebuilding</a:t>
            </a:r>
            <a:r>
              <a:rPr dirty="0" sz="2000" spc="-3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your</a:t>
            </a:r>
            <a:r>
              <a:rPr dirty="0" sz="2000" spc="-5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container</a:t>
            </a:r>
            <a:r>
              <a:rPr dirty="0" sz="2000" spc="-4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images,</a:t>
            </a:r>
            <a:r>
              <a:rPr dirty="0" sz="2000" spc="-3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and</a:t>
            </a:r>
            <a:r>
              <a:rPr dirty="0" sz="2000" spc="-3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without</a:t>
            </a:r>
            <a:r>
              <a:rPr dirty="0" sz="2000" spc="-3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exposing</a:t>
            </a:r>
            <a:r>
              <a:rPr dirty="0" sz="2000" spc="-4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secrets</a:t>
            </a:r>
            <a:r>
              <a:rPr dirty="0" sz="2000" spc="-1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in</a:t>
            </a:r>
            <a:r>
              <a:rPr dirty="0" sz="2000" spc="-3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your</a:t>
            </a:r>
            <a:r>
              <a:rPr dirty="0" sz="2000" spc="-5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stack</a:t>
            </a:r>
            <a:r>
              <a:rPr dirty="0" sz="2000" spc="-3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1D1D1D"/>
                </a:solidFill>
                <a:latin typeface="Calibri"/>
                <a:cs typeface="Calibri"/>
              </a:rPr>
              <a:t>configuration.</a:t>
            </a:r>
            <a:endParaRPr sz="20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Font typeface="Arial"/>
              <a:buChar char="•"/>
              <a:tabLst>
                <a:tab pos="372110" algn="l"/>
              </a:tabLst>
            </a:pPr>
            <a:r>
              <a:rPr dirty="0" sz="2000" spc="-20" b="1">
                <a:solidFill>
                  <a:srgbClr val="1D1D1D"/>
                </a:solidFill>
                <a:latin typeface="Calibri"/>
                <a:cs typeface="Calibri"/>
              </a:rPr>
              <a:t>Self-</a:t>
            </a:r>
            <a:r>
              <a:rPr dirty="0" sz="2000" b="1">
                <a:solidFill>
                  <a:srgbClr val="1D1D1D"/>
                </a:solidFill>
                <a:latin typeface="Calibri"/>
                <a:cs typeface="Calibri"/>
              </a:rPr>
              <a:t>healing.</a:t>
            </a:r>
            <a:r>
              <a:rPr dirty="0" sz="2000" spc="-40" b="1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The</a:t>
            </a:r>
            <a:r>
              <a:rPr dirty="0" sz="2000" spc="-4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platform</a:t>
            </a:r>
            <a:r>
              <a:rPr dirty="0" sz="2000" spc="-3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heals</a:t>
            </a:r>
            <a:r>
              <a:rPr dirty="0" sz="2000" spc="-4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many</a:t>
            </a:r>
            <a:r>
              <a:rPr dirty="0" sz="2000" spc="-4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problems:</a:t>
            </a:r>
            <a:r>
              <a:rPr dirty="0" sz="2000" spc="-4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restarting</a:t>
            </a:r>
            <a:r>
              <a:rPr dirty="0" sz="2000" spc="-1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failed</a:t>
            </a:r>
            <a:r>
              <a:rPr dirty="0" sz="2000" spc="-2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containers,</a:t>
            </a:r>
            <a:r>
              <a:rPr dirty="0" sz="2000" spc="-4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replacing</a:t>
            </a:r>
            <a:r>
              <a:rPr dirty="0" sz="2000" spc="-3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and</a:t>
            </a:r>
            <a:r>
              <a:rPr dirty="0" sz="2000" spc="-5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1D1D1D"/>
                </a:solidFill>
                <a:latin typeface="Calibri"/>
                <a:cs typeface="Calibri"/>
              </a:rPr>
              <a:t>rescheduling</a:t>
            </a:r>
            <a:endParaRPr sz="2000">
              <a:latin typeface="Calibri"/>
              <a:cs typeface="Calibri"/>
            </a:endParaRPr>
          </a:p>
          <a:p>
            <a:pPr marL="372110">
              <a:lnSpc>
                <a:spcPct val="100000"/>
              </a:lnSpc>
            </a:pP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containers</a:t>
            </a:r>
            <a:r>
              <a:rPr dirty="0" sz="2000" spc="-2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as</a:t>
            </a:r>
            <a:r>
              <a:rPr dirty="0" sz="2000" spc="-3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nodes</a:t>
            </a:r>
            <a:r>
              <a:rPr dirty="0" sz="2000" spc="-3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die,</a:t>
            </a:r>
            <a:r>
              <a:rPr dirty="0" sz="2000" spc="-2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killing</a:t>
            </a:r>
            <a:r>
              <a:rPr dirty="0" sz="2000" spc="-1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containers</a:t>
            </a:r>
            <a:r>
              <a:rPr dirty="0" sz="2000" spc="-2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that</a:t>
            </a:r>
            <a:r>
              <a:rPr dirty="0" sz="2000" spc="-1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don’t</a:t>
            </a:r>
            <a:r>
              <a:rPr dirty="0" sz="2000" spc="-4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respond</a:t>
            </a:r>
            <a:r>
              <a:rPr dirty="0" sz="2000" spc="-2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to</a:t>
            </a:r>
            <a:r>
              <a:rPr dirty="0" sz="2000" spc="-3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your</a:t>
            </a:r>
            <a:r>
              <a:rPr dirty="0" sz="2000" spc="-3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1D1D1D"/>
                </a:solidFill>
                <a:latin typeface="Calibri"/>
                <a:cs typeface="Calibri"/>
              </a:rPr>
              <a:t>user-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defined</a:t>
            </a:r>
            <a:r>
              <a:rPr dirty="0" sz="2000" spc="-2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health</a:t>
            </a:r>
            <a:r>
              <a:rPr dirty="0" sz="2000" spc="-1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check,</a:t>
            </a:r>
            <a:r>
              <a:rPr dirty="0" sz="2000" spc="-2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and</a:t>
            </a:r>
            <a:r>
              <a:rPr dirty="0" sz="2000" spc="-3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1D1D1D"/>
                </a:solidFill>
                <a:latin typeface="Calibri"/>
                <a:cs typeface="Calibri"/>
              </a:rPr>
              <a:t>waiting</a:t>
            </a:r>
            <a:endParaRPr sz="2000">
              <a:latin typeface="Calibri"/>
              <a:cs typeface="Calibri"/>
            </a:endParaRPr>
          </a:p>
          <a:p>
            <a:pPr marL="37211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to</a:t>
            </a:r>
            <a:r>
              <a:rPr dirty="0" sz="2000" spc="-5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advertise</a:t>
            </a:r>
            <a:r>
              <a:rPr dirty="0" sz="2000" spc="-1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containers</a:t>
            </a:r>
            <a:r>
              <a:rPr dirty="0" sz="2000" spc="-5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to</a:t>
            </a:r>
            <a:r>
              <a:rPr dirty="0" sz="2000" spc="-4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clients</a:t>
            </a:r>
            <a:r>
              <a:rPr dirty="0" sz="2000" spc="-3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until</a:t>
            </a:r>
            <a:r>
              <a:rPr dirty="0" sz="2000" spc="-4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they’re</a:t>
            </a:r>
            <a:r>
              <a:rPr dirty="0" sz="2000" spc="-5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1D1D1D"/>
                </a:solidFill>
                <a:latin typeface="Calibri"/>
                <a:cs typeface="Calibri"/>
              </a:rPr>
              <a:t>ready.</a:t>
            </a:r>
            <a:endParaRPr sz="2000">
              <a:latin typeface="Calibri"/>
              <a:cs typeface="Calibri"/>
            </a:endParaRPr>
          </a:p>
          <a:p>
            <a:pPr marL="372110" indent="-359410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Font typeface="Arial"/>
              <a:buChar char="•"/>
              <a:tabLst>
                <a:tab pos="372110" algn="l"/>
              </a:tabLst>
            </a:pPr>
            <a:r>
              <a:rPr dirty="0" sz="2000" b="1">
                <a:solidFill>
                  <a:srgbClr val="1D1D1D"/>
                </a:solidFill>
                <a:latin typeface="Calibri"/>
                <a:cs typeface="Calibri"/>
              </a:rPr>
              <a:t>Batch</a:t>
            </a:r>
            <a:r>
              <a:rPr dirty="0" sz="2000" spc="-50" b="1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1D1D1D"/>
                </a:solidFill>
                <a:latin typeface="Calibri"/>
                <a:cs typeface="Calibri"/>
              </a:rPr>
              <a:t>execution.</a:t>
            </a:r>
            <a:r>
              <a:rPr dirty="0" sz="2000" spc="-50" b="1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Manage</a:t>
            </a:r>
            <a:r>
              <a:rPr dirty="0" sz="2000" spc="-5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your</a:t>
            </a:r>
            <a:r>
              <a:rPr dirty="0" sz="2000" spc="-6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batch</a:t>
            </a:r>
            <a:r>
              <a:rPr dirty="0" sz="2000" spc="-3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and</a:t>
            </a:r>
            <a:r>
              <a:rPr dirty="0" sz="2000" spc="-4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Continuous</a:t>
            </a:r>
            <a:r>
              <a:rPr dirty="0" sz="2000" spc="-6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Integration</a:t>
            </a:r>
            <a:r>
              <a:rPr dirty="0" sz="2000" spc="-4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workloads</a:t>
            </a:r>
            <a:r>
              <a:rPr dirty="0" sz="2000" spc="-4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and</a:t>
            </a:r>
            <a:r>
              <a:rPr dirty="0" sz="2000" spc="-4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replace</a:t>
            </a:r>
            <a:r>
              <a:rPr dirty="0" sz="2000" spc="-2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failed</a:t>
            </a:r>
            <a:r>
              <a:rPr dirty="0" sz="2000" spc="-3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1D1D1D"/>
                </a:solidFill>
                <a:latin typeface="Calibri"/>
                <a:cs typeface="Calibri"/>
              </a:rPr>
              <a:t>containers.</a:t>
            </a:r>
            <a:endParaRPr sz="2000">
              <a:latin typeface="Calibri"/>
              <a:cs typeface="Calibri"/>
            </a:endParaRPr>
          </a:p>
          <a:p>
            <a:pPr marL="372110" marR="419734" indent="-360045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Font typeface="Arial"/>
              <a:buChar char="•"/>
              <a:tabLst>
                <a:tab pos="372110" algn="l"/>
              </a:tabLst>
            </a:pPr>
            <a:r>
              <a:rPr dirty="0" sz="2000" b="1">
                <a:solidFill>
                  <a:srgbClr val="1D1D1D"/>
                </a:solidFill>
                <a:latin typeface="Calibri"/>
                <a:cs typeface="Calibri"/>
              </a:rPr>
              <a:t>Automatic</a:t>
            </a:r>
            <a:r>
              <a:rPr dirty="0" sz="2000" spc="-75" b="1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1D1D1D"/>
                </a:solidFill>
                <a:latin typeface="Calibri"/>
                <a:cs typeface="Calibri"/>
              </a:rPr>
              <a:t>binpacking.</a:t>
            </a:r>
            <a:r>
              <a:rPr dirty="0" sz="2000" spc="-60" b="1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Automatically</a:t>
            </a:r>
            <a:r>
              <a:rPr dirty="0" sz="2000" spc="-4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1D1D1D"/>
                </a:solidFill>
                <a:latin typeface="Calibri"/>
                <a:cs typeface="Calibri"/>
              </a:rPr>
              <a:t>schedules</a:t>
            </a:r>
            <a:r>
              <a:rPr dirty="0" sz="2000" spc="-4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containers</a:t>
            </a:r>
            <a:r>
              <a:rPr dirty="0" sz="2000" spc="-5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based</a:t>
            </a:r>
            <a:r>
              <a:rPr dirty="0" sz="2000" spc="-4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on</a:t>
            </a:r>
            <a:r>
              <a:rPr dirty="0" sz="2000" spc="-6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resource</a:t>
            </a:r>
            <a:r>
              <a:rPr dirty="0" sz="2000" spc="-3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1D1D1D"/>
                </a:solidFill>
                <a:latin typeface="Calibri"/>
                <a:cs typeface="Calibri"/>
              </a:rPr>
              <a:t>requirements</a:t>
            </a:r>
            <a:r>
              <a:rPr dirty="0" sz="2000" spc="-3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like</a:t>
            </a:r>
            <a:r>
              <a:rPr dirty="0" sz="2000" spc="-3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CPU</a:t>
            </a:r>
            <a:r>
              <a:rPr dirty="0" sz="2000" spc="-4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 spc="-25">
                <a:solidFill>
                  <a:srgbClr val="1D1D1D"/>
                </a:solidFill>
                <a:latin typeface="Calibri"/>
                <a:cs typeface="Calibri"/>
              </a:rPr>
              <a:t>and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memory</a:t>
            </a:r>
            <a:r>
              <a:rPr dirty="0" sz="2000" spc="-3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which</a:t>
            </a:r>
            <a:r>
              <a:rPr dirty="0" sz="2000" spc="-3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the</a:t>
            </a:r>
            <a:r>
              <a:rPr dirty="0" sz="2000" spc="-3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1D1D1D"/>
                </a:solidFill>
                <a:latin typeface="Calibri"/>
                <a:cs typeface="Calibri"/>
              </a:rPr>
              <a:t>containers</a:t>
            </a:r>
            <a:r>
              <a:rPr dirty="0" sz="2000" spc="-3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need</a:t>
            </a:r>
            <a:r>
              <a:rPr dirty="0" sz="2000" spc="-3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along</a:t>
            </a:r>
            <a:r>
              <a:rPr dirty="0" sz="2000" spc="-5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with</a:t>
            </a:r>
            <a:r>
              <a:rPr dirty="0" sz="2000" spc="-2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other</a:t>
            </a:r>
            <a:r>
              <a:rPr dirty="0" sz="2000" spc="-4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constraints</a:t>
            </a:r>
            <a:r>
              <a:rPr dirty="0" sz="2000" spc="-2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into</a:t>
            </a:r>
            <a:r>
              <a:rPr dirty="0" sz="2000" spc="-3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the</a:t>
            </a:r>
            <a:r>
              <a:rPr dirty="0" sz="2000" spc="-3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D1D1D"/>
                </a:solidFill>
                <a:latin typeface="Calibri"/>
                <a:cs typeface="Calibri"/>
              </a:rPr>
              <a:t>same</a:t>
            </a:r>
            <a:r>
              <a:rPr dirty="0" sz="2000" spc="-2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1D1D1D"/>
                </a:solidFill>
                <a:latin typeface="Calibri"/>
                <a:cs typeface="Calibri"/>
              </a:rPr>
              <a:t>host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269" y="206502"/>
            <a:ext cx="8100441" cy="331787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19269" y="3653663"/>
            <a:ext cx="12073255" cy="3075305"/>
            <a:chOff x="119269" y="3653663"/>
            <a:chExt cx="12073255" cy="307530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269" y="3653663"/>
              <a:ext cx="3846449" cy="157467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83457" y="4597031"/>
              <a:ext cx="8408542" cy="213156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809" y="492251"/>
            <a:ext cx="10038461" cy="3248533"/>
          </a:xfrm>
          <a:prstGeom prst="rect">
            <a:avLst/>
          </a:prstGeom>
        </p:spPr>
      </p:pic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765409" y="349516"/>
            <a:ext cx="1067435" cy="1078230"/>
          </a:xfrm>
          <a:custGeom>
            <a:avLst/>
            <a:gdLst/>
            <a:ahLst/>
            <a:cxnLst/>
            <a:rect l="l" t="t" r="r" b="b"/>
            <a:pathLst>
              <a:path w="1067434" h="1078230">
                <a:moveTo>
                  <a:pt x="1066901" y="0"/>
                </a:moveTo>
                <a:lnTo>
                  <a:pt x="0" y="0"/>
                </a:lnTo>
                <a:lnTo>
                  <a:pt x="0" y="45707"/>
                </a:lnTo>
                <a:lnTo>
                  <a:pt x="1021080" y="45707"/>
                </a:lnTo>
                <a:lnTo>
                  <a:pt x="1021080" y="1078090"/>
                </a:lnTo>
                <a:lnTo>
                  <a:pt x="1066787" y="1078090"/>
                </a:lnTo>
                <a:lnTo>
                  <a:pt x="1066787" y="45707"/>
                </a:lnTo>
                <a:lnTo>
                  <a:pt x="1066901" y="0"/>
                </a:lnTo>
                <a:close/>
              </a:path>
            </a:pathLst>
          </a:custGeom>
          <a:solidFill>
            <a:srgbClr val="F4AF8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A logo for a university  Description automatically generated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0614" y="1172591"/>
            <a:ext cx="2461497" cy="3997071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367276" y="2089784"/>
            <a:ext cx="274256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C55A11"/>
                </a:solidFill>
                <a:latin typeface="Arial"/>
                <a:cs typeface="Arial"/>
              </a:rPr>
              <a:t>THANK</a:t>
            </a:r>
            <a:r>
              <a:rPr dirty="0" sz="3600" spc="-14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3600" spc="-25">
                <a:solidFill>
                  <a:srgbClr val="C55A11"/>
                </a:solidFill>
                <a:latin typeface="Arial"/>
                <a:cs typeface="Arial"/>
              </a:rPr>
              <a:t>YOU</a:t>
            </a:r>
            <a:endParaRPr sz="3600">
              <a:latin typeface="Arial"/>
              <a:cs typeface="Arial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4287901" y="2887345"/>
            <a:ext cx="4581525" cy="0"/>
          </a:xfrm>
          <a:custGeom>
            <a:avLst/>
            <a:gdLst/>
            <a:ahLst/>
            <a:cxnLst/>
            <a:rect l="l" t="t" r="r" b="b"/>
            <a:pathLst>
              <a:path w="4581525" h="0">
                <a:moveTo>
                  <a:pt x="0" y="0"/>
                </a:moveTo>
                <a:lnTo>
                  <a:pt x="4581525" y="0"/>
                </a:lnTo>
              </a:path>
            </a:pathLst>
          </a:custGeom>
          <a:ln w="38100">
            <a:solidFill>
              <a:srgbClr val="DFA1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367276" y="3221591"/>
            <a:ext cx="5217160" cy="123380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z="2400" b="1">
                <a:latin typeface="Calibri"/>
                <a:cs typeface="Calibri"/>
              </a:rPr>
              <a:t>Prafullata</a:t>
            </a:r>
            <a:r>
              <a:rPr dirty="0" sz="2400" spc="-3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Kiran</a:t>
            </a:r>
            <a:r>
              <a:rPr dirty="0" sz="2400" spc="-2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Auradkar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2000">
                <a:latin typeface="Calibri"/>
                <a:cs typeface="Calibri"/>
              </a:rPr>
              <a:t>Department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Computer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Science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Engineering</a:t>
            </a:r>
            <a:endParaRPr sz="2000">
              <a:latin typeface="Calibri"/>
              <a:cs typeface="Calibri"/>
            </a:endParaRPr>
          </a:p>
          <a:p>
            <a:pPr marL="24765">
              <a:lnSpc>
                <a:spcPct val="100000"/>
              </a:lnSpc>
              <a:spcBef>
                <a:spcPts val="745"/>
              </a:spcBef>
            </a:pPr>
            <a:r>
              <a:rPr dirty="0" sz="2400" spc="-10" b="1">
                <a:latin typeface="Calibri"/>
                <a:cs typeface="Calibri"/>
                <a:hlinkClick r:id="rId2"/>
              </a:rPr>
              <a:t>prafullatak@pes.edu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3842" y="5489702"/>
            <a:ext cx="1067435" cy="1078230"/>
          </a:xfrm>
          <a:custGeom>
            <a:avLst/>
            <a:gdLst/>
            <a:ahLst/>
            <a:cxnLst/>
            <a:rect l="l" t="t" r="r" b="b"/>
            <a:pathLst>
              <a:path w="1067435" h="1078229">
                <a:moveTo>
                  <a:pt x="1066888" y="1032446"/>
                </a:moveTo>
                <a:lnTo>
                  <a:pt x="45707" y="1032446"/>
                </a:lnTo>
                <a:lnTo>
                  <a:pt x="45707" y="0"/>
                </a:lnTo>
                <a:lnTo>
                  <a:pt x="0" y="0"/>
                </a:lnTo>
                <a:lnTo>
                  <a:pt x="0" y="1032446"/>
                </a:lnTo>
                <a:lnTo>
                  <a:pt x="0" y="1066888"/>
                </a:lnTo>
                <a:lnTo>
                  <a:pt x="0" y="1078153"/>
                </a:lnTo>
                <a:lnTo>
                  <a:pt x="1066888" y="1078153"/>
                </a:lnTo>
                <a:lnTo>
                  <a:pt x="1066888" y="1032446"/>
                </a:lnTo>
                <a:close/>
              </a:path>
            </a:pathLst>
          </a:custGeom>
          <a:solidFill>
            <a:srgbClr val="F4AF81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2026-10-13T10:00:23Z</dcterms:created>
  <dcterms:modified xsi:type="dcterms:W3CDTF">2026-10-13T10:00:23Z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2026-10-13T00:00:00Z</vt:filetime>
  </property>
  <property fmtid="{D5CDD505-2E9C-101B-9397-08002B2CF9AE}" pid="4" name="LastSaved">
    <vt:filetime>2026-10-13T00:00:00Z</vt:filetime>
  </property>
  <property fmtid="{D5CDD505-2E9C-101B-9397-08002B2CF9AE}" pid="5" name="Producer">
    <vt:lpwstr>iLovePDF</vt:lpwstr>
  </property>
</Properties>
</file>